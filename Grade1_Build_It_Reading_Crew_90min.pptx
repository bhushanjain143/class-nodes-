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BUILD IT!  READING 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0C56B"/>
                </a:solidFill>
                <a:latin typeface="Calibri"/>
              </a:rPr>
              <a:t>"Become a Junior Builder Reader!"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3337560"/>
            <a:ext cx="146304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56B"/>
                </a:solidFill>
                <a:latin typeface="Calibri"/>
              </a:rPr>
              <a:t>crane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3337560"/>
            <a:ext cx="146304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56B"/>
                </a:solidFill>
                <a:latin typeface="Calibri"/>
              </a:rPr>
              <a:t>bricks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3337560"/>
            <a:ext cx="146304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56B"/>
                </a:solidFill>
                <a:latin typeface="Calibri"/>
              </a:rPr>
              <a:t>truck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3337560"/>
            <a:ext cx="146304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56B"/>
                </a:solidFill>
                <a:latin typeface="Calibri"/>
              </a:rPr>
              <a:t>hard 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44968" y="3337560"/>
            <a:ext cx="146304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56B"/>
                </a:solidFill>
                <a:latin typeface="Calibri"/>
              </a:rPr>
              <a:t>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3337560"/>
            <a:ext cx="146304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C56B"/>
                </a:solidFill>
                <a:latin typeface="Calibri"/>
              </a:rPr>
              <a:t>shed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937760"/>
            <a:ext cx="6492240" cy="91440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513892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Grade 1  •  90 Minutes  •  Reading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6255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75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🎯 Today's Reading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511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Five jobs today. We do them one at a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14884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2148840" cy="420624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01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JOB 1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" y="2423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5786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Sounds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843"/>
                </a:solidFill>
                <a:latin typeface="Calibri"/>
              </a:rPr>
              <a:t>Letters and the sounds they make.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15768" y="1737360"/>
            <a:ext cx="214884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15768" y="1737360"/>
            <a:ext cx="2148840" cy="420624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801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JOB 2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2423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5786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35661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8648" y="4114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843"/>
                </a:solidFill>
                <a:latin typeface="Calibri"/>
              </a:rPr>
              <a:t>Push the sounds together.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74336" y="1737360"/>
            <a:ext cx="214884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74336" y="1737360"/>
            <a:ext cx="2148840" cy="420624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74336" y="1801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JOB 3</a:t>
            </a:r>
          </a:p>
        </p:txBody>
      </p:sp>
      <p:sp>
        <p:nvSpPr>
          <p:cNvPr id="32" name="Oval 31"/>
          <p:cNvSpPr/>
          <p:nvPr/>
        </p:nvSpPr>
        <p:spPr>
          <a:xfrm>
            <a:off x="5596128" y="2423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8" y="25786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4336" y="35661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Reading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4114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843"/>
                </a:solidFill>
                <a:latin typeface="Calibri"/>
              </a:rPr>
              <a:t>Short sentences you can 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32904" y="1737360"/>
            <a:ext cx="214884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32904" y="1737360"/>
            <a:ext cx="2148840" cy="420624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2904" y="1801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JOB 4</a:t>
            </a:r>
          </a:p>
        </p:txBody>
      </p:sp>
      <p:sp>
        <p:nvSpPr>
          <p:cNvPr id="39" name="Oval 38"/>
          <p:cNvSpPr/>
          <p:nvPr/>
        </p:nvSpPr>
        <p:spPr>
          <a:xfrm>
            <a:off x="7854696" y="2423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54696" y="25786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35661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Games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4" y="4114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843"/>
                </a:solidFill>
                <a:latin typeface="Calibri"/>
              </a:rPr>
              <a:t>Sorting, matching and puzzles.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1472" y="1737360"/>
            <a:ext cx="214884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91472" y="1737360"/>
            <a:ext cx="2148840" cy="420624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1801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JOB 5</a:t>
            </a:r>
          </a:p>
        </p:txBody>
      </p:sp>
      <p:sp>
        <p:nvSpPr>
          <p:cNvPr id="46" name="Oval 45"/>
          <p:cNvSpPr/>
          <p:nvPr/>
        </p:nvSpPr>
        <p:spPr>
          <a:xfrm>
            <a:off x="10113264" y="2423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13264" y="25786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35661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4352" y="41148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3843"/>
                </a:solidFill>
                <a:latin typeface="Calibri"/>
              </a:rPr>
              <a:t>A real story in five parts.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06440"/>
            <a:ext cx="11292840" cy="45720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897880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At the end you become a 🏆 READING BUILDER CHAMPION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🗺️ Your Building Site 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Seven stops. We work at every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463040" cy="35661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1463040" cy="402336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Building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Look and talk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5F8A"/>
                </a:solidFill>
                <a:latin typeface="Calibri"/>
              </a:rPr>
              <a:t>0–7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063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4832" y="1737360"/>
            <a:ext cx="1463040" cy="35661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84832" y="1737360"/>
            <a:ext cx="1463040" cy="402336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4832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0552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Hard 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First sounds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76272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18906"/>
                </a:solidFill>
                <a:latin typeface="Calibri"/>
              </a:rPr>
              <a:t>7–17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3063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12464" y="1737360"/>
            <a:ext cx="1463040" cy="35661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12464" y="1737360"/>
            <a:ext cx="1463040" cy="402336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4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8184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Tool 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8184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Short vowels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03904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03904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7668"/>
                </a:solidFill>
                <a:latin typeface="Calibri"/>
              </a:rPr>
              <a:t>17–27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9784" y="3063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0096" y="1737360"/>
            <a:ext cx="1463040" cy="35661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40096" y="1737360"/>
            <a:ext cx="1463040" cy="402336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0096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0096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85816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Brick Wall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85816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Building words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31536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1536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452F"/>
                </a:solidFill>
                <a:latin typeface="Calibri"/>
              </a:rPr>
              <a:t>27–44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7416" y="3063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67728" y="1737360"/>
            <a:ext cx="1463040" cy="35661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967728" y="1737360"/>
            <a:ext cx="1463040" cy="402336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7728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Safety Signs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3448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Words &amp; sentences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59168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5A12"/>
                </a:solidFill>
                <a:latin typeface="Calibri"/>
              </a:rPr>
              <a:t>49–67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5048" y="3063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95360" y="1737360"/>
            <a:ext cx="1463040" cy="356616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95360" y="1737360"/>
            <a:ext cx="1463040" cy="402336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Reading Site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80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The story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0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0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5A2B"/>
                </a:solidFill>
                <a:latin typeface="Calibri"/>
              </a:rPr>
              <a:t>67–85 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12680" y="3063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22992" y="1737360"/>
            <a:ext cx="1463040" cy="356616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222992" y="1737360"/>
            <a:ext cx="1463040" cy="402336"/>
          </a:xfrm>
          <a:prstGeom prst="round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22992" y="179222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22992" y="2286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E3843"/>
                </a:solidFill>
                <a:latin typeface="Calibri"/>
              </a:rPr>
              <a:t>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68712" y="320040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Builder HQ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68712" y="384048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3843"/>
                </a:solidFill>
                <a:latin typeface="Calibri"/>
              </a:rPr>
              <a:t>Celebrate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314432" y="461772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14432" y="4672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6E3A"/>
                </a:solidFill>
                <a:latin typeface="Calibri"/>
              </a:rPr>
              <a:t>85–90 min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5532120"/>
            <a:ext cx="11292840" cy="77724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650992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18906"/>
                </a:solidFill>
                <a:latin typeface="Calibri"/>
              </a:rPr>
              <a:t>🏆 AT THE FINISH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943600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You read words, sentences and a whole story — and you become a Reading Builder Champion.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TALKING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👀 What Do You See?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022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No reading yet. Just look and tell me what you see.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75488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E3843"/>
                </a:solidFill>
                <a:latin typeface="Calibri"/>
              </a:rPr>
              <a:t>🏗️  🚚  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E3843"/>
                </a:solidFill>
                <a:latin typeface="Calibri"/>
              </a:rPr>
              <a:t>🦺  🔨  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590"/>
                </a:solidFill>
                <a:latin typeface="Calibri"/>
              </a:rPr>
              <a:t>a busy building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691640"/>
            <a:ext cx="62636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8379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222B"/>
                </a:solidFill>
                <a:latin typeface="Calibri"/>
              </a:rPr>
              <a:t>What do you see?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532888"/>
            <a:ext cx="62636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679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700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222B"/>
                </a:solidFill>
                <a:latin typeface="Calibri"/>
              </a:rPr>
              <a:t>Do you see a truck?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374136"/>
            <a:ext cx="62636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112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222B"/>
                </a:solidFill>
                <a:latin typeface="Calibri"/>
              </a:rPr>
              <a:t>Do you see a crane?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4215384"/>
            <a:ext cx="62636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3616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5254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222B"/>
                </a:solidFill>
                <a:latin typeface="Calibri"/>
              </a:rPr>
              <a:t>What colour is the hat?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5120640"/>
            <a:ext cx="6263640" cy="5943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212080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18906"/>
                </a:solidFill>
                <a:latin typeface="Calibri"/>
              </a:rPr>
              <a:t>SAY IT LIKE 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5468112"/>
            <a:ext cx="5806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22B"/>
                </a:solidFill>
                <a:latin typeface="Calibri"/>
              </a:rPr>
              <a:t>I see a ______.   ·   It is ______.   ·   I like the ______.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Every answer counts here. One word is a good answer too.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SITE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 Site Word — BRICK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BRICK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"brick"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a hard block used to build a wall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Calibri"/>
              </a:rPr>
              <a:t>I see a brick.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⭐ YOUR TURN — What colour is a brick?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If he cannot say it, say it first and let him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SITE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🏗️  Site Word — CRANE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CRANE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"crane"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a tall machine that lifts heavy things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Calibri"/>
              </a:rPr>
              <a:t>The crane is big.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⭐ YOUR TURN — What can a crane lift?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If he cannot say it, say it first and let him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SITE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🔨  Site Word —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3789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"tool"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a thing you use to build and fix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Calibri"/>
              </a:rPr>
              <a:t>I can use a tool.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⭐ YOUR TURN — Can you name one tool?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If he cannot say it, say it first and let him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SITE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🧰 Site Word Bank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0044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Building Site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Nine more words from the site. I say it, then you say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18562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9933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874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a person who builds things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6916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8562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9933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1874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HARD 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it keeps your head 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80" y="18562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9933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874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TRUCK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it carries bricks and wood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632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32278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3649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3721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it shows you where to go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0632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32278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3649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WALL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721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bricks on top of bricks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0632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83880" y="32278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33649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DOOR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721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you go in and out of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4348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4360" y="45994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7365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BOX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5093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you put things inside 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60" y="44348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89120" y="45994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47365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FIX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5093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make it work again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4434840"/>
            <a:ext cx="3566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83880" y="4599432"/>
            <a:ext cx="868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83880" y="4736592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7668"/>
                </a:solidFill>
                <a:latin typeface="Arial Black"/>
              </a:rPr>
              <a:t>BUILD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5093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make something new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Do not drill these. Say each one once and move 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B  is for  BRICK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46300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B makes the /b/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0452F"/>
                </a:solidFill>
                <a:latin typeface="Arial Black"/>
              </a:rPr>
              <a:t>BRICK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590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C222B"/>
                </a:solidFill>
                <a:latin typeface="Arial Black"/>
              </a:rPr>
              <a:t>B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Calibri"/>
              </a:rPr>
              <a:t>bbb - rick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22B"/>
                </a:solidFill>
                <a:latin typeface="Calibri"/>
              </a:rPr>
              <a:t>Say /b/ three times, then say BRICK.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Put your hand near your mouth and feel the /b/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C  is for  CRANE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62555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C makes the /c/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E5F8A"/>
                </a:solidFill>
                <a:latin typeface="Arial Black"/>
              </a:rPr>
              <a:t>CRANE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590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C222B"/>
                </a:solidFill>
                <a:latin typeface="Arial Black"/>
              </a:rPr>
              <a:t>C 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/c/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Calibri"/>
              </a:rPr>
              <a:t>ccc - rane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22B"/>
                </a:solidFill>
                <a:latin typeface="Calibri"/>
              </a:rPr>
              <a:t>Say /c/ three times, then say CRANE.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Put your hand near your mouth and feel the /c/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D  is for  DIG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8811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2B"/>
                </a:solidFill>
                <a:latin typeface="Calibri"/>
              </a:rPr>
              <a:t>D makes the /d/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⛏️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A5A2B"/>
                </a:solidFill>
                <a:latin typeface="Arial Black"/>
              </a:rPr>
              <a:t>DIG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590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C222B"/>
                </a:solidFill>
                <a:latin typeface="Arial Black"/>
              </a:rPr>
              <a:t>D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/d/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Calibri"/>
              </a:rPr>
              <a:t>ddd - 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5A2B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22B"/>
                </a:solidFill>
                <a:latin typeface="Calibri"/>
              </a:rPr>
              <a:t>Say /d/ three times, then say DIG.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Put your hand near your mouth and feel the /d/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F  is for  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5067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F makes the /f/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7668"/>
                </a:solidFill>
                <a:latin typeface="Arial Black"/>
              </a:rPr>
              <a:t>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590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C222B"/>
                </a:solidFill>
                <a:latin typeface="Arial Black"/>
              </a:rPr>
              <a:t>F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Calibri"/>
              </a:rPr>
              <a:t>fff - 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22B"/>
                </a:solidFill>
                <a:latin typeface="Calibri"/>
              </a:rPr>
              <a:t>Say /f/ three times, then say FIX.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Put your hand near your mouth and feel the /f/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M  is for 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1322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M makes the /m/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45A12"/>
                </a:solidFill>
                <a:latin typeface="Arial Black"/>
              </a:rPr>
              <a:t>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590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C222B"/>
                </a:solidFill>
                <a:latin typeface="Arial Black"/>
              </a:rPr>
              <a:t>M 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Calibri"/>
              </a:rPr>
              <a:t>mmm - 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A12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22B"/>
                </a:solidFill>
                <a:latin typeface="Calibri"/>
              </a:rPr>
              <a:t>Say /m/ three times, then say MAP.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Put your hand near your mouth and feel the /m/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T  is for 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7578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T makes the /t/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18906"/>
                </a:solidFill>
                <a:latin typeface="Arial Black"/>
              </a:rPr>
              <a:t>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590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C222B"/>
                </a:solidFill>
                <a:latin typeface="Arial Black"/>
              </a:rPr>
              <a:t>T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/t/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Calibri"/>
              </a:rPr>
              <a:t>ttt - ool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8906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222B"/>
                </a:solidFill>
                <a:latin typeface="Calibri"/>
              </a:rPr>
              <a:t>Say /t/ three times, then say TOOL.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Put your hand near your mouth and feel the /t/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🎮 Sound Game — Which Tool?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I say a sound. You point to the picture that starts with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39112"/>
            <a:ext cx="2286000" cy="713232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84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331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410712"/>
            <a:ext cx="2286000" cy="713232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/c/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4782312"/>
            <a:ext cx="2286000" cy="713232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074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🔧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each picture name out loud first. Listen to the very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🎮 Which Tool? — Three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00894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Same game. Listen for the first sound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39112"/>
            <a:ext cx="2286000" cy="713232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84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331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/t/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410712"/>
            <a:ext cx="2286000" cy="713232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/d/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⛏️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4782312"/>
            <a:ext cx="2286000" cy="713232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074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If he is unsure, name the three pictures for him and say them again slowly.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🧰 Put It in the Tool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63450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Find the word that starts with the sound. It goes in the box.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39112"/>
            <a:ext cx="1737360" cy="713232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20391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BAG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0391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0391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FIX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2039112"/>
            <a:ext cx="1188720" cy="713232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1671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3843"/>
                </a:solidFill>
                <a:latin typeface="Calibri"/>
              </a:rPr>
              <a:t>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3410712"/>
            <a:ext cx="1737360" cy="713232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34107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TOOL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34107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DIG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4107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BAG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3410712"/>
            <a:ext cx="1188720" cy="713232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35387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3843"/>
                </a:solidFill>
                <a:latin typeface="Calibri"/>
              </a:rPr>
              <a:t>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0160" y="4782312"/>
            <a:ext cx="1737360" cy="713232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892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47823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FIX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7823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MAP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4782312"/>
            <a:ext cx="210312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CRANE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720" y="4782312"/>
            <a:ext cx="1188720" cy="713232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49103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3843"/>
                </a:solidFill>
                <a:latin typeface="Calibri"/>
              </a:rPr>
              <a:t>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Read the three words to him first. He only has to listen and choose.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🦺 Hard Hat Station — Done!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926006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Hard Hat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You know six letter sounds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FIRST SOUNDS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590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764792"/>
            <a:ext cx="347472" cy="347472"/>
          </a:xfrm>
          <a:prstGeom prst="ellipse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7647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74650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B says /b/ — like brick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276856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350008"/>
            <a:ext cx="347472" cy="347472"/>
          </a:xfrm>
          <a:prstGeom prst="ellipse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350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🏗️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331720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C says /c/ — like crane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2862072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2935224"/>
            <a:ext cx="347472" cy="347472"/>
          </a:xfrm>
          <a:prstGeom prst="ellipse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93522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⛏️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91693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D says /d/ — like dig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3447288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3520440"/>
            <a:ext cx="347472" cy="347472"/>
          </a:xfrm>
          <a:prstGeom prst="ellipse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352044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50215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F says /f/ — like fix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4032504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57800" y="4105656"/>
            <a:ext cx="347472" cy="347472"/>
          </a:xfrm>
          <a:prstGeom prst="ellipse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410565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08736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M says /m/ — like 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617720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7800" y="4690872"/>
            <a:ext cx="347472" cy="347472"/>
          </a:xfrm>
          <a:prstGeom prst="ellipse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46908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67258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T says /t/ — like tool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the Tool Box, where the vowels live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Open the Tool Box — A  E  I  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88562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Four special letters. They go in the middle of a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651760" cy="39319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B0452F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566160"/>
            <a:ext cx="1645920" cy="6858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8503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/a/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590"/>
                </a:solidFill>
                <a:latin typeface="Calibri"/>
              </a:rPr>
              <a:t>YOU HEAR IT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28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1737360"/>
            <a:ext cx="2651760" cy="393192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C45A12"/>
                </a:solidFill>
                <a:latin typeface="Arial Black"/>
              </a:rPr>
              <a:t>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3048" y="3566160"/>
            <a:ext cx="1645920" cy="68580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3048" y="368503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/e/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4448" y="4434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590"/>
                </a:solidFill>
                <a:latin typeface="Calibri"/>
              </a:rPr>
              <a:t>YOU HEAR IT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828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1737360"/>
            <a:ext cx="2651760" cy="393192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6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1B7668"/>
                </a:solidFill>
                <a:latin typeface="Arial Black"/>
              </a:rPr>
              <a:t>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5976" y="3566160"/>
            <a:ext cx="1645920" cy="6858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368503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/i/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37376" y="4434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590"/>
                </a:solidFill>
                <a:latin typeface="Calibri"/>
              </a:rPr>
              <a:t>YOU HEAR IT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4828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BIG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5984" y="1737360"/>
            <a:ext cx="265176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2E5F8A"/>
                </a:solidFill>
                <a:latin typeface="Arial Black"/>
              </a:rPr>
              <a:t>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18904" y="3566160"/>
            <a:ext cx="1645920" cy="68580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8904" y="368503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/o/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90304" y="4434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0304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590"/>
                </a:solidFill>
                <a:latin typeface="Calibri"/>
              </a:rPr>
              <a:t>YOU HEAR IT 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4828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222B"/>
                </a:solidFill>
                <a:latin typeface="Arial Black"/>
              </a:rPr>
              <a:t>FOX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all four in a row: /a/ /e/ /i/ /o/. Make it a chant.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Short A  —  /a/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51118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A in the middle says /a/.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B0452F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/a/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222B"/>
                </a:solidFill>
                <a:latin typeface="Calibri"/>
              </a:rPr>
              <a:t>m - aaa - 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0452F"/>
                </a:solidFill>
                <a:latin typeface="Arial Black"/>
              </a:rPr>
              <a:t>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/m/ - /a/ - /p/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0452F"/>
                </a:solidFill>
                <a:latin typeface="Arial Black"/>
              </a:rPr>
              <a:t>BAG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/b/ - /a/ - /g/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0452F"/>
                </a:solidFill>
                <a:latin typeface="Arial Black"/>
              </a:rPr>
              <a:t>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/h/ - /a/ - 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the three words in a row. The middle sound never changes: /a/.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Short E  —  /e/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13674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E in the middle says /e/.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C45A12"/>
                </a:solidFill>
                <a:latin typeface="Arial Black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/e/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222B"/>
                </a:solidFill>
                <a:latin typeface="Calibri"/>
              </a:rPr>
              <a:t>r - eee -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/r/ - /e/ - /d/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🛏️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/b/ - /e/ - /d/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WET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/w/ - /e/ - 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the three words in a row. The middle sound never changes: /e/.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Short I  —  /i/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76230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I in the middle says /i/.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1B7668"/>
                </a:solidFill>
                <a:latin typeface="Arial Black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/i/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222B"/>
                </a:solidFill>
                <a:latin typeface="Calibri"/>
              </a:rPr>
              <a:t>b - iii - 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668"/>
                </a:solidFill>
                <a:latin typeface="Arial Black"/>
              </a:rPr>
              <a:t>BIG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/b/ - /i/ - 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668"/>
                </a:solidFill>
                <a:latin typeface="Arial Black"/>
              </a:rPr>
              <a:t>SIT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/s/ - /i/ - /t/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668"/>
                </a:solidFill>
                <a:latin typeface="Arial Black"/>
              </a:rPr>
              <a:t>HIT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/h/ - /i/ - 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the three words in a row. The middle sound never changes: /i/.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Short O  —  /o/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38786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O in the middle says /o/.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2E5F8A"/>
                </a:solidFill>
                <a:latin typeface="Arial Black"/>
              </a:rPr>
              <a:t>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/o/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222B"/>
                </a:solidFill>
                <a:latin typeface="Calibri"/>
              </a:rPr>
              <a:t>f - ooo - 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5F8A"/>
                </a:solidFill>
                <a:latin typeface="Arial Black"/>
              </a:rPr>
              <a:t>FOX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/f/ - /o/ - /x/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5F8A"/>
                </a:solidFill>
                <a:latin typeface="Arial Black"/>
              </a:rPr>
              <a:t>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/b/ - /o/ - /x/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E3843"/>
                </a:solidFill>
                <a:latin typeface="Calibri"/>
              </a:rPr>
              <a:t>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5F8A"/>
                </a:solidFill>
                <a:latin typeface="Arial Black"/>
              </a:rPr>
              <a:t>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/h/ - /o/ - 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the three words in a row. The middle sound never changes: /o/.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Sort the Bricks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01342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Which wall does each brick belong to? Listen to the middle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651760" cy="22860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2651760" cy="56692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19656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WALL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14600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334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27832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467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1737360"/>
            <a:ext cx="2651760" cy="228600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10128" y="1737360"/>
            <a:ext cx="2651760" cy="56692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1819656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WALL 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4448" y="2514600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4448" y="26334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84448" y="3227832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3467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1737360"/>
            <a:ext cx="2651760" cy="22860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3056" y="1737360"/>
            <a:ext cx="2651760" cy="56692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1819656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WALL 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2514600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26334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7376" y="3227832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3467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5984" y="1737360"/>
            <a:ext cx="2651760" cy="22860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15984" y="1737360"/>
            <a:ext cx="2651760" cy="56692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1819656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WALL 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0304" y="2514600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0304" y="26334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90304" y="3227832"/>
            <a:ext cx="210312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33467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____________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5196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452F"/>
                </a:solidFill>
                <a:latin typeface="Calibri"/>
              </a:rPr>
              <a:t>THE BRICKS — read each one, then put it on a wall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1691640" cy="914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94690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59152" y="4709160"/>
            <a:ext cx="1691640" cy="914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59152" y="494690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61104" y="4709160"/>
            <a:ext cx="1691640" cy="914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4" y="494690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BIG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3056" y="4709160"/>
            <a:ext cx="1691640" cy="914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6" y="494690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FOX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65008" y="4709160"/>
            <a:ext cx="1691640" cy="914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8" y="494690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BAG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4709160"/>
            <a:ext cx="1691640" cy="914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6960" y="494690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HOT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Cover the first and last letter. Only the middle letter is left.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🎮 Missing Vowel — Fill the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The picture tells you the word. Pick the middle letter.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08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0574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22B"/>
                </a:solidFill>
                <a:latin typeface="Arial Black"/>
              </a:rPr>
              <a:t>B _ 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3924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4290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22B"/>
                </a:solidFill>
                <a:latin typeface="Arial Black"/>
              </a:rPr>
              <a:t>M _ 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64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00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22B"/>
                </a:solidFill>
                <a:latin typeface="Arial Black"/>
              </a:rPr>
              <a:t>R _ 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the word, then say only the middle sound on its own.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🎮 Missing Vowel — Two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226454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Same job. Say the word first, then choose.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9572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50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950208"/>
            <a:ext cx="457200" cy="45720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05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494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2860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22B"/>
                </a:solidFill>
                <a:latin typeface="Arial Black"/>
              </a:rPr>
              <a:t>H _ 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286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359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286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359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2286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359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80390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84048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222B"/>
                </a:solidFill>
                <a:latin typeface="Arial Black"/>
              </a:rPr>
              <a:t>F _ 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84048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91363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84048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91363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384048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391363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668"/>
                </a:solidFill>
                <a:latin typeface="Arial Black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66360"/>
            <a:ext cx="11292840" cy="56692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852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F8A"/>
                </a:solidFill>
                <a:latin typeface="Calibri"/>
              </a:rPr>
              <a:t>⭐ MASTER BUILDER — read both finished words again, then use one in a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Try each letter in the gap and read it out loud. Only one will sound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Tool Box — Done!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89010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Tool Box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You know the four short vowel sounds.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843"/>
                </a:solidFill>
                <a:latin typeface="Calibri"/>
              </a:rPr>
              <a:t>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VOWEL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590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764792"/>
            <a:ext cx="457200" cy="457200"/>
          </a:xfrm>
          <a:prstGeom prst="ellipse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19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0136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A says /a/ — map, bag, 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404872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478024"/>
            <a:ext cx="457200" cy="457200"/>
          </a:xfrm>
          <a:prstGeom prst="ellipse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532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514600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E says /e/ — red, bed, wet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118104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191256"/>
            <a:ext cx="457200" cy="457200"/>
          </a:xfrm>
          <a:prstGeom prst="ellipse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278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I says /i/ — big, sit, hit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3831335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3904487"/>
            <a:ext cx="457200" cy="457200"/>
          </a:xfrm>
          <a:prstGeom prst="ellipse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395935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941063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O says /o/ — fox, box, hot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4544568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57800" y="4617720"/>
            <a:ext cx="457200" cy="457200"/>
          </a:xfrm>
          <a:prstGeom prst="ellipse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4672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65429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You sorted six bricks by their middle sound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the Brick Wall, where we build whole words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M + A + P  → 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51566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Touch each brick,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45A12"/>
                </a:solidFill>
                <a:latin typeface="Arial Black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/m/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45A12"/>
                </a:solidFill>
                <a:latin typeface="Arial Black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45A12"/>
                </a:solidFill>
                <a:latin typeface="Arial Black"/>
              </a:rPr>
              <a:t>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/p/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590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22B"/>
                </a:solidFill>
                <a:latin typeface="Calibri"/>
              </a:rPr>
              <a:t>/m/ … /a/ … /p/      →      map      →      MAP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A12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I see a map.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Stuck? Blend the first two only: ma … then add /p/.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B + A + G  →  BAG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14122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Touch each brick,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0452F"/>
                </a:solidFill>
                <a:latin typeface="Arial Black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/b/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0452F"/>
                </a:solidFill>
                <a:latin typeface="Arial Black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0452F"/>
                </a:solidFill>
                <a:latin typeface="Arial Black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BAG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590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22B"/>
                </a:solidFill>
                <a:latin typeface="Calibri"/>
              </a:rPr>
              <a:t>/b/ … /a/ … /g/      →      bag      →      BAG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My bag is 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Stuck? Blend the first two only: ba … then add /g/.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H + A + T  →  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Touch each brick,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D18906"/>
                </a:solidFill>
                <a:latin typeface="Arial Black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/h/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D18906"/>
                </a:solidFill>
                <a:latin typeface="Arial Black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D18906"/>
                </a:solidFill>
                <a:latin typeface="Arial Black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590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22B"/>
                </a:solidFill>
                <a:latin typeface="Calibri"/>
              </a:rPr>
              <a:t>/h/ … /a/ … /t/      →      hat      →      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8906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The hat is big.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Stuck? Blend the first two only: ha … then add /t/.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R + U + N  → 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3923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Touch each brick,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7668"/>
                </a:solidFill>
                <a:latin typeface="Arial Black"/>
              </a:rPr>
              <a:t>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/r/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7668"/>
                </a:solidFill>
                <a:latin typeface="Arial Black"/>
              </a:rPr>
              <a:t>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/u/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7668"/>
                </a:solidFill>
                <a:latin typeface="Arial Black"/>
              </a:rPr>
              <a:t>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/n/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E3843"/>
                </a:solidFill>
                <a:latin typeface="Calibri"/>
              </a:rPr>
              <a:t>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590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22B"/>
                </a:solidFill>
                <a:latin typeface="Calibri"/>
              </a:rPr>
              <a:t>/r/ … /u/ … /n/      →      run      →     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I can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Stuck? Blend the first two only: ru … then add /n/.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F + O + X  →  FOX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0178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Touch each brick,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E5F8A"/>
                </a:solidFill>
                <a:latin typeface="Arial Black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/f/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E5F8A"/>
                </a:solidFill>
                <a:latin typeface="Arial Black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/o/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E5F8A"/>
                </a:solidFill>
                <a:latin typeface="Arial Black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/x/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FOX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590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22B"/>
                </a:solidFill>
                <a:latin typeface="Calibri"/>
              </a:rPr>
              <a:t>/f/ … /o/ … /x/      →      fox      →      FOX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I see a fox.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Stuck? Blend the first two only: fo … then add /x/.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B + I + G  →  BIG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6434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2B"/>
                </a:solidFill>
                <a:latin typeface="Calibri"/>
              </a:rPr>
              <a:t>Touch each brick,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8A5A2B"/>
                </a:solidFill>
                <a:latin typeface="Arial Black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/b/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8A5A2B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/i/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8A5A2B"/>
                </a:solidFill>
                <a:latin typeface="Arial Black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222B"/>
                </a:solidFill>
                <a:latin typeface="Calibri"/>
              </a:rPr>
              <a:t>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590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222B"/>
                </a:solidFill>
                <a:latin typeface="Calibri"/>
              </a:rPr>
              <a:t>/b/ … /i/ … /g/      →      big      →      BIG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5A2B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The truck is big.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Stuck? Blend the first two only: bi … then add /g/.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🔨 Build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2690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Say each block, push them together, then say the whole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999232"/>
            <a:ext cx="173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590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2999232"/>
            <a:ext cx="173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590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79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79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8590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9768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C8590"/>
                </a:solidFill>
                <a:latin typeface="Calibri"/>
              </a:rPr>
              <a:t>say the whole word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1737360"/>
            <a:ext cx="3566160" cy="39319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18745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2999232"/>
            <a:ext cx="173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590"/>
                </a:solidFill>
                <a:latin typeface="Calibri"/>
              </a:rPr>
              <a:t>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999232"/>
            <a:ext cx="173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590"/>
                </a:solidFill>
                <a:latin typeface="Calibri"/>
              </a:rPr>
              <a:t>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39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39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38404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8590"/>
                </a:solidFill>
                <a:latin typeface="Calibr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29768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4617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C8590"/>
                </a:solidFill>
                <a:latin typeface="Calibri"/>
              </a:rPr>
              <a:t>say the whole word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737360"/>
            <a:ext cx="3566160" cy="39319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18745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2999232"/>
            <a:ext cx="173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590"/>
                </a:solidFill>
                <a:latin typeface="Calibri"/>
              </a:rPr>
              <a:t>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14432" y="2999232"/>
            <a:ext cx="173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590"/>
                </a:solidFill>
                <a:latin typeface="Calibri"/>
              </a:rPr>
              <a:t>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599" y="2834640"/>
            <a:ext cx="868680" cy="86868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599" y="2980944"/>
            <a:ext cx="868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8404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8590"/>
                </a:solidFill>
                <a:latin typeface="Calibri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429768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4617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C8590"/>
                </a:solidFill>
                <a:latin typeface="Calibri"/>
              </a:rPr>
              <a:t>say the whole word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Move your finger under the blocks as you blend. Slow first, then fast.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🔤 Mixed-Up 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8945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These blocks fell over. Put them back in the right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56816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6148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80944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358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8561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05072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599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840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18653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1883664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197510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1883664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197510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1883664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197510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19568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1883664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99339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1883664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199339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1883664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99339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1883664"/>
            <a:ext cx="201168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288950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7440" y="2907792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2999232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37560" y="2907792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2999232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2907792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2999232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29809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2907792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01752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78040" y="2907792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8040" y="301752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2907792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301752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60" y="2907792"/>
            <a:ext cx="201168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60" y="302666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391363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3931920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40" y="40233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37560" y="3931920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37560" y="40233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97680" y="3931920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0" y="40233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4960" y="4005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3931920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404164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78040" y="3931920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78040" y="404164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0" y="3931920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0" y="404164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09760" y="3931920"/>
            <a:ext cx="201168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09760" y="405079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25880" y="4937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77440" y="4956048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40" y="5047488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X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37560" y="4956048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37560" y="5047488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97680" y="4956048"/>
            <a:ext cx="822960" cy="603504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97680" y="5047488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5F8A"/>
                </a:solidFill>
                <a:latin typeface="Arial Black"/>
              </a:rPr>
              <a:t>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9496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4956048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26480" y="506577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78040" y="4956048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78040" y="506577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29600" y="4956048"/>
            <a:ext cx="914400" cy="60350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29600" y="506577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590"/>
                </a:solidFill>
                <a:latin typeface="Calibri"/>
              </a:rPr>
              <a:t>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509760" y="4956048"/>
            <a:ext cx="201168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09760" y="507492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Ask which letter he hears first. That block goes at the front.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Word Builder — Done!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5201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You built six whole words from sounds.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BLENDING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590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764792"/>
            <a:ext cx="347472" cy="347472"/>
          </a:xfrm>
          <a:prstGeom prst="ellipse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7647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74650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MAP  ·  /m/ /a/ /p/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276856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350008"/>
            <a:ext cx="347472" cy="347472"/>
          </a:xfrm>
          <a:prstGeom prst="ellipse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350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331720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BAG  ·  /b/ /a/ /g/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2862072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2935224"/>
            <a:ext cx="347472" cy="347472"/>
          </a:xfrm>
          <a:prstGeom prst="ellipse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93522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91693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HAT  ·  /h/ /a/ /t/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3447288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3520440"/>
            <a:ext cx="347472" cy="347472"/>
          </a:xfrm>
          <a:prstGeom prst="ellipse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352044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50215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RUN  ·  /r/ /u/ /n/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4032504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57800" y="4105656"/>
            <a:ext cx="347472" cy="347472"/>
          </a:xfrm>
          <a:prstGeom prst="ellipse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410565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08736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FOX  ·  /f/ /o/ /x/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617720"/>
            <a:ext cx="676656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7800" y="4690872"/>
            <a:ext cx="347472" cy="347472"/>
          </a:xfrm>
          <a:prstGeom prst="ellipse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46908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67258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BIG  ·  /b/ /i/ /g/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word families — words that rhyme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The -AT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1456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Every word here ends the same way: -AT.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452F"/>
                </a:solidFill>
                <a:latin typeface="Calibri"/>
              </a:rPr>
              <a:t>4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190881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c + 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9290" y="1691640"/>
            <a:ext cx="190881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929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217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217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073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h + 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073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0979" y="1691640"/>
            <a:ext cx="190881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0979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3859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3859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BAT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2419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b + 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2419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2670" y="1691640"/>
            <a:ext cx="190881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267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555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555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411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m + 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11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The -IG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17712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Every word here ends the same way: -IG.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7668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BIG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Calibri"/>
              </a:rPr>
              <a:t>b + 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⛏️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DIG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Calibri"/>
              </a:rPr>
              <a:t>d + 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PIG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Calibri"/>
              </a:rPr>
              <a:t>p + 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The -UN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3968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Every word here ends the same way: -UN.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18906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☀️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18906"/>
                </a:solidFill>
                <a:latin typeface="Calibri"/>
              </a:rPr>
              <a:t>s + 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18906"/>
                </a:solidFill>
                <a:latin typeface="Calibri"/>
              </a:rPr>
              <a:t>r + 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FUN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18906"/>
                </a:solidFill>
                <a:latin typeface="Calibri"/>
              </a:rPr>
              <a:t>f + 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The -OP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0223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Every word here ends the same way: -OP.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590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5F8A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Calibri"/>
              </a:rPr>
              <a:t>h + 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⬆️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Calibri"/>
              </a:rPr>
              <a:t>t + 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222B"/>
                </a:solidFill>
                <a:latin typeface="Arial Black"/>
              </a:rPr>
              <a:t>MOP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Calibri"/>
              </a:rPr>
              <a:t>m + 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590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🧱 Build the Word Family 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6479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Two walls. Put each word on the wall it rhymes with.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237744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5440680" cy="60350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2880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-AT WALL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06040"/>
            <a:ext cx="1508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590"/>
                </a:solidFill>
                <a:latin typeface="Calibri"/>
              </a:rPr>
              <a:t>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04872" y="2606040"/>
            <a:ext cx="1508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4872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590"/>
                </a:solidFill>
                <a:latin typeface="Calibri"/>
              </a:rPr>
              <a:t>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78224" y="2606040"/>
            <a:ext cx="1508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8224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590"/>
                </a:solidFill>
                <a:latin typeface="Calibri"/>
              </a:rPr>
              <a:t>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737360"/>
            <a:ext cx="5440680" cy="237744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1737360"/>
            <a:ext cx="5440680" cy="60350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82880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-UN WALL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606040"/>
            <a:ext cx="1508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590"/>
                </a:solidFill>
                <a:latin typeface="Calibri"/>
              </a:rPr>
              <a:t>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2606040"/>
            <a:ext cx="1508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590"/>
                </a:solidFill>
                <a:latin typeface="Calibri"/>
              </a:rPr>
              <a:t>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93224" y="2606040"/>
            <a:ext cx="1508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3224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590"/>
                </a:solidFill>
                <a:latin typeface="Calibri"/>
              </a:rPr>
              <a:t>________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452F"/>
                </a:solidFill>
                <a:latin typeface="Calibri"/>
              </a:rPr>
              <a:t>THE WORDS — read each one out loud before you place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169164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697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CAT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59152" y="4754880"/>
            <a:ext cx="169164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9152" y="49697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SUN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61104" y="4754880"/>
            <a:ext cx="169164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1104" y="49697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HAT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3056" y="4754880"/>
            <a:ext cx="169164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49697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4754880"/>
            <a:ext cx="169164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8" y="49697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MAT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754880"/>
            <a:ext cx="1691640" cy="86868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96976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452F"/>
                </a:solidFill>
                <a:latin typeface="Arial Black"/>
              </a:rPr>
              <a:t>FUN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the word twice. Listen only to the ending.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🎮 Who Does Not Belong?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2734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Two words rhyme. One does not. Find the one that does not 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71700"/>
            <a:ext cx="457200" cy="45720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65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7580"/>
            <a:ext cx="457200" cy="45720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524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23460"/>
            <a:ext cx="457200" cy="45720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783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202996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213969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FOX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202996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13969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02996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13969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SUN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335584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46557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CAT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335584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46557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35584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46557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BIG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468172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479145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DIG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468172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479145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PIG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681728"/>
            <a:ext cx="2926080" cy="74980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79145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45A12"/>
                </a:solidFill>
                <a:latin typeface="Arial Black"/>
              </a:rPr>
              <a:t>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Read all three out loud. Two will sound like each other.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⭐ Rhyme Builder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8990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Which word rhymes with the big word?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71700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65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7580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524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23460"/>
            <a:ext cx="457200" cy="457200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783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29968"/>
            <a:ext cx="2377440" cy="74980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CAT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02996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13969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202996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213969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202996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213969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SUN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429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3355848"/>
            <a:ext cx="2377440" cy="74980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46557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BOX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335584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346557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FOX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335584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46557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335584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346557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754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☀️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4681728"/>
            <a:ext cx="2377440" cy="74980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479145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468172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79145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FUN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68172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9480" y="479145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HAT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4681728"/>
            <a:ext cx="2011680" cy="74980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479145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Arial Black"/>
              </a:rPr>
              <a:t>DIG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Rhyming words end the same. Only the first sound changes.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🦺 Builder Says — Stretch Break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15246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6E3A"/>
                </a:solidFill>
                <a:latin typeface="Calibri"/>
              </a:rPr>
              <a:t>Stay in your seat. Only move when you hear "Builder says".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568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99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🖐️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0025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tap the desk.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984248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075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two taps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29809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5409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02666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point to the brick.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008376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0998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0050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782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0507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pretend to hammer.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4032504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41239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three swings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023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074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put on your hard hat.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5056632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5148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hands on head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Keep it to two minutes. Stop while he is still enjoying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🦺 Builder Says — Now With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Brick Wall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6E3A"/>
                </a:solidFill>
                <a:latin typeface="Calibri"/>
              </a:rPr>
              <a:t>Same game, but now the job is a reading job.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842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0025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read 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984248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075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read it out 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0837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2666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find HAT.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008376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0998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point to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3250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0507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point to BOX.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4032504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41239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point to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566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74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Builder says read BIG.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056632"/>
            <a:ext cx="27432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5148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E3A"/>
                </a:solidFill>
                <a:latin typeface="Calibri"/>
              </a:rPr>
              <a:t>read it out loud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Write each word on paper first so he has something to point at.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🚧 Sight Word — 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77572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This word is a friend. We know it by looking, not sounding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237744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572000" cy="14630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5A12"/>
                </a:solidFill>
                <a:latin typeface="Calibri"/>
              </a:rPr>
              <a:t>SAY IT THREE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A12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You say this word about yourself.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A12"/>
                </a:solidFill>
                <a:latin typeface="Calibri"/>
              </a:rPr>
              <a:t>READ IT IN A SENTENCE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I can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A12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37375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96912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the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15984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5984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19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19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35055" y="4709160"/>
            <a:ext cx="804672" cy="658368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3505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Arial Black"/>
              </a:rPr>
              <a:t>can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🚧 Sight Word —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40128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This word is a friend. We know it by looking, not sounding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237744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572000" cy="14630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5F8A"/>
                </a:solidFill>
                <a:latin typeface="Calibri"/>
              </a:rPr>
              <a:t>SAY IT THREE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This word is about your eyes.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READ IT IN A SENTENCE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I see a brick.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37375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6912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96912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the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15984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5984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19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19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35055" y="4709160"/>
            <a:ext cx="804672" cy="658368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3505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5F8A"/>
                </a:solidFill>
                <a:latin typeface="Arial Black"/>
              </a:rPr>
              <a:t>can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🚧 Sight Word — A  · 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02684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These words are friends. We know them by looking, not sounding them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18288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4572000" cy="18288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Two tiny words. They sit before a naming word.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READ IT IN A SENTENCE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I see a truck.  ·  I see the truck.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7375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see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6912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my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19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35055" y="4709160"/>
            <a:ext cx="804672" cy="658368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3505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Arial Black"/>
              </a:rPr>
              <a:t>can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Build It —  I see a brick.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965240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brick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I see a brick.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Build It —  I see the truck.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truck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I see the truck.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🚧 Sight Word — MY  ·  IS  ·  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90352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These words are friends. We know them by looking, not sounding them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123444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84248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4572000" cy="123444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01568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4572000" cy="123444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18888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WHAT IT DOES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One word says it belongs to you. One joins. One means you are able 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READ IT IN A SENTENCE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My hat is red.  ·  I can run.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7375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see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6448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the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15984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my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19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19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35055" y="4709160"/>
            <a:ext cx="804672" cy="65836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35055" y="4818888"/>
            <a:ext cx="804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Arial Black"/>
              </a:rPr>
              <a:t>can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Build It —  My hat is 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52908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My hat is 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Build It —  I can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615464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49–58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E3843"/>
                </a:solidFill>
                <a:latin typeface="Calibri"/>
              </a:rPr>
              <a:t>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251459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32020" y="1874519"/>
            <a:ext cx="548640" cy="54864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2020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2514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251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691640"/>
            <a:ext cx="251459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9500" y="1874519"/>
            <a:ext cx="548640" cy="54864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0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2514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251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691640"/>
            <a:ext cx="251459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26980" y="1874519"/>
            <a:ext cx="548640" cy="548640"/>
          </a:xfrm>
          <a:prstGeom prst="ellipse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6980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697480"/>
            <a:ext cx="2514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222B"/>
                </a:solidFill>
                <a:latin typeface="Arial Black"/>
              </a:rPr>
              <a:t>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703320"/>
            <a:ext cx="251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I can run.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Build the Sentence 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78020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The word cards fell over. Build the sentence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830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1109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8590"/>
                </a:solidFill>
                <a:latin typeface="Calibri"/>
              </a:rPr>
              <a:t>MIXED-UP CARDS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see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05656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brick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12664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91109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A12"/>
                </a:solidFill>
                <a:latin typeface="Calibri"/>
              </a:rPr>
              <a:t>PUT THEM IN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7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9136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96144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96144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94760"/>
            <a:ext cx="11292840" cy="17830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434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3922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8590"/>
                </a:solidFill>
                <a:latin typeface="Calibri"/>
              </a:rPr>
              <a:t>MIXED-UP CARDS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91640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98648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98648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hat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05656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5656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My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12664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12664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922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A12"/>
                </a:solidFill>
                <a:latin typeface="Calibri"/>
              </a:rPr>
              <a:t>PUT THEM IN ORDER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82127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2127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89136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9136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96144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96144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806440"/>
            <a:ext cx="11292840" cy="4572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888736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F8A"/>
                </a:solidFill>
                <a:latin typeface="Calibri"/>
              </a:rPr>
              <a:t>🔧 BUILDER HINT — the sentence always starts with the card that has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Two More Sentence Walls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40576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Same job. Read each card before you place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830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1109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8590"/>
                </a:solidFill>
                <a:latin typeface="Calibri"/>
              </a:rPr>
              <a:t>MIXED-UP CARDS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05656" y="225856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1109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A12"/>
                </a:solidFill>
                <a:latin typeface="Calibri"/>
              </a:rPr>
              <a:t>PUT THEM IN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7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225856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26060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11292840" cy="17830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434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922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8590"/>
                </a:solidFill>
                <a:latin typeface="Calibri"/>
              </a:rPr>
              <a:t>MIXED-UP CARDS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91640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big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98648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05656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5656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truck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12664" y="4270248"/>
            <a:ext cx="1097280" cy="10515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12664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45A12"/>
                </a:solidFill>
                <a:latin typeface="Calibri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922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A12"/>
                </a:solidFill>
                <a:latin typeface="Calibri"/>
              </a:rPr>
              <a:t>PUT THEM IN ORDER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2127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2127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89136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9136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96144" y="4270248"/>
            <a:ext cx="1097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96144" y="4617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06440"/>
            <a:ext cx="11292840" cy="4572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888736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668"/>
                </a:solidFill>
                <a:latin typeface="Calibri"/>
              </a:rPr>
              <a:t>⭐ MASTER BUILDER — read the finished sentence without stopping between the words.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🖼️ Sentence and Picture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03132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Read the sentence, then point to the picture it tells about.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9202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011680"/>
            <a:ext cx="45720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67128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Georgia"/>
              </a:rPr>
              <a:t>The truck is big.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90088"/>
            <a:ext cx="4572000" cy="4572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 READ  →  WE READ  →  YOU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488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1488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1488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11292840" cy="19202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160520"/>
            <a:ext cx="45720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15968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222B"/>
                </a:solidFill>
                <a:latin typeface="Georgia"/>
              </a:rPr>
              <a:t>I see a brick.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138928"/>
            <a:ext cx="4572000" cy="4572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1208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 READ  →  WE READ  →  YOU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297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4297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4297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E3843"/>
                </a:solidFill>
                <a:latin typeface="Calibri"/>
              </a:rPr>
              <a:t>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Read the sentence twice. The naming word tells you the picture.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✅ Real or Silly?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265688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2B"/>
                </a:solidFill>
                <a:latin typeface="Calibri"/>
              </a:rPr>
              <a:t>Read it, then tell me: could that really happen?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02536"/>
            <a:ext cx="457200" cy="457200"/>
          </a:xfrm>
          <a:prstGeom prst="ellipse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26664"/>
            <a:ext cx="457200" cy="457200"/>
          </a:xfrm>
          <a:prstGeom prst="ellipse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81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0792"/>
            <a:ext cx="457200" cy="457200"/>
          </a:xfrm>
          <a:prstGeom prst="ellipse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05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29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198424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The builder uses a brick.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1956816"/>
            <a:ext cx="1691640" cy="54864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0574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6E3A"/>
                </a:solidFill>
                <a:latin typeface="Calibri"/>
              </a:rPr>
              <a:t>✅  REAL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1956816"/>
            <a:ext cx="1691640" cy="54864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0574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❌  SILLY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008376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The brick eats lunch.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2980944"/>
            <a:ext cx="1691640" cy="54864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0815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6E3A"/>
                </a:solidFill>
                <a:latin typeface="Calibri"/>
              </a:rPr>
              <a:t>✅  REAL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2980944"/>
            <a:ext cx="1691640" cy="54864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30815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❌  SILLY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032504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The truck is big.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4005072"/>
            <a:ext cx="1691640" cy="54864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10565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6E3A"/>
                </a:solidFill>
                <a:latin typeface="Calibri"/>
              </a:rPr>
              <a:t>✅  REAL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4005072"/>
            <a:ext cx="1691640" cy="54864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410565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❌  SILLY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05663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C222B"/>
                </a:solidFill>
                <a:latin typeface="Georgia"/>
              </a:rPr>
              <a:t>The hard hat drives a truck.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5029200"/>
            <a:ext cx="1691640" cy="54864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51297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6E3A"/>
                </a:solidFill>
                <a:latin typeface="Calibri"/>
              </a:rPr>
              <a:t>✅  REAL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029200"/>
            <a:ext cx="1691640" cy="54864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51297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❌  SILLY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Silly sentences are meant to be funny. Laugh with him, then ask why.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58–67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🚧 Safety Sign Station — Done!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28244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Safety Signs  |  58–67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5A12"/>
                </a:solidFill>
                <a:latin typeface="Calibri"/>
              </a:rPr>
              <a:t>You read seven sight words and four real sentences.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E3843"/>
                </a:solidFill>
                <a:latin typeface="Calibri"/>
              </a:rPr>
              <a:t>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SENTENCE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590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764792"/>
            <a:ext cx="457200" cy="457200"/>
          </a:xfrm>
          <a:prstGeom prst="ellipse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19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0136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I  ·  see  ·  a  ·  the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404872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478024"/>
            <a:ext cx="457200" cy="457200"/>
          </a:xfrm>
          <a:prstGeom prst="ellipse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532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514600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my  ·  is  ·  can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118104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191256"/>
            <a:ext cx="457200" cy="457200"/>
          </a:xfrm>
          <a:prstGeom prst="ellipse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278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I see a brick.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3831335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3904487"/>
            <a:ext cx="457200" cy="457200"/>
          </a:xfrm>
          <a:prstGeom prst="ellipse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395935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941063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I see the truck.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4544568"/>
            <a:ext cx="6766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57800" y="4617720"/>
            <a:ext cx="457200" cy="457200"/>
          </a:xfrm>
          <a:prstGeom prst="ellipse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4672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3843"/>
                </a:solidFill>
                <a:latin typeface="Calibri"/>
              </a:rPr>
              <a:t>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65429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My hat is red.   ·   I can run.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the Reading Site — a whole story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📖 Our Story — Sam Builds a Little Shed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90800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2B"/>
                </a:solidFill>
                <a:latin typeface="Calibri"/>
              </a:rPr>
              <a:t>Before we read: look at the picture and make a guess.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120640" cy="402336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 i="0">
                <a:solidFill>
                  <a:srgbClr val="2E3843"/>
                </a:solidFill>
                <a:latin typeface="Calibri"/>
              </a:rPr>
              <a:t>👷🏠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31920"/>
            <a:ext cx="4023360" cy="914400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SAM BUILDS A LITTLE 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7C8590"/>
                </a:solidFill>
                <a:latin typeface="Calibri"/>
              </a:rPr>
              <a:t>five short parts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691640"/>
            <a:ext cx="58978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8105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5A2B"/>
                </a:solidFill>
                <a:latin typeface="Calibri"/>
              </a:rPr>
              <a:t>QUESTION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222B"/>
                </a:solidFill>
                <a:latin typeface="Calibri"/>
              </a:rPr>
              <a:t>Who do you think Sam 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74320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5A2B"/>
                </a:solidFill>
                <a:latin typeface="Calibri"/>
              </a:rPr>
              <a:t>QUESTION 2 — What do you think Sam will build?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200400"/>
            <a:ext cx="1783080" cy="18288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342900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97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a little 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70916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200400"/>
            <a:ext cx="1783080" cy="18288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42900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297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a big truck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70916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3200400"/>
            <a:ext cx="1783080" cy="18288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342900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297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22B"/>
                </a:solidFill>
                <a:latin typeface="Calibri"/>
              </a:rPr>
              <a:t>a tall wall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70916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5212080"/>
            <a:ext cx="5897880" cy="50292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30352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E3A"/>
                </a:solidFill>
                <a:latin typeface="Calibri"/>
              </a:rPr>
              <a:t>Any guess is a good guess. We check at the end.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Guessing first makes the story easier to follow.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🏠 Sam Builds a Little Shed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452F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What colour is Sam's bag?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Sam has a red bag.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He has a small 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The map shows the yard.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"Let's build!" says Sam.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Sam has a red bag.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🏠 Sam Builds a Little Shed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91591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5F8A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What do they see in the yard?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Sam and Dad go to the yard.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They see a big box.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The box is full of wood.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Dad lifts the box.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F8A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They see a big box.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🏠 Sam Builds a Little Shed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7846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67–77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18906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What does Sam get?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Sam gets a hammer.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Dad gets some wood.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Sam puts on his hard hat.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Now they can start.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8906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Sam gets a hammer.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🏠 Sam Builds a Little Shed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4102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63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7668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What does Sam put on the wall?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Sam can fix the little shed.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He puts a board on the wall.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Tap, tap, tap goes the hammer.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The wall is strong.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668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The wall is strong.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🏠 Sam Builds a Little Shed — Part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0357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64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E3843"/>
                </a:solidFill>
                <a:latin typeface="Calibri"/>
              </a:rPr>
              <a:t>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5A2B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22B"/>
                </a:solidFill>
                <a:latin typeface="Calibri"/>
              </a:rPr>
              <a:t>How does Sam feel at the end?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The shed is small and 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The door can open and shut.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Sam looks at the shed.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C222B"/>
                </a:solidFill>
                <a:latin typeface="Georgia"/>
              </a:rPr>
              <a:t>"I did it!" says Sam.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5A2B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222B"/>
                </a:solidFill>
                <a:latin typeface="Georgia"/>
              </a:rPr>
              <a:t>Sam looks at the shed.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🔎 Story Builder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56613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Two questions. The answers are in the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222B"/>
                </a:solidFill>
                <a:latin typeface="Calibri"/>
              </a:rPr>
              <a:t>Who is in the story?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88920"/>
            <a:ext cx="1828800" cy="402336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Ben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Sam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Mia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8678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41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222B"/>
                </a:solidFill>
                <a:latin typeface="Calibri"/>
              </a:rPr>
              <a:t>What colour is Sam's bag?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64024"/>
            <a:ext cx="1828800" cy="402336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8188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Blue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Green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Red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Go back to the part and read it again together before answering.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🔎 Two More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72869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Same job. Find the part, then choose.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222B"/>
                </a:solidFill>
                <a:latin typeface="Calibri"/>
              </a:rPr>
              <a:t>What does Sam get?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88920"/>
            <a:ext cx="1828800" cy="402336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A hammer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A ball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A cup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8678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3843"/>
                </a:solidFill>
                <a:latin typeface="Calibri"/>
              </a:rPr>
              <a:t>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41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C222B"/>
                </a:solidFill>
                <a:latin typeface="Calibri"/>
              </a:rPr>
              <a:t>What does Sam help fix?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64024"/>
            <a:ext cx="1828800" cy="402336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8188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A car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A shed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F8A"/>
                </a:solidFill>
                <a:latin typeface="Calibr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222B"/>
                </a:solidFill>
                <a:latin typeface="Calibri"/>
              </a:rPr>
              <a:t>A bike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If he guesses, do not say no. Say "let's check" and read it again.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🧩 Put the Story in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9124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What happened first? Number the cards 1 to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651760" cy="3200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2651760" cy="4572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222B"/>
                </a:solidFill>
                <a:latin typeface="Calibri"/>
              </a:rPr>
              <a:t>Sam gets a hammer.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251960"/>
            <a:ext cx="914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708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1737360"/>
            <a:ext cx="2651760" cy="3200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10128" y="1737360"/>
            <a:ext cx="2651760" cy="4572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CARD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222B"/>
                </a:solidFill>
                <a:latin typeface="Calibri"/>
              </a:rPr>
              <a:t>Sam goes to the yard.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78808" y="4251960"/>
            <a:ext cx="914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8" y="43708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1737360"/>
            <a:ext cx="2651760" cy="3200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3056" y="1737360"/>
            <a:ext cx="2651760" cy="4572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CARD 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222B"/>
                </a:solidFill>
                <a:latin typeface="Calibri"/>
              </a:rPr>
              <a:t>Sam has a red bag.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31736" y="4251960"/>
            <a:ext cx="914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1736" y="43708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5984" y="1737360"/>
            <a:ext cx="2651760" cy="320040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15984" y="1737360"/>
            <a:ext cx="2651760" cy="4572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CARD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E3843"/>
                </a:solidFill>
                <a:latin typeface="Calibri"/>
              </a:rPr>
              <a:t>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4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222B"/>
                </a:solidFill>
                <a:latin typeface="Calibri"/>
              </a:rPr>
              <a:t>Sam helps fix the shed.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84664" y="4251960"/>
            <a:ext cx="914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4664" y="43708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11292840" cy="6400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3309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8590"/>
                </a:solidFill>
                <a:latin typeface="Calibri"/>
              </a:rPr>
              <a:t>WRITE THE ORDER HERE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5266944"/>
            <a:ext cx="914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9744" y="530352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47488" y="5266944"/>
            <a:ext cx="914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98464" y="530352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5266944"/>
            <a:ext cx="914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87184" y="5303520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8590"/>
                </a:solidFill>
                <a:latin typeface="Calibr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24928" y="5266944"/>
            <a:ext cx="9144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Ask what Sam had at the very start of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77–85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🔎 Show Me the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5380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Reading Site  |  77–85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Do not just say it. Go back and point to the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430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93976"/>
            <a:ext cx="530352" cy="530352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093976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What is inside the big box?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057400"/>
            <a:ext cx="1920240" cy="54864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67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Part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05740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pointed to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81528"/>
            <a:ext cx="11292840" cy="114300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392424"/>
            <a:ext cx="530352" cy="530352"/>
          </a:xfrm>
          <a:prstGeom prst="ellipse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65576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39242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What does Sam wear on his head?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355848"/>
            <a:ext cx="1920240" cy="54864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4655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Part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3355848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3465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pointed to 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79976"/>
            <a:ext cx="11292840" cy="114300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690872"/>
            <a:ext cx="530352" cy="530352"/>
          </a:xfrm>
          <a:prstGeom prst="ellipse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64024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69087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222B"/>
                </a:solidFill>
                <a:latin typeface="Calibri"/>
              </a:rPr>
              <a:t>What colour is the shed?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4654296"/>
            <a:ext cx="1920240" cy="548640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47640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Part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654296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7640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 I pointed to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Pointing at the line is the habit we want, more than the answer itself.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🏗️ Final Build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21635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  |  85–88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6E3A"/>
                </a:solidFill>
                <a:latin typeface="Calibri"/>
              </a:rPr>
              <a:t>Three last jobs. You already know all of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566160" cy="402336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3566160" cy="54864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92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🔤  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🗺️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3017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MAP  ·  BIG  ·  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89204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452F"/>
                </a:solidFill>
                <a:latin typeface="Calibri"/>
              </a:rPr>
              <a:t>☐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691640"/>
            <a:ext cx="3566160" cy="402336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1691640"/>
            <a:ext cx="3566160" cy="54864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792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🧩  BLEND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423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566160"/>
            <a:ext cx="3017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886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B – O – 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89204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7668"/>
                </a:solidFill>
                <a:latin typeface="Calibri"/>
              </a:rPr>
              <a:t>☐ 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691640"/>
            <a:ext cx="3566160" cy="402336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1691640"/>
            <a:ext cx="3566160" cy="54864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792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📖  SENTENCE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423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566160"/>
            <a:ext cx="3017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886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222B"/>
                </a:solidFill>
                <a:latin typeface="Calibri"/>
              </a:rPr>
              <a:t>I see a brick.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89204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45A12"/>
                </a:solidFill>
                <a:latin typeface="Calibri"/>
              </a:rPr>
              <a:t>☐ done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Hints are still allowed here. Finishing is what matters.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3843"/>
                </a:solidFill>
                <a:latin typeface="Calibri"/>
              </a:rP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E3843"/>
                </a:solidFill>
                <a:latin typeface="Calibri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READING BUILDER CHAMPION!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0C56B"/>
                </a:solidFill>
                <a:latin typeface="Calibri"/>
              </a:rPr>
              <a:t>Look what you built today 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200400"/>
            <a:ext cx="178308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355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843"/>
                </a:solidFill>
                <a:latin typeface="Calibri"/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04487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new words!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00400"/>
            <a:ext cx="178308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355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843"/>
                </a:solidFill>
                <a:latin typeface="Calibri"/>
              </a:rP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04487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built words!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200400"/>
            <a:ext cx="178308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355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843"/>
                </a:solidFill>
                <a:latin typeface="Calibri"/>
              </a:rP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904487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sentences!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19" y="3200400"/>
            <a:ext cx="178308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3355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843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7" y="3904487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a story!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200400"/>
            <a:ext cx="1783080" cy="1371600"/>
          </a:xfrm>
          <a:prstGeom prst="roundRect">
            <a:avLst/>
          </a:prstGeom>
          <a:solidFill>
            <a:srgbClr val="27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35584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3843"/>
                </a:solidFill>
                <a:latin typeface="Calibri"/>
              </a:rPr>
              <a:t>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904487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answered questions!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4754880"/>
            <a:ext cx="8686800" cy="96012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4974336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Georgia"/>
              </a:rPr>
              <a:t>"I CAN BUILD MY READING SKILLS!"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9788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C56B"/>
                </a:solidFill>
                <a:latin typeface="Calibri"/>
              </a:rPr>
              <a:t>🏗️  📚  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137891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  |  88–90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70 / 75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🎲 Extra Game Bank — If There Is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541471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71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668"/>
                </a:solidFill>
                <a:latin typeface="Calibri"/>
              </a:rPr>
              <a:t>Six spare games. Play any of them, in any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1 — MISSING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Fill the gap in the brick.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6616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452F"/>
                </a:solidFill>
                <a:latin typeface="Calibri"/>
              </a:rPr>
              <a:t>M _ 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5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452F"/>
                </a:solidFill>
                <a:latin typeface="Calibri"/>
              </a:rPr>
              <a:t>A  ·  E  ·  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37360"/>
            <a:ext cx="3566160" cy="393192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5968" y="1737360"/>
            <a:ext cx="3566160" cy="457200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2 — WORD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Fix the mixed-up word.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356616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703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906"/>
                </a:solidFill>
                <a:latin typeface="Calibri"/>
              </a:rPr>
              <a:t>G - A -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1728" y="434340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48055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906"/>
                </a:solidFill>
                <a:latin typeface="Calibri"/>
              </a:rPr>
              <a:t>say the sounds, then swap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1737360"/>
            <a:ext cx="3566160" cy="3931920"/>
          </a:xfrm>
          <a:prstGeom prst="roundRect">
            <a:avLst/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74736" y="1737360"/>
            <a:ext cx="3566160" cy="457200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3 — FIND THE 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Find one word in the sentence.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0496" y="356616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703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5A12"/>
                </a:solidFill>
                <a:latin typeface="Calibri"/>
              </a:rPr>
              <a:t>I see a big truck.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0496" y="434340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448055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5A12"/>
                </a:solidFill>
                <a:latin typeface="Calibri"/>
              </a:rPr>
              <a:t>Find TRUCK.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Every game uses today's words only. Nothing new to learn.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🎲 Extra Game Bank — Three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04027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72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Three more, plus when to use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2651760" cy="393192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2651760" cy="457200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4 — RHYME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Which one rhymes?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6616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7668"/>
                </a:solidFill>
                <a:latin typeface="Calibri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59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7668"/>
                </a:solidFill>
                <a:latin typeface="Calibri"/>
              </a:rPr>
              <a:t>HAT  ·  FOX  ·  SUN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1737360"/>
            <a:ext cx="2651760" cy="393192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00984" y="1737360"/>
            <a:ext cx="2651760" cy="457200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0984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5 — SENTENCE PUZZLE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Put the cards in order.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66744" y="356616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66744" y="37033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F8A"/>
                </a:solidFill>
                <a:latin typeface="Calibri"/>
              </a:rPr>
              <a:t>big  /  is  /  truck  /  The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1737360"/>
            <a:ext cx="2651760" cy="3931920"/>
          </a:xfrm>
          <a:prstGeom prst="roundRect">
            <a:avLst/>
          </a:prstGeom>
          <a:solidFill>
            <a:srgbClr val="F2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44768" y="1737360"/>
            <a:ext cx="2651760" cy="457200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6 — REAL OR SILLY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3843"/>
                </a:solidFill>
                <a:latin typeface="Calibri"/>
              </a:rPr>
              <a:t>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22B"/>
                </a:solidFill>
                <a:latin typeface="Calibri"/>
              </a:rPr>
              <a:t>Sensible or silly?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356616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7033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5A2B"/>
                </a:solidFill>
                <a:latin typeface="Calibri"/>
              </a:rPr>
              <a:t>The builder wears a hard hat.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0528" y="434340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4480559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5A2B"/>
                </a:solidFill>
                <a:latin typeface="Calibri"/>
              </a:rPr>
              <a:t>The hard hat eats lunch.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8552" y="1737360"/>
            <a:ext cx="2761488" cy="393192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5F8A"/>
                </a:solidFill>
                <a:latin typeface="Calibri"/>
              </a:rPr>
              <a:t>WHEN TO USE THESE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3774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2E3843"/>
                </a:solidFill>
                <a:latin typeface="Calibri"/>
              </a:rPr>
              <a:t>•  He finishes an activity early.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843"/>
                </a:solidFill>
                <a:latin typeface="Calibri"/>
              </a:rPr>
              <a:t>•  His focus starts to drop.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843"/>
                </a:solidFill>
                <a:latin typeface="Calibri"/>
              </a:rPr>
              <a:t>•  One sound needs more practice.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843"/>
                </a:solidFill>
                <a:latin typeface="Calibri"/>
              </a:rPr>
              <a:t>•  You have five spare minutes.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E3843"/>
                </a:solidFill>
                <a:latin typeface="Calibri"/>
              </a:rPr>
              <a:t>•  He asks to play one more.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906"/>
                </a:solidFill>
                <a:latin typeface="Calibri"/>
              </a:rPr>
              <a:t>🔧 BUILDER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22B"/>
                </a:solidFill>
                <a:latin typeface="Calibri"/>
              </a:rPr>
              <a:t>Stop a game while he is still enjoying it, not after.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🧰 Support System — For the 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66583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73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F8A"/>
                </a:solidFill>
                <a:latin typeface="Calibri"/>
              </a:rPr>
              <a:t>Levels, the hint ladder, and how to handle a hard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566160" cy="2057400"/>
          </a:xfrm>
          <a:prstGeom prst="roundRect">
            <a:avLst/>
          </a:prstGeom>
          <a:solidFill>
            <a:srgbClr val="DF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843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7668"/>
                </a:solidFill>
                <a:latin typeface="Calibri"/>
              </a:rPr>
              <a:t>BUILDER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Needs a picture or a first sound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22B"/>
                </a:solidFill>
                <a:latin typeface="Calibri"/>
              </a:rPr>
              <a:t>Point at the picture, then the first letter.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205740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843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8906"/>
                </a:solidFill>
                <a:latin typeface="Calibri"/>
              </a:rPr>
              <a:t>BUILDING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Reads it with a little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22B"/>
                </a:solidFill>
                <a:latin typeface="Calibri"/>
              </a:rPr>
              <a:t>Ask one small question, then wait quietly.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2057400"/>
          </a:xfrm>
          <a:prstGeom prst="round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3843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F8A"/>
                </a:solidFill>
                <a:latin typeface="Calibri"/>
              </a:rPr>
              <a:t>MASTER BUILDER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843"/>
                </a:solidFill>
                <a:latin typeface="Calibri"/>
              </a:rPr>
              <a:t>Reads it on his own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22B"/>
                </a:solidFill>
                <a:latin typeface="Calibri"/>
              </a:rPr>
              <a:t>Ask him to build a new sentence with the 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F8A"/>
                </a:solidFill>
                <a:latin typeface="Calibri"/>
              </a:rPr>
              <a:t>HINT LADDER — never reveal the answer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61104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306824"/>
            <a:ext cx="1097280" cy="292608"/>
          </a:xfrm>
          <a:prstGeom prst="roundRect">
            <a:avLst/>
          </a:prstGeom>
          <a:solidFill>
            <a:srgbClr val="1B7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25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068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Look at the first letter.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81728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727448"/>
            <a:ext cx="1097280" cy="292608"/>
          </a:xfrm>
          <a:prstGeom prst="roundRect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45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7274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Say each sound.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02352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5148072"/>
            <a:ext cx="1097280" cy="29260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66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1480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Blend the sounds together.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5568696"/>
            <a:ext cx="1097280" cy="29260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86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568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Let's read it together.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989320"/>
            <a:ext cx="1097280" cy="292608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0076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989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I read it, then you read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7668"/>
                </a:solidFill>
                <a:latin typeface="Calibri"/>
              </a:rPr>
              <a:t>A HARD SENTENCE, STEP BY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Read the whole sentence out loud yourself.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Point to each word as you read it again.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Explain one hard word with a picture.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Read it together, at his speed.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Let him try one short sentence alone.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Praise the effort, not just the answer.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886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E3A"/>
                </a:solidFill>
                <a:latin typeface="Calibri"/>
              </a:rPr>
              <a:t>SAY THIS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315968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B6E3A"/>
                </a:solidFill>
                <a:latin typeface="Calibri"/>
              </a:rPr>
              <a:t>•  "Good try!"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6E3A"/>
                </a:solidFill>
                <a:latin typeface="Calibri"/>
              </a:rPr>
              <a:t>•  "Let's build this word together."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6E3A"/>
                </a:solidFill>
                <a:latin typeface="Calibri"/>
              </a:rPr>
              <a:t>•  "You found the first sound!"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6E3A"/>
                </a:solidFill>
                <a:latin typeface="Calibri"/>
              </a:rPr>
              <a:t>•  "Great blending!"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6E3A"/>
                </a:solidFill>
                <a:latin typeface="Calibri"/>
              </a:rPr>
              <a:t>•  "Try it one more time."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6E3A"/>
                </a:solidFill>
                <a:latin typeface="Calibri"/>
              </a:rPr>
              <a:t>•  "You solved it!"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📋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029139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74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906"/>
                </a:solidFill>
                <a:latin typeface="Calibri"/>
              </a:rPr>
              <a:t>Tick one box per skill right after the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11292840" cy="384048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Beginning sounds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23160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41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Short vowels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4320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614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CVC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39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0815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Blending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8327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015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Word families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21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Sight words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2335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4164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Phrase reading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43400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361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66344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Story reading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983479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0017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22B"/>
                </a:solidFill>
                <a:latin typeface="Calibri"/>
              </a:rPr>
              <a:t>Comprehension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590"/>
                </a:solidFill>
                <a:latin typeface="Calibri"/>
              </a:rPr>
              <a:t>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44068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452F"/>
                </a:solidFill>
                <a:latin typeface="Calibri"/>
              </a:rPr>
              <a:t>NEVER USE THE LABELS  weak  ·  slow  ·  behind  ·  low level  —  describe the next step instead.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852160"/>
            <a:ext cx="11292840" cy="457200"/>
          </a:xfrm>
          <a:prstGeom prst="roundRect">
            <a:avLst/>
          </a:prstGeom>
          <a:solidFill>
            <a:srgbClr val="FCF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9618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WORDS TO REVIEW:  ____________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59" y="59618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SIGHT WORDS TO REVIEW:  ____________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59618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22B"/>
                </a:solidFill>
                <a:latin typeface="Calibri"/>
              </a:rPr>
              <a:t>NEXT READING GOAL:  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222B"/>
                </a:solidFill>
                <a:latin typeface="Georgia"/>
              </a:rPr>
              <a:t>🔑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🏗️ Build It! Reading Crew  |  Grade 1  |  90 min  |  Builder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75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452F"/>
                </a:solidFill>
                <a:latin typeface="Calibri"/>
              </a:rPr>
              <a:t>For the teacher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5440680" cy="420624"/>
          </a:xfrm>
          <a:prstGeom prst="roundRect">
            <a:avLst/>
          </a:prstGeom>
          <a:solidFill>
            <a:srgbClr val="D1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SOUNDS AND VOWELS (15–26)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Which tool: brick · crane · map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      tool · dig · fix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Tool box: MAP · BAG · FIX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Brick sort: A map, bag · E red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      I big · O fox, hot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Missing vowel: I · A · E · O · 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440680" cy="420624"/>
          </a:xfrm>
          <a:prstGeom prst="roundRect">
            <a:avLst/>
          </a:prstGeom>
          <a:solidFill>
            <a:srgbClr val="B0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BLENDING AND FAMILIES (34–43)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Build the word: BAG · MAP · FOX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Mixed up: MAP · BIG · HAT · FOX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Family wall: -AT cat, hat, mat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      -UN sun, run, fun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Odd one out: SUN · BIG · MAP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Rhymes: HAT · FOX · FUN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5440680" cy="420624"/>
          </a:xfrm>
          <a:prstGeom prst="roundRect">
            <a:avLst/>
          </a:prstGeom>
          <a:solidFill>
            <a:srgbClr val="C4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SENTENCES (54–57)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Puzzles: I see a brick. · My hat is red.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      I can run. · The truck is big.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Picture match: the truck · the brick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Real or silly: real · silly · real · silly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Sight words: I, see, a, the, my, is, can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8620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440680" cy="420624"/>
          </a:xfrm>
          <a:prstGeom prst="roundRect">
            <a:avLst/>
          </a:prstGeom>
          <a:solidFill>
            <a:srgbClr val="8A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STORY AND QUESTIONS (59–68)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Q1 Sam · Q2 Red · Q3 A hammer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      Q4 A shed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Order: C → B → A → 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Evidence: wood (Part 2) · a hard hat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      (Part 3) · red (Part 5)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E3843"/>
                </a:solidFill>
                <a:latin typeface="Calibri"/>
              </a:rPr>
              <a:t>•  Story words: 104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92840" cy="384048"/>
          </a:xfrm>
          <a:prstGeom prst="roundRect">
            <a:avLst/>
          </a:prstGeom>
          <a:solidFill>
            <a:srgbClr val="FA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8134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52F"/>
                </a:solidFill>
                <a:latin typeface="Calibri"/>
              </a:rPr>
              <a:t>Accept any sensible answer for the rhyme game, the predictions and the speaking tasks.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