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48640" y="914400"/>
            <a:ext cx="502920" cy="502920"/>
          </a:xfrm>
          <a:prstGeom prst="ellipse">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789920" y="1188720"/>
            <a:ext cx="502920" cy="502920"/>
          </a:xfrm>
          <a:prstGeom prst="ellipse">
            <a:avLst/>
          </a:prstGeom>
          <a:solidFill>
            <a:srgbClr val="EC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97280" y="5120640"/>
            <a:ext cx="502920" cy="50292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10972800" cy="914400"/>
          </a:xfrm>
          <a:prstGeom prst="rect">
            <a:avLst/>
          </a:prstGeom>
          <a:noFill/>
        </p:spPr>
        <p:txBody>
          <a:bodyPr wrap="square">
            <a:spAutoFit/>
          </a:bodyPr>
          <a:lstStyle/>
          <a:p>
            <a:pPr algn="ctr"/>
            <a:r>
              <a:rPr sz="4000" b="1">
                <a:solidFill>
                  <a:srgbClr val="FFFFFF"/>
                </a:solidFill>
                <a:latin typeface="Georgia"/>
              </a:rPr>
              <a:t>Welcome to Today's
English Adventure!</a:t>
            </a:r>
          </a:p>
        </p:txBody>
      </p:sp>
      <p:sp>
        <p:nvSpPr>
          <p:cNvPr id="8" name="TextBox 7"/>
          <p:cNvSpPr txBox="1"/>
          <p:nvPr/>
        </p:nvSpPr>
        <p:spPr>
          <a:xfrm>
            <a:off x="640080" y="3474720"/>
            <a:ext cx="10972800" cy="411480"/>
          </a:xfrm>
          <a:prstGeom prst="rect">
            <a:avLst/>
          </a:prstGeom>
          <a:noFill/>
        </p:spPr>
        <p:txBody>
          <a:bodyPr wrap="square">
            <a:spAutoFit/>
          </a:bodyPr>
          <a:lstStyle/>
          <a:p>
            <a:pPr algn="ctr"/>
            <a:r>
              <a:rPr sz="1700" b="0">
                <a:solidFill>
                  <a:srgbClr val="BBDEFB"/>
                </a:solidFill>
                <a:latin typeface="Calibri"/>
              </a:rPr>
              <a:t>Grade 7  •  United States  •  60 Minutes  •  Mystery + Grammar Quest</a:t>
            </a:r>
          </a:p>
        </p:txBody>
      </p:sp>
      <p:sp>
        <p:nvSpPr>
          <p:cNvPr id="9" name="Rounded Rectangle 8"/>
          <p:cNvSpPr/>
          <p:nvPr/>
        </p:nvSpPr>
        <p:spPr>
          <a:xfrm>
            <a:off x="2926080" y="4206240"/>
            <a:ext cx="6309360" cy="100584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0" y="4434840"/>
            <a:ext cx="5943600" cy="548640"/>
          </a:xfrm>
          <a:prstGeom prst="rect">
            <a:avLst/>
          </a:prstGeom>
          <a:noFill/>
        </p:spPr>
        <p:txBody>
          <a:bodyPr wrap="square">
            <a:spAutoFit/>
          </a:bodyPr>
          <a:lstStyle/>
          <a:p>
            <a:pPr algn="ctr"/>
            <a:r>
              <a:rPr sz="1500" b="1">
                <a:solidFill>
                  <a:srgbClr val="FFFFFF"/>
                </a:solidFill>
                <a:latin typeface="Calibri"/>
              </a:rPr>
              <a:t>Past Perfect  •  Reading  •  Vocabulary  •  Storytelling
(An adventure—not a lecture!)</a:t>
            </a:r>
          </a:p>
        </p:txBody>
      </p:sp>
      <p:sp>
        <p:nvSpPr>
          <p:cNvPr id="11" name="Rectangle 10"/>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Welcome 5 min</a:t>
            </a:r>
          </a:p>
        </p:txBody>
      </p:sp>
      <p:sp>
        <p:nvSpPr>
          <p:cNvPr id="13" name="TextBox 12"/>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1/22</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Icebreaker 5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Fun Icebreaker: This or That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Icebreaker 5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2/22</a:t>
            </a:r>
          </a:p>
        </p:txBody>
      </p:sp>
      <p:sp>
        <p:nvSpPr>
          <p:cNvPr id="12" name="Rounded Rectangle 11"/>
          <p:cNvSpPr/>
          <p:nvPr/>
        </p:nvSpPr>
        <p:spPr>
          <a:xfrm>
            <a:off x="347472" y="1325880"/>
            <a:ext cx="37033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 y="1645920"/>
            <a:ext cx="3429000" cy="502920"/>
          </a:xfrm>
          <a:prstGeom prst="rect">
            <a:avLst/>
          </a:prstGeom>
          <a:noFill/>
        </p:spPr>
        <p:txBody>
          <a:bodyPr wrap="square">
            <a:spAutoFit/>
          </a:bodyPr>
          <a:lstStyle/>
          <a:p>
            <a:pPr algn="ctr"/>
            <a:r>
              <a:rPr sz="1500" b="1">
                <a:solidFill>
                  <a:srgbClr val="00897B"/>
                </a:solidFill>
                <a:latin typeface="Calibri"/>
              </a:rPr>
              <a:t>Mystery novels</a:t>
            </a:r>
          </a:p>
        </p:txBody>
      </p:sp>
      <p:sp>
        <p:nvSpPr>
          <p:cNvPr id="14" name="TextBox 13"/>
          <p:cNvSpPr txBox="1"/>
          <p:nvPr/>
        </p:nvSpPr>
        <p:spPr>
          <a:xfrm>
            <a:off x="484632" y="2240280"/>
            <a:ext cx="3429000" cy="320040"/>
          </a:xfrm>
          <a:prstGeom prst="rect">
            <a:avLst/>
          </a:prstGeom>
          <a:noFill/>
        </p:spPr>
        <p:txBody>
          <a:bodyPr wrap="square">
            <a:spAutoFit/>
          </a:bodyPr>
          <a:lstStyle/>
          <a:p>
            <a:pPr algn="ctr"/>
            <a:r>
              <a:rPr sz="1200" b="1">
                <a:solidFill>
                  <a:srgbClr val="64748B"/>
                </a:solidFill>
                <a:latin typeface="Calibri"/>
              </a:rPr>
              <a:t>OR</a:t>
            </a:r>
          </a:p>
        </p:txBody>
      </p:sp>
      <p:sp>
        <p:nvSpPr>
          <p:cNvPr id="15" name="TextBox 14"/>
          <p:cNvSpPr txBox="1"/>
          <p:nvPr/>
        </p:nvSpPr>
        <p:spPr>
          <a:xfrm>
            <a:off x="484632" y="2651760"/>
            <a:ext cx="3429000" cy="502920"/>
          </a:xfrm>
          <a:prstGeom prst="rect">
            <a:avLst/>
          </a:prstGeom>
          <a:noFill/>
        </p:spPr>
        <p:txBody>
          <a:bodyPr wrap="square">
            <a:spAutoFit/>
          </a:bodyPr>
          <a:lstStyle/>
          <a:p>
            <a:pPr algn="ctr"/>
            <a:r>
              <a:rPr sz="1500" b="1">
                <a:solidFill>
                  <a:srgbClr val="FF7043"/>
                </a:solidFill>
                <a:latin typeface="Calibri"/>
              </a:rPr>
              <a:t>Science fiction</a:t>
            </a:r>
          </a:p>
        </p:txBody>
      </p:sp>
      <p:sp>
        <p:nvSpPr>
          <p:cNvPr id="16" name="Rounded Rectangle 15"/>
          <p:cNvSpPr/>
          <p:nvPr/>
        </p:nvSpPr>
        <p:spPr>
          <a:xfrm>
            <a:off x="4279392" y="1325880"/>
            <a:ext cx="37033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16552" y="1645920"/>
            <a:ext cx="3429000" cy="502920"/>
          </a:xfrm>
          <a:prstGeom prst="rect">
            <a:avLst/>
          </a:prstGeom>
          <a:noFill/>
        </p:spPr>
        <p:txBody>
          <a:bodyPr wrap="square">
            <a:spAutoFit/>
          </a:bodyPr>
          <a:lstStyle/>
          <a:p>
            <a:pPr algn="ctr"/>
            <a:r>
              <a:rPr sz="1500" b="1">
                <a:solidFill>
                  <a:srgbClr val="00897B"/>
                </a:solidFill>
                <a:latin typeface="Calibri"/>
              </a:rPr>
              <a:t>Read alone</a:t>
            </a:r>
          </a:p>
        </p:txBody>
      </p:sp>
      <p:sp>
        <p:nvSpPr>
          <p:cNvPr id="18" name="TextBox 17"/>
          <p:cNvSpPr txBox="1"/>
          <p:nvPr/>
        </p:nvSpPr>
        <p:spPr>
          <a:xfrm>
            <a:off x="4416552" y="2240280"/>
            <a:ext cx="3429000" cy="320040"/>
          </a:xfrm>
          <a:prstGeom prst="rect">
            <a:avLst/>
          </a:prstGeom>
          <a:noFill/>
        </p:spPr>
        <p:txBody>
          <a:bodyPr wrap="square">
            <a:spAutoFit/>
          </a:bodyPr>
          <a:lstStyle/>
          <a:p>
            <a:pPr algn="ctr"/>
            <a:r>
              <a:rPr sz="1200" b="1">
                <a:solidFill>
                  <a:srgbClr val="64748B"/>
                </a:solidFill>
                <a:latin typeface="Calibri"/>
              </a:rPr>
              <a:t>OR</a:t>
            </a:r>
          </a:p>
        </p:txBody>
      </p:sp>
      <p:sp>
        <p:nvSpPr>
          <p:cNvPr id="19" name="TextBox 18"/>
          <p:cNvSpPr txBox="1"/>
          <p:nvPr/>
        </p:nvSpPr>
        <p:spPr>
          <a:xfrm>
            <a:off x="4416552" y="2651760"/>
            <a:ext cx="3429000" cy="502920"/>
          </a:xfrm>
          <a:prstGeom prst="rect">
            <a:avLst/>
          </a:prstGeom>
          <a:noFill/>
        </p:spPr>
        <p:txBody>
          <a:bodyPr wrap="square">
            <a:spAutoFit/>
          </a:bodyPr>
          <a:lstStyle/>
          <a:p>
            <a:pPr algn="ctr"/>
            <a:r>
              <a:rPr sz="1500" b="1">
                <a:solidFill>
                  <a:srgbClr val="FF7043"/>
                </a:solidFill>
                <a:latin typeface="Calibri"/>
              </a:rPr>
              <a:t>Read with a friend</a:t>
            </a:r>
          </a:p>
        </p:txBody>
      </p:sp>
      <p:sp>
        <p:nvSpPr>
          <p:cNvPr id="20" name="Rounded Rectangle 19"/>
          <p:cNvSpPr/>
          <p:nvPr/>
        </p:nvSpPr>
        <p:spPr>
          <a:xfrm>
            <a:off x="8211312" y="1325880"/>
            <a:ext cx="37033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48472" y="1645920"/>
            <a:ext cx="3429000" cy="502920"/>
          </a:xfrm>
          <a:prstGeom prst="rect">
            <a:avLst/>
          </a:prstGeom>
          <a:noFill/>
        </p:spPr>
        <p:txBody>
          <a:bodyPr wrap="square">
            <a:spAutoFit/>
          </a:bodyPr>
          <a:lstStyle/>
          <a:p>
            <a:pPr algn="ctr"/>
            <a:r>
              <a:rPr sz="1500" b="1">
                <a:solidFill>
                  <a:srgbClr val="00897B"/>
                </a:solidFill>
                <a:latin typeface="Calibri"/>
              </a:rPr>
              <a:t>Library at night</a:t>
            </a:r>
          </a:p>
        </p:txBody>
      </p:sp>
      <p:sp>
        <p:nvSpPr>
          <p:cNvPr id="22" name="TextBox 21"/>
          <p:cNvSpPr txBox="1"/>
          <p:nvPr/>
        </p:nvSpPr>
        <p:spPr>
          <a:xfrm>
            <a:off x="8348472" y="2240280"/>
            <a:ext cx="3429000" cy="320040"/>
          </a:xfrm>
          <a:prstGeom prst="rect">
            <a:avLst/>
          </a:prstGeom>
          <a:noFill/>
        </p:spPr>
        <p:txBody>
          <a:bodyPr wrap="square">
            <a:spAutoFit/>
          </a:bodyPr>
          <a:lstStyle/>
          <a:p>
            <a:pPr algn="ctr"/>
            <a:r>
              <a:rPr sz="1200" b="1">
                <a:solidFill>
                  <a:srgbClr val="64748B"/>
                </a:solidFill>
                <a:latin typeface="Calibri"/>
              </a:rPr>
              <a:t>OR</a:t>
            </a:r>
          </a:p>
        </p:txBody>
      </p:sp>
      <p:sp>
        <p:nvSpPr>
          <p:cNvPr id="23" name="TextBox 22"/>
          <p:cNvSpPr txBox="1"/>
          <p:nvPr/>
        </p:nvSpPr>
        <p:spPr>
          <a:xfrm>
            <a:off x="8348472" y="2651760"/>
            <a:ext cx="3429000" cy="502920"/>
          </a:xfrm>
          <a:prstGeom prst="rect">
            <a:avLst/>
          </a:prstGeom>
          <a:noFill/>
        </p:spPr>
        <p:txBody>
          <a:bodyPr wrap="square">
            <a:spAutoFit/>
          </a:bodyPr>
          <a:lstStyle/>
          <a:p>
            <a:pPr algn="ctr"/>
            <a:r>
              <a:rPr sz="1500" b="1">
                <a:solidFill>
                  <a:srgbClr val="FF7043"/>
                </a:solidFill>
                <a:latin typeface="Calibri"/>
              </a:rPr>
              <a:t>Library at lunch</a:t>
            </a:r>
          </a:p>
        </p:txBody>
      </p:sp>
      <p:sp>
        <p:nvSpPr>
          <p:cNvPr id="24" name="Rounded Rectangle 23"/>
          <p:cNvSpPr/>
          <p:nvPr/>
        </p:nvSpPr>
        <p:spPr>
          <a:xfrm>
            <a:off x="347472" y="3566160"/>
            <a:ext cx="37033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4632" y="3886200"/>
            <a:ext cx="3429000" cy="502920"/>
          </a:xfrm>
          <a:prstGeom prst="rect">
            <a:avLst/>
          </a:prstGeom>
          <a:noFill/>
        </p:spPr>
        <p:txBody>
          <a:bodyPr wrap="square">
            <a:spAutoFit/>
          </a:bodyPr>
          <a:lstStyle/>
          <a:p>
            <a:pPr algn="ctr"/>
            <a:r>
              <a:rPr sz="1500" b="1">
                <a:solidFill>
                  <a:srgbClr val="00897B"/>
                </a:solidFill>
                <a:latin typeface="Calibri"/>
              </a:rPr>
              <a:t>Hidden doors</a:t>
            </a:r>
          </a:p>
        </p:txBody>
      </p:sp>
      <p:sp>
        <p:nvSpPr>
          <p:cNvPr id="26" name="TextBox 25"/>
          <p:cNvSpPr txBox="1"/>
          <p:nvPr/>
        </p:nvSpPr>
        <p:spPr>
          <a:xfrm>
            <a:off x="484632" y="4480560"/>
            <a:ext cx="3429000" cy="320040"/>
          </a:xfrm>
          <a:prstGeom prst="rect">
            <a:avLst/>
          </a:prstGeom>
          <a:noFill/>
        </p:spPr>
        <p:txBody>
          <a:bodyPr wrap="square">
            <a:spAutoFit/>
          </a:bodyPr>
          <a:lstStyle/>
          <a:p>
            <a:pPr algn="ctr"/>
            <a:r>
              <a:rPr sz="1200" b="1">
                <a:solidFill>
                  <a:srgbClr val="64748B"/>
                </a:solidFill>
                <a:latin typeface="Calibri"/>
              </a:rPr>
              <a:t>OR</a:t>
            </a:r>
          </a:p>
        </p:txBody>
      </p:sp>
      <p:sp>
        <p:nvSpPr>
          <p:cNvPr id="27" name="TextBox 26"/>
          <p:cNvSpPr txBox="1"/>
          <p:nvPr/>
        </p:nvSpPr>
        <p:spPr>
          <a:xfrm>
            <a:off x="484632" y="4892040"/>
            <a:ext cx="3429000" cy="502920"/>
          </a:xfrm>
          <a:prstGeom prst="rect">
            <a:avLst/>
          </a:prstGeom>
          <a:noFill/>
        </p:spPr>
        <p:txBody>
          <a:bodyPr wrap="square">
            <a:spAutoFit/>
          </a:bodyPr>
          <a:lstStyle/>
          <a:p>
            <a:pPr algn="ctr"/>
            <a:r>
              <a:rPr sz="1500" b="1">
                <a:solidFill>
                  <a:srgbClr val="FF7043"/>
                </a:solidFill>
                <a:latin typeface="Calibri"/>
              </a:rPr>
              <a:t>Hidden maps</a:t>
            </a:r>
          </a:p>
        </p:txBody>
      </p:sp>
      <p:sp>
        <p:nvSpPr>
          <p:cNvPr id="28" name="Rounded Rectangle 27"/>
          <p:cNvSpPr/>
          <p:nvPr/>
        </p:nvSpPr>
        <p:spPr>
          <a:xfrm>
            <a:off x="4279392" y="3566160"/>
            <a:ext cx="37033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16552" y="3886200"/>
            <a:ext cx="3429000" cy="502920"/>
          </a:xfrm>
          <a:prstGeom prst="rect">
            <a:avLst/>
          </a:prstGeom>
          <a:noFill/>
        </p:spPr>
        <p:txBody>
          <a:bodyPr wrap="square">
            <a:spAutoFit/>
          </a:bodyPr>
          <a:lstStyle/>
          <a:p>
            <a:pPr algn="ctr"/>
            <a:r>
              <a:rPr sz="1500" b="1">
                <a:solidFill>
                  <a:srgbClr val="00897B"/>
                </a:solidFill>
                <a:latin typeface="Calibri"/>
              </a:rPr>
              <a:t>Write stories</a:t>
            </a:r>
          </a:p>
        </p:txBody>
      </p:sp>
      <p:sp>
        <p:nvSpPr>
          <p:cNvPr id="30" name="TextBox 29"/>
          <p:cNvSpPr txBox="1"/>
          <p:nvPr/>
        </p:nvSpPr>
        <p:spPr>
          <a:xfrm>
            <a:off x="4416552" y="4480560"/>
            <a:ext cx="3429000" cy="320040"/>
          </a:xfrm>
          <a:prstGeom prst="rect">
            <a:avLst/>
          </a:prstGeom>
          <a:noFill/>
        </p:spPr>
        <p:txBody>
          <a:bodyPr wrap="square">
            <a:spAutoFit/>
          </a:bodyPr>
          <a:lstStyle/>
          <a:p>
            <a:pPr algn="ctr"/>
            <a:r>
              <a:rPr sz="1200" b="1">
                <a:solidFill>
                  <a:srgbClr val="64748B"/>
                </a:solidFill>
                <a:latin typeface="Calibri"/>
              </a:rPr>
              <a:t>OR</a:t>
            </a:r>
          </a:p>
        </p:txBody>
      </p:sp>
      <p:sp>
        <p:nvSpPr>
          <p:cNvPr id="31" name="TextBox 30"/>
          <p:cNvSpPr txBox="1"/>
          <p:nvPr/>
        </p:nvSpPr>
        <p:spPr>
          <a:xfrm>
            <a:off x="4416552" y="4892040"/>
            <a:ext cx="3429000" cy="502920"/>
          </a:xfrm>
          <a:prstGeom prst="rect">
            <a:avLst/>
          </a:prstGeom>
          <a:noFill/>
        </p:spPr>
        <p:txBody>
          <a:bodyPr wrap="square">
            <a:spAutoFit/>
          </a:bodyPr>
          <a:lstStyle/>
          <a:p>
            <a:pPr algn="ctr"/>
            <a:r>
              <a:rPr sz="1500" b="1">
                <a:solidFill>
                  <a:srgbClr val="FF7043"/>
                </a:solidFill>
                <a:latin typeface="Calibri"/>
              </a:rPr>
              <a:t>Act stories out</a:t>
            </a:r>
          </a:p>
        </p:txBody>
      </p:sp>
      <p:sp>
        <p:nvSpPr>
          <p:cNvPr id="32" name="Rounded Rectangle 31"/>
          <p:cNvSpPr/>
          <p:nvPr/>
        </p:nvSpPr>
        <p:spPr>
          <a:xfrm>
            <a:off x="8211312" y="3566160"/>
            <a:ext cx="370332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48472" y="3886200"/>
            <a:ext cx="3429000" cy="502920"/>
          </a:xfrm>
          <a:prstGeom prst="rect">
            <a:avLst/>
          </a:prstGeom>
          <a:noFill/>
        </p:spPr>
        <p:txBody>
          <a:bodyPr wrap="square">
            <a:spAutoFit/>
          </a:bodyPr>
          <a:lstStyle/>
          <a:p>
            <a:pPr algn="ctr"/>
            <a:r>
              <a:rPr sz="1500" b="1">
                <a:solidFill>
                  <a:srgbClr val="00897B"/>
                </a:solidFill>
                <a:latin typeface="Calibri"/>
              </a:rPr>
              <a:t>Quiet puzzles</a:t>
            </a:r>
          </a:p>
        </p:txBody>
      </p:sp>
      <p:sp>
        <p:nvSpPr>
          <p:cNvPr id="34" name="TextBox 33"/>
          <p:cNvSpPr txBox="1"/>
          <p:nvPr/>
        </p:nvSpPr>
        <p:spPr>
          <a:xfrm>
            <a:off x="8348472" y="4480560"/>
            <a:ext cx="3429000" cy="320040"/>
          </a:xfrm>
          <a:prstGeom prst="rect">
            <a:avLst/>
          </a:prstGeom>
          <a:noFill/>
        </p:spPr>
        <p:txBody>
          <a:bodyPr wrap="square">
            <a:spAutoFit/>
          </a:bodyPr>
          <a:lstStyle/>
          <a:p>
            <a:pPr algn="ctr"/>
            <a:r>
              <a:rPr sz="1200" b="1">
                <a:solidFill>
                  <a:srgbClr val="64748B"/>
                </a:solidFill>
                <a:latin typeface="Calibri"/>
              </a:rPr>
              <a:t>OR</a:t>
            </a:r>
          </a:p>
        </p:txBody>
      </p:sp>
      <p:sp>
        <p:nvSpPr>
          <p:cNvPr id="35" name="TextBox 34"/>
          <p:cNvSpPr txBox="1"/>
          <p:nvPr/>
        </p:nvSpPr>
        <p:spPr>
          <a:xfrm>
            <a:off x="8348472" y="4892040"/>
            <a:ext cx="3429000" cy="502920"/>
          </a:xfrm>
          <a:prstGeom prst="rect">
            <a:avLst/>
          </a:prstGeom>
          <a:noFill/>
        </p:spPr>
        <p:txBody>
          <a:bodyPr wrap="square">
            <a:spAutoFit/>
          </a:bodyPr>
          <a:lstStyle/>
          <a:p>
            <a:pPr algn="ctr"/>
            <a:r>
              <a:rPr sz="1500" b="1">
                <a:solidFill>
                  <a:srgbClr val="FF7043"/>
                </a:solidFill>
                <a:latin typeface="Calibri"/>
              </a:rPr>
              <a:t>Fast quizzes</a:t>
            </a:r>
          </a:p>
        </p:txBody>
      </p:sp>
      <p:sp>
        <p:nvSpPr>
          <p:cNvPr id="36" name="TextBox 35"/>
          <p:cNvSpPr txBox="1"/>
          <p:nvPr/>
        </p:nvSpPr>
        <p:spPr>
          <a:xfrm>
            <a:off x="347472" y="5806440"/>
            <a:ext cx="11430000" cy="320040"/>
          </a:xfrm>
          <a:prstGeom prst="rect">
            <a:avLst/>
          </a:prstGeom>
          <a:noFill/>
        </p:spPr>
        <p:txBody>
          <a:bodyPr wrap="square">
            <a:spAutoFit/>
          </a:bodyPr>
          <a:lstStyle/>
          <a:p>
            <a:pPr algn="ctr"/>
            <a:r>
              <a:rPr sz="1400" b="1">
                <a:solidFill>
                  <a:srgbClr val="0D47A1"/>
                </a:solidFill>
                <a:latin typeface="Calibri"/>
              </a:rPr>
              <a:t>Pick one and explain why in a full sentence.</a:t>
            </a:r>
          </a:p>
        </p:txBody>
      </p:sp>
      <p:sp>
        <p:nvSpPr>
          <p:cNvPr id="37" name="Rounded Rectangle 36"/>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5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Brain Warm-Up: Guess the Emoji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5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3/22</a:t>
            </a:r>
          </a:p>
        </p:txBody>
      </p:sp>
      <p:sp>
        <p:nvSpPr>
          <p:cNvPr id="12" name="Rounded Rectangle 11"/>
          <p:cNvSpPr/>
          <p:nvPr/>
        </p:nvSpPr>
        <p:spPr>
          <a:xfrm>
            <a:off x="347472" y="1325880"/>
            <a:ext cx="3703320" cy="210312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1645920"/>
            <a:ext cx="3703320" cy="640080"/>
          </a:xfrm>
          <a:prstGeom prst="rect">
            <a:avLst/>
          </a:prstGeom>
          <a:noFill/>
        </p:spPr>
        <p:txBody>
          <a:bodyPr wrap="square">
            <a:spAutoFit/>
          </a:bodyPr>
          <a:lstStyle/>
          <a:p>
            <a:pPr algn="ctr"/>
            <a:r>
              <a:rPr sz="4000" b="0">
                <a:solidFill>
                  <a:srgbClr val="1A2337"/>
                </a:solidFill>
                <a:latin typeface="Calibri"/>
              </a:rPr>
              <a:t>📚</a:t>
            </a:r>
          </a:p>
        </p:txBody>
      </p:sp>
      <p:sp>
        <p:nvSpPr>
          <p:cNvPr id="14" name="TextBox 13"/>
          <p:cNvSpPr txBox="1"/>
          <p:nvPr/>
        </p:nvSpPr>
        <p:spPr>
          <a:xfrm>
            <a:off x="484632" y="2560320"/>
            <a:ext cx="3429000" cy="640080"/>
          </a:xfrm>
          <a:prstGeom prst="rect">
            <a:avLst/>
          </a:prstGeom>
          <a:noFill/>
        </p:spPr>
        <p:txBody>
          <a:bodyPr wrap="square">
            <a:spAutoFit/>
          </a:bodyPr>
          <a:lstStyle/>
          <a:p>
            <a:pPr algn="ctr"/>
            <a:r>
              <a:rPr sz="1300" b="0">
                <a:solidFill>
                  <a:srgbClr val="64748B"/>
                </a:solidFill>
                <a:latin typeface="Calibri"/>
              </a:rPr>
              <a:t>You read here</a:t>
            </a:r>
          </a:p>
        </p:txBody>
      </p:sp>
      <p:sp>
        <p:nvSpPr>
          <p:cNvPr id="15" name="Rounded Rectangle 14"/>
          <p:cNvSpPr/>
          <p:nvPr/>
        </p:nvSpPr>
        <p:spPr>
          <a:xfrm>
            <a:off x="4279392" y="1325880"/>
            <a:ext cx="3703320" cy="210312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79392" y="1645920"/>
            <a:ext cx="3703320" cy="640080"/>
          </a:xfrm>
          <a:prstGeom prst="rect">
            <a:avLst/>
          </a:prstGeom>
          <a:noFill/>
        </p:spPr>
        <p:txBody>
          <a:bodyPr wrap="square">
            <a:spAutoFit/>
          </a:bodyPr>
          <a:lstStyle/>
          <a:p>
            <a:pPr algn="ctr"/>
            <a:r>
              <a:rPr sz="4000" b="0">
                <a:solidFill>
                  <a:srgbClr val="1A2337"/>
                </a:solidFill>
                <a:latin typeface="Calibri"/>
              </a:rPr>
              <a:t>🗝️</a:t>
            </a:r>
          </a:p>
        </p:txBody>
      </p:sp>
      <p:sp>
        <p:nvSpPr>
          <p:cNvPr id="17" name="TextBox 16"/>
          <p:cNvSpPr txBox="1"/>
          <p:nvPr/>
        </p:nvSpPr>
        <p:spPr>
          <a:xfrm>
            <a:off x="4416552" y="2560320"/>
            <a:ext cx="3429000" cy="640080"/>
          </a:xfrm>
          <a:prstGeom prst="rect">
            <a:avLst/>
          </a:prstGeom>
          <a:noFill/>
        </p:spPr>
        <p:txBody>
          <a:bodyPr wrap="square">
            <a:spAutoFit/>
          </a:bodyPr>
          <a:lstStyle/>
          <a:p>
            <a:pPr algn="ctr"/>
            <a:r>
              <a:rPr sz="1300" b="0">
                <a:solidFill>
                  <a:srgbClr val="64748B"/>
                </a:solidFill>
                <a:latin typeface="Calibri"/>
              </a:rPr>
              <a:t>Opens locks</a:t>
            </a:r>
          </a:p>
        </p:txBody>
      </p:sp>
      <p:sp>
        <p:nvSpPr>
          <p:cNvPr id="18" name="Rounded Rectangle 17"/>
          <p:cNvSpPr/>
          <p:nvPr/>
        </p:nvSpPr>
        <p:spPr>
          <a:xfrm>
            <a:off x="8211312" y="1325880"/>
            <a:ext cx="3703320" cy="210312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1645920"/>
            <a:ext cx="3703320" cy="640080"/>
          </a:xfrm>
          <a:prstGeom prst="rect">
            <a:avLst/>
          </a:prstGeom>
          <a:noFill/>
        </p:spPr>
        <p:txBody>
          <a:bodyPr wrap="square">
            <a:spAutoFit/>
          </a:bodyPr>
          <a:lstStyle/>
          <a:p>
            <a:pPr algn="ctr"/>
            <a:r>
              <a:rPr sz="4000" b="0">
                <a:solidFill>
                  <a:srgbClr val="1A2337"/>
                </a:solidFill>
                <a:latin typeface="Calibri"/>
              </a:rPr>
              <a:t>🚪</a:t>
            </a:r>
          </a:p>
        </p:txBody>
      </p:sp>
      <p:sp>
        <p:nvSpPr>
          <p:cNvPr id="20" name="TextBox 19"/>
          <p:cNvSpPr txBox="1"/>
          <p:nvPr/>
        </p:nvSpPr>
        <p:spPr>
          <a:xfrm>
            <a:off x="8348472" y="2560320"/>
            <a:ext cx="3429000" cy="640080"/>
          </a:xfrm>
          <a:prstGeom prst="rect">
            <a:avLst/>
          </a:prstGeom>
          <a:noFill/>
        </p:spPr>
        <p:txBody>
          <a:bodyPr wrap="square">
            <a:spAutoFit/>
          </a:bodyPr>
          <a:lstStyle/>
          <a:p>
            <a:pPr algn="ctr"/>
            <a:r>
              <a:rPr sz="1300" b="0">
                <a:solidFill>
                  <a:srgbClr val="64748B"/>
                </a:solidFill>
                <a:latin typeface="Calibri"/>
              </a:rPr>
              <a:t>Secret entrance</a:t>
            </a:r>
          </a:p>
        </p:txBody>
      </p:sp>
      <p:sp>
        <p:nvSpPr>
          <p:cNvPr id="21" name="Rounded Rectangle 20"/>
          <p:cNvSpPr/>
          <p:nvPr/>
        </p:nvSpPr>
        <p:spPr>
          <a:xfrm>
            <a:off x="347472" y="3657600"/>
            <a:ext cx="3703320" cy="210312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7472" y="3977640"/>
            <a:ext cx="3703320" cy="640080"/>
          </a:xfrm>
          <a:prstGeom prst="rect">
            <a:avLst/>
          </a:prstGeom>
          <a:noFill/>
        </p:spPr>
        <p:txBody>
          <a:bodyPr wrap="square">
            <a:spAutoFit/>
          </a:bodyPr>
          <a:lstStyle/>
          <a:p>
            <a:pPr algn="ctr"/>
            <a:r>
              <a:rPr sz="4000" b="0">
                <a:solidFill>
                  <a:srgbClr val="1A2337"/>
                </a:solidFill>
                <a:latin typeface="Calibri"/>
              </a:rPr>
              <a:t>👣</a:t>
            </a:r>
          </a:p>
        </p:txBody>
      </p:sp>
      <p:sp>
        <p:nvSpPr>
          <p:cNvPr id="23" name="TextBox 22"/>
          <p:cNvSpPr txBox="1"/>
          <p:nvPr/>
        </p:nvSpPr>
        <p:spPr>
          <a:xfrm>
            <a:off x="484632" y="4892040"/>
            <a:ext cx="3429000" cy="640080"/>
          </a:xfrm>
          <a:prstGeom prst="rect">
            <a:avLst/>
          </a:prstGeom>
          <a:noFill/>
        </p:spPr>
        <p:txBody>
          <a:bodyPr wrap="square">
            <a:spAutoFit/>
          </a:bodyPr>
          <a:lstStyle/>
          <a:p>
            <a:pPr algn="ctr"/>
            <a:r>
              <a:rPr sz="1300" b="0">
                <a:solidFill>
                  <a:srgbClr val="64748B"/>
                </a:solidFill>
                <a:latin typeface="Calibri"/>
              </a:rPr>
              <a:t>Sound repeats</a:t>
            </a:r>
          </a:p>
        </p:txBody>
      </p:sp>
      <p:sp>
        <p:nvSpPr>
          <p:cNvPr id="24" name="Rounded Rectangle 23"/>
          <p:cNvSpPr/>
          <p:nvPr/>
        </p:nvSpPr>
        <p:spPr>
          <a:xfrm>
            <a:off x="4279392" y="3657600"/>
            <a:ext cx="3703320" cy="210312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79392" y="3977640"/>
            <a:ext cx="3703320" cy="640080"/>
          </a:xfrm>
          <a:prstGeom prst="rect">
            <a:avLst/>
          </a:prstGeom>
          <a:noFill/>
        </p:spPr>
        <p:txBody>
          <a:bodyPr wrap="square">
            <a:spAutoFit/>
          </a:bodyPr>
          <a:lstStyle/>
          <a:p>
            <a:pPr algn="ctr"/>
            <a:r>
              <a:rPr sz="4000" b="0">
                <a:solidFill>
                  <a:srgbClr val="1A2337"/>
                </a:solidFill>
                <a:latin typeface="Calibri"/>
              </a:rPr>
              <a:t>💡</a:t>
            </a:r>
          </a:p>
        </p:txBody>
      </p:sp>
      <p:sp>
        <p:nvSpPr>
          <p:cNvPr id="26" name="TextBox 25"/>
          <p:cNvSpPr txBox="1"/>
          <p:nvPr/>
        </p:nvSpPr>
        <p:spPr>
          <a:xfrm>
            <a:off x="4416552" y="4892040"/>
            <a:ext cx="3429000" cy="640080"/>
          </a:xfrm>
          <a:prstGeom prst="rect">
            <a:avLst/>
          </a:prstGeom>
          <a:noFill/>
        </p:spPr>
        <p:txBody>
          <a:bodyPr wrap="square">
            <a:spAutoFit/>
          </a:bodyPr>
          <a:lstStyle/>
          <a:p>
            <a:pPr algn="ctr"/>
            <a:r>
              <a:rPr sz="1300" b="0">
                <a:solidFill>
                  <a:srgbClr val="64748B"/>
                </a:solidFill>
                <a:latin typeface="Calibri"/>
              </a:rPr>
              <a:t>Idea moment</a:t>
            </a:r>
          </a:p>
        </p:txBody>
      </p:sp>
      <p:sp>
        <p:nvSpPr>
          <p:cNvPr id="27" name="Rounded Rectangle 26"/>
          <p:cNvSpPr/>
          <p:nvPr/>
        </p:nvSpPr>
        <p:spPr>
          <a:xfrm>
            <a:off x="8211312" y="3657600"/>
            <a:ext cx="3703320" cy="210312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1312" y="3977640"/>
            <a:ext cx="3703320" cy="640080"/>
          </a:xfrm>
          <a:prstGeom prst="rect">
            <a:avLst/>
          </a:prstGeom>
          <a:noFill/>
        </p:spPr>
        <p:txBody>
          <a:bodyPr wrap="square">
            <a:spAutoFit/>
          </a:bodyPr>
          <a:lstStyle/>
          <a:p>
            <a:pPr algn="ctr"/>
            <a:r>
              <a:rPr sz="4000" b="0">
                <a:solidFill>
                  <a:srgbClr val="1A2337"/>
                </a:solidFill>
                <a:latin typeface="Calibri"/>
              </a:rPr>
              <a:t>🗺️</a:t>
            </a:r>
          </a:p>
        </p:txBody>
      </p:sp>
      <p:sp>
        <p:nvSpPr>
          <p:cNvPr id="29" name="TextBox 28"/>
          <p:cNvSpPr txBox="1"/>
          <p:nvPr/>
        </p:nvSpPr>
        <p:spPr>
          <a:xfrm>
            <a:off x="8348472" y="4892040"/>
            <a:ext cx="3429000" cy="640080"/>
          </a:xfrm>
          <a:prstGeom prst="rect">
            <a:avLst/>
          </a:prstGeom>
          <a:noFill/>
        </p:spPr>
        <p:txBody>
          <a:bodyPr wrap="square">
            <a:spAutoFit/>
          </a:bodyPr>
          <a:lstStyle/>
          <a:p>
            <a:pPr algn="ctr"/>
            <a:r>
              <a:rPr sz="1300" b="0">
                <a:solidFill>
                  <a:srgbClr val="64748B"/>
                </a:solidFill>
                <a:latin typeface="Calibri"/>
              </a:rPr>
              <a:t>Shows a route</a:t>
            </a:r>
          </a:p>
        </p:txBody>
      </p:sp>
      <p:sp>
        <p:nvSpPr>
          <p:cNvPr id="30" name="Rounded Rectangle 29"/>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GOALS</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1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Today's Mission Objectives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1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4/22</a:t>
            </a:r>
          </a:p>
        </p:txBody>
      </p:sp>
      <p:sp>
        <p:nvSpPr>
          <p:cNvPr id="12" name="Rounded Rectangle 11"/>
          <p:cNvSpPr/>
          <p:nvPr/>
        </p:nvSpPr>
        <p:spPr>
          <a:xfrm>
            <a:off x="347472" y="132588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0352" y="1527048"/>
            <a:ext cx="502920" cy="502920"/>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1600200"/>
            <a:ext cx="502920" cy="365760"/>
          </a:xfrm>
          <a:prstGeom prst="rect">
            <a:avLst/>
          </a:prstGeom>
          <a:noFill/>
        </p:spPr>
        <p:txBody>
          <a:bodyPr wrap="square">
            <a:spAutoFit/>
          </a:bodyPr>
          <a:lstStyle/>
          <a:p>
            <a:pPr algn="ctr"/>
            <a:r>
              <a:rPr sz="1600" b="1">
                <a:solidFill>
                  <a:srgbClr val="FFFFFF"/>
                </a:solidFill>
                <a:latin typeface="Calibri"/>
              </a:rPr>
              <a:t>1</a:t>
            </a:r>
          </a:p>
        </p:txBody>
      </p:sp>
      <p:sp>
        <p:nvSpPr>
          <p:cNvPr id="15" name="TextBox 14"/>
          <p:cNvSpPr txBox="1"/>
          <p:nvPr/>
        </p:nvSpPr>
        <p:spPr>
          <a:xfrm>
            <a:off x="1234440" y="1490472"/>
            <a:ext cx="10332720" cy="320040"/>
          </a:xfrm>
          <a:prstGeom prst="rect">
            <a:avLst/>
          </a:prstGeom>
          <a:noFill/>
        </p:spPr>
        <p:txBody>
          <a:bodyPr wrap="square">
            <a:spAutoFit/>
          </a:bodyPr>
          <a:lstStyle/>
          <a:p>
            <a:pPr algn="l"/>
            <a:r>
              <a:rPr sz="1800" b="1">
                <a:solidFill>
                  <a:srgbClr val="0D47A1"/>
                </a:solidFill>
                <a:latin typeface="Calibri"/>
              </a:rPr>
              <a:t>Past Perfect</a:t>
            </a:r>
          </a:p>
        </p:txBody>
      </p:sp>
      <p:sp>
        <p:nvSpPr>
          <p:cNvPr id="16" name="TextBox 15"/>
          <p:cNvSpPr txBox="1"/>
          <p:nvPr/>
        </p:nvSpPr>
        <p:spPr>
          <a:xfrm>
            <a:off x="1234440" y="1828800"/>
            <a:ext cx="10332720" cy="320040"/>
          </a:xfrm>
          <a:prstGeom prst="rect">
            <a:avLst/>
          </a:prstGeom>
          <a:noFill/>
        </p:spPr>
        <p:txBody>
          <a:bodyPr wrap="square">
            <a:spAutoFit/>
          </a:bodyPr>
          <a:lstStyle/>
          <a:p>
            <a:pPr algn="l"/>
            <a:r>
              <a:rPr sz="1400" b="0">
                <a:solidFill>
                  <a:srgbClr val="64748B"/>
                </a:solidFill>
                <a:latin typeface="Calibri"/>
              </a:rPr>
              <a:t>Use had + past participle correctly</a:t>
            </a:r>
          </a:p>
        </p:txBody>
      </p:sp>
      <p:sp>
        <p:nvSpPr>
          <p:cNvPr id="17" name="Rounded Rectangle 16"/>
          <p:cNvSpPr/>
          <p:nvPr/>
        </p:nvSpPr>
        <p:spPr>
          <a:xfrm>
            <a:off x="347472" y="228600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30352" y="2487168"/>
            <a:ext cx="502920" cy="5029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2560320"/>
            <a:ext cx="502920" cy="365760"/>
          </a:xfrm>
          <a:prstGeom prst="rect">
            <a:avLst/>
          </a:prstGeom>
          <a:noFill/>
        </p:spPr>
        <p:txBody>
          <a:bodyPr wrap="square">
            <a:spAutoFit/>
          </a:bodyPr>
          <a:lstStyle/>
          <a:p>
            <a:pPr algn="ctr"/>
            <a:r>
              <a:rPr sz="1600" b="1">
                <a:solidFill>
                  <a:srgbClr val="FFFFFF"/>
                </a:solidFill>
                <a:latin typeface="Calibri"/>
              </a:rPr>
              <a:t>2</a:t>
            </a:r>
          </a:p>
        </p:txBody>
      </p:sp>
      <p:sp>
        <p:nvSpPr>
          <p:cNvPr id="20" name="TextBox 19"/>
          <p:cNvSpPr txBox="1"/>
          <p:nvPr/>
        </p:nvSpPr>
        <p:spPr>
          <a:xfrm>
            <a:off x="1234440" y="2450592"/>
            <a:ext cx="10332720" cy="320040"/>
          </a:xfrm>
          <a:prstGeom prst="rect">
            <a:avLst/>
          </a:prstGeom>
          <a:noFill/>
        </p:spPr>
        <p:txBody>
          <a:bodyPr wrap="square">
            <a:spAutoFit/>
          </a:bodyPr>
          <a:lstStyle/>
          <a:p>
            <a:pPr algn="l"/>
            <a:r>
              <a:rPr sz="1800" b="1">
                <a:solidFill>
                  <a:srgbClr val="0D47A1"/>
                </a:solidFill>
                <a:latin typeface="Calibri"/>
              </a:rPr>
              <a:t>Reading</a:t>
            </a:r>
          </a:p>
        </p:txBody>
      </p:sp>
      <p:sp>
        <p:nvSpPr>
          <p:cNvPr id="21" name="TextBox 20"/>
          <p:cNvSpPr txBox="1"/>
          <p:nvPr/>
        </p:nvSpPr>
        <p:spPr>
          <a:xfrm>
            <a:off x="1234440" y="2788920"/>
            <a:ext cx="10332720" cy="320040"/>
          </a:xfrm>
          <a:prstGeom prst="rect">
            <a:avLst/>
          </a:prstGeom>
          <a:noFill/>
        </p:spPr>
        <p:txBody>
          <a:bodyPr wrap="square">
            <a:spAutoFit/>
          </a:bodyPr>
          <a:lstStyle/>
          <a:p>
            <a:pPr algn="l"/>
            <a:r>
              <a:rPr sz="1400" b="0">
                <a:solidFill>
                  <a:srgbClr val="64748B"/>
                </a:solidFill>
                <a:latin typeface="Calibri"/>
              </a:rPr>
              <a:t>Understand mystery text + infer</a:t>
            </a:r>
          </a:p>
        </p:txBody>
      </p:sp>
      <p:sp>
        <p:nvSpPr>
          <p:cNvPr id="22" name="Rounded Rectangle 21"/>
          <p:cNvSpPr/>
          <p:nvPr/>
        </p:nvSpPr>
        <p:spPr>
          <a:xfrm>
            <a:off x="347472" y="324612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30352" y="3447288"/>
            <a:ext cx="502920" cy="502920"/>
          </a:xfrm>
          <a:prstGeom prst="round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3520440"/>
            <a:ext cx="502920" cy="365760"/>
          </a:xfrm>
          <a:prstGeom prst="rect">
            <a:avLst/>
          </a:prstGeom>
          <a:noFill/>
        </p:spPr>
        <p:txBody>
          <a:bodyPr wrap="square">
            <a:spAutoFit/>
          </a:bodyPr>
          <a:lstStyle/>
          <a:p>
            <a:pPr algn="ctr"/>
            <a:r>
              <a:rPr sz="1600" b="1">
                <a:solidFill>
                  <a:srgbClr val="FFFFFF"/>
                </a:solidFill>
                <a:latin typeface="Calibri"/>
              </a:rPr>
              <a:t>3</a:t>
            </a:r>
          </a:p>
        </p:txBody>
      </p:sp>
      <p:sp>
        <p:nvSpPr>
          <p:cNvPr id="25" name="TextBox 24"/>
          <p:cNvSpPr txBox="1"/>
          <p:nvPr/>
        </p:nvSpPr>
        <p:spPr>
          <a:xfrm>
            <a:off x="1234440" y="3410712"/>
            <a:ext cx="10332720" cy="320040"/>
          </a:xfrm>
          <a:prstGeom prst="rect">
            <a:avLst/>
          </a:prstGeom>
          <a:noFill/>
        </p:spPr>
        <p:txBody>
          <a:bodyPr wrap="square">
            <a:spAutoFit/>
          </a:bodyPr>
          <a:lstStyle/>
          <a:p>
            <a:pPr algn="l"/>
            <a:r>
              <a:rPr sz="1800" b="1">
                <a:solidFill>
                  <a:srgbClr val="0D47A1"/>
                </a:solidFill>
                <a:latin typeface="Calibri"/>
              </a:rPr>
              <a:t>Vocabulary</a:t>
            </a:r>
          </a:p>
        </p:txBody>
      </p:sp>
      <p:sp>
        <p:nvSpPr>
          <p:cNvPr id="26" name="TextBox 25"/>
          <p:cNvSpPr txBox="1"/>
          <p:nvPr/>
        </p:nvSpPr>
        <p:spPr>
          <a:xfrm>
            <a:off x="1234440" y="3749040"/>
            <a:ext cx="10332720" cy="320040"/>
          </a:xfrm>
          <a:prstGeom prst="rect">
            <a:avLst/>
          </a:prstGeom>
          <a:noFill/>
        </p:spPr>
        <p:txBody>
          <a:bodyPr wrap="square">
            <a:spAutoFit/>
          </a:bodyPr>
          <a:lstStyle/>
          <a:p>
            <a:pPr algn="l"/>
            <a:r>
              <a:rPr sz="1400" b="0">
                <a:solidFill>
                  <a:srgbClr val="64748B"/>
                </a:solidFill>
                <a:latin typeface="Calibri"/>
              </a:rPr>
              <a:t>Learn 10 story words</a:t>
            </a:r>
          </a:p>
        </p:txBody>
      </p:sp>
      <p:sp>
        <p:nvSpPr>
          <p:cNvPr id="27" name="Rounded Rectangle 26"/>
          <p:cNvSpPr/>
          <p:nvPr/>
        </p:nvSpPr>
        <p:spPr>
          <a:xfrm>
            <a:off x="347472" y="420624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30352" y="4407408"/>
            <a:ext cx="502920" cy="502920"/>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4480560"/>
            <a:ext cx="502920" cy="365760"/>
          </a:xfrm>
          <a:prstGeom prst="rect">
            <a:avLst/>
          </a:prstGeom>
          <a:noFill/>
        </p:spPr>
        <p:txBody>
          <a:bodyPr wrap="square">
            <a:spAutoFit/>
          </a:bodyPr>
          <a:lstStyle/>
          <a:p>
            <a:pPr algn="ctr"/>
            <a:r>
              <a:rPr sz="1600" b="1">
                <a:solidFill>
                  <a:srgbClr val="FFFFFF"/>
                </a:solidFill>
                <a:latin typeface="Calibri"/>
              </a:rPr>
              <a:t>4</a:t>
            </a:r>
          </a:p>
        </p:txBody>
      </p:sp>
      <p:sp>
        <p:nvSpPr>
          <p:cNvPr id="30" name="TextBox 29"/>
          <p:cNvSpPr txBox="1"/>
          <p:nvPr/>
        </p:nvSpPr>
        <p:spPr>
          <a:xfrm>
            <a:off x="1234440" y="4370832"/>
            <a:ext cx="10332720" cy="320040"/>
          </a:xfrm>
          <a:prstGeom prst="rect">
            <a:avLst/>
          </a:prstGeom>
          <a:noFill/>
        </p:spPr>
        <p:txBody>
          <a:bodyPr wrap="square">
            <a:spAutoFit/>
          </a:bodyPr>
          <a:lstStyle/>
          <a:p>
            <a:pPr algn="l"/>
            <a:r>
              <a:rPr sz="1800" b="1">
                <a:solidFill>
                  <a:srgbClr val="0D47A1"/>
                </a:solidFill>
                <a:latin typeface="Calibri"/>
              </a:rPr>
              <a:t>Speaking</a:t>
            </a:r>
          </a:p>
        </p:txBody>
      </p:sp>
      <p:sp>
        <p:nvSpPr>
          <p:cNvPr id="31" name="TextBox 30"/>
          <p:cNvSpPr txBox="1"/>
          <p:nvPr/>
        </p:nvSpPr>
        <p:spPr>
          <a:xfrm>
            <a:off x="1234440" y="4709160"/>
            <a:ext cx="10332720" cy="320040"/>
          </a:xfrm>
          <a:prstGeom prst="rect">
            <a:avLst/>
          </a:prstGeom>
          <a:noFill/>
        </p:spPr>
        <p:txBody>
          <a:bodyPr wrap="square">
            <a:spAutoFit/>
          </a:bodyPr>
          <a:lstStyle/>
          <a:p>
            <a:pPr algn="l"/>
            <a:r>
              <a:rPr sz="1400" b="0">
                <a:solidFill>
                  <a:srgbClr val="64748B"/>
                </a:solidFill>
                <a:latin typeface="Calibri"/>
              </a:rPr>
              <a:t>Describe, interview, create stories</a:t>
            </a:r>
          </a:p>
        </p:txBody>
      </p:sp>
      <p:sp>
        <p:nvSpPr>
          <p:cNvPr id="32" name="Rounded Rectangle 31"/>
          <p:cNvSpPr/>
          <p:nvPr/>
        </p:nvSpPr>
        <p:spPr>
          <a:xfrm>
            <a:off x="347472" y="5166360"/>
            <a:ext cx="11430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30352" y="5367528"/>
            <a:ext cx="502920" cy="50292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5440680"/>
            <a:ext cx="502920" cy="365760"/>
          </a:xfrm>
          <a:prstGeom prst="rect">
            <a:avLst/>
          </a:prstGeom>
          <a:noFill/>
        </p:spPr>
        <p:txBody>
          <a:bodyPr wrap="square">
            <a:spAutoFit/>
          </a:bodyPr>
          <a:lstStyle/>
          <a:p>
            <a:pPr algn="ctr"/>
            <a:r>
              <a:rPr sz="1600" b="1">
                <a:solidFill>
                  <a:srgbClr val="FFFFFF"/>
                </a:solidFill>
                <a:latin typeface="Calibri"/>
              </a:rPr>
              <a:t>5</a:t>
            </a:r>
          </a:p>
        </p:txBody>
      </p:sp>
      <p:sp>
        <p:nvSpPr>
          <p:cNvPr id="35" name="TextBox 34"/>
          <p:cNvSpPr txBox="1"/>
          <p:nvPr/>
        </p:nvSpPr>
        <p:spPr>
          <a:xfrm>
            <a:off x="1234440" y="5330952"/>
            <a:ext cx="10332720" cy="320040"/>
          </a:xfrm>
          <a:prstGeom prst="rect">
            <a:avLst/>
          </a:prstGeom>
          <a:noFill/>
        </p:spPr>
        <p:txBody>
          <a:bodyPr wrap="square">
            <a:spAutoFit/>
          </a:bodyPr>
          <a:lstStyle/>
          <a:p>
            <a:pPr algn="l"/>
            <a:r>
              <a:rPr sz="1800" b="1">
                <a:solidFill>
                  <a:srgbClr val="0D47A1"/>
                </a:solidFill>
                <a:latin typeface="Calibri"/>
              </a:rPr>
              <a:t>Games</a:t>
            </a:r>
          </a:p>
        </p:txBody>
      </p:sp>
      <p:sp>
        <p:nvSpPr>
          <p:cNvPr id="36" name="TextBox 35"/>
          <p:cNvSpPr txBox="1"/>
          <p:nvPr/>
        </p:nvSpPr>
        <p:spPr>
          <a:xfrm>
            <a:off x="1234440" y="5669280"/>
            <a:ext cx="10332720" cy="320040"/>
          </a:xfrm>
          <a:prstGeom prst="rect">
            <a:avLst/>
          </a:prstGeom>
          <a:noFill/>
        </p:spPr>
        <p:txBody>
          <a:bodyPr wrap="square">
            <a:spAutoFit/>
          </a:bodyPr>
          <a:lstStyle/>
          <a:p>
            <a:pPr algn="l"/>
            <a:r>
              <a:rPr sz="1400" b="0">
                <a:solidFill>
                  <a:srgbClr val="64748B"/>
                </a:solidFill>
                <a:latin typeface="Calibri"/>
              </a:rPr>
              <a:t>Stay engaged every 5–7 minutes</a:t>
            </a:r>
          </a:p>
        </p:txBody>
      </p:sp>
      <p:sp>
        <p:nvSpPr>
          <p:cNvPr id="37" name="Rounded Rectangle 36"/>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GRAMMAR</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Grammar 15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Past Perfect Tense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Grammar 15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5/22</a:t>
            </a:r>
          </a:p>
        </p:txBody>
      </p:sp>
      <p:sp>
        <p:nvSpPr>
          <p:cNvPr id="12" name="Rounded Rectangle 11"/>
          <p:cNvSpPr/>
          <p:nvPr/>
        </p:nvSpPr>
        <p:spPr>
          <a:xfrm>
            <a:off x="347472" y="1280160"/>
            <a:ext cx="1143000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417320"/>
            <a:ext cx="10972800" cy="1554480"/>
          </a:xfrm>
          <a:prstGeom prst="rect">
            <a:avLst/>
          </a:prstGeom>
          <a:noFill/>
        </p:spPr>
        <p:txBody>
          <a:bodyPr wrap="square">
            <a:spAutoFit/>
          </a:bodyPr>
          <a:lstStyle/>
          <a:p>
            <a:pPr algn="l"/>
            <a:r>
              <a:rPr sz="1500" b="0">
                <a:solidFill>
                  <a:srgbClr val="1A2337"/>
                </a:solidFill>
                <a:latin typeface="Calibri"/>
              </a:rPr>
              <a:t>Definition: Shows an action that happened BEFORE another action in the past.
Structure:  had + past participle  (had opened, had finished, had realized)
Signal words: before, after, already, just, never, by the time, until</a:t>
            </a:r>
          </a:p>
        </p:txBody>
      </p:sp>
      <p:sp>
        <p:nvSpPr>
          <p:cNvPr id="14" name="Rounded Rectangle 13"/>
          <p:cNvSpPr/>
          <p:nvPr/>
        </p:nvSpPr>
        <p:spPr>
          <a:xfrm>
            <a:off x="347472" y="3246120"/>
            <a:ext cx="3703320" cy="260604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 y="3429000"/>
            <a:ext cx="3429000" cy="365760"/>
          </a:xfrm>
          <a:prstGeom prst="rect">
            <a:avLst/>
          </a:prstGeom>
          <a:noFill/>
        </p:spPr>
        <p:txBody>
          <a:bodyPr wrap="square">
            <a:spAutoFit/>
          </a:bodyPr>
          <a:lstStyle/>
          <a:p>
            <a:pPr algn="l"/>
            <a:r>
              <a:rPr sz="1500" b="1">
                <a:solidFill>
                  <a:srgbClr val="00897B"/>
                </a:solidFill>
                <a:latin typeface="Calibri"/>
              </a:rPr>
              <a:t>When to use</a:t>
            </a:r>
          </a:p>
        </p:txBody>
      </p:sp>
      <p:sp>
        <p:nvSpPr>
          <p:cNvPr id="16" name="TextBox 15"/>
          <p:cNvSpPr txBox="1"/>
          <p:nvPr/>
        </p:nvSpPr>
        <p:spPr>
          <a:xfrm>
            <a:off x="484632" y="3886200"/>
            <a:ext cx="3429000" cy="1645920"/>
          </a:xfrm>
          <a:prstGeom prst="rect">
            <a:avLst/>
          </a:prstGeom>
          <a:noFill/>
        </p:spPr>
        <p:txBody>
          <a:bodyPr wrap="square">
            <a:spAutoFit/>
          </a:bodyPr>
          <a:lstStyle/>
          <a:p>
            <a:pPr algn="l"/>
            <a:r>
              <a:rPr sz="1300" b="0">
                <a:solidFill>
                  <a:srgbClr val="1A2337"/>
                </a:solidFill>
                <a:latin typeface="Calibri"/>
              </a:rPr>
              <a:t>Earlier past action
Two past events
Experience before a moment</a:t>
            </a:r>
          </a:p>
        </p:txBody>
      </p:sp>
      <p:sp>
        <p:nvSpPr>
          <p:cNvPr id="17" name="Rounded Rectangle 16"/>
          <p:cNvSpPr/>
          <p:nvPr/>
        </p:nvSpPr>
        <p:spPr>
          <a:xfrm>
            <a:off x="4233672" y="3246120"/>
            <a:ext cx="3703320" cy="260604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0832" y="3429000"/>
            <a:ext cx="3429000" cy="365760"/>
          </a:xfrm>
          <a:prstGeom prst="rect">
            <a:avLst/>
          </a:prstGeom>
          <a:noFill/>
        </p:spPr>
        <p:txBody>
          <a:bodyPr wrap="square">
            <a:spAutoFit/>
          </a:bodyPr>
          <a:lstStyle/>
          <a:p>
            <a:pPr algn="l"/>
            <a:r>
              <a:rPr sz="1500" b="1">
                <a:solidFill>
                  <a:srgbClr val="FF7043"/>
                </a:solidFill>
                <a:latin typeface="Calibri"/>
              </a:rPr>
              <a:t>Common mistakes</a:t>
            </a:r>
          </a:p>
        </p:txBody>
      </p:sp>
      <p:sp>
        <p:nvSpPr>
          <p:cNvPr id="19" name="TextBox 18"/>
          <p:cNvSpPr txBox="1"/>
          <p:nvPr/>
        </p:nvSpPr>
        <p:spPr>
          <a:xfrm>
            <a:off x="4370832" y="3886200"/>
            <a:ext cx="3429000" cy="1645920"/>
          </a:xfrm>
          <a:prstGeom prst="rect">
            <a:avLst/>
          </a:prstGeom>
          <a:noFill/>
        </p:spPr>
        <p:txBody>
          <a:bodyPr wrap="square">
            <a:spAutoFit/>
          </a:bodyPr>
          <a:lstStyle/>
          <a:p>
            <a:pPr algn="l"/>
            <a:r>
              <a:rPr sz="1300" b="0">
                <a:solidFill>
                  <a:srgbClr val="1A2337"/>
                </a:solidFill>
                <a:latin typeface="Calibri"/>
              </a:rPr>
              <a:t>Using simple past for BOTH events
Forgetting 'had'
Wrong participle (had went)</a:t>
            </a:r>
          </a:p>
        </p:txBody>
      </p:sp>
      <p:sp>
        <p:nvSpPr>
          <p:cNvPr id="20" name="Rounded Rectangle 19"/>
          <p:cNvSpPr/>
          <p:nvPr/>
        </p:nvSpPr>
        <p:spPr>
          <a:xfrm>
            <a:off x="8119872" y="3246120"/>
            <a:ext cx="3703320" cy="260604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57032" y="3429000"/>
            <a:ext cx="3429000" cy="365760"/>
          </a:xfrm>
          <a:prstGeom prst="rect">
            <a:avLst/>
          </a:prstGeom>
          <a:noFill/>
        </p:spPr>
        <p:txBody>
          <a:bodyPr wrap="square">
            <a:spAutoFit/>
          </a:bodyPr>
          <a:lstStyle/>
          <a:p>
            <a:pPr algn="l"/>
            <a:r>
              <a:rPr sz="1500" b="1">
                <a:solidFill>
                  <a:srgbClr val="29B6F6"/>
                </a:solidFill>
                <a:latin typeface="Calibri"/>
              </a:rPr>
              <a:t>vs Simple Past</a:t>
            </a:r>
          </a:p>
        </p:txBody>
      </p:sp>
      <p:sp>
        <p:nvSpPr>
          <p:cNvPr id="22" name="TextBox 21"/>
          <p:cNvSpPr txBox="1"/>
          <p:nvPr/>
        </p:nvSpPr>
        <p:spPr>
          <a:xfrm>
            <a:off x="8257032" y="3886200"/>
            <a:ext cx="3429000" cy="1645920"/>
          </a:xfrm>
          <a:prstGeom prst="rect">
            <a:avLst/>
          </a:prstGeom>
          <a:noFill/>
        </p:spPr>
        <p:txBody>
          <a:bodyPr wrap="square">
            <a:spAutoFit/>
          </a:bodyPr>
          <a:lstStyle/>
          <a:p>
            <a:pPr algn="l"/>
            <a:r>
              <a:rPr sz="1300" b="0">
                <a:solidFill>
                  <a:srgbClr val="1A2337"/>
                </a:solidFill>
                <a:latin typeface="Calibri"/>
              </a:rPr>
              <a:t>Past Perfect = earlier
Simple Past = main event
I had eaten before the bell rang.</a:t>
            </a:r>
          </a:p>
        </p:txBody>
      </p:sp>
      <p:sp>
        <p:nvSpPr>
          <p:cNvPr id="23" name="Rounded Rectangle 22"/>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GRAMMAR</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Grammar</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Past Perfect Timeline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Grammar</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6/22</a:t>
            </a:r>
          </a:p>
        </p:txBody>
      </p:sp>
      <p:sp>
        <p:nvSpPr>
          <p:cNvPr id="12" name="Rectangle 11"/>
          <p:cNvSpPr/>
          <p:nvPr/>
        </p:nvSpPr>
        <p:spPr>
          <a:xfrm>
            <a:off x="731520" y="2926080"/>
            <a:ext cx="10698480" cy="109728"/>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17320" y="2788920"/>
            <a:ext cx="320040" cy="320040"/>
          </a:xfrm>
          <a:prstGeom prst="ellipse">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1417320"/>
            <a:ext cx="274320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1554480"/>
            <a:ext cx="2560320" cy="320040"/>
          </a:xfrm>
          <a:prstGeom prst="rect">
            <a:avLst/>
          </a:prstGeom>
          <a:noFill/>
        </p:spPr>
        <p:txBody>
          <a:bodyPr wrap="square">
            <a:spAutoFit/>
          </a:bodyPr>
          <a:lstStyle/>
          <a:p>
            <a:pPr algn="ctr"/>
            <a:r>
              <a:rPr sz="1300" b="1">
                <a:solidFill>
                  <a:srgbClr val="00897B"/>
                </a:solidFill>
                <a:latin typeface="Calibri"/>
              </a:rPr>
              <a:t>1️⃣ Earlier</a:t>
            </a:r>
          </a:p>
        </p:txBody>
      </p:sp>
      <p:sp>
        <p:nvSpPr>
          <p:cNvPr id="16" name="TextBox 15"/>
          <p:cNvSpPr txBox="1"/>
          <p:nvPr/>
        </p:nvSpPr>
        <p:spPr>
          <a:xfrm>
            <a:off x="594360" y="1965960"/>
            <a:ext cx="2560320" cy="594360"/>
          </a:xfrm>
          <a:prstGeom prst="rect">
            <a:avLst/>
          </a:prstGeom>
          <a:noFill/>
        </p:spPr>
        <p:txBody>
          <a:bodyPr wrap="square">
            <a:spAutoFit/>
          </a:bodyPr>
          <a:lstStyle/>
          <a:p>
            <a:pPr algn="ctr"/>
            <a:r>
              <a:rPr sz="1200" b="0">
                <a:solidFill>
                  <a:srgbClr val="1A2337"/>
                </a:solidFill>
                <a:latin typeface="Calibri"/>
              </a:rPr>
              <a:t>Riley had returned the novel.</a:t>
            </a:r>
          </a:p>
        </p:txBody>
      </p:sp>
      <p:sp>
        <p:nvSpPr>
          <p:cNvPr id="17" name="Oval 16"/>
          <p:cNvSpPr/>
          <p:nvPr/>
        </p:nvSpPr>
        <p:spPr>
          <a:xfrm>
            <a:off x="4297680" y="2788920"/>
            <a:ext cx="320040" cy="32004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383280" y="1417320"/>
            <a:ext cx="274320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1554480"/>
            <a:ext cx="2560320" cy="320040"/>
          </a:xfrm>
          <a:prstGeom prst="rect">
            <a:avLst/>
          </a:prstGeom>
          <a:noFill/>
        </p:spPr>
        <p:txBody>
          <a:bodyPr wrap="square">
            <a:spAutoFit/>
          </a:bodyPr>
          <a:lstStyle/>
          <a:p>
            <a:pPr algn="ctr"/>
            <a:r>
              <a:rPr sz="1300" b="1">
                <a:solidFill>
                  <a:srgbClr val="29B6F6"/>
                </a:solidFill>
                <a:latin typeface="Calibri"/>
              </a:rPr>
              <a:t>2️⃣ Earlier</a:t>
            </a:r>
          </a:p>
        </p:txBody>
      </p:sp>
      <p:sp>
        <p:nvSpPr>
          <p:cNvPr id="20" name="TextBox 19"/>
          <p:cNvSpPr txBox="1"/>
          <p:nvPr/>
        </p:nvSpPr>
        <p:spPr>
          <a:xfrm>
            <a:off x="3474720" y="1965960"/>
            <a:ext cx="2560320" cy="594360"/>
          </a:xfrm>
          <a:prstGeom prst="rect">
            <a:avLst/>
          </a:prstGeom>
          <a:noFill/>
        </p:spPr>
        <p:txBody>
          <a:bodyPr wrap="square">
            <a:spAutoFit/>
          </a:bodyPr>
          <a:lstStyle/>
          <a:p>
            <a:pPr algn="ctr"/>
            <a:r>
              <a:rPr sz="1200" b="0">
                <a:solidFill>
                  <a:srgbClr val="1A2337"/>
                </a:solidFill>
                <a:latin typeface="Calibri"/>
              </a:rPr>
              <a:t>Riley had opened the secret door.</a:t>
            </a:r>
          </a:p>
        </p:txBody>
      </p:sp>
      <p:sp>
        <p:nvSpPr>
          <p:cNvPr id="21" name="Oval 20"/>
          <p:cNvSpPr/>
          <p:nvPr/>
        </p:nvSpPr>
        <p:spPr>
          <a:xfrm>
            <a:off x="7178040" y="2788920"/>
            <a:ext cx="320040" cy="320040"/>
          </a:xfrm>
          <a:prstGeom prst="ellipse">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63640" y="1417320"/>
            <a:ext cx="274320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1554480"/>
            <a:ext cx="2560320" cy="320040"/>
          </a:xfrm>
          <a:prstGeom prst="rect">
            <a:avLst/>
          </a:prstGeom>
          <a:noFill/>
        </p:spPr>
        <p:txBody>
          <a:bodyPr wrap="square">
            <a:spAutoFit/>
          </a:bodyPr>
          <a:lstStyle/>
          <a:p>
            <a:pPr algn="ctr"/>
            <a:r>
              <a:rPr sz="1300" b="1">
                <a:solidFill>
                  <a:srgbClr val="FF7043"/>
                </a:solidFill>
                <a:latin typeface="Calibri"/>
              </a:rPr>
              <a:t>3️⃣ Later</a:t>
            </a:r>
          </a:p>
        </p:txBody>
      </p:sp>
      <p:sp>
        <p:nvSpPr>
          <p:cNvPr id="24" name="TextBox 23"/>
          <p:cNvSpPr txBox="1"/>
          <p:nvPr/>
        </p:nvSpPr>
        <p:spPr>
          <a:xfrm>
            <a:off x="6355080" y="1965960"/>
            <a:ext cx="2560320" cy="594360"/>
          </a:xfrm>
          <a:prstGeom prst="rect">
            <a:avLst/>
          </a:prstGeom>
          <a:noFill/>
        </p:spPr>
        <p:txBody>
          <a:bodyPr wrap="square">
            <a:spAutoFit/>
          </a:bodyPr>
          <a:lstStyle/>
          <a:p>
            <a:pPr algn="ctr"/>
            <a:r>
              <a:rPr sz="1200" b="0">
                <a:solidFill>
                  <a:srgbClr val="1A2337"/>
                </a:solidFill>
                <a:latin typeface="Calibri"/>
              </a:rPr>
              <a:t>Jordan followed Riley.</a:t>
            </a:r>
          </a:p>
        </p:txBody>
      </p:sp>
      <p:sp>
        <p:nvSpPr>
          <p:cNvPr id="25" name="Oval 24"/>
          <p:cNvSpPr/>
          <p:nvPr/>
        </p:nvSpPr>
        <p:spPr>
          <a:xfrm>
            <a:off x="10058400" y="2788920"/>
            <a:ext cx="320040" cy="320040"/>
          </a:xfrm>
          <a:prstGeom prst="ellipse">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144000" y="1417320"/>
            <a:ext cx="274320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1554480"/>
            <a:ext cx="2560320" cy="320040"/>
          </a:xfrm>
          <a:prstGeom prst="rect">
            <a:avLst/>
          </a:prstGeom>
          <a:noFill/>
        </p:spPr>
        <p:txBody>
          <a:bodyPr wrap="square">
            <a:spAutoFit/>
          </a:bodyPr>
          <a:lstStyle/>
          <a:p>
            <a:pPr algn="ctr"/>
            <a:r>
              <a:rPr sz="1300" b="1">
                <a:solidFill>
                  <a:srgbClr val="7E57C2"/>
                </a:solidFill>
                <a:latin typeface="Calibri"/>
              </a:rPr>
              <a:t>4️⃣ Later</a:t>
            </a:r>
          </a:p>
        </p:txBody>
      </p:sp>
      <p:sp>
        <p:nvSpPr>
          <p:cNvPr id="28" name="TextBox 27"/>
          <p:cNvSpPr txBox="1"/>
          <p:nvPr/>
        </p:nvSpPr>
        <p:spPr>
          <a:xfrm>
            <a:off x="9235440" y="1965960"/>
            <a:ext cx="2560320" cy="594360"/>
          </a:xfrm>
          <a:prstGeom prst="rect">
            <a:avLst/>
          </a:prstGeom>
          <a:noFill/>
        </p:spPr>
        <p:txBody>
          <a:bodyPr wrap="square">
            <a:spAutoFit/>
          </a:bodyPr>
          <a:lstStyle/>
          <a:p>
            <a:pPr algn="ctr"/>
            <a:r>
              <a:rPr sz="1200" b="0">
                <a:solidFill>
                  <a:srgbClr val="1A2337"/>
                </a:solidFill>
                <a:latin typeface="Calibri"/>
              </a:rPr>
              <a:t>The lights flickered.</a:t>
            </a:r>
          </a:p>
        </p:txBody>
      </p:sp>
      <p:sp>
        <p:nvSpPr>
          <p:cNvPr id="29" name="TextBox 28"/>
          <p:cNvSpPr txBox="1"/>
          <p:nvPr/>
        </p:nvSpPr>
        <p:spPr>
          <a:xfrm>
            <a:off x="347472" y="3657600"/>
            <a:ext cx="11430000" cy="320040"/>
          </a:xfrm>
          <a:prstGeom prst="rect">
            <a:avLst/>
          </a:prstGeom>
          <a:noFill/>
        </p:spPr>
        <p:txBody>
          <a:bodyPr wrap="square">
            <a:spAutoFit/>
          </a:bodyPr>
          <a:lstStyle/>
          <a:p>
            <a:pPr algn="ctr"/>
            <a:r>
              <a:rPr sz="1400" b="1">
                <a:solidFill>
                  <a:srgbClr val="0D47A1"/>
                </a:solidFill>
                <a:latin typeface="Calibri"/>
              </a:rPr>
              <a:t>Past Perfect = steps 1–2 (earlier)  |  Simple Past = steps 3–4 (later story moments)</a:t>
            </a:r>
          </a:p>
        </p:txBody>
      </p:sp>
      <p:sp>
        <p:nvSpPr>
          <p:cNvPr id="30" name="TextBox 29"/>
          <p:cNvSpPr txBox="1"/>
          <p:nvPr/>
        </p:nvSpPr>
        <p:spPr>
          <a:xfrm>
            <a:off x="347472" y="4114800"/>
            <a:ext cx="11430000" cy="1645920"/>
          </a:xfrm>
          <a:prstGeom prst="rect">
            <a:avLst/>
          </a:prstGeom>
          <a:noFill/>
        </p:spPr>
        <p:txBody>
          <a:bodyPr wrap="square">
            <a:spAutoFit/>
          </a:bodyPr>
          <a:lstStyle/>
          <a:p>
            <a:pPr algn="ctr"/>
            <a:r>
              <a:rPr sz="1400" b="0">
                <a:solidFill>
                  <a:srgbClr val="1A2337"/>
                </a:solidFill>
                <a:latin typeface="Calibri"/>
              </a:rPr>
              <a:t>Real life:
• I had studied before the quiz started.
• She had never seen snow until last winter.
• By the time the bus arrived, we had already left.</a:t>
            </a:r>
          </a:p>
        </p:txBody>
      </p:sp>
      <p:sp>
        <p:nvSpPr>
          <p:cNvPr id="31" name="Rounded Rectangle 30"/>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GRAMMAR</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Grammar</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Grammar Practice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Grammar</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7/22</a:t>
            </a:r>
          </a:p>
        </p:txBody>
      </p:sp>
      <p:sp>
        <p:nvSpPr>
          <p:cNvPr id="12" name="Rounded Rectangle 11"/>
          <p:cNvSpPr/>
          <p:nvPr/>
        </p:nvSpPr>
        <p:spPr>
          <a:xfrm>
            <a:off x="347472" y="1298448"/>
            <a:ext cx="1143000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527048"/>
            <a:ext cx="10972800" cy="411480"/>
          </a:xfrm>
          <a:prstGeom prst="rect">
            <a:avLst/>
          </a:prstGeom>
          <a:noFill/>
        </p:spPr>
        <p:txBody>
          <a:bodyPr wrap="square">
            <a:spAutoFit/>
          </a:bodyPr>
          <a:lstStyle/>
          <a:p>
            <a:pPr algn="l"/>
            <a:r>
              <a:rPr sz="1500" b="0">
                <a:solidFill>
                  <a:srgbClr val="1A2337"/>
                </a:solidFill>
                <a:latin typeface="Calibri"/>
              </a:rPr>
              <a:t>1.  By the time study hall began, Riley ___ (finish) the quiz.</a:t>
            </a:r>
          </a:p>
        </p:txBody>
      </p:sp>
      <p:sp>
        <p:nvSpPr>
          <p:cNvPr id="14" name="Rounded Rectangle 13"/>
          <p:cNvSpPr/>
          <p:nvPr/>
        </p:nvSpPr>
        <p:spPr>
          <a:xfrm>
            <a:off x="347472" y="2231136"/>
            <a:ext cx="11430000" cy="841248"/>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459736"/>
            <a:ext cx="10972800" cy="411480"/>
          </a:xfrm>
          <a:prstGeom prst="rect">
            <a:avLst/>
          </a:prstGeom>
          <a:noFill/>
        </p:spPr>
        <p:txBody>
          <a:bodyPr wrap="square">
            <a:spAutoFit/>
          </a:bodyPr>
          <a:lstStyle/>
          <a:p>
            <a:pPr algn="l"/>
            <a:r>
              <a:rPr sz="1500" b="0">
                <a:solidFill>
                  <a:srgbClr val="1A2337"/>
                </a:solidFill>
                <a:latin typeface="Calibri"/>
              </a:rPr>
              <a:t>2.  Jordan ___ (never / see) the secret door before Tuesday.</a:t>
            </a:r>
          </a:p>
        </p:txBody>
      </p:sp>
      <p:sp>
        <p:nvSpPr>
          <p:cNvPr id="16" name="Rounded Rectangle 15"/>
          <p:cNvSpPr/>
          <p:nvPr/>
        </p:nvSpPr>
        <p:spPr>
          <a:xfrm>
            <a:off x="347472" y="3163824"/>
            <a:ext cx="1143000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92424"/>
            <a:ext cx="10972800" cy="411480"/>
          </a:xfrm>
          <a:prstGeom prst="rect">
            <a:avLst/>
          </a:prstGeom>
          <a:noFill/>
        </p:spPr>
        <p:txBody>
          <a:bodyPr wrap="square">
            <a:spAutoFit/>
          </a:bodyPr>
          <a:lstStyle/>
          <a:p>
            <a:pPr algn="l"/>
            <a:r>
              <a:rPr sz="1500" b="0">
                <a:solidFill>
                  <a:srgbClr val="1A2337"/>
                </a:solidFill>
                <a:latin typeface="Calibri"/>
              </a:rPr>
              <a:t>3.  After Riley ___ (open) the door, footsteps echoed.</a:t>
            </a:r>
          </a:p>
        </p:txBody>
      </p:sp>
      <p:sp>
        <p:nvSpPr>
          <p:cNvPr id="18" name="Rounded Rectangle 17"/>
          <p:cNvSpPr/>
          <p:nvPr/>
        </p:nvSpPr>
        <p:spPr>
          <a:xfrm>
            <a:off x="347472" y="4096512"/>
            <a:ext cx="11430000" cy="841248"/>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325112"/>
            <a:ext cx="10972800" cy="411480"/>
          </a:xfrm>
          <a:prstGeom prst="rect">
            <a:avLst/>
          </a:prstGeom>
          <a:noFill/>
        </p:spPr>
        <p:txBody>
          <a:bodyPr wrap="square">
            <a:spAutoFit/>
          </a:bodyPr>
          <a:lstStyle/>
          <a:p>
            <a:pPr algn="l"/>
            <a:r>
              <a:rPr sz="1500" b="0">
                <a:solidFill>
                  <a:srgbClr val="1A2337"/>
                </a:solidFill>
                <a:latin typeface="Calibri"/>
              </a:rPr>
              <a:t>4.  Ms. Delgado ___ (already / leave) when Riley whispered.</a:t>
            </a:r>
          </a:p>
        </p:txBody>
      </p:sp>
      <p:sp>
        <p:nvSpPr>
          <p:cNvPr id="20" name="Rounded Rectangle 19"/>
          <p:cNvSpPr/>
          <p:nvPr/>
        </p:nvSpPr>
        <p:spPr>
          <a:xfrm>
            <a:off x="347472" y="5029200"/>
            <a:ext cx="1143000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5257800"/>
            <a:ext cx="10972800" cy="411480"/>
          </a:xfrm>
          <a:prstGeom prst="rect">
            <a:avLst/>
          </a:prstGeom>
          <a:noFill/>
        </p:spPr>
        <p:txBody>
          <a:bodyPr wrap="square">
            <a:spAutoFit/>
          </a:bodyPr>
          <a:lstStyle/>
          <a:p>
            <a:pPr algn="l"/>
            <a:r>
              <a:rPr sz="1500" b="0">
                <a:solidFill>
                  <a:srgbClr val="1A2337"/>
                </a:solidFill>
                <a:latin typeface="Calibri"/>
              </a:rPr>
              <a:t>5.  They ___ (realize) the library was bigger than they thought.</a:t>
            </a:r>
          </a:p>
        </p:txBody>
      </p:sp>
      <p:sp>
        <p:nvSpPr>
          <p:cNvPr id="22" name="Rounded Rectangle 21"/>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Grammar game 5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Grammar Game: Find the Mistake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Grammar game 5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8/22</a:t>
            </a:r>
          </a:p>
        </p:txBody>
      </p:sp>
      <p:sp>
        <p:nvSpPr>
          <p:cNvPr id="12" name="Rounded Rectangle 11"/>
          <p:cNvSpPr/>
          <p:nvPr/>
        </p:nvSpPr>
        <p:spPr>
          <a:xfrm>
            <a:off x="347472" y="1298448"/>
            <a:ext cx="1143000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527048"/>
            <a:ext cx="10972800" cy="411480"/>
          </a:xfrm>
          <a:prstGeom prst="rect">
            <a:avLst/>
          </a:prstGeom>
          <a:noFill/>
        </p:spPr>
        <p:txBody>
          <a:bodyPr wrap="square">
            <a:spAutoFit/>
          </a:bodyPr>
          <a:lstStyle/>
          <a:p>
            <a:pPr algn="l"/>
            <a:r>
              <a:rPr sz="1500" b="0">
                <a:solidFill>
                  <a:srgbClr val="1A2337"/>
                </a:solidFill>
                <a:latin typeface="Calibri"/>
              </a:rPr>
              <a:t>1.  Riley had went down the staircase.</a:t>
            </a:r>
          </a:p>
        </p:txBody>
      </p:sp>
      <p:sp>
        <p:nvSpPr>
          <p:cNvPr id="14" name="Rounded Rectangle 13"/>
          <p:cNvSpPr/>
          <p:nvPr/>
        </p:nvSpPr>
        <p:spPr>
          <a:xfrm>
            <a:off x="347472" y="2231136"/>
            <a:ext cx="11430000" cy="841248"/>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459736"/>
            <a:ext cx="10972800" cy="411480"/>
          </a:xfrm>
          <a:prstGeom prst="rect">
            <a:avLst/>
          </a:prstGeom>
          <a:noFill/>
        </p:spPr>
        <p:txBody>
          <a:bodyPr wrap="square">
            <a:spAutoFit/>
          </a:bodyPr>
          <a:lstStyle/>
          <a:p>
            <a:pPr algn="l"/>
            <a:r>
              <a:rPr sz="1500" b="0">
                <a:solidFill>
                  <a:srgbClr val="1A2337"/>
                </a:solidFill>
                <a:latin typeface="Calibri"/>
              </a:rPr>
              <a:t>2.  Jordan had never heard the humming books before.</a:t>
            </a:r>
          </a:p>
        </p:txBody>
      </p:sp>
      <p:sp>
        <p:nvSpPr>
          <p:cNvPr id="16" name="Rounded Rectangle 15"/>
          <p:cNvSpPr/>
          <p:nvPr/>
        </p:nvSpPr>
        <p:spPr>
          <a:xfrm>
            <a:off x="347472" y="3163824"/>
            <a:ext cx="1143000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92424"/>
            <a:ext cx="10972800" cy="411480"/>
          </a:xfrm>
          <a:prstGeom prst="rect">
            <a:avLst/>
          </a:prstGeom>
          <a:noFill/>
        </p:spPr>
        <p:txBody>
          <a:bodyPr wrap="square">
            <a:spAutoFit/>
          </a:bodyPr>
          <a:lstStyle/>
          <a:p>
            <a:pPr algn="l"/>
            <a:r>
              <a:rPr sz="1500" b="0">
                <a:solidFill>
                  <a:srgbClr val="1A2337"/>
                </a:solidFill>
                <a:latin typeface="Calibri"/>
              </a:rPr>
              <a:t>3.  After they had opened the map, the lights flicker.</a:t>
            </a:r>
          </a:p>
        </p:txBody>
      </p:sp>
      <p:sp>
        <p:nvSpPr>
          <p:cNvPr id="18" name="Rounded Rectangle 17"/>
          <p:cNvSpPr/>
          <p:nvPr/>
        </p:nvSpPr>
        <p:spPr>
          <a:xfrm>
            <a:off x="347472" y="4096512"/>
            <a:ext cx="11430000" cy="841248"/>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325112"/>
            <a:ext cx="10972800" cy="411480"/>
          </a:xfrm>
          <a:prstGeom prst="rect">
            <a:avLst/>
          </a:prstGeom>
          <a:noFill/>
        </p:spPr>
        <p:txBody>
          <a:bodyPr wrap="square">
            <a:spAutoFit/>
          </a:bodyPr>
          <a:lstStyle/>
          <a:p>
            <a:pPr algn="l"/>
            <a:r>
              <a:rPr sz="1500" b="0">
                <a:solidFill>
                  <a:srgbClr val="1A2337"/>
                </a:solidFill>
                <a:latin typeface="Calibri"/>
              </a:rPr>
              <a:t>4.  By the time Riley had tugged the handle, the door creaked.</a:t>
            </a:r>
          </a:p>
        </p:txBody>
      </p:sp>
      <p:sp>
        <p:nvSpPr>
          <p:cNvPr id="20" name="Rounded Rectangle 19"/>
          <p:cNvSpPr/>
          <p:nvPr/>
        </p:nvSpPr>
        <p:spPr>
          <a:xfrm>
            <a:off x="347472" y="5029200"/>
            <a:ext cx="1143000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5257800"/>
            <a:ext cx="10972800" cy="411480"/>
          </a:xfrm>
          <a:prstGeom prst="rect">
            <a:avLst/>
          </a:prstGeom>
          <a:noFill/>
        </p:spPr>
        <p:txBody>
          <a:bodyPr wrap="square">
            <a:spAutoFit/>
          </a:bodyPr>
          <a:lstStyle/>
          <a:p>
            <a:pPr algn="l"/>
            <a:r>
              <a:rPr sz="1500" b="0">
                <a:solidFill>
                  <a:srgbClr val="1A2337"/>
                </a:solidFill>
                <a:latin typeface="Calibri"/>
              </a:rPr>
              <a:t>5.  Ms. Delgado had leave for a meeting.</a:t>
            </a:r>
          </a:p>
        </p:txBody>
      </p:sp>
      <p:sp>
        <p:nvSpPr>
          <p:cNvPr id="22" name="TextBox 21"/>
          <p:cNvSpPr txBox="1"/>
          <p:nvPr/>
        </p:nvSpPr>
        <p:spPr>
          <a:xfrm>
            <a:off x="347472" y="5806440"/>
            <a:ext cx="11430000" cy="320040"/>
          </a:xfrm>
          <a:prstGeom prst="rect">
            <a:avLst/>
          </a:prstGeom>
          <a:noFill/>
        </p:spPr>
        <p:txBody>
          <a:bodyPr wrap="square">
            <a:spAutoFit/>
          </a:bodyPr>
          <a:lstStyle/>
          <a:p>
            <a:pPr algn="ctr"/>
            <a:r>
              <a:rPr sz="1300" b="1">
                <a:solidFill>
                  <a:srgbClr val="00897B"/>
                </a:solidFill>
                <a:latin typeface="Calibri"/>
              </a:rPr>
              <a:t>Fix it! (#2 and #4 may be correct ✅)</a:t>
            </a:r>
          </a:p>
        </p:txBody>
      </p:sp>
      <p:sp>
        <p:nvSpPr>
          <p:cNvPr id="23" name="Rounded Rectangle 22"/>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READING</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Reading 10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 The Secret Door in the Library</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Reading 10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9/22</a:t>
            </a:r>
          </a:p>
        </p:txBody>
      </p:sp>
      <p:sp>
        <p:nvSpPr>
          <p:cNvPr id="12" name="Rounded Rectangle 11"/>
          <p:cNvSpPr/>
          <p:nvPr/>
        </p:nvSpPr>
        <p:spPr>
          <a:xfrm>
            <a:off x="347472" y="1234440"/>
            <a:ext cx="11430000" cy="4983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1371600"/>
            <a:ext cx="2194560" cy="470916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828800"/>
            <a:ext cx="2011680" cy="548640"/>
          </a:xfrm>
          <a:prstGeom prst="rect">
            <a:avLst/>
          </a:prstGeom>
          <a:noFill/>
        </p:spPr>
        <p:txBody>
          <a:bodyPr wrap="square">
            <a:spAutoFit/>
          </a:bodyPr>
          <a:lstStyle/>
          <a:p>
            <a:pPr algn="ctr"/>
            <a:r>
              <a:rPr sz="3600" b="0">
                <a:solidFill>
                  <a:srgbClr val="1A2337"/>
                </a:solidFill>
                <a:latin typeface="Calibri"/>
              </a:rPr>
              <a:t>🚪📚</a:t>
            </a:r>
          </a:p>
        </p:txBody>
      </p:sp>
      <p:sp>
        <p:nvSpPr>
          <p:cNvPr id="15" name="TextBox 14"/>
          <p:cNvSpPr txBox="1"/>
          <p:nvPr/>
        </p:nvSpPr>
        <p:spPr>
          <a:xfrm>
            <a:off x="594360" y="2743200"/>
            <a:ext cx="2011680" cy="1645920"/>
          </a:xfrm>
          <a:prstGeom prst="rect">
            <a:avLst/>
          </a:prstGeom>
          <a:noFill/>
        </p:spPr>
        <p:txBody>
          <a:bodyPr wrap="square">
            <a:spAutoFit/>
          </a:bodyPr>
          <a:lstStyle/>
          <a:p>
            <a:pPr algn="ctr"/>
            <a:r>
              <a:rPr sz="1300" b="0">
                <a:solidFill>
                  <a:srgbClr val="64748B"/>
                </a:solidFill>
                <a:latin typeface="Calibri"/>
              </a:rPr>
              <a:t>mystery
friendship
cliffhanger</a:t>
            </a:r>
          </a:p>
        </p:txBody>
      </p:sp>
      <p:sp>
        <p:nvSpPr>
          <p:cNvPr id="16" name="TextBox 15"/>
          <p:cNvSpPr txBox="1"/>
          <p:nvPr/>
        </p:nvSpPr>
        <p:spPr>
          <a:xfrm>
            <a:off x="2880360" y="1371600"/>
            <a:ext cx="8686800" cy="4663440"/>
          </a:xfrm>
          <a:prstGeom prst="rect">
            <a:avLst/>
          </a:prstGeom>
          <a:noFill/>
        </p:spPr>
        <p:txBody>
          <a:bodyPr wrap="square">
            <a:spAutoFit/>
          </a:bodyPr>
          <a:lstStyle/>
          <a:p>
            <a:pPr algn="l"/>
            <a:r>
              <a:rPr sz="1200" b="0">
                <a:solidFill>
                  <a:srgbClr val="1A2337"/>
                </a:solidFill>
                <a:latin typeface="Calibri"/>
              </a:rPr>
              <a:t>Riley had never noticed the small brass handle behind the biography shelf at Westbrook Middle School Library—not until Tuesday afternoon, when a loose book revealed a narrow door painted the color of old parchment.
Earlier that day, Riley had finished a science quiz and had hurried to return a novel before study hall. The librarian, Ms. Delgado, had already left for a meeting, so the room felt unusually quiet. Riley had whispered, "Just one quick look," and had tugged the handle.
The door creaked open. Inside stood a spiral staircase lit by glowing blue moss. Riley had clutched a flashlight from a nearby cart and had stepped down carefully. At the bottom, shelves held books that hummed softly, as if they remembered every story ever told.
A note on a desk read: "If you have read Chapter One, you may enter Chapter Two." Riley had realized the library was larger than anyone had ever guessed. Footsteps echoed above—Jordan, Riley's best friend, had followed after seeing the open door.
"We probably should have told an adult," Jordan murmured. Riley had nodded, but curiosity had already won. Together they had opened a book titled The Map of Unfinished Adventures. The pages had turned by themselves, showing a hallway that did not exist on any school floor plan.
Then the lights flickered. A voice from the staircase called Riley's name. Had someone discovered the secret first? Riley and Jordan exchanged a glance, hearts racing, as the humming grew louder and the next chapter waited—just out of reach.</a:t>
            </a:r>
          </a:p>
        </p:txBody>
      </p:sp>
      <p:sp>
        <p:nvSpPr>
          <p:cNvPr id="17" name="Rounded Rectangle 16"/>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READING</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Reading</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Reading Together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Reading</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10/22</a:t>
            </a:r>
          </a:p>
        </p:txBody>
      </p:sp>
      <p:sp>
        <p:nvSpPr>
          <p:cNvPr id="12" name="TextBox 11"/>
          <p:cNvSpPr txBox="1"/>
          <p:nvPr/>
        </p:nvSpPr>
        <p:spPr>
          <a:xfrm>
            <a:off x="457200" y="1325880"/>
            <a:ext cx="5486400" cy="4389120"/>
          </a:xfrm>
          <a:prstGeom prst="rect">
            <a:avLst/>
          </a:prstGeom>
          <a:noFill/>
        </p:spPr>
        <p:txBody>
          <a:bodyPr wrap="square">
            <a:spAutoFit/>
          </a:bodyPr>
          <a:lstStyle/>
          <a:p>
            <a:pPr>
              <a:spcAft>
                <a:spcPts val="1400"/>
              </a:spcAft>
            </a:pPr>
            <a:r>
              <a:rPr sz="1700" b="0">
                <a:solidFill>
                  <a:srgbClr val="1A2337"/>
                </a:solidFill>
                <a:latin typeface="Calibri"/>
              </a:rPr>
              <a:t>•  Circle Past Perfect verbs (had + V3)</a:t>
            </a:r>
          </a:p>
          <a:p>
            <a:pPr>
              <a:spcAft>
                <a:spcPts val="1400"/>
              </a:spcAft>
            </a:pPr>
            <a:r>
              <a:rPr sz="1700" b="0">
                <a:solidFill>
                  <a:srgbClr val="1A2337"/>
                </a:solidFill>
                <a:latin typeface="Calibri"/>
              </a:rPr>
              <a:t>•  Underline mystery clues</a:t>
            </a:r>
          </a:p>
          <a:p>
            <a:pPr>
              <a:spcAft>
                <a:spcPts val="1400"/>
              </a:spcAft>
            </a:pPr>
            <a:r>
              <a:rPr sz="1700" b="0">
                <a:solidFill>
                  <a:srgbClr val="1A2337"/>
                </a:solidFill>
                <a:latin typeface="Calibri"/>
              </a:rPr>
              <a:t>•  Star friendship moments</a:t>
            </a:r>
          </a:p>
          <a:p>
            <a:pPr>
              <a:spcAft>
                <a:spcPts val="1400"/>
              </a:spcAft>
            </a:pPr>
            <a:r>
              <a:rPr sz="1700" b="0">
                <a:solidFill>
                  <a:srgbClr val="1A2337"/>
                </a:solidFill>
                <a:latin typeface="Calibri"/>
              </a:rPr>
              <a:t>•  Question mark confusing lines</a:t>
            </a:r>
          </a:p>
        </p:txBody>
      </p:sp>
      <p:sp>
        <p:nvSpPr>
          <p:cNvPr id="13" name="Rounded Rectangle 12"/>
          <p:cNvSpPr/>
          <p:nvPr/>
        </p:nvSpPr>
        <p:spPr>
          <a:xfrm>
            <a:off x="6217920" y="1325880"/>
            <a:ext cx="5577840" cy="438912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508760"/>
            <a:ext cx="5120640" cy="320040"/>
          </a:xfrm>
          <a:prstGeom prst="rect">
            <a:avLst/>
          </a:prstGeom>
          <a:noFill/>
        </p:spPr>
        <p:txBody>
          <a:bodyPr wrap="square">
            <a:spAutoFit/>
          </a:bodyPr>
          <a:lstStyle/>
          <a:p>
            <a:pPr algn="l"/>
            <a:r>
              <a:rPr sz="1600" b="1">
                <a:solidFill>
                  <a:srgbClr val="0D47A1"/>
                </a:solidFill>
                <a:latin typeface="Calibri"/>
              </a:rPr>
              <a:t>Tricky Words</a:t>
            </a:r>
          </a:p>
        </p:txBody>
      </p:sp>
      <p:sp>
        <p:nvSpPr>
          <p:cNvPr id="15" name="TextBox 14"/>
          <p:cNvSpPr txBox="1"/>
          <p:nvPr/>
        </p:nvSpPr>
        <p:spPr>
          <a:xfrm>
            <a:off x="6446520" y="1965960"/>
            <a:ext cx="5120640" cy="3474720"/>
          </a:xfrm>
          <a:prstGeom prst="rect">
            <a:avLst/>
          </a:prstGeom>
          <a:noFill/>
        </p:spPr>
        <p:txBody>
          <a:bodyPr wrap="square">
            <a:spAutoFit/>
          </a:bodyPr>
          <a:lstStyle/>
          <a:p>
            <a:pPr>
              <a:spcAft>
                <a:spcPts val="1000"/>
              </a:spcAft>
            </a:pPr>
            <a:r>
              <a:rPr sz="1400" b="0">
                <a:solidFill>
                  <a:srgbClr val="1A2337"/>
                </a:solidFill>
                <a:latin typeface="Calibri"/>
              </a:rPr>
              <a:t>•  biography — bio-GRAH-fee</a:t>
            </a:r>
          </a:p>
          <a:p>
            <a:pPr>
              <a:spcAft>
                <a:spcPts val="1000"/>
              </a:spcAft>
            </a:pPr>
            <a:r>
              <a:rPr sz="1400" b="0">
                <a:solidFill>
                  <a:srgbClr val="1A2337"/>
                </a:solidFill>
                <a:latin typeface="Calibri"/>
              </a:rPr>
              <a:t>•  parchment — PAR-chmunt</a:t>
            </a:r>
          </a:p>
          <a:p>
            <a:pPr>
              <a:spcAft>
                <a:spcPts val="1000"/>
              </a:spcAft>
            </a:pPr>
            <a:r>
              <a:rPr sz="1400" b="0">
                <a:solidFill>
                  <a:srgbClr val="1A2337"/>
                </a:solidFill>
                <a:latin typeface="Calibri"/>
              </a:rPr>
              <a:t>•  creaked — KREEKT</a:t>
            </a:r>
          </a:p>
          <a:p>
            <a:pPr>
              <a:spcAft>
                <a:spcPts val="1000"/>
              </a:spcAft>
            </a:pPr>
            <a:r>
              <a:rPr sz="1400" b="0">
                <a:solidFill>
                  <a:srgbClr val="1A2337"/>
                </a:solidFill>
                <a:latin typeface="Calibri"/>
              </a:rPr>
              <a:t>•  curiosity — kyoor-ee-AH-suh-tee</a:t>
            </a:r>
          </a:p>
          <a:p>
            <a:pPr>
              <a:spcAft>
                <a:spcPts val="1000"/>
              </a:spcAft>
            </a:pPr>
            <a:r>
              <a:rPr sz="1400" b="0">
                <a:solidFill>
                  <a:srgbClr val="1A2337"/>
                </a:solidFill>
                <a:latin typeface="Calibri"/>
              </a:rPr>
              <a:t>•  realized — REE-uh-lyzed</a:t>
            </a:r>
          </a:p>
        </p:txBody>
      </p:sp>
      <p:sp>
        <p:nvSpPr>
          <p:cNvPr id="16" name="Rounded Rectangle 15"/>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READING</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Reading</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Reading Comprehension (10 Questions)</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Reading</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11/22</a:t>
            </a:r>
          </a:p>
        </p:txBody>
      </p:sp>
      <p:sp>
        <p:nvSpPr>
          <p:cNvPr id="12" name="Rounded Rectangle 11"/>
          <p:cNvSpPr/>
          <p:nvPr/>
        </p:nvSpPr>
        <p:spPr>
          <a:xfrm>
            <a:off x="320040" y="1207008"/>
            <a:ext cx="580644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 y="1371600"/>
            <a:ext cx="5577840" cy="594360"/>
          </a:xfrm>
          <a:prstGeom prst="rect">
            <a:avLst/>
          </a:prstGeom>
          <a:noFill/>
        </p:spPr>
        <p:txBody>
          <a:bodyPr wrap="square">
            <a:spAutoFit/>
          </a:bodyPr>
          <a:lstStyle/>
          <a:p>
            <a:pPr algn="l"/>
            <a:r>
              <a:rPr sz="1000" b="0">
                <a:solidFill>
                  <a:srgbClr val="1A2337"/>
                </a:solidFill>
                <a:latin typeface="Calibri"/>
              </a:rPr>
              <a:t>1. MCQ: School name? A) Westbrook Middle B) Oakwood C) Riverview</a:t>
            </a:r>
          </a:p>
        </p:txBody>
      </p:sp>
      <p:sp>
        <p:nvSpPr>
          <p:cNvPr id="14" name="Rounded Rectangle 13"/>
          <p:cNvSpPr/>
          <p:nvPr/>
        </p:nvSpPr>
        <p:spPr>
          <a:xfrm>
            <a:off x="320040" y="2139696"/>
            <a:ext cx="5806440" cy="841248"/>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 y="2304288"/>
            <a:ext cx="5577840" cy="594360"/>
          </a:xfrm>
          <a:prstGeom prst="rect">
            <a:avLst/>
          </a:prstGeom>
          <a:noFill/>
        </p:spPr>
        <p:txBody>
          <a:bodyPr wrap="square">
            <a:spAutoFit/>
          </a:bodyPr>
          <a:lstStyle/>
          <a:p>
            <a:pPr algn="l"/>
            <a:r>
              <a:rPr sz="1000" b="0">
                <a:solidFill>
                  <a:srgbClr val="1A2337"/>
                </a:solidFill>
                <a:latin typeface="Calibri"/>
              </a:rPr>
              <a:t>2. MCQ: Who followed Riley? A) Ms. Delgado B) Jordan C) A stranger</a:t>
            </a:r>
          </a:p>
        </p:txBody>
      </p:sp>
      <p:sp>
        <p:nvSpPr>
          <p:cNvPr id="16" name="Rounded Rectangle 15"/>
          <p:cNvSpPr/>
          <p:nvPr/>
        </p:nvSpPr>
        <p:spPr>
          <a:xfrm>
            <a:off x="320040" y="3072384"/>
            <a:ext cx="580644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 y="3236976"/>
            <a:ext cx="5577840" cy="594360"/>
          </a:xfrm>
          <a:prstGeom prst="rect">
            <a:avLst/>
          </a:prstGeom>
          <a:noFill/>
        </p:spPr>
        <p:txBody>
          <a:bodyPr wrap="square">
            <a:spAutoFit/>
          </a:bodyPr>
          <a:lstStyle/>
          <a:p>
            <a:pPr algn="l"/>
            <a:r>
              <a:rPr sz="1000" b="0">
                <a:solidFill>
                  <a:srgbClr val="1A2337"/>
                </a:solidFill>
                <a:latin typeface="Calibri"/>
              </a:rPr>
              <a:t>3. T/F: Riley had noticed the door long ago.</a:t>
            </a:r>
          </a:p>
        </p:txBody>
      </p:sp>
      <p:sp>
        <p:nvSpPr>
          <p:cNvPr id="18" name="Rounded Rectangle 17"/>
          <p:cNvSpPr/>
          <p:nvPr/>
        </p:nvSpPr>
        <p:spPr>
          <a:xfrm>
            <a:off x="320040" y="4005072"/>
            <a:ext cx="5806440" cy="841248"/>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 y="4169664"/>
            <a:ext cx="5577840" cy="594360"/>
          </a:xfrm>
          <a:prstGeom prst="rect">
            <a:avLst/>
          </a:prstGeom>
          <a:noFill/>
        </p:spPr>
        <p:txBody>
          <a:bodyPr wrap="square">
            <a:spAutoFit/>
          </a:bodyPr>
          <a:lstStyle/>
          <a:p>
            <a:pPr algn="l"/>
            <a:r>
              <a:rPr sz="1000" b="0">
                <a:solidFill>
                  <a:srgbClr val="1A2337"/>
                </a:solidFill>
                <a:latin typeface="Calibri"/>
              </a:rPr>
              <a:t>4. T/F: The moss on the stairs was glowing blue.</a:t>
            </a:r>
          </a:p>
        </p:txBody>
      </p:sp>
      <p:sp>
        <p:nvSpPr>
          <p:cNvPr id="20" name="Rounded Rectangle 19"/>
          <p:cNvSpPr/>
          <p:nvPr/>
        </p:nvSpPr>
        <p:spPr>
          <a:xfrm>
            <a:off x="320040" y="4937760"/>
            <a:ext cx="580644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 y="5102352"/>
            <a:ext cx="5577840" cy="594360"/>
          </a:xfrm>
          <a:prstGeom prst="rect">
            <a:avLst/>
          </a:prstGeom>
          <a:noFill/>
        </p:spPr>
        <p:txBody>
          <a:bodyPr wrap="square">
            <a:spAutoFit/>
          </a:bodyPr>
          <a:lstStyle/>
          <a:p>
            <a:pPr algn="l"/>
            <a:r>
              <a:rPr sz="1000" b="0">
                <a:solidFill>
                  <a:srgbClr val="1A2337"/>
                </a:solidFill>
                <a:latin typeface="Calibri"/>
              </a:rPr>
              <a:t>5. Short: What did the note on the desk say?</a:t>
            </a:r>
          </a:p>
        </p:txBody>
      </p:sp>
      <p:sp>
        <p:nvSpPr>
          <p:cNvPr id="22" name="Rounded Rectangle 21"/>
          <p:cNvSpPr/>
          <p:nvPr/>
        </p:nvSpPr>
        <p:spPr>
          <a:xfrm>
            <a:off x="6309359" y="1207008"/>
            <a:ext cx="5806440" cy="841248"/>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7" y="1371600"/>
            <a:ext cx="5577840" cy="594360"/>
          </a:xfrm>
          <a:prstGeom prst="rect">
            <a:avLst/>
          </a:prstGeom>
          <a:noFill/>
        </p:spPr>
        <p:txBody>
          <a:bodyPr wrap="square">
            <a:spAutoFit/>
          </a:bodyPr>
          <a:lstStyle/>
          <a:p>
            <a:pPr algn="l"/>
            <a:r>
              <a:rPr sz="1000" b="0">
                <a:solidFill>
                  <a:srgbClr val="1A2337"/>
                </a:solidFill>
                <a:latin typeface="Calibri"/>
              </a:rPr>
              <a:t>6. Main idea: What is this story mostly about?</a:t>
            </a:r>
          </a:p>
        </p:txBody>
      </p:sp>
      <p:sp>
        <p:nvSpPr>
          <p:cNvPr id="24" name="Rounded Rectangle 23"/>
          <p:cNvSpPr/>
          <p:nvPr/>
        </p:nvSpPr>
        <p:spPr>
          <a:xfrm>
            <a:off x="6309359" y="2139696"/>
            <a:ext cx="580644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7" y="2304288"/>
            <a:ext cx="5577840" cy="594360"/>
          </a:xfrm>
          <a:prstGeom prst="rect">
            <a:avLst/>
          </a:prstGeom>
          <a:noFill/>
        </p:spPr>
        <p:txBody>
          <a:bodyPr wrap="square">
            <a:spAutoFit/>
          </a:bodyPr>
          <a:lstStyle/>
          <a:p>
            <a:pPr algn="l"/>
            <a:r>
              <a:rPr sz="1000" b="0">
                <a:solidFill>
                  <a:srgbClr val="1A2337"/>
                </a:solidFill>
                <a:latin typeface="Calibri"/>
              </a:rPr>
              <a:t>7. Inference: Why did Jordan say they should tell an adult?</a:t>
            </a:r>
          </a:p>
        </p:txBody>
      </p:sp>
      <p:sp>
        <p:nvSpPr>
          <p:cNvPr id="26" name="Rounded Rectangle 25"/>
          <p:cNvSpPr/>
          <p:nvPr/>
        </p:nvSpPr>
        <p:spPr>
          <a:xfrm>
            <a:off x="6309359" y="3072384"/>
            <a:ext cx="5806440" cy="841248"/>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9087" y="3236976"/>
            <a:ext cx="5577840" cy="594360"/>
          </a:xfrm>
          <a:prstGeom prst="rect">
            <a:avLst/>
          </a:prstGeom>
          <a:noFill/>
        </p:spPr>
        <p:txBody>
          <a:bodyPr wrap="square">
            <a:spAutoFit/>
          </a:bodyPr>
          <a:lstStyle/>
          <a:p>
            <a:pPr algn="l"/>
            <a:r>
              <a:rPr sz="1000" b="0">
                <a:solidFill>
                  <a:srgbClr val="1A2337"/>
                </a:solidFill>
                <a:latin typeface="Calibri"/>
              </a:rPr>
              <a:t>8. Vocab: 'Humming' books suggests they were… A) silent B) alive/magical C) broken</a:t>
            </a:r>
          </a:p>
        </p:txBody>
      </p:sp>
      <p:sp>
        <p:nvSpPr>
          <p:cNvPr id="28" name="Rounded Rectangle 27"/>
          <p:cNvSpPr/>
          <p:nvPr/>
        </p:nvSpPr>
        <p:spPr>
          <a:xfrm>
            <a:off x="6309359" y="4005072"/>
            <a:ext cx="580644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7" y="4169664"/>
            <a:ext cx="5577840" cy="594360"/>
          </a:xfrm>
          <a:prstGeom prst="rect">
            <a:avLst/>
          </a:prstGeom>
          <a:noFill/>
        </p:spPr>
        <p:txBody>
          <a:bodyPr wrap="square">
            <a:spAutoFit/>
          </a:bodyPr>
          <a:lstStyle/>
          <a:p>
            <a:pPr algn="l"/>
            <a:r>
              <a:rPr sz="1000" b="0">
                <a:solidFill>
                  <a:srgbClr val="1A2337"/>
                </a:solidFill>
                <a:latin typeface="Calibri"/>
              </a:rPr>
              <a:t>9. Sequence: Order: open map → tug handle → flickering lights (fix order)</a:t>
            </a:r>
          </a:p>
        </p:txBody>
      </p:sp>
      <p:sp>
        <p:nvSpPr>
          <p:cNvPr id="30" name="Rounded Rectangle 29"/>
          <p:cNvSpPr/>
          <p:nvPr/>
        </p:nvSpPr>
        <p:spPr>
          <a:xfrm>
            <a:off x="6309359" y="4937760"/>
            <a:ext cx="5806440" cy="841248"/>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7" y="5102352"/>
            <a:ext cx="5577840" cy="594360"/>
          </a:xfrm>
          <a:prstGeom prst="rect">
            <a:avLst/>
          </a:prstGeom>
          <a:noFill/>
        </p:spPr>
        <p:txBody>
          <a:bodyPr wrap="square">
            <a:spAutoFit/>
          </a:bodyPr>
          <a:lstStyle/>
          <a:p>
            <a:pPr algn="l"/>
            <a:r>
              <a:rPr sz="1000" b="0">
                <a:solidFill>
                  <a:srgbClr val="1A2337"/>
                </a:solidFill>
                <a:latin typeface="Calibri"/>
              </a:rPr>
              <a:t>10. Opinion: Would you enter the secret door? Why?</a:t>
            </a:r>
          </a:p>
        </p:txBody>
      </p:sp>
      <p:sp>
        <p:nvSpPr>
          <p:cNvPr id="32" name="Rounded Rectangle 31"/>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VOCAB</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Vocab 5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Vocabulary Builder (10 Words)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Vocab 5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12/22</a:t>
            </a:r>
          </a:p>
        </p:txBody>
      </p:sp>
      <p:sp>
        <p:nvSpPr>
          <p:cNvPr id="12" name="Rounded Rectangle 11"/>
          <p:cNvSpPr/>
          <p:nvPr/>
        </p:nvSpPr>
        <p:spPr>
          <a:xfrm>
            <a:off x="274320" y="1234440"/>
            <a:ext cx="219456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1307592"/>
            <a:ext cx="2103120" cy="320040"/>
          </a:xfrm>
          <a:prstGeom prst="rect">
            <a:avLst/>
          </a:prstGeom>
          <a:noFill/>
        </p:spPr>
        <p:txBody>
          <a:bodyPr wrap="square">
            <a:spAutoFit/>
          </a:bodyPr>
          <a:lstStyle/>
          <a:p>
            <a:pPr algn="ctr"/>
            <a:r>
              <a:rPr sz="1100" b="1">
                <a:solidFill>
                  <a:srgbClr val="00897B"/>
                </a:solidFill>
                <a:latin typeface="Calibri"/>
              </a:rPr>
              <a:t>📖 biography</a:t>
            </a:r>
          </a:p>
        </p:txBody>
      </p:sp>
      <p:sp>
        <p:nvSpPr>
          <p:cNvPr id="14" name="TextBox 13"/>
          <p:cNvSpPr txBox="1"/>
          <p:nvPr/>
        </p:nvSpPr>
        <p:spPr>
          <a:xfrm>
            <a:off x="320040" y="1645920"/>
            <a:ext cx="2103120" cy="1783080"/>
          </a:xfrm>
          <a:prstGeom prst="rect">
            <a:avLst/>
          </a:prstGeom>
          <a:noFill/>
        </p:spPr>
        <p:txBody>
          <a:bodyPr wrap="square">
            <a:spAutoFit/>
          </a:bodyPr>
          <a:lstStyle/>
          <a:p>
            <a:pPr algn="ctr"/>
            <a:r>
              <a:rPr sz="800" b="0">
                <a:solidFill>
                  <a:srgbClr val="1A2337"/>
                </a:solidFill>
                <a:latin typeface="Calibri"/>
              </a:rPr>
              <a:t>bio-GRAH-fee
A book about the life of a real person
Syn: life story
Riley grabbed a biography about an astronaut.</a:t>
            </a:r>
          </a:p>
        </p:txBody>
      </p:sp>
      <p:sp>
        <p:nvSpPr>
          <p:cNvPr id="15" name="Rounded Rectangle 14"/>
          <p:cNvSpPr/>
          <p:nvPr/>
        </p:nvSpPr>
        <p:spPr>
          <a:xfrm>
            <a:off x="2606039" y="1234440"/>
            <a:ext cx="219456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51759" y="1307592"/>
            <a:ext cx="2103120" cy="320040"/>
          </a:xfrm>
          <a:prstGeom prst="rect">
            <a:avLst/>
          </a:prstGeom>
          <a:noFill/>
        </p:spPr>
        <p:txBody>
          <a:bodyPr wrap="square">
            <a:spAutoFit/>
          </a:bodyPr>
          <a:lstStyle/>
          <a:p>
            <a:pPr algn="ctr"/>
            <a:r>
              <a:rPr sz="1100" b="1">
                <a:solidFill>
                  <a:srgbClr val="00897B"/>
                </a:solidFill>
                <a:latin typeface="Calibri"/>
              </a:rPr>
              <a:t>📜 parchment</a:t>
            </a:r>
          </a:p>
        </p:txBody>
      </p:sp>
      <p:sp>
        <p:nvSpPr>
          <p:cNvPr id="17" name="TextBox 16"/>
          <p:cNvSpPr txBox="1"/>
          <p:nvPr/>
        </p:nvSpPr>
        <p:spPr>
          <a:xfrm>
            <a:off x="2651759" y="1645920"/>
            <a:ext cx="2103120" cy="1783080"/>
          </a:xfrm>
          <a:prstGeom prst="rect">
            <a:avLst/>
          </a:prstGeom>
          <a:noFill/>
        </p:spPr>
        <p:txBody>
          <a:bodyPr wrap="square">
            <a:spAutoFit/>
          </a:bodyPr>
          <a:lstStyle/>
          <a:p>
            <a:pPr algn="ctr"/>
            <a:r>
              <a:rPr sz="800" b="0">
                <a:solidFill>
                  <a:srgbClr val="1A2337"/>
                </a:solidFill>
                <a:latin typeface="Calibri"/>
              </a:rPr>
              <a:t>PAR-chmunt
Thick paper used for old documents
Syn: manuscript
The door matched the color of parchment.</a:t>
            </a:r>
          </a:p>
        </p:txBody>
      </p:sp>
      <p:sp>
        <p:nvSpPr>
          <p:cNvPr id="18" name="Rounded Rectangle 17"/>
          <p:cNvSpPr/>
          <p:nvPr/>
        </p:nvSpPr>
        <p:spPr>
          <a:xfrm>
            <a:off x="4937759" y="1234440"/>
            <a:ext cx="219456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83479" y="1307592"/>
            <a:ext cx="2103120" cy="320040"/>
          </a:xfrm>
          <a:prstGeom prst="rect">
            <a:avLst/>
          </a:prstGeom>
          <a:noFill/>
        </p:spPr>
        <p:txBody>
          <a:bodyPr wrap="square">
            <a:spAutoFit/>
          </a:bodyPr>
          <a:lstStyle/>
          <a:p>
            <a:pPr algn="ctr"/>
            <a:r>
              <a:rPr sz="1100" b="1">
                <a:solidFill>
                  <a:srgbClr val="00897B"/>
                </a:solidFill>
                <a:latin typeface="Calibri"/>
              </a:rPr>
              <a:t>🚪 creaked</a:t>
            </a:r>
          </a:p>
        </p:txBody>
      </p:sp>
      <p:sp>
        <p:nvSpPr>
          <p:cNvPr id="20" name="TextBox 19"/>
          <p:cNvSpPr txBox="1"/>
          <p:nvPr/>
        </p:nvSpPr>
        <p:spPr>
          <a:xfrm>
            <a:off x="4983479" y="1645920"/>
            <a:ext cx="2103120" cy="1783080"/>
          </a:xfrm>
          <a:prstGeom prst="rect">
            <a:avLst/>
          </a:prstGeom>
          <a:noFill/>
        </p:spPr>
        <p:txBody>
          <a:bodyPr wrap="square">
            <a:spAutoFit/>
          </a:bodyPr>
          <a:lstStyle/>
          <a:p>
            <a:pPr algn="ctr"/>
            <a:r>
              <a:rPr sz="800" b="0">
                <a:solidFill>
                  <a:srgbClr val="1A2337"/>
                </a:solidFill>
                <a:latin typeface="Calibri"/>
              </a:rPr>
              <a:t>KREEKT
Made a long squeaky sound
Syn: groaned
The door creaked when Riley pulled it.</a:t>
            </a:r>
          </a:p>
        </p:txBody>
      </p:sp>
      <p:sp>
        <p:nvSpPr>
          <p:cNvPr id="21" name="Rounded Rectangle 20"/>
          <p:cNvSpPr/>
          <p:nvPr/>
        </p:nvSpPr>
        <p:spPr>
          <a:xfrm>
            <a:off x="7269479" y="1234440"/>
            <a:ext cx="219456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199" y="1307592"/>
            <a:ext cx="2103120" cy="320040"/>
          </a:xfrm>
          <a:prstGeom prst="rect">
            <a:avLst/>
          </a:prstGeom>
          <a:noFill/>
        </p:spPr>
        <p:txBody>
          <a:bodyPr wrap="square">
            <a:spAutoFit/>
          </a:bodyPr>
          <a:lstStyle/>
          <a:p>
            <a:pPr algn="ctr"/>
            <a:r>
              <a:rPr sz="1100" b="1">
                <a:solidFill>
                  <a:srgbClr val="00897B"/>
                </a:solidFill>
                <a:latin typeface="Calibri"/>
              </a:rPr>
              <a:t>🌿 moss</a:t>
            </a:r>
          </a:p>
        </p:txBody>
      </p:sp>
      <p:sp>
        <p:nvSpPr>
          <p:cNvPr id="23" name="TextBox 22"/>
          <p:cNvSpPr txBox="1"/>
          <p:nvPr/>
        </p:nvSpPr>
        <p:spPr>
          <a:xfrm>
            <a:off x="7315199" y="1645920"/>
            <a:ext cx="2103120" cy="1783080"/>
          </a:xfrm>
          <a:prstGeom prst="rect">
            <a:avLst/>
          </a:prstGeom>
          <a:noFill/>
        </p:spPr>
        <p:txBody>
          <a:bodyPr wrap="square">
            <a:spAutoFit/>
          </a:bodyPr>
          <a:lstStyle/>
          <a:p>
            <a:pPr algn="ctr"/>
            <a:r>
              <a:rPr sz="800" b="0">
                <a:solidFill>
                  <a:srgbClr val="1A2337"/>
                </a:solidFill>
                <a:latin typeface="Calibri"/>
              </a:rPr>
              <a:t>MAWS
Small green plant that grows on stones
Syn: lichen
Blue moss lit the staircase.</a:t>
            </a:r>
          </a:p>
        </p:txBody>
      </p:sp>
      <p:sp>
        <p:nvSpPr>
          <p:cNvPr id="24" name="Rounded Rectangle 23"/>
          <p:cNvSpPr/>
          <p:nvPr/>
        </p:nvSpPr>
        <p:spPr>
          <a:xfrm>
            <a:off x="9601200" y="1234440"/>
            <a:ext cx="219456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46920" y="1307592"/>
            <a:ext cx="2103120" cy="320040"/>
          </a:xfrm>
          <a:prstGeom prst="rect">
            <a:avLst/>
          </a:prstGeom>
          <a:noFill/>
        </p:spPr>
        <p:txBody>
          <a:bodyPr wrap="square">
            <a:spAutoFit/>
          </a:bodyPr>
          <a:lstStyle/>
          <a:p>
            <a:pPr algn="ctr"/>
            <a:r>
              <a:rPr sz="1100" b="1">
                <a:solidFill>
                  <a:srgbClr val="00897B"/>
                </a:solidFill>
                <a:latin typeface="Calibri"/>
              </a:rPr>
              <a:t>🔍 curiosity</a:t>
            </a:r>
          </a:p>
        </p:txBody>
      </p:sp>
      <p:sp>
        <p:nvSpPr>
          <p:cNvPr id="26" name="TextBox 25"/>
          <p:cNvSpPr txBox="1"/>
          <p:nvPr/>
        </p:nvSpPr>
        <p:spPr>
          <a:xfrm>
            <a:off x="9646920" y="1645920"/>
            <a:ext cx="2103120" cy="1783080"/>
          </a:xfrm>
          <a:prstGeom prst="rect">
            <a:avLst/>
          </a:prstGeom>
          <a:noFill/>
        </p:spPr>
        <p:txBody>
          <a:bodyPr wrap="square">
            <a:spAutoFit/>
          </a:bodyPr>
          <a:lstStyle/>
          <a:p>
            <a:pPr algn="ctr"/>
            <a:r>
              <a:rPr sz="800" b="0">
                <a:solidFill>
                  <a:srgbClr val="1A2337"/>
                </a:solidFill>
                <a:latin typeface="Calibri"/>
              </a:rPr>
              <a:t>kyoor-ee-AH-suh-tee
A strong wish to learn or know
Syn: interest
Curiosity led Riley downward.</a:t>
            </a:r>
          </a:p>
        </p:txBody>
      </p:sp>
      <p:sp>
        <p:nvSpPr>
          <p:cNvPr id="27" name="Rounded Rectangle 26"/>
          <p:cNvSpPr/>
          <p:nvPr/>
        </p:nvSpPr>
        <p:spPr>
          <a:xfrm>
            <a:off x="274320" y="3749039"/>
            <a:ext cx="219456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3822191"/>
            <a:ext cx="2103120" cy="320040"/>
          </a:xfrm>
          <a:prstGeom prst="rect">
            <a:avLst/>
          </a:prstGeom>
          <a:noFill/>
        </p:spPr>
        <p:txBody>
          <a:bodyPr wrap="square">
            <a:spAutoFit/>
          </a:bodyPr>
          <a:lstStyle/>
          <a:p>
            <a:pPr algn="ctr"/>
            <a:r>
              <a:rPr sz="1100" b="1">
                <a:solidFill>
                  <a:srgbClr val="00897B"/>
                </a:solidFill>
                <a:latin typeface="Calibri"/>
              </a:rPr>
              <a:t>🔊 echoed</a:t>
            </a:r>
          </a:p>
        </p:txBody>
      </p:sp>
      <p:sp>
        <p:nvSpPr>
          <p:cNvPr id="29" name="TextBox 28"/>
          <p:cNvSpPr txBox="1"/>
          <p:nvPr/>
        </p:nvSpPr>
        <p:spPr>
          <a:xfrm>
            <a:off x="320040" y="4160519"/>
            <a:ext cx="2103120" cy="1783080"/>
          </a:xfrm>
          <a:prstGeom prst="rect">
            <a:avLst/>
          </a:prstGeom>
          <a:noFill/>
        </p:spPr>
        <p:txBody>
          <a:bodyPr wrap="square">
            <a:spAutoFit/>
          </a:bodyPr>
          <a:lstStyle/>
          <a:p>
            <a:pPr algn="ctr"/>
            <a:r>
              <a:rPr sz="800" b="0">
                <a:solidFill>
                  <a:srgbClr val="1A2337"/>
                </a:solidFill>
                <a:latin typeface="Calibri"/>
              </a:rPr>
              <a:t>EK-ohd
Bounced back as a repeating sound
Syn: repeated
Footsteps echoed above them.</a:t>
            </a:r>
          </a:p>
        </p:txBody>
      </p:sp>
      <p:sp>
        <p:nvSpPr>
          <p:cNvPr id="30" name="Rounded Rectangle 29"/>
          <p:cNvSpPr/>
          <p:nvPr/>
        </p:nvSpPr>
        <p:spPr>
          <a:xfrm>
            <a:off x="2606039" y="3749039"/>
            <a:ext cx="219456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51759" y="3822191"/>
            <a:ext cx="2103120" cy="320040"/>
          </a:xfrm>
          <a:prstGeom prst="rect">
            <a:avLst/>
          </a:prstGeom>
          <a:noFill/>
        </p:spPr>
        <p:txBody>
          <a:bodyPr wrap="square">
            <a:spAutoFit/>
          </a:bodyPr>
          <a:lstStyle/>
          <a:p>
            <a:pPr algn="ctr"/>
            <a:r>
              <a:rPr sz="1100" b="1">
                <a:solidFill>
                  <a:srgbClr val="00897B"/>
                </a:solidFill>
                <a:latin typeface="Calibri"/>
              </a:rPr>
              <a:t>💡 flickered</a:t>
            </a:r>
          </a:p>
        </p:txBody>
      </p:sp>
      <p:sp>
        <p:nvSpPr>
          <p:cNvPr id="32" name="TextBox 31"/>
          <p:cNvSpPr txBox="1"/>
          <p:nvPr/>
        </p:nvSpPr>
        <p:spPr>
          <a:xfrm>
            <a:off x="2651759" y="4160519"/>
            <a:ext cx="2103120" cy="1783080"/>
          </a:xfrm>
          <a:prstGeom prst="rect">
            <a:avLst/>
          </a:prstGeom>
          <a:noFill/>
        </p:spPr>
        <p:txBody>
          <a:bodyPr wrap="square">
            <a:spAutoFit/>
          </a:bodyPr>
          <a:lstStyle/>
          <a:p>
            <a:pPr algn="ctr"/>
            <a:r>
              <a:rPr sz="800" b="0">
                <a:solidFill>
                  <a:srgbClr val="1A2337"/>
                </a:solidFill>
                <a:latin typeface="Calibri"/>
              </a:rPr>
              <a:t>FLIK-erd
Flashed on and off quickly
Syn: blinked
The lights flickered suddenly.</a:t>
            </a:r>
          </a:p>
        </p:txBody>
      </p:sp>
      <p:sp>
        <p:nvSpPr>
          <p:cNvPr id="33" name="Rounded Rectangle 32"/>
          <p:cNvSpPr/>
          <p:nvPr/>
        </p:nvSpPr>
        <p:spPr>
          <a:xfrm>
            <a:off x="4937759" y="3749039"/>
            <a:ext cx="219456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83479" y="3822191"/>
            <a:ext cx="2103120" cy="320040"/>
          </a:xfrm>
          <a:prstGeom prst="rect">
            <a:avLst/>
          </a:prstGeom>
          <a:noFill/>
        </p:spPr>
        <p:txBody>
          <a:bodyPr wrap="square">
            <a:spAutoFit/>
          </a:bodyPr>
          <a:lstStyle/>
          <a:p>
            <a:pPr algn="ctr"/>
            <a:r>
              <a:rPr sz="1100" b="1">
                <a:solidFill>
                  <a:srgbClr val="00897B"/>
                </a:solidFill>
                <a:latin typeface="Calibri"/>
              </a:rPr>
              <a:t>✨ unusual</a:t>
            </a:r>
          </a:p>
        </p:txBody>
      </p:sp>
      <p:sp>
        <p:nvSpPr>
          <p:cNvPr id="35" name="TextBox 34"/>
          <p:cNvSpPr txBox="1"/>
          <p:nvPr/>
        </p:nvSpPr>
        <p:spPr>
          <a:xfrm>
            <a:off x="4983479" y="4160519"/>
            <a:ext cx="2103120" cy="1783080"/>
          </a:xfrm>
          <a:prstGeom prst="rect">
            <a:avLst/>
          </a:prstGeom>
          <a:noFill/>
        </p:spPr>
        <p:txBody>
          <a:bodyPr wrap="square">
            <a:spAutoFit/>
          </a:bodyPr>
          <a:lstStyle/>
          <a:p>
            <a:pPr algn="ctr"/>
            <a:r>
              <a:rPr sz="800" b="0">
                <a:solidFill>
                  <a:srgbClr val="1A2337"/>
                </a:solidFill>
                <a:latin typeface="Calibri"/>
              </a:rPr>
              <a:t>un-YOO-zhoo-ul
Not common; different
Syn: strange
The library felt unusual and quiet.</a:t>
            </a:r>
          </a:p>
        </p:txBody>
      </p:sp>
      <p:sp>
        <p:nvSpPr>
          <p:cNvPr id="36" name="Rounded Rectangle 35"/>
          <p:cNvSpPr/>
          <p:nvPr/>
        </p:nvSpPr>
        <p:spPr>
          <a:xfrm>
            <a:off x="7269479" y="3749039"/>
            <a:ext cx="219456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199" y="3822191"/>
            <a:ext cx="2103120" cy="320040"/>
          </a:xfrm>
          <a:prstGeom prst="rect">
            <a:avLst/>
          </a:prstGeom>
          <a:noFill/>
        </p:spPr>
        <p:txBody>
          <a:bodyPr wrap="square">
            <a:spAutoFit/>
          </a:bodyPr>
          <a:lstStyle/>
          <a:p>
            <a:pPr algn="ctr"/>
            <a:r>
              <a:rPr sz="1100" b="1">
                <a:solidFill>
                  <a:srgbClr val="00897B"/>
                </a:solidFill>
                <a:latin typeface="Calibri"/>
              </a:rPr>
              <a:t>💭 realized</a:t>
            </a:r>
          </a:p>
        </p:txBody>
      </p:sp>
      <p:sp>
        <p:nvSpPr>
          <p:cNvPr id="38" name="TextBox 37"/>
          <p:cNvSpPr txBox="1"/>
          <p:nvPr/>
        </p:nvSpPr>
        <p:spPr>
          <a:xfrm>
            <a:off x="7315199" y="4160519"/>
            <a:ext cx="2103120" cy="1783080"/>
          </a:xfrm>
          <a:prstGeom prst="rect">
            <a:avLst/>
          </a:prstGeom>
          <a:noFill/>
        </p:spPr>
        <p:txBody>
          <a:bodyPr wrap="square">
            <a:spAutoFit/>
          </a:bodyPr>
          <a:lstStyle/>
          <a:p>
            <a:pPr algn="ctr"/>
            <a:r>
              <a:rPr sz="800" b="0">
                <a:solidFill>
                  <a:srgbClr val="1A2337"/>
                </a:solidFill>
                <a:latin typeface="Calibri"/>
              </a:rPr>
              <a:t>REE-uh-lyzed
Understood clearly
Syn: discovered
Riley realized the library was huge.</a:t>
            </a:r>
          </a:p>
        </p:txBody>
      </p:sp>
      <p:sp>
        <p:nvSpPr>
          <p:cNvPr id="39" name="Rounded Rectangle 38"/>
          <p:cNvSpPr/>
          <p:nvPr/>
        </p:nvSpPr>
        <p:spPr>
          <a:xfrm>
            <a:off x="9601200" y="3749039"/>
            <a:ext cx="219456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46920" y="3822191"/>
            <a:ext cx="2103120" cy="320040"/>
          </a:xfrm>
          <a:prstGeom prst="rect">
            <a:avLst/>
          </a:prstGeom>
          <a:noFill/>
        </p:spPr>
        <p:txBody>
          <a:bodyPr wrap="square">
            <a:spAutoFit/>
          </a:bodyPr>
          <a:lstStyle/>
          <a:p>
            <a:pPr algn="ctr"/>
            <a:r>
              <a:rPr sz="1100" b="1">
                <a:solidFill>
                  <a:srgbClr val="00897B"/>
                </a:solidFill>
                <a:latin typeface="Calibri"/>
              </a:rPr>
              <a:t>🗺️ adventure</a:t>
            </a:r>
          </a:p>
        </p:txBody>
      </p:sp>
      <p:sp>
        <p:nvSpPr>
          <p:cNvPr id="41" name="TextBox 40"/>
          <p:cNvSpPr txBox="1"/>
          <p:nvPr/>
        </p:nvSpPr>
        <p:spPr>
          <a:xfrm>
            <a:off x="9646920" y="4160519"/>
            <a:ext cx="2103120" cy="1783080"/>
          </a:xfrm>
          <a:prstGeom prst="rect">
            <a:avLst/>
          </a:prstGeom>
          <a:noFill/>
        </p:spPr>
        <p:txBody>
          <a:bodyPr wrap="square">
            <a:spAutoFit/>
          </a:bodyPr>
          <a:lstStyle/>
          <a:p>
            <a:pPr algn="ctr"/>
            <a:r>
              <a:rPr sz="800" b="0">
                <a:solidFill>
                  <a:srgbClr val="1A2337"/>
                </a:solidFill>
                <a:latin typeface="Calibri"/>
              </a:rPr>
              <a:t>ad-VEN-chur
An exciting experience
Syn: quest
The map showed unfinished adventures.</a:t>
            </a:r>
          </a:p>
        </p:txBody>
      </p:sp>
      <p:sp>
        <p:nvSpPr>
          <p:cNvPr id="42" name="Rounded Rectangle 41"/>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Vocab</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Vocabulary Matching 🎯 (Word Detective)</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Vocab</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13/22</a:t>
            </a:r>
          </a:p>
        </p:txBody>
      </p:sp>
      <p:sp>
        <p:nvSpPr>
          <p:cNvPr id="12" name="Rounded Rectangle 11"/>
          <p:cNvSpPr/>
          <p:nvPr/>
        </p:nvSpPr>
        <p:spPr>
          <a:xfrm>
            <a:off x="347472" y="1280160"/>
            <a:ext cx="5394960" cy="4754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417320"/>
            <a:ext cx="5029200" cy="320040"/>
          </a:xfrm>
          <a:prstGeom prst="rect">
            <a:avLst/>
          </a:prstGeom>
          <a:noFill/>
        </p:spPr>
        <p:txBody>
          <a:bodyPr wrap="square">
            <a:spAutoFit/>
          </a:bodyPr>
          <a:lstStyle/>
          <a:p>
            <a:pPr algn="l"/>
            <a:r>
              <a:rPr sz="1400" b="1">
                <a:solidFill>
                  <a:srgbClr val="00897B"/>
                </a:solidFill>
                <a:latin typeface="Calibri"/>
              </a:rPr>
              <a:t>Words</a:t>
            </a:r>
          </a:p>
        </p:txBody>
      </p:sp>
      <p:sp>
        <p:nvSpPr>
          <p:cNvPr id="14" name="TextBox 13"/>
          <p:cNvSpPr txBox="1"/>
          <p:nvPr/>
        </p:nvSpPr>
        <p:spPr>
          <a:xfrm>
            <a:off x="502920" y="1828800"/>
            <a:ext cx="5029200" cy="3931920"/>
          </a:xfrm>
          <a:prstGeom prst="rect">
            <a:avLst/>
          </a:prstGeom>
          <a:noFill/>
        </p:spPr>
        <p:txBody>
          <a:bodyPr wrap="square">
            <a:spAutoFit/>
          </a:bodyPr>
          <a:lstStyle/>
          <a:p>
            <a:pPr>
              <a:spcAft>
                <a:spcPts val="800"/>
              </a:spcAft>
            </a:pPr>
            <a:r>
              <a:rPr sz="1400" b="0">
                <a:solidFill>
                  <a:srgbClr val="1A2337"/>
                </a:solidFill>
                <a:latin typeface="Calibri"/>
              </a:rPr>
              <a:t>•  1. biography</a:t>
            </a:r>
          </a:p>
          <a:p>
            <a:pPr>
              <a:spcAft>
                <a:spcPts val="800"/>
              </a:spcAft>
            </a:pPr>
            <a:r>
              <a:rPr sz="1400" b="0">
                <a:solidFill>
                  <a:srgbClr val="1A2337"/>
                </a:solidFill>
                <a:latin typeface="Calibri"/>
              </a:rPr>
              <a:t>•  2. parchment</a:t>
            </a:r>
          </a:p>
          <a:p>
            <a:pPr>
              <a:spcAft>
                <a:spcPts val="800"/>
              </a:spcAft>
            </a:pPr>
            <a:r>
              <a:rPr sz="1400" b="0">
                <a:solidFill>
                  <a:srgbClr val="1A2337"/>
                </a:solidFill>
                <a:latin typeface="Calibri"/>
              </a:rPr>
              <a:t>•  3. creaked</a:t>
            </a:r>
          </a:p>
          <a:p>
            <a:pPr>
              <a:spcAft>
                <a:spcPts val="800"/>
              </a:spcAft>
            </a:pPr>
            <a:r>
              <a:rPr sz="1400" b="0">
                <a:solidFill>
                  <a:srgbClr val="1A2337"/>
                </a:solidFill>
                <a:latin typeface="Calibri"/>
              </a:rPr>
              <a:t>•  4. moss</a:t>
            </a:r>
          </a:p>
          <a:p>
            <a:pPr>
              <a:spcAft>
                <a:spcPts val="800"/>
              </a:spcAft>
            </a:pPr>
            <a:r>
              <a:rPr sz="1400" b="0">
                <a:solidFill>
                  <a:srgbClr val="1A2337"/>
                </a:solidFill>
                <a:latin typeface="Calibri"/>
              </a:rPr>
              <a:t>•  5. curiosity</a:t>
            </a:r>
          </a:p>
          <a:p>
            <a:pPr>
              <a:spcAft>
                <a:spcPts val="800"/>
              </a:spcAft>
            </a:pPr>
            <a:r>
              <a:rPr sz="1400" b="0">
                <a:solidFill>
                  <a:srgbClr val="1A2337"/>
                </a:solidFill>
                <a:latin typeface="Calibri"/>
              </a:rPr>
              <a:t>•  6. echoed</a:t>
            </a:r>
          </a:p>
        </p:txBody>
      </p:sp>
      <p:sp>
        <p:nvSpPr>
          <p:cNvPr id="15" name="Rounded Rectangle 14"/>
          <p:cNvSpPr/>
          <p:nvPr/>
        </p:nvSpPr>
        <p:spPr>
          <a:xfrm>
            <a:off x="5989320" y="1280160"/>
            <a:ext cx="5806440" cy="475488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417320"/>
            <a:ext cx="5486400" cy="320040"/>
          </a:xfrm>
          <a:prstGeom prst="rect">
            <a:avLst/>
          </a:prstGeom>
          <a:noFill/>
        </p:spPr>
        <p:txBody>
          <a:bodyPr wrap="square">
            <a:spAutoFit/>
          </a:bodyPr>
          <a:lstStyle/>
          <a:p>
            <a:pPr algn="l"/>
            <a:r>
              <a:rPr sz="1400" b="1">
                <a:solidFill>
                  <a:srgbClr val="FFB300"/>
                </a:solidFill>
                <a:latin typeface="Calibri"/>
              </a:rPr>
              <a:t>Meanings (shuffled)</a:t>
            </a:r>
          </a:p>
        </p:txBody>
      </p:sp>
      <p:sp>
        <p:nvSpPr>
          <p:cNvPr id="17" name="TextBox 16"/>
          <p:cNvSpPr txBox="1"/>
          <p:nvPr/>
        </p:nvSpPr>
        <p:spPr>
          <a:xfrm>
            <a:off x="6172200" y="1828800"/>
            <a:ext cx="5486400" cy="3931920"/>
          </a:xfrm>
          <a:prstGeom prst="rect">
            <a:avLst/>
          </a:prstGeom>
          <a:noFill/>
        </p:spPr>
        <p:txBody>
          <a:bodyPr wrap="square">
            <a:spAutoFit/>
          </a:bodyPr>
          <a:lstStyle/>
          <a:p>
            <a:pPr>
              <a:spcAft>
                <a:spcPts val="800"/>
              </a:spcAft>
            </a:pPr>
            <a:r>
              <a:rPr sz="1400" b="0">
                <a:solidFill>
                  <a:srgbClr val="1A2337"/>
                </a:solidFill>
                <a:latin typeface="Calibri"/>
              </a:rPr>
              <a:t>•  A. bounced-back sound</a:t>
            </a:r>
          </a:p>
          <a:p>
            <a:pPr>
              <a:spcAft>
                <a:spcPts val="800"/>
              </a:spcAft>
            </a:pPr>
            <a:r>
              <a:rPr sz="1400" b="0">
                <a:solidFill>
                  <a:srgbClr val="1A2337"/>
                </a:solidFill>
                <a:latin typeface="Calibri"/>
              </a:rPr>
              <a:t>•  B. wish to know</a:t>
            </a:r>
          </a:p>
          <a:p>
            <a:pPr>
              <a:spcAft>
                <a:spcPts val="800"/>
              </a:spcAft>
            </a:pPr>
            <a:r>
              <a:rPr sz="1400" b="0">
                <a:solidFill>
                  <a:srgbClr val="1A2337"/>
                </a:solidFill>
                <a:latin typeface="Calibri"/>
              </a:rPr>
              <a:t>•  C. life-story book</a:t>
            </a:r>
          </a:p>
          <a:p>
            <a:pPr>
              <a:spcAft>
                <a:spcPts val="800"/>
              </a:spcAft>
            </a:pPr>
            <a:r>
              <a:rPr sz="1400" b="0">
                <a:solidFill>
                  <a:srgbClr val="1A2337"/>
                </a:solidFill>
                <a:latin typeface="Calibri"/>
              </a:rPr>
              <a:t>•  D. flashed on/off</a:t>
            </a:r>
          </a:p>
          <a:p>
            <a:pPr>
              <a:spcAft>
                <a:spcPts val="800"/>
              </a:spcAft>
            </a:pPr>
            <a:r>
              <a:rPr sz="1400" b="0">
                <a:solidFill>
                  <a:srgbClr val="1A2337"/>
                </a:solidFill>
                <a:latin typeface="Calibri"/>
              </a:rPr>
              <a:t>•  E. old thick paper</a:t>
            </a:r>
          </a:p>
          <a:p>
            <a:pPr>
              <a:spcAft>
                <a:spcPts val="800"/>
              </a:spcAft>
            </a:pPr>
            <a:r>
              <a:rPr sz="1400" b="0">
                <a:solidFill>
                  <a:srgbClr val="1A2337"/>
                </a:solidFill>
                <a:latin typeface="Calibri"/>
              </a:rPr>
              <a:t>•  F. exciting experience</a:t>
            </a:r>
          </a:p>
        </p:txBody>
      </p:sp>
      <p:sp>
        <p:nvSpPr>
          <p:cNvPr id="18" name="Rounded Rectangle 17"/>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Vocab</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Word Search + Unscramble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Vocab</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14/22</a:t>
            </a:r>
          </a:p>
        </p:txBody>
      </p:sp>
      <p:sp>
        <p:nvSpPr>
          <p:cNvPr id="12" name="Rounded Rectangle 11"/>
          <p:cNvSpPr/>
          <p:nvPr/>
        </p:nvSpPr>
        <p:spPr>
          <a:xfrm>
            <a:off x="347472" y="1280160"/>
            <a:ext cx="65836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45920"/>
            <a:ext cx="6217920" cy="3200400"/>
          </a:xfrm>
          <a:prstGeom prst="rect">
            <a:avLst/>
          </a:prstGeom>
          <a:noFill/>
        </p:spPr>
        <p:txBody>
          <a:bodyPr wrap="square">
            <a:spAutoFit/>
          </a:bodyPr>
          <a:lstStyle/>
          <a:p>
            <a:pPr algn="ctr"/>
            <a:r>
              <a:rPr sz="2400" b="1">
                <a:solidFill>
                  <a:srgbClr val="0D47A1"/>
                </a:solidFill>
                <a:latin typeface="Consolas"/>
              </a:rPr>
              <a:t>SECRETXX
DOORXXXX
LIBRARYX
MOSSXXXX
MAPXXXXX
ECHOXXXX</a:t>
            </a:r>
          </a:p>
        </p:txBody>
      </p:sp>
      <p:sp>
        <p:nvSpPr>
          <p:cNvPr id="14" name="Rounded Rectangle 13"/>
          <p:cNvSpPr/>
          <p:nvPr/>
        </p:nvSpPr>
        <p:spPr>
          <a:xfrm>
            <a:off x="7178040" y="1280160"/>
            <a:ext cx="4617720" cy="411480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0920" y="1463040"/>
            <a:ext cx="4297680" cy="320040"/>
          </a:xfrm>
          <a:prstGeom prst="rect">
            <a:avLst/>
          </a:prstGeom>
          <a:noFill/>
        </p:spPr>
        <p:txBody>
          <a:bodyPr wrap="square">
            <a:spAutoFit/>
          </a:bodyPr>
          <a:lstStyle/>
          <a:p>
            <a:pPr algn="l"/>
            <a:r>
              <a:rPr sz="1400" b="1">
                <a:solidFill>
                  <a:srgbClr val="0D47A1"/>
                </a:solidFill>
                <a:latin typeface="Calibri"/>
              </a:rPr>
              <a:t>Unscramble</a:t>
            </a:r>
          </a:p>
        </p:txBody>
      </p:sp>
      <p:sp>
        <p:nvSpPr>
          <p:cNvPr id="16" name="TextBox 15"/>
          <p:cNvSpPr txBox="1"/>
          <p:nvPr/>
        </p:nvSpPr>
        <p:spPr>
          <a:xfrm>
            <a:off x="7360920" y="1874519"/>
            <a:ext cx="4297680" cy="3200400"/>
          </a:xfrm>
          <a:prstGeom prst="rect">
            <a:avLst/>
          </a:prstGeom>
          <a:noFill/>
        </p:spPr>
        <p:txBody>
          <a:bodyPr wrap="square">
            <a:spAutoFit/>
          </a:bodyPr>
          <a:lstStyle/>
          <a:p>
            <a:pPr>
              <a:spcAft>
                <a:spcPts val="1000"/>
              </a:spcAft>
            </a:pPr>
            <a:r>
              <a:rPr sz="1400" b="0">
                <a:solidFill>
                  <a:srgbClr val="1A2337"/>
                </a:solidFill>
                <a:latin typeface="Calibri"/>
              </a:rPr>
              <a:t>•  dekaerc → ?</a:t>
            </a:r>
          </a:p>
          <a:p>
            <a:pPr>
              <a:spcAft>
                <a:spcPts val="1000"/>
              </a:spcAft>
            </a:pPr>
            <a:r>
              <a:rPr sz="1400" b="0">
                <a:solidFill>
                  <a:srgbClr val="1A2337"/>
                </a:solidFill>
                <a:latin typeface="Calibri"/>
              </a:rPr>
              <a:t>•  yrotarobbi → ?</a:t>
            </a:r>
          </a:p>
          <a:p>
            <a:pPr>
              <a:spcAft>
                <a:spcPts val="1000"/>
              </a:spcAft>
            </a:pPr>
            <a:r>
              <a:rPr sz="1400" b="0">
                <a:solidFill>
                  <a:srgbClr val="1A2337"/>
                </a:solidFill>
                <a:latin typeface="Calibri"/>
              </a:rPr>
              <a:t>•  ytisoiruc → ?</a:t>
            </a:r>
          </a:p>
          <a:p>
            <a:pPr>
              <a:spcAft>
                <a:spcPts val="1000"/>
              </a:spcAft>
            </a:pPr>
            <a:r>
              <a:rPr sz="1400" b="0">
                <a:solidFill>
                  <a:srgbClr val="1A2337"/>
                </a:solidFill>
                <a:latin typeface="Calibri"/>
              </a:rPr>
              <a:t>•  dezilera → ?</a:t>
            </a:r>
          </a:p>
        </p:txBody>
      </p:sp>
      <p:sp>
        <p:nvSpPr>
          <p:cNvPr id="17" name="TextBox 16"/>
          <p:cNvSpPr txBox="1"/>
          <p:nvPr/>
        </p:nvSpPr>
        <p:spPr>
          <a:xfrm>
            <a:off x="7360920" y="3977639"/>
            <a:ext cx="4297680" cy="914400"/>
          </a:xfrm>
          <a:prstGeom prst="rect">
            <a:avLst/>
          </a:prstGeom>
          <a:noFill/>
        </p:spPr>
        <p:txBody>
          <a:bodyPr wrap="square">
            <a:spAutoFit/>
          </a:bodyPr>
          <a:lstStyle/>
          <a:p>
            <a:pPr algn="l"/>
            <a:r>
              <a:rPr sz="1200" b="0">
                <a:solidFill>
                  <a:srgbClr val="00897B"/>
                </a:solidFill>
                <a:latin typeface="Calibri"/>
              </a:rPr>
              <a:t>Key: creaked, biography,
curiosity, realized</a:t>
            </a:r>
          </a:p>
        </p:txBody>
      </p:sp>
      <p:sp>
        <p:nvSpPr>
          <p:cNvPr id="18" name="Rounded Rectangle 17"/>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SPEAKING</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Storytelling 10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Speaking Activities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Storytelling 10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15/22</a:t>
            </a:r>
          </a:p>
        </p:txBody>
      </p:sp>
      <p:sp>
        <p:nvSpPr>
          <p:cNvPr id="12" name="Rounded Rectangle 11"/>
          <p:cNvSpPr/>
          <p:nvPr/>
        </p:nvSpPr>
        <p:spPr>
          <a:xfrm>
            <a:off x="347472" y="1325880"/>
            <a:ext cx="56692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 y="1325880"/>
            <a:ext cx="5669280" cy="4572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1399032"/>
            <a:ext cx="5303520" cy="320040"/>
          </a:xfrm>
          <a:prstGeom prst="rect">
            <a:avLst/>
          </a:prstGeom>
          <a:noFill/>
        </p:spPr>
        <p:txBody>
          <a:bodyPr wrap="square">
            <a:spAutoFit/>
          </a:bodyPr>
          <a:lstStyle/>
          <a:p>
            <a:pPr algn="l"/>
            <a:r>
              <a:rPr sz="1500" b="1">
                <a:solidFill>
                  <a:srgbClr val="FFFFFF"/>
                </a:solidFill>
                <a:latin typeface="Calibri"/>
              </a:rPr>
              <a:t>Describe the Picture</a:t>
            </a:r>
          </a:p>
        </p:txBody>
      </p:sp>
      <p:sp>
        <p:nvSpPr>
          <p:cNvPr id="15" name="TextBox 14"/>
          <p:cNvSpPr txBox="1"/>
          <p:nvPr/>
        </p:nvSpPr>
        <p:spPr>
          <a:xfrm>
            <a:off x="530352" y="2011680"/>
            <a:ext cx="5303520" cy="1097280"/>
          </a:xfrm>
          <a:prstGeom prst="rect">
            <a:avLst/>
          </a:prstGeom>
          <a:noFill/>
        </p:spPr>
        <p:txBody>
          <a:bodyPr wrap="square">
            <a:spAutoFit/>
          </a:bodyPr>
          <a:lstStyle/>
          <a:p>
            <a:pPr algn="l"/>
            <a:r>
              <a:rPr sz="1400" b="0">
                <a:solidFill>
                  <a:srgbClr val="1A2337"/>
                </a:solidFill>
                <a:latin typeface="Calibri"/>
              </a:rPr>
              <a:t>Mystery library door scene
(45–60 sec each)</a:t>
            </a:r>
          </a:p>
        </p:txBody>
      </p:sp>
      <p:sp>
        <p:nvSpPr>
          <p:cNvPr id="16" name="Rounded Rectangle 15"/>
          <p:cNvSpPr/>
          <p:nvPr/>
        </p:nvSpPr>
        <p:spPr>
          <a:xfrm>
            <a:off x="6245352" y="1325880"/>
            <a:ext cx="56692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5352" y="1325880"/>
            <a:ext cx="5669280" cy="4572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1399032"/>
            <a:ext cx="5303520" cy="320040"/>
          </a:xfrm>
          <a:prstGeom prst="rect">
            <a:avLst/>
          </a:prstGeom>
          <a:noFill/>
        </p:spPr>
        <p:txBody>
          <a:bodyPr wrap="square">
            <a:spAutoFit/>
          </a:bodyPr>
          <a:lstStyle/>
          <a:p>
            <a:pPr algn="l"/>
            <a:r>
              <a:rPr sz="1500" b="1">
                <a:solidFill>
                  <a:srgbClr val="FFFFFF"/>
                </a:solidFill>
                <a:latin typeface="Calibri"/>
              </a:rPr>
              <a:t>Finish the Story</a:t>
            </a:r>
          </a:p>
        </p:txBody>
      </p:sp>
      <p:sp>
        <p:nvSpPr>
          <p:cNvPr id="19" name="TextBox 18"/>
          <p:cNvSpPr txBox="1"/>
          <p:nvPr/>
        </p:nvSpPr>
        <p:spPr>
          <a:xfrm>
            <a:off x="6428232" y="2011680"/>
            <a:ext cx="5303520" cy="1097280"/>
          </a:xfrm>
          <a:prstGeom prst="rect">
            <a:avLst/>
          </a:prstGeom>
          <a:noFill/>
        </p:spPr>
        <p:txBody>
          <a:bodyPr wrap="square">
            <a:spAutoFit/>
          </a:bodyPr>
          <a:lstStyle/>
          <a:p>
            <a:pPr algn="l"/>
            <a:r>
              <a:rPr sz="1400" b="0">
                <a:solidFill>
                  <a:srgbClr val="1A2337"/>
                </a:solidFill>
                <a:latin typeface="Calibri"/>
              </a:rPr>
              <a:t>Continue after cliffhanger
(45–60 sec each)</a:t>
            </a:r>
          </a:p>
        </p:txBody>
      </p:sp>
      <p:sp>
        <p:nvSpPr>
          <p:cNvPr id="20" name="Rounded Rectangle 19"/>
          <p:cNvSpPr/>
          <p:nvPr/>
        </p:nvSpPr>
        <p:spPr>
          <a:xfrm>
            <a:off x="347472" y="3566160"/>
            <a:ext cx="56692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7472" y="3566160"/>
            <a:ext cx="5669280" cy="457200"/>
          </a:xfrm>
          <a:prstGeom prst="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3639312"/>
            <a:ext cx="5303520" cy="320040"/>
          </a:xfrm>
          <a:prstGeom prst="rect">
            <a:avLst/>
          </a:prstGeom>
          <a:noFill/>
        </p:spPr>
        <p:txBody>
          <a:bodyPr wrap="square">
            <a:spAutoFit/>
          </a:bodyPr>
          <a:lstStyle/>
          <a:p>
            <a:pPr algn="l"/>
            <a:r>
              <a:rPr sz="1500" b="1">
                <a:solidFill>
                  <a:srgbClr val="FFFFFF"/>
                </a:solidFill>
                <a:latin typeface="Calibri"/>
              </a:rPr>
              <a:t>If I Found a Secret Door…</a:t>
            </a:r>
          </a:p>
        </p:txBody>
      </p:sp>
      <p:sp>
        <p:nvSpPr>
          <p:cNvPr id="23" name="TextBox 22"/>
          <p:cNvSpPr txBox="1"/>
          <p:nvPr/>
        </p:nvSpPr>
        <p:spPr>
          <a:xfrm>
            <a:off x="530352" y="4251960"/>
            <a:ext cx="5303520" cy="1097280"/>
          </a:xfrm>
          <a:prstGeom prst="rect">
            <a:avLst/>
          </a:prstGeom>
          <a:noFill/>
        </p:spPr>
        <p:txBody>
          <a:bodyPr wrap="square">
            <a:spAutoFit/>
          </a:bodyPr>
          <a:lstStyle/>
          <a:p>
            <a:pPr algn="l"/>
            <a:r>
              <a:rPr sz="1400" b="0">
                <a:solidFill>
                  <a:srgbClr val="1A2337"/>
                </a:solidFill>
                <a:latin typeface="Calibri"/>
              </a:rPr>
              <a:t>What would you do first?
(45–60 sec each)</a:t>
            </a:r>
          </a:p>
        </p:txBody>
      </p:sp>
      <p:sp>
        <p:nvSpPr>
          <p:cNvPr id="24" name="Rounded Rectangle 23"/>
          <p:cNvSpPr/>
          <p:nvPr/>
        </p:nvSpPr>
        <p:spPr>
          <a:xfrm>
            <a:off x="6245352" y="3566160"/>
            <a:ext cx="56692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45352" y="3566160"/>
            <a:ext cx="5669280" cy="45720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8232" y="3639312"/>
            <a:ext cx="5303520" cy="320040"/>
          </a:xfrm>
          <a:prstGeom prst="rect">
            <a:avLst/>
          </a:prstGeom>
          <a:noFill/>
        </p:spPr>
        <p:txBody>
          <a:bodyPr wrap="square">
            <a:spAutoFit/>
          </a:bodyPr>
          <a:lstStyle/>
          <a:p>
            <a:pPr algn="l"/>
            <a:r>
              <a:rPr sz="1500" b="1">
                <a:solidFill>
                  <a:srgbClr val="FFFFFF"/>
                </a:solidFill>
                <a:latin typeface="Calibri"/>
              </a:rPr>
              <a:t>Interview the Character</a:t>
            </a:r>
          </a:p>
        </p:txBody>
      </p:sp>
      <p:sp>
        <p:nvSpPr>
          <p:cNvPr id="27" name="TextBox 26"/>
          <p:cNvSpPr txBox="1"/>
          <p:nvPr/>
        </p:nvSpPr>
        <p:spPr>
          <a:xfrm>
            <a:off x="6428232" y="4251960"/>
            <a:ext cx="5303520" cy="1097280"/>
          </a:xfrm>
          <a:prstGeom prst="rect">
            <a:avLst/>
          </a:prstGeom>
          <a:noFill/>
        </p:spPr>
        <p:txBody>
          <a:bodyPr wrap="square">
            <a:spAutoFit/>
          </a:bodyPr>
          <a:lstStyle/>
          <a:p>
            <a:pPr algn="l"/>
            <a:r>
              <a:rPr sz="1400" b="0">
                <a:solidFill>
                  <a:srgbClr val="1A2337"/>
                </a:solidFill>
                <a:latin typeface="Calibri"/>
              </a:rPr>
              <a:t>Ask Riley 3 questions
(45–60 sec each)</a:t>
            </a:r>
          </a:p>
        </p:txBody>
      </p:sp>
      <p:sp>
        <p:nvSpPr>
          <p:cNvPr id="28" name="Rounded Rectangle 27"/>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STORY</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Storytelling</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Storytelling Picture Prompt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Storytelling</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16/22</a:t>
            </a:r>
          </a:p>
        </p:txBody>
      </p:sp>
      <p:sp>
        <p:nvSpPr>
          <p:cNvPr id="12" name="Rounded Rectangle 11"/>
          <p:cNvSpPr/>
          <p:nvPr/>
        </p:nvSpPr>
        <p:spPr>
          <a:xfrm>
            <a:off x="347472" y="1280160"/>
            <a:ext cx="6858000" cy="475488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828800"/>
            <a:ext cx="6583680" cy="3200400"/>
          </a:xfrm>
          <a:prstGeom prst="rect">
            <a:avLst/>
          </a:prstGeom>
          <a:noFill/>
        </p:spPr>
        <p:txBody>
          <a:bodyPr wrap="square">
            <a:spAutoFit/>
          </a:bodyPr>
          <a:lstStyle/>
          <a:p>
            <a:pPr algn="ctr"/>
            <a:r>
              <a:rPr sz="2200" b="0">
                <a:solidFill>
                  <a:srgbClr val="0D47A1"/>
                </a:solidFill>
                <a:latin typeface="Calibri"/>
              </a:rPr>
              <a:t>🏫 Old library
🚪 Hidden door
🌟 Glowing stairs
👫 Two friends
❓ Unfinished map</a:t>
            </a:r>
          </a:p>
        </p:txBody>
      </p:sp>
      <p:sp>
        <p:nvSpPr>
          <p:cNvPr id="14" name="Rounded Rectangle 13"/>
          <p:cNvSpPr/>
          <p:nvPr/>
        </p:nvSpPr>
        <p:spPr>
          <a:xfrm>
            <a:off x="7452360" y="1325880"/>
            <a:ext cx="434340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554480"/>
            <a:ext cx="3977639" cy="411480"/>
          </a:xfrm>
          <a:prstGeom prst="rect">
            <a:avLst/>
          </a:prstGeom>
          <a:noFill/>
        </p:spPr>
        <p:txBody>
          <a:bodyPr wrap="square">
            <a:spAutoFit/>
          </a:bodyPr>
          <a:lstStyle/>
          <a:p>
            <a:pPr algn="l"/>
            <a:r>
              <a:rPr sz="1400" b="0">
                <a:solidFill>
                  <a:srgbClr val="1A2337"/>
                </a:solidFill>
                <a:latin typeface="Calibri"/>
              </a:rPr>
              <a:t>Who is the main character?</a:t>
            </a:r>
          </a:p>
        </p:txBody>
      </p:sp>
      <p:sp>
        <p:nvSpPr>
          <p:cNvPr id="16" name="Rounded Rectangle 15"/>
          <p:cNvSpPr/>
          <p:nvPr/>
        </p:nvSpPr>
        <p:spPr>
          <a:xfrm>
            <a:off x="7452360" y="2240280"/>
            <a:ext cx="434340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35240" y="2468880"/>
            <a:ext cx="3977639" cy="411480"/>
          </a:xfrm>
          <a:prstGeom prst="rect">
            <a:avLst/>
          </a:prstGeom>
          <a:noFill/>
        </p:spPr>
        <p:txBody>
          <a:bodyPr wrap="square">
            <a:spAutoFit/>
          </a:bodyPr>
          <a:lstStyle/>
          <a:p>
            <a:pPr algn="l"/>
            <a:r>
              <a:rPr sz="1400" b="0">
                <a:solidFill>
                  <a:srgbClr val="1A2337"/>
                </a:solidFill>
                <a:latin typeface="Calibri"/>
              </a:rPr>
              <a:t>Where does the story happen?</a:t>
            </a:r>
          </a:p>
        </p:txBody>
      </p:sp>
      <p:sp>
        <p:nvSpPr>
          <p:cNvPr id="18" name="Rounded Rectangle 17"/>
          <p:cNvSpPr/>
          <p:nvPr/>
        </p:nvSpPr>
        <p:spPr>
          <a:xfrm>
            <a:off x="7452360" y="3154680"/>
            <a:ext cx="434340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35240" y="3383280"/>
            <a:ext cx="3977639" cy="411480"/>
          </a:xfrm>
          <a:prstGeom prst="rect">
            <a:avLst/>
          </a:prstGeom>
          <a:noFill/>
        </p:spPr>
        <p:txBody>
          <a:bodyPr wrap="square">
            <a:spAutoFit/>
          </a:bodyPr>
          <a:lstStyle/>
          <a:p>
            <a:pPr algn="l"/>
            <a:r>
              <a:rPr sz="1400" b="0">
                <a:solidFill>
                  <a:srgbClr val="1A2337"/>
                </a:solidFill>
                <a:latin typeface="Calibri"/>
              </a:rPr>
              <a:t>What problem occurs?</a:t>
            </a:r>
          </a:p>
        </p:txBody>
      </p:sp>
      <p:sp>
        <p:nvSpPr>
          <p:cNvPr id="20" name="Rounded Rectangle 19"/>
          <p:cNvSpPr/>
          <p:nvPr/>
        </p:nvSpPr>
        <p:spPr>
          <a:xfrm>
            <a:off x="7452360" y="4069080"/>
            <a:ext cx="434340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35240" y="4297680"/>
            <a:ext cx="3977639" cy="411480"/>
          </a:xfrm>
          <a:prstGeom prst="rect">
            <a:avLst/>
          </a:prstGeom>
          <a:noFill/>
        </p:spPr>
        <p:txBody>
          <a:bodyPr wrap="square">
            <a:spAutoFit/>
          </a:bodyPr>
          <a:lstStyle/>
          <a:p>
            <a:pPr algn="l"/>
            <a:r>
              <a:rPr sz="1400" b="0">
                <a:solidFill>
                  <a:srgbClr val="1A2337"/>
                </a:solidFill>
                <a:latin typeface="Calibri"/>
              </a:rPr>
              <a:t>How is the problem solved?</a:t>
            </a:r>
          </a:p>
        </p:txBody>
      </p:sp>
      <p:sp>
        <p:nvSpPr>
          <p:cNvPr id="22" name="Rounded Rectangle 21"/>
          <p:cNvSpPr/>
          <p:nvPr/>
        </p:nvSpPr>
        <p:spPr>
          <a:xfrm>
            <a:off x="7452360" y="4983480"/>
            <a:ext cx="434340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35240" y="5212080"/>
            <a:ext cx="3977639" cy="411480"/>
          </a:xfrm>
          <a:prstGeom prst="rect">
            <a:avLst/>
          </a:prstGeom>
          <a:noFill/>
        </p:spPr>
        <p:txBody>
          <a:bodyPr wrap="square">
            <a:spAutoFit/>
          </a:bodyPr>
          <a:lstStyle/>
          <a:p>
            <a:pPr algn="l"/>
            <a:r>
              <a:rPr sz="1400" b="0">
                <a:solidFill>
                  <a:srgbClr val="1A2337"/>
                </a:solidFill>
                <a:latin typeface="Calibri"/>
              </a:rPr>
              <a:t>What lesson is learned?</a:t>
            </a:r>
          </a:p>
        </p:txBody>
      </p:sp>
      <p:sp>
        <p:nvSpPr>
          <p:cNvPr id="24" name="Rounded Rectangle 23"/>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Storytelling</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Creative Story Challenge 🎲 Roll the Dice</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Storytelling</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17/22</a:t>
            </a:r>
          </a:p>
        </p:txBody>
      </p:sp>
      <p:sp>
        <p:nvSpPr>
          <p:cNvPr id="12" name="TextBox 11"/>
          <p:cNvSpPr txBox="1"/>
          <p:nvPr/>
        </p:nvSpPr>
        <p:spPr>
          <a:xfrm>
            <a:off x="347472" y="1280160"/>
            <a:ext cx="11430000" cy="320040"/>
          </a:xfrm>
          <a:prstGeom prst="rect">
            <a:avLst/>
          </a:prstGeom>
          <a:noFill/>
        </p:spPr>
        <p:txBody>
          <a:bodyPr wrap="square">
            <a:spAutoFit/>
          </a:bodyPr>
          <a:lstStyle/>
          <a:p>
            <a:pPr algn="l"/>
            <a:r>
              <a:rPr sz="1400" b="0">
                <a:solidFill>
                  <a:srgbClr val="64748B"/>
                </a:solidFill>
                <a:latin typeface="Calibri"/>
              </a:rPr>
              <a:t>Roll 1–6 for each column → build a paragraph using Past Perfect at least twice.</a:t>
            </a:r>
          </a:p>
        </p:txBody>
      </p:sp>
      <p:sp>
        <p:nvSpPr>
          <p:cNvPr id="13" name="Rounded Rectangle 12"/>
          <p:cNvSpPr/>
          <p:nvPr/>
        </p:nvSpPr>
        <p:spPr>
          <a:xfrm>
            <a:off x="347472" y="1691640"/>
            <a:ext cx="370332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1828800"/>
            <a:ext cx="3703320" cy="320040"/>
          </a:xfrm>
          <a:prstGeom prst="rect">
            <a:avLst/>
          </a:prstGeom>
          <a:noFill/>
        </p:spPr>
        <p:txBody>
          <a:bodyPr wrap="square">
            <a:spAutoFit/>
          </a:bodyPr>
          <a:lstStyle/>
          <a:p>
            <a:pPr algn="ctr"/>
            <a:r>
              <a:rPr sz="1500" b="1">
                <a:solidFill>
                  <a:srgbClr val="00897B"/>
                </a:solidFill>
                <a:latin typeface="Calibri"/>
              </a:rPr>
              <a:t>Character</a:t>
            </a:r>
          </a:p>
        </p:txBody>
      </p:sp>
      <p:sp>
        <p:nvSpPr>
          <p:cNvPr id="15" name="TextBox 14"/>
          <p:cNvSpPr txBox="1"/>
          <p:nvPr/>
        </p:nvSpPr>
        <p:spPr>
          <a:xfrm>
            <a:off x="530352" y="2240280"/>
            <a:ext cx="3337560" cy="411480"/>
          </a:xfrm>
          <a:prstGeom prst="rect">
            <a:avLst/>
          </a:prstGeom>
          <a:noFill/>
        </p:spPr>
        <p:txBody>
          <a:bodyPr wrap="square">
            <a:spAutoFit/>
          </a:bodyPr>
          <a:lstStyle/>
          <a:p>
            <a:pPr algn="ctr"/>
            <a:r>
              <a:rPr sz="1300" b="0">
                <a:solidFill>
                  <a:srgbClr val="1A2337"/>
                </a:solidFill>
                <a:latin typeface="Calibri"/>
              </a:rPr>
              <a:t>1. Riley</a:t>
            </a:r>
          </a:p>
        </p:txBody>
      </p:sp>
      <p:sp>
        <p:nvSpPr>
          <p:cNvPr id="16" name="TextBox 15"/>
          <p:cNvSpPr txBox="1"/>
          <p:nvPr/>
        </p:nvSpPr>
        <p:spPr>
          <a:xfrm>
            <a:off x="530352" y="2743200"/>
            <a:ext cx="3337560" cy="411480"/>
          </a:xfrm>
          <a:prstGeom prst="rect">
            <a:avLst/>
          </a:prstGeom>
          <a:noFill/>
        </p:spPr>
        <p:txBody>
          <a:bodyPr wrap="square">
            <a:spAutoFit/>
          </a:bodyPr>
          <a:lstStyle/>
          <a:p>
            <a:pPr algn="ctr"/>
            <a:r>
              <a:rPr sz="1300" b="0">
                <a:solidFill>
                  <a:srgbClr val="1A2337"/>
                </a:solidFill>
                <a:latin typeface="Calibri"/>
              </a:rPr>
              <a:t>2. Jordan</a:t>
            </a:r>
          </a:p>
        </p:txBody>
      </p:sp>
      <p:sp>
        <p:nvSpPr>
          <p:cNvPr id="17" name="TextBox 16"/>
          <p:cNvSpPr txBox="1"/>
          <p:nvPr/>
        </p:nvSpPr>
        <p:spPr>
          <a:xfrm>
            <a:off x="530352" y="3246120"/>
            <a:ext cx="3337560" cy="411480"/>
          </a:xfrm>
          <a:prstGeom prst="rect">
            <a:avLst/>
          </a:prstGeom>
          <a:noFill/>
        </p:spPr>
        <p:txBody>
          <a:bodyPr wrap="square">
            <a:spAutoFit/>
          </a:bodyPr>
          <a:lstStyle/>
          <a:p>
            <a:pPr algn="ctr"/>
            <a:r>
              <a:rPr sz="1300" b="0">
                <a:solidFill>
                  <a:srgbClr val="1A2337"/>
                </a:solidFill>
                <a:latin typeface="Calibri"/>
              </a:rPr>
              <a:t>3. Librarian</a:t>
            </a:r>
          </a:p>
        </p:txBody>
      </p:sp>
      <p:sp>
        <p:nvSpPr>
          <p:cNvPr id="18" name="TextBox 17"/>
          <p:cNvSpPr txBox="1"/>
          <p:nvPr/>
        </p:nvSpPr>
        <p:spPr>
          <a:xfrm>
            <a:off x="530352" y="3749040"/>
            <a:ext cx="3337560" cy="411480"/>
          </a:xfrm>
          <a:prstGeom prst="rect">
            <a:avLst/>
          </a:prstGeom>
          <a:noFill/>
        </p:spPr>
        <p:txBody>
          <a:bodyPr wrap="square">
            <a:spAutoFit/>
          </a:bodyPr>
          <a:lstStyle/>
          <a:p>
            <a:pPr algn="ctr"/>
            <a:r>
              <a:rPr sz="1300" b="0">
                <a:solidFill>
                  <a:srgbClr val="1A2337"/>
                </a:solidFill>
                <a:latin typeface="Calibri"/>
              </a:rPr>
              <a:t>4. Stranger</a:t>
            </a:r>
          </a:p>
        </p:txBody>
      </p:sp>
      <p:sp>
        <p:nvSpPr>
          <p:cNvPr id="19" name="TextBox 18"/>
          <p:cNvSpPr txBox="1"/>
          <p:nvPr/>
        </p:nvSpPr>
        <p:spPr>
          <a:xfrm>
            <a:off x="530352" y="4251960"/>
            <a:ext cx="3337560" cy="411480"/>
          </a:xfrm>
          <a:prstGeom prst="rect">
            <a:avLst/>
          </a:prstGeom>
          <a:noFill/>
        </p:spPr>
        <p:txBody>
          <a:bodyPr wrap="square">
            <a:spAutoFit/>
          </a:bodyPr>
          <a:lstStyle/>
          <a:p>
            <a:pPr algn="ctr"/>
            <a:r>
              <a:rPr sz="1300" b="0">
                <a:solidFill>
                  <a:srgbClr val="1A2337"/>
                </a:solidFill>
                <a:latin typeface="Calibri"/>
              </a:rPr>
              <a:t>5. You</a:t>
            </a:r>
          </a:p>
        </p:txBody>
      </p:sp>
      <p:sp>
        <p:nvSpPr>
          <p:cNvPr id="20" name="TextBox 19"/>
          <p:cNvSpPr txBox="1"/>
          <p:nvPr/>
        </p:nvSpPr>
        <p:spPr>
          <a:xfrm>
            <a:off x="530352" y="4754880"/>
            <a:ext cx="3337560" cy="411480"/>
          </a:xfrm>
          <a:prstGeom prst="rect">
            <a:avLst/>
          </a:prstGeom>
          <a:noFill/>
        </p:spPr>
        <p:txBody>
          <a:bodyPr wrap="square">
            <a:spAutoFit/>
          </a:bodyPr>
          <a:lstStyle/>
          <a:p>
            <a:pPr algn="ctr"/>
            <a:r>
              <a:rPr sz="1300" b="0">
                <a:solidFill>
                  <a:srgbClr val="1A2337"/>
                </a:solidFill>
                <a:latin typeface="Calibri"/>
              </a:rPr>
              <a:t>6. Detective</a:t>
            </a:r>
          </a:p>
        </p:txBody>
      </p:sp>
      <p:sp>
        <p:nvSpPr>
          <p:cNvPr id="21" name="Rounded Rectangle 20"/>
          <p:cNvSpPr/>
          <p:nvPr/>
        </p:nvSpPr>
        <p:spPr>
          <a:xfrm>
            <a:off x="4233672" y="1691640"/>
            <a:ext cx="370332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33672" y="1828800"/>
            <a:ext cx="3703320" cy="320040"/>
          </a:xfrm>
          <a:prstGeom prst="rect">
            <a:avLst/>
          </a:prstGeom>
          <a:noFill/>
        </p:spPr>
        <p:txBody>
          <a:bodyPr wrap="square">
            <a:spAutoFit/>
          </a:bodyPr>
          <a:lstStyle/>
          <a:p>
            <a:pPr algn="ctr"/>
            <a:r>
              <a:rPr sz="1500" b="1">
                <a:solidFill>
                  <a:srgbClr val="00897B"/>
                </a:solidFill>
                <a:latin typeface="Calibri"/>
              </a:rPr>
              <a:t>Setting</a:t>
            </a:r>
          </a:p>
        </p:txBody>
      </p:sp>
      <p:sp>
        <p:nvSpPr>
          <p:cNvPr id="23" name="TextBox 22"/>
          <p:cNvSpPr txBox="1"/>
          <p:nvPr/>
        </p:nvSpPr>
        <p:spPr>
          <a:xfrm>
            <a:off x="4416552" y="2240280"/>
            <a:ext cx="3337560" cy="411480"/>
          </a:xfrm>
          <a:prstGeom prst="rect">
            <a:avLst/>
          </a:prstGeom>
          <a:noFill/>
        </p:spPr>
        <p:txBody>
          <a:bodyPr wrap="square">
            <a:spAutoFit/>
          </a:bodyPr>
          <a:lstStyle/>
          <a:p>
            <a:pPr algn="ctr"/>
            <a:r>
              <a:rPr sz="1300" b="0">
                <a:solidFill>
                  <a:srgbClr val="1A2337"/>
                </a:solidFill>
                <a:latin typeface="Calibri"/>
              </a:rPr>
              <a:t>1. Library</a:t>
            </a:r>
          </a:p>
        </p:txBody>
      </p:sp>
      <p:sp>
        <p:nvSpPr>
          <p:cNvPr id="24" name="TextBox 23"/>
          <p:cNvSpPr txBox="1"/>
          <p:nvPr/>
        </p:nvSpPr>
        <p:spPr>
          <a:xfrm>
            <a:off x="4416552" y="2743200"/>
            <a:ext cx="3337560" cy="411480"/>
          </a:xfrm>
          <a:prstGeom prst="rect">
            <a:avLst/>
          </a:prstGeom>
          <a:noFill/>
        </p:spPr>
        <p:txBody>
          <a:bodyPr wrap="square">
            <a:spAutoFit/>
          </a:bodyPr>
          <a:lstStyle/>
          <a:p>
            <a:pPr algn="ctr"/>
            <a:r>
              <a:rPr sz="1300" b="0">
                <a:solidFill>
                  <a:srgbClr val="1A2337"/>
                </a:solidFill>
                <a:latin typeface="Calibri"/>
              </a:rPr>
              <a:t>2. Stairwell</a:t>
            </a:r>
          </a:p>
        </p:txBody>
      </p:sp>
      <p:sp>
        <p:nvSpPr>
          <p:cNvPr id="25" name="TextBox 24"/>
          <p:cNvSpPr txBox="1"/>
          <p:nvPr/>
        </p:nvSpPr>
        <p:spPr>
          <a:xfrm>
            <a:off x="4416552" y="3246120"/>
            <a:ext cx="3337560" cy="411480"/>
          </a:xfrm>
          <a:prstGeom prst="rect">
            <a:avLst/>
          </a:prstGeom>
          <a:noFill/>
        </p:spPr>
        <p:txBody>
          <a:bodyPr wrap="square">
            <a:spAutoFit/>
          </a:bodyPr>
          <a:lstStyle/>
          <a:p>
            <a:pPr algn="ctr"/>
            <a:r>
              <a:rPr sz="1300" b="0">
                <a:solidFill>
                  <a:srgbClr val="1A2337"/>
                </a:solidFill>
                <a:latin typeface="Calibri"/>
              </a:rPr>
              <a:t>3. Map room</a:t>
            </a:r>
          </a:p>
        </p:txBody>
      </p:sp>
      <p:sp>
        <p:nvSpPr>
          <p:cNvPr id="26" name="TextBox 25"/>
          <p:cNvSpPr txBox="1"/>
          <p:nvPr/>
        </p:nvSpPr>
        <p:spPr>
          <a:xfrm>
            <a:off x="4416552" y="3749040"/>
            <a:ext cx="3337560" cy="411480"/>
          </a:xfrm>
          <a:prstGeom prst="rect">
            <a:avLst/>
          </a:prstGeom>
          <a:noFill/>
        </p:spPr>
        <p:txBody>
          <a:bodyPr wrap="square">
            <a:spAutoFit/>
          </a:bodyPr>
          <a:lstStyle/>
          <a:p>
            <a:pPr algn="ctr"/>
            <a:r>
              <a:rPr sz="1300" b="0">
                <a:solidFill>
                  <a:srgbClr val="1A2337"/>
                </a:solidFill>
                <a:latin typeface="Calibri"/>
              </a:rPr>
              <a:t>4. Hallway</a:t>
            </a:r>
          </a:p>
        </p:txBody>
      </p:sp>
      <p:sp>
        <p:nvSpPr>
          <p:cNvPr id="27" name="TextBox 26"/>
          <p:cNvSpPr txBox="1"/>
          <p:nvPr/>
        </p:nvSpPr>
        <p:spPr>
          <a:xfrm>
            <a:off x="4416552" y="4251960"/>
            <a:ext cx="3337560" cy="411480"/>
          </a:xfrm>
          <a:prstGeom prst="rect">
            <a:avLst/>
          </a:prstGeom>
          <a:noFill/>
        </p:spPr>
        <p:txBody>
          <a:bodyPr wrap="square">
            <a:spAutoFit/>
          </a:bodyPr>
          <a:lstStyle/>
          <a:p>
            <a:pPr algn="ctr"/>
            <a:r>
              <a:rPr sz="1300" b="0">
                <a:solidFill>
                  <a:srgbClr val="1A2337"/>
                </a:solidFill>
                <a:latin typeface="Calibri"/>
              </a:rPr>
              <a:t>5. Roof</a:t>
            </a:r>
          </a:p>
        </p:txBody>
      </p:sp>
      <p:sp>
        <p:nvSpPr>
          <p:cNvPr id="28" name="TextBox 27"/>
          <p:cNvSpPr txBox="1"/>
          <p:nvPr/>
        </p:nvSpPr>
        <p:spPr>
          <a:xfrm>
            <a:off x="4416552" y="4754880"/>
            <a:ext cx="3337560" cy="411480"/>
          </a:xfrm>
          <a:prstGeom prst="rect">
            <a:avLst/>
          </a:prstGeom>
          <a:noFill/>
        </p:spPr>
        <p:txBody>
          <a:bodyPr wrap="square">
            <a:spAutoFit/>
          </a:bodyPr>
          <a:lstStyle/>
          <a:p>
            <a:pPr algn="ctr"/>
            <a:r>
              <a:rPr sz="1300" b="0">
                <a:solidFill>
                  <a:srgbClr val="1A2337"/>
                </a:solidFill>
                <a:latin typeface="Calibri"/>
              </a:rPr>
              <a:t>6. Garden</a:t>
            </a:r>
          </a:p>
        </p:txBody>
      </p:sp>
      <p:sp>
        <p:nvSpPr>
          <p:cNvPr id="29" name="Rounded Rectangle 28"/>
          <p:cNvSpPr/>
          <p:nvPr/>
        </p:nvSpPr>
        <p:spPr>
          <a:xfrm>
            <a:off x="8119872" y="1691640"/>
            <a:ext cx="370332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19872" y="1828800"/>
            <a:ext cx="3703320" cy="320040"/>
          </a:xfrm>
          <a:prstGeom prst="rect">
            <a:avLst/>
          </a:prstGeom>
          <a:noFill/>
        </p:spPr>
        <p:txBody>
          <a:bodyPr wrap="square">
            <a:spAutoFit/>
          </a:bodyPr>
          <a:lstStyle/>
          <a:p>
            <a:pPr algn="ctr"/>
            <a:r>
              <a:rPr sz="1500" b="1">
                <a:solidFill>
                  <a:srgbClr val="00897B"/>
                </a:solidFill>
                <a:latin typeface="Calibri"/>
              </a:rPr>
              <a:t>Problem</a:t>
            </a:r>
          </a:p>
        </p:txBody>
      </p:sp>
      <p:sp>
        <p:nvSpPr>
          <p:cNvPr id="31" name="TextBox 30"/>
          <p:cNvSpPr txBox="1"/>
          <p:nvPr/>
        </p:nvSpPr>
        <p:spPr>
          <a:xfrm>
            <a:off x="8302752" y="2240280"/>
            <a:ext cx="3337560" cy="411480"/>
          </a:xfrm>
          <a:prstGeom prst="rect">
            <a:avLst/>
          </a:prstGeom>
          <a:noFill/>
        </p:spPr>
        <p:txBody>
          <a:bodyPr wrap="square">
            <a:spAutoFit/>
          </a:bodyPr>
          <a:lstStyle/>
          <a:p>
            <a:pPr algn="ctr"/>
            <a:r>
              <a:rPr sz="1300" b="0">
                <a:solidFill>
                  <a:srgbClr val="1A2337"/>
                </a:solidFill>
                <a:latin typeface="Calibri"/>
              </a:rPr>
              <a:t>1. Lost book</a:t>
            </a:r>
          </a:p>
        </p:txBody>
      </p:sp>
      <p:sp>
        <p:nvSpPr>
          <p:cNvPr id="32" name="TextBox 31"/>
          <p:cNvSpPr txBox="1"/>
          <p:nvPr/>
        </p:nvSpPr>
        <p:spPr>
          <a:xfrm>
            <a:off x="8302752" y="2743200"/>
            <a:ext cx="3337560" cy="411480"/>
          </a:xfrm>
          <a:prstGeom prst="rect">
            <a:avLst/>
          </a:prstGeom>
          <a:noFill/>
        </p:spPr>
        <p:txBody>
          <a:bodyPr wrap="square">
            <a:spAutoFit/>
          </a:bodyPr>
          <a:lstStyle/>
          <a:p>
            <a:pPr algn="ctr"/>
            <a:r>
              <a:rPr sz="1300" b="0">
                <a:solidFill>
                  <a:srgbClr val="1A2337"/>
                </a:solidFill>
                <a:latin typeface="Calibri"/>
              </a:rPr>
              <a:t>2. Locked door</a:t>
            </a:r>
          </a:p>
        </p:txBody>
      </p:sp>
      <p:sp>
        <p:nvSpPr>
          <p:cNvPr id="33" name="TextBox 32"/>
          <p:cNvSpPr txBox="1"/>
          <p:nvPr/>
        </p:nvSpPr>
        <p:spPr>
          <a:xfrm>
            <a:off x="8302752" y="3246120"/>
            <a:ext cx="3337560" cy="411480"/>
          </a:xfrm>
          <a:prstGeom prst="rect">
            <a:avLst/>
          </a:prstGeom>
          <a:noFill/>
        </p:spPr>
        <p:txBody>
          <a:bodyPr wrap="square">
            <a:spAutoFit/>
          </a:bodyPr>
          <a:lstStyle/>
          <a:p>
            <a:pPr algn="ctr"/>
            <a:r>
              <a:rPr sz="1300" b="0">
                <a:solidFill>
                  <a:srgbClr val="1A2337"/>
                </a:solidFill>
                <a:latin typeface="Calibri"/>
              </a:rPr>
              <a:t>3. Strange sound</a:t>
            </a:r>
          </a:p>
        </p:txBody>
      </p:sp>
      <p:sp>
        <p:nvSpPr>
          <p:cNvPr id="34" name="TextBox 33"/>
          <p:cNvSpPr txBox="1"/>
          <p:nvPr/>
        </p:nvSpPr>
        <p:spPr>
          <a:xfrm>
            <a:off x="8302752" y="3749040"/>
            <a:ext cx="3337560" cy="411480"/>
          </a:xfrm>
          <a:prstGeom prst="rect">
            <a:avLst/>
          </a:prstGeom>
          <a:noFill/>
        </p:spPr>
        <p:txBody>
          <a:bodyPr wrap="square">
            <a:spAutoFit/>
          </a:bodyPr>
          <a:lstStyle/>
          <a:p>
            <a:pPr algn="ctr"/>
            <a:r>
              <a:rPr sz="1300" b="0">
                <a:solidFill>
                  <a:srgbClr val="1A2337"/>
                </a:solidFill>
                <a:latin typeface="Calibri"/>
              </a:rPr>
              <a:t>4. Missing key</a:t>
            </a:r>
          </a:p>
        </p:txBody>
      </p:sp>
      <p:sp>
        <p:nvSpPr>
          <p:cNvPr id="35" name="TextBox 34"/>
          <p:cNvSpPr txBox="1"/>
          <p:nvPr/>
        </p:nvSpPr>
        <p:spPr>
          <a:xfrm>
            <a:off x="8302752" y="4251960"/>
            <a:ext cx="3337560" cy="411480"/>
          </a:xfrm>
          <a:prstGeom prst="rect">
            <a:avLst/>
          </a:prstGeom>
          <a:noFill/>
        </p:spPr>
        <p:txBody>
          <a:bodyPr wrap="square">
            <a:spAutoFit/>
          </a:bodyPr>
          <a:lstStyle/>
          <a:p>
            <a:pPr algn="ctr"/>
            <a:r>
              <a:rPr sz="1300" b="0">
                <a:solidFill>
                  <a:srgbClr val="1A2337"/>
                </a:solidFill>
                <a:latin typeface="Calibri"/>
              </a:rPr>
              <a:t>5. Darkness</a:t>
            </a:r>
          </a:p>
        </p:txBody>
      </p:sp>
      <p:sp>
        <p:nvSpPr>
          <p:cNvPr id="36" name="TextBox 35"/>
          <p:cNvSpPr txBox="1"/>
          <p:nvPr/>
        </p:nvSpPr>
        <p:spPr>
          <a:xfrm>
            <a:off x="8302752" y="4754880"/>
            <a:ext cx="3337560" cy="411480"/>
          </a:xfrm>
          <a:prstGeom prst="rect">
            <a:avLst/>
          </a:prstGeom>
          <a:noFill/>
        </p:spPr>
        <p:txBody>
          <a:bodyPr wrap="square">
            <a:spAutoFit/>
          </a:bodyPr>
          <a:lstStyle/>
          <a:p>
            <a:pPr algn="ctr"/>
            <a:r>
              <a:rPr sz="1300" b="0">
                <a:solidFill>
                  <a:srgbClr val="1A2337"/>
                </a:solidFill>
                <a:latin typeface="Calibri"/>
              </a:rPr>
              <a:t>6. Note clue</a:t>
            </a:r>
          </a:p>
        </p:txBody>
      </p:sp>
      <p:sp>
        <p:nvSpPr>
          <p:cNvPr id="37" name="Rounded Rectangle 36"/>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QUIZ</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Games</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Grammar Quiz ⚡ Lightning Round</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Games</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18/22</a:t>
            </a:r>
          </a:p>
        </p:txBody>
      </p:sp>
      <p:sp>
        <p:nvSpPr>
          <p:cNvPr id="12" name="Rounded Rectangle 11"/>
          <p:cNvSpPr/>
          <p:nvPr/>
        </p:nvSpPr>
        <p:spPr>
          <a:xfrm>
            <a:off x="347472" y="1298448"/>
            <a:ext cx="11430000" cy="841248"/>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527048"/>
            <a:ext cx="10972800" cy="411480"/>
          </a:xfrm>
          <a:prstGeom prst="rect">
            <a:avLst/>
          </a:prstGeom>
          <a:noFill/>
        </p:spPr>
        <p:txBody>
          <a:bodyPr wrap="square">
            <a:spAutoFit/>
          </a:bodyPr>
          <a:lstStyle/>
          <a:p>
            <a:pPr algn="l"/>
            <a:r>
              <a:rPr sz="1500" b="1">
                <a:solidFill>
                  <a:srgbClr val="FFFFFF"/>
                </a:solidFill>
                <a:latin typeface="Calibri"/>
              </a:rPr>
              <a:t>Q1: Past Perfect form? had + ___</a:t>
            </a:r>
          </a:p>
        </p:txBody>
      </p:sp>
      <p:sp>
        <p:nvSpPr>
          <p:cNvPr id="14" name="Rounded Rectangle 13"/>
          <p:cNvSpPr/>
          <p:nvPr/>
        </p:nvSpPr>
        <p:spPr>
          <a:xfrm>
            <a:off x="347472" y="2231136"/>
            <a:ext cx="11430000" cy="841248"/>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459736"/>
            <a:ext cx="10972800" cy="411480"/>
          </a:xfrm>
          <a:prstGeom prst="rect">
            <a:avLst/>
          </a:prstGeom>
          <a:noFill/>
        </p:spPr>
        <p:txBody>
          <a:bodyPr wrap="square">
            <a:spAutoFit/>
          </a:bodyPr>
          <a:lstStyle/>
          <a:p>
            <a:pPr algn="l"/>
            <a:r>
              <a:rPr sz="1500" b="1">
                <a:solidFill>
                  <a:srgbClr val="FFFFFF"/>
                </a:solidFill>
                <a:latin typeface="Calibri"/>
              </a:rPr>
              <a:t>Q2: Signal word? before / quickly / very</a:t>
            </a:r>
          </a:p>
        </p:txBody>
      </p:sp>
      <p:sp>
        <p:nvSpPr>
          <p:cNvPr id="16" name="Rounded Rectangle 15"/>
          <p:cNvSpPr/>
          <p:nvPr/>
        </p:nvSpPr>
        <p:spPr>
          <a:xfrm>
            <a:off x="347472" y="3163824"/>
            <a:ext cx="11430000" cy="841248"/>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92424"/>
            <a:ext cx="10972800" cy="411480"/>
          </a:xfrm>
          <a:prstGeom prst="rect">
            <a:avLst/>
          </a:prstGeom>
          <a:noFill/>
        </p:spPr>
        <p:txBody>
          <a:bodyPr wrap="square">
            <a:spAutoFit/>
          </a:bodyPr>
          <a:lstStyle/>
          <a:p>
            <a:pPr algn="l"/>
            <a:r>
              <a:rPr sz="1500" b="1">
                <a:solidFill>
                  <a:srgbClr val="FFFFFF"/>
                </a:solidFill>
                <a:latin typeface="Calibri"/>
              </a:rPr>
              <a:t>Q3: Fix: She had ate lunch.</a:t>
            </a:r>
          </a:p>
        </p:txBody>
      </p:sp>
      <p:sp>
        <p:nvSpPr>
          <p:cNvPr id="18" name="Rounded Rectangle 17"/>
          <p:cNvSpPr/>
          <p:nvPr/>
        </p:nvSpPr>
        <p:spPr>
          <a:xfrm>
            <a:off x="347472" y="4096512"/>
            <a:ext cx="11430000" cy="841248"/>
          </a:xfrm>
          <a:prstGeom prst="round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325112"/>
            <a:ext cx="10972800" cy="411480"/>
          </a:xfrm>
          <a:prstGeom prst="rect">
            <a:avLst/>
          </a:prstGeom>
          <a:noFill/>
        </p:spPr>
        <p:txBody>
          <a:bodyPr wrap="square">
            <a:spAutoFit/>
          </a:bodyPr>
          <a:lstStyle/>
          <a:p>
            <a:pPr algn="l"/>
            <a:r>
              <a:rPr sz="1500" b="1">
                <a:solidFill>
                  <a:srgbClr val="FFFFFF"/>
                </a:solidFill>
                <a:latin typeface="Calibri"/>
              </a:rPr>
              <a:t>Q4: Earlier event? I had finished / I finished first?</a:t>
            </a:r>
          </a:p>
        </p:txBody>
      </p:sp>
      <p:sp>
        <p:nvSpPr>
          <p:cNvPr id="20" name="Rounded Rectangle 19"/>
          <p:cNvSpPr/>
          <p:nvPr/>
        </p:nvSpPr>
        <p:spPr>
          <a:xfrm>
            <a:off x="347472" y="5029200"/>
            <a:ext cx="11430000" cy="841248"/>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5257800"/>
            <a:ext cx="10972800" cy="411480"/>
          </a:xfrm>
          <a:prstGeom prst="rect">
            <a:avLst/>
          </a:prstGeom>
          <a:noFill/>
        </p:spPr>
        <p:txBody>
          <a:bodyPr wrap="square">
            <a:spAutoFit/>
          </a:bodyPr>
          <a:lstStyle/>
          <a:p>
            <a:pPr algn="l"/>
            <a:r>
              <a:rPr sz="1500" b="1">
                <a:solidFill>
                  <a:srgbClr val="FFFFFF"/>
                </a:solidFill>
                <a:latin typeface="Calibri"/>
              </a:rPr>
              <a:t>Q5: Choose: By the time he arrived, we (leave / had left).</a:t>
            </a:r>
          </a:p>
        </p:txBody>
      </p:sp>
      <p:sp>
        <p:nvSpPr>
          <p:cNvPr id="22" name="Rounded Rectangle 21"/>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Games</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Escape Room Challenge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Games</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19/22</a:t>
            </a:r>
          </a:p>
        </p:txBody>
      </p:sp>
      <p:sp>
        <p:nvSpPr>
          <p:cNvPr id="12" name="Rounded Rectangle 11"/>
          <p:cNvSpPr/>
          <p:nvPr/>
        </p:nvSpPr>
        <p:spPr>
          <a:xfrm>
            <a:off x="347472" y="1298448"/>
            <a:ext cx="1143000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527048"/>
            <a:ext cx="10972800" cy="411480"/>
          </a:xfrm>
          <a:prstGeom prst="rect">
            <a:avLst/>
          </a:prstGeom>
          <a:noFill/>
        </p:spPr>
        <p:txBody>
          <a:bodyPr wrap="square">
            <a:spAutoFit/>
          </a:bodyPr>
          <a:lstStyle/>
          <a:p>
            <a:pPr algn="l"/>
            <a:r>
              <a:rPr sz="1400" b="0">
                <a:solidFill>
                  <a:srgbClr val="1A2337"/>
                </a:solidFill>
                <a:latin typeface="Calibri"/>
              </a:rPr>
              <a:t>Clue 1 Unscramble: tsap erfectf → past perfect</a:t>
            </a:r>
          </a:p>
        </p:txBody>
      </p:sp>
      <p:sp>
        <p:nvSpPr>
          <p:cNvPr id="14" name="Rounded Rectangle 13"/>
          <p:cNvSpPr/>
          <p:nvPr/>
        </p:nvSpPr>
        <p:spPr>
          <a:xfrm>
            <a:off x="347472" y="2231136"/>
            <a:ext cx="11430000" cy="841248"/>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459736"/>
            <a:ext cx="10972800" cy="411480"/>
          </a:xfrm>
          <a:prstGeom prst="rect">
            <a:avLst/>
          </a:prstGeom>
          <a:noFill/>
        </p:spPr>
        <p:txBody>
          <a:bodyPr wrap="square">
            <a:spAutoFit/>
          </a:bodyPr>
          <a:lstStyle/>
          <a:p>
            <a:pPr algn="l"/>
            <a:r>
              <a:rPr sz="1400" b="0">
                <a:solidFill>
                  <a:srgbClr val="1A2337"/>
                </a:solidFill>
                <a:latin typeface="Calibri"/>
              </a:rPr>
              <a:t>Clue 2 Fix: had went → had gone</a:t>
            </a:r>
          </a:p>
        </p:txBody>
      </p:sp>
      <p:sp>
        <p:nvSpPr>
          <p:cNvPr id="16" name="Rounded Rectangle 15"/>
          <p:cNvSpPr/>
          <p:nvPr/>
        </p:nvSpPr>
        <p:spPr>
          <a:xfrm>
            <a:off x="347472" y="3163824"/>
            <a:ext cx="1143000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92424"/>
            <a:ext cx="10972800" cy="411480"/>
          </a:xfrm>
          <a:prstGeom prst="rect">
            <a:avLst/>
          </a:prstGeom>
          <a:noFill/>
        </p:spPr>
        <p:txBody>
          <a:bodyPr wrap="square">
            <a:spAutoFit/>
          </a:bodyPr>
          <a:lstStyle/>
          <a:p>
            <a:pPr algn="l"/>
            <a:r>
              <a:rPr sz="1400" b="0">
                <a:solidFill>
                  <a:srgbClr val="1A2337"/>
                </a:solidFill>
                <a:latin typeface="Calibri"/>
              </a:rPr>
              <a:t>Clue 3 Vocab: synonym for adventure → quest/journey</a:t>
            </a:r>
          </a:p>
        </p:txBody>
      </p:sp>
      <p:sp>
        <p:nvSpPr>
          <p:cNvPr id="18" name="Rounded Rectangle 17"/>
          <p:cNvSpPr/>
          <p:nvPr/>
        </p:nvSpPr>
        <p:spPr>
          <a:xfrm>
            <a:off x="347472" y="4096512"/>
            <a:ext cx="11430000" cy="841248"/>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325112"/>
            <a:ext cx="10972800" cy="411480"/>
          </a:xfrm>
          <a:prstGeom prst="rect">
            <a:avLst/>
          </a:prstGeom>
          <a:noFill/>
        </p:spPr>
        <p:txBody>
          <a:bodyPr wrap="square">
            <a:spAutoFit/>
          </a:bodyPr>
          <a:lstStyle/>
          <a:p>
            <a:pPr algn="l"/>
            <a:r>
              <a:rPr sz="1400" b="0">
                <a:solidFill>
                  <a:srgbClr val="1A2337"/>
                </a:solidFill>
                <a:latin typeface="Calibri"/>
              </a:rPr>
              <a:t>Clue 4 Past Perfect: I ___ (finish) before the bell.</a:t>
            </a:r>
          </a:p>
        </p:txBody>
      </p:sp>
      <p:sp>
        <p:nvSpPr>
          <p:cNvPr id="20" name="Rounded Rectangle 19"/>
          <p:cNvSpPr/>
          <p:nvPr/>
        </p:nvSpPr>
        <p:spPr>
          <a:xfrm>
            <a:off x="347472" y="5029200"/>
            <a:ext cx="1143000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5257800"/>
            <a:ext cx="10972800" cy="411480"/>
          </a:xfrm>
          <a:prstGeom prst="rect">
            <a:avLst/>
          </a:prstGeom>
          <a:noFill/>
        </p:spPr>
        <p:txBody>
          <a:bodyPr wrap="square">
            <a:spAutoFit/>
          </a:bodyPr>
          <a:lstStyle/>
          <a:p>
            <a:pPr algn="l"/>
            <a:r>
              <a:rPr sz="1400" b="0">
                <a:solidFill>
                  <a:srgbClr val="1A2337"/>
                </a:solidFill>
                <a:latin typeface="Calibri"/>
              </a:rPr>
              <a:t>Clue 5 Reading: Who is Riley's friend?</a:t>
            </a:r>
          </a:p>
        </p:txBody>
      </p:sp>
      <p:sp>
        <p:nvSpPr>
          <p:cNvPr id="22" name="TextBox 21"/>
          <p:cNvSpPr txBox="1"/>
          <p:nvPr/>
        </p:nvSpPr>
        <p:spPr>
          <a:xfrm>
            <a:off x="347472" y="5806440"/>
            <a:ext cx="11430000" cy="320040"/>
          </a:xfrm>
          <a:prstGeom prst="rect">
            <a:avLst/>
          </a:prstGeom>
          <a:noFill/>
        </p:spPr>
        <p:txBody>
          <a:bodyPr wrap="square">
            <a:spAutoFit/>
          </a:bodyPr>
          <a:lstStyle/>
          <a:p>
            <a:pPr algn="ctr"/>
            <a:r>
              <a:rPr sz="1400" b="1">
                <a:solidFill>
                  <a:srgbClr val="FFB300"/>
                </a:solidFill>
                <a:latin typeface="Calibri"/>
              </a:rPr>
              <a:t>Unlock the treasure when all 5 are solved! 🎁</a:t>
            </a:r>
          </a:p>
        </p:txBody>
      </p:sp>
      <p:sp>
        <p:nvSpPr>
          <p:cNvPr id="23" name="Rounded Rectangle 22"/>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RECAP</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Recap 5 min</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Recap: You Teach the Teacher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Recap 5 min</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20/22</a:t>
            </a:r>
          </a:p>
        </p:txBody>
      </p:sp>
      <p:sp>
        <p:nvSpPr>
          <p:cNvPr id="12" name="TextBox 11"/>
          <p:cNvSpPr txBox="1"/>
          <p:nvPr/>
        </p:nvSpPr>
        <p:spPr>
          <a:xfrm>
            <a:off x="411480" y="1325880"/>
            <a:ext cx="11247120" cy="4389120"/>
          </a:xfrm>
          <a:prstGeom prst="rect">
            <a:avLst/>
          </a:prstGeom>
          <a:noFill/>
        </p:spPr>
        <p:txBody>
          <a:bodyPr wrap="square">
            <a:spAutoFit/>
          </a:bodyPr>
          <a:lstStyle/>
          <a:p>
            <a:pPr>
              <a:spcAft>
                <a:spcPts val="1200"/>
              </a:spcAft>
            </a:pPr>
            <a:r>
              <a:rPr sz="1700" b="0">
                <a:solidFill>
                  <a:srgbClr val="1A2337"/>
                </a:solidFill>
                <a:latin typeface="Calibri"/>
              </a:rPr>
              <a:t>•  Explain Past Perfect in one sentence</a:t>
            </a:r>
          </a:p>
          <a:p>
            <a:pPr>
              <a:spcAft>
                <a:spcPts val="1200"/>
              </a:spcAft>
            </a:pPr>
            <a:r>
              <a:rPr sz="1700" b="0">
                <a:solidFill>
                  <a:srgbClr val="1A2337"/>
                </a:solidFill>
                <a:latin typeface="Calibri"/>
              </a:rPr>
              <a:t>•  Give the structure (had + ___)</a:t>
            </a:r>
          </a:p>
          <a:p>
            <a:pPr>
              <a:spcAft>
                <a:spcPts val="1200"/>
              </a:spcAft>
            </a:pPr>
            <a:r>
              <a:rPr sz="1700" b="0">
                <a:solidFill>
                  <a:srgbClr val="1A2337"/>
                </a:solidFill>
                <a:latin typeface="Calibri"/>
              </a:rPr>
              <a:t>•  Name 2 signal words</a:t>
            </a:r>
          </a:p>
          <a:p>
            <a:pPr>
              <a:spcAft>
                <a:spcPts val="1200"/>
              </a:spcAft>
            </a:pPr>
            <a:r>
              <a:rPr sz="1700" b="0">
                <a:solidFill>
                  <a:srgbClr val="1A2337"/>
                </a:solidFill>
                <a:latin typeface="Calibri"/>
              </a:rPr>
              <a:t>•  Summarize The Secret Door in 2 sentences</a:t>
            </a:r>
          </a:p>
          <a:p>
            <a:pPr>
              <a:spcAft>
                <a:spcPts val="1200"/>
              </a:spcAft>
            </a:pPr>
            <a:r>
              <a:rPr sz="1700" b="0">
                <a:solidFill>
                  <a:srgbClr val="1A2337"/>
                </a:solidFill>
                <a:latin typeface="Calibri"/>
              </a:rPr>
              <a:t>•  Share your favorite game today</a:t>
            </a:r>
          </a:p>
          <a:p>
            <a:pPr>
              <a:spcAft>
                <a:spcPts val="1200"/>
              </a:spcAft>
            </a:pPr>
            <a:r>
              <a:rPr sz="1700" b="0">
                <a:solidFill>
                  <a:srgbClr val="1A2337"/>
                </a:solidFill>
                <a:latin typeface="Calibri"/>
              </a:rPr>
              <a:t>•  What did you learn about yourself as a reader/writer?</a:t>
            </a:r>
          </a:p>
        </p:txBody>
      </p:sp>
      <p:sp>
        <p:nvSpPr>
          <p:cNvPr id="13" name="Rounded Rectangle 12"/>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56032"/>
            <a:ext cx="2560320" cy="329184"/>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560320" cy="310896"/>
          </a:xfrm>
          <a:prstGeom prst="rect">
            <a:avLst/>
          </a:prstGeom>
          <a:noFill/>
        </p:spPr>
        <p:txBody>
          <a:bodyPr wrap="square">
            <a:spAutoFit/>
          </a:bodyPr>
          <a:lstStyle/>
          <a:p>
            <a:pPr algn="ctr"/>
            <a:r>
              <a:rPr sz="1100" b="1">
                <a:solidFill>
                  <a:srgbClr val="FFFFFF"/>
                </a:solidFill>
                <a:latin typeface="Calibri"/>
              </a:rPr>
              <a:t>HOMEWORK</a:t>
            </a:r>
          </a:p>
        </p:txBody>
      </p:sp>
      <p:sp>
        <p:nvSpPr>
          <p:cNvPr id="6" name="Rounded Rectangle 5"/>
          <p:cNvSpPr/>
          <p:nvPr/>
        </p:nvSpPr>
        <p:spPr>
          <a:xfrm>
            <a:off x="9555480" y="256032"/>
            <a:ext cx="228600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After class</a:t>
            </a:r>
          </a:p>
        </p:txBody>
      </p:sp>
      <p:sp>
        <p:nvSpPr>
          <p:cNvPr id="8" name="TextBox 7"/>
          <p:cNvSpPr txBox="1"/>
          <p:nvPr/>
        </p:nvSpPr>
        <p:spPr>
          <a:xfrm>
            <a:off x="347472" y="713232"/>
            <a:ext cx="11430000" cy="502920"/>
          </a:xfrm>
          <a:prstGeom prst="rect">
            <a:avLst/>
          </a:prstGeom>
          <a:noFill/>
        </p:spPr>
        <p:txBody>
          <a:bodyPr wrap="square">
            <a:spAutoFit/>
          </a:bodyPr>
          <a:lstStyle/>
          <a:p>
            <a:pPr algn="l"/>
            <a:r>
              <a:rPr sz="2600" b="1">
                <a:solidFill>
                  <a:srgbClr val="0D47A1"/>
                </a:solidFill>
                <a:latin typeface="Georgia"/>
              </a:rPr>
              <a:t>Homework Mission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After class</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21/22</a:t>
            </a:r>
          </a:p>
        </p:txBody>
      </p:sp>
      <p:sp>
        <p:nvSpPr>
          <p:cNvPr id="12" name="Rounded Rectangle 11"/>
          <p:cNvSpPr/>
          <p:nvPr/>
        </p:nvSpPr>
        <p:spPr>
          <a:xfrm>
            <a:off x="914400" y="1325880"/>
            <a:ext cx="10332720" cy="457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1554480"/>
            <a:ext cx="9875520" cy="411480"/>
          </a:xfrm>
          <a:prstGeom prst="rect">
            <a:avLst/>
          </a:prstGeom>
          <a:noFill/>
        </p:spPr>
        <p:txBody>
          <a:bodyPr wrap="square">
            <a:spAutoFit/>
          </a:bodyPr>
          <a:lstStyle/>
          <a:p>
            <a:pPr algn="ctr"/>
            <a:r>
              <a:rPr sz="2000" b="1">
                <a:solidFill>
                  <a:srgbClr val="0D47A1"/>
                </a:solidFill>
                <a:latin typeface="Calibri"/>
              </a:rPr>
              <a:t>Write a short story (120+ words)</a:t>
            </a:r>
          </a:p>
        </p:txBody>
      </p:sp>
      <p:sp>
        <p:nvSpPr>
          <p:cNvPr id="14" name="TextBox 13"/>
          <p:cNvSpPr txBox="1"/>
          <p:nvPr/>
        </p:nvSpPr>
        <p:spPr>
          <a:xfrm>
            <a:off x="1143000" y="2148840"/>
            <a:ext cx="9875520" cy="3474720"/>
          </a:xfrm>
          <a:prstGeom prst="rect">
            <a:avLst/>
          </a:prstGeom>
          <a:noFill/>
        </p:spPr>
        <p:txBody>
          <a:bodyPr wrap="square">
            <a:spAutoFit/>
          </a:bodyPr>
          <a:lstStyle/>
          <a:p>
            <a:pPr>
              <a:spcAft>
                <a:spcPts val="1200"/>
              </a:spcAft>
            </a:pPr>
            <a:r>
              <a:rPr sz="1600" b="0">
                <a:solidFill>
                  <a:srgbClr val="1A2337"/>
                </a:solidFill>
                <a:latin typeface="Calibri"/>
              </a:rPr>
              <a:t>•  Include at least 5 Past Perfect sentences</a:t>
            </a:r>
          </a:p>
          <a:p>
            <a:pPr>
              <a:spcAft>
                <a:spcPts val="1200"/>
              </a:spcAft>
            </a:pPr>
            <a:r>
              <a:rPr sz="1600" b="0">
                <a:solidFill>
                  <a:srgbClr val="1A2337"/>
                </a:solidFill>
                <a:latin typeface="Calibri"/>
              </a:rPr>
              <a:t>•  Use at least 5 vocabulary words from today</a:t>
            </a:r>
          </a:p>
          <a:p>
            <a:pPr>
              <a:spcAft>
                <a:spcPts val="1200"/>
              </a:spcAft>
            </a:pPr>
            <a:r>
              <a:rPr sz="1600" b="0">
                <a:solidFill>
                  <a:srgbClr val="1A2337"/>
                </a:solidFill>
                <a:latin typeface="Calibri"/>
              </a:rPr>
              <a:t>•  Include beginning, middle, ending</a:t>
            </a:r>
          </a:p>
          <a:p>
            <a:pPr>
              <a:spcAft>
                <a:spcPts val="1200"/>
              </a:spcAft>
            </a:pPr>
            <a:r>
              <a:rPr sz="1600" b="0">
                <a:solidFill>
                  <a:srgbClr val="1A2337"/>
                </a:solidFill>
                <a:latin typeface="Calibri"/>
              </a:rPr>
              <a:t>•  Optional: draw your secret door</a:t>
            </a:r>
          </a:p>
          <a:p>
            <a:pPr>
              <a:spcAft>
                <a:spcPts val="1200"/>
              </a:spcAft>
            </a:pPr>
            <a:r>
              <a:rPr sz="1600" b="0">
                <a:solidFill>
                  <a:srgbClr val="1A2337"/>
                </a:solidFill>
                <a:latin typeface="Calibri"/>
              </a:rPr>
              <a:t>•  Read aloud to someone at home</a:t>
            </a:r>
          </a:p>
        </p:txBody>
      </p:sp>
      <p:sp>
        <p:nvSpPr>
          <p:cNvPr id="15" name="Rounded Rectangle 14"/>
          <p:cNvSpPr/>
          <p:nvPr/>
        </p:nvSpPr>
        <p:spPr>
          <a:xfrm>
            <a:off x="9281160" y="5989320"/>
            <a:ext cx="2697480" cy="4114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60" y="6016752"/>
            <a:ext cx="2697480" cy="365760"/>
          </a:xfrm>
          <a:prstGeom prst="rect">
            <a:avLst/>
          </a:prstGeom>
          <a:noFill/>
        </p:spPr>
        <p:txBody>
          <a:bodyPr wrap="square">
            <a:spAutoFit/>
          </a:bodyPr>
          <a:lstStyle/>
          <a:p>
            <a:pPr algn="ctr"/>
            <a:r>
              <a:rPr sz="1100" b="1">
                <a:solidFill>
                  <a:srgbClr val="0D47A1"/>
                </a:solidFill>
                <a:latin typeface="Calibri"/>
              </a:rPr>
              <a:t>Continue Adventure →</a:t>
            </a:r>
          </a:p>
        </p:txBody>
      </p:sp>
    </p:spTree>
  </p:cSld>
  <p:clrMapOvr>
    <a:masterClrMapping/>
  </p:clrMapOvr>
  <p:transition spd="med"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828800" y="1051560"/>
            <a:ext cx="8503920" cy="4754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03120" y="1554480"/>
            <a:ext cx="7955279" cy="457200"/>
          </a:xfrm>
          <a:prstGeom prst="rect">
            <a:avLst/>
          </a:prstGeom>
          <a:noFill/>
        </p:spPr>
        <p:txBody>
          <a:bodyPr wrap="square">
            <a:spAutoFit/>
          </a:bodyPr>
          <a:lstStyle/>
          <a:p>
            <a:pPr algn="ctr"/>
            <a:r>
              <a:rPr sz="3400" b="1">
                <a:solidFill>
                  <a:srgbClr val="0D47A1"/>
                </a:solidFill>
                <a:latin typeface="Georgia"/>
              </a:rPr>
              <a:t>🎉 Excellent Work! 🎉</a:t>
            </a:r>
          </a:p>
        </p:txBody>
      </p:sp>
      <p:sp>
        <p:nvSpPr>
          <p:cNvPr id="6" name="TextBox 5"/>
          <p:cNvSpPr txBox="1"/>
          <p:nvPr/>
        </p:nvSpPr>
        <p:spPr>
          <a:xfrm>
            <a:off x="2103120" y="2377440"/>
            <a:ext cx="7955279" cy="1371600"/>
          </a:xfrm>
          <a:prstGeom prst="rect">
            <a:avLst/>
          </a:prstGeom>
          <a:noFill/>
        </p:spPr>
        <p:txBody>
          <a:bodyPr wrap="square">
            <a:spAutoFit/>
          </a:bodyPr>
          <a:lstStyle/>
          <a:p>
            <a:pPr algn="ctr"/>
            <a:r>
              <a:rPr sz="1800" b="0">
                <a:solidFill>
                  <a:srgbClr val="1A2337"/>
                </a:solidFill>
                <a:latin typeface="Calibri"/>
              </a:rPr>
              <a:t>You survived the grammar puzzles,
solved the library mystery,
and leveled up your English adventure skills!</a:t>
            </a:r>
          </a:p>
        </p:txBody>
      </p:sp>
      <p:sp>
        <p:nvSpPr>
          <p:cNvPr id="7" name="TextBox 6"/>
          <p:cNvSpPr txBox="1"/>
          <p:nvPr/>
        </p:nvSpPr>
        <p:spPr>
          <a:xfrm>
            <a:off x="2103120" y="4023360"/>
            <a:ext cx="7955279" cy="411480"/>
          </a:xfrm>
          <a:prstGeom prst="rect">
            <a:avLst/>
          </a:prstGeom>
          <a:noFill/>
        </p:spPr>
        <p:txBody>
          <a:bodyPr wrap="square">
            <a:spAutoFit/>
          </a:bodyPr>
          <a:lstStyle/>
          <a:p>
            <a:pPr algn="ctr"/>
            <a:r>
              <a:rPr sz="1500" b="1">
                <a:solidFill>
                  <a:srgbClr val="00897B"/>
                </a:solidFill>
                <a:latin typeface="Calibri"/>
              </a:rPr>
              <a:t>Grade 7 English Adventure — Complete</a:t>
            </a:r>
          </a:p>
        </p:txBody>
      </p:sp>
      <p:sp>
        <p:nvSpPr>
          <p:cNvPr id="8" name="TextBox 7"/>
          <p:cNvSpPr txBox="1"/>
          <p:nvPr/>
        </p:nvSpPr>
        <p:spPr>
          <a:xfrm>
            <a:off x="2103120" y="4572000"/>
            <a:ext cx="7955279" cy="365760"/>
          </a:xfrm>
          <a:prstGeom prst="rect">
            <a:avLst/>
          </a:prstGeom>
          <a:noFill/>
        </p:spPr>
        <p:txBody>
          <a:bodyPr wrap="square">
            <a:spAutoFit/>
          </a:bodyPr>
          <a:lstStyle/>
          <a:p>
            <a:pPr algn="ctr"/>
            <a:r>
              <a:rPr sz="1600" b="0">
                <a:solidFill>
                  <a:srgbClr val="FF7043"/>
                </a:solidFill>
                <a:latin typeface="Calibri"/>
              </a:rPr>
              <a:t>See you on the next quest! 📚🗝️</a:t>
            </a:r>
          </a:p>
        </p:txBody>
      </p:sp>
      <p:sp>
        <p:nvSpPr>
          <p:cNvPr id="9" name="Rectangle 8"/>
          <p:cNvSpPr/>
          <p:nvPr/>
        </p:nvSpPr>
        <p:spPr>
          <a:xfrm>
            <a:off x="0" y="6510528"/>
            <a:ext cx="12191695" cy="34747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515600" cy="274320"/>
          </a:xfrm>
          <a:prstGeom prst="rect">
            <a:avLst/>
          </a:prstGeom>
          <a:noFill/>
        </p:spPr>
        <p:txBody>
          <a:bodyPr wrap="square">
            <a:spAutoFit/>
          </a:bodyPr>
          <a:lstStyle/>
          <a:p>
            <a:pPr algn="l"/>
            <a:r>
              <a:rPr sz="1000" b="0">
                <a:solidFill>
                  <a:srgbClr val="FFFFFF"/>
                </a:solidFill>
                <a:latin typeface="Calibri"/>
              </a:rPr>
              <a:t>Grade 7 English Adventure  |  60 min  |  Past Perfect  |  Celebrate!</a:t>
            </a:r>
          </a:p>
        </p:txBody>
      </p:sp>
      <p:sp>
        <p:nvSpPr>
          <p:cNvPr id="11" name="TextBox 10"/>
          <p:cNvSpPr txBox="1"/>
          <p:nvPr/>
        </p:nvSpPr>
        <p:spPr>
          <a:xfrm>
            <a:off x="10972800" y="6537960"/>
            <a:ext cx="1005840" cy="274320"/>
          </a:xfrm>
          <a:prstGeom prst="rect">
            <a:avLst/>
          </a:prstGeom>
          <a:noFill/>
        </p:spPr>
        <p:txBody>
          <a:bodyPr wrap="square">
            <a:spAutoFit/>
          </a:bodyPr>
          <a:lstStyle/>
          <a:p>
            <a:pPr algn="r"/>
            <a:r>
              <a:rPr sz="1000" b="0">
                <a:solidFill>
                  <a:srgbClr val="FFFFFF"/>
                </a:solidFill>
                <a:latin typeface="Calibri"/>
              </a:rPr>
              <a:t>22/22</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