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685800"/>
            <a:ext cx="731520" cy="731520"/>
          </a:xfrm>
          <a:prstGeom prst="ellipse">
            <a:avLst/>
          </a:prstGeom>
          <a:solidFill>
            <a:srgbClr val="2E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7080" y="731520"/>
            <a:ext cx="731520" cy="731520"/>
          </a:xfrm>
          <a:prstGeom prst="ellipse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5349240"/>
            <a:ext cx="731520" cy="731520"/>
          </a:xfrm>
          <a:prstGeom prst="ellipse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1360" y="5303520"/>
            <a:ext cx="731520" cy="731520"/>
          </a:xfrm>
          <a:prstGeom prst="ellipse">
            <a:avLst/>
          </a:prstGeom>
          <a:solidFill>
            <a:srgbClr val="F2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Georgia"/>
              </a:rPr>
              <a:t>Welcome, Reading Explorer!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2F3FD"/>
                </a:solidFill>
                <a:latin typeface="Calibri"/>
              </a:rPr>
              <a:t>The Bear's Reading Adventure  •  Grade 2  •  90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3703320"/>
            <a:ext cx="5760720" cy="1143000"/>
          </a:xfrm>
          <a:prstGeom prst="roundRect">
            <a:avLst/>
          </a:prstGeom>
          <a:solidFill>
            <a:srgbClr val="2E7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39319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Ben the Bear needs a reading buddy.
Today, that's YOU! 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C42E"/>
                </a:solidFill>
                <a:latin typeface="Calibri"/>
              </a:rPr>
              <a:t>🔤 Sounds  →  🧩 Words  →  📖 Sentences  →  📚 A 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19088"/>
            <a:ext cx="348334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Welcome  |  0–5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 / 35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F2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🗺️ Today's Mission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96668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Mission  |  0–5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463040"/>
            <a:ext cx="27432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63040" y="1645920"/>
            <a:ext cx="640080" cy="640080"/>
          </a:xfrm>
          <a:prstGeom prst="ellipse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174650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2395728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Letter Sounds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2944368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A7788"/>
                </a:solidFill>
                <a:latin typeface="Calibri"/>
              </a:rPr>
              <a:t>5–15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9272" y="1463040"/>
            <a:ext cx="27432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70832" y="1645920"/>
            <a:ext cx="640080" cy="640080"/>
          </a:xfrm>
          <a:prstGeom prst="ellipse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174650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395728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Blending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944368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A7788"/>
                </a:solidFill>
                <a:latin typeface="Calibri"/>
              </a:rPr>
              <a:t>15–25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7064" y="1463040"/>
            <a:ext cx="27432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78624" y="1645920"/>
            <a:ext cx="640080" cy="640080"/>
          </a:xfrm>
          <a:prstGeom prst="ellipse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78624" y="174650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2395728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Feed the Bear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2944368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A7788"/>
                </a:solidFill>
                <a:latin typeface="Calibri"/>
              </a:rPr>
              <a:t>25–35 min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4856" y="1463040"/>
            <a:ext cx="27432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6416" y="1645920"/>
            <a:ext cx="640080" cy="640080"/>
          </a:xfrm>
          <a:prstGeom prst="ellipse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86416" y="174650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2395728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Sight Words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4584" y="2944368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A7788"/>
                </a:solidFill>
                <a:latin typeface="Calibri"/>
              </a:rPr>
              <a:t>35–45 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3657600"/>
            <a:ext cx="27432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463040" y="3840480"/>
            <a:ext cx="640080" cy="640080"/>
          </a:xfrm>
          <a:prstGeom prst="ellipse">
            <a:avLst/>
          </a:prstGeom>
          <a:solidFill>
            <a:srgbClr val="2E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63040" y="394106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" y="4590288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Sentences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" y="5138928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A7788"/>
                </a:solidFill>
                <a:latin typeface="Calibri"/>
              </a:rPr>
              <a:t>50–68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19272" y="3657600"/>
            <a:ext cx="27432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70832" y="3840480"/>
            <a:ext cx="640080" cy="640080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0832" y="394106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4590288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Ben's Story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0" y="5138928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A7788"/>
                </a:solidFill>
                <a:latin typeface="Calibri"/>
              </a:rPr>
              <a:t>68–84 min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7064" y="3657600"/>
            <a:ext cx="27432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278624" y="3840480"/>
            <a:ext cx="640080" cy="640080"/>
          </a:xfrm>
          <a:prstGeom prst="ellipse">
            <a:avLst/>
          </a:prstGeom>
          <a:solidFill>
            <a:srgbClr val="F2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78624" y="394106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6792" y="4590288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Big Challenge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6792" y="5138928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A7788"/>
                </a:solidFill>
                <a:latin typeface="Calibri"/>
              </a:rPr>
              <a:t>84–87 min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34856" y="3657600"/>
            <a:ext cx="27432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186416" y="3840480"/>
            <a:ext cx="640080" cy="640080"/>
          </a:xfrm>
          <a:prstGeom prst="ellipse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86416" y="394106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44584" y="4590288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Your Badge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44584" y="5138928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A7788"/>
                </a:solidFill>
                <a:latin typeface="Calibri"/>
              </a:rPr>
              <a:t>87–90 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58978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4F"/>
                </a:solidFill>
                <a:latin typeface="Calibri"/>
              </a:rPr>
              <a:t>⭐ Earn a Reading Star at every stop. Collect all 8!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💛 How Are You Today?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45002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Feelings  |  0–5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984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5A4F"/>
                </a:solidFill>
                <a:latin typeface="Calibri"/>
              </a:rPr>
              <a:t>Point to your answer — no reading needed!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828800"/>
            <a:ext cx="26974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0574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0175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6366B"/>
                </a:solidFill>
                <a:latin typeface="Calibri"/>
              </a:rPr>
              <a:t>Great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1828800"/>
            <a:ext cx="26974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0574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0175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6366B"/>
                </a:solidFill>
                <a:latin typeface="Calibri"/>
              </a:rPr>
              <a:t>Good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828800"/>
            <a:ext cx="26974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0574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0175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6366B"/>
                </a:solidFill>
                <a:latin typeface="Calibri"/>
              </a:rPr>
              <a:t>Okay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828800"/>
            <a:ext cx="26974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0574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0175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6366B"/>
                </a:solidFill>
                <a:latin typeface="Calibri"/>
              </a:rPr>
              <a:t>Tired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977639"/>
            <a:ext cx="8503920" cy="54864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078223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C38"/>
                </a:solidFill>
                <a:latin typeface="Calibri"/>
              </a:rPr>
              <a:t>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087367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6366B"/>
                </a:solidFill>
                <a:latin typeface="Calibri"/>
              </a:rPr>
              <a:t>What is your favorite animal?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636007"/>
            <a:ext cx="8503920" cy="54864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73659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C38"/>
                </a:solidFill>
                <a:latin typeface="Calibri"/>
              </a:rPr>
              <a:t>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745735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6366B"/>
                </a:solidFill>
                <a:latin typeface="Calibri"/>
              </a:rPr>
              <a:t>What is your favorite color?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294375"/>
            <a:ext cx="8503920" cy="54864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3949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C38"/>
                </a:solidFill>
                <a:latin typeface="Calibri"/>
              </a:rPr>
              <a:t>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5404103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6366B"/>
                </a:solidFill>
                <a:latin typeface="Calibri"/>
              </a:rPr>
              <a:t>Do you like stories?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18320" y="3977639"/>
            <a:ext cx="2423160" cy="457200"/>
          </a:xfrm>
          <a:prstGeom prst="round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4050791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66B"/>
                </a:solidFill>
                <a:latin typeface="Calibri"/>
              </a:rPr>
              <a:t>⭐ Star #1 earned!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PHONICS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5–15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🔤 Letter Sound Warm-Up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393336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Letter sounds  |  5–15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8016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4F"/>
                </a:solidFill>
                <a:latin typeface="Calibri"/>
              </a:rPr>
              <a:t>I say it → You say it. Then I point → You tell me!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83080"/>
            <a:ext cx="2743200" cy="201168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1892808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85A4F"/>
                </a:solidFill>
                <a:latin typeface="Arial Black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0756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Calibri"/>
              </a:rPr>
              <a:t>/a/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834640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71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0083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6366B"/>
                </a:solidFill>
                <a:latin typeface="Calibri"/>
              </a:rPr>
              <a:t>Apple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9272" y="1783080"/>
            <a:ext cx="2743200" cy="2011680"/>
          </a:xfrm>
          <a:prstGeom prst="roundRect">
            <a:avLst/>
          </a:prstGeom>
          <a:solidFill>
            <a:srgbClr val="F4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1892808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8B5E3C"/>
                </a:solidFill>
                <a:latin typeface="Arial Black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20756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Calibri"/>
              </a:rPr>
              <a:t>/b/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56432" y="2834640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3592" y="2971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30083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6366B"/>
                </a:solidFill>
                <a:latin typeface="Calibri"/>
              </a:rPr>
              <a:t>Bear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7064" y="1783080"/>
            <a:ext cx="2743200" cy="2011680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1892808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EA8E8"/>
                </a:solidFill>
                <a:latin typeface="Arial Black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4" y="20756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Calibri"/>
              </a:rPr>
              <a:t>/k/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64224" y="2834640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1384" y="2971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30083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6366B"/>
                </a:solidFill>
                <a:latin typeface="Calibri"/>
              </a:rPr>
              <a:t>Cat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34856" y="1783080"/>
            <a:ext cx="2743200" cy="2011680"/>
          </a:xfrm>
          <a:prstGeom prst="roundRect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4584" y="1892808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E7D53"/>
                </a:solidFill>
                <a:latin typeface="Arial Black"/>
              </a:rPr>
              <a:t>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20756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Calibri"/>
              </a:rPr>
              <a:t>/d/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72016" y="2834640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9176" y="2971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0696" y="30083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6366B"/>
                </a:solidFill>
                <a:latin typeface="Calibri"/>
              </a:rPr>
              <a:t>Dog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977639"/>
            <a:ext cx="2743200" cy="2011680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" y="4087367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2A11B"/>
                </a:solidFill>
                <a:latin typeface="Arial Black"/>
              </a:rPr>
              <a:t>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270247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Calibri"/>
              </a:rPr>
              <a:t>/e/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029199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16635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5202935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6366B"/>
                </a:solidFill>
                <a:latin typeface="Calibri"/>
              </a:rPr>
              <a:t>Egg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19272" y="3977639"/>
            <a:ext cx="2743200" cy="2011680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29000" y="4087367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C42E"/>
                </a:solidFill>
                <a:latin typeface="Arial Black"/>
              </a:rPr>
              <a:t>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36592" y="4270247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Calibri"/>
              </a:rPr>
              <a:t>/s/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56432" y="5029199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93592" y="516635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25112" y="5202935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6366B"/>
                </a:solidFill>
                <a:latin typeface="Calibri"/>
              </a:rPr>
              <a:t>Sun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27064" y="3977639"/>
            <a:ext cx="2743200" cy="201168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36792" y="4087367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7B4FB8"/>
                </a:solidFill>
                <a:latin typeface="Arial Black"/>
              </a:rPr>
              <a:t>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44384" y="4270247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Calibri"/>
              </a:rPr>
              <a:t>/m/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64224" y="5029199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01384" y="516635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32904" y="5202935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6366B"/>
                </a:solidFill>
                <a:latin typeface="Calibri"/>
              </a:rPr>
              <a:t>Moon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34856" y="3977639"/>
            <a:ext cx="2743200" cy="201168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44584" y="4087367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85A4F"/>
                </a:solidFill>
                <a:latin typeface="Arial Black"/>
              </a:rPr>
              <a:t>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52176" y="4270247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Calibri"/>
              </a:rPr>
              <a:t>/r/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72016" y="5029199"/>
            <a:ext cx="246888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09176" y="516635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0696" y="5202935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6366B"/>
                </a:solidFill>
                <a:latin typeface="Calibri"/>
              </a:rPr>
              <a:t>Red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5–15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🎁 Mystery Letter Game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741670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Mystery letter  |  5–15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8016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5A4F"/>
                </a:solidFill>
                <a:latin typeface="Calibri"/>
              </a:rPr>
              <a:t>I am thinking of a letter... Who am I?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331720"/>
            <a:ext cx="914400" cy="914400"/>
          </a:xfrm>
          <a:prstGeom prst="ellipse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9631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1671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366B"/>
                </a:solidFill>
                <a:latin typeface="Calibri"/>
              </a:rPr>
              <a:t>I make the sound /m/.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6517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A7788"/>
                </a:solidFill>
                <a:latin typeface="Calibri"/>
              </a:rPr>
              <a:t>You hear me in Moon.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154680"/>
            <a:ext cx="2011680" cy="502920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32278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Who am I?  ___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783080"/>
            <a:ext cx="5440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0" y="2331720"/>
            <a:ext cx="914400" cy="914400"/>
          </a:xfrm>
          <a:prstGeom prst="ellipse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1671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366B"/>
                </a:solidFill>
                <a:latin typeface="Calibri"/>
              </a:rPr>
              <a:t>I make the sound /b/.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6517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A7788"/>
                </a:solidFill>
                <a:latin typeface="Calibri"/>
              </a:rPr>
              <a:t>You hear me in Bear.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3154680"/>
            <a:ext cx="2011680" cy="502920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32278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Who am I?  ___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77639"/>
            <a:ext cx="5440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526279"/>
            <a:ext cx="914400" cy="914400"/>
          </a:xfrm>
          <a:prstGeom prst="ellipse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690871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361687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366B"/>
                </a:solidFill>
                <a:latin typeface="Calibri"/>
              </a:rPr>
              <a:t>I make the sound /s/.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84631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A7788"/>
                </a:solidFill>
                <a:latin typeface="Calibri"/>
              </a:rPr>
              <a:t>You hear me in Sun.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5349239"/>
            <a:ext cx="2011680" cy="502920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0" y="542239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Who am I?  ___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977639"/>
            <a:ext cx="5440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526279"/>
            <a:ext cx="914400" cy="914400"/>
          </a:xfrm>
          <a:prstGeom prst="ellipse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90871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4361687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366B"/>
                </a:solidFill>
                <a:latin typeface="Calibri"/>
              </a:rPr>
              <a:t>I make the sound /t/.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484631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A7788"/>
                </a:solidFill>
                <a:latin typeface="Calibri"/>
              </a:rPr>
              <a:t>You hear me at the END of Cat.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43800" y="5349239"/>
            <a:ext cx="2011680" cy="502920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542239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Who am I?  ___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5–15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🔍 Letter Detective: First Sounds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090004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First sounds  |  5–15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5A4F"/>
                </a:solidFill>
                <a:latin typeface="Calibri"/>
              </a:rPr>
              <a:t>What sound do you hear FIRST?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26974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93852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bear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364992"/>
            <a:ext cx="1325880" cy="4114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41985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9C8F"/>
                </a:solidFill>
                <a:latin typeface="Calibri"/>
              </a:rPr>
              <a:t>/ ? 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1737360"/>
            <a:ext cx="26974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193852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834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cat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3364992"/>
            <a:ext cx="1325880" cy="4114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341985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9C8F"/>
                </a:solidFill>
                <a:latin typeface="Calibri"/>
              </a:rPr>
              <a:t>/ ? 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737360"/>
            <a:ext cx="26974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93852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834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sun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3364992"/>
            <a:ext cx="1325880" cy="4114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341985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9C8F"/>
                </a:solidFill>
                <a:latin typeface="Calibri"/>
              </a:rPr>
              <a:t>/ ? /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1737360"/>
            <a:ext cx="26974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193852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42C38"/>
                </a:solidFill>
                <a:latin typeface="Calibri"/>
              </a:rPr>
              <a:t>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834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moon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3364992"/>
            <a:ext cx="1325880" cy="4114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341985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9C8F"/>
                </a:solidFill>
                <a:latin typeface="Calibri"/>
              </a:rPr>
              <a:t>/ ? 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114800"/>
            <a:ext cx="11292840" cy="1691640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27939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366B"/>
                </a:solidFill>
                <a:latin typeface="Calibri"/>
              </a:rPr>
              <a:t>🎈 BONUS (only if the student is ready) — Two letters, one sound: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754880"/>
            <a:ext cx="25603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8646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8463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5A4F"/>
                </a:solidFill>
                <a:latin typeface="Calibri"/>
              </a:rPr>
              <a:t>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5230368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788"/>
                </a:solidFill>
                <a:latin typeface="Calibri"/>
              </a:rPr>
              <a:t>shhh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74720" y="4754880"/>
            <a:ext cx="25603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11880" y="48646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48463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5A4F"/>
                </a:solidFill>
                <a:latin typeface="Calibri"/>
              </a:rPr>
              <a:t>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5230368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788"/>
                </a:solidFill>
                <a:latin typeface="Calibri"/>
              </a:rPr>
              <a:t>ch-ch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4754880"/>
            <a:ext cx="25603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8646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48463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5A4F"/>
                </a:solidFill>
                <a:latin typeface="Calibri"/>
              </a:rPr>
              <a:t>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5230368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788"/>
                </a:solidFill>
                <a:latin typeface="Calibri"/>
              </a:rPr>
              <a:t>thumb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59" y="4754880"/>
            <a:ext cx="25603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89719" y="48646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48463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5A4F"/>
                </a:solidFill>
                <a:latin typeface="Calibri"/>
              </a:rPr>
              <a:t>wh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5230368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788"/>
                </a:solidFill>
                <a:latin typeface="Calibri"/>
              </a:rPr>
              <a:t>whale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2E7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PHONICS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15–25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🎵 Blending: Sounds Become Words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438339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Blending  |  15–25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1129284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34440" y="1691640"/>
            <a:ext cx="1737360" cy="1645920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18288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EA8E8"/>
                </a:solidFill>
                <a:latin typeface="Arial Black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697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/k/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148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A7788"/>
                </a:solidFill>
                <a:latin typeface="Calibri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1691640"/>
            <a:ext cx="1737360" cy="1645920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8288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85A4F"/>
                </a:solidFill>
                <a:latin typeface="Arial Black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97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/a/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148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A7788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1691640"/>
            <a:ext cx="1737360" cy="1645920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18288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E7D53"/>
                </a:solidFill>
                <a:latin typeface="Arial Black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697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/t/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148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A7788"/>
                </a:solidFill>
                <a:latin typeface="Calibri"/>
              </a:rPr>
              <a:t>=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1691640"/>
            <a:ext cx="2514600" cy="1645920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18288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6366B"/>
                </a:solidFill>
                <a:latin typeface="Arial Black"/>
              </a:rPr>
              <a:t>CAT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6974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931920"/>
            <a:ext cx="3566160" cy="1371600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599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1️⃣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4988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6366B"/>
                </a:solidFill>
                <a:latin typeface="Calibri"/>
              </a:rPr>
              <a:t>I blend 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90118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6366B"/>
                </a:solidFill>
                <a:latin typeface="Calibri"/>
              </a:rPr>
              <a:t>Listen and follow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931920"/>
            <a:ext cx="3566160" cy="137160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40599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2️⃣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4988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6366B"/>
                </a:solidFill>
                <a:latin typeface="Calibri"/>
              </a:rPr>
              <a:t>We blend 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90118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6366B"/>
                </a:solidFill>
                <a:latin typeface="Calibri"/>
              </a:rPr>
              <a:t>Say it with 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3931920"/>
            <a:ext cx="3566160" cy="1371600"/>
          </a:xfrm>
          <a:prstGeom prst="roundRect">
            <a:avLst/>
          </a:prstGeom>
          <a:solidFill>
            <a:srgbClr val="2E7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0599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3️⃣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4988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YOU blend it!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90118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Your turn 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5321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5A4F"/>
                </a:solidFill>
                <a:latin typeface="Calibri"/>
              </a:rPr>
              <a:t>🐢 Slow:  /k/ ... /a/ ... /t/       🐇 Fast:  CAT!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2E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15–25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🚂 Game: Sound Train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786673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Sound train  |  15–25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4F"/>
                </a:solidFill>
                <a:latin typeface="Calibri"/>
              </a:rPr>
              <a:t>Each car is a sound. Push them together and the train says a word!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99339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1920240"/>
            <a:ext cx="1234440" cy="658368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20116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A8E8"/>
                </a:solidFill>
                <a:latin typeface="Arial Black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6624" y="2029968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A7788"/>
                </a:solidFill>
                <a:latin typeface="Calibr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1920240"/>
            <a:ext cx="1234440" cy="658368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20116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A8E8"/>
                </a:solidFill>
                <a:latin typeface="Arial Black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23944" y="2029968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A7788"/>
                </a:solidFill>
                <a:latin typeface="Calibr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920240"/>
            <a:ext cx="1234440" cy="658368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0116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A8E8"/>
                </a:solidFill>
                <a:latin typeface="Arial Black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011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➡️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1920240"/>
            <a:ext cx="2377440" cy="658368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9933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6366B"/>
                </a:solidFill>
                <a:latin typeface="Arial Black"/>
              </a:rPr>
              <a:t>CAT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197510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0" y="2011680"/>
            <a:ext cx="1051560" cy="45720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2075688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907791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163823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63040" y="3090671"/>
            <a:ext cx="1234440" cy="658368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3040" y="3182111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C42E"/>
                </a:solidFill>
                <a:latin typeface="Arial Black"/>
              </a:rPr>
              <a:t>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06624" y="3200399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A7788"/>
                </a:solidFill>
                <a:latin typeface="Calibr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80360" y="3090671"/>
            <a:ext cx="1234440" cy="658368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3182111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C42E"/>
                </a:solidFill>
                <a:latin typeface="Arial Black"/>
              </a:rPr>
              <a:t>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23944" y="3200399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A7788"/>
                </a:solidFill>
                <a:latin typeface="Calibr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3090671"/>
            <a:ext cx="1234440" cy="658368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3182111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C42E"/>
                </a:solidFill>
                <a:latin typeface="Arial Black"/>
              </a:rPr>
              <a:t>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182111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➡️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3090671"/>
            <a:ext cx="2377440" cy="658368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3163823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6366B"/>
                </a:solidFill>
                <a:latin typeface="Arial Black"/>
              </a:rPr>
              <a:t>SUN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3145535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15600" y="3182111"/>
            <a:ext cx="1051560" cy="45720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0" y="3246119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4078224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334256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63040" y="4261104"/>
            <a:ext cx="1234440" cy="658368"/>
          </a:xfrm>
          <a:prstGeom prst="roundRect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63040" y="435254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7D53"/>
                </a:solidFill>
                <a:latin typeface="Arial Black"/>
              </a:rPr>
              <a:t>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6624" y="4370832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A7788"/>
                </a:solidFill>
                <a:latin typeface="Calibri"/>
              </a:rPr>
              <a:t>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880360" y="4261104"/>
            <a:ext cx="1234440" cy="658368"/>
          </a:xfrm>
          <a:prstGeom prst="roundRect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80360" y="435254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7D53"/>
                </a:solidFill>
                <a:latin typeface="Arial Black"/>
              </a:rPr>
              <a:t>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23944" y="4370832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A7788"/>
                </a:solidFill>
                <a:latin typeface="Calibri"/>
              </a:rPr>
              <a:t>›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97680" y="4261104"/>
            <a:ext cx="1234440" cy="658368"/>
          </a:xfrm>
          <a:prstGeom prst="roundRect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97680" y="435254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7D53"/>
                </a:solidFill>
                <a:latin typeface="Arial Black"/>
              </a:rPr>
              <a:t>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435254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➡️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858000" y="4261104"/>
            <a:ext cx="2377440" cy="658368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0" y="433425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6366B"/>
                </a:solidFill>
                <a:latin typeface="Arial Black"/>
              </a:rPr>
              <a:t>DOG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09760" y="4315968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515600" y="4352544"/>
            <a:ext cx="1051560" cy="45720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15600" y="441655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5248656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550468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463040" y="5431536"/>
            <a:ext cx="1234440" cy="658368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63040" y="5522976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B4FB8"/>
                </a:solidFill>
                <a:latin typeface="Arial Black"/>
              </a:rPr>
              <a:t>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06624" y="5541264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A7788"/>
                </a:solidFill>
                <a:latin typeface="Calibri"/>
              </a:rPr>
              <a:t>›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880360" y="5431536"/>
            <a:ext cx="1234440" cy="658368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80360" y="5522976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B4FB8"/>
                </a:solidFill>
                <a:latin typeface="Arial Black"/>
              </a:rPr>
              <a:t>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23944" y="5541264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A7788"/>
                </a:solidFill>
                <a:latin typeface="Calibri"/>
              </a:rPr>
              <a:t>›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97680" y="5431536"/>
            <a:ext cx="1234440" cy="658368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97680" y="5522976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B4FB8"/>
                </a:solidFill>
                <a:latin typeface="Arial Black"/>
              </a:rPr>
              <a:t>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0" y="552297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2C38"/>
                </a:solidFill>
                <a:latin typeface="Calibri"/>
              </a:rPr>
              <a:t>➡️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58000" y="5431536"/>
            <a:ext cx="2377440" cy="658368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58000" y="550468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6366B"/>
                </a:solidFill>
                <a:latin typeface="Arial Black"/>
              </a:rPr>
              <a:t>MAP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09760" y="5486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🗺️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515600" y="5522976"/>
            <a:ext cx="1051560" cy="45720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515600" y="5586984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PHONICS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15–25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🧩 CVC Word Practice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135007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CVC words  |  15–25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4F"/>
                </a:solidFill>
                <a:latin typeface="Calibri"/>
              </a:rPr>
              <a:t>Sound it out, then say the whole word.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37360"/>
            <a:ext cx="2743200" cy="2057400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874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468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EA8E8"/>
                </a:solidFill>
                <a:latin typeface="Arial Black"/>
              </a:rPr>
              <a:t>CAT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82112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46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C - A - 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9272" y="1737360"/>
            <a:ext cx="2743200" cy="2057400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0712" y="1874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2468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C42E"/>
                </a:solidFill>
                <a:latin typeface="Arial Black"/>
              </a:rPr>
              <a:t>SUN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47872" y="3182112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3246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S - U - 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7064" y="1737360"/>
            <a:ext cx="2743200" cy="2057400"/>
          </a:xfrm>
          <a:prstGeom prst="roundRect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8504" y="1874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2468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E7D53"/>
                </a:solidFill>
                <a:latin typeface="Arial Black"/>
              </a:rPr>
              <a:t>DOG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3182112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3246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D - O - 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34856" y="1737360"/>
            <a:ext cx="2743200" cy="20574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26296" y="1874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🗺️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2468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7B4FB8"/>
                </a:solidFill>
                <a:latin typeface="Arial Black"/>
              </a:rPr>
              <a:t>MAP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63456" y="3182112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63456" y="3246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M - A - 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3977639"/>
            <a:ext cx="2743200" cy="205740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11479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70915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85A4F"/>
                </a:solidFill>
                <a:latin typeface="Arial Black"/>
              </a:rPr>
              <a:t>PIG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422391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48639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P - I - 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19272" y="3977639"/>
            <a:ext cx="2743200" cy="205740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10712" y="411479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10712" y="470915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9C8F"/>
                </a:solidFill>
                <a:latin typeface="Arial Black"/>
              </a:rPr>
              <a:t>HAT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47872" y="5422391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47872" y="548639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H - A - 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27064" y="3977639"/>
            <a:ext cx="2743200" cy="2057400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18504" y="411479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18504" y="470915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2A11B"/>
                </a:solidFill>
                <a:latin typeface="Arial Black"/>
              </a:rPr>
              <a:t>RUN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55664" y="5422391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55664" y="548639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R - U - 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34856" y="3977639"/>
            <a:ext cx="2743200" cy="2057400"/>
          </a:xfrm>
          <a:prstGeom prst="roundRect">
            <a:avLst/>
          </a:prstGeom>
          <a:solidFill>
            <a:srgbClr val="F4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26296" y="411479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26296" y="470915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8B5E3C"/>
                </a:solidFill>
                <a:latin typeface="Arial Black"/>
              </a:rPr>
              <a:t>BIG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63456" y="5422391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63456" y="548639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366B"/>
                </a:solidFill>
                <a:latin typeface="Calibri"/>
              </a:rPr>
              <a:t>B - I - G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25–35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🐻 Game: Feed the Bear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483341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Feed the bear  |  25–35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4F"/>
                </a:solidFill>
                <a:latin typeface="Calibri"/>
              </a:rPr>
              <a:t>Ben is hungry! Find the right word and feed it to him.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975104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0116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04825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5E3C"/>
                </a:solidFill>
                <a:latin typeface="Calibri"/>
              </a:rPr>
              <a:t>Find  CAT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920240"/>
            <a:ext cx="2103120" cy="658368"/>
          </a:xfrm>
          <a:prstGeom prst="roundRect">
            <a:avLst/>
          </a:prstGeom>
          <a:solidFill>
            <a:srgbClr val="F4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Arial Black"/>
              </a:rPr>
              <a:t>CAT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1920240"/>
            <a:ext cx="2103120" cy="658368"/>
          </a:xfrm>
          <a:prstGeom prst="roundRect">
            <a:avLst/>
          </a:prstGeom>
          <a:solidFill>
            <a:srgbClr val="F4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Arial Black"/>
              </a:rPr>
              <a:t>SUN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59" y="1920240"/>
            <a:ext cx="2103120" cy="658368"/>
          </a:xfrm>
          <a:prstGeom prst="roundRect">
            <a:avLst/>
          </a:prstGeom>
          <a:solidFill>
            <a:srgbClr val="F4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Arial Black"/>
              </a:rPr>
              <a:t>DOG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907791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145535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182111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21868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5E3C"/>
                </a:solidFill>
                <a:latin typeface="Calibri"/>
              </a:rPr>
              <a:t>Find  SUN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3090671"/>
            <a:ext cx="2103120" cy="658368"/>
          </a:xfrm>
          <a:prstGeom prst="roundRect">
            <a:avLst/>
          </a:prstGeom>
          <a:solidFill>
            <a:srgbClr val="F4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318211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Arial Black"/>
              </a:rPr>
              <a:t>MAP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78040" y="3090671"/>
            <a:ext cx="2103120" cy="658368"/>
          </a:xfrm>
          <a:prstGeom prst="roundRect">
            <a:avLst/>
          </a:prstGeom>
          <a:solidFill>
            <a:srgbClr val="F4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318211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Arial Black"/>
              </a:rPr>
              <a:t>SUN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59" y="3090671"/>
            <a:ext cx="2103120" cy="658368"/>
          </a:xfrm>
          <a:prstGeom prst="roundRect">
            <a:avLst/>
          </a:prstGeom>
          <a:solidFill>
            <a:srgbClr val="F4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9" y="318211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Arial Black"/>
              </a:rPr>
              <a:t>PIG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078224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3159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352544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4389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5E3C"/>
                </a:solidFill>
                <a:latin typeface="Calibri"/>
              </a:rPr>
              <a:t>Find  DOG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4261104"/>
            <a:ext cx="2103120" cy="658368"/>
          </a:xfrm>
          <a:prstGeom prst="roundRect">
            <a:avLst/>
          </a:prstGeom>
          <a:solidFill>
            <a:srgbClr val="F4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435254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Arial Black"/>
              </a:rPr>
              <a:t>HAT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78040" y="4261104"/>
            <a:ext cx="2103120" cy="658368"/>
          </a:xfrm>
          <a:prstGeom prst="roundRect">
            <a:avLst/>
          </a:prstGeom>
          <a:solidFill>
            <a:srgbClr val="F4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435254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Arial Black"/>
              </a:rPr>
              <a:t>RUN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59" y="4261104"/>
            <a:ext cx="2103120" cy="658368"/>
          </a:xfrm>
          <a:prstGeom prst="roundRect">
            <a:avLst/>
          </a:prstGeom>
          <a:solidFill>
            <a:srgbClr val="F4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59" y="435254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Arial Black"/>
              </a:rPr>
              <a:t>DOG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48656"/>
            <a:ext cx="112928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486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3040" y="552297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55595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5E3C"/>
                </a:solidFill>
                <a:latin typeface="Calibri"/>
              </a:rPr>
              <a:t>Find  BIG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46320" y="5431536"/>
            <a:ext cx="2103120" cy="658368"/>
          </a:xfrm>
          <a:prstGeom prst="roundRect">
            <a:avLst/>
          </a:prstGeom>
          <a:solidFill>
            <a:srgbClr val="F4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0" y="552297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Arial Black"/>
              </a:rPr>
              <a:t>BIG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78040" y="5431536"/>
            <a:ext cx="2103120" cy="658368"/>
          </a:xfrm>
          <a:prstGeom prst="roundRect">
            <a:avLst/>
          </a:prstGeom>
          <a:solidFill>
            <a:srgbClr val="F4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78040" y="552297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Arial Black"/>
              </a:rPr>
              <a:t>RED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09759" y="5431536"/>
            <a:ext cx="2103120" cy="658368"/>
          </a:xfrm>
          <a:prstGeom prst="roundRect">
            <a:avLst/>
          </a:prstGeom>
          <a:solidFill>
            <a:srgbClr val="F4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759" y="552297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366B"/>
                </a:solidFill>
                <a:latin typeface="Arial Black"/>
              </a:rPr>
              <a:t>CAT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F2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25–35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🎯 Game: Word Hunt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831675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Word hunt  |  25–35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4F"/>
                </a:solidFill>
                <a:latin typeface="Calibri"/>
              </a:rPr>
              <a:t>Point to the word I say — then read it!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CAT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12848" y="1737360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12848" y="2011680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SUN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8496" y="1737360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8496" y="2011680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DOG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24144" y="1737360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011680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79792" y="1737360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9792" y="2011680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HAT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944368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218688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RUN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12848" y="2944368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12848" y="3218688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BIG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68496" y="2944368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68496" y="3218688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CAT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24144" y="2944368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24144" y="3218688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PIG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79792" y="2944368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79792" y="3218688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SUN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151376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25696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RED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12848" y="4151376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12848" y="4425696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DOG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68496" y="4151376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68496" y="4425696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HAT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24144" y="4151376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24144" y="4425696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BIG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79792" y="4151376"/>
            <a:ext cx="16276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9792" y="4425696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366B"/>
                </a:solidFill>
                <a:latin typeface="Calibri"/>
              </a:rPr>
              <a:t>RUN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72600" y="1737360"/>
            <a:ext cx="2377440" cy="3465576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55480" y="19019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366B"/>
                </a:solidFill>
                <a:latin typeface="Calibri"/>
              </a:rPr>
              <a:t>Find these: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6920" y="23774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2C38"/>
                </a:solidFill>
                <a:latin typeface="Calibri"/>
              </a:rPr>
              <a:t>1.  CAT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6920" y="28163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2C38"/>
                </a:solidFill>
                <a:latin typeface="Calibri"/>
              </a:rPr>
              <a:t>2.  SUN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325526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2C38"/>
                </a:solidFill>
                <a:latin typeface="Calibri"/>
              </a:rPr>
              <a:t>3.  DOG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6920" y="369417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2C38"/>
                </a:solidFill>
                <a:latin typeface="Calibri"/>
              </a:rPr>
              <a:t>4.  BIG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4133087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2C38"/>
                </a:solidFill>
                <a:latin typeface="Calibri"/>
              </a:rPr>
              <a:t>5.  RUN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45720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2C38"/>
                </a:solidFill>
                <a:latin typeface="Calibri"/>
              </a:rPr>
              <a:t>6.  HAT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72600" y="5532120"/>
            <a:ext cx="2423160" cy="457200"/>
          </a:xfrm>
          <a:prstGeom prst="round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72600" y="560527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66B"/>
                </a:solidFill>
                <a:latin typeface="Calibri"/>
              </a:rPr>
              <a:t>⭐ +1 Star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SIGHT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35–45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👀 Sight Words — Look and Say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180009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Sight words  |  35–45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4F"/>
                </a:solidFill>
                <a:latin typeface="Calibri"/>
              </a:rPr>
              <a:t>These words we do NOT sound out. We just know them by sight!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37160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148840"/>
            <a:ext cx="1371600" cy="502920"/>
          </a:xfrm>
          <a:prstGeom prst="roundRect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311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Round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2011680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214884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9C8F"/>
                </a:solidFill>
                <a:latin typeface="Arial Black"/>
              </a:rPr>
              <a:t>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2011680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214884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9C8F"/>
                </a:solidFill>
                <a:latin typeface="Arial Black"/>
              </a:rPr>
              <a:t>see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79" y="2011680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79" y="214884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9C8F"/>
                </a:solidFill>
                <a:latin typeface="Arial Black"/>
              </a:rPr>
              <a:t>the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18688"/>
            <a:ext cx="11292840" cy="137160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3630168"/>
            <a:ext cx="1371600" cy="502920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712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Round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3493008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3630168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85A4F"/>
                </a:solidFill>
                <a:latin typeface="Arial Black"/>
              </a:rPr>
              <a:t>can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60" y="3493008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3630168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85A4F"/>
                </a:solidFill>
                <a:latin typeface="Arial Black"/>
              </a:rPr>
              <a:t>my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79" y="3493008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79" y="3630168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85A4F"/>
                </a:solidFill>
                <a:latin typeface="Arial Black"/>
              </a:rPr>
              <a:t>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700016"/>
            <a:ext cx="11292840" cy="13716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8" y="5111496"/>
            <a:ext cx="1371600" cy="502920"/>
          </a:xfrm>
          <a:prstGeom prst="roundRect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1937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Round 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77440" y="4974336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77440" y="5111496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B4FB8"/>
                </a:solidFill>
                <a:latin typeface="Arial Black"/>
              </a:rPr>
              <a:t>we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09160" y="4974336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5111496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B4FB8"/>
                </a:solidFill>
                <a:latin typeface="Arial Black"/>
              </a:rPr>
              <a:t>go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40879" y="4974336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79" y="5111496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B4FB8"/>
                </a:solidFill>
                <a:latin typeface="Arial Black"/>
              </a:rPr>
              <a:t>and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72600" y="4974336"/>
            <a:ext cx="21031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72600" y="5111496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B4FB8"/>
                </a:solidFill>
                <a:latin typeface="Arial Black"/>
              </a:rPr>
              <a:t>you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35–45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🔍 Game: Word Detective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528343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Word detective  |  35–45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4F"/>
                </a:solidFill>
                <a:latin typeface="Calibri"/>
              </a:rPr>
              <a:t>Careful — the other words look almost the same!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04241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011680"/>
            <a:ext cx="502920" cy="502920"/>
          </a:xfrm>
          <a:prstGeom prst="ellipse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07568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0391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9C8F"/>
                </a:solidFill>
                <a:latin typeface="Calibri"/>
              </a:rPr>
              <a:t>Find  THE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1938528"/>
            <a:ext cx="1783080" cy="6400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202996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366B"/>
                </a:solidFill>
                <a:latin typeface="Calibri"/>
              </a:rPr>
              <a:t>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79" y="1938528"/>
            <a:ext cx="1783080" cy="6400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79" y="202996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366B"/>
                </a:solidFill>
                <a:latin typeface="Calibri"/>
              </a:rPr>
              <a:t>the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1938528"/>
            <a:ext cx="1783080" cy="6400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202996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366B"/>
                </a:solidFill>
                <a:latin typeface="Calibri"/>
              </a:rPr>
              <a:t>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1938528"/>
            <a:ext cx="1783080" cy="6400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02996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366B"/>
                </a:solidFill>
                <a:latin typeface="Calibri"/>
              </a:rPr>
              <a:t>see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926080"/>
            <a:ext cx="11292840" cy="104241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" y="3200400"/>
            <a:ext cx="502920" cy="502920"/>
          </a:xfrm>
          <a:prstGeom prst="ellipse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26440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2278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9C8F"/>
                </a:solidFill>
                <a:latin typeface="Calibri"/>
              </a:rPr>
              <a:t>Find  CAN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31920" y="3127248"/>
            <a:ext cx="1783080" cy="6400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321868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366B"/>
                </a:solidFill>
                <a:latin typeface="Calibri"/>
              </a:rPr>
              <a:t>can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97879" y="3127248"/>
            <a:ext cx="1783080" cy="6400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79" y="321868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366B"/>
                </a:solidFill>
                <a:latin typeface="Calibri"/>
              </a:rPr>
              <a:t>cat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3127248"/>
            <a:ext cx="1783080" cy="6400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21868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366B"/>
                </a:solidFill>
                <a:latin typeface="Calibri"/>
              </a:rPr>
              <a:t>car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29800" y="3127248"/>
            <a:ext cx="1783080" cy="6400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9800" y="321868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366B"/>
                </a:solidFill>
                <a:latin typeface="Calibri"/>
              </a:rPr>
              <a:t>cap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114800"/>
            <a:ext cx="11292840" cy="104241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8368" y="4389120"/>
            <a:ext cx="502920" cy="502920"/>
          </a:xfrm>
          <a:prstGeom prst="ellipse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445312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44165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9C8F"/>
                </a:solidFill>
                <a:latin typeface="Calibri"/>
              </a:rPr>
              <a:t>Find  MY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31920" y="4315968"/>
            <a:ext cx="1783080" cy="6400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0" y="440740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366B"/>
                </a:solidFill>
                <a:latin typeface="Calibri"/>
              </a:rPr>
              <a:t>me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97879" y="4315968"/>
            <a:ext cx="1783080" cy="6400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97879" y="440740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366B"/>
                </a:solidFill>
                <a:latin typeface="Calibri"/>
              </a:rPr>
              <a:t>my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63840" y="4315968"/>
            <a:ext cx="1783080" cy="6400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0" y="440740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366B"/>
                </a:solidFill>
                <a:latin typeface="Calibri"/>
              </a:rPr>
              <a:t>may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829800" y="4315968"/>
            <a:ext cx="1783080" cy="6400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29800" y="440740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366B"/>
                </a:solidFill>
                <a:latin typeface="Calibri"/>
              </a:rPr>
              <a:t>man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303520"/>
            <a:ext cx="11292840" cy="104241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58368" y="5577840"/>
            <a:ext cx="502920" cy="502920"/>
          </a:xfrm>
          <a:prstGeom prst="ellipse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564184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71600" y="56052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9C8F"/>
                </a:solidFill>
                <a:latin typeface="Calibri"/>
              </a:rPr>
              <a:t>Find  SEE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931920" y="5504688"/>
            <a:ext cx="1783080" cy="6400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0" y="559612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366B"/>
                </a:solidFill>
                <a:latin typeface="Calibri"/>
              </a:rPr>
              <a:t>saw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897879" y="5504688"/>
            <a:ext cx="1783080" cy="6400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97879" y="559612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366B"/>
                </a:solidFill>
                <a:latin typeface="Calibri"/>
              </a:rPr>
              <a:t>sea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863840" y="5504688"/>
            <a:ext cx="1783080" cy="6400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63840" y="559612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366B"/>
                </a:solidFill>
                <a:latin typeface="Calibri"/>
              </a:rPr>
              <a:t>see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829800" y="5504688"/>
            <a:ext cx="1783080" cy="64008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29800" y="559612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366B"/>
                </a:solidFill>
                <a:latin typeface="Calibri"/>
              </a:rPr>
              <a:t>so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35–45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🧠 Game: Memory 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876678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Memory match  |  35–45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4F"/>
                </a:solidFill>
                <a:latin typeface="Calibri"/>
              </a:rPr>
              <a:t>Match each picture to its word. Say the word out loud!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783080"/>
            <a:ext cx="2560320" cy="178308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031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1783080"/>
            <a:ext cx="2560320" cy="178308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031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783080"/>
            <a:ext cx="2560320" cy="178308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1031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1783080"/>
            <a:ext cx="2560320" cy="178308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59" y="21031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77639"/>
            <a:ext cx="2560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206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6366B"/>
                </a:solidFill>
                <a:latin typeface="Arial Black"/>
              </a:rPr>
              <a:t>DOG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977639"/>
            <a:ext cx="2560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4206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6366B"/>
                </a:solidFill>
                <a:latin typeface="Arial Black"/>
              </a:rPr>
              <a:t>BEAR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977639"/>
            <a:ext cx="2560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206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6366B"/>
                </a:solidFill>
                <a:latin typeface="Arial Black"/>
              </a:rPr>
              <a:t>CAT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59" y="3977639"/>
            <a:ext cx="2560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59" y="4206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6366B"/>
                </a:solidFill>
                <a:latin typeface="Arial Black"/>
              </a:rPr>
              <a:t>SUN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57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C8F"/>
                </a:solidFill>
                <a:latin typeface="Calibri"/>
              </a:rPr>
              <a:t>Draw a line in the air from each picture to its word! ✏️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45–50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🧠 Brain Break: Simon Says — Reading Edition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225012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Brain break  |  45–50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4F"/>
                </a:solidFill>
                <a:latin typeface="Calibri"/>
              </a:rPr>
              <a:t>Stay in your seat — just point and touch! 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37360"/>
            <a:ext cx="26060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057400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6366B"/>
                </a:solidFill>
                <a:latin typeface="Arial Black"/>
              </a:rPr>
              <a:t>CAT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737360"/>
            <a:ext cx="26060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2057400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6366B"/>
                </a:solidFill>
                <a:latin typeface="Arial Black"/>
              </a:rPr>
              <a:t>SUN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1737360"/>
            <a:ext cx="26060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2057400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6366B"/>
                </a:solidFill>
                <a:latin typeface="Arial Black"/>
              </a:rPr>
              <a:t>CAN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108960"/>
            <a:ext cx="26060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29000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6366B"/>
                </a:solidFill>
                <a:latin typeface="Arial Black"/>
              </a:rPr>
              <a:t>THE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3108960"/>
            <a:ext cx="26060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3429000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6366B"/>
                </a:solidFill>
                <a:latin typeface="Arial Black"/>
              </a:rPr>
              <a:t>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79" y="3108960"/>
            <a:ext cx="260604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79" y="3429000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6366B"/>
                </a:solidFill>
                <a:latin typeface="Arial Black"/>
              </a:rPr>
              <a:t>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1737360"/>
            <a:ext cx="2697480" cy="2670048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190195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366B"/>
                </a:solidFill>
                <a:latin typeface="Calibri"/>
              </a:rPr>
              <a:t>Simon says...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3591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42C38"/>
                </a:solidFill>
                <a:latin typeface="Calibri"/>
              </a:rPr>
              <a:t>Point to the word CAT.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8620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42C38"/>
                </a:solidFill>
                <a:latin typeface="Calibri"/>
              </a:rPr>
              <a:t>Point to the word SUN.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3649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42C38"/>
                </a:solidFill>
                <a:latin typeface="Calibri"/>
              </a:rPr>
              <a:t>Touch the word CAN.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8679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42C38"/>
                </a:solidFill>
                <a:latin typeface="Calibri"/>
              </a:rPr>
              <a:t>Show me the letter B.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63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C8F"/>
                </a:solidFill>
                <a:latin typeface="Calibri"/>
              </a:rPr>
              <a:t>🎵 Fast and fun — no reading out loud needed!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2E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50–60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📖 Now We Read Sentences!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573346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Sentences  |  50–60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/ 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1129284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783080"/>
            <a:ext cx="137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1965960"/>
            <a:ext cx="9052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6366B"/>
                </a:solidFill>
                <a:latin typeface="Arial Black"/>
              </a:rPr>
              <a:t>I see a cat.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77639"/>
            <a:ext cx="3566160" cy="1371600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0565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1️⃣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44567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6366B"/>
                </a:solidFill>
                <a:latin typeface="Calibri"/>
              </a:rPr>
              <a:t>I read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4690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6366B"/>
                </a:solidFill>
                <a:latin typeface="Calibri"/>
              </a:rPr>
              <a:t>Listen and follow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977639"/>
            <a:ext cx="3566160" cy="137160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10565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2️⃣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544567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6366B"/>
                </a:solidFill>
                <a:latin typeface="Calibri"/>
              </a:rPr>
              <a:t>We read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94690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6366B"/>
                </a:solidFill>
                <a:latin typeface="Calibri"/>
              </a:rPr>
              <a:t>Say it with 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977639"/>
            <a:ext cx="3566160" cy="1371600"/>
          </a:xfrm>
          <a:prstGeom prst="roundRect">
            <a:avLst/>
          </a:prstGeom>
          <a:solidFill>
            <a:srgbClr val="2E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10565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3️⃣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544567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YOU read it!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94690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Your turn 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57784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5A4F"/>
                </a:solidFill>
                <a:latin typeface="Calibri"/>
              </a:rPr>
              <a:t>👉 Point under each word as you read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50–60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🤝 Read With 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921680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Sentences  |  50–60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/ 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463040"/>
            <a:ext cx="11292840" cy="214884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01168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965960"/>
            <a:ext cx="7315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6366B"/>
                </a:solidFill>
                <a:latin typeface="Arial Black"/>
              </a:rPr>
              <a:t>The cat is big.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2148840"/>
            <a:ext cx="1828800" cy="685800"/>
          </a:xfrm>
          <a:prstGeom prst="roundRect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read 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40480"/>
            <a:ext cx="11292840" cy="2148840"/>
          </a:xfrm>
          <a:prstGeom prst="roundRect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343400"/>
            <a:ext cx="7315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6366B"/>
                </a:solidFill>
                <a:latin typeface="Arial Black"/>
              </a:rPr>
              <a:t>I can run.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4526280"/>
            <a:ext cx="1828800" cy="685800"/>
          </a:xfrm>
          <a:prstGeom prst="roundRect">
            <a:avLst/>
          </a:prstGeom>
          <a:solidFill>
            <a:srgbClr val="2E7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read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50–60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⭐ Your Turn to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270014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Sentences  |  50–60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18 / 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463040"/>
            <a:ext cx="11292840" cy="2148840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01168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965960"/>
            <a:ext cx="7315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6366B"/>
                </a:solidFill>
                <a:latin typeface="Arial Black"/>
              </a:rPr>
              <a:t>We see the sun.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2148840"/>
            <a:ext cx="1828800" cy="685800"/>
          </a:xfrm>
          <a:prstGeom prst="roundRect">
            <a:avLst/>
          </a:prstGeom>
          <a:solidFill>
            <a:srgbClr val="F2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read 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40480"/>
            <a:ext cx="11292840" cy="2148840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343400"/>
            <a:ext cx="7315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6366B"/>
                </a:solidFill>
                <a:latin typeface="Arial Black"/>
              </a:rPr>
              <a:t>My dog can run.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4526280"/>
            <a:ext cx="1828800" cy="685800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read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60–68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🧩 Game: Build the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618348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Build it  |  60–68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19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4F"/>
                </a:solidFill>
                <a:latin typeface="Calibri"/>
              </a:rPr>
              <a:t>The words got mixed up! Put them back in order, then read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121408"/>
            <a:ext cx="548640" cy="548640"/>
          </a:xfrm>
          <a:prstGeom prst="ellipse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1945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488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2057400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217627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cat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2057400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217627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057400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217627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2057400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217627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see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246120"/>
            <a:ext cx="112928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" y="3630168"/>
            <a:ext cx="548640" cy="548640"/>
          </a:xfrm>
          <a:prstGeom prst="ellipse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65760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4560" y="3566160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68503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big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77639" y="3566160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39" y="368503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The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0" y="3566160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368503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43800" y="3566160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43800" y="368503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cat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754879"/>
            <a:ext cx="112928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8368" y="5138927"/>
            <a:ext cx="548640" cy="548640"/>
          </a:xfrm>
          <a:prstGeom prst="ellipse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212079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166359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🏃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94560" y="5074919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94560" y="5193791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run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77639" y="5074919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77639" y="5193791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60720" y="5074919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0" y="5193791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can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60–68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🧩 Build the Sentence — Round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966682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Build it  |  60–68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20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4F"/>
                </a:solidFill>
                <a:latin typeface="Calibri"/>
              </a:rPr>
              <a:t>The words got mixed up! Put them back in order, then read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121408"/>
            <a:ext cx="548640" cy="548640"/>
          </a:xfrm>
          <a:prstGeom prst="ellipse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1945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488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☀️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2057400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217627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sun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2057400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217627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the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057400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217627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We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2057400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217627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see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246120"/>
            <a:ext cx="112928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" y="3630168"/>
            <a:ext cx="548640" cy="548640"/>
          </a:xfrm>
          <a:prstGeom prst="ellipse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7033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65760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4560" y="3566160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68503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can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77639" y="3566160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39" y="368503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dog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0" y="3566160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368503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My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43800" y="3566160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43800" y="3685032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run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754879"/>
            <a:ext cx="112928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8368" y="5138927"/>
            <a:ext cx="548640" cy="548640"/>
          </a:xfrm>
          <a:prstGeom prst="ellipse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212079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166359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94560" y="5074919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94560" y="5193791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red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77639" y="5074919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77639" y="5193791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60720" y="5074919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0" y="5193791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has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43800" y="5074919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43800" y="5193791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Ben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26880" y="5074919"/>
            <a:ext cx="1627632" cy="68580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0" y="5193791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66B"/>
                </a:solidFill>
                <a:latin typeface="Calibri"/>
              </a:rPr>
              <a:t>ball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2E7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VOCAB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68–78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📚 Story Words — Meet Ben the Bear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315017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Story words  |  68–78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21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4F"/>
                </a:solidFill>
                <a:latin typeface="Calibri"/>
              </a:rPr>
              <a:t>These words are in Ben's story. Let's meet them first!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691640"/>
            <a:ext cx="2743200" cy="2103120"/>
          </a:xfrm>
          <a:prstGeom prst="roundRect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8013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D53"/>
                </a:solidFill>
                <a:latin typeface="Arial Black"/>
              </a:rPr>
              <a:t>bear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7788"/>
                </a:solidFill>
                <a:latin typeface="Calibri"/>
              </a:rPr>
              <a:t>b - 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64408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284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Ben is a bear.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9272" y="1691640"/>
            <a:ext cx="2743200" cy="2103120"/>
          </a:xfrm>
          <a:prstGeom prst="roundRect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18013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D53"/>
                </a:solidFill>
                <a:latin typeface="Arial Black"/>
              </a:rPr>
              <a:t>ball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7788"/>
                </a:solidFill>
                <a:latin typeface="Calibri"/>
              </a:rPr>
              <a:t>b - 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56432" y="3264408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33284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I see a ball.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7064" y="1691640"/>
            <a:ext cx="2743200" cy="2103120"/>
          </a:xfrm>
          <a:prstGeom prst="roundRect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18013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D53"/>
                </a:solidFill>
                <a:latin typeface="Arial Black"/>
              </a:rPr>
              <a:t>tree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7788"/>
                </a:solidFill>
                <a:latin typeface="Calibri"/>
              </a:rPr>
              <a:t>t - ree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64224" y="3264408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33284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The tree is big.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34856" y="1691640"/>
            <a:ext cx="2743200" cy="2103120"/>
          </a:xfrm>
          <a:prstGeom prst="roundRect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26296" y="18013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D53"/>
                </a:solidFill>
                <a:latin typeface="Arial Black"/>
              </a:rPr>
              <a:t>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7788"/>
                </a:solidFill>
                <a:latin typeface="Calibri"/>
              </a:rPr>
              <a:t>r - e - 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72016" y="3264408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72016" y="33284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My ball is red.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977639"/>
            <a:ext cx="2743200" cy="2103120"/>
          </a:xfrm>
          <a:prstGeom prst="roundRect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087367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6634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D53"/>
                </a:solidFill>
                <a:latin typeface="Arial Black"/>
              </a:rPr>
              <a:t>run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2120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7788"/>
                </a:solidFill>
                <a:latin typeface="Calibri"/>
              </a:rPr>
              <a:t>r - u - 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550407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61441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I can run.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19272" y="3977639"/>
            <a:ext cx="2743200" cy="2103120"/>
          </a:xfrm>
          <a:prstGeom prst="roundRect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10712" y="4087367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10712" y="46634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D53"/>
                </a:solidFill>
                <a:latin typeface="Arial Black"/>
              </a:rPr>
              <a:t>big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10712" y="52120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7788"/>
                </a:solidFill>
                <a:latin typeface="Calibri"/>
              </a:rPr>
              <a:t>b - i - 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56432" y="5550407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56432" y="561441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The dog is big.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27064" y="3977639"/>
            <a:ext cx="2743200" cy="2103120"/>
          </a:xfrm>
          <a:prstGeom prst="roundRect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18504" y="4087367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18504" y="46634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D53"/>
                </a:solidFill>
                <a:latin typeface="Arial Black"/>
              </a:rPr>
              <a:t>happy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18504" y="52120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7788"/>
                </a:solidFill>
                <a:latin typeface="Calibri"/>
              </a:rPr>
              <a:t>hap - py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64224" y="5550407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64224" y="561441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Ben is happy.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34856" y="3977639"/>
            <a:ext cx="2743200" cy="2103120"/>
          </a:xfrm>
          <a:prstGeom prst="roundRect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26296" y="4087367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🐣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26296" y="46634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D53"/>
                </a:solidFill>
                <a:latin typeface="Arial Black"/>
              </a:rPr>
              <a:t>little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26296" y="52120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7788"/>
                </a:solidFill>
                <a:latin typeface="Calibri"/>
              </a:rPr>
              <a:t>lit - tle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72016" y="5550407"/>
            <a:ext cx="24688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72016" y="561441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42C38"/>
                </a:solidFill>
                <a:latin typeface="Calibri"/>
              </a:rPr>
              <a:t>A little bear.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68–78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📚 The Little Bear — Part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663351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Part 1  |  68–78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22 / 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81381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783080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Calibri"/>
              </a:rPr>
              <a:t>Ben is a little bear.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07208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Calibri"/>
              </a:rPr>
              <a:t>Ben has a red ball.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31336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Calibri"/>
              </a:rPr>
              <a:t>Ben can run and play.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55464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Calibri"/>
              </a:rPr>
              <a:t>Ben is happy.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371600"/>
            <a:ext cx="2926080" cy="4526280"/>
          </a:xfrm>
          <a:prstGeom prst="roundRect">
            <a:avLst/>
          </a:prstGeom>
          <a:solidFill>
            <a:srgbClr val="F4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1920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3611880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37124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1️⃣  I read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4270248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43708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2️⃣  We read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4928616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3️⃣  You pick ONE line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2E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68–78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📚 The Little Bear — Part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011685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Part 2  |  68–78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23 / 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81381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783080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Calibri"/>
              </a:rPr>
              <a:t>One day, the ball is gone.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07208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Calibri"/>
              </a:rPr>
              <a:t>Ben can not see the ball.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31336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Calibri"/>
              </a:rPr>
              <a:t>Ben looks and looks.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55464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Calibri"/>
              </a:rPr>
              <a:t>Ben sees a big tree.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371600"/>
            <a:ext cx="2926080" cy="4526280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1920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42C38"/>
                </a:solidFill>
                <a:latin typeface="Calibri"/>
              </a:rPr>
              <a:t>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3611880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37124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1️⃣  I read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4270248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43708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2️⃣  We read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4928616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3️⃣  You pick ONE line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2E7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68–78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📚 The Little Bear — Part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360019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Part 3  |  68–78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24 / 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81381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783080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Calibri"/>
              </a:rPr>
              <a:t>The ball is under the tree.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07208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Calibri"/>
              </a:rPr>
              <a:t>A cat sits on the ball.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31336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Calibri"/>
              </a:rPr>
              <a:t>"My ball!" says Ben.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55464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Calibri"/>
              </a:rPr>
              <a:t>The cat runs to Ben.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371600"/>
            <a:ext cx="2926080" cy="4526280"/>
          </a:xfrm>
          <a:prstGeom prst="roundRect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1920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42C38"/>
                </a:solidFill>
                <a:latin typeface="Calibri"/>
              </a:rPr>
              <a:t>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3611880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37124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1️⃣  I read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4270248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43708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2️⃣  We read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4928616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3️⃣  You pick ONE line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F2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68–78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📚 The Little Bear — Part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708353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Part 4  |  68–78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25 / 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81381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783080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Calibri"/>
              </a:rPr>
              <a:t>Ben gets the red ball.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07208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Calibri"/>
              </a:rPr>
              <a:t>Ben and the cat play.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31336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Calibri"/>
              </a:rPr>
              <a:t>The sun is big and hot.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55464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Calibri"/>
              </a:rPr>
              <a:t>Ben is happy.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371600"/>
            <a:ext cx="2926080" cy="4526280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19202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42C38"/>
                </a:solidFill>
                <a:latin typeface="Calibri"/>
              </a:rPr>
              <a:t>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3611880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37124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1️⃣  I read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4270248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43708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2️⃣  We read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4928616"/>
            <a:ext cx="24688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3️⃣  You pick ONE line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F2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68–78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⭐ Story Reading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056687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Story challenge  |  68–78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26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4F"/>
                </a:solidFill>
                <a:latin typeface="Calibri"/>
              </a:rPr>
              <a:t>Pick a line from Ben's story and read it. You choose which one!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98448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167128"/>
            <a:ext cx="1554480" cy="530352"/>
          </a:xfrm>
          <a:prstGeom prst="roundRect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2402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1226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Arial Black"/>
              </a:rPr>
              <a:t>Ben is happy.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64408"/>
            <a:ext cx="11292840" cy="1298448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648456"/>
            <a:ext cx="1554480" cy="530352"/>
          </a:xfrm>
          <a:prstGeom prst="roundRect">
            <a:avLst/>
          </a:prstGeom>
          <a:solidFill>
            <a:srgbClr val="F2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7216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42C38"/>
                </a:solidFill>
                <a:latin typeface="Calibri"/>
              </a:rPr>
              <a:t>⭐⭐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59359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Arial Black"/>
              </a:rPr>
              <a:t>Ben has a red ball.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45736"/>
            <a:ext cx="11292840" cy="1298448"/>
          </a:xfrm>
          <a:prstGeom prst="roundRect">
            <a:avLst/>
          </a:prstGeom>
          <a:solidFill>
            <a:srgbClr val="FD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5129784"/>
            <a:ext cx="1554480" cy="530352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0293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42C38"/>
                </a:solidFill>
                <a:latin typeface="Calibri"/>
              </a:rPr>
              <a:t>⭐⭐⭐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07492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366B"/>
                </a:solidFill>
                <a:latin typeface="Arial Black"/>
              </a:rPr>
              <a:t>The ball is under the tree.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42C3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78–84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🧩 Story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405021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Comprehension  |  78–84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27 / 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417320"/>
            <a:ext cx="11292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1874520"/>
            <a:ext cx="548640" cy="548640"/>
          </a:xfrm>
          <a:prstGeom prst="ellipse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19476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189280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366B"/>
                </a:solidFill>
                <a:latin typeface="Calibri"/>
              </a:rPr>
              <a:t>Who is the story about?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1673352"/>
            <a:ext cx="2011680" cy="96012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17647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203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66B"/>
                </a:solidFill>
                <a:latin typeface="Calibri"/>
              </a:rPr>
              <a:t>Bear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673352"/>
            <a:ext cx="2011680" cy="96012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17647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203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66B"/>
                </a:solidFill>
                <a:latin typeface="Calibri"/>
              </a:rPr>
              <a:t>Dog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673352"/>
            <a:ext cx="2011680" cy="96012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17647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203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66B"/>
                </a:solidFill>
                <a:latin typeface="Calibri"/>
              </a:rPr>
              <a:t>Cat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044952"/>
            <a:ext cx="11292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" y="3502152"/>
            <a:ext cx="548640" cy="548640"/>
          </a:xfrm>
          <a:prstGeom prst="ellipse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57530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35204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366B"/>
                </a:solidFill>
                <a:latin typeface="Calibri"/>
              </a:rPr>
              <a:t>What did Ben have?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12080" y="3300984"/>
            <a:ext cx="2011680" cy="96012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33924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8313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66B"/>
                </a:solidFill>
                <a:latin typeface="Calibri"/>
              </a:rPr>
              <a:t>Ball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3300984"/>
            <a:ext cx="2011680" cy="96012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33924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38313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66B"/>
                </a:solidFill>
                <a:latin typeface="Calibri"/>
              </a:rPr>
              <a:t>Apple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3300984"/>
            <a:ext cx="2011680" cy="96012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33924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8313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66B"/>
                </a:solidFill>
                <a:latin typeface="Calibri"/>
              </a:rPr>
              <a:t>Book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672584"/>
            <a:ext cx="112928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8368" y="5129784"/>
            <a:ext cx="548640" cy="548640"/>
          </a:xfrm>
          <a:prstGeom prst="ellipse">
            <a:avLst/>
          </a:prstGeom>
          <a:solidFill>
            <a:srgbClr val="7B4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520293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514807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366B"/>
                </a:solidFill>
                <a:latin typeface="Calibri"/>
              </a:rPr>
              <a:t>Where was the ball?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12080" y="4928616"/>
            <a:ext cx="2011680" cy="96012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50200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5458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66B"/>
                </a:solidFill>
                <a:latin typeface="Calibri"/>
              </a:rPr>
              <a:t>Under the tree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06640" y="4928616"/>
            <a:ext cx="2011680" cy="96012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50200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0" y="5458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66B"/>
                </a:solidFill>
                <a:latin typeface="Calibri"/>
              </a:rPr>
              <a:t>In the house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01200" y="4928616"/>
            <a:ext cx="2011680" cy="960120"/>
          </a:xfrm>
          <a:prstGeom prst="roundRect">
            <a:avLst/>
          </a:prstGeom>
          <a:solidFill>
            <a:srgbClr val="EF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50200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42C38"/>
                </a:solidFill>
                <a:latin typeface="Calibri"/>
              </a:rPr>
              <a:t>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5458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66B"/>
                </a:solidFill>
                <a:latin typeface="Calibri"/>
              </a:rPr>
              <a:t>On the chair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78–84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🖼️ Picture Question Game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753356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Picture game  |  78–84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28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4F"/>
                </a:solidFill>
                <a:latin typeface="Calibri"/>
              </a:rPr>
              <a:t>I read a sentence — you point to the right picture!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45920"/>
            <a:ext cx="1129284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97510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366B"/>
                </a:solidFill>
                <a:latin typeface="Calibri"/>
              </a:rPr>
              <a:t>Ben has a red ball.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847088"/>
            <a:ext cx="1463040" cy="68580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9202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42C38"/>
                </a:solidFill>
                <a:latin typeface="Calibri"/>
              </a:rPr>
              <a:t>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1847088"/>
            <a:ext cx="1463040" cy="68580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9202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42C38"/>
                </a:solidFill>
                <a:latin typeface="Calibri"/>
              </a:rPr>
              <a:t>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1847088"/>
            <a:ext cx="1463040" cy="68580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9202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42C38"/>
                </a:solidFill>
                <a:latin typeface="Calibri"/>
              </a:rPr>
              <a:t>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871216"/>
            <a:ext cx="1129284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2004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366B"/>
                </a:solidFill>
                <a:latin typeface="Calibri"/>
              </a:rPr>
              <a:t>The cat sits on the ball.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3072384"/>
            <a:ext cx="1463040" cy="68580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314553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42C38"/>
                </a:solidFill>
                <a:latin typeface="Calibri"/>
              </a:rPr>
              <a:t>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0" y="3072384"/>
            <a:ext cx="1463040" cy="68580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14553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42C38"/>
                </a:solidFill>
                <a:latin typeface="Calibri"/>
              </a:rPr>
              <a:t>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3072384"/>
            <a:ext cx="1463040" cy="68580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314553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096512"/>
            <a:ext cx="1129284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425696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366B"/>
                </a:solidFill>
                <a:latin typeface="Calibri"/>
              </a:rPr>
              <a:t>The ball is under the tree.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4297680"/>
            <a:ext cx="1463040" cy="68580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437083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42C38"/>
                </a:solidFill>
                <a:latin typeface="Calibri"/>
              </a:rPr>
              <a:t>🌳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4297680"/>
            <a:ext cx="1463040" cy="68580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437083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42C38"/>
                </a:solidFill>
                <a:latin typeface="Calibri"/>
              </a:rPr>
              <a:t>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49840" y="4297680"/>
            <a:ext cx="1463040" cy="68580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437083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42C38"/>
                </a:solidFill>
                <a:latin typeface="Calibri"/>
              </a:rPr>
              <a:t>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394960"/>
            <a:ext cx="11292840" cy="914400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5046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66B"/>
                </a:solidFill>
                <a:latin typeface="Calibri"/>
              </a:rPr>
              <a:t>Two more story questions: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978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2C38"/>
                </a:solidFill>
                <a:latin typeface="Calibri"/>
              </a:rPr>
              <a:t>4. What happened to the ball?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8978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2C38"/>
                </a:solidFill>
                <a:latin typeface="Calibri"/>
              </a:rPr>
              <a:t>5. How did Ben feel at the end?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84–87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🎯 Final Reading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101690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Final challenge  |  84–87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29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43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4F"/>
                </a:solidFill>
                <a:latin typeface="Calibri"/>
              </a:rPr>
              <a:t>Read as many as you can. Every single one counts! 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1292840" cy="1600200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366B"/>
                </a:solidFill>
                <a:latin typeface="Calibri"/>
              </a:rPr>
              <a:t>5 WORDS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286000"/>
            <a:ext cx="2011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5A4F"/>
                </a:solidFill>
                <a:latin typeface="Arial Black"/>
              </a:rPr>
              <a:t>CAT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2286000"/>
            <a:ext cx="2011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5A4F"/>
                </a:solidFill>
                <a:latin typeface="Arial Black"/>
              </a:rPr>
              <a:t>SUN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2286000"/>
            <a:ext cx="2011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5A4F"/>
                </a:solidFill>
                <a:latin typeface="Arial Black"/>
              </a:rPr>
              <a:t>BIG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199" y="2286000"/>
            <a:ext cx="2011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199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5A4F"/>
                </a:solidFill>
                <a:latin typeface="Arial Black"/>
              </a:rPr>
              <a:t>RUN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2286000"/>
            <a:ext cx="2011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5A4F"/>
                </a:solidFill>
                <a:latin typeface="Arial Black"/>
              </a:rPr>
              <a:t>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474720"/>
            <a:ext cx="11292840" cy="2331720"/>
          </a:xfrm>
          <a:prstGeom prst="roundRect">
            <a:avLst/>
          </a:prstGeom>
          <a:solidFill>
            <a:srgbClr val="DE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366B"/>
                </a:solidFill>
                <a:latin typeface="Calibri"/>
              </a:rPr>
              <a:t>3 SENTENCES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069080"/>
            <a:ext cx="1074420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12394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366B"/>
                </a:solidFill>
                <a:latin typeface="Calibri"/>
              </a:rPr>
              <a:t>I see a cat.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636008"/>
            <a:ext cx="1074420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69087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366B"/>
                </a:solidFill>
                <a:latin typeface="Calibri"/>
              </a:rPr>
              <a:t>The sun is big.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202936"/>
            <a:ext cx="1074420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257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366B"/>
                </a:solidFill>
                <a:latin typeface="Calibri"/>
              </a:rPr>
              <a:t>Ben can run.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5897880"/>
            <a:ext cx="2423160" cy="457200"/>
          </a:xfrm>
          <a:prstGeom prst="round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597103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366B"/>
                </a:solidFill>
                <a:latin typeface="Calibri"/>
              </a:rPr>
              <a:t>⭐ Every one counts!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7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2E7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87–90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🎓 What Did We Learn Today?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450024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Recap  |  87–90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30 / 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46304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28800" y="1645920"/>
            <a:ext cx="822960" cy="822960"/>
          </a:xfrm>
          <a:prstGeom prst="ellipse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177393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5420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7D53"/>
                </a:solidFill>
                <a:latin typeface="Calibri"/>
              </a:rPr>
              <a:t>Letter Sounds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5351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7788"/>
                </a:solidFill>
                <a:latin typeface="Calibri"/>
              </a:rPr>
              <a:t>A B C D E S M 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46304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23560" y="1645920"/>
            <a:ext cx="822960" cy="822960"/>
          </a:xfrm>
          <a:prstGeom prst="ellipse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177393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5420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7D53"/>
                </a:solidFill>
                <a:latin typeface="Calibri"/>
              </a:rPr>
              <a:t>Blending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95351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7788"/>
                </a:solidFill>
                <a:latin typeface="Calibri"/>
              </a:rPr>
              <a:t>C-A-T = CAT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46304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18320" y="1645920"/>
            <a:ext cx="822960" cy="822960"/>
          </a:xfrm>
          <a:prstGeom prst="ellipse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77393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25420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7D53"/>
                </a:solidFill>
                <a:latin typeface="Calibri"/>
              </a:rPr>
              <a:t>New Words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95351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7788"/>
                </a:solidFill>
                <a:latin typeface="Calibri"/>
              </a:rPr>
              <a:t>cat, sun, dog, big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70332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28800" y="3886200"/>
            <a:ext cx="822960" cy="822960"/>
          </a:xfrm>
          <a:prstGeom prst="ellipse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0" y="401421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7823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7D53"/>
                </a:solidFill>
                <a:latin typeface="Calibri"/>
              </a:rPr>
              <a:t>Sight Words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1937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7788"/>
                </a:solidFill>
                <a:latin typeface="Calibri"/>
              </a:rPr>
              <a:t>the, can, my, see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1960" y="370332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23560" y="3886200"/>
            <a:ext cx="822960" cy="822960"/>
          </a:xfrm>
          <a:prstGeom prst="ellipse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60" y="401421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7823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7D53"/>
                </a:solidFill>
                <a:latin typeface="Calibri"/>
              </a:rPr>
              <a:t>Sentences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1937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7788"/>
                </a:solidFill>
                <a:latin typeface="Calibri"/>
              </a:rPr>
              <a:t>I see a cat.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370332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418320" y="3886200"/>
            <a:ext cx="822960" cy="822960"/>
          </a:xfrm>
          <a:prstGeom prst="ellipse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0" y="401421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47823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7D53"/>
                </a:solidFill>
                <a:latin typeface="Calibri"/>
              </a:rPr>
              <a:t>A Whole Story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80" y="51937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A7788"/>
                </a:solidFill>
                <a:latin typeface="Calibri"/>
              </a:rPr>
              <a:t>The Little Bear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94360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4F"/>
                </a:solidFill>
                <a:latin typeface="Calibri"/>
              </a:rPr>
              <a:t>🗣️ What was your favorite game? What word do you remember?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REWARD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87–90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⭐ Your Reading Stars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798358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Stars  |  87–90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31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80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5A4F"/>
                </a:solidFill>
                <a:latin typeface="Calibri"/>
              </a:rPr>
              <a:t>Count your stars out loud with me!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2697480" cy="1874519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17320" y="2029968"/>
            <a:ext cx="777240" cy="777240"/>
          </a:xfrm>
          <a:prstGeom prst="ellipse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2139696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944368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Letter Sounds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1828800"/>
            <a:ext cx="2697480" cy="1874519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97680" y="2029968"/>
            <a:ext cx="777240" cy="777240"/>
          </a:xfrm>
          <a:prstGeom prst="ellipse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139696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288" y="2944368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Mystery Letter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828800"/>
            <a:ext cx="2697480" cy="1874519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78040" y="2029968"/>
            <a:ext cx="777240" cy="777240"/>
          </a:xfrm>
          <a:prstGeom prst="ellipse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2139696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944368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Sound Train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1828800"/>
            <a:ext cx="2697480" cy="1874519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8400" y="2029968"/>
            <a:ext cx="777240" cy="777240"/>
          </a:xfrm>
          <a:prstGeom prst="ellipse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2139696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8008" y="2944368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Feed the Bear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931920"/>
            <a:ext cx="2697480" cy="1874519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417320" y="4133088"/>
            <a:ext cx="777240" cy="777240"/>
          </a:xfrm>
          <a:prstGeom prst="ellipse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4242816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047488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Sight Words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3931920"/>
            <a:ext cx="2697480" cy="1874519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297680" y="4133088"/>
            <a:ext cx="777240" cy="777240"/>
          </a:xfrm>
          <a:prstGeom prst="ellipse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4242816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47288" y="5047488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Sentences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931920"/>
            <a:ext cx="2697480" cy="1874519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78040" y="4133088"/>
            <a:ext cx="777240" cy="777240"/>
          </a:xfrm>
          <a:prstGeom prst="ellipse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4242816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5047488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Ben's Story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3931920"/>
            <a:ext cx="2697480" cy="1874519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58400" y="4133088"/>
            <a:ext cx="777240" cy="777240"/>
          </a:xfrm>
          <a:prstGeom prst="ellipse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0" y="4242816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C38"/>
                </a:solidFill>
                <a:latin typeface="Calibri"/>
              </a:rPr>
              <a:t>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8008" y="5047488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366B"/>
                </a:solidFill>
                <a:latin typeface="Calibri"/>
              </a:rPr>
              <a:t>Big Challenge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731520"/>
            <a:ext cx="731520" cy="731520"/>
          </a:xfrm>
          <a:prstGeom prst="ellipse">
            <a:avLst/>
          </a:prstGeom>
          <a:solidFill>
            <a:srgbClr val="2E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777240"/>
            <a:ext cx="731520" cy="731520"/>
          </a:xfrm>
          <a:prstGeom prst="ellipse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5303520"/>
            <a:ext cx="731520" cy="731520"/>
          </a:xfrm>
          <a:prstGeom prst="ellipse">
            <a:avLst/>
          </a:prstGeom>
          <a:solidFill>
            <a:srgbClr val="009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5640" y="5257800"/>
            <a:ext cx="731520" cy="731520"/>
          </a:xfrm>
          <a:prstGeom prst="ellipse">
            <a:avLst/>
          </a:prstGeom>
          <a:solidFill>
            <a:srgbClr val="F2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C42E"/>
                </a:solidFill>
                <a:latin typeface="Georgia"/>
              </a:rPr>
              <a:t>🏆 READING EXPLORER 🏆</a:t>
            </a:r>
          </a:p>
        </p:txBody>
      </p:sp>
      <p:sp>
        <p:nvSpPr>
          <p:cNvPr id="9" name="Oval 8"/>
          <p:cNvSpPr/>
          <p:nvPr/>
        </p:nvSpPr>
        <p:spPr>
          <a:xfrm>
            <a:off x="4956048" y="1874519"/>
            <a:ext cx="2286000" cy="2286000"/>
          </a:xfrm>
          <a:prstGeom prst="ellipse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2377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42C38"/>
                </a:solidFill>
                <a:latin typeface="Calibri"/>
              </a:rPr>
              <a:t>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Georgia"/>
              </a:rPr>
              <a:t>Great Job!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You are becoming a stronger reader!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2F3FD"/>
                </a:solidFill>
                <a:latin typeface="Calibri"/>
              </a:rPr>
              <a:t>Sounds ⭐ Words ⭐ Sentences ⭐ A Whole 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19088"/>
            <a:ext cx="11146692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Badge  |  87–90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32 / 35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2E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🏡 Fun Practice at Home (Optional)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495026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Homework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33 / 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61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4F"/>
                </a:solidFill>
                <a:latin typeface="Calibri"/>
              </a:rPr>
              <a:t>Pick just ONE. Ten minutes is plenty!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37360"/>
            <a:ext cx="5440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2286000"/>
            <a:ext cx="914400" cy="914400"/>
          </a:xfrm>
          <a:prstGeom prst="ellipse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45059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21945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A8E8"/>
                </a:solidFill>
                <a:latin typeface="Calibri"/>
              </a:rPr>
              <a:t>Say the sounds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2670048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42C38"/>
                </a:solidFill>
                <a:latin typeface="Calibri"/>
              </a:rPr>
              <a:t>Read CAT, SUN, DOG out loud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20" y="3218688"/>
            <a:ext cx="1371600" cy="384048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20" y="328269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366B"/>
                </a:solidFill>
                <a:latin typeface="Calibri"/>
              </a:rPr>
              <a:t>3 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737360"/>
            <a:ext cx="5440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2286000"/>
            <a:ext cx="914400" cy="914400"/>
          </a:xfrm>
          <a:prstGeom prst="ellipse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245059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1945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A8E8"/>
                </a:solidFill>
                <a:latin typeface="Calibri"/>
              </a:rPr>
              <a:t>Sight word hunt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670048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42C38"/>
                </a:solidFill>
                <a:latin typeface="Calibri"/>
              </a:rPr>
              <a:t>Find THE and CAN in any book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3218688"/>
            <a:ext cx="1371600" cy="384048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328269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366B"/>
                </a:solidFill>
                <a:latin typeface="Calibri"/>
              </a:rPr>
              <a:t>5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31920"/>
            <a:ext cx="5440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4480560"/>
            <a:ext cx="914400" cy="914400"/>
          </a:xfrm>
          <a:prstGeom prst="ellipse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64515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20" y="4389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A8E8"/>
                </a:solidFill>
                <a:latin typeface="Calibri"/>
              </a:rPr>
              <a:t>Read to someone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20" y="4864608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42C38"/>
                </a:solidFill>
                <a:latin typeface="Calibri"/>
              </a:rPr>
              <a:t>Read "I see a cat." to a grown-up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74520" y="5413248"/>
            <a:ext cx="1371600" cy="384048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74520" y="547725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366B"/>
                </a:solidFill>
                <a:latin typeface="Calibri"/>
              </a:rPr>
              <a:t>3 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931920"/>
            <a:ext cx="5440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28232" y="4480560"/>
            <a:ext cx="914400" cy="914400"/>
          </a:xfrm>
          <a:prstGeom prst="ellipse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464515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C38"/>
                </a:solidFill>
                <a:latin typeface="Calibri"/>
              </a:rPr>
              <a:t>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389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A8E8"/>
                </a:solidFill>
                <a:latin typeface="Calibri"/>
              </a:rPr>
              <a:t>Draw Ben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864608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42C38"/>
                </a:solidFill>
                <a:latin typeface="Calibri"/>
              </a:rPr>
              <a:t>Draw the bear and his red ball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89520" y="5413248"/>
            <a:ext cx="1371600" cy="384048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0" y="547725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366B"/>
                </a:solidFill>
                <a:latin typeface="Calibri"/>
              </a:rPr>
              <a:t>5 min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📋 Teacher Assessment — Progress 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843360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34 / 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A4F"/>
                </a:solidFill>
                <a:latin typeface="Calibri"/>
              </a:rPr>
              <a:t>TEACHER ONLY — do not show this slide to the student. Record progress, not failure.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600200"/>
            <a:ext cx="3931920" cy="438912"/>
          </a:xfrm>
          <a:prstGeom prst="round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67335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600200"/>
            <a:ext cx="4937760" cy="438912"/>
          </a:xfrm>
          <a:prstGeom prst="round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68249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⭐ 1 Beginning  ·  2 Developing  ·  3 Progressing  ·  4 Strong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600200"/>
            <a:ext cx="2194560" cy="438912"/>
          </a:xfrm>
          <a:prstGeom prst="round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67335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112264"/>
            <a:ext cx="393192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18541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66B"/>
                </a:solidFill>
                <a:latin typeface="Calibri"/>
              </a:rPr>
              <a:t>Letter-sound recognition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2112264"/>
            <a:ext cx="49377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16712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A7788"/>
                </a:solidFill>
                <a:latin typeface="Calibri"/>
              </a:rPr>
              <a:t>☆      ☆      ☆      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2112264"/>
            <a:ext cx="2194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1480" y="2587752"/>
            <a:ext cx="3931920" cy="420624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66090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66B"/>
                </a:solidFill>
                <a:latin typeface="Calibri"/>
              </a:rPr>
              <a:t>Phonics / blending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2587752"/>
            <a:ext cx="4937760" cy="420624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264261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A7788"/>
                </a:solidFill>
                <a:latin typeface="Calibri"/>
              </a:rPr>
              <a:t>☆      ☆      ☆      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5480" y="2587752"/>
            <a:ext cx="2194560" cy="420624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1480" y="3063240"/>
            <a:ext cx="393192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1363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66B"/>
                </a:solidFill>
                <a:latin typeface="Calibri"/>
              </a:rPr>
              <a:t>Word recognition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60" y="3063240"/>
            <a:ext cx="49377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11810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A7788"/>
                </a:solidFill>
                <a:latin typeface="Calibri"/>
              </a:rPr>
              <a:t>☆      ☆      ☆      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55480" y="3063240"/>
            <a:ext cx="2194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11480" y="3538728"/>
            <a:ext cx="3931920" cy="420624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6118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66B"/>
                </a:solidFill>
                <a:latin typeface="Calibri"/>
              </a:rPr>
              <a:t>Sight words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3538728"/>
            <a:ext cx="4937760" cy="420624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359359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A7788"/>
                </a:solidFill>
                <a:latin typeface="Calibri"/>
              </a:rPr>
              <a:t>☆      ☆      ☆      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55480" y="3538728"/>
            <a:ext cx="2194560" cy="420624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11480" y="4014216"/>
            <a:ext cx="393192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0873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66B"/>
                </a:solidFill>
                <a:latin typeface="Calibri"/>
              </a:rPr>
              <a:t>Sentence reading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80560" y="4014216"/>
            <a:ext cx="49377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406908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A7788"/>
                </a:solidFill>
                <a:latin typeface="Calibri"/>
              </a:rPr>
              <a:t>☆      ☆      ☆      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55480" y="4014216"/>
            <a:ext cx="2194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1480" y="4489704"/>
            <a:ext cx="3931920" cy="420624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56285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66B"/>
                </a:solidFill>
                <a:latin typeface="Calibri"/>
              </a:rPr>
              <a:t>Comprehension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80560" y="4489704"/>
            <a:ext cx="4937760" cy="420624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80560" y="454456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A7788"/>
                </a:solidFill>
                <a:latin typeface="Calibri"/>
              </a:rPr>
              <a:t>☆      ☆      ☆      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55480" y="4489704"/>
            <a:ext cx="2194560" cy="420624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11480" y="4965192"/>
            <a:ext cx="393192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503834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66B"/>
                </a:solidFill>
                <a:latin typeface="Calibri"/>
              </a:rPr>
              <a:t>Speaking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80560" y="4965192"/>
            <a:ext cx="49377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80560" y="502005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A7788"/>
                </a:solidFill>
                <a:latin typeface="Calibri"/>
              </a:rPr>
              <a:t>☆      ☆      ☆      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55480" y="4965192"/>
            <a:ext cx="2194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11480" y="5440680"/>
            <a:ext cx="3931920" cy="420624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55138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66B"/>
                </a:solidFill>
                <a:latin typeface="Calibri"/>
              </a:rPr>
              <a:t>Confidence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60" y="5440680"/>
            <a:ext cx="4937760" cy="420624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0" y="549554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A7788"/>
                </a:solidFill>
                <a:latin typeface="Calibri"/>
              </a:rPr>
              <a:t>☆      ☆      ☆      ☆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55480" y="5440680"/>
            <a:ext cx="2194560" cy="420624"/>
          </a:xfrm>
          <a:prstGeom prst="roundRect">
            <a:avLst/>
          </a:prstGeom>
          <a:solidFill>
            <a:srgbClr val="E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11480" y="5916168"/>
            <a:ext cx="393192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59893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366B"/>
                </a:solidFill>
                <a:latin typeface="Calibri"/>
              </a:rPr>
              <a:t>Participation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80560" y="5916168"/>
            <a:ext cx="49377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80560" y="597103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A7788"/>
                </a:solidFill>
                <a:latin typeface="Calibri"/>
              </a:rPr>
              <a:t>☆      ☆      ☆      ☆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555480" y="5916168"/>
            <a:ext cx="2194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926080" cy="384048"/>
          </a:xfrm>
          <a:prstGeom prst="round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366B"/>
                </a:solidFill>
                <a:latin typeface="Georgia"/>
              </a:rPr>
              <a:t>🔑 Answer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FFC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🐻 The Bear's Reading Adventure  |  Grade 2  |  90 min  |  Answer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35 / 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A4F"/>
                </a:solidFill>
                <a:latin typeface="Calibri"/>
              </a:rPr>
              <a:t>TEACHER ONLY — hide this slide before presenting.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572768"/>
            <a:ext cx="557784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5A4F"/>
                </a:solidFill>
                <a:latin typeface="Calibri"/>
              </a:rPr>
              <a:t>🔤 Phonics &amp; Word Games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Mystery Letter: M, B, S, 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First sounds: /b/, /k/, /s/, /m/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Sound Train: CAT, SUN, DOG, MAP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Feed the Bear: CAT, SUN, DOG, BIG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Word Hunt: each word appears 2 times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Word Detective: the, can, my, see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Memory Match: cat=CAT, sun=SUN,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     dog=DOG, bear=BEAR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572768"/>
            <a:ext cx="557784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D53"/>
                </a:solidFill>
                <a:latin typeface="Calibri"/>
              </a:rPr>
              <a:t>📖 Sentences &amp; 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Build 1: I see a cat.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Build 2: The cat is big.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Build 3: I can run.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Build 4: We see the sun.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Build 5: My dog can run.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Build 6: Ben has a red ball.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Story Qs: Bear · Ball · Under the tree ·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     It was gone · Happy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42C38"/>
                </a:solidFill>
                <a:latin typeface="Calibri"/>
              </a:rPr>
              <a:t>•  Picture match: ball · cat · tree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