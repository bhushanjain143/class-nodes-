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36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37744"/>
          </a:xfrm>
          <a:prstGeom prst="rect">
            <a:avLst/>
          </a:prstGeom>
          <a:solidFill>
            <a:srgbClr val="FFC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94360" y="685800"/>
            <a:ext cx="731520" cy="731520"/>
          </a:xfrm>
          <a:prstGeom prst="ellipse">
            <a:avLst/>
          </a:prstGeom>
          <a:solidFill>
            <a:srgbClr val="2EA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927080" y="731520"/>
            <a:ext cx="731520" cy="731520"/>
          </a:xfrm>
          <a:prstGeom prst="ellipse">
            <a:avLst/>
          </a:prstGeom>
          <a:solidFill>
            <a:srgbClr val="E85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77240" y="5349240"/>
            <a:ext cx="731520" cy="731520"/>
          </a:xfrm>
          <a:prstGeom prst="ellipse">
            <a:avLst/>
          </a:prstGeom>
          <a:solidFill>
            <a:srgbClr val="009C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881360" y="5303520"/>
            <a:ext cx="731520" cy="731520"/>
          </a:xfrm>
          <a:prstGeom prst="ellipse">
            <a:avLst/>
          </a:prstGeom>
          <a:solidFill>
            <a:srgbClr val="F2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1430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400" b="0">
                <a:solidFill>
                  <a:srgbClr val="242C38"/>
                </a:solidFill>
                <a:latin typeface="Calibri"/>
              </a:rPr>
              <a:t>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488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FFFFF"/>
                </a:solidFill>
                <a:latin typeface="Georgia"/>
              </a:rPr>
              <a:t>Welcome, Reading Explorer!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0175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E2F3FD"/>
                </a:solidFill>
                <a:latin typeface="Calibri"/>
              </a:rPr>
              <a:t>The Bear's Reading Adventure  •  Grade 2  •  90 Minutes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00400" y="3703320"/>
            <a:ext cx="5760720" cy="1143000"/>
          </a:xfrm>
          <a:prstGeom prst="roundRect">
            <a:avLst/>
          </a:prstGeom>
          <a:solidFill>
            <a:srgbClr val="2E7D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83280" y="3931920"/>
            <a:ext cx="5394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Ben the Bear needs a reading buddy.
Today, that's YOU! 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1663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C42E"/>
                </a:solidFill>
                <a:latin typeface="Calibri"/>
              </a:rPr>
              <a:t>🔤 Sounds  →  🧩 Words  →  📖 Sentences  →  📚 A Story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419088"/>
            <a:ext cx="12191695" cy="73152"/>
          </a:xfrm>
          <a:prstGeom prst="rect">
            <a:avLst/>
          </a:prstGeom>
          <a:solidFill>
            <a:srgbClr val="E4E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6419088"/>
            <a:ext cx="348334" cy="73152"/>
          </a:xfrm>
          <a:prstGeom prst="rect">
            <a:avLst/>
          </a:prstGeom>
          <a:solidFill>
            <a:srgbClr val="FFC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636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6528816"/>
            <a:ext cx="10332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🐻 The Bear's Reading Adventure  |  Grade 2  |  90 min  |  Welcome  |  0–5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35640" y="652881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1 / 35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2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237744"/>
            <a:ext cx="2926080" cy="384048"/>
          </a:xfrm>
          <a:prstGeom prst="roundRect">
            <a:avLst/>
          </a:prstGeom>
          <a:solidFill>
            <a:srgbClr val="F2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83464"/>
            <a:ext cx="2926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MISSION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418320" y="237744"/>
            <a:ext cx="2423160" cy="384048"/>
          </a:xfrm>
          <a:prstGeom prst="roundRect">
            <a:avLst/>
          </a:prstGeom>
          <a:solidFill>
            <a:srgbClr val="E85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283464"/>
            <a:ext cx="2423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0–5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3152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366B"/>
                </a:solidFill>
                <a:latin typeface="Georgia"/>
              </a:rPr>
              <a:t>🗺️ Today's Mission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19088"/>
            <a:ext cx="12191695" cy="73152"/>
          </a:xfrm>
          <a:prstGeom prst="rect">
            <a:avLst/>
          </a:prstGeom>
          <a:solidFill>
            <a:srgbClr val="E4E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419088"/>
            <a:ext cx="696668" cy="73152"/>
          </a:xfrm>
          <a:prstGeom prst="rect">
            <a:avLst/>
          </a:prstGeom>
          <a:solidFill>
            <a:srgbClr val="FFC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636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6528816"/>
            <a:ext cx="10332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🐻 The Bear's Reading Adventure  |  Grade 2  |  90 min  |  Mission  |  0–5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35640" y="652881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2 / 35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1463040"/>
            <a:ext cx="2743200" cy="19659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63040" y="1645920"/>
            <a:ext cx="640080" cy="640080"/>
          </a:xfrm>
          <a:prstGeom prst="ellipse">
            <a:avLst/>
          </a:prstGeom>
          <a:solidFill>
            <a:srgbClr val="E85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63040" y="1746504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242C38"/>
                </a:solidFill>
                <a:latin typeface="Calibri"/>
              </a:rPr>
              <a:t>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" y="2395728"/>
            <a:ext cx="252374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16366B"/>
                </a:solidFill>
                <a:latin typeface="Calibri"/>
              </a:rPr>
              <a:t>Letter Sounds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" y="2944368"/>
            <a:ext cx="25237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6A7788"/>
                </a:solidFill>
                <a:latin typeface="Calibri"/>
              </a:rPr>
              <a:t>5–15 min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319272" y="1463040"/>
            <a:ext cx="2743200" cy="19659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370832" y="1645920"/>
            <a:ext cx="640080" cy="640080"/>
          </a:xfrm>
          <a:prstGeom prst="ellipse">
            <a:avLst/>
          </a:prstGeom>
          <a:solidFill>
            <a:srgbClr val="009C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70832" y="1746504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242C38"/>
                </a:solidFill>
                <a:latin typeface="Calibri"/>
              </a:rPr>
              <a:t>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29000" y="2395728"/>
            <a:ext cx="252374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16366B"/>
                </a:solidFill>
                <a:latin typeface="Calibri"/>
              </a:rPr>
              <a:t>Blending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29000" y="2944368"/>
            <a:ext cx="25237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6A7788"/>
                </a:solidFill>
                <a:latin typeface="Calibri"/>
              </a:rPr>
              <a:t>15–25 min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27064" y="1463040"/>
            <a:ext cx="2743200" cy="19659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278624" y="1645920"/>
            <a:ext cx="640080" cy="640080"/>
          </a:xfrm>
          <a:prstGeom prst="ellipse">
            <a:avLst/>
          </a:prstGeom>
          <a:solidFill>
            <a:srgbClr val="8B5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78624" y="1746504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242C38"/>
                </a:solidFill>
                <a:latin typeface="Calibri"/>
              </a:rPr>
              <a:t>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36792" y="2395728"/>
            <a:ext cx="252374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16366B"/>
                </a:solidFill>
                <a:latin typeface="Calibri"/>
              </a:rPr>
              <a:t>Feed the Bear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36792" y="2944368"/>
            <a:ext cx="25237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6A7788"/>
                </a:solidFill>
                <a:latin typeface="Calibri"/>
              </a:rPr>
              <a:t>25–35 min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134856" y="1463040"/>
            <a:ext cx="2743200" cy="19659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186416" y="1645920"/>
            <a:ext cx="640080" cy="640080"/>
          </a:xfrm>
          <a:prstGeom prst="ellipse">
            <a:avLst/>
          </a:prstGeom>
          <a:solidFill>
            <a:srgbClr val="7B4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186416" y="1746504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242C38"/>
                </a:solidFill>
                <a:latin typeface="Calibri"/>
              </a:rPr>
              <a:t>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44584" y="2395728"/>
            <a:ext cx="252374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16366B"/>
                </a:solidFill>
                <a:latin typeface="Calibri"/>
              </a:rPr>
              <a:t>Sight Words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44584" y="2944368"/>
            <a:ext cx="25237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6A7788"/>
                </a:solidFill>
                <a:latin typeface="Calibri"/>
              </a:rPr>
              <a:t>35–45 min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11480" y="3657600"/>
            <a:ext cx="2743200" cy="19659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463040" y="3840480"/>
            <a:ext cx="640080" cy="640080"/>
          </a:xfrm>
          <a:prstGeom prst="ellipse">
            <a:avLst/>
          </a:prstGeom>
          <a:solidFill>
            <a:srgbClr val="2EA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463040" y="3941064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242C38"/>
                </a:solidFill>
                <a:latin typeface="Calibri"/>
              </a:rPr>
              <a:t>📖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21208" y="4590288"/>
            <a:ext cx="252374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16366B"/>
                </a:solidFill>
                <a:latin typeface="Calibri"/>
              </a:rPr>
              <a:t>Sentences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1208" y="5138928"/>
            <a:ext cx="25237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6A7788"/>
                </a:solidFill>
                <a:latin typeface="Calibri"/>
              </a:rPr>
              <a:t>50–68 min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319272" y="3657600"/>
            <a:ext cx="2743200" cy="19659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4370832" y="3840480"/>
            <a:ext cx="640080" cy="640080"/>
          </a:xfrm>
          <a:prstGeom prst="ellipse">
            <a:avLst/>
          </a:prstGeom>
          <a:solidFill>
            <a:srgbClr val="2E7D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70832" y="3941064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242C38"/>
                </a:solidFill>
                <a:latin typeface="Calibri"/>
              </a:rPr>
              <a:t>📚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429000" y="4590288"/>
            <a:ext cx="252374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16366B"/>
                </a:solidFill>
                <a:latin typeface="Calibri"/>
              </a:rPr>
              <a:t>Ben's Story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29000" y="5138928"/>
            <a:ext cx="25237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6A7788"/>
                </a:solidFill>
                <a:latin typeface="Calibri"/>
              </a:rPr>
              <a:t>68–84 min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227064" y="3657600"/>
            <a:ext cx="2743200" cy="19659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7278624" y="3840480"/>
            <a:ext cx="640080" cy="640080"/>
          </a:xfrm>
          <a:prstGeom prst="ellipse">
            <a:avLst/>
          </a:prstGeom>
          <a:solidFill>
            <a:srgbClr val="F2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278624" y="3941064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242C38"/>
                </a:solidFill>
                <a:latin typeface="Calibri"/>
              </a:rPr>
              <a:t>🎯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36792" y="4590288"/>
            <a:ext cx="252374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16366B"/>
                </a:solidFill>
                <a:latin typeface="Calibri"/>
              </a:rPr>
              <a:t>Big Challenge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36792" y="5138928"/>
            <a:ext cx="25237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6A7788"/>
                </a:solidFill>
                <a:latin typeface="Calibri"/>
              </a:rPr>
              <a:t>84–87 min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134856" y="3657600"/>
            <a:ext cx="2743200" cy="19659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10186416" y="3840480"/>
            <a:ext cx="640080" cy="640080"/>
          </a:xfrm>
          <a:prstGeom prst="ellipse">
            <a:avLst/>
          </a:prstGeom>
          <a:solidFill>
            <a:srgbClr val="FFC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186416" y="3941064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242C38"/>
                </a:solidFill>
                <a:latin typeface="Calibri"/>
              </a:rPr>
              <a:t>🏆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244584" y="4590288"/>
            <a:ext cx="252374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16366B"/>
                </a:solidFill>
                <a:latin typeface="Calibri"/>
              </a:rPr>
              <a:t>Your Badge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44584" y="5138928"/>
            <a:ext cx="25237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6A7788"/>
                </a:solidFill>
                <a:latin typeface="Calibri"/>
              </a:rPr>
              <a:t>87–90 min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11480" y="5897880"/>
            <a:ext cx="8686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85A4F"/>
                </a:solidFill>
                <a:latin typeface="Calibri"/>
              </a:rPr>
              <a:t>⭐ Earn a Reading Star at every stop. Collect all 8!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9C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237744"/>
            <a:ext cx="2926080" cy="384048"/>
          </a:xfrm>
          <a:prstGeom prst="roundRect">
            <a:avLst/>
          </a:prstGeom>
          <a:solidFill>
            <a:srgbClr val="009C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83464"/>
            <a:ext cx="2926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CONNECT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418320" y="237744"/>
            <a:ext cx="2423160" cy="384048"/>
          </a:xfrm>
          <a:prstGeom prst="roundRect">
            <a:avLst/>
          </a:prstGeom>
          <a:solidFill>
            <a:srgbClr val="E85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283464"/>
            <a:ext cx="2423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0–5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3152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366B"/>
                </a:solidFill>
                <a:latin typeface="Georgia"/>
              </a:rPr>
              <a:t>💛 How Are You Today?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19088"/>
            <a:ext cx="12191695" cy="73152"/>
          </a:xfrm>
          <a:prstGeom prst="rect">
            <a:avLst/>
          </a:prstGeom>
          <a:solidFill>
            <a:srgbClr val="E4E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419088"/>
            <a:ext cx="1045002" cy="73152"/>
          </a:xfrm>
          <a:prstGeom prst="rect">
            <a:avLst/>
          </a:prstGeom>
          <a:solidFill>
            <a:srgbClr val="FFC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636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6528816"/>
            <a:ext cx="10332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🐻 The Bear's Reading Adventure  |  Grade 2  |  90 min  |  Feelings  |  0–5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35640" y="652881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3 / 35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129844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E85A4F"/>
                </a:solidFill>
                <a:latin typeface="Calibri"/>
              </a:rPr>
              <a:t>Point to your answer — no reading needed!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1828800"/>
            <a:ext cx="269748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2057400"/>
            <a:ext cx="2514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0">
                <a:solidFill>
                  <a:srgbClr val="242C38"/>
                </a:solidFill>
                <a:latin typeface="Calibri"/>
              </a:rPr>
              <a:t>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017520"/>
            <a:ext cx="2514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16366B"/>
                </a:solidFill>
                <a:latin typeface="Calibri"/>
              </a:rPr>
              <a:t>Great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83280" y="1828800"/>
            <a:ext cx="269748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74720" y="2057400"/>
            <a:ext cx="2514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0">
                <a:solidFill>
                  <a:srgbClr val="242C38"/>
                </a:solidFill>
                <a:latin typeface="Calibri"/>
              </a:rPr>
              <a:t>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0" y="3017520"/>
            <a:ext cx="2514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16366B"/>
                </a:solidFill>
                <a:latin typeface="Calibri"/>
              </a:rPr>
              <a:t>Good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1828800"/>
            <a:ext cx="269748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2057400"/>
            <a:ext cx="2514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0">
                <a:solidFill>
                  <a:srgbClr val="242C38"/>
                </a:solidFill>
                <a:latin typeface="Calibri"/>
              </a:rPr>
              <a:t>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3017520"/>
            <a:ext cx="2514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16366B"/>
                </a:solidFill>
                <a:latin typeface="Calibri"/>
              </a:rPr>
              <a:t>Okay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0" y="1828800"/>
            <a:ext cx="269748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5440" y="2057400"/>
            <a:ext cx="2514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0">
                <a:solidFill>
                  <a:srgbClr val="242C38"/>
                </a:solidFill>
                <a:latin typeface="Calibri"/>
              </a:rPr>
              <a:t>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5440" y="3017520"/>
            <a:ext cx="2514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16366B"/>
                </a:solidFill>
                <a:latin typeface="Calibri"/>
              </a:rPr>
              <a:t>Tired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3977639"/>
            <a:ext cx="8503920" cy="548640"/>
          </a:xfrm>
          <a:prstGeom prst="roundRect">
            <a:avLst/>
          </a:prstGeom>
          <a:solidFill>
            <a:srgbClr val="DE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4078223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42C38"/>
                </a:solidFill>
                <a:latin typeface="Calibri"/>
              </a:rPr>
              <a:t>🐾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34440" y="4087367"/>
            <a:ext cx="7589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6366B"/>
                </a:solidFill>
                <a:latin typeface="Calibri"/>
              </a:rPr>
              <a:t>What is your favorite animal?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4636007"/>
            <a:ext cx="8503920" cy="548640"/>
          </a:xfrm>
          <a:prstGeom prst="roundRect">
            <a:avLst/>
          </a:prstGeom>
          <a:solidFill>
            <a:srgbClr val="DE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4736591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42C38"/>
                </a:solidFill>
                <a:latin typeface="Calibri"/>
              </a:rPr>
              <a:t>🎨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34440" y="4745735"/>
            <a:ext cx="7589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6366B"/>
                </a:solidFill>
                <a:latin typeface="Calibri"/>
              </a:rPr>
              <a:t>What is your favorite color?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5294375"/>
            <a:ext cx="8503920" cy="548640"/>
          </a:xfrm>
          <a:prstGeom prst="roundRect">
            <a:avLst/>
          </a:prstGeom>
          <a:solidFill>
            <a:srgbClr val="DE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5394959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42C38"/>
                </a:solidFill>
                <a:latin typeface="Calibri"/>
              </a:rPr>
              <a:t>📚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34440" y="5404103"/>
            <a:ext cx="7589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6366B"/>
                </a:solidFill>
                <a:latin typeface="Calibri"/>
              </a:rPr>
              <a:t>Do you like stories?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418320" y="3977639"/>
            <a:ext cx="2423160" cy="457200"/>
          </a:xfrm>
          <a:prstGeom prst="roundRect">
            <a:avLst/>
          </a:prstGeom>
          <a:solidFill>
            <a:srgbClr val="FFC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418320" y="4050791"/>
            <a:ext cx="2423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6366B"/>
                </a:solidFill>
                <a:latin typeface="Calibri"/>
              </a:rPr>
              <a:t>⭐ Star #1 earned!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85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237744"/>
            <a:ext cx="2926080" cy="384048"/>
          </a:xfrm>
          <a:prstGeom prst="roundRect">
            <a:avLst/>
          </a:prstGeom>
          <a:solidFill>
            <a:srgbClr val="E85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83464"/>
            <a:ext cx="2926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PHONICS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418320" y="237744"/>
            <a:ext cx="2423160" cy="384048"/>
          </a:xfrm>
          <a:prstGeom prst="roundRect">
            <a:avLst/>
          </a:prstGeom>
          <a:solidFill>
            <a:srgbClr val="E85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283464"/>
            <a:ext cx="2423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5–15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3152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366B"/>
                </a:solidFill>
                <a:latin typeface="Georgia"/>
              </a:rPr>
              <a:t>🔤 Letter Sound Warm-Up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19088"/>
            <a:ext cx="12191695" cy="73152"/>
          </a:xfrm>
          <a:prstGeom prst="rect">
            <a:avLst/>
          </a:prstGeom>
          <a:solidFill>
            <a:srgbClr val="E4E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419088"/>
            <a:ext cx="1393336" cy="73152"/>
          </a:xfrm>
          <a:prstGeom prst="rect">
            <a:avLst/>
          </a:prstGeom>
          <a:solidFill>
            <a:srgbClr val="FFC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636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6528816"/>
            <a:ext cx="10332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🐻 The Bear's Reading Adventure  |  Grade 2  |  90 min  |  Letter sounds  |  5–15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35640" y="652881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4 / 35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1280160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85A4F"/>
                </a:solidFill>
                <a:latin typeface="Calibri"/>
              </a:rPr>
              <a:t>I say it → You say it. Then I point → You tell me!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1783080"/>
            <a:ext cx="2743200" cy="2011680"/>
          </a:xfrm>
          <a:prstGeom prst="roundRect">
            <a:avLst/>
          </a:prstGeom>
          <a:solidFill>
            <a:srgbClr val="FDEA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1208" y="1892808"/>
            <a:ext cx="1188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E85A4F"/>
                </a:solidFill>
                <a:latin typeface="Arial Black"/>
              </a:rPr>
              <a:t>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2075688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6366B"/>
                </a:solidFill>
                <a:latin typeface="Calibri"/>
              </a:rPr>
              <a:t>/a/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2834640"/>
            <a:ext cx="2468880" cy="80467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297180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242C38"/>
                </a:solidFill>
                <a:latin typeface="Calibri"/>
              </a:rPr>
              <a:t>🍎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3008376"/>
            <a:ext cx="1508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6366B"/>
                </a:solidFill>
                <a:latin typeface="Calibri"/>
              </a:rPr>
              <a:t>Apple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319272" y="1783080"/>
            <a:ext cx="2743200" cy="2011680"/>
          </a:xfrm>
          <a:prstGeom prst="roundRect">
            <a:avLst/>
          </a:prstGeom>
          <a:solidFill>
            <a:srgbClr val="F4EA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29000" y="1892808"/>
            <a:ext cx="1188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8B5E3C"/>
                </a:solidFill>
                <a:latin typeface="Arial Black"/>
              </a:rPr>
              <a:t>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36592" y="2075688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6366B"/>
                </a:solidFill>
                <a:latin typeface="Calibri"/>
              </a:rPr>
              <a:t>/b/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456432" y="2834640"/>
            <a:ext cx="2468880" cy="80467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93592" y="297180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242C38"/>
                </a:solidFill>
                <a:latin typeface="Calibri"/>
              </a:rPr>
              <a:t>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25112" y="3008376"/>
            <a:ext cx="1508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6366B"/>
                </a:solidFill>
                <a:latin typeface="Calibri"/>
              </a:rPr>
              <a:t>Bear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27064" y="1783080"/>
            <a:ext cx="2743200" cy="2011680"/>
          </a:xfrm>
          <a:prstGeom prst="roundRect">
            <a:avLst/>
          </a:prstGeom>
          <a:solidFill>
            <a:srgbClr val="E2F3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36792" y="1892808"/>
            <a:ext cx="1188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2EA8E8"/>
                </a:solidFill>
                <a:latin typeface="Arial Black"/>
              </a:rPr>
              <a:t>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44384" y="2075688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6366B"/>
                </a:solidFill>
                <a:latin typeface="Calibri"/>
              </a:rPr>
              <a:t>/k/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64224" y="2834640"/>
            <a:ext cx="2468880" cy="80467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01384" y="297180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242C38"/>
                </a:solidFill>
                <a:latin typeface="Calibri"/>
              </a:rPr>
              <a:t>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32904" y="3008376"/>
            <a:ext cx="1508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6366B"/>
                </a:solidFill>
                <a:latin typeface="Calibri"/>
              </a:rPr>
              <a:t>Cat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134856" y="1783080"/>
            <a:ext cx="2743200" cy="2011680"/>
          </a:xfrm>
          <a:prstGeom prst="roundRect">
            <a:avLst/>
          </a:prstGeom>
          <a:solidFill>
            <a:srgbClr val="E4F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44584" y="1892808"/>
            <a:ext cx="1188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2E7D53"/>
                </a:solidFill>
                <a:latin typeface="Arial Black"/>
              </a:rPr>
              <a:t>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52176" y="2075688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6366B"/>
                </a:solidFill>
                <a:latin typeface="Calibri"/>
              </a:rPr>
              <a:t>/d/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272016" y="2834640"/>
            <a:ext cx="2468880" cy="80467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409176" y="297180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242C38"/>
                </a:solidFill>
                <a:latin typeface="Calibri"/>
              </a:rPr>
              <a:t>🐶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40696" y="3008376"/>
            <a:ext cx="1508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6366B"/>
                </a:solidFill>
                <a:latin typeface="Calibri"/>
              </a:rPr>
              <a:t>Dog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11480" y="3977639"/>
            <a:ext cx="2743200" cy="2011680"/>
          </a:xfrm>
          <a:prstGeom prst="roundRect">
            <a:avLst/>
          </a:prstGeom>
          <a:solidFill>
            <a:srgbClr val="FFF2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21208" y="4087367"/>
            <a:ext cx="1188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F2A11B"/>
                </a:solidFill>
                <a:latin typeface="Arial Black"/>
              </a:rPr>
              <a:t>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28800" y="4270247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6366B"/>
                </a:solidFill>
                <a:latin typeface="Calibri"/>
              </a:rPr>
              <a:t>/e/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48640" y="5029199"/>
            <a:ext cx="2468880" cy="80467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85800" y="5166359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242C38"/>
                </a:solidFill>
                <a:latin typeface="Calibri"/>
              </a:rPr>
              <a:t>🥚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417320" y="5202935"/>
            <a:ext cx="1508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6366B"/>
                </a:solidFill>
                <a:latin typeface="Calibri"/>
              </a:rPr>
              <a:t>Egg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319272" y="3977639"/>
            <a:ext cx="2743200" cy="2011680"/>
          </a:xfrm>
          <a:prstGeom prst="roundRect">
            <a:avLst/>
          </a:prstGeom>
          <a:solidFill>
            <a:srgbClr val="FFF2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429000" y="4087367"/>
            <a:ext cx="1188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FFC42E"/>
                </a:solidFill>
                <a:latin typeface="Arial Black"/>
              </a:rPr>
              <a:t>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736592" y="4270247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6366B"/>
                </a:solidFill>
                <a:latin typeface="Calibri"/>
              </a:rPr>
              <a:t>/s/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456432" y="5029199"/>
            <a:ext cx="2468880" cy="80467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593592" y="5166359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242C38"/>
                </a:solidFill>
                <a:latin typeface="Calibri"/>
              </a:rPr>
              <a:t>☀️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325112" y="5202935"/>
            <a:ext cx="1508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6366B"/>
                </a:solidFill>
                <a:latin typeface="Calibri"/>
              </a:rPr>
              <a:t>Sun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227064" y="3977639"/>
            <a:ext cx="2743200" cy="2011680"/>
          </a:xfrm>
          <a:prstGeom prst="roundRect">
            <a:avLst/>
          </a:prstGeom>
          <a:solidFill>
            <a:srgbClr val="EF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36792" y="4087367"/>
            <a:ext cx="1188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7B4FB8"/>
                </a:solidFill>
                <a:latin typeface="Arial Black"/>
              </a:rPr>
              <a:t>M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644384" y="4270247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6366B"/>
                </a:solidFill>
                <a:latin typeface="Calibri"/>
              </a:rPr>
              <a:t>/m/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364224" y="5029199"/>
            <a:ext cx="2468880" cy="80467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501384" y="5166359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242C38"/>
                </a:solidFill>
                <a:latin typeface="Calibri"/>
              </a:rPr>
              <a:t>🌙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232904" y="5202935"/>
            <a:ext cx="1508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6366B"/>
                </a:solidFill>
                <a:latin typeface="Calibri"/>
              </a:rPr>
              <a:t>Moon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134856" y="3977639"/>
            <a:ext cx="2743200" cy="2011680"/>
          </a:xfrm>
          <a:prstGeom prst="roundRect">
            <a:avLst/>
          </a:prstGeom>
          <a:solidFill>
            <a:srgbClr val="FDEA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244584" y="4087367"/>
            <a:ext cx="1188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E85A4F"/>
                </a:solidFill>
                <a:latin typeface="Arial Black"/>
              </a:rPr>
              <a:t>R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552176" y="4270247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6366B"/>
                </a:solidFill>
                <a:latin typeface="Calibri"/>
              </a:rPr>
              <a:t>/r/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272016" y="5029199"/>
            <a:ext cx="2468880" cy="80467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409176" y="5166359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242C38"/>
                </a:solidFill>
                <a:latin typeface="Calibri"/>
              </a:rPr>
              <a:t>🔴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140696" y="5202935"/>
            <a:ext cx="1508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6366B"/>
                </a:solidFill>
                <a:latin typeface="Calibri"/>
              </a:rPr>
              <a:t>Red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B4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237744"/>
            <a:ext cx="2926080" cy="384048"/>
          </a:xfrm>
          <a:prstGeom prst="roundRect">
            <a:avLst/>
          </a:prstGeom>
          <a:solidFill>
            <a:srgbClr val="7B4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83464"/>
            <a:ext cx="2926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GAME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418320" y="237744"/>
            <a:ext cx="2423160" cy="384048"/>
          </a:xfrm>
          <a:prstGeom prst="roundRect">
            <a:avLst/>
          </a:prstGeom>
          <a:solidFill>
            <a:srgbClr val="E85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283464"/>
            <a:ext cx="2423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5–15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3152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366B"/>
                </a:solidFill>
                <a:latin typeface="Georgia"/>
              </a:rPr>
              <a:t>🎁 Mystery Letter Game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19088"/>
            <a:ext cx="12191695" cy="73152"/>
          </a:xfrm>
          <a:prstGeom prst="rect">
            <a:avLst/>
          </a:prstGeom>
          <a:solidFill>
            <a:srgbClr val="E4E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419088"/>
            <a:ext cx="1741670" cy="73152"/>
          </a:xfrm>
          <a:prstGeom prst="rect">
            <a:avLst/>
          </a:prstGeom>
          <a:solidFill>
            <a:srgbClr val="FFC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636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6528816"/>
            <a:ext cx="10332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🐻 The Bear's Reading Adventure  |  Grade 2  |  90 min  |  Mystery letter  |  5–15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35640" y="652881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5 / 35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1280160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E85A4F"/>
                </a:solidFill>
                <a:latin typeface="Calibri"/>
              </a:rPr>
              <a:t>I am thinking of a letter... Who am I?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1783080"/>
            <a:ext cx="5440680" cy="2011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85800" y="2331720"/>
            <a:ext cx="914400" cy="914400"/>
          </a:xfrm>
          <a:prstGeom prst="ellipse">
            <a:avLst/>
          </a:prstGeom>
          <a:solidFill>
            <a:srgbClr val="EF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2496312"/>
            <a:ext cx="914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242C38"/>
                </a:solidFill>
                <a:latin typeface="Calibri"/>
              </a:rPr>
              <a:t>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2167128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6366B"/>
                </a:solidFill>
                <a:latin typeface="Calibri"/>
              </a:rPr>
              <a:t>I make the sound /m/.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265176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6A7788"/>
                </a:solidFill>
                <a:latin typeface="Calibri"/>
              </a:rPr>
              <a:t>You hear me in Moon.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28800" y="3154680"/>
            <a:ext cx="2011680" cy="502920"/>
          </a:xfrm>
          <a:prstGeom prst="roundRect">
            <a:avLst/>
          </a:prstGeom>
          <a:solidFill>
            <a:srgbClr val="FFF2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828800" y="3227832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16366B"/>
                </a:solidFill>
                <a:latin typeface="Calibri"/>
              </a:rPr>
              <a:t>Who am I?  ___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1783080"/>
            <a:ext cx="5440680" cy="2011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00800" y="2331720"/>
            <a:ext cx="914400" cy="914400"/>
          </a:xfrm>
          <a:prstGeom prst="ellipse">
            <a:avLst/>
          </a:prstGeom>
          <a:solidFill>
            <a:srgbClr val="EF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2496312"/>
            <a:ext cx="914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242C38"/>
                </a:solidFill>
                <a:latin typeface="Calibri"/>
              </a:rPr>
              <a:t>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43800" y="2167128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6366B"/>
                </a:solidFill>
                <a:latin typeface="Calibri"/>
              </a:rPr>
              <a:t>I make the sound /b/.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43800" y="265176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6A7788"/>
                </a:solidFill>
                <a:latin typeface="Calibri"/>
              </a:rPr>
              <a:t>You hear me in Bear.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543800" y="3154680"/>
            <a:ext cx="2011680" cy="502920"/>
          </a:xfrm>
          <a:prstGeom prst="roundRect">
            <a:avLst/>
          </a:prstGeom>
          <a:solidFill>
            <a:srgbClr val="FFF2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43800" y="3227832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16366B"/>
                </a:solidFill>
                <a:latin typeface="Calibri"/>
              </a:rPr>
              <a:t>Who am I?  ___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3977639"/>
            <a:ext cx="5440680" cy="2011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85800" y="4526279"/>
            <a:ext cx="914400" cy="914400"/>
          </a:xfrm>
          <a:prstGeom prst="ellipse">
            <a:avLst/>
          </a:prstGeom>
          <a:solidFill>
            <a:srgbClr val="EF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4690871"/>
            <a:ext cx="914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242C38"/>
                </a:solidFill>
                <a:latin typeface="Calibri"/>
              </a:rPr>
              <a:t>☀️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828800" y="4361687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6366B"/>
                </a:solidFill>
                <a:latin typeface="Calibri"/>
              </a:rPr>
              <a:t>I make the sound /s/.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28800" y="4846319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6A7788"/>
                </a:solidFill>
                <a:latin typeface="Calibri"/>
              </a:rPr>
              <a:t>You hear me in Sun.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828800" y="5349239"/>
            <a:ext cx="2011680" cy="502920"/>
          </a:xfrm>
          <a:prstGeom prst="roundRect">
            <a:avLst/>
          </a:prstGeom>
          <a:solidFill>
            <a:srgbClr val="FFF2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828800" y="5422391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16366B"/>
                </a:solidFill>
                <a:latin typeface="Calibri"/>
              </a:rPr>
              <a:t>Who am I?  ___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72200" y="3977639"/>
            <a:ext cx="5440680" cy="2011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400800" y="4526279"/>
            <a:ext cx="914400" cy="914400"/>
          </a:xfrm>
          <a:prstGeom prst="ellipse">
            <a:avLst/>
          </a:prstGeom>
          <a:solidFill>
            <a:srgbClr val="EF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0" y="4690871"/>
            <a:ext cx="914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242C38"/>
                </a:solidFill>
                <a:latin typeface="Calibri"/>
              </a:rPr>
              <a:t>🐱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43800" y="4361687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6366B"/>
                </a:solidFill>
                <a:latin typeface="Calibri"/>
              </a:rPr>
              <a:t>I make the sound /t/.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43800" y="4846319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6A7788"/>
                </a:solidFill>
                <a:latin typeface="Calibri"/>
              </a:rPr>
              <a:t>You hear me at the END of Cat.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543800" y="5349239"/>
            <a:ext cx="2011680" cy="502920"/>
          </a:xfrm>
          <a:prstGeom prst="roundRect">
            <a:avLst/>
          </a:prstGeom>
          <a:solidFill>
            <a:srgbClr val="FFF2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543800" y="5422391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16366B"/>
                </a:solidFill>
                <a:latin typeface="Calibri"/>
              </a:rPr>
              <a:t>Who am I?  ___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9C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237744"/>
            <a:ext cx="2926080" cy="384048"/>
          </a:xfrm>
          <a:prstGeom prst="roundRect">
            <a:avLst/>
          </a:prstGeom>
          <a:solidFill>
            <a:srgbClr val="009C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83464"/>
            <a:ext cx="2926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GAME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418320" y="237744"/>
            <a:ext cx="2423160" cy="384048"/>
          </a:xfrm>
          <a:prstGeom prst="roundRect">
            <a:avLst/>
          </a:prstGeom>
          <a:solidFill>
            <a:srgbClr val="E85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283464"/>
            <a:ext cx="2423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5–15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3152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366B"/>
                </a:solidFill>
                <a:latin typeface="Georgia"/>
              </a:rPr>
              <a:t>🔍 Letter Detective: First Sounds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19088"/>
            <a:ext cx="12191695" cy="73152"/>
          </a:xfrm>
          <a:prstGeom prst="rect">
            <a:avLst/>
          </a:prstGeom>
          <a:solidFill>
            <a:srgbClr val="E4E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419088"/>
            <a:ext cx="2090004" cy="73152"/>
          </a:xfrm>
          <a:prstGeom prst="rect">
            <a:avLst/>
          </a:prstGeom>
          <a:solidFill>
            <a:srgbClr val="FFC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636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6528816"/>
            <a:ext cx="10332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🐻 The Bear's Reading Adventure  |  Grade 2  |  90 min  |  First sounds  |  5–15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35640" y="652881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6 / 35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1261872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E85A4F"/>
                </a:solidFill>
                <a:latin typeface="Calibri"/>
              </a:rPr>
              <a:t>What sound do you hear FIRST?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1737360"/>
            <a:ext cx="2697480" cy="2148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1938528"/>
            <a:ext cx="2514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0">
                <a:solidFill>
                  <a:srgbClr val="242C38"/>
                </a:solidFill>
                <a:latin typeface="Calibri"/>
              </a:rPr>
              <a:t>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83464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6366B"/>
                </a:solidFill>
                <a:latin typeface="Calibri"/>
              </a:rPr>
              <a:t>bear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3364992"/>
            <a:ext cx="1325880" cy="411480"/>
          </a:xfrm>
          <a:prstGeom prst="roundRect">
            <a:avLst/>
          </a:prstGeom>
          <a:solidFill>
            <a:srgbClr val="DE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3419856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9C8F"/>
                </a:solidFill>
                <a:latin typeface="Calibri"/>
              </a:rPr>
              <a:t>/ ? /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337560" y="1737360"/>
            <a:ext cx="2697480" cy="2148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29000" y="1938528"/>
            <a:ext cx="2514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0">
                <a:solidFill>
                  <a:srgbClr val="242C38"/>
                </a:solidFill>
                <a:latin typeface="Calibri"/>
              </a:rPr>
              <a:t>🐱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29000" y="283464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6366B"/>
                </a:solidFill>
                <a:latin typeface="Calibri"/>
              </a:rPr>
              <a:t>cat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023360" y="3364992"/>
            <a:ext cx="1325880" cy="411480"/>
          </a:xfrm>
          <a:prstGeom prst="roundRect">
            <a:avLst/>
          </a:prstGeom>
          <a:solidFill>
            <a:srgbClr val="DE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23360" y="3419856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9C8F"/>
                </a:solidFill>
                <a:latin typeface="Calibri"/>
              </a:rPr>
              <a:t>/ ? /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1737360"/>
            <a:ext cx="2697480" cy="2148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0" y="1938528"/>
            <a:ext cx="2514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0">
                <a:solidFill>
                  <a:srgbClr val="242C38"/>
                </a:solidFill>
                <a:latin typeface="Calibri"/>
              </a:rPr>
              <a:t>☀️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283464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6366B"/>
                </a:solidFill>
                <a:latin typeface="Calibri"/>
              </a:rPr>
              <a:t>sun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903720" y="3364992"/>
            <a:ext cx="1325880" cy="411480"/>
          </a:xfrm>
          <a:prstGeom prst="roundRect">
            <a:avLst/>
          </a:prstGeom>
          <a:solidFill>
            <a:srgbClr val="DE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03720" y="3419856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9C8F"/>
                </a:solidFill>
                <a:latin typeface="Calibri"/>
              </a:rPr>
              <a:t>/ ? /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98280" y="1737360"/>
            <a:ext cx="2697480" cy="2148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9720" y="1938528"/>
            <a:ext cx="2514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0">
                <a:solidFill>
                  <a:srgbClr val="242C38"/>
                </a:solidFill>
                <a:latin typeface="Calibri"/>
              </a:rPr>
              <a:t>🌙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89720" y="283464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6366B"/>
                </a:solidFill>
                <a:latin typeface="Calibri"/>
              </a:rPr>
              <a:t>moon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784080" y="3364992"/>
            <a:ext cx="1325880" cy="411480"/>
          </a:xfrm>
          <a:prstGeom prst="roundRect">
            <a:avLst/>
          </a:prstGeom>
          <a:solidFill>
            <a:srgbClr val="DE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784080" y="3419856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9C8F"/>
                </a:solidFill>
                <a:latin typeface="Calibri"/>
              </a:rPr>
              <a:t>/ ? /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4114800"/>
            <a:ext cx="11292840" cy="1691640"/>
          </a:xfrm>
          <a:prstGeom prst="roundRect">
            <a:avLst/>
          </a:prstGeom>
          <a:solidFill>
            <a:srgbClr val="FFF2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800" y="4279392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6366B"/>
                </a:solidFill>
                <a:latin typeface="Calibri"/>
              </a:rPr>
              <a:t>🎈 BONUS (only if the student is ready) — Two letters, one sound: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85800" y="4754880"/>
            <a:ext cx="2560320" cy="868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2960" y="4864608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242C38"/>
                </a:solidFill>
                <a:latin typeface="Calibri"/>
              </a:rPr>
              <a:t>🤫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600200" y="4846320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E85A4F"/>
                </a:solidFill>
                <a:latin typeface="Calibri"/>
              </a:rPr>
              <a:t>sh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600200" y="5230368"/>
            <a:ext cx="1463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A7788"/>
                </a:solidFill>
                <a:latin typeface="Calibri"/>
              </a:rPr>
              <a:t>shhh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74720" y="4754880"/>
            <a:ext cx="2560320" cy="868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11880" y="4864608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242C38"/>
                </a:solidFill>
                <a:latin typeface="Calibri"/>
              </a:rPr>
              <a:t>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89120" y="4846320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E85A4F"/>
                </a:solidFill>
                <a:latin typeface="Calibri"/>
              </a:rPr>
              <a:t>ch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89120" y="5230368"/>
            <a:ext cx="1463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A7788"/>
                </a:solidFill>
                <a:latin typeface="Calibri"/>
              </a:rPr>
              <a:t>ch-ch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263640" y="4754880"/>
            <a:ext cx="2560320" cy="868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00800" y="4864608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242C38"/>
                </a:solidFill>
                <a:latin typeface="Calibri"/>
              </a:rPr>
              <a:t>👍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178040" y="4846320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E85A4F"/>
                </a:solidFill>
                <a:latin typeface="Calibri"/>
              </a:rPr>
              <a:t>th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178040" y="5230368"/>
            <a:ext cx="1463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A7788"/>
                </a:solidFill>
                <a:latin typeface="Calibri"/>
              </a:rPr>
              <a:t>thumb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052559" y="4754880"/>
            <a:ext cx="2560320" cy="868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189719" y="4864608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242C38"/>
                </a:solidFill>
                <a:latin typeface="Calibri"/>
              </a:rPr>
              <a:t>🐋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6959" y="4846320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E85A4F"/>
                </a:solidFill>
                <a:latin typeface="Calibri"/>
              </a:rPr>
              <a:t>wh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6959" y="5230368"/>
            <a:ext cx="1463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A7788"/>
                </a:solidFill>
                <a:latin typeface="Calibri"/>
              </a:rPr>
              <a:t>whale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E7D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237744"/>
            <a:ext cx="2926080" cy="384048"/>
          </a:xfrm>
          <a:prstGeom prst="roundRect">
            <a:avLst/>
          </a:prstGeom>
          <a:solidFill>
            <a:srgbClr val="2E7D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83464"/>
            <a:ext cx="2926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PHONICS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418320" y="237744"/>
            <a:ext cx="2423160" cy="384048"/>
          </a:xfrm>
          <a:prstGeom prst="roundRect">
            <a:avLst/>
          </a:prstGeom>
          <a:solidFill>
            <a:srgbClr val="E85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283464"/>
            <a:ext cx="2423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15–25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3152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366B"/>
                </a:solidFill>
                <a:latin typeface="Georgia"/>
              </a:rPr>
              <a:t>🎵 Blending: Sounds Become Words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19088"/>
            <a:ext cx="12191695" cy="73152"/>
          </a:xfrm>
          <a:prstGeom prst="rect">
            <a:avLst/>
          </a:prstGeom>
          <a:solidFill>
            <a:srgbClr val="E4E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419088"/>
            <a:ext cx="2438339" cy="73152"/>
          </a:xfrm>
          <a:prstGeom prst="rect">
            <a:avLst/>
          </a:prstGeom>
          <a:solidFill>
            <a:srgbClr val="FFC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636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6528816"/>
            <a:ext cx="10332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🐻 The Bear's Reading Adventure  |  Grade 2  |  90 min  |  Blending  |  15–25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35640" y="652881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7 / 35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1371600"/>
            <a:ext cx="11292840" cy="2286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234440" y="1691640"/>
            <a:ext cx="1737360" cy="1645920"/>
          </a:xfrm>
          <a:prstGeom prst="roundRect">
            <a:avLst/>
          </a:prstGeom>
          <a:solidFill>
            <a:srgbClr val="E2F3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34440" y="1828800"/>
            <a:ext cx="1737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>
                <a:solidFill>
                  <a:srgbClr val="2EA8E8"/>
                </a:solidFill>
                <a:latin typeface="Arial Black"/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269748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6366B"/>
                </a:solidFill>
                <a:latin typeface="Calibri"/>
              </a:rPr>
              <a:t>/k/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17520" y="214884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6A7788"/>
                </a:solidFill>
                <a:latin typeface="Calibri"/>
              </a:rPr>
              <a:t>+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520440" y="1691640"/>
            <a:ext cx="1737360" cy="1645920"/>
          </a:xfrm>
          <a:prstGeom prst="roundRect">
            <a:avLst/>
          </a:prstGeom>
          <a:solidFill>
            <a:srgbClr val="E2F3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20440" y="1828800"/>
            <a:ext cx="1737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>
                <a:solidFill>
                  <a:srgbClr val="E85A4F"/>
                </a:solidFill>
                <a:latin typeface="Arial Black"/>
              </a:rPr>
              <a:t>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20440" y="269748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6366B"/>
                </a:solidFill>
                <a:latin typeface="Calibri"/>
              </a:rPr>
              <a:t>/a/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3520" y="214884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6A7788"/>
                </a:solidFill>
                <a:latin typeface="Calibri"/>
              </a:rPr>
              <a:t>+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806440" y="1691640"/>
            <a:ext cx="1737360" cy="1645920"/>
          </a:xfrm>
          <a:prstGeom prst="roundRect">
            <a:avLst/>
          </a:prstGeom>
          <a:solidFill>
            <a:srgbClr val="E2F3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06440" y="1828800"/>
            <a:ext cx="1737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>
                <a:solidFill>
                  <a:srgbClr val="2E7D53"/>
                </a:solidFill>
                <a:latin typeface="Arial Black"/>
              </a:rPr>
              <a:t>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06440" y="269748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6366B"/>
                </a:solidFill>
                <a:latin typeface="Calibri"/>
              </a:rPr>
              <a:t>/t/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38160" y="214884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6A7788"/>
                </a:solidFill>
                <a:latin typeface="Calibri"/>
              </a:rPr>
              <a:t>=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869680" y="1691640"/>
            <a:ext cx="2514600" cy="1645920"/>
          </a:xfrm>
          <a:prstGeom prst="roundRect">
            <a:avLst/>
          </a:prstGeom>
          <a:solidFill>
            <a:srgbClr val="FFF2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69680" y="1828800"/>
            <a:ext cx="2514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16366B"/>
                </a:solidFill>
                <a:latin typeface="Arial Black"/>
              </a:rPr>
              <a:t>CAT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69680" y="269748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242C38"/>
                </a:solidFill>
                <a:latin typeface="Calibri"/>
              </a:rPr>
              <a:t>🐱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3931920"/>
            <a:ext cx="3566160" cy="1371600"/>
          </a:xfrm>
          <a:prstGeom prst="roundRect">
            <a:avLst/>
          </a:prstGeom>
          <a:solidFill>
            <a:srgbClr val="FFF2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4059936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242C38"/>
                </a:solidFill>
                <a:latin typeface="Calibri"/>
              </a:rPr>
              <a:t>1️⃣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4498848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16366B"/>
                </a:solidFill>
                <a:latin typeface="Calibri"/>
              </a:rPr>
              <a:t>I blend it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4901184"/>
            <a:ext cx="3291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6366B"/>
                </a:solidFill>
                <a:latin typeface="Calibri"/>
              </a:rPr>
              <a:t>Listen and follow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297680" y="3931920"/>
            <a:ext cx="3566160" cy="1371600"/>
          </a:xfrm>
          <a:prstGeom prst="roundRect">
            <a:avLst/>
          </a:prstGeom>
          <a:solidFill>
            <a:srgbClr val="DE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34840" y="4059936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242C38"/>
                </a:solidFill>
                <a:latin typeface="Calibri"/>
              </a:rPr>
              <a:t>2️⃣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34840" y="4498848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16366B"/>
                </a:solidFill>
                <a:latin typeface="Calibri"/>
              </a:rPr>
              <a:t>We blend it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34840" y="4901184"/>
            <a:ext cx="3291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6366B"/>
                </a:solidFill>
                <a:latin typeface="Calibri"/>
              </a:rPr>
              <a:t>Say it with me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092440" y="3931920"/>
            <a:ext cx="3566160" cy="1371600"/>
          </a:xfrm>
          <a:prstGeom prst="roundRect">
            <a:avLst/>
          </a:prstGeom>
          <a:solidFill>
            <a:srgbClr val="2E7D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29600" y="4059936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242C38"/>
                </a:solidFill>
                <a:latin typeface="Calibri"/>
              </a:rPr>
              <a:t>3️⃣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29600" y="4498848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YOU blend it!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0" y="4901184"/>
            <a:ext cx="3291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Your turn 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5532120"/>
            <a:ext cx="8229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E85A4F"/>
                </a:solidFill>
                <a:latin typeface="Calibri"/>
              </a:rPr>
              <a:t>🐢 Slow:  /k/ ... /a/ ... /t/       🐇 Fast:  CAT!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EA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237744"/>
            <a:ext cx="2926080" cy="384048"/>
          </a:xfrm>
          <a:prstGeom prst="roundRect">
            <a:avLst/>
          </a:prstGeom>
          <a:solidFill>
            <a:srgbClr val="2EA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83464"/>
            <a:ext cx="2926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GAME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418320" y="237744"/>
            <a:ext cx="2423160" cy="384048"/>
          </a:xfrm>
          <a:prstGeom prst="roundRect">
            <a:avLst/>
          </a:prstGeom>
          <a:solidFill>
            <a:srgbClr val="E85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283464"/>
            <a:ext cx="2423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15–25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3152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366B"/>
                </a:solidFill>
                <a:latin typeface="Georgia"/>
              </a:rPr>
              <a:t>🚂 Game: Sound Train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19088"/>
            <a:ext cx="12191695" cy="73152"/>
          </a:xfrm>
          <a:prstGeom prst="rect">
            <a:avLst/>
          </a:prstGeom>
          <a:solidFill>
            <a:srgbClr val="E4E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419088"/>
            <a:ext cx="2786673" cy="73152"/>
          </a:xfrm>
          <a:prstGeom prst="rect">
            <a:avLst/>
          </a:prstGeom>
          <a:solidFill>
            <a:srgbClr val="FFC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636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6528816"/>
            <a:ext cx="10332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🐻 The Bear's Reading Adventure  |  Grade 2  |  90 min  |  Sound train  |  15–25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35640" y="652881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8 / 35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1261872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85A4F"/>
                </a:solidFill>
                <a:latin typeface="Calibri"/>
              </a:rPr>
              <a:t>Each car is a sound. Push them together and the train says a word!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1737360"/>
            <a:ext cx="11292840" cy="10241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1993392"/>
            <a:ext cx="640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242C38"/>
                </a:solidFill>
                <a:latin typeface="Calibri"/>
              </a:rPr>
              <a:t>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63040" y="1920240"/>
            <a:ext cx="1234440" cy="658368"/>
          </a:xfrm>
          <a:prstGeom prst="roundRect">
            <a:avLst/>
          </a:prstGeom>
          <a:solidFill>
            <a:srgbClr val="E2F3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63040" y="2011680"/>
            <a:ext cx="1234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2EA8E8"/>
                </a:solidFill>
                <a:latin typeface="Arial Black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06624" y="2029968"/>
            <a:ext cx="18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6A7788"/>
                </a:solidFill>
                <a:latin typeface="Calibri"/>
              </a:rPr>
              <a:t>›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880360" y="1920240"/>
            <a:ext cx="1234440" cy="658368"/>
          </a:xfrm>
          <a:prstGeom prst="roundRect">
            <a:avLst/>
          </a:prstGeom>
          <a:solidFill>
            <a:srgbClr val="E2F3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880360" y="2011680"/>
            <a:ext cx="1234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2EA8E8"/>
                </a:solidFill>
                <a:latin typeface="Arial Black"/>
              </a:rPr>
              <a:t>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23944" y="2029968"/>
            <a:ext cx="18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6A7788"/>
                </a:solidFill>
                <a:latin typeface="Calibri"/>
              </a:rPr>
              <a:t>›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0" y="1920240"/>
            <a:ext cx="1234440" cy="658368"/>
          </a:xfrm>
          <a:prstGeom prst="roundRect">
            <a:avLst/>
          </a:prstGeom>
          <a:solidFill>
            <a:srgbClr val="E2F3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97680" y="2011680"/>
            <a:ext cx="1234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2EA8E8"/>
                </a:solidFill>
                <a:latin typeface="Arial Black"/>
              </a:rPr>
              <a:t>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201168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242C38"/>
                </a:solidFill>
                <a:latin typeface="Calibri"/>
              </a:rPr>
              <a:t>➡️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0" y="1920240"/>
            <a:ext cx="2377440" cy="658368"/>
          </a:xfrm>
          <a:prstGeom prst="roundRect">
            <a:avLst/>
          </a:prstGeom>
          <a:solidFill>
            <a:srgbClr val="FFF2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0" y="1993392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16366B"/>
                </a:solidFill>
                <a:latin typeface="Arial Black"/>
              </a:rPr>
              <a:t>CAT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09760" y="1975104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242C38"/>
                </a:solidFill>
                <a:latin typeface="Calibri"/>
              </a:rPr>
              <a:t>🐱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515600" y="2011680"/>
            <a:ext cx="1051560" cy="457200"/>
          </a:xfrm>
          <a:prstGeom prst="roundRect">
            <a:avLst/>
          </a:prstGeom>
          <a:solidFill>
            <a:srgbClr val="DE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515600" y="2075688"/>
            <a:ext cx="1051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42C38"/>
                </a:solidFill>
                <a:latin typeface="Calibri"/>
              </a:rPr>
              <a:t>⭐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2907791"/>
            <a:ext cx="11292840" cy="10241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3163823"/>
            <a:ext cx="640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242C38"/>
                </a:solidFill>
                <a:latin typeface="Calibri"/>
              </a:rPr>
              <a:t>🚂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63040" y="3090671"/>
            <a:ext cx="1234440" cy="658368"/>
          </a:xfrm>
          <a:prstGeom prst="roundRect">
            <a:avLst/>
          </a:prstGeom>
          <a:solidFill>
            <a:srgbClr val="FFF2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463040" y="3182111"/>
            <a:ext cx="1234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C42E"/>
                </a:solidFill>
                <a:latin typeface="Arial Black"/>
              </a:rPr>
              <a:t>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06624" y="3200399"/>
            <a:ext cx="18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6A7788"/>
                </a:solidFill>
                <a:latin typeface="Calibri"/>
              </a:rPr>
              <a:t>›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880360" y="3090671"/>
            <a:ext cx="1234440" cy="658368"/>
          </a:xfrm>
          <a:prstGeom prst="roundRect">
            <a:avLst/>
          </a:prstGeom>
          <a:solidFill>
            <a:srgbClr val="FFF2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880360" y="3182111"/>
            <a:ext cx="1234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C42E"/>
                </a:solidFill>
                <a:latin typeface="Arial Black"/>
              </a:rPr>
              <a:t>U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23944" y="3200399"/>
            <a:ext cx="18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6A7788"/>
                </a:solidFill>
                <a:latin typeface="Calibri"/>
              </a:rPr>
              <a:t>›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297680" y="3090671"/>
            <a:ext cx="1234440" cy="658368"/>
          </a:xfrm>
          <a:prstGeom prst="roundRect">
            <a:avLst/>
          </a:prstGeom>
          <a:solidFill>
            <a:srgbClr val="FFF2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297680" y="3182111"/>
            <a:ext cx="1234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C42E"/>
                </a:solidFill>
                <a:latin typeface="Arial Black"/>
              </a:rPr>
              <a:t>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0" y="3182111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242C38"/>
                </a:solidFill>
                <a:latin typeface="Calibri"/>
              </a:rPr>
              <a:t>➡️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858000" y="3090671"/>
            <a:ext cx="2377440" cy="658368"/>
          </a:xfrm>
          <a:prstGeom prst="roundRect">
            <a:avLst/>
          </a:prstGeom>
          <a:solidFill>
            <a:srgbClr val="FFF2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858000" y="3163823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16366B"/>
                </a:solidFill>
                <a:latin typeface="Arial Black"/>
              </a:rPr>
              <a:t>SUN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09760" y="3145535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242C38"/>
                </a:solidFill>
                <a:latin typeface="Calibri"/>
              </a:rPr>
              <a:t>☀️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515600" y="3182111"/>
            <a:ext cx="1051560" cy="457200"/>
          </a:xfrm>
          <a:prstGeom prst="roundRect">
            <a:avLst/>
          </a:prstGeom>
          <a:solidFill>
            <a:srgbClr val="DE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515600" y="3246119"/>
            <a:ext cx="1051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42C38"/>
                </a:solidFill>
                <a:latin typeface="Calibri"/>
              </a:rPr>
              <a:t>⭐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57200" y="4078224"/>
            <a:ext cx="11292840" cy="10241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" y="4334256"/>
            <a:ext cx="640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242C38"/>
                </a:solidFill>
                <a:latin typeface="Calibri"/>
              </a:rPr>
              <a:t>🚂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463040" y="4261104"/>
            <a:ext cx="1234440" cy="658368"/>
          </a:xfrm>
          <a:prstGeom prst="roundRect">
            <a:avLst/>
          </a:prstGeom>
          <a:solidFill>
            <a:srgbClr val="E4F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463040" y="4352544"/>
            <a:ext cx="1234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2E7D53"/>
                </a:solidFill>
                <a:latin typeface="Arial Black"/>
              </a:rPr>
              <a:t>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706624" y="4370832"/>
            <a:ext cx="18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6A7788"/>
                </a:solidFill>
                <a:latin typeface="Calibri"/>
              </a:rPr>
              <a:t>›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880360" y="4261104"/>
            <a:ext cx="1234440" cy="658368"/>
          </a:xfrm>
          <a:prstGeom prst="roundRect">
            <a:avLst/>
          </a:prstGeom>
          <a:solidFill>
            <a:srgbClr val="E4F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880360" y="4352544"/>
            <a:ext cx="1234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2E7D53"/>
                </a:solidFill>
                <a:latin typeface="Arial Black"/>
              </a:rPr>
              <a:t>O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123944" y="4370832"/>
            <a:ext cx="18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6A7788"/>
                </a:solidFill>
                <a:latin typeface="Calibri"/>
              </a:rPr>
              <a:t>›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297680" y="4261104"/>
            <a:ext cx="1234440" cy="658368"/>
          </a:xfrm>
          <a:prstGeom prst="roundRect">
            <a:avLst/>
          </a:prstGeom>
          <a:solidFill>
            <a:srgbClr val="E4F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297680" y="4352544"/>
            <a:ext cx="1234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2E7D53"/>
                </a:solidFill>
                <a:latin typeface="Arial Black"/>
              </a:rPr>
              <a:t>G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943600" y="4352544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242C38"/>
                </a:solidFill>
                <a:latin typeface="Calibri"/>
              </a:rPr>
              <a:t>➡️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858000" y="4261104"/>
            <a:ext cx="2377440" cy="658368"/>
          </a:xfrm>
          <a:prstGeom prst="roundRect">
            <a:avLst/>
          </a:prstGeom>
          <a:solidFill>
            <a:srgbClr val="FFF2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858000" y="4334256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16366B"/>
                </a:solidFill>
                <a:latin typeface="Arial Black"/>
              </a:rPr>
              <a:t>DOG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509760" y="4315968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242C38"/>
                </a:solidFill>
                <a:latin typeface="Calibri"/>
              </a:rPr>
              <a:t>🐶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0515600" y="4352544"/>
            <a:ext cx="1051560" cy="457200"/>
          </a:xfrm>
          <a:prstGeom prst="roundRect">
            <a:avLst/>
          </a:prstGeom>
          <a:solidFill>
            <a:srgbClr val="DE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515600" y="4416552"/>
            <a:ext cx="1051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42C38"/>
                </a:solidFill>
                <a:latin typeface="Calibri"/>
              </a:rPr>
              <a:t>⭐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57200" y="5248656"/>
            <a:ext cx="11292840" cy="10241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40080" y="5504688"/>
            <a:ext cx="640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242C38"/>
                </a:solidFill>
                <a:latin typeface="Calibri"/>
              </a:rPr>
              <a:t>🚂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1463040" y="5431536"/>
            <a:ext cx="1234440" cy="658368"/>
          </a:xfrm>
          <a:prstGeom prst="roundRect">
            <a:avLst/>
          </a:prstGeom>
          <a:solidFill>
            <a:srgbClr val="EF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463040" y="5522976"/>
            <a:ext cx="1234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7B4FB8"/>
                </a:solidFill>
                <a:latin typeface="Arial Black"/>
              </a:rPr>
              <a:t>M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706624" y="5541264"/>
            <a:ext cx="18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6A7788"/>
                </a:solidFill>
                <a:latin typeface="Calibri"/>
              </a:rPr>
              <a:t>›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2880360" y="5431536"/>
            <a:ext cx="1234440" cy="658368"/>
          </a:xfrm>
          <a:prstGeom prst="roundRect">
            <a:avLst/>
          </a:prstGeom>
          <a:solidFill>
            <a:srgbClr val="EF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880360" y="5522976"/>
            <a:ext cx="1234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7B4FB8"/>
                </a:solidFill>
                <a:latin typeface="Arial Black"/>
              </a:rPr>
              <a:t>A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123944" y="5541264"/>
            <a:ext cx="18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6A7788"/>
                </a:solidFill>
                <a:latin typeface="Calibri"/>
              </a:rPr>
              <a:t>›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4297680" y="5431536"/>
            <a:ext cx="1234440" cy="658368"/>
          </a:xfrm>
          <a:prstGeom prst="roundRect">
            <a:avLst/>
          </a:prstGeom>
          <a:solidFill>
            <a:srgbClr val="EF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297680" y="5522976"/>
            <a:ext cx="1234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7B4FB8"/>
                </a:solidFill>
                <a:latin typeface="Arial Black"/>
              </a:rPr>
              <a:t>P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943600" y="5522976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242C38"/>
                </a:solidFill>
                <a:latin typeface="Calibri"/>
              </a:rPr>
              <a:t>➡️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6858000" y="5431536"/>
            <a:ext cx="2377440" cy="658368"/>
          </a:xfrm>
          <a:prstGeom prst="roundRect">
            <a:avLst/>
          </a:prstGeom>
          <a:solidFill>
            <a:srgbClr val="FFF2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858000" y="5504688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16366B"/>
                </a:solidFill>
                <a:latin typeface="Arial Black"/>
              </a:rPr>
              <a:t>MAP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509760" y="5486400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242C38"/>
                </a:solidFill>
                <a:latin typeface="Calibri"/>
              </a:rPr>
              <a:t>🗺️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10515600" y="5522976"/>
            <a:ext cx="1051560" cy="457200"/>
          </a:xfrm>
          <a:prstGeom prst="roundRect">
            <a:avLst/>
          </a:prstGeom>
          <a:solidFill>
            <a:srgbClr val="DE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0515600" y="5586984"/>
            <a:ext cx="1051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42C38"/>
                </a:solidFill>
                <a:latin typeface="Calibri"/>
              </a:rPr>
              <a:t>⭐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9C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237744"/>
            <a:ext cx="2926080" cy="384048"/>
          </a:xfrm>
          <a:prstGeom prst="roundRect">
            <a:avLst/>
          </a:prstGeom>
          <a:solidFill>
            <a:srgbClr val="009C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83464"/>
            <a:ext cx="2926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PHONICS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418320" y="237744"/>
            <a:ext cx="2423160" cy="384048"/>
          </a:xfrm>
          <a:prstGeom prst="roundRect">
            <a:avLst/>
          </a:prstGeom>
          <a:solidFill>
            <a:srgbClr val="E85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283464"/>
            <a:ext cx="2423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15–25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3152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366B"/>
                </a:solidFill>
                <a:latin typeface="Georgia"/>
              </a:rPr>
              <a:t>🧩 CVC Word Practice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19088"/>
            <a:ext cx="12191695" cy="73152"/>
          </a:xfrm>
          <a:prstGeom prst="rect">
            <a:avLst/>
          </a:prstGeom>
          <a:solidFill>
            <a:srgbClr val="E4E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419088"/>
            <a:ext cx="3135007" cy="73152"/>
          </a:xfrm>
          <a:prstGeom prst="rect">
            <a:avLst/>
          </a:prstGeom>
          <a:solidFill>
            <a:srgbClr val="FFC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636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6528816"/>
            <a:ext cx="10332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🐻 The Bear's Reading Adventure  |  Grade 2  |  90 min  |  CVC words  |  15–25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35640" y="652881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9 / 35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1261872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85A4F"/>
                </a:solidFill>
                <a:latin typeface="Calibri"/>
              </a:rPr>
              <a:t>Sound it out, then say the whole word.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1737360"/>
            <a:ext cx="2743200" cy="2057400"/>
          </a:xfrm>
          <a:prstGeom prst="roundRect">
            <a:avLst/>
          </a:prstGeom>
          <a:solidFill>
            <a:srgbClr val="E2F3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187452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242C38"/>
                </a:solidFill>
                <a:latin typeface="Calibri"/>
              </a:rPr>
              <a:t>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246888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2EA8E8"/>
                </a:solidFill>
                <a:latin typeface="Arial Black"/>
              </a:rPr>
              <a:t>CAT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182112"/>
            <a:ext cx="2286000" cy="4572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246120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16366B"/>
                </a:solidFill>
                <a:latin typeface="Calibri"/>
              </a:rPr>
              <a:t>C - A - 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319272" y="1737360"/>
            <a:ext cx="2743200" cy="2057400"/>
          </a:xfrm>
          <a:prstGeom prst="roundRect">
            <a:avLst/>
          </a:prstGeom>
          <a:solidFill>
            <a:srgbClr val="FFF2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10712" y="187452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242C38"/>
                </a:solidFill>
                <a:latin typeface="Calibri"/>
              </a:rPr>
              <a:t>☀️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10712" y="246888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FFC42E"/>
                </a:solidFill>
                <a:latin typeface="Arial Black"/>
              </a:rPr>
              <a:t>SUN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547872" y="3182112"/>
            <a:ext cx="2286000" cy="4572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47872" y="3246120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16366B"/>
                </a:solidFill>
                <a:latin typeface="Calibri"/>
              </a:rPr>
              <a:t>S - U - 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27064" y="1737360"/>
            <a:ext cx="2743200" cy="2057400"/>
          </a:xfrm>
          <a:prstGeom prst="roundRect">
            <a:avLst/>
          </a:prstGeom>
          <a:solidFill>
            <a:srgbClr val="E4F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18504" y="187452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242C38"/>
                </a:solidFill>
                <a:latin typeface="Calibri"/>
              </a:rPr>
              <a:t>🐶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18504" y="246888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2E7D53"/>
                </a:solidFill>
                <a:latin typeface="Arial Black"/>
              </a:rPr>
              <a:t>DOG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55664" y="3182112"/>
            <a:ext cx="2286000" cy="4572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55664" y="3246120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16366B"/>
                </a:solidFill>
                <a:latin typeface="Calibri"/>
              </a:rPr>
              <a:t>D - O - G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34856" y="1737360"/>
            <a:ext cx="2743200" cy="2057400"/>
          </a:xfrm>
          <a:prstGeom prst="roundRect">
            <a:avLst/>
          </a:prstGeom>
          <a:solidFill>
            <a:srgbClr val="EF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26296" y="187452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242C38"/>
                </a:solidFill>
                <a:latin typeface="Calibri"/>
              </a:rPr>
              <a:t>🗺️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26296" y="246888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7B4FB8"/>
                </a:solidFill>
                <a:latin typeface="Arial Black"/>
              </a:rPr>
              <a:t>MAP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363456" y="3182112"/>
            <a:ext cx="2286000" cy="4572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363456" y="3246120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16366B"/>
                </a:solidFill>
                <a:latin typeface="Calibri"/>
              </a:rPr>
              <a:t>M - A - P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11480" y="3977639"/>
            <a:ext cx="2743200" cy="2057400"/>
          </a:xfrm>
          <a:prstGeom prst="roundRect">
            <a:avLst/>
          </a:prstGeom>
          <a:solidFill>
            <a:srgbClr val="FDEA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" y="4114799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242C38"/>
                </a:solidFill>
                <a:latin typeface="Calibri"/>
              </a:rPr>
              <a:t>🐷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4709159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E85A4F"/>
                </a:solidFill>
                <a:latin typeface="Arial Black"/>
              </a:rPr>
              <a:t>PIG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40080" y="5422391"/>
            <a:ext cx="2286000" cy="4572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" y="5486399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16366B"/>
                </a:solidFill>
                <a:latin typeface="Calibri"/>
              </a:rPr>
              <a:t>P - I - G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319272" y="3977639"/>
            <a:ext cx="2743200" cy="2057400"/>
          </a:xfrm>
          <a:prstGeom prst="roundRect">
            <a:avLst/>
          </a:prstGeom>
          <a:solidFill>
            <a:srgbClr val="DE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410712" y="4114799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242C38"/>
                </a:solidFill>
                <a:latin typeface="Calibri"/>
              </a:rPr>
              <a:t>🎩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410712" y="4709159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009C8F"/>
                </a:solidFill>
                <a:latin typeface="Arial Black"/>
              </a:rPr>
              <a:t>HAT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547872" y="5422391"/>
            <a:ext cx="2286000" cy="4572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547872" y="5486399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16366B"/>
                </a:solidFill>
                <a:latin typeface="Calibri"/>
              </a:rPr>
              <a:t>H - A - 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227064" y="3977639"/>
            <a:ext cx="2743200" cy="2057400"/>
          </a:xfrm>
          <a:prstGeom prst="roundRect">
            <a:avLst/>
          </a:prstGeom>
          <a:solidFill>
            <a:srgbClr val="FFF2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18504" y="4114799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242C38"/>
                </a:solidFill>
                <a:latin typeface="Calibri"/>
              </a:rPr>
              <a:t>🏃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18504" y="4709159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F2A11B"/>
                </a:solidFill>
                <a:latin typeface="Arial Black"/>
              </a:rPr>
              <a:t>RUN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455664" y="5422391"/>
            <a:ext cx="2286000" cy="4572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55664" y="5486399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16366B"/>
                </a:solidFill>
                <a:latin typeface="Calibri"/>
              </a:rPr>
              <a:t>R - U - N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134856" y="3977639"/>
            <a:ext cx="2743200" cy="2057400"/>
          </a:xfrm>
          <a:prstGeom prst="roundRect">
            <a:avLst/>
          </a:prstGeom>
          <a:solidFill>
            <a:srgbClr val="F4EA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226296" y="4114799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242C38"/>
                </a:solidFill>
                <a:latin typeface="Calibri"/>
              </a:rPr>
              <a:t>🐘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226296" y="4709159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8B5E3C"/>
                </a:solidFill>
                <a:latin typeface="Arial Black"/>
              </a:rPr>
              <a:t>BIG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363456" y="5422391"/>
            <a:ext cx="2286000" cy="4572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363456" y="5486399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16366B"/>
                </a:solidFill>
                <a:latin typeface="Calibri"/>
              </a:rPr>
              <a:t>B - I - G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8B5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237744"/>
            <a:ext cx="2926080" cy="384048"/>
          </a:xfrm>
          <a:prstGeom prst="roundRect">
            <a:avLst/>
          </a:prstGeom>
          <a:solidFill>
            <a:srgbClr val="8B5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83464"/>
            <a:ext cx="2926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GAME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418320" y="237744"/>
            <a:ext cx="2423160" cy="384048"/>
          </a:xfrm>
          <a:prstGeom prst="roundRect">
            <a:avLst/>
          </a:prstGeom>
          <a:solidFill>
            <a:srgbClr val="E85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283464"/>
            <a:ext cx="2423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25–35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3152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366B"/>
                </a:solidFill>
                <a:latin typeface="Georgia"/>
              </a:rPr>
              <a:t>🐻 Game: Feed the Bear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19088"/>
            <a:ext cx="12191695" cy="73152"/>
          </a:xfrm>
          <a:prstGeom prst="rect">
            <a:avLst/>
          </a:prstGeom>
          <a:solidFill>
            <a:srgbClr val="E4E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419088"/>
            <a:ext cx="3483341" cy="73152"/>
          </a:xfrm>
          <a:prstGeom prst="rect">
            <a:avLst/>
          </a:prstGeom>
          <a:solidFill>
            <a:srgbClr val="FFC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636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6528816"/>
            <a:ext cx="10332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🐻 The Bear's Reading Adventure  |  Grade 2  |  90 min  |  Feed the bear  |  25–35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35640" y="652881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10 / 35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1261872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85A4F"/>
                </a:solidFill>
                <a:latin typeface="Calibri"/>
              </a:rPr>
              <a:t>Ben is hungry! Find the right word and feed it to him.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1737360"/>
            <a:ext cx="11292840" cy="10241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1975104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242C38"/>
                </a:solidFill>
                <a:latin typeface="Calibri"/>
              </a:rPr>
              <a:t>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2011680"/>
            <a:ext cx="731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242C38"/>
                </a:solidFill>
                <a:latin typeface="Calibri"/>
              </a:rPr>
              <a:t>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6000" y="2048256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8B5E3C"/>
                </a:solidFill>
                <a:latin typeface="Calibri"/>
              </a:rPr>
              <a:t>Find  CAT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46320" y="1920240"/>
            <a:ext cx="2103120" cy="658368"/>
          </a:xfrm>
          <a:prstGeom prst="roundRect">
            <a:avLst/>
          </a:prstGeom>
          <a:solidFill>
            <a:srgbClr val="F4EA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46320" y="201168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6366B"/>
                </a:solidFill>
                <a:latin typeface="Arial Black"/>
              </a:rPr>
              <a:t>CAT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78040" y="1920240"/>
            <a:ext cx="2103120" cy="658368"/>
          </a:xfrm>
          <a:prstGeom prst="roundRect">
            <a:avLst/>
          </a:prstGeom>
          <a:solidFill>
            <a:srgbClr val="F4EA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78040" y="201168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6366B"/>
                </a:solidFill>
                <a:latin typeface="Arial Black"/>
              </a:rPr>
              <a:t>SUN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509759" y="1920240"/>
            <a:ext cx="2103120" cy="658368"/>
          </a:xfrm>
          <a:prstGeom prst="roundRect">
            <a:avLst/>
          </a:prstGeom>
          <a:solidFill>
            <a:srgbClr val="F4EA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09759" y="201168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6366B"/>
                </a:solidFill>
                <a:latin typeface="Arial Black"/>
              </a:rPr>
              <a:t>DOG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2907791"/>
            <a:ext cx="11292840" cy="10241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3145535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242C38"/>
                </a:solidFill>
                <a:latin typeface="Calibri"/>
              </a:rPr>
              <a:t>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3040" y="3182111"/>
            <a:ext cx="731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242C38"/>
                </a:solidFill>
                <a:latin typeface="Calibri"/>
              </a:rPr>
              <a:t>☀️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86000" y="3218687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8B5E3C"/>
                </a:solidFill>
                <a:latin typeface="Calibri"/>
              </a:rPr>
              <a:t>Find  SUN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846320" y="3090671"/>
            <a:ext cx="2103120" cy="658368"/>
          </a:xfrm>
          <a:prstGeom prst="roundRect">
            <a:avLst/>
          </a:prstGeom>
          <a:solidFill>
            <a:srgbClr val="F4EA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846320" y="3182111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6366B"/>
                </a:solidFill>
                <a:latin typeface="Arial Black"/>
              </a:rPr>
              <a:t>MAP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178040" y="3090671"/>
            <a:ext cx="2103120" cy="658368"/>
          </a:xfrm>
          <a:prstGeom prst="roundRect">
            <a:avLst/>
          </a:prstGeom>
          <a:solidFill>
            <a:srgbClr val="F4EA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78040" y="3182111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6366B"/>
                </a:solidFill>
                <a:latin typeface="Arial Black"/>
              </a:rPr>
              <a:t>SUN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509759" y="3090671"/>
            <a:ext cx="2103120" cy="658368"/>
          </a:xfrm>
          <a:prstGeom prst="roundRect">
            <a:avLst/>
          </a:prstGeom>
          <a:solidFill>
            <a:srgbClr val="F4EA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509759" y="3182111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6366B"/>
                </a:solidFill>
                <a:latin typeface="Arial Black"/>
              </a:rPr>
              <a:t>PIG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4078224"/>
            <a:ext cx="11292840" cy="10241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4315968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242C38"/>
                </a:solidFill>
                <a:latin typeface="Calibri"/>
              </a:rPr>
              <a:t>🐻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63040" y="4352544"/>
            <a:ext cx="731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242C38"/>
                </a:solidFill>
                <a:latin typeface="Calibri"/>
              </a:rPr>
              <a:t>🐶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286000" y="438912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8B5E3C"/>
                </a:solidFill>
                <a:latin typeface="Calibri"/>
              </a:rPr>
              <a:t>Find  DOG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846320" y="4261104"/>
            <a:ext cx="2103120" cy="658368"/>
          </a:xfrm>
          <a:prstGeom prst="roundRect">
            <a:avLst/>
          </a:prstGeom>
          <a:solidFill>
            <a:srgbClr val="F4EA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846320" y="4352544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6366B"/>
                </a:solidFill>
                <a:latin typeface="Arial Black"/>
              </a:rPr>
              <a:t>HAT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178040" y="4261104"/>
            <a:ext cx="2103120" cy="658368"/>
          </a:xfrm>
          <a:prstGeom prst="roundRect">
            <a:avLst/>
          </a:prstGeom>
          <a:solidFill>
            <a:srgbClr val="F4EA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178040" y="4352544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6366B"/>
                </a:solidFill>
                <a:latin typeface="Arial Black"/>
              </a:rPr>
              <a:t>RUN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509759" y="4261104"/>
            <a:ext cx="2103120" cy="658368"/>
          </a:xfrm>
          <a:prstGeom prst="roundRect">
            <a:avLst/>
          </a:prstGeom>
          <a:solidFill>
            <a:srgbClr val="F4EA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509759" y="4352544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6366B"/>
                </a:solidFill>
                <a:latin typeface="Arial Black"/>
              </a:rPr>
              <a:t>DOG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5248656"/>
            <a:ext cx="11292840" cy="10241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0080" y="5486400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242C38"/>
                </a:solidFill>
                <a:latin typeface="Calibri"/>
              </a:rPr>
              <a:t>🐻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463040" y="5522976"/>
            <a:ext cx="731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242C38"/>
                </a:solidFill>
                <a:latin typeface="Calibri"/>
              </a:rPr>
              <a:t>🐘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286000" y="555955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8B5E3C"/>
                </a:solidFill>
                <a:latin typeface="Calibri"/>
              </a:rPr>
              <a:t>Find  BIG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846320" y="5431536"/>
            <a:ext cx="2103120" cy="658368"/>
          </a:xfrm>
          <a:prstGeom prst="roundRect">
            <a:avLst/>
          </a:prstGeom>
          <a:solidFill>
            <a:srgbClr val="F4EA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846320" y="5522976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6366B"/>
                </a:solidFill>
                <a:latin typeface="Arial Black"/>
              </a:rPr>
              <a:t>BIG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178040" y="5431536"/>
            <a:ext cx="2103120" cy="658368"/>
          </a:xfrm>
          <a:prstGeom prst="roundRect">
            <a:avLst/>
          </a:prstGeom>
          <a:solidFill>
            <a:srgbClr val="F4EA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178040" y="5522976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6366B"/>
                </a:solidFill>
                <a:latin typeface="Arial Black"/>
              </a:rPr>
              <a:t>RED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509759" y="5431536"/>
            <a:ext cx="2103120" cy="658368"/>
          </a:xfrm>
          <a:prstGeom prst="roundRect">
            <a:avLst/>
          </a:prstGeom>
          <a:solidFill>
            <a:srgbClr val="F4EA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509759" y="5522976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6366B"/>
                </a:solidFill>
                <a:latin typeface="Arial Black"/>
              </a:rPr>
              <a:t>CAT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2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237744"/>
            <a:ext cx="2926080" cy="384048"/>
          </a:xfrm>
          <a:prstGeom prst="roundRect">
            <a:avLst/>
          </a:prstGeom>
          <a:solidFill>
            <a:srgbClr val="F2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83464"/>
            <a:ext cx="2926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GAME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418320" y="237744"/>
            <a:ext cx="2423160" cy="384048"/>
          </a:xfrm>
          <a:prstGeom prst="roundRect">
            <a:avLst/>
          </a:prstGeom>
          <a:solidFill>
            <a:srgbClr val="E85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283464"/>
            <a:ext cx="2423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25–35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3152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366B"/>
                </a:solidFill>
                <a:latin typeface="Georgia"/>
              </a:rPr>
              <a:t>🎯 Game: Word Hunt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19088"/>
            <a:ext cx="12191695" cy="73152"/>
          </a:xfrm>
          <a:prstGeom prst="rect">
            <a:avLst/>
          </a:prstGeom>
          <a:solidFill>
            <a:srgbClr val="E4E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419088"/>
            <a:ext cx="3831675" cy="73152"/>
          </a:xfrm>
          <a:prstGeom prst="rect">
            <a:avLst/>
          </a:prstGeom>
          <a:solidFill>
            <a:srgbClr val="FFC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636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6528816"/>
            <a:ext cx="10332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🐻 The Bear's Reading Adventure  |  Grade 2  |  90 min  |  Word hunt  |  25–35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35640" y="652881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11 / 35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1261872"/>
            <a:ext cx="8229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85A4F"/>
                </a:solidFill>
                <a:latin typeface="Calibri"/>
              </a:rPr>
              <a:t>Point to the word I say — then read it!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1737360"/>
            <a:ext cx="1627632" cy="10515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011680"/>
            <a:ext cx="16276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6366B"/>
                </a:solidFill>
                <a:latin typeface="Calibri"/>
              </a:rPr>
              <a:t>CAT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212848" y="1737360"/>
            <a:ext cx="1627632" cy="10515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12848" y="2011680"/>
            <a:ext cx="16276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6366B"/>
                </a:solidFill>
                <a:latin typeface="Calibri"/>
              </a:rPr>
              <a:t>SUN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968496" y="1737360"/>
            <a:ext cx="1627632" cy="10515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68496" y="2011680"/>
            <a:ext cx="16276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6366B"/>
                </a:solidFill>
                <a:latin typeface="Calibri"/>
              </a:rPr>
              <a:t>DOG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724144" y="1737360"/>
            <a:ext cx="1627632" cy="10515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24144" y="2011680"/>
            <a:ext cx="16276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6366B"/>
                </a:solidFill>
                <a:latin typeface="Calibri"/>
              </a:rPr>
              <a:t>MAP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79792" y="1737360"/>
            <a:ext cx="1627632" cy="10515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79792" y="2011680"/>
            <a:ext cx="16276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6366B"/>
                </a:solidFill>
                <a:latin typeface="Calibri"/>
              </a:rPr>
              <a:t>HAT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2944368"/>
            <a:ext cx="1627632" cy="10515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3218688"/>
            <a:ext cx="16276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6366B"/>
                </a:solidFill>
                <a:latin typeface="Calibri"/>
              </a:rPr>
              <a:t>RUN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212848" y="2944368"/>
            <a:ext cx="1627632" cy="10515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212848" y="3218688"/>
            <a:ext cx="16276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6366B"/>
                </a:solidFill>
                <a:latin typeface="Calibri"/>
              </a:rPr>
              <a:t>BIG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968496" y="2944368"/>
            <a:ext cx="1627632" cy="10515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968496" y="3218688"/>
            <a:ext cx="16276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6366B"/>
                </a:solidFill>
                <a:latin typeface="Calibri"/>
              </a:rPr>
              <a:t>CAT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724144" y="2944368"/>
            <a:ext cx="1627632" cy="10515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724144" y="3218688"/>
            <a:ext cx="16276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6366B"/>
                </a:solidFill>
                <a:latin typeface="Calibri"/>
              </a:rPr>
              <a:t>PIG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479792" y="2944368"/>
            <a:ext cx="1627632" cy="10515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79792" y="3218688"/>
            <a:ext cx="16276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6366B"/>
                </a:solidFill>
                <a:latin typeface="Calibri"/>
              </a:rPr>
              <a:t>SUN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4151376"/>
            <a:ext cx="1627632" cy="10515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4425696"/>
            <a:ext cx="16276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6366B"/>
                </a:solidFill>
                <a:latin typeface="Calibri"/>
              </a:rPr>
              <a:t>RED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212848" y="4151376"/>
            <a:ext cx="1627632" cy="10515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212848" y="4425696"/>
            <a:ext cx="16276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6366B"/>
                </a:solidFill>
                <a:latin typeface="Calibri"/>
              </a:rPr>
              <a:t>DOG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968496" y="4151376"/>
            <a:ext cx="1627632" cy="10515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968496" y="4425696"/>
            <a:ext cx="16276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6366B"/>
                </a:solidFill>
                <a:latin typeface="Calibri"/>
              </a:rPr>
              <a:t>HAT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724144" y="4151376"/>
            <a:ext cx="1627632" cy="10515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724144" y="4425696"/>
            <a:ext cx="16276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6366B"/>
                </a:solidFill>
                <a:latin typeface="Calibri"/>
              </a:rPr>
              <a:t>BIG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479792" y="4151376"/>
            <a:ext cx="1627632" cy="10515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479792" y="4425696"/>
            <a:ext cx="16276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6366B"/>
                </a:solidFill>
                <a:latin typeface="Calibri"/>
              </a:rPr>
              <a:t>RUN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372600" y="1737360"/>
            <a:ext cx="2377440" cy="3465576"/>
          </a:xfrm>
          <a:prstGeom prst="roundRect">
            <a:avLst/>
          </a:prstGeom>
          <a:solidFill>
            <a:srgbClr val="FFF2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555480" y="1901952"/>
            <a:ext cx="2011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6366B"/>
                </a:solidFill>
                <a:latin typeface="Calibri"/>
              </a:rPr>
              <a:t>Find these: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646920" y="2377440"/>
            <a:ext cx="1920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42C38"/>
                </a:solidFill>
                <a:latin typeface="Calibri"/>
              </a:rPr>
              <a:t>1.  CAT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646920" y="2816352"/>
            <a:ext cx="1920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42C38"/>
                </a:solidFill>
                <a:latin typeface="Calibri"/>
              </a:rPr>
              <a:t>2.  SUN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46920" y="3255264"/>
            <a:ext cx="1920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42C38"/>
                </a:solidFill>
                <a:latin typeface="Calibri"/>
              </a:rPr>
              <a:t>3.  DOG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646920" y="3694176"/>
            <a:ext cx="1920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42C38"/>
                </a:solidFill>
                <a:latin typeface="Calibri"/>
              </a:rPr>
              <a:t>4.  BIG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46920" y="4133087"/>
            <a:ext cx="1920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42C38"/>
                </a:solidFill>
                <a:latin typeface="Calibri"/>
              </a:rPr>
              <a:t>5.  RUN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46920" y="4572000"/>
            <a:ext cx="1920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42C38"/>
                </a:solidFill>
                <a:latin typeface="Calibri"/>
              </a:rPr>
              <a:t>6.  HAT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372600" y="5532120"/>
            <a:ext cx="2423160" cy="457200"/>
          </a:xfrm>
          <a:prstGeom prst="roundRect">
            <a:avLst/>
          </a:prstGeom>
          <a:solidFill>
            <a:srgbClr val="FFC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372600" y="5605272"/>
            <a:ext cx="2423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6366B"/>
                </a:solidFill>
                <a:latin typeface="Calibri"/>
              </a:rPr>
              <a:t>⭐ +1 Star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B4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237744"/>
            <a:ext cx="2926080" cy="384048"/>
          </a:xfrm>
          <a:prstGeom prst="roundRect">
            <a:avLst/>
          </a:prstGeom>
          <a:solidFill>
            <a:srgbClr val="7B4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83464"/>
            <a:ext cx="2926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SIGHT WORDS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418320" y="237744"/>
            <a:ext cx="2423160" cy="384048"/>
          </a:xfrm>
          <a:prstGeom prst="roundRect">
            <a:avLst/>
          </a:prstGeom>
          <a:solidFill>
            <a:srgbClr val="E85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283464"/>
            <a:ext cx="2423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35–45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3152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366B"/>
                </a:solidFill>
                <a:latin typeface="Georgia"/>
              </a:rPr>
              <a:t>👀 Sight Words — Look and Say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19088"/>
            <a:ext cx="12191695" cy="73152"/>
          </a:xfrm>
          <a:prstGeom prst="rect">
            <a:avLst/>
          </a:prstGeom>
          <a:solidFill>
            <a:srgbClr val="E4E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419088"/>
            <a:ext cx="4180009" cy="73152"/>
          </a:xfrm>
          <a:prstGeom prst="rect">
            <a:avLst/>
          </a:prstGeom>
          <a:solidFill>
            <a:srgbClr val="FFC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636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6528816"/>
            <a:ext cx="10332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🐻 The Bear's Reading Adventure  |  Grade 2  |  90 min  |  Sight words  |  35–45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35640" y="652881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12 / 35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1261872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85A4F"/>
                </a:solidFill>
                <a:latin typeface="Calibri"/>
              </a:rPr>
              <a:t>These words we do NOT sound out. We just know them by sight!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1737360"/>
            <a:ext cx="11292840" cy="1371600"/>
          </a:xfrm>
          <a:prstGeom prst="roundRect">
            <a:avLst/>
          </a:prstGeom>
          <a:solidFill>
            <a:srgbClr val="DE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58368" y="2148840"/>
            <a:ext cx="1371600" cy="502920"/>
          </a:xfrm>
          <a:prstGeom prst="roundRect">
            <a:avLst/>
          </a:prstGeom>
          <a:solidFill>
            <a:srgbClr val="009C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2231136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Round 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377440" y="2011680"/>
            <a:ext cx="2103120" cy="80467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377440" y="2148840"/>
            <a:ext cx="21031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009C8F"/>
                </a:solidFill>
                <a:latin typeface="Arial Black"/>
              </a:rPr>
              <a:t>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09160" y="2011680"/>
            <a:ext cx="2103120" cy="80467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09160" y="2148840"/>
            <a:ext cx="21031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009C8F"/>
                </a:solidFill>
                <a:latin typeface="Arial Black"/>
              </a:rPr>
              <a:t>see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040879" y="2011680"/>
            <a:ext cx="2103120" cy="80467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79" y="2148840"/>
            <a:ext cx="21031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009C8F"/>
                </a:solidFill>
                <a:latin typeface="Arial Black"/>
              </a:rPr>
              <a:t>the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3218688"/>
            <a:ext cx="11292840" cy="1371600"/>
          </a:xfrm>
          <a:prstGeom prst="roundRect">
            <a:avLst/>
          </a:prstGeom>
          <a:solidFill>
            <a:srgbClr val="FDEA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58368" y="3630168"/>
            <a:ext cx="1371600" cy="502920"/>
          </a:xfrm>
          <a:prstGeom prst="roundRect">
            <a:avLst/>
          </a:prstGeom>
          <a:solidFill>
            <a:srgbClr val="E85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3712464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Round 2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377440" y="3493008"/>
            <a:ext cx="2103120" cy="80467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377440" y="3630168"/>
            <a:ext cx="21031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E85A4F"/>
                </a:solidFill>
                <a:latin typeface="Arial Black"/>
              </a:rPr>
              <a:t>can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709160" y="3493008"/>
            <a:ext cx="2103120" cy="80467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09160" y="3630168"/>
            <a:ext cx="21031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E85A4F"/>
                </a:solidFill>
                <a:latin typeface="Arial Black"/>
              </a:rPr>
              <a:t>my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040879" y="3493008"/>
            <a:ext cx="2103120" cy="80467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040879" y="3630168"/>
            <a:ext cx="21031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E85A4F"/>
                </a:solidFill>
                <a:latin typeface="Arial Black"/>
              </a:rPr>
              <a:t>is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4700016"/>
            <a:ext cx="11292840" cy="1371600"/>
          </a:xfrm>
          <a:prstGeom prst="roundRect">
            <a:avLst/>
          </a:prstGeom>
          <a:solidFill>
            <a:srgbClr val="EF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58368" y="5111496"/>
            <a:ext cx="1371600" cy="502920"/>
          </a:xfrm>
          <a:prstGeom prst="roundRect">
            <a:avLst/>
          </a:prstGeom>
          <a:solidFill>
            <a:srgbClr val="7B4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68" y="5193792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Round 3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377440" y="4974336"/>
            <a:ext cx="2103120" cy="80467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377440" y="5111496"/>
            <a:ext cx="21031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7B4FB8"/>
                </a:solidFill>
                <a:latin typeface="Arial Black"/>
              </a:rPr>
              <a:t>we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709160" y="4974336"/>
            <a:ext cx="2103120" cy="80467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09160" y="5111496"/>
            <a:ext cx="21031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7B4FB8"/>
                </a:solidFill>
                <a:latin typeface="Arial Black"/>
              </a:rPr>
              <a:t>go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040879" y="4974336"/>
            <a:ext cx="2103120" cy="80467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040879" y="5111496"/>
            <a:ext cx="21031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7B4FB8"/>
                </a:solidFill>
                <a:latin typeface="Arial Black"/>
              </a:rPr>
              <a:t>and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372600" y="4974336"/>
            <a:ext cx="2103120" cy="80467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72600" y="5111496"/>
            <a:ext cx="21031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7B4FB8"/>
                </a:solidFill>
                <a:latin typeface="Arial Black"/>
              </a:rPr>
              <a:t>you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9C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237744"/>
            <a:ext cx="2926080" cy="384048"/>
          </a:xfrm>
          <a:prstGeom prst="roundRect">
            <a:avLst/>
          </a:prstGeom>
          <a:solidFill>
            <a:srgbClr val="009C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83464"/>
            <a:ext cx="2926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GAME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418320" y="237744"/>
            <a:ext cx="2423160" cy="384048"/>
          </a:xfrm>
          <a:prstGeom prst="roundRect">
            <a:avLst/>
          </a:prstGeom>
          <a:solidFill>
            <a:srgbClr val="E85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283464"/>
            <a:ext cx="2423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35–45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3152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366B"/>
                </a:solidFill>
                <a:latin typeface="Georgia"/>
              </a:rPr>
              <a:t>🔍 Game: Word Detective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19088"/>
            <a:ext cx="12191695" cy="73152"/>
          </a:xfrm>
          <a:prstGeom prst="rect">
            <a:avLst/>
          </a:prstGeom>
          <a:solidFill>
            <a:srgbClr val="E4E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419088"/>
            <a:ext cx="4528343" cy="73152"/>
          </a:xfrm>
          <a:prstGeom prst="rect">
            <a:avLst/>
          </a:prstGeom>
          <a:solidFill>
            <a:srgbClr val="FFC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636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6528816"/>
            <a:ext cx="10332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🐻 The Bear's Reading Adventure  |  Grade 2  |  90 min  |  Word detective  |  35–45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35640" y="652881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13 / 35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1261872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85A4F"/>
                </a:solidFill>
                <a:latin typeface="Calibri"/>
              </a:rPr>
              <a:t>Careful — the other words look almost the same!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1737360"/>
            <a:ext cx="11292840" cy="1042415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8368" y="2011680"/>
            <a:ext cx="502920" cy="502920"/>
          </a:xfrm>
          <a:prstGeom prst="ellipse">
            <a:avLst/>
          </a:prstGeom>
          <a:solidFill>
            <a:srgbClr val="009C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2075688"/>
            <a:ext cx="502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2039112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009C8F"/>
                </a:solidFill>
                <a:latin typeface="Calibri"/>
              </a:rPr>
              <a:t>Find  THE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931920" y="1938528"/>
            <a:ext cx="1783080" cy="640080"/>
          </a:xfrm>
          <a:prstGeom prst="roundRect">
            <a:avLst/>
          </a:prstGeom>
          <a:solidFill>
            <a:srgbClr val="DE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31920" y="2029968"/>
            <a:ext cx="1783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>
                <a:solidFill>
                  <a:srgbClr val="16366B"/>
                </a:solidFill>
                <a:latin typeface="Calibri"/>
              </a:rPr>
              <a:t>and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97879" y="1938528"/>
            <a:ext cx="1783080" cy="640080"/>
          </a:xfrm>
          <a:prstGeom prst="roundRect">
            <a:avLst/>
          </a:prstGeom>
          <a:solidFill>
            <a:srgbClr val="DE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97879" y="2029968"/>
            <a:ext cx="1783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>
                <a:solidFill>
                  <a:srgbClr val="16366B"/>
                </a:solidFill>
                <a:latin typeface="Calibri"/>
              </a:rPr>
              <a:t>the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863840" y="1938528"/>
            <a:ext cx="1783080" cy="640080"/>
          </a:xfrm>
          <a:prstGeom prst="roundRect">
            <a:avLst/>
          </a:prstGeom>
          <a:solidFill>
            <a:srgbClr val="DE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863840" y="2029968"/>
            <a:ext cx="1783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>
                <a:solidFill>
                  <a:srgbClr val="16366B"/>
                </a:solidFill>
                <a:latin typeface="Calibri"/>
              </a:rPr>
              <a:t>you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829800" y="1938528"/>
            <a:ext cx="1783080" cy="640080"/>
          </a:xfrm>
          <a:prstGeom prst="roundRect">
            <a:avLst/>
          </a:prstGeom>
          <a:solidFill>
            <a:srgbClr val="DE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29800" y="2029968"/>
            <a:ext cx="1783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>
                <a:solidFill>
                  <a:srgbClr val="16366B"/>
                </a:solidFill>
                <a:latin typeface="Calibri"/>
              </a:rPr>
              <a:t>see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2926080"/>
            <a:ext cx="11292840" cy="1042415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58368" y="3200400"/>
            <a:ext cx="502920" cy="502920"/>
          </a:xfrm>
          <a:prstGeom prst="ellipse">
            <a:avLst/>
          </a:prstGeom>
          <a:solidFill>
            <a:srgbClr val="009C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3264408"/>
            <a:ext cx="502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71600" y="3227832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009C8F"/>
                </a:solidFill>
                <a:latin typeface="Calibri"/>
              </a:rPr>
              <a:t>Find  CAN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931920" y="3127248"/>
            <a:ext cx="1783080" cy="640080"/>
          </a:xfrm>
          <a:prstGeom prst="roundRect">
            <a:avLst/>
          </a:prstGeom>
          <a:solidFill>
            <a:srgbClr val="DE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31920" y="3218688"/>
            <a:ext cx="1783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>
                <a:solidFill>
                  <a:srgbClr val="16366B"/>
                </a:solidFill>
                <a:latin typeface="Calibri"/>
              </a:rPr>
              <a:t>can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897879" y="3127248"/>
            <a:ext cx="1783080" cy="640080"/>
          </a:xfrm>
          <a:prstGeom prst="roundRect">
            <a:avLst/>
          </a:prstGeom>
          <a:solidFill>
            <a:srgbClr val="DE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97879" y="3218688"/>
            <a:ext cx="1783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>
                <a:solidFill>
                  <a:srgbClr val="16366B"/>
                </a:solidFill>
                <a:latin typeface="Calibri"/>
              </a:rPr>
              <a:t>cat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863840" y="3127248"/>
            <a:ext cx="1783080" cy="640080"/>
          </a:xfrm>
          <a:prstGeom prst="roundRect">
            <a:avLst/>
          </a:prstGeom>
          <a:solidFill>
            <a:srgbClr val="DE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863840" y="3218688"/>
            <a:ext cx="1783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>
                <a:solidFill>
                  <a:srgbClr val="16366B"/>
                </a:solidFill>
                <a:latin typeface="Calibri"/>
              </a:rPr>
              <a:t>car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829800" y="3127248"/>
            <a:ext cx="1783080" cy="640080"/>
          </a:xfrm>
          <a:prstGeom prst="roundRect">
            <a:avLst/>
          </a:prstGeom>
          <a:solidFill>
            <a:srgbClr val="DE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829800" y="3218688"/>
            <a:ext cx="1783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>
                <a:solidFill>
                  <a:srgbClr val="16366B"/>
                </a:solidFill>
                <a:latin typeface="Calibri"/>
              </a:rPr>
              <a:t>cap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4114800"/>
            <a:ext cx="11292840" cy="1042415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58368" y="4389120"/>
            <a:ext cx="502920" cy="502920"/>
          </a:xfrm>
          <a:prstGeom prst="ellipse">
            <a:avLst/>
          </a:prstGeom>
          <a:solidFill>
            <a:srgbClr val="009C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8368" y="4453128"/>
            <a:ext cx="502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71600" y="4416552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009C8F"/>
                </a:solidFill>
                <a:latin typeface="Calibri"/>
              </a:rPr>
              <a:t>Find  MY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931920" y="4315968"/>
            <a:ext cx="1783080" cy="640080"/>
          </a:xfrm>
          <a:prstGeom prst="roundRect">
            <a:avLst/>
          </a:prstGeom>
          <a:solidFill>
            <a:srgbClr val="DE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931920" y="4407408"/>
            <a:ext cx="1783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>
                <a:solidFill>
                  <a:srgbClr val="16366B"/>
                </a:solidFill>
                <a:latin typeface="Calibri"/>
              </a:rPr>
              <a:t>me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897879" y="4315968"/>
            <a:ext cx="1783080" cy="640080"/>
          </a:xfrm>
          <a:prstGeom prst="roundRect">
            <a:avLst/>
          </a:prstGeom>
          <a:solidFill>
            <a:srgbClr val="DE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897879" y="4407408"/>
            <a:ext cx="1783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>
                <a:solidFill>
                  <a:srgbClr val="16366B"/>
                </a:solidFill>
                <a:latin typeface="Calibri"/>
              </a:rPr>
              <a:t>my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863840" y="4315968"/>
            <a:ext cx="1783080" cy="640080"/>
          </a:xfrm>
          <a:prstGeom prst="roundRect">
            <a:avLst/>
          </a:prstGeom>
          <a:solidFill>
            <a:srgbClr val="DE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863840" y="4407408"/>
            <a:ext cx="1783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>
                <a:solidFill>
                  <a:srgbClr val="16366B"/>
                </a:solidFill>
                <a:latin typeface="Calibri"/>
              </a:rPr>
              <a:t>may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829800" y="4315968"/>
            <a:ext cx="1783080" cy="640080"/>
          </a:xfrm>
          <a:prstGeom prst="roundRect">
            <a:avLst/>
          </a:prstGeom>
          <a:solidFill>
            <a:srgbClr val="DE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829800" y="4407408"/>
            <a:ext cx="1783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>
                <a:solidFill>
                  <a:srgbClr val="16366B"/>
                </a:solidFill>
                <a:latin typeface="Calibri"/>
              </a:rPr>
              <a:t>man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57200" y="5303520"/>
            <a:ext cx="11292840" cy="1042415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658368" y="5577840"/>
            <a:ext cx="502920" cy="502920"/>
          </a:xfrm>
          <a:prstGeom prst="ellipse">
            <a:avLst/>
          </a:prstGeom>
          <a:solidFill>
            <a:srgbClr val="009C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58368" y="5641848"/>
            <a:ext cx="502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371600" y="5605272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009C8F"/>
                </a:solidFill>
                <a:latin typeface="Calibri"/>
              </a:rPr>
              <a:t>Find  SEE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931920" y="5504688"/>
            <a:ext cx="1783080" cy="640080"/>
          </a:xfrm>
          <a:prstGeom prst="roundRect">
            <a:avLst/>
          </a:prstGeom>
          <a:solidFill>
            <a:srgbClr val="DE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931920" y="5596128"/>
            <a:ext cx="1783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>
                <a:solidFill>
                  <a:srgbClr val="16366B"/>
                </a:solidFill>
                <a:latin typeface="Calibri"/>
              </a:rPr>
              <a:t>saw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5897879" y="5504688"/>
            <a:ext cx="1783080" cy="640080"/>
          </a:xfrm>
          <a:prstGeom prst="roundRect">
            <a:avLst/>
          </a:prstGeom>
          <a:solidFill>
            <a:srgbClr val="DE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897879" y="5596128"/>
            <a:ext cx="1783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>
                <a:solidFill>
                  <a:srgbClr val="16366B"/>
                </a:solidFill>
                <a:latin typeface="Calibri"/>
              </a:rPr>
              <a:t>sea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863840" y="5504688"/>
            <a:ext cx="1783080" cy="640080"/>
          </a:xfrm>
          <a:prstGeom prst="roundRect">
            <a:avLst/>
          </a:prstGeom>
          <a:solidFill>
            <a:srgbClr val="DE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863840" y="5596128"/>
            <a:ext cx="1783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>
                <a:solidFill>
                  <a:srgbClr val="16366B"/>
                </a:solidFill>
                <a:latin typeface="Calibri"/>
              </a:rPr>
              <a:t>see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829800" y="5504688"/>
            <a:ext cx="1783080" cy="640080"/>
          </a:xfrm>
          <a:prstGeom prst="roundRect">
            <a:avLst/>
          </a:prstGeom>
          <a:solidFill>
            <a:srgbClr val="DE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829800" y="5596128"/>
            <a:ext cx="1783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>
                <a:solidFill>
                  <a:srgbClr val="16366B"/>
                </a:solidFill>
                <a:latin typeface="Calibri"/>
              </a:rPr>
              <a:t>so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85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237744"/>
            <a:ext cx="2926080" cy="384048"/>
          </a:xfrm>
          <a:prstGeom prst="roundRect">
            <a:avLst/>
          </a:prstGeom>
          <a:solidFill>
            <a:srgbClr val="E85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83464"/>
            <a:ext cx="2926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GAME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418320" y="237744"/>
            <a:ext cx="2423160" cy="384048"/>
          </a:xfrm>
          <a:prstGeom prst="roundRect">
            <a:avLst/>
          </a:prstGeom>
          <a:solidFill>
            <a:srgbClr val="E85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283464"/>
            <a:ext cx="2423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35–45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3152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366B"/>
                </a:solidFill>
                <a:latin typeface="Georgia"/>
              </a:rPr>
              <a:t>🧠 Game: Memory Match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19088"/>
            <a:ext cx="12191695" cy="73152"/>
          </a:xfrm>
          <a:prstGeom prst="rect">
            <a:avLst/>
          </a:prstGeom>
          <a:solidFill>
            <a:srgbClr val="E4E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419088"/>
            <a:ext cx="4876678" cy="73152"/>
          </a:xfrm>
          <a:prstGeom prst="rect">
            <a:avLst/>
          </a:prstGeom>
          <a:solidFill>
            <a:srgbClr val="FFC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636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6528816"/>
            <a:ext cx="10332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🐻 The Bear's Reading Adventure  |  Grade 2  |  90 min  |  Memory match  |  35–45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35640" y="652881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14 / 35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1261872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85A4F"/>
                </a:solidFill>
                <a:latin typeface="Calibri"/>
              </a:rPr>
              <a:t>Match each picture to its word. Say the word out loud!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1783080"/>
            <a:ext cx="2560320" cy="1783080"/>
          </a:xfrm>
          <a:prstGeom prst="roundRect">
            <a:avLst/>
          </a:prstGeom>
          <a:solidFill>
            <a:srgbClr val="FDEA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103120"/>
            <a:ext cx="2560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0">
                <a:solidFill>
                  <a:srgbClr val="242C38"/>
                </a:solidFill>
                <a:latin typeface="Calibri"/>
              </a:rPr>
              <a:t>🐱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74720" y="1783080"/>
            <a:ext cx="2560320" cy="1783080"/>
          </a:xfrm>
          <a:prstGeom prst="roundRect">
            <a:avLst/>
          </a:prstGeom>
          <a:solidFill>
            <a:srgbClr val="FDEA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0" y="2103120"/>
            <a:ext cx="2560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0">
                <a:solidFill>
                  <a:srgbClr val="242C38"/>
                </a:solidFill>
                <a:latin typeface="Calibri"/>
              </a:rPr>
              <a:t>☀️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1783080"/>
            <a:ext cx="2560320" cy="1783080"/>
          </a:xfrm>
          <a:prstGeom prst="roundRect">
            <a:avLst/>
          </a:prstGeom>
          <a:solidFill>
            <a:srgbClr val="FDEA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2103120"/>
            <a:ext cx="2560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0">
                <a:solidFill>
                  <a:srgbClr val="242C38"/>
                </a:solidFill>
                <a:latin typeface="Calibri"/>
              </a:rPr>
              <a:t>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52559" y="1783080"/>
            <a:ext cx="2560320" cy="1783080"/>
          </a:xfrm>
          <a:prstGeom prst="roundRect">
            <a:avLst/>
          </a:prstGeom>
          <a:solidFill>
            <a:srgbClr val="FDEA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52559" y="2103120"/>
            <a:ext cx="2560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0">
                <a:solidFill>
                  <a:srgbClr val="242C38"/>
                </a:solidFill>
                <a:latin typeface="Calibri"/>
              </a:rPr>
              <a:t>🐻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3977639"/>
            <a:ext cx="2560320" cy="10515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4206240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6366B"/>
                </a:solidFill>
                <a:latin typeface="Arial Black"/>
              </a:rPr>
              <a:t>DOG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474720" y="3977639"/>
            <a:ext cx="2560320" cy="10515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474720" y="4206240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6366B"/>
                </a:solidFill>
                <a:latin typeface="Arial Black"/>
              </a:rPr>
              <a:t>BEAR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63640" y="3977639"/>
            <a:ext cx="2560320" cy="10515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63640" y="4206240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6366B"/>
                </a:solidFill>
                <a:latin typeface="Arial Black"/>
              </a:rPr>
              <a:t>CAT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052559" y="3977639"/>
            <a:ext cx="2560320" cy="10515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52559" y="4206240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6366B"/>
                </a:solidFill>
                <a:latin typeface="Arial Black"/>
              </a:rPr>
              <a:t>SUN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525780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9C8F"/>
                </a:solidFill>
                <a:latin typeface="Calibri"/>
              </a:rPr>
              <a:t>Draw a line in the air from each picture to its word! ✏️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C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237744"/>
            <a:ext cx="2926080" cy="384048"/>
          </a:xfrm>
          <a:prstGeom prst="roundRect">
            <a:avLst/>
          </a:prstGeom>
          <a:solidFill>
            <a:srgbClr val="FFC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83464"/>
            <a:ext cx="2926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BREAK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418320" y="237744"/>
            <a:ext cx="2423160" cy="384048"/>
          </a:xfrm>
          <a:prstGeom prst="roundRect">
            <a:avLst/>
          </a:prstGeom>
          <a:solidFill>
            <a:srgbClr val="E85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283464"/>
            <a:ext cx="2423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45–50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3152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366B"/>
                </a:solidFill>
                <a:latin typeface="Georgia"/>
              </a:rPr>
              <a:t>🧠 Brain Break: Simon Says — Reading Edition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19088"/>
            <a:ext cx="12191695" cy="73152"/>
          </a:xfrm>
          <a:prstGeom prst="rect">
            <a:avLst/>
          </a:prstGeom>
          <a:solidFill>
            <a:srgbClr val="E4E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419088"/>
            <a:ext cx="5225012" cy="73152"/>
          </a:xfrm>
          <a:prstGeom prst="rect">
            <a:avLst/>
          </a:prstGeom>
          <a:solidFill>
            <a:srgbClr val="FFC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636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6528816"/>
            <a:ext cx="10332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🐻 The Bear's Reading Adventure  |  Grade 2  |  90 min  |  Brain break  |  45–50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35640" y="652881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15 / 35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1261872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85A4F"/>
                </a:solidFill>
                <a:latin typeface="Calibri"/>
              </a:rPr>
              <a:t>Stay in your seat — just point and touch! 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1737360"/>
            <a:ext cx="2606040" cy="120700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2057400"/>
            <a:ext cx="26060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16366B"/>
                </a:solidFill>
                <a:latin typeface="Arial Black"/>
              </a:rPr>
              <a:t>CAT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37560" y="1737360"/>
            <a:ext cx="2606040" cy="120700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37560" y="2057400"/>
            <a:ext cx="26060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16366B"/>
                </a:solidFill>
                <a:latin typeface="Arial Black"/>
              </a:rPr>
              <a:t>SUN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26479" y="1737360"/>
            <a:ext cx="2606040" cy="120700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26479" y="2057400"/>
            <a:ext cx="26060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16366B"/>
                </a:solidFill>
                <a:latin typeface="Arial Black"/>
              </a:rPr>
              <a:t>CAN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108960"/>
            <a:ext cx="2606040" cy="120700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3429000"/>
            <a:ext cx="26060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16366B"/>
                </a:solidFill>
                <a:latin typeface="Arial Black"/>
              </a:rPr>
              <a:t>THE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337560" y="3108960"/>
            <a:ext cx="2606040" cy="120700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37560" y="3429000"/>
            <a:ext cx="26060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16366B"/>
                </a:solidFill>
                <a:latin typeface="Arial Black"/>
              </a:rPr>
              <a:t>B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26479" y="3108960"/>
            <a:ext cx="2606040" cy="120700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26479" y="3429000"/>
            <a:ext cx="26060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16366B"/>
                </a:solidFill>
                <a:latin typeface="Arial Black"/>
              </a:rPr>
              <a:t>M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52560" y="1737360"/>
            <a:ext cx="2697480" cy="2670048"/>
          </a:xfrm>
          <a:prstGeom prst="roundRect">
            <a:avLst/>
          </a:prstGeom>
          <a:solidFill>
            <a:srgbClr val="FFF2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35440" y="1901952"/>
            <a:ext cx="2331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6366B"/>
                </a:solidFill>
                <a:latin typeface="Calibri"/>
              </a:rPr>
              <a:t>Simon says...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81160" y="2359152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42C38"/>
                </a:solidFill>
                <a:latin typeface="Calibri"/>
              </a:rPr>
              <a:t>Point to the word CAT.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81160" y="2862072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42C38"/>
                </a:solidFill>
                <a:latin typeface="Calibri"/>
              </a:rPr>
              <a:t>Point to the word SUN.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81160" y="3364992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42C38"/>
                </a:solidFill>
                <a:latin typeface="Calibri"/>
              </a:rPr>
              <a:t>Touch the word CAN.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81160" y="3867912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42C38"/>
                </a:solidFill>
                <a:latin typeface="Calibri"/>
              </a:rPr>
              <a:t>Show me the letter B.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466344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9C8F"/>
                </a:solidFill>
                <a:latin typeface="Calibri"/>
              </a:rPr>
              <a:t>🎵 Fast and fun — no reading out loud needed!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EA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237744"/>
            <a:ext cx="2926080" cy="384048"/>
          </a:xfrm>
          <a:prstGeom prst="roundRect">
            <a:avLst/>
          </a:prstGeom>
          <a:solidFill>
            <a:srgbClr val="2EA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83464"/>
            <a:ext cx="2926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READING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418320" y="237744"/>
            <a:ext cx="2423160" cy="384048"/>
          </a:xfrm>
          <a:prstGeom prst="roundRect">
            <a:avLst/>
          </a:prstGeom>
          <a:solidFill>
            <a:srgbClr val="E85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283464"/>
            <a:ext cx="2423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50–60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3152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366B"/>
                </a:solidFill>
                <a:latin typeface="Georgia"/>
              </a:rPr>
              <a:t>📖 Now We Read Sentences!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19088"/>
            <a:ext cx="12191695" cy="73152"/>
          </a:xfrm>
          <a:prstGeom prst="rect">
            <a:avLst/>
          </a:prstGeom>
          <a:solidFill>
            <a:srgbClr val="E4E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419088"/>
            <a:ext cx="5573346" cy="73152"/>
          </a:xfrm>
          <a:prstGeom prst="rect">
            <a:avLst/>
          </a:prstGeom>
          <a:solidFill>
            <a:srgbClr val="FFC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636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6528816"/>
            <a:ext cx="10332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🐻 The Bear's Reading Adventure  |  Grade 2  |  90 min  |  Sentences  |  50–60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35640" y="652881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16 / 35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1371600"/>
            <a:ext cx="11292840" cy="2331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1783080"/>
            <a:ext cx="13716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0">
                <a:solidFill>
                  <a:srgbClr val="242C38"/>
                </a:solidFill>
                <a:latin typeface="Calibri"/>
              </a:rPr>
              <a:t>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77440" y="1965960"/>
            <a:ext cx="90525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16366B"/>
                </a:solidFill>
                <a:latin typeface="Arial Black"/>
              </a:rPr>
              <a:t>I see a cat.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977639"/>
            <a:ext cx="3566160" cy="1371600"/>
          </a:xfrm>
          <a:prstGeom prst="roundRect">
            <a:avLst/>
          </a:prstGeom>
          <a:solidFill>
            <a:srgbClr val="FFF2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105655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242C38"/>
                </a:solidFill>
                <a:latin typeface="Calibri"/>
              </a:rPr>
              <a:t>1️⃣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544567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16366B"/>
                </a:solidFill>
                <a:latin typeface="Calibri"/>
              </a:rPr>
              <a:t>I read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946903"/>
            <a:ext cx="3291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6366B"/>
                </a:solidFill>
                <a:latin typeface="Calibri"/>
              </a:rPr>
              <a:t>Listen and follow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97680" y="3977639"/>
            <a:ext cx="3566160" cy="1371600"/>
          </a:xfrm>
          <a:prstGeom prst="roundRect">
            <a:avLst/>
          </a:prstGeom>
          <a:solidFill>
            <a:srgbClr val="DE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34840" y="4105655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242C38"/>
                </a:solidFill>
                <a:latin typeface="Calibri"/>
              </a:rPr>
              <a:t>2️⃣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34840" y="4544567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16366B"/>
                </a:solidFill>
                <a:latin typeface="Calibri"/>
              </a:rPr>
              <a:t>We read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34840" y="4946903"/>
            <a:ext cx="3291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6366B"/>
                </a:solidFill>
                <a:latin typeface="Calibri"/>
              </a:rPr>
              <a:t>Say it with me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92440" y="3977639"/>
            <a:ext cx="3566160" cy="1371600"/>
          </a:xfrm>
          <a:prstGeom prst="roundRect">
            <a:avLst/>
          </a:prstGeom>
          <a:solidFill>
            <a:srgbClr val="2EA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0" y="4105655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242C38"/>
                </a:solidFill>
                <a:latin typeface="Calibri"/>
              </a:rPr>
              <a:t>3️⃣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0" y="4544567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YOU read it!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4946903"/>
            <a:ext cx="3291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Your turn 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5577840"/>
            <a:ext cx="8412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E85A4F"/>
                </a:solidFill>
                <a:latin typeface="Calibri"/>
              </a:rPr>
              <a:t>👉 Point under each word as you read it.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9C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237744"/>
            <a:ext cx="2926080" cy="384048"/>
          </a:xfrm>
          <a:prstGeom prst="roundRect">
            <a:avLst/>
          </a:prstGeom>
          <a:solidFill>
            <a:srgbClr val="009C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83464"/>
            <a:ext cx="2926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READING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418320" y="237744"/>
            <a:ext cx="2423160" cy="384048"/>
          </a:xfrm>
          <a:prstGeom prst="roundRect">
            <a:avLst/>
          </a:prstGeom>
          <a:solidFill>
            <a:srgbClr val="E85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283464"/>
            <a:ext cx="2423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50–60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3152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366B"/>
                </a:solidFill>
                <a:latin typeface="Georgia"/>
              </a:rPr>
              <a:t>🤝 Read With Me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19088"/>
            <a:ext cx="12191695" cy="73152"/>
          </a:xfrm>
          <a:prstGeom prst="rect">
            <a:avLst/>
          </a:prstGeom>
          <a:solidFill>
            <a:srgbClr val="E4E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419088"/>
            <a:ext cx="5921680" cy="73152"/>
          </a:xfrm>
          <a:prstGeom prst="rect">
            <a:avLst/>
          </a:prstGeom>
          <a:solidFill>
            <a:srgbClr val="FFC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636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6528816"/>
            <a:ext cx="10332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🐻 The Bear's Reading Adventure  |  Grade 2  |  90 min  |  Sentences  |  50–60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35640" y="652881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17 / 35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1463040"/>
            <a:ext cx="11292840" cy="2148840"/>
          </a:xfrm>
          <a:prstGeom prst="roundRect">
            <a:avLst/>
          </a:prstGeom>
          <a:solidFill>
            <a:srgbClr val="DE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011680"/>
            <a:ext cx="12801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0">
                <a:solidFill>
                  <a:srgbClr val="242C38"/>
                </a:solidFill>
                <a:latin typeface="Calibri"/>
              </a:rPr>
              <a:t>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1965960"/>
            <a:ext cx="73152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>
                <a:solidFill>
                  <a:srgbClr val="16366B"/>
                </a:solidFill>
                <a:latin typeface="Arial Black"/>
              </a:rPr>
              <a:t>The cat is big.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92640" y="2148840"/>
            <a:ext cx="1828800" cy="685800"/>
          </a:xfrm>
          <a:prstGeom prst="roundRect">
            <a:avLst/>
          </a:prstGeom>
          <a:solidFill>
            <a:srgbClr val="009C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92640" y="22860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YOU read ⭐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840480"/>
            <a:ext cx="11292840" cy="2148840"/>
          </a:xfrm>
          <a:prstGeom prst="roundRect">
            <a:avLst/>
          </a:prstGeom>
          <a:solidFill>
            <a:srgbClr val="E4F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389120"/>
            <a:ext cx="12801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0">
                <a:solidFill>
                  <a:srgbClr val="242C38"/>
                </a:solidFill>
                <a:latin typeface="Calibri"/>
              </a:rPr>
              <a:t>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4343400"/>
            <a:ext cx="73152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>
                <a:solidFill>
                  <a:srgbClr val="16366B"/>
                </a:solidFill>
                <a:latin typeface="Arial Black"/>
              </a:rPr>
              <a:t>I can run.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92640" y="4526280"/>
            <a:ext cx="1828800" cy="685800"/>
          </a:xfrm>
          <a:prstGeom prst="roundRect">
            <a:avLst/>
          </a:prstGeom>
          <a:solidFill>
            <a:srgbClr val="2E7D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92640" y="4663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YOU read ⭐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9C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237744"/>
            <a:ext cx="2926080" cy="384048"/>
          </a:xfrm>
          <a:prstGeom prst="roundRect">
            <a:avLst/>
          </a:prstGeom>
          <a:solidFill>
            <a:srgbClr val="009C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83464"/>
            <a:ext cx="2926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READING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418320" y="237744"/>
            <a:ext cx="2423160" cy="384048"/>
          </a:xfrm>
          <a:prstGeom prst="roundRect">
            <a:avLst/>
          </a:prstGeom>
          <a:solidFill>
            <a:srgbClr val="E85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283464"/>
            <a:ext cx="2423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50–60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3152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366B"/>
                </a:solidFill>
                <a:latin typeface="Georgia"/>
              </a:rPr>
              <a:t>⭐ Your Turn to Read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19088"/>
            <a:ext cx="12191695" cy="73152"/>
          </a:xfrm>
          <a:prstGeom prst="rect">
            <a:avLst/>
          </a:prstGeom>
          <a:solidFill>
            <a:srgbClr val="E4E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419088"/>
            <a:ext cx="6270014" cy="73152"/>
          </a:xfrm>
          <a:prstGeom prst="rect">
            <a:avLst/>
          </a:prstGeom>
          <a:solidFill>
            <a:srgbClr val="FFC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636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6528816"/>
            <a:ext cx="10332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🐻 The Bear's Reading Adventure  |  Grade 2  |  90 min  |  Sentences  |  50–60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35640" y="652881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18 / 35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1463040"/>
            <a:ext cx="11292840" cy="2148840"/>
          </a:xfrm>
          <a:prstGeom prst="roundRect">
            <a:avLst/>
          </a:prstGeom>
          <a:solidFill>
            <a:srgbClr val="FFF2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011680"/>
            <a:ext cx="12801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0">
                <a:solidFill>
                  <a:srgbClr val="242C38"/>
                </a:solidFill>
                <a:latin typeface="Calibri"/>
              </a:rPr>
              <a:t>☀️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1965960"/>
            <a:ext cx="73152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>
                <a:solidFill>
                  <a:srgbClr val="16366B"/>
                </a:solidFill>
                <a:latin typeface="Arial Black"/>
              </a:rPr>
              <a:t>We see the sun.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92640" y="2148840"/>
            <a:ext cx="1828800" cy="685800"/>
          </a:xfrm>
          <a:prstGeom prst="roundRect">
            <a:avLst/>
          </a:prstGeom>
          <a:solidFill>
            <a:srgbClr val="F2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92640" y="22860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YOU read ⭐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840480"/>
            <a:ext cx="11292840" cy="2148840"/>
          </a:xfrm>
          <a:prstGeom prst="roundRect">
            <a:avLst/>
          </a:prstGeom>
          <a:solidFill>
            <a:srgbClr val="FDEA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389120"/>
            <a:ext cx="12801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0">
                <a:solidFill>
                  <a:srgbClr val="242C38"/>
                </a:solidFill>
                <a:latin typeface="Calibri"/>
              </a:rPr>
              <a:t>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4343400"/>
            <a:ext cx="73152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>
                <a:solidFill>
                  <a:srgbClr val="16366B"/>
                </a:solidFill>
                <a:latin typeface="Arial Black"/>
              </a:rPr>
              <a:t>My dog can run.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92640" y="4526280"/>
            <a:ext cx="1828800" cy="685800"/>
          </a:xfrm>
          <a:prstGeom prst="roundRect">
            <a:avLst/>
          </a:prstGeom>
          <a:solidFill>
            <a:srgbClr val="E85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92640" y="4663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YOU read ⭐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B4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237744"/>
            <a:ext cx="2926080" cy="384048"/>
          </a:xfrm>
          <a:prstGeom prst="roundRect">
            <a:avLst/>
          </a:prstGeom>
          <a:solidFill>
            <a:srgbClr val="7B4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83464"/>
            <a:ext cx="2926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GAME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418320" y="237744"/>
            <a:ext cx="2423160" cy="384048"/>
          </a:xfrm>
          <a:prstGeom prst="roundRect">
            <a:avLst/>
          </a:prstGeom>
          <a:solidFill>
            <a:srgbClr val="E85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283464"/>
            <a:ext cx="2423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60–68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3152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366B"/>
                </a:solidFill>
                <a:latin typeface="Georgia"/>
              </a:rPr>
              <a:t>🧩 Game: Build the Sentence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19088"/>
            <a:ext cx="12191695" cy="73152"/>
          </a:xfrm>
          <a:prstGeom prst="rect">
            <a:avLst/>
          </a:prstGeom>
          <a:solidFill>
            <a:srgbClr val="E4E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419088"/>
            <a:ext cx="6618348" cy="73152"/>
          </a:xfrm>
          <a:prstGeom prst="rect">
            <a:avLst/>
          </a:prstGeom>
          <a:solidFill>
            <a:srgbClr val="FFC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636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6528816"/>
            <a:ext cx="10332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🐻 The Bear's Reading Adventure  |  Grade 2  |  90 min  |  Build it  |  60–68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35640" y="652881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19 / 35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1261872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85A4F"/>
                </a:solidFill>
                <a:latin typeface="Calibri"/>
              </a:rPr>
              <a:t>The words got mixed up! Put them back in order, then read it.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1737360"/>
            <a:ext cx="11292840" cy="1325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8368" y="2121408"/>
            <a:ext cx="548640" cy="548640"/>
          </a:xfrm>
          <a:prstGeom prst="ellipse">
            <a:avLst/>
          </a:prstGeom>
          <a:solidFill>
            <a:srgbClr val="7B4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219456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2148840"/>
            <a:ext cx="685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242C38"/>
                </a:solidFill>
                <a:latin typeface="Calibri"/>
              </a:rPr>
              <a:t>🐱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194560" y="2057400"/>
            <a:ext cx="1627632" cy="685800"/>
          </a:xfrm>
          <a:prstGeom prst="roundRect">
            <a:avLst/>
          </a:prstGeom>
          <a:solidFill>
            <a:srgbClr val="EF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194560" y="2176272"/>
            <a:ext cx="16276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6366B"/>
                </a:solidFill>
                <a:latin typeface="Calibri"/>
              </a:rPr>
              <a:t>cat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977639" y="2057400"/>
            <a:ext cx="1627632" cy="685800"/>
          </a:xfrm>
          <a:prstGeom prst="roundRect">
            <a:avLst/>
          </a:prstGeom>
          <a:solidFill>
            <a:srgbClr val="EF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977639" y="2176272"/>
            <a:ext cx="16276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6366B"/>
                </a:solidFill>
                <a:latin typeface="Calibri"/>
              </a:rPr>
              <a:t>I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760720" y="2057400"/>
            <a:ext cx="1627632" cy="685800"/>
          </a:xfrm>
          <a:prstGeom prst="roundRect">
            <a:avLst/>
          </a:prstGeom>
          <a:solidFill>
            <a:srgbClr val="EF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60720" y="2176272"/>
            <a:ext cx="16276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6366B"/>
                </a:solidFill>
                <a:latin typeface="Calibri"/>
              </a:rPr>
              <a:t>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543800" y="2057400"/>
            <a:ext cx="1627632" cy="685800"/>
          </a:xfrm>
          <a:prstGeom prst="roundRect">
            <a:avLst/>
          </a:prstGeom>
          <a:solidFill>
            <a:srgbClr val="EF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43800" y="2176272"/>
            <a:ext cx="16276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6366B"/>
                </a:solidFill>
                <a:latin typeface="Calibri"/>
              </a:rPr>
              <a:t>see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3246120"/>
            <a:ext cx="11292840" cy="1325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58368" y="3630168"/>
            <a:ext cx="548640" cy="548640"/>
          </a:xfrm>
          <a:prstGeom prst="ellipse">
            <a:avLst/>
          </a:prstGeom>
          <a:solidFill>
            <a:srgbClr val="7B4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370332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71600" y="3657600"/>
            <a:ext cx="685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242C38"/>
                </a:solidFill>
                <a:latin typeface="Calibri"/>
              </a:rPr>
              <a:t>🐱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194560" y="3566160"/>
            <a:ext cx="1627632" cy="685800"/>
          </a:xfrm>
          <a:prstGeom prst="roundRect">
            <a:avLst/>
          </a:prstGeom>
          <a:solidFill>
            <a:srgbClr val="EF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194560" y="3685032"/>
            <a:ext cx="16276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6366B"/>
                </a:solidFill>
                <a:latin typeface="Calibri"/>
              </a:rPr>
              <a:t>big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977639" y="3566160"/>
            <a:ext cx="1627632" cy="685800"/>
          </a:xfrm>
          <a:prstGeom prst="roundRect">
            <a:avLst/>
          </a:prstGeom>
          <a:solidFill>
            <a:srgbClr val="EF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77639" y="3685032"/>
            <a:ext cx="16276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6366B"/>
                </a:solidFill>
                <a:latin typeface="Calibri"/>
              </a:rPr>
              <a:t>The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760720" y="3566160"/>
            <a:ext cx="1627632" cy="685800"/>
          </a:xfrm>
          <a:prstGeom prst="roundRect">
            <a:avLst/>
          </a:prstGeom>
          <a:solidFill>
            <a:srgbClr val="EF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760720" y="3685032"/>
            <a:ext cx="16276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6366B"/>
                </a:solidFill>
                <a:latin typeface="Calibri"/>
              </a:rPr>
              <a:t>is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543800" y="3566160"/>
            <a:ext cx="1627632" cy="685800"/>
          </a:xfrm>
          <a:prstGeom prst="roundRect">
            <a:avLst/>
          </a:prstGeom>
          <a:solidFill>
            <a:srgbClr val="EF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543800" y="3685032"/>
            <a:ext cx="16276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6366B"/>
                </a:solidFill>
                <a:latin typeface="Calibri"/>
              </a:rPr>
              <a:t>cat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4754879"/>
            <a:ext cx="11292840" cy="1325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58368" y="5138927"/>
            <a:ext cx="548640" cy="548640"/>
          </a:xfrm>
          <a:prstGeom prst="ellipse">
            <a:avLst/>
          </a:prstGeom>
          <a:solidFill>
            <a:srgbClr val="7B4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8368" y="5212079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71600" y="5166359"/>
            <a:ext cx="685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242C38"/>
                </a:solidFill>
                <a:latin typeface="Calibri"/>
              </a:rPr>
              <a:t>🏃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194560" y="5074919"/>
            <a:ext cx="1627632" cy="685800"/>
          </a:xfrm>
          <a:prstGeom prst="roundRect">
            <a:avLst/>
          </a:prstGeom>
          <a:solidFill>
            <a:srgbClr val="EF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194560" y="5193791"/>
            <a:ext cx="16276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6366B"/>
                </a:solidFill>
                <a:latin typeface="Calibri"/>
              </a:rPr>
              <a:t>run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977639" y="5074919"/>
            <a:ext cx="1627632" cy="685800"/>
          </a:xfrm>
          <a:prstGeom prst="roundRect">
            <a:avLst/>
          </a:prstGeom>
          <a:solidFill>
            <a:srgbClr val="EF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977639" y="5193791"/>
            <a:ext cx="16276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6366B"/>
                </a:solidFill>
                <a:latin typeface="Calibri"/>
              </a:rPr>
              <a:t>I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760720" y="5074919"/>
            <a:ext cx="1627632" cy="685800"/>
          </a:xfrm>
          <a:prstGeom prst="roundRect">
            <a:avLst/>
          </a:prstGeom>
          <a:solidFill>
            <a:srgbClr val="EF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760720" y="5193791"/>
            <a:ext cx="16276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6366B"/>
                </a:solidFill>
                <a:latin typeface="Calibri"/>
              </a:rPr>
              <a:t>can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B4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237744"/>
            <a:ext cx="2926080" cy="384048"/>
          </a:xfrm>
          <a:prstGeom prst="roundRect">
            <a:avLst/>
          </a:prstGeom>
          <a:solidFill>
            <a:srgbClr val="7B4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83464"/>
            <a:ext cx="2926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GAME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418320" y="237744"/>
            <a:ext cx="2423160" cy="384048"/>
          </a:xfrm>
          <a:prstGeom prst="roundRect">
            <a:avLst/>
          </a:prstGeom>
          <a:solidFill>
            <a:srgbClr val="E85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283464"/>
            <a:ext cx="2423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60–68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3152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366B"/>
                </a:solidFill>
                <a:latin typeface="Georgia"/>
              </a:rPr>
              <a:t>🧩 Build the Sentence — Round 2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19088"/>
            <a:ext cx="12191695" cy="73152"/>
          </a:xfrm>
          <a:prstGeom prst="rect">
            <a:avLst/>
          </a:prstGeom>
          <a:solidFill>
            <a:srgbClr val="E4E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419088"/>
            <a:ext cx="6966682" cy="73152"/>
          </a:xfrm>
          <a:prstGeom prst="rect">
            <a:avLst/>
          </a:prstGeom>
          <a:solidFill>
            <a:srgbClr val="FFC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636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6528816"/>
            <a:ext cx="10332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🐻 The Bear's Reading Adventure  |  Grade 2  |  90 min  |  Build it  |  60–68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35640" y="652881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20 / 35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1261872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85A4F"/>
                </a:solidFill>
                <a:latin typeface="Calibri"/>
              </a:rPr>
              <a:t>The words got mixed up! Put them back in order, then read it.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1737360"/>
            <a:ext cx="11292840" cy="1325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8368" y="2121408"/>
            <a:ext cx="548640" cy="548640"/>
          </a:xfrm>
          <a:prstGeom prst="ellipse">
            <a:avLst/>
          </a:prstGeom>
          <a:solidFill>
            <a:srgbClr val="7B4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219456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2148840"/>
            <a:ext cx="685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242C38"/>
                </a:solidFill>
                <a:latin typeface="Calibri"/>
              </a:rPr>
              <a:t>☀️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194560" y="2057400"/>
            <a:ext cx="1627632" cy="685800"/>
          </a:xfrm>
          <a:prstGeom prst="roundRect">
            <a:avLst/>
          </a:prstGeom>
          <a:solidFill>
            <a:srgbClr val="EF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194560" y="2176272"/>
            <a:ext cx="16276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6366B"/>
                </a:solidFill>
                <a:latin typeface="Calibri"/>
              </a:rPr>
              <a:t>sun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977639" y="2057400"/>
            <a:ext cx="1627632" cy="685800"/>
          </a:xfrm>
          <a:prstGeom prst="roundRect">
            <a:avLst/>
          </a:prstGeom>
          <a:solidFill>
            <a:srgbClr val="EF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977639" y="2176272"/>
            <a:ext cx="16276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6366B"/>
                </a:solidFill>
                <a:latin typeface="Calibri"/>
              </a:rPr>
              <a:t>the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760720" y="2057400"/>
            <a:ext cx="1627632" cy="685800"/>
          </a:xfrm>
          <a:prstGeom prst="roundRect">
            <a:avLst/>
          </a:prstGeom>
          <a:solidFill>
            <a:srgbClr val="EF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60720" y="2176272"/>
            <a:ext cx="16276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6366B"/>
                </a:solidFill>
                <a:latin typeface="Calibri"/>
              </a:rPr>
              <a:t>We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543800" y="2057400"/>
            <a:ext cx="1627632" cy="685800"/>
          </a:xfrm>
          <a:prstGeom prst="roundRect">
            <a:avLst/>
          </a:prstGeom>
          <a:solidFill>
            <a:srgbClr val="EF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43800" y="2176272"/>
            <a:ext cx="16276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6366B"/>
                </a:solidFill>
                <a:latin typeface="Calibri"/>
              </a:rPr>
              <a:t>see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3246120"/>
            <a:ext cx="11292840" cy="1325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58368" y="3630168"/>
            <a:ext cx="548640" cy="548640"/>
          </a:xfrm>
          <a:prstGeom prst="ellipse">
            <a:avLst/>
          </a:prstGeom>
          <a:solidFill>
            <a:srgbClr val="7B4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370332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71600" y="3657600"/>
            <a:ext cx="685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242C38"/>
                </a:solidFill>
                <a:latin typeface="Calibri"/>
              </a:rPr>
              <a:t>🐶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194560" y="3566160"/>
            <a:ext cx="1627632" cy="685800"/>
          </a:xfrm>
          <a:prstGeom prst="roundRect">
            <a:avLst/>
          </a:prstGeom>
          <a:solidFill>
            <a:srgbClr val="EF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194560" y="3685032"/>
            <a:ext cx="16276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6366B"/>
                </a:solidFill>
                <a:latin typeface="Calibri"/>
              </a:rPr>
              <a:t>can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977639" y="3566160"/>
            <a:ext cx="1627632" cy="685800"/>
          </a:xfrm>
          <a:prstGeom prst="roundRect">
            <a:avLst/>
          </a:prstGeom>
          <a:solidFill>
            <a:srgbClr val="EF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77639" y="3685032"/>
            <a:ext cx="16276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6366B"/>
                </a:solidFill>
                <a:latin typeface="Calibri"/>
              </a:rPr>
              <a:t>dog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760720" y="3566160"/>
            <a:ext cx="1627632" cy="685800"/>
          </a:xfrm>
          <a:prstGeom prst="roundRect">
            <a:avLst/>
          </a:prstGeom>
          <a:solidFill>
            <a:srgbClr val="EF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760720" y="3685032"/>
            <a:ext cx="16276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6366B"/>
                </a:solidFill>
                <a:latin typeface="Calibri"/>
              </a:rPr>
              <a:t>My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543800" y="3566160"/>
            <a:ext cx="1627632" cy="685800"/>
          </a:xfrm>
          <a:prstGeom prst="roundRect">
            <a:avLst/>
          </a:prstGeom>
          <a:solidFill>
            <a:srgbClr val="EF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543800" y="3685032"/>
            <a:ext cx="16276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6366B"/>
                </a:solidFill>
                <a:latin typeface="Calibri"/>
              </a:rPr>
              <a:t>run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4754879"/>
            <a:ext cx="11292840" cy="1325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58368" y="5138927"/>
            <a:ext cx="548640" cy="548640"/>
          </a:xfrm>
          <a:prstGeom prst="ellipse">
            <a:avLst/>
          </a:prstGeom>
          <a:solidFill>
            <a:srgbClr val="7B4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8368" y="5212079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71600" y="5166359"/>
            <a:ext cx="685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242C38"/>
                </a:solidFill>
                <a:latin typeface="Calibri"/>
              </a:rPr>
              <a:t>🔴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194560" y="5074919"/>
            <a:ext cx="1627632" cy="685800"/>
          </a:xfrm>
          <a:prstGeom prst="roundRect">
            <a:avLst/>
          </a:prstGeom>
          <a:solidFill>
            <a:srgbClr val="EF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194560" y="5193791"/>
            <a:ext cx="16276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6366B"/>
                </a:solidFill>
                <a:latin typeface="Calibri"/>
              </a:rPr>
              <a:t>red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977639" y="5074919"/>
            <a:ext cx="1627632" cy="685800"/>
          </a:xfrm>
          <a:prstGeom prst="roundRect">
            <a:avLst/>
          </a:prstGeom>
          <a:solidFill>
            <a:srgbClr val="EF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977639" y="5193791"/>
            <a:ext cx="16276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6366B"/>
                </a:solidFill>
                <a:latin typeface="Calibri"/>
              </a:rPr>
              <a:t>a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760720" y="5074919"/>
            <a:ext cx="1627632" cy="685800"/>
          </a:xfrm>
          <a:prstGeom prst="roundRect">
            <a:avLst/>
          </a:prstGeom>
          <a:solidFill>
            <a:srgbClr val="EF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760720" y="5193791"/>
            <a:ext cx="16276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6366B"/>
                </a:solidFill>
                <a:latin typeface="Calibri"/>
              </a:rPr>
              <a:t>has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543800" y="5074919"/>
            <a:ext cx="1627632" cy="685800"/>
          </a:xfrm>
          <a:prstGeom prst="roundRect">
            <a:avLst/>
          </a:prstGeom>
          <a:solidFill>
            <a:srgbClr val="EF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543800" y="5193791"/>
            <a:ext cx="16276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6366B"/>
                </a:solidFill>
                <a:latin typeface="Calibri"/>
              </a:rPr>
              <a:t>Ben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326880" y="5074919"/>
            <a:ext cx="1627632" cy="685800"/>
          </a:xfrm>
          <a:prstGeom prst="roundRect">
            <a:avLst/>
          </a:prstGeom>
          <a:solidFill>
            <a:srgbClr val="EF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326880" y="5193791"/>
            <a:ext cx="16276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6366B"/>
                </a:solidFill>
                <a:latin typeface="Calibri"/>
              </a:rPr>
              <a:t>ball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E7D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237744"/>
            <a:ext cx="2926080" cy="384048"/>
          </a:xfrm>
          <a:prstGeom prst="roundRect">
            <a:avLst/>
          </a:prstGeom>
          <a:solidFill>
            <a:srgbClr val="2E7D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83464"/>
            <a:ext cx="2926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VOCAB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418320" y="237744"/>
            <a:ext cx="2423160" cy="384048"/>
          </a:xfrm>
          <a:prstGeom prst="roundRect">
            <a:avLst/>
          </a:prstGeom>
          <a:solidFill>
            <a:srgbClr val="E85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283464"/>
            <a:ext cx="2423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68–78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3152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366B"/>
                </a:solidFill>
                <a:latin typeface="Georgia"/>
              </a:rPr>
              <a:t>📚 Story Words — Meet Ben the Bear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19088"/>
            <a:ext cx="12191695" cy="73152"/>
          </a:xfrm>
          <a:prstGeom prst="rect">
            <a:avLst/>
          </a:prstGeom>
          <a:solidFill>
            <a:srgbClr val="E4E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419088"/>
            <a:ext cx="7315017" cy="73152"/>
          </a:xfrm>
          <a:prstGeom prst="rect">
            <a:avLst/>
          </a:prstGeom>
          <a:solidFill>
            <a:srgbClr val="FFC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636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6528816"/>
            <a:ext cx="10332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🐻 The Bear's Reading Adventure  |  Grade 2  |  90 min  |  Story words  |  68–78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35640" y="652881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21 / 35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1243584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85A4F"/>
                </a:solidFill>
                <a:latin typeface="Calibri"/>
              </a:rPr>
              <a:t>These words are in Ben's story. Let's meet them first!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1691640"/>
            <a:ext cx="2743200" cy="2103120"/>
          </a:xfrm>
          <a:prstGeom prst="roundRect">
            <a:avLst/>
          </a:prstGeom>
          <a:solidFill>
            <a:srgbClr val="E4F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1801368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242C38"/>
                </a:solidFill>
                <a:latin typeface="Calibri"/>
              </a:rPr>
              <a:t>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237744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2E7D53"/>
                </a:solidFill>
                <a:latin typeface="Arial Black"/>
              </a:rPr>
              <a:t>bear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292608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A7788"/>
                </a:solidFill>
                <a:latin typeface="Calibri"/>
              </a:rPr>
              <a:t>b - ear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264408"/>
            <a:ext cx="2468880" cy="4114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3328416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42C38"/>
                </a:solidFill>
                <a:latin typeface="Calibri"/>
              </a:rPr>
              <a:t>Ben is a bear.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319272" y="1691640"/>
            <a:ext cx="2743200" cy="2103120"/>
          </a:xfrm>
          <a:prstGeom prst="roundRect">
            <a:avLst/>
          </a:prstGeom>
          <a:solidFill>
            <a:srgbClr val="E4F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10712" y="1801368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242C38"/>
                </a:solidFill>
                <a:latin typeface="Calibri"/>
              </a:rPr>
              <a:t>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10712" y="237744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2E7D53"/>
                </a:solidFill>
                <a:latin typeface="Arial Black"/>
              </a:rPr>
              <a:t>ball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10712" y="292608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A7788"/>
                </a:solidFill>
                <a:latin typeface="Calibri"/>
              </a:rPr>
              <a:t>b - all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456432" y="3264408"/>
            <a:ext cx="2468880" cy="4114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456432" y="3328416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42C38"/>
                </a:solidFill>
                <a:latin typeface="Calibri"/>
              </a:rPr>
              <a:t>I see a ball.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27064" y="1691640"/>
            <a:ext cx="2743200" cy="2103120"/>
          </a:xfrm>
          <a:prstGeom prst="roundRect">
            <a:avLst/>
          </a:prstGeom>
          <a:solidFill>
            <a:srgbClr val="E4F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18504" y="1801368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242C38"/>
                </a:solidFill>
                <a:latin typeface="Calibri"/>
              </a:rPr>
              <a:t>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18504" y="237744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2E7D53"/>
                </a:solidFill>
                <a:latin typeface="Arial Black"/>
              </a:rPr>
              <a:t>tree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18504" y="292608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A7788"/>
                </a:solidFill>
                <a:latin typeface="Calibri"/>
              </a:rPr>
              <a:t>t - ree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364224" y="3264408"/>
            <a:ext cx="2468880" cy="4114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64224" y="3328416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42C38"/>
                </a:solidFill>
                <a:latin typeface="Calibri"/>
              </a:rPr>
              <a:t>The tree is big.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134856" y="1691640"/>
            <a:ext cx="2743200" cy="2103120"/>
          </a:xfrm>
          <a:prstGeom prst="roundRect">
            <a:avLst/>
          </a:prstGeom>
          <a:solidFill>
            <a:srgbClr val="E4F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26296" y="1801368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242C38"/>
                </a:solidFill>
                <a:latin typeface="Calibri"/>
              </a:rPr>
              <a:t>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26296" y="237744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2E7D53"/>
                </a:solidFill>
                <a:latin typeface="Arial Black"/>
              </a:rPr>
              <a:t>red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26296" y="292608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A7788"/>
                </a:solidFill>
                <a:latin typeface="Calibri"/>
              </a:rPr>
              <a:t>r - e - d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272016" y="3264408"/>
            <a:ext cx="2468880" cy="4114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272016" y="3328416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42C38"/>
                </a:solidFill>
                <a:latin typeface="Calibri"/>
              </a:rPr>
              <a:t>My ball is red.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11480" y="3977639"/>
            <a:ext cx="2743200" cy="2103120"/>
          </a:xfrm>
          <a:prstGeom prst="roundRect">
            <a:avLst/>
          </a:prstGeom>
          <a:solidFill>
            <a:srgbClr val="E4F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2920" y="4087367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242C38"/>
                </a:solidFill>
                <a:latin typeface="Calibri"/>
              </a:rPr>
              <a:t>🏃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4663439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2E7D53"/>
                </a:solidFill>
                <a:latin typeface="Arial Black"/>
              </a:rPr>
              <a:t>run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5212079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A7788"/>
                </a:solidFill>
                <a:latin typeface="Calibri"/>
              </a:rPr>
              <a:t>r - u - 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48640" y="5550407"/>
            <a:ext cx="2468880" cy="4114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8640" y="5614415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42C38"/>
                </a:solidFill>
                <a:latin typeface="Calibri"/>
              </a:rPr>
              <a:t>I can run.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319272" y="3977639"/>
            <a:ext cx="2743200" cy="2103120"/>
          </a:xfrm>
          <a:prstGeom prst="roundRect">
            <a:avLst/>
          </a:prstGeom>
          <a:solidFill>
            <a:srgbClr val="E4F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410712" y="4087367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242C38"/>
                </a:solidFill>
                <a:latin typeface="Calibri"/>
              </a:rPr>
              <a:t>🐘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410712" y="4663439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2E7D53"/>
                </a:solidFill>
                <a:latin typeface="Arial Black"/>
              </a:rPr>
              <a:t>big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10712" y="5212079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A7788"/>
                </a:solidFill>
                <a:latin typeface="Calibri"/>
              </a:rPr>
              <a:t>b - i - g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456432" y="5550407"/>
            <a:ext cx="2468880" cy="4114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456432" y="5614415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42C38"/>
                </a:solidFill>
                <a:latin typeface="Calibri"/>
              </a:rPr>
              <a:t>The dog is big.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227064" y="3977639"/>
            <a:ext cx="2743200" cy="2103120"/>
          </a:xfrm>
          <a:prstGeom prst="roundRect">
            <a:avLst/>
          </a:prstGeom>
          <a:solidFill>
            <a:srgbClr val="E4F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18504" y="4087367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242C38"/>
                </a:solidFill>
                <a:latin typeface="Calibri"/>
              </a:rPr>
              <a:t>😀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18504" y="4663439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2E7D53"/>
                </a:solidFill>
                <a:latin typeface="Arial Black"/>
              </a:rPr>
              <a:t>happy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318504" y="5212079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A7788"/>
                </a:solidFill>
                <a:latin typeface="Calibri"/>
              </a:rPr>
              <a:t>hap - py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364224" y="5550407"/>
            <a:ext cx="2468880" cy="4114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64224" y="5614415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42C38"/>
                </a:solidFill>
                <a:latin typeface="Calibri"/>
              </a:rPr>
              <a:t>Ben is happy.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134856" y="3977639"/>
            <a:ext cx="2743200" cy="2103120"/>
          </a:xfrm>
          <a:prstGeom prst="roundRect">
            <a:avLst/>
          </a:prstGeom>
          <a:solidFill>
            <a:srgbClr val="E4F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226296" y="4087367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242C38"/>
                </a:solidFill>
                <a:latin typeface="Calibri"/>
              </a:rPr>
              <a:t>🐣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226296" y="4663439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2E7D53"/>
                </a:solidFill>
                <a:latin typeface="Arial Black"/>
              </a:rPr>
              <a:t>little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226296" y="5212079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A7788"/>
                </a:solidFill>
                <a:latin typeface="Calibri"/>
              </a:rPr>
              <a:t>lit - tle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272016" y="5550407"/>
            <a:ext cx="2468880" cy="4114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272016" y="5614415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42C38"/>
                </a:solidFill>
                <a:latin typeface="Calibri"/>
              </a:rPr>
              <a:t>A little bear.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8B5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237744"/>
            <a:ext cx="2926080" cy="384048"/>
          </a:xfrm>
          <a:prstGeom prst="roundRect">
            <a:avLst/>
          </a:prstGeom>
          <a:solidFill>
            <a:srgbClr val="8B5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83464"/>
            <a:ext cx="2926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STORY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418320" y="237744"/>
            <a:ext cx="2423160" cy="384048"/>
          </a:xfrm>
          <a:prstGeom prst="roundRect">
            <a:avLst/>
          </a:prstGeom>
          <a:solidFill>
            <a:srgbClr val="E85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283464"/>
            <a:ext cx="2423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68–78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3152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366B"/>
                </a:solidFill>
                <a:latin typeface="Georgia"/>
              </a:rPr>
              <a:t>📚 The Little Bear — Part 1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19088"/>
            <a:ext cx="12191695" cy="73152"/>
          </a:xfrm>
          <a:prstGeom prst="rect">
            <a:avLst/>
          </a:prstGeom>
          <a:solidFill>
            <a:srgbClr val="E4E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419088"/>
            <a:ext cx="7663351" cy="73152"/>
          </a:xfrm>
          <a:prstGeom prst="rect">
            <a:avLst/>
          </a:prstGeom>
          <a:solidFill>
            <a:srgbClr val="FFC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636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6528816"/>
            <a:ext cx="10332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🐻 The Bear's Reading Adventure  |  Grade 2  |  90 min  |  Part 1  |  68–78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35640" y="652881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22 / 35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1371600"/>
            <a:ext cx="8138160" cy="45262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1783080"/>
            <a:ext cx="74066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6366B"/>
                </a:solidFill>
                <a:latin typeface="Calibri"/>
              </a:rPr>
              <a:t>Ben is a little bear.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807208"/>
            <a:ext cx="74066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6366B"/>
                </a:solidFill>
                <a:latin typeface="Calibri"/>
              </a:rPr>
              <a:t>Ben has a red ball.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831336"/>
            <a:ext cx="74066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6366B"/>
                </a:solidFill>
                <a:latin typeface="Calibri"/>
              </a:rPr>
              <a:t>Ben can run and play.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4855464"/>
            <a:ext cx="74066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6366B"/>
                </a:solidFill>
                <a:latin typeface="Calibri"/>
              </a:rPr>
              <a:t>Ben is happy.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823960" y="1371600"/>
            <a:ext cx="2926080" cy="4526280"/>
          </a:xfrm>
          <a:prstGeom prst="roundRect">
            <a:avLst/>
          </a:prstGeom>
          <a:solidFill>
            <a:srgbClr val="F4EA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23960" y="192024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400" b="0">
                <a:solidFill>
                  <a:srgbClr val="242C38"/>
                </a:solidFill>
                <a:latin typeface="Calibri"/>
              </a:rPr>
              <a:t>🐻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52560" y="3611880"/>
            <a:ext cx="2468880" cy="53035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52560" y="3712464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6366B"/>
                </a:solidFill>
                <a:latin typeface="Calibri"/>
              </a:rPr>
              <a:t>1️⃣  I read it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52560" y="4270248"/>
            <a:ext cx="2468880" cy="53035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52560" y="4370832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6366B"/>
                </a:solidFill>
                <a:latin typeface="Calibri"/>
              </a:rPr>
              <a:t>2️⃣  We read it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52560" y="4928616"/>
            <a:ext cx="2468880" cy="53035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0" y="502920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6366B"/>
                </a:solidFill>
                <a:latin typeface="Calibri"/>
              </a:rPr>
              <a:t>3️⃣  You pick ONE line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EA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237744"/>
            <a:ext cx="2926080" cy="384048"/>
          </a:xfrm>
          <a:prstGeom prst="roundRect">
            <a:avLst/>
          </a:prstGeom>
          <a:solidFill>
            <a:srgbClr val="2EA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83464"/>
            <a:ext cx="2926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STORY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418320" y="237744"/>
            <a:ext cx="2423160" cy="384048"/>
          </a:xfrm>
          <a:prstGeom prst="roundRect">
            <a:avLst/>
          </a:prstGeom>
          <a:solidFill>
            <a:srgbClr val="E85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283464"/>
            <a:ext cx="2423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68–78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3152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366B"/>
                </a:solidFill>
                <a:latin typeface="Georgia"/>
              </a:rPr>
              <a:t>📚 The Little Bear — Part 2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19088"/>
            <a:ext cx="12191695" cy="73152"/>
          </a:xfrm>
          <a:prstGeom prst="rect">
            <a:avLst/>
          </a:prstGeom>
          <a:solidFill>
            <a:srgbClr val="E4E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419088"/>
            <a:ext cx="8011685" cy="73152"/>
          </a:xfrm>
          <a:prstGeom prst="rect">
            <a:avLst/>
          </a:prstGeom>
          <a:solidFill>
            <a:srgbClr val="FFC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636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6528816"/>
            <a:ext cx="10332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🐻 The Bear's Reading Adventure  |  Grade 2  |  90 min  |  Part 2  |  68–78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35640" y="652881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23 / 35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1371600"/>
            <a:ext cx="8138160" cy="45262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1783080"/>
            <a:ext cx="74066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6366B"/>
                </a:solidFill>
                <a:latin typeface="Calibri"/>
              </a:rPr>
              <a:t>One day, the ball is gone.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807208"/>
            <a:ext cx="74066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6366B"/>
                </a:solidFill>
                <a:latin typeface="Calibri"/>
              </a:rPr>
              <a:t>Ben can not see the ball.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831336"/>
            <a:ext cx="74066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6366B"/>
                </a:solidFill>
                <a:latin typeface="Calibri"/>
              </a:rPr>
              <a:t>Ben looks and looks.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4855464"/>
            <a:ext cx="74066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6366B"/>
                </a:solidFill>
                <a:latin typeface="Calibri"/>
              </a:rPr>
              <a:t>Ben sees a big tree.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823960" y="1371600"/>
            <a:ext cx="2926080" cy="4526280"/>
          </a:xfrm>
          <a:prstGeom prst="roundRect">
            <a:avLst/>
          </a:prstGeom>
          <a:solidFill>
            <a:srgbClr val="E2F3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23960" y="192024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400" b="0">
                <a:solidFill>
                  <a:srgbClr val="242C38"/>
                </a:solidFill>
                <a:latin typeface="Calibri"/>
              </a:rPr>
              <a:t>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52560" y="3611880"/>
            <a:ext cx="2468880" cy="53035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52560" y="3712464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6366B"/>
                </a:solidFill>
                <a:latin typeface="Calibri"/>
              </a:rPr>
              <a:t>1️⃣  I read it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52560" y="4270248"/>
            <a:ext cx="2468880" cy="53035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52560" y="4370832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6366B"/>
                </a:solidFill>
                <a:latin typeface="Calibri"/>
              </a:rPr>
              <a:t>2️⃣  We read it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52560" y="4928616"/>
            <a:ext cx="2468880" cy="53035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0" y="502920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6366B"/>
                </a:solidFill>
                <a:latin typeface="Calibri"/>
              </a:rPr>
              <a:t>3️⃣  You pick ONE line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E7D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237744"/>
            <a:ext cx="2926080" cy="384048"/>
          </a:xfrm>
          <a:prstGeom prst="roundRect">
            <a:avLst/>
          </a:prstGeom>
          <a:solidFill>
            <a:srgbClr val="2E7D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83464"/>
            <a:ext cx="2926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STORY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418320" y="237744"/>
            <a:ext cx="2423160" cy="384048"/>
          </a:xfrm>
          <a:prstGeom prst="roundRect">
            <a:avLst/>
          </a:prstGeom>
          <a:solidFill>
            <a:srgbClr val="E85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283464"/>
            <a:ext cx="2423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68–78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3152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366B"/>
                </a:solidFill>
                <a:latin typeface="Georgia"/>
              </a:rPr>
              <a:t>📚 The Little Bear — Part 3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19088"/>
            <a:ext cx="12191695" cy="73152"/>
          </a:xfrm>
          <a:prstGeom prst="rect">
            <a:avLst/>
          </a:prstGeom>
          <a:solidFill>
            <a:srgbClr val="E4E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419088"/>
            <a:ext cx="8360019" cy="73152"/>
          </a:xfrm>
          <a:prstGeom prst="rect">
            <a:avLst/>
          </a:prstGeom>
          <a:solidFill>
            <a:srgbClr val="FFC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636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6528816"/>
            <a:ext cx="10332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🐻 The Bear's Reading Adventure  |  Grade 2  |  90 min  |  Part 3  |  68–78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35640" y="652881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24 / 35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1371600"/>
            <a:ext cx="8138160" cy="45262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1783080"/>
            <a:ext cx="74066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6366B"/>
                </a:solidFill>
                <a:latin typeface="Calibri"/>
              </a:rPr>
              <a:t>The ball is under the tree.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807208"/>
            <a:ext cx="74066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6366B"/>
                </a:solidFill>
                <a:latin typeface="Calibri"/>
              </a:rPr>
              <a:t>A cat sits on the ball.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831336"/>
            <a:ext cx="74066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6366B"/>
                </a:solidFill>
                <a:latin typeface="Calibri"/>
              </a:rPr>
              <a:t>"My ball!" says Ben.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4855464"/>
            <a:ext cx="74066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6366B"/>
                </a:solidFill>
                <a:latin typeface="Calibri"/>
              </a:rPr>
              <a:t>The cat runs to Ben.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823960" y="1371600"/>
            <a:ext cx="2926080" cy="4526280"/>
          </a:xfrm>
          <a:prstGeom prst="roundRect">
            <a:avLst/>
          </a:prstGeom>
          <a:solidFill>
            <a:srgbClr val="E4F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23960" y="192024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400" b="0">
                <a:solidFill>
                  <a:srgbClr val="242C38"/>
                </a:solidFill>
                <a:latin typeface="Calibri"/>
              </a:rPr>
              <a:t>🌳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52560" y="3611880"/>
            <a:ext cx="2468880" cy="53035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52560" y="3712464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6366B"/>
                </a:solidFill>
                <a:latin typeface="Calibri"/>
              </a:rPr>
              <a:t>1️⃣  I read it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52560" y="4270248"/>
            <a:ext cx="2468880" cy="53035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52560" y="4370832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6366B"/>
                </a:solidFill>
                <a:latin typeface="Calibri"/>
              </a:rPr>
              <a:t>2️⃣  We read it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52560" y="4928616"/>
            <a:ext cx="2468880" cy="53035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0" y="502920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6366B"/>
                </a:solidFill>
                <a:latin typeface="Calibri"/>
              </a:rPr>
              <a:t>3️⃣  You pick ONE line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2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237744"/>
            <a:ext cx="2926080" cy="384048"/>
          </a:xfrm>
          <a:prstGeom prst="roundRect">
            <a:avLst/>
          </a:prstGeom>
          <a:solidFill>
            <a:srgbClr val="F2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83464"/>
            <a:ext cx="2926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STORY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418320" y="237744"/>
            <a:ext cx="2423160" cy="384048"/>
          </a:xfrm>
          <a:prstGeom prst="roundRect">
            <a:avLst/>
          </a:prstGeom>
          <a:solidFill>
            <a:srgbClr val="E85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283464"/>
            <a:ext cx="2423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68–78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3152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366B"/>
                </a:solidFill>
                <a:latin typeface="Georgia"/>
              </a:rPr>
              <a:t>📚 The Little Bear — Part 4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19088"/>
            <a:ext cx="12191695" cy="73152"/>
          </a:xfrm>
          <a:prstGeom prst="rect">
            <a:avLst/>
          </a:prstGeom>
          <a:solidFill>
            <a:srgbClr val="E4E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419088"/>
            <a:ext cx="8708353" cy="73152"/>
          </a:xfrm>
          <a:prstGeom prst="rect">
            <a:avLst/>
          </a:prstGeom>
          <a:solidFill>
            <a:srgbClr val="FFC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636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6528816"/>
            <a:ext cx="10332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🐻 The Bear's Reading Adventure  |  Grade 2  |  90 min  |  Part 4  |  68–78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35640" y="652881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25 / 35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1371600"/>
            <a:ext cx="8138160" cy="45262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1783080"/>
            <a:ext cx="74066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6366B"/>
                </a:solidFill>
                <a:latin typeface="Calibri"/>
              </a:rPr>
              <a:t>Ben gets the red ball.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807208"/>
            <a:ext cx="74066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6366B"/>
                </a:solidFill>
                <a:latin typeface="Calibri"/>
              </a:rPr>
              <a:t>Ben and the cat play.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831336"/>
            <a:ext cx="74066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6366B"/>
                </a:solidFill>
                <a:latin typeface="Calibri"/>
              </a:rPr>
              <a:t>The sun is big and hot.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4855464"/>
            <a:ext cx="74066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6366B"/>
                </a:solidFill>
                <a:latin typeface="Calibri"/>
              </a:rPr>
              <a:t>Ben is happy.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823960" y="1371600"/>
            <a:ext cx="2926080" cy="4526280"/>
          </a:xfrm>
          <a:prstGeom prst="roundRect">
            <a:avLst/>
          </a:prstGeom>
          <a:solidFill>
            <a:srgbClr val="FFF2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23960" y="192024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400" b="0">
                <a:solidFill>
                  <a:srgbClr val="242C38"/>
                </a:solidFill>
                <a:latin typeface="Calibri"/>
              </a:rPr>
              <a:t>😀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52560" y="3611880"/>
            <a:ext cx="2468880" cy="53035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52560" y="3712464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6366B"/>
                </a:solidFill>
                <a:latin typeface="Calibri"/>
              </a:rPr>
              <a:t>1️⃣  I read it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52560" y="4270248"/>
            <a:ext cx="2468880" cy="53035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52560" y="4370832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6366B"/>
                </a:solidFill>
                <a:latin typeface="Calibri"/>
              </a:rPr>
              <a:t>2️⃣  We read it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52560" y="4928616"/>
            <a:ext cx="2468880" cy="53035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0" y="502920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6366B"/>
                </a:solidFill>
                <a:latin typeface="Calibri"/>
              </a:rPr>
              <a:t>3️⃣  You pick ONE line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2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237744"/>
            <a:ext cx="2926080" cy="384048"/>
          </a:xfrm>
          <a:prstGeom prst="roundRect">
            <a:avLst/>
          </a:prstGeom>
          <a:solidFill>
            <a:srgbClr val="F2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83464"/>
            <a:ext cx="2926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CHALLENGE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418320" y="237744"/>
            <a:ext cx="2423160" cy="384048"/>
          </a:xfrm>
          <a:prstGeom prst="roundRect">
            <a:avLst/>
          </a:prstGeom>
          <a:solidFill>
            <a:srgbClr val="E85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283464"/>
            <a:ext cx="2423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68–78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3152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366B"/>
                </a:solidFill>
                <a:latin typeface="Georgia"/>
              </a:rPr>
              <a:t>⭐ Story Reading Challenge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19088"/>
            <a:ext cx="12191695" cy="73152"/>
          </a:xfrm>
          <a:prstGeom prst="rect">
            <a:avLst/>
          </a:prstGeom>
          <a:solidFill>
            <a:srgbClr val="E4E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419088"/>
            <a:ext cx="9056687" cy="73152"/>
          </a:xfrm>
          <a:prstGeom prst="rect">
            <a:avLst/>
          </a:prstGeom>
          <a:solidFill>
            <a:srgbClr val="FFC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636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6528816"/>
            <a:ext cx="10332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🐻 The Bear's Reading Adventure  |  Grade 2  |  90 min  |  Story challenge  |  68–78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35640" y="652881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26 / 35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1261872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85A4F"/>
                </a:solidFill>
                <a:latin typeface="Calibri"/>
              </a:rPr>
              <a:t>Pick a line from Ben's story and read it. You choose which one!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1783080"/>
            <a:ext cx="11292840" cy="1298448"/>
          </a:xfrm>
          <a:prstGeom prst="roundRect">
            <a:avLst/>
          </a:prstGeom>
          <a:solidFill>
            <a:srgbClr val="DE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85800" y="2167128"/>
            <a:ext cx="1554480" cy="530352"/>
          </a:xfrm>
          <a:prstGeom prst="roundRect">
            <a:avLst/>
          </a:prstGeom>
          <a:solidFill>
            <a:srgbClr val="009C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2240280"/>
            <a:ext cx="1554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242C38"/>
                </a:solidFill>
                <a:latin typeface="Calibri"/>
              </a:rPr>
              <a:t>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60320" y="2112264"/>
            <a:ext cx="8686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6366B"/>
                </a:solidFill>
                <a:latin typeface="Arial Black"/>
              </a:rPr>
              <a:t>Ben is happy.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264408"/>
            <a:ext cx="11292840" cy="1298448"/>
          </a:xfrm>
          <a:prstGeom prst="roundRect">
            <a:avLst/>
          </a:prstGeom>
          <a:solidFill>
            <a:srgbClr val="FFF2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85800" y="3648456"/>
            <a:ext cx="1554480" cy="530352"/>
          </a:xfrm>
          <a:prstGeom prst="roundRect">
            <a:avLst/>
          </a:prstGeom>
          <a:solidFill>
            <a:srgbClr val="F2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3721608"/>
            <a:ext cx="1554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242C38"/>
                </a:solidFill>
                <a:latin typeface="Calibri"/>
              </a:rPr>
              <a:t>⭐⭐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60320" y="3593592"/>
            <a:ext cx="8686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6366B"/>
                </a:solidFill>
                <a:latin typeface="Arial Black"/>
              </a:rPr>
              <a:t>Ben has a red ball.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745736"/>
            <a:ext cx="11292840" cy="1298448"/>
          </a:xfrm>
          <a:prstGeom prst="roundRect">
            <a:avLst/>
          </a:prstGeom>
          <a:solidFill>
            <a:srgbClr val="FDEA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85800" y="5129784"/>
            <a:ext cx="1554480" cy="530352"/>
          </a:xfrm>
          <a:prstGeom prst="roundRect">
            <a:avLst/>
          </a:prstGeom>
          <a:solidFill>
            <a:srgbClr val="E85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5202936"/>
            <a:ext cx="1554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242C38"/>
                </a:solidFill>
                <a:latin typeface="Calibri"/>
              </a:rPr>
              <a:t>⭐⭐⭐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60320" y="5074920"/>
            <a:ext cx="8686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6366B"/>
                </a:solidFill>
                <a:latin typeface="Arial Black"/>
              </a:rPr>
              <a:t>The ball is under the tree.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2636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42C38"/>
                </a:solidFill>
                <a:latin typeface="Calibri"/>
              </a:rPr>
              <a:t/>
            </a:r>
          </a:p>
        </p:txBody>
      </p:sp>
    </p:spTree>
  </p:cSld>
  <p:clrMapOvr>
    <a:masterClrMapping/>
  </p:clrMapOvr>
  <p:transition spd="med" advClick="1">
    <p:fade/>
  </p:transition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B4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237744"/>
            <a:ext cx="2926080" cy="384048"/>
          </a:xfrm>
          <a:prstGeom prst="roundRect">
            <a:avLst/>
          </a:prstGeom>
          <a:solidFill>
            <a:srgbClr val="7B4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83464"/>
            <a:ext cx="2926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THINK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418320" y="237744"/>
            <a:ext cx="2423160" cy="384048"/>
          </a:xfrm>
          <a:prstGeom prst="roundRect">
            <a:avLst/>
          </a:prstGeom>
          <a:solidFill>
            <a:srgbClr val="E85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283464"/>
            <a:ext cx="2423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78–84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3152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366B"/>
                </a:solidFill>
                <a:latin typeface="Georgia"/>
              </a:rPr>
              <a:t>🧩 Story Questions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19088"/>
            <a:ext cx="12191695" cy="73152"/>
          </a:xfrm>
          <a:prstGeom prst="rect">
            <a:avLst/>
          </a:prstGeom>
          <a:solidFill>
            <a:srgbClr val="E4E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419088"/>
            <a:ext cx="9405021" cy="73152"/>
          </a:xfrm>
          <a:prstGeom prst="rect">
            <a:avLst/>
          </a:prstGeom>
          <a:solidFill>
            <a:srgbClr val="FFC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636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6528816"/>
            <a:ext cx="10332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🐻 The Bear's Reading Adventure  |  Grade 2  |  90 min  |  Comprehension  |  78–84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35640" y="652881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27 / 35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1417320"/>
            <a:ext cx="11292840" cy="14630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58368" y="1874520"/>
            <a:ext cx="548640" cy="548640"/>
          </a:xfrm>
          <a:prstGeom prst="ellipse">
            <a:avLst/>
          </a:prstGeom>
          <a:solidFill>
            <a:srgbClr val="7B4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1947672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1892808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6366B"/>
                </a:solidFill>
                <a:latin typeface="Calibri"/>
              </a:rPr>
              <a:t>Who is the story about?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212080" y="1673352"/>
            <a:ext cx="2011680" cy="960120"/>
          </a:xfrm>
          <a:prstGeom prst="roundRect">
            <a:avLst/>
          </a:prstGeom>
          <a:solidFill>
            <a:srgbClr val="EF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12080" y="1764792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242C38"/>
                </a:solidFill>
                <a:latin typeface="Calibri"/>
              </a:rPr>
              <a:t>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0" y="2203704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6366B"/>
                </a:solidFill>
                <a:latin typeface="Calibri"/>
              </a:rPr>
              <a:t>Bear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06640" y="1673352"/>
            <a:ext cx="2011680" cy="960120"/>
          </a:xfrm>
          <a:prstGeom prst="roundRect">
            <a:avLst/>
          </a:prstGeom>
          <a:solidFill>
            <a:srgbClr val="EF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06640" y="1764792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242C38"/>
                </a:solidFill>
                <a:latin typeface="Calibri"/>
              </a:rPr>
              <a:t>🐶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0" y="2203704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6366B"/>
                </a:solidFill>
                <a:latin typeface="Calibri"/>
              </a:rPr>
              <a:t>Dog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601200" y="1673352"/>
            <a:ext cx="2011680" cy="960120"/>
          </a:xfrm>
          <a:prstGeom prst="roundRect">
            <a:avLst/>
          </a:prstGeom>
          <a:solidFill>
            <a:srgbClr val="EF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200" y="1764792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242C38"/>
                </a:solidFill>
                <a:latin typeface="Calibri"/>
              </a:rPr>
              <a:t>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92640" y="2203704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6366B"/>
                </a:solidFill>
                <a:latin typeface="Calibri"/>
              </a:rPr>
              <a:t>Cat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3044952"/>
            <a:ext cx="11292840" cy="14630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58368" y="3502152"/>
            <a:ext cx="548640" cy="548640"/>
          </a:xfrm>
          <a:prstGeom prst="ellipse">
            <a:avLst/>
          </a:prstGeom>
          <a:solidFill>
            <a:srgbClr val="7B4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3575304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20" y="352044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6366B"/>
                </a:solidFill>
                <a:latin typeface="Calibri"/>
              </a:rPr>
              <a:t>What did Ben have?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212080" y="3300984"/>
            <a:ext cx="2011680" cy="960120"/>
          </a:xfrm>
          <a:prstGeom prst="roundRect">
            <a:avLst/>
          </a:prstGeom>
          <a:solidFill>
            <a:srgbClr val="EF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12080" y="3392424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242C38"/>
                </a:solidFill>
                <a:latin typeface="Calibri"/>
              </a:rPr>
              <a:t>🔴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03520" y="3831336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6366B"/>
                </a:solidFill>
                <a:latin typeface="Calibri"/>
              </a:rPr>
              <a:t>Ball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406640" y="3300984"/>
            <a:ext cx="2011680" cy="960120"/>
          </a:xfrm>
          <a:prstGeom prst="roundRect">
            <a:avLst/>
          </a:prstGeom>
          <a:solidFill>
            <a:srgbClr val="EF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406640" y="3392424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242C38"/>
                </a:solidFill>
                <a:latin typeface="Calibri"/>
              </a:rPr>
              <a:t>🍎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80" y="3831336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6366B"/>
                </a:solidFill>
                <a:latin typeface="Calibri"/>
              </a:rPr>
              <a:t>Apple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601200" y="3300984"/>
            <a:ext cx="2011680" cy="960120"/>
          </a:xfrm>
          <a:prstGeom prst="roundRect">
            <a:avLst/>
          </a:prstGeom>
          <a:solidFill>
            <a:srgbClr val="EF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0" y="3392424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242C38"/>
                </a:solidFill>
                <a:latin typeface="Calibri"/>
              </a:rPr>
              <a:t>📚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92640" y="3831336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6366B"/>
                </a:solidFill>
                <a:latin typeface="Calibri"/>
              </a:rPr>
              <a:t>Book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7200" y="4672584"/>
            <a:ext cx="11292840" cy="14630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658368" y="5129784"/>
            <a:ext cx="548640" cy="548640"/>
          </a:xfrm>
          <a:prstGeom prst="ellipse">
            <a:avLst/>
          </a:prstGeom>
          <a:solidFill>
            <a:srgbClr val="7B4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8368" y="5202936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417320" y="5148072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6366B"/>
                </a:solidFill>
                <a:latin typeface="Calibri"/>
              </a:rPr>
              <a:t>Where was the ball?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212080" y="4928616"/>
            <a:ext cx="2011680" cy="960120"/>
          </a:xfrm>
          <a:prstGeom prst="roundRect">
            <a:avLst/>
          </a:prstGeom>
          <a:solidFill>
            <a:srgbClr val="EF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212080" y="5020056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242C38"/>
                </a:solidFill>
                <a:latin typeface="Calibri"/>
              </a:rPr>
              <a:t>🌳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303520" y="5458968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6366B"/>
                </a:solidFill>
                <a:latin typeface="Calibri"/>
              </a:rPr>
              <a:t>Under the tree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406640" y="4928616"/>
            <a:ext cx="2011680" cy="960120"/>
          </a:xfrm>
          <a:prstGeom prst="roundRect">
            <a:avLst/>
          </a:prstGeom>
          <a:solidFill>
            <a:srgbClr val="EF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406640" y="5020056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242C38"/>
                </a:solidFill>
                <a:latin typeface="Calibri"/>
              </a:rPr>
              <a:t>🏠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498080" y="5458968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6366B"/>
                </a:solidFill>
                <a:latin typeface="Calibri"/>
              </a:rPr>
              <a:t>In the house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601200" y="4928616"/>
            <a:ext cx="2011680" cy="960120"/>
          </a:xfrm>
          <a:prstGeom prst="roundRect">
            <a:avLst/>
          </a:prstGeom>
          <a:solidFill>
            <a:srgbClr val="EF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601200" y="5020056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242C38"/>
                </a:solidFill>
                <a:latin typeface="Calibri"/>
              </a:rPr>
              <a:t>🪑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92640" y="5458968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6366B"/>
                </a:solidFill>
                <a:latin typeface="Calibri"/>
              </a:rPr>
              <a:t>On the chair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9C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237744"/>
            <a:ext cx="2926080" cy="384048"/>
          </a:xfrm>
          <a:prstGeom prst="roundRect">
            <a:avLst/>
          </a:prstGeom>
          <a:solidFill>
            <a:srgbClr val="009C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83464"/>
            <a:ext cx="2926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GAME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418320" y="237744"/>
            <a:ext cx="2423160" cy="384048"/>
          </a:xfrm>
          <a:prstGeom prst="roundRect">
            <a:avLst/>
          </a:prstGeom>
          <a:solidFill>
            <a:srgbClr val="E85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283464"/>
            <a:ext cx="2423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78–84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3152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366B"/>
                </a:solidFill>
                <a:latin typeface="Georgia"/>
              </a:rPr>
              <a:t>🖼️ Picture Question Game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19088"/>
            <a:ext cx="12191695" cy="73152"/>
          </a:xfrm>
          <a:prstGeom prst="rect">
            <a:avLst/>
          </a:prstGeom>
          <a:solidFill>
            <a:srgbClr val="E4E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419088"/>
            <a:ext cx="9753356" cy="73152"/>
          </a:xfrm>
          <a:prstGeom prst="rect">
            <a:avLst/>
          </a:prstGeom>
          <a:solidFill>
            <a:srgbClr val="FFC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636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6528816"/>
            <a:ext cx="10332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🐻 The Bear's Reading Adventure  |  Grade 2  |  90 min  |  Picture game  |  78–84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35640" y="652881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28 / 35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1225296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85A4F"/>
                </a:solidFill>
                <a:latin typeface="Calibri"/>
              </a:rPr>
              <a:t>I read a sentence — you point to the right picture!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1645920"/>
            <a:ext cx="11292840" cy="107899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1975104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6366B"/>
                </a:solidFill>
                <a:latin typeface="Calibri"/>
              </a:rPr>
              <a:t>Ben has a red ball.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0" y="1847088"/>
            <a:ext cx="1463040" cy="685800"/>
          </a:xfrm>
          <a:prstGeom prst="roundRect">
            <a:avLst/>
          </a:prstGeom>
          <a:solidFill>
            <a:srgbClr val="DE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0" y="1920240"/>
            <a:ext cx="1463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242C38"/>
                </a:solidFill>
                <a:latin typeface="Calibri"/>
              </a:rPr>
              <a:t>🔴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03920" y="1847088"/>
            <a:ext cx="1463040" cy="685800"/>
          </a:xfrm>
          <a:prstGeom prst="roundRect">
            <a:avLst/>
          </a:prstGeom>
          <a:solidFill>
            <a:srgbClr val="DE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03920" y="1920240"/>
            <a:ext cx="1463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242C38"/>
                </a:solidFill>
                <a:latin typeface="Calibri"/>
              </a:rPr>
              <a:t>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149840" y="1847088"/>
            <a:ext cx="1463040" cy="685800"/>
          </a:xfrm>
          <a:prstGeom prst="roundRect">
            <a:avLst/>
          </a:prstGeom>
          <a:solidFill>
            <a:srgbClr val="DE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49840" y="1920240"/>
            <a:ext cx="1463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242C38"/>
                </a:solidFill>
                <a:latin typeface="Calibri"/>
              </a:rPr>
              <a:t>📚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2871216"/>
            <a:ext cx="11292840" cy="107899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3200400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6366B"/>
                </a:solidFill>
                <a:latin typeface="Calibri"/>
              </a:rPr>
              <a:t>The cat sits on the ball.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0" y="3072384"/>
            <a:ext cx="1463040" cy="685800"/>
          </a:xfrm>
          <a:prstGeom prst="roundRect">
            <a:avLst/>
          </a:prstGeom>
          <a:solidFill>
            <a:srgbClr val="DE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0" y="3145536"/>
            <a:ext cx="1463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242C38"/>
                </a:solidFill>
                <a:latin typeface="Calibri"/>
              </a:rPr>
              <a:t>🐶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503920" y="3072384"/>
            <a:ext cx="1463040" cy="685800"/>
          </a:xfrm>
          <a:prstGeom prst="roundRect">
            <a:avLst/>
          </a:prstGeom>
          <a:solidFill>
            <a:srgbClr val="DE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03920" y="3145536"/>
            <a:ext cx="1463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242C38"/>
                </a:solidFill>
                <a:latin typeface="Calibri"/>
              </a:rPr>
              <a:t>🐱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149840" y="3072384"/>
            <a:ext cx="1463040" cy="685800"/>
          </a:xfrm>
          <a:prstGeom prst="roundRect">
            <a:avLst/>
          </a:prstGeom>
          <a:solidFill>
            <a:srgbClr val="DE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0" y="3145536"/>
            <a:ext cx="1463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242C38"/>
                </a:solidFill>
                <a:latin typeface="Calibri"/>
              </a:rPr>
              <a:t>🐻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096512"/>
            <a:ext cx="11292840" cy="107899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4425696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6366B"/>
                </a:solidFill>
                <a:latin typeface="Calibri"/>
              </a:rPr>
              <a:t>The ball is under the tree.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858000" y="4297680"/>
            <a:ext cx="1463040" cy="685800"/>
          </a:xfrm>
          <a:prstGeom prst="roundRect">
            <a:avLst/>
          </a:prstGeom>
          <a:solidFill>
            <a:srgbClr val="DE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0" y="4370832"/>
            <a:ext cx="1463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242C38"/>
                </a:solidFill>
                <a:latin typeface="Calibri"/>
              </a:rPr>
              <a:t>🌳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503920" y="4297680"/>
            <a:ext cx="1463040" cy="685800"/>
          </a:xfrm>
          <a:prstGeom prst="roundRect">
            <a:avLst/>
          </a:prstGeom>
          <a:solidFill>
            <a:srgbClr val="DE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03920" y="4370832"/>
            <a:ext cx="1463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242C38"/>
                </a:solidFill>
                <a:latin typeface="Calibri"/>
              </a:rPr>
              <a:t>🏠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149840" y="4297680"/>
            <a:ext cx="1463040" cy="685800"/>
          </a:xfrm>
          <a:prstGeom prst="roundRect">
            <a:avLst/>
          </a:prstGeom>
          <a:solidFill>
            <a:srgbClr val="DE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149840" y="4370832"/>
            <a:ext cx="1463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242C38"/>
                </a:solidFill>
                <a:latin typeface="Calibri"/>
              </a:rPr>
              <a:t>🚗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5394960"/>
            <a:ext cx="11292840" cy="914400"/>
          </a:xfrm>
          <a:prstGeom prst="roundRect">
            <a:avLst/>
          </a:prstGeom>
          <a:solidFill>
            <a:srgbClr val="FFF2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1520" y="550468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66B"/>
                </a:solidFill>
                <a:latin typeface="Calibri"/>
              </a:rPr>
              <a:t>Two more story questions: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1520" y="589788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42C38"/>
                </a:solidFill>
                <a:latin typeface="Calibri"/>
              </a:rPr>
              <a:t>4. What happened to the ball?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589788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42C38"/>
                </a:solidFill>
                <a:latin typeface="Calibri"/>
              </a:rPr>
              <a:t>5. How did Ben feel at the end?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85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237744"/>
            <a:ext cx="2926080" cy="384048"/>
          </a:xfrm>
          <a:prstGeom prst="roundRect">
            <a:avLst/>
          </a:prstGeom>
          <a:solidFill>
            <a:srgbClr val="E85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83464"/>
            <a:ext cx="2926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CHALLENGE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418320" y="237744"/>
            <a:ext cx="2423160" cy="384048"/>
          </a:xfrm>
          <a:prstGeom prst="roundRect">
            <a:avLst/>
          </a:prstGeom>
          <a:solidFill>
            <a:srgbClr val="E85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283464"/>
            <a:ext cx="2423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84–87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3152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366B"/>
                </a:solidFill>
                <a:latin typeface="Georgia"/>
              </a:rPr>
              <a:t>🎯 Final Reading Challenge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19088"/>
            <a:ext cx="12191695" cy="73152"/>
          </a:xfrm>
          <a:prstGeom prst="rect">
            <a:avLst/>
          </a:prstGeom>
          <a:solidFill>
            <a:srgbClr val="E4E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419088"/>
            <a:ext cx="10101690" cy="73152"/>
          </a:xfrm>
          <a:prstGeom prst="rect">
            <a:avLst/>
          </a:prstGeom>
          <a:solidFill>
            <a:srgbClr val="FFC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636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6528816"/>
            <a:ext cx="10332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🐻 The Bear's Reading Adventure  |  Grade 2  |  90 min  |  Final challenge  |  84–87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35640" y="652881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29 / 35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1243584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85A4F"/>
                </a:solidFill>
                <a:latin typeface="Calibri"/>
              </a:rPr>
              <a:t>Read as many as you can. Every single one counts! 🌟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1691640"/>
            <a:ext cx="11292840" cy="1600200"/>
          </a:xfrm>
          <a:prstGeom prst="roundRect">
            <a:avLst/>
          </a:prstGeom>
          <a:solidFill>
            <a:srgbClr val="FFF2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18288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6366B"/>
                </a:solidFill>
                <a:latin typeface="Calibri"/>
              </a:rPr>
              <a:t>5 WORDS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2286000"/>
            <a:ext cx="2011680" cy="777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242316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85A4F"/>
                </a:solidFill>
                <a:latin typeface="Arial Black"/>
              </a:rPr>
              <a:t>CAT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926080" y="2286000"/>
            <a:ext cx="2011680" cy="777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26080" y="242316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85A4F"/>
                </a:solidFill>
                <a:latin typeface="Arial Black"/>
              </a:rPr>
              <a:t>SUN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20640" y="2286000"/>
            <a:ext cx="2011680" cy="777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20640" y="242316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85A4F"/>
                </a:solidFill>
                <a:latin typeface="Arial Black"/>
              </a:rPr>
              <a:t>BIG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199" y="2286000"/>
            <a:ext cx="2011680" cy="777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199" y="242316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85A4F"/>
                </a:solidFill>
                <a:latin typeface="Arial Black"/>
              </a:rPr>
              <a:t>RUN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09760" y="2286000"/>
            <a:ext cx="2011680" cy="777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09760" y="242316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85A4F"/>
                </a:solidFill>
                <a:latin typeface="Arial Black"/>
              </a:rPr>
              <a:t>RED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3474720"/>
            <a:ext cx="11292840" cy="2331720"/>
          </a:xfrm>
          <a:prstGeom prst="roundRect">
            <a:avLst/>
          </a:prstGeom>
          <a:solidFill>
            <a:srgbClr val="DE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36118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6366B"/>
                </a:solidFill>
                <a:latin typeface="Calibri"/>
              </a:rPr>
              <a:t>3 SENTENCES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" y="4069080"/>
            <a:ext cx="10744200" cy="47548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0120" y="412394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6366B"/>
                </a:solidFill>
                <a:latin typeface="Calibri"/>
              </a:rPr>
              <a:t>I see a cat.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31520" y="4636008"/>
            <a:ext cx="10744200" cy="47548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0120" y="4690872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6366B"/>
                </a:solidFill>
                <a:latin typeface="Calibri"/>
              </a:rPr>
              <a:t>The sun is big.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" y="5202936"/>
            <a:ext cx="10744200" cy="47548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0120" y="5257800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6366B"/>
                </a:solidFill>
                <a:latin typeface="Calibri"/>
              </a:rPr>
              <a:t>Ben can run.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18320" y="5897880"/>
            <a:ext cx="2423160" cy="457200"/>
          </a:xfrm>
          <a:prstGeom prst="roundRect">
            <a:avLst/>
          </a:prstGeom>
          <a:solidFill>
            <a:srgbClr val="FFC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418320" y="5971032"/>
            <a:ext cx="2423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6366B"/>
                </a:solidFill>
                <a:latin typeface="Calibri"/>
              </a:rPr>
              <a:t>⭐ Every one counts!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E7D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237744"/>
            <a:ext cx="2926080" cy="384048"/>
          </a:xfrm>
          <a:prstGeom prst="roundRect">
            <a:avLst/>
          </a:prstGeom>
          <a:solidFill>
            <a:srgbClr val="2E7D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83464"/>
            <a:ext cx="2926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RECAP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418320" y="237744"/>
            <a:ext cx="2423160" cy="384048"/>
          </a:xfrm>
          <a:prstGeom prst="roundRect">
            <a:avLst/>
          </a:prstGeom>
          <a:solidFill>
            <a:srgbClr val="E85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283464"/>
            <a:ext cx="2423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87–90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3152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366B"/>
                </a:solidFill>
                <a:latin typeface="Georgia"/>
              </a:rPr>
              <a:t>🎓 What Did We Learn Today?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19088"/>
            <a:ext cx="12191695" cy="73152"/>
          </a:xfrm>
          <a:prstGeom prst="rect">
            <a:avLst/>
          </a:prstGeom>
          <a:solidFill>
            <a:srgbClr val="E4E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419088"/>
            <a:ext cx="10450024" cy="73152"/>
          </a:xfrm>
          <a:prstGeom prst="rect">
            <a:avLst/>
          </a:prstGeom>
          <a:solidFill>
            <a:srgbClr val="FFC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636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6528816"/>
            <a:ext cx="10332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🐻 The Bear's Reading Adventure  |  Grade 2  |  90 min  |  Recap  |  87–90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35640" y="652881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30 / 35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1463040"/>
            <a:ext cx="3566160" cy="2011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828800" y="1645920"/>
            <a:ext cx="822960" cy="822960"/>
          </a:xfrm>
          <a:prstGeom prst="ellipse">
            <a:avLst/>
          </a:prstGeom>
          <a:solidFill>
            <a:srgbClr val="E4F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28800" y="1773936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242C38"/>
                </a:solidFill>
                <a:latin typeface="Calibri"/>
              </a:rPr>
              <a:t>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2542032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2E7D53"/>
                </a:solidFill>
                <a:latin typeface="Calibri"/>
              </a:rPr>
              <a:t>Letter Sounds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953512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A7788"/>
                </a:solidFill>
                <a:latin typeface="Calibri"/>
              </a:rPr>
              <a:t>A B C D E S M 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51960" y="1463040"/>
            <a:ext cx="3566160" cy="2011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623560" y="1645920"/>
            <a:ext cx="822960" cy="822960"/>
          </a:xfrm>
          <a:prstGeom prst="ellipse">
            <a:avLst/>
          </a:prstGeom>
          <a:solidFill>
            <a:srgbClr val="E4F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23560" y="1773936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242C38"/>
                </a:solidFill>
                <a:latin typeface="Calibri"/>
              </a:rPr>
              <a:t>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2542032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2E7D53"/>
                </a:solidFill>
                <a:latin typeface="Calibri"/>
              </a:rPr>
              <a:t>Blending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120" y="2953512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A7788"/>
                </a:solidFill>
                <a:latin typeface="Calibri"/>
              </a:rPr>
              <a:t>C-A-T = CAT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46720" y="1463040"/>
            <a:ext cx="3566160" cy="2011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418320" y="1645920"/>
            <a:ext cx="822960" cy="822960"/>
          </a:xfrm>
          <a:prstGeom prst="ellipse">
            <a:avLst/>
          </a:prstGeom>
          <a:solidFill>
            <a:srgbClr val="E4F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418320" y="1773936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242C38"/>
                </a:solidFill>
                <a:latin typeface="Calibri"/>
              </a:rPr>
              <a:t>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83880" y="2542032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2E7D53"/>
                </a:solidFill>
                <a:latin typeface="Calibri"/>
              </a:rPr>
              <a:t>New Words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83880" y="2953512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A7788"/>
                </a:solidFill>
                <a:latin typeface="Calibri"/>
              </a:rPr>
              <a:t>cat, sun, dog, big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3703320"/>
            <a:ext cx="3566160" cy="2011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828800" y="3886200"/>
            <a:ext cx="822960" cy="822960"/>
          </a:xfrm>
          <a:prstGeom prst="ellipse">
            <a:avLst/>
          </a:prstGeom>
          <a:solidFill>
            <a:srgbClr val="E4F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828800" y="4014216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242C38"/>
                </a:solidFill>
                <a:latin typeface="Calibri"/>
              </a:rPr>
              <a:t>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" y="4782312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2E7D53"/>
                </a:solidFill>
                <a:latin typeface="Calibri"/>
              </a:rPr>
              <a:t>Sight Words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193792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A7788"/>
                </a:solidFill>
                <a:latin typeface="Calibri"/>
              </a:rPr>
              <a:t>the, can, my, see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251960" y="3703320"/>
            <a:ext cx="3566160" cy="2011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623560" y="3886200"/>
            <a:ext cx="822960" cy="822960"/>
          </a:xfrm>
          <a:prstGeom prst="ellipse">
            <a:avLst/>
          </a:prstGeom>
          <a:solidFill>
            <a:srgbClr val="E4F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623560" y="4014216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242C38"/>
                </a:solidFill>
                <a:latin typeface="Calibri"/>
              </a:rPr>
              <a:t>📖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89120" y="4782312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2E7D53"/>
                </a:solidFill>
                <a:latin typeface="Calibri"/>
              </a:rPr>
              <a:t>Sentences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120" y="5193792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A7788"/>
                </a:solidFill>
                <a:latin typeface="Calibri"/>
              </a:rPr>
              <a:t>I see a cat.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046720" y="3703320"/>
            <a:ext cx="3566160" cy="2011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9418320" y="3886200"/>
            <a:ext cx="822960" cy="822960"/>
          </a:xfrm>
          <a:prstGeom prst="ellipse">
            <a:avLst/>
          </a:prstGeom>
          <a:solidFill>
            <a:srgbClr val="E4F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418320" y="4014216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242C38"/>
                </a:solidFill>
                <a:latin typeface="Calibri"/>
              </a:rPr>
              <a:t>📚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83880" y="4782312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2E7D53"/>
                </a:solidFill>
                <a:latin typeface="Calibri"/>
              </a:rPr>
              <a:t>A Whole Story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83880" y="5193792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A7788"/>
                </a:solidFill>
                <a:latin typeface="Calibri"/>
              </a:rPr>
              <a:t>The Little Bear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5943600"/>
            <a:ext cx="8686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85A4F"/>
                </a:solidFill>
                <a:latin typeface="Calibri"/>
              </a:rPr>
              <a:t>🗣️ What was your favorite game? What word do you remember?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C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237744"/>
            <a:ext cx="2926080" cy="384048"/>
          </a:xfrm>
          <a:prstGeom prst="roundRect">
            <a:avLst/>
          </a:prstGeom>
          <a:solidFill>
            <a:srgbClr val="FFC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83464"/>
            <a:ext cx="2926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REWARD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418320" y="237744"/>
            <a:ext cx="2423160" cy="384048"/>
          </a:xfrm>
          <a:prstGeom prst="roundRect">
            <a:avLst/>
          </a:prstGeom>
          <a:solidFill>
            <a:srgbClr val="E85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283464"/>
            <a:ext cx="2423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87–90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3152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366B"/>
                </a:solidFill>
                <a:latin typeface="Georgia"/>
              </a:rPr>
              <a:t>⭐ Your Reading Stars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19088"/>
            <a:ext cx="12191695" cy="73152"/>
          </a:xfrm>
          <a:prstGeom prst="rect">
            <a:avLst/>
          </a:prstGeom>
          <a:solidFill>
            <a:srgbClr val="E4E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419088"/>
            <a:ext cx="10798358" cy="73152"/>
          </a:xfrm>
          <a:prstGeom prst="rect">
            <a:avLst/>
          </a:prstGeom>
          <a:solidFill>
            <a:srgbClr val="FFC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636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6528816"/>
            <a:ext cx="10332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🐻 The Bear's Reading Adventure  |  Grade 2  |  90 min  |  Stars  |  87–90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35640" y="652881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31 / 35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128016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85A4F"/>
                </a:solidFill>
                <a:latin typeface="Calibri"/>
              </a:rPr>
              <a:t>Count your stars out loud with me!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1828800"/>
            <a:ext cx="2697480" cy="1874519"/>
          </a:xfrm>
          <a:prstGeom prst="roundRect">
            <a:avLst/>
          </a:prstGeom>
          <a:solidFill>
            <a:srgbClr val="FFF2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417320" y="2029968"/>
            <a:ext cx="777240" cy="777240"/>
          </a:xfrm>
          <a:prstGeom prst="ellipse">
            <a:avLst/>
          </a:prstGeom>
          <a:solidFill>
            <a:srgbClr val="FFC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17320" y="2139696"/>
            <a:ext cx="777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242C38"/>
                </a:solidFill>
                <a:latin typeface="Calibri"/>
              </a:rPr>
              <a:t>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2944368"/>
            <a:ext cx="247802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6366B"/>
                </a:solidFill>
                <a:latin typeface="Calibri"/>
              </a:rPr>
              <a:t>Letter Sounds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337560" y="1828800"/>
            <a:ext cx="2697480" cy="1874519"/>
          </a:xfrm>
          <a:prstGeom prst="roundRect">
            <a:avLst/>
          </a:prstGeom>
          <a:solidFill>
            <a:srgbClr val="FFF2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297680" y="2029968"/>
            <a:ext cx="777240" cy="777240"/>
          </a:xfrm>
          <a:prstGeom prst="ellipse">
            <a:avLst/>
          </a:prstGeom>
          <a:solidFill>
            <a:srgbClr val="FFC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97680" y="2139696"/>
            <a:ext cx="777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242C38"/>
                </a:solidFill>
                <a:latin typeface="Calibri"/>
              </a:rPr>
              <a:t>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47288" y="2944368"/>
            <a:ext cx="247802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6366B"/>
                </a:solidFill>
                <a:latin typeface="Calibri"/>
              </a:rPr>
              <a:t>Mystery Letter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1828800"/>
            <a:ext cx="2697480" cy="1874519"/>
          </a:xfrm>
          <a:prstGeom prst="roundRect">
            <a:avLst/>
          </a:prstGeom>
          <a:solidFill>
            <a:srgbClr val="FFF2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178040" y="2029968"/>
            <a:ext cx="777240" cy="777240"/>
          </a:xfrm>
          <a:prstGeom prst="ellipse">
            <a:avLst/>
          </a:prstGeom>
          <a:solidFill>
            <a:srgbClr val="FFC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78040" y="2139696"/>
            <a:ext cx="777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242C38"/>
                </a:solidFill>
                <a:latin typeface="Calibri"/>
              </a:rPr>
              <a:t>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27648" y="2944368"/>
            <a:ext cx="247802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6366B"/>
                </a:solidFill>
                <a:latin typeface="Calibri"/>
              </a:rPr>
              <a:t>Sound Train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98280" y="1828800"/>
            <a:ext cx="2697480" cy="1874519"/>
          </a:xfrm>
          <a:prstGeom prst="roundRect">
            <a:avLst/>
          </a:prstGeom>
          <a:solidFill>
            <a:srgbClr val="FFF2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058400" y="2029968"/>
            <a:ext cx="777240" cy="777240"/>
          </a:xfrm>
          <a:prstGeom prst="ellipse">
            <a:avLst/>
          </a:prstGeom>
          <a:solidFill>
            <a:srgbClr val="FFC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0" y="2139696"/>
            <a:ext cx="777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242C38"/>
                </a:solidFill>
                <a:latin typeface="Calibri"/>
              </a:rPr>
              <a:t>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08008" y="2944368"/>
            <a:ext cx="247802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6366B"/>
                </a:solidFill>
                <a:latin typeface="Calibri"/>
              </a:rPr>
              <a:t>Feed the Bear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3931920"/>
            <a:ext cx="2697480" cy="1874519"/>
          </a:xfrm>
          <a:prstGeom prst="roundRect">
            <a:avLst/>
          </a:prstGeom>
          <a:solidFill>
            <a:srgbClr val="FFF2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417320" y="4133088"/>
            <a:ext cx="777240" cy="777240"/>
          </a:xfrm>
          <a:prstGeom prst="ellipse">
            <a:avLst/>
          </a:prstGeom>
          <a:solidFill>
            <a:srgbClr val="FFC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417320" y="4242816"/>
            <a:ext cx="777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242C38"/>
                </a:solidFill>
                <a:latin typeface="Calibri"/>
              </a:rPr>
              <a:t>⭐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5047488"/>
            <a:ext cx="247802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6366B"/>
                </a:solidFill>
                <a:latin typeface="Calibri"/>
              </a:rPr>
              <a:t>Sight Words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337560" y="3931920"/>
            <a:ext cx="2697480" cy="1874519"/>
          </a:xfrm>
          <a:prstGeom prst="roundRect">
            <a:avLst/>
          </a:prstGeom>
          <a:solidFill>
            <a:srgbClr val="FFF2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297680" y="4133088"/>
            <a:ext cx="777240" cy="777240"/>
          </a:xfrm>
          <a:prstGeom prst="ellipse">
            <a:avLst/>
          </a:prstGeom>
          <a:solidFill>
            <a:srgbClr val="FFC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297680" y="4242816"/>
            <a:ext cx="777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242C38"/>
                </a:solidFill>
                <a:latin typeface="Calibri"/>
              </a:rPr>
              <a:t>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47288" y="5047488"/>
            <a:ext cx="247802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6366B"/>
                </a:solidFill>
                <a:latin typeface="Calibri"/>
              </a:rPr>
              <a:t>Sentences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217920" y="3931920"/>
            <a:ext cx="2697480" cy="1874519"/>
          </a:xfrm>
          <a:prstGeom prst="roundRect">
            <a:avLst/>
          </a:prstGeom>
          <a:solidFill>
            <a:srgbClr val="FFF2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178040" y="4133088"/>
            <a:ext cx="777240" cy="777240"/>
          </a:xfrm>
          <a:prstGeom prst="ellipse">
            <a:avLst/>
          </a:prstGeom>
          <a:solidFill>
            <a:srgbClr val="FFC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178040" y="4242816"/>
            <a:ext cx="777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242C38"/>
                </a:solidFill>
                <a:latin typeface="Calibri"/>
              </a:rPr>
              <a:t>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27648" y="5047488"/>
            <a:ext cx="247802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6366B"/>
                </a:solidFill>
                <a:latin typeface="Calibri"/>
              </a:rPr>
              <a:t>Ben's Story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098280" y="3931920"/>
            <a:ext cx="2697480" cy="1874519"/>
          </a:xfrm>
          <a:prstGeom prst="roundRect">
            <a:avLst/>
          </a:prstGeom>
          <a:solidFill>
            <a:srgbClr val="FFF2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058400" y="4133088"/>
            <a:ext cx="777240" cy="777240"/>
          </a:xfrm>
          <a:prstGeom prst="ellipse">
            <a:avLst/>
          </a:prstGeom>
          <a:solidFill>
            <a:srgbClr val="FFC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058400" y="4242816"/>
            <a:ext cx="777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242C38"/>
                </a:solidFill>
                <a:latin typeface="Calibri"/>
              </a:rPr>
              <a:t>⭐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08008" y="5047488"/>
            <a:ext cx="247802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6366B"/>
                </a:solidFill>
                <a:latin typeface="Calibri"/>
              </a:rPr>
              <a:t>Big Challenge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36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37744"/>
          </a:xfrm>
          <a:prstGeom prst="rect">
            <a:avLst/>
          </a:prstGeom>
          <a:solidFill>
            <a:srgbClr val="FFC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40080" y="731520"/>
            <a:ext cx="731520" cy="731520"/>
          </a:xfrm>
          <a:prstGeom prst="ellipse">
            <a:avLst/>
          </a:prstGeom>
          <a:solidFill>
            <a:srgbClr val="2EA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881360" y="777240"/>
            <a:ext cx="731520" cy="731520"/>
          </a:xfrm>
          <a:prstGeom prst="ellipse">
            <a:avLst/>
          </a:prstGeom>
          <a:solidFill>
            <a:srgbClr val="E85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22960" y="5303520"/>
            <a:ext cx="731520" cy="731520"/>
          </a:xfrm>
          <a:prstGeom prst="ellipse">
            <a:avLst/>
          </a:prstGeom>
          <a:solidFill>
            <a:srgbClr val="009C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835640" y="5257800"/>
            <a:ext cx="731520" cy="731520"/>
          </a:xfrm>
          <a:prstGeom prst="ellipse">
            <a:avLst/>
          </a:prstGeom>
          <a:solidFill>
            <a:srgbClr val="F2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9601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FC42E"/>
                </a:solidFill>
                <a:latin typeface="Georgia"/>
              </a:rPr>
              <a:t>🏆 READING EXPLORER 🏆</a:t>
            </a:r>
          </a:p>
        </p:txBody>
      </p:sp>
      <p:sp>
        <p:nvSpPr>
          <p:cNvPr id="9" name="Oval 8"/>
          <p:cNvSpPr/>
          <p:nvPr/>
        </p:nvSpPr>
        <p:spPr>
          <a:xfrm>
            <a:off x="4956048" y="1874519"/>
            <a:ext cx="2286000" cy="2286000"/>
          </a:xfrm>
          <a:prstGeom prst="ellipse">
            <a:avLst/>
          </a:prstGeom>
          <a:solidFill>
            <a:srgbClr val="FFC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56048" y="2377440"/>
            <a:ext cx="2286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800" b="0">
                <a:solidFill>
                  <a:srgbClr val="242C38"/>
                </a:solidFill>
                <a:latin typeface="Calibri"/>
              </a:rPr>
              <a:t>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3891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  <a:latin typeface="Georgia"/>
              </a:rPr>
              <a:t>Great Job!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98348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libri"/>
              </a:rPr>
              <a:t>You are becoming a stronger reader!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532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E2F3FD"/>
                </a:solidFill>
                <a:latin typeface="Calibri"/>
              </a:rPr>
              <a:t>Sounds ⭐ Words ⭐ Sentences ⭐ A Whole Story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419088"/>
            <a:ext cx="12191695" cy="73152"/>
          </a:xfrm>
          <a:prstGeom prst="rect">
            <a:avLst/>
          </a:prstGeom>
          <a:solidFill>
            <a:srgbClr val="E4E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6419088"/>
            <a:ext cx="11146692" cy="73152"/>
          </a:xfrm>
          <a:prstGeom prst="rect">
            <a:avLst/>
          </a:prstGeom>
          <a:solidFill>
            <a:srgbClr val="FFC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636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6528816"/>
            <a:ext cx="10332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🐻 The Bear's Reading Adventure  |  Grade 2  |  90 min  |  Badge  |  87–90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35640" y="652881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32 / 35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EA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237744"/>
            <a:ext cx="2926080" cy="384048"/>
          </a:xfrm>
          <a:prstGeom prst="roundRect">
            <a:avLst/>
          </a:prstGeom>
          <a:solidFill>
            <a:srgbClr val="2EA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83464"/>
            <a:ext cx="2926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HOME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73152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366B"/>
                </a:solidFill>
                <a:latin typeface="Georgia"/>
              </a:rPr>
              <a:t>🏡 Fun Practice at Home (Optional)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19088"/>
            <a:ext cx="12191695" cy="73152"/>
          </a:xfrm>
          <a:prstGeom prst="rect">
            <a:avLst/>
          </a:prstGeom>
          <a:solidFill>
            <a:srgbClr val="E4E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1495026" cy="73152"/>
          </a:xfrm>
          <a:prstGeom prst="rect">
            <a:avLst/>
          </a:prstGeom>
          <a:solidFill>
            <a:srgbClr val="FFC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636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6528816"/>
            <a:ext cx="10332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🐻 The Bear's Reading Adventure  |  Grade 2  |  90 min  |  Homework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35640" y="652881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33 / 35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1261872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85A4F"/>
                </a:solidFill>
                <a:latin typeface="Calibri"/>
              </a:rPr>
              <a:t>Pick just ONE. Ten minutes is plenty!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1737360"/>
            <a:ext cx="5440680" cy="2011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13232" y="2286000"/>
            <a:ext cx="914400" cy="914400"/>
          </a:xfrm>
          <a:prstGeom prst="ellipse">
            <a:avLst/>
          </a:prstGeom>
          <a:solidFill>
            <a:srgbClr val="E2F3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" y="2450592"/>
            <a:ext cx="914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242C38"/>
                </a:solidFill>
                <a:latin typeface="Calibri"/>
              </a:rPr>
              <a:t>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20" y="219456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2EA8E8"/>
                </a:solidFill>
                <a:latin typeface="Calibri"/>
              </a:rPr>
              <a:t>Say the sounds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20" y="2670048"/>
            <a:ext cx="3840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42C38"/>
                </a:solidFill>
                <a:latin typeface="Calibri"/>
              </a:rPr>
              <a:t>Read CAT, SUN, DOG out loud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874520" y="3218688"/>
            <a:ext cx="1371600" cy="384048"/>
          </a:xfrm>
          <a:prstGeom prst="roundRect">
            <a:avLst/>
          </a:prstGeom>
          <a:solidFill>
            <a:srgbClr val="FFF2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874520" y="3282696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6366B"/>
                </a:solidFill>
                <a:latin typeface="Calibri"/>
              </a:rPr>
              <a:t>3 min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1737360"/>
            <a:ext cx="5440680" cy="2011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2286000"/>
            <a:ext cx="914400" cy="914400"/>
          </a:xfrm>
          <a:prstGeom prst="ellipse">
            <a:avLst/>
          </a:prstGeom>
          <a:solidFill>
            <a:srgbClr val="E2F3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2450592"/>
            <a:ext cx="914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242C38"/>
                </a:solidFill>
                <a:latin typeface="Calibri"/>
              </a:rPr>
              <a:t>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0" y="219456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2EA8E8"/>
                </a:solidFill>
                <a:latin typeface="Calibri"/>
              </a:rPr>
              <a:t>Sight word hunt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520" y="2670048"/>
            <a:ext cx="3840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42C38"/>
                </a:solidFill>
                <a:latin typeface="Calibri"/>
              </a:rPr>
              <a:t>Find THE and CAN in any book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589520" y="3218688"/>
            <a:ext cx="1371600" cy="384048"/>
          </a:xfrm>
          <a:prstGeom prst="roundRect">
            <a:avLst/>
          </a:prstGeom>
          <a:solidFill>
            <a:srgbClr val="FFF2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89520" y="3282696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6366B"/>
                </a:solidFill>
                <a:latin typeface="Calibri"/>
              </a:rPr>
              <a:t>5 min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3931920"/>
            <a:ext cx="5440680" cy="2011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13232" y="4480560"/>
            <a:ext cx="914400" cy="914400"/>
          </a:xfrm>
          <a:prstGeom prst="ellipse">
            <a:avLst/>
          </a:prstGeom>
          <a:solidFill>
            <a:srgbClr val="E2F3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3232" y="4645152"/>
            <a:ext cx="914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242C38"/>
                </a:solidFill>
                <a:latin typeface="Calibri"/>
              </a:rPr>
              <a:t>📖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4520" y="438912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2EA8E8"/>
                </a:solidFill>
                <a:latin typeface="Calibri"/>
              </a:rPr>
              <a:t>Read to someone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874520" y="4864608"/>
            <a:ext cx="3840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42C38"/>
                </a:solidFill>
                <a:latin typeface="Calibri"/>
              </a:rPr>
              <a:t>Read "I see a cat." to a grown-up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874520" y="5413248"/>
            <a:ext cx="1371600" cy="384048"/>
          </a:xfrm>
          <a:prstGeom prst="roundRect">
            <a:avLst/>
          </a:prstGeom>
          <a:solidFill>
            <a:srgbClr val="FFF2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874520" y="5477256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6366B"/>
                </a:solidFill>
                <a:latin typeface="Calibri"/>
              </a:rPr>
              <a:t>3 min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72200" y="3931920"/>
            <a:ext cx="5440680" cy="2011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428232" y="4480560"/>
            <a:ext cx="914400" cy="914400"/>
          </a:xfrm>
          <a:prstGeom prst="ellipse">
            <a:avLst/>
          </a:prstGeom>
          <a:solidFill>
            <a:srgbClr val="E2F3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28232" y="4645152"/>
            <a:ext cx="914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242C38"/>
                </a:solidFill>
                <a:latin typeface="Calibri"/>
              </a:rPr>
              <a:t>🎨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89520" y="438912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2EA8E8"/>
                </a:solidFill>
                <a:latin typeface="Calibri"/>
              </a:rPr>
              <a:t>Draw Ben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89520" y="4864608"/>
            <a:ext cx="3840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42C38"/>
                </a:solidFill>
                <a:latin typeface="Calibri"/>
              </a:rPr>
              <a:t>Draw the bear and his red ball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589520" y="5413248"/>
            <a:ext cx="1371600" cy="384048"/>
          </a:xfrm>
          <a:prstGeom prst="roundRect">
            <a:avLst/>
          </a:prstGeom>
          <a:solidFill>
            <a:srgbClr val="FFF2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589520" y="5477256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6366B"/>
                </a:solidFill>
                <a:latin typeface="Calibri"/>
              </a:rPr>
              <a:t>5 min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636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237744"/>
            <a:ext cx="2926080" cy="384048"/>
          </a:xfrm>
          <a:prstGeom prst="roundRect">
            <a:avLst/>
          </a:prstGeom>
          <a:solidFill>
            <a:srgbClr val="1636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83464"/>
            <a:ext cx="2926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TEACHER ONLY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73152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366B"/>
                </a:solidFill>
                <a:latin typeface="Georgia"/>
              </a:rPr>
              <a:t>📋 Teacher Assessment — Progress Record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19088"/>
            <a:ext cx="12191695" cy="73152"/>
          </a:xfrm>
          <a:prstGeom prst="rect">
            <a:avLst/>
          </a:prstGeom>
          <a:solidFill>
            <a:srgbClr val="E4E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1843360" cy="73152"/>
          </a:xfrm>
          <a:prstGeom prst="rect">
            <a:avLst/>
          </a:prstGeom>
          <a:solidFill>
            <a:srgbClr val="FFC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636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6528816"/>
            <a:ext cx="10332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🐻 The Bear's Reading Adventure  |  Grade 2  |  90 min  |  Assessment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35640" y="652881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34 / 35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1225296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85A4F"/>
                </a:solidFill>
                <a:latin typeface="Calibri"/>
              </a:rPr>
              <a:t>TEACHER ONLY — do not show this slide to the student. Record progress, not failure.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1600200"/>
            <a:ext cx="3931920" cy="438912"/>
          </a:xfrm>
          <a:prstGeom prst="roundRect">
            <a:avLst/>
          </a:prstGeom>
          <a:solidFill>
            <a:srgbClr val="1636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1673352"/>
            <a:ext cx="3657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SKILL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80560" y="1600200"/>
            <a:ext cx="4937760" cy="438912"/>
          </a:xfrm>
          <a:prstGeom prst="roundRect">
            <a:avLst/>
          </a:prstGeom>
          <a:solidFill>
            <a:srgbClr val="1636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80560" y="1682496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⭐ 1 Beginning  ·  2 Developing  ·  3 Progressing  ·  4 Strong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555480" y="1600200"/>
            <a:ext cx="2194560" cy="438912"/>
          </a:xfrm>
          <a:prstGeom prst="roundRect">
            <a:avLst/>
          </a:prstGeom>
          <a:solidFill>
            <a:srgbClr val="1636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38360" y="1673352"/>
            <a:ext cx="1920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NOTES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1480" y="2112264"/>
            <a:ext cx="3931920" cy="42062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2185416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6366B"/>
                </a:solidFill>
                <a:latin typeface="Calibri"/>
              </a:rPr>
              <a:t>Letter-sound recognition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80560" y="2112264"/>
            <a:ext cx="4937760" cy="42062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80560" y="2167128"/>
            <a:ext cx="4937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A7788"/>
                </a:solidFill>
                <a:latin typeface="Calibri"/>
              </a:rPr>
              <a:t>☆      ☆      ☆      ☆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555480" y="2112264"/>
            <a:ext cx="2194560" cy="42062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11480" y="2587752"/>
            <a:ext cx="3931920" cy="420624"/>
          </a:xfrm>
          <a:prstGeom prst="roundRect">
            <a:avLst/>
          </a:prstGeom>
          <a:solidFill>
            <a:srgbClr val="E2F3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2660904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6366B"/>
                </a:solidFill>
                <a:latin typeface="Calibri"/>
              </a:rPr>
              <a:t>Phonics / blending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480560" y="2587752"/>
            <a:ext cx="4937760" cy="420624"/>
          </a:xfrm>
          <a:prstGeom prst="roundRect">
            <a:avLst/>
          </a:prstGeom>
          <a:solidFill>
            <a:srgbClr val="E2F3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80560" y="2642616"/>
            <a:ext cx="4937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A7788"/>
                </a:solidFill>
                <a:latin typeface="Calibri"/>
              </a:rPr>
              <a:t>☆      ☆      ☆      ☆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555480" y="2587752"/>
            <a:ext cx="2194560" cy="420624"/>
          </a:xfrm>
          <a:prstGeom prst="roundRect">
            <a:avLst/>
          </a:prstGeom>
          <a:solidFill>
            <a:srgbClr val="E2F3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11480" y="3063240"/>
            <a:ext cx="3931920" cy="42062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3136392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6366B"/>
                </a:solidFill>
                <a:latin typeface="Calibri"/>
              </a:rPr>
              <a:t>Word recognition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480560" y="3063240"/>
            <a:ext cx="4937760" cy="42062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480560" y="3118104"/>
            <a:ext cx="4937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A7788"/>
                </a:solidFill>
                <a:latin typeface="Calibri"/>
              </a:rPr>
              <a:t>☆      ☆      ☆      ☆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555480" y="3063240"/>
            <a:ext cx="2194560" cy="42062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411480" y="3538728"/>
            <a:ext cx="3931920" cy="420624"/>
          </a:xfrm>
          <a:prstGeom prst="roundRect">
            <a:avLst/>
          </a:prstGeom>
          <a:solidFill>
            <a:srgbClr val="E2F3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94360" y="3611880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6366B"/>
                </a:solidFill>
                <a:latin typeface="Calibri"/>
              </a:rPr>
              <a:t>Sight words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480560" y="3538728"/>
            <a:ext cx="4937760" cy="420624"/>
          </a:xfrm>
          <a:prstGeom prst="roundRect">
            <a:avLst/>
          </a:prstGeom>
          <a:solidFill>
            <a:srgbClr val="E2F3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480560" y="3593592"/>
            <a:ext cx="4937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A7788"/>
                </a:solidFill>
                <a:latin typeface="Calibri"/>
              </a:rPr>
              <a:t>☆      ☆      ☆      ☆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555480" y="3538728"/>
            <a:ext cx="2194560" cy="420624"/>
          </a:xfrm>
          <a:prstGeom prst="roundRect">
            <a:avLst/>
          </a:prstGeom>
          <a:solidFill>
            <a:srgbClr val="E2F3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411480" y="4014216"/>
            <a:ext cx="3931920" cy="42062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4360" y="408736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6366B"/>
                </a:solidFill>
                <a:latin typeface="Calibri"/>
              </a:rPr>
              <a:t>Sentence reading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480560" y="4014216"/>
            <a:ext cx="4937760" cy="42062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480560" y="4069080"/>
            <a:ext cx="4937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A7788"/>
                </a:solidFill>
                <a:latin typeface="Calibri"/>
              </a:rPr>
              <a:t>☆      ☆      ☆      ☆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555480" y="4014216"/>
            <a:ext cx="2194560" cy="42062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11480" y="4489704"/>
            <a:ext cx="3931920" cy="420624"/>
          </a:xfrm>
          <a:prstGeom prst="roundRect">
            <a:avLst/>
          </a:prstGeom>
          <a:solidFill>
            <a:srgbClr val="E2F3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94360" y="4562856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6366B"/>
                </a:solidFill>
                <a:latin typeface="Calibri"/>
              </a:rPr>
              <a:t>Comprehension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480560" y="4489704"/>
            <a:ext cx="4937760" cy="420624"/>
          </a:xfrm>
          <a:prstGeom prst="roundRect">
            <a:avLst/>
          </a:prstGeom>
          <a:solidFill>
            <a:srgbClr val="E2F3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480560" y="4544568"/>
            <a:ext cx="4937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A7788"/>
                </a:solidFill>
                <a:latin typeface="Calibri"/>
              </a:rPr>
              <a:t>☆      ☆      ☆      ☆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555480" y="4489704"/>
            <a:ext cx="2194560" cy="420624"/>
          </a:xfrm>
          <a:prstGeom prst="roundRect">
            <a:avLst/>
          </a:prstGeom>
          <a:solidFill>
            <a:srgbClr val="E2F3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411480" y="4965192"/>
            <a:ext cx="3931920" cy="42062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94360" y="5038344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6366B"/>
                </a:solidFill>
                <a:latin typeface="Calibri"/>
              </a:rPr>
              <a:t>Speaking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480560" y="4965192"/>
            <a:ext cx="4937760" cy="42062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480560" y="5020056"/>
            <a:ext cx="4937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A7788"/>
                </a:solidFill>
                <a:latin typeface="Calibri"/>
              </a:rPr>
              <a:t>☆      ☆      ☆      ☆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555480" y="4965192"/>
            <a:ext cx="2194560" cy="42062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411480" y="5440680"/>
            <a:ext cx="3931920" cy="420624"/>
          </a:xfrm>
          <a:prstGeom prst="roundRect">
            <a:avLst/>
          </a:prstGeom>
          <a:solidFill>
            <a:srgbClr val="E2F3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4360" y="5513832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6366B"/>
                </a:solidFill>
                <a:latin typeface="Calibri"/>
              </a:rPr>
              <a:t>Confidence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480560" y="5440680"/>
            <a:ext cx="4937760" cy="420624"/>
          </a:xfrm>
          <a:prstGeom prst="roundRect">
            <a:avLst/>
          </a:prstGeom>
          <a:solidFill>
            <a:srgbClr val="E2F3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480560" y="5495544"/>
            <a:ext cx="4937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A7788"/>
                </a:solidFill>
                <a:latin typeface="Calibri"/>
              </a:rPr>
              <a:t>☆      ☆      ☆      ☆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555480" y="5440680"/>
            <a:ext cx="2194560" cy="420624"/>
          </a:xfrm>
          <a:prstGeom prst="roundRect">
            <a:avLst/>
          </a:prstGeom>
          <a:solidFill>
            <a:srgbClr val="E2F3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411480" y="5916168"/>
            <a:ext cx="3931920" cy="42062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94360" y="5989320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6366B"/>
                </a:solidFill>
                <a:latin typeface="Calibri"/>
              </a:rPr>
              <a:t>Participation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480560" y="5916168"/>
            <a:ext cx="4937760" cy="42062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480560" y="5971032"/>
            <a:ext cx="4937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A7788"/>
                </a:solidFill>
                <a:latin typeface="Calibri"/>
              </a:rPr>
              <a:t>☆      ☆      ☆      ☆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9555480" y="5916168"/>
            <a:ext cx="2194560" cy="42062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636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237744"/>
            <a:ext cx="2926080" cy="384048"/>
          </a:xfrm>
          <a:prstGeom prst="roundRect">
            <a:avLst/>
          </a:prstGeom>
          <a:solidFill>
            <a:srgbClr val="1636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83464"/>
            <a:ext cx="2926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TEACHER ONLY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73152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6366B"/>
                </a:solidFill>
                <a:latin typeface="Georgia"/>
              </a:rPr>
              <a:t>🔑 Answer Key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19088"/>
            <a:ext cx="12191695" cy="73152"/>
          </a:xfrm>
          <a:prstGeom prst="rect">
            <a:avLst/>
          </a:prstGeom>
          <a:solidFill>
            <a:srgbClr val="E4E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91695" cy="73152"/>
          </a:xfrm>
          <a:prstGeom prst="rect">
            <a:avLst/>
          </a:prstGeom>
          <a:solidFill>
            <a:srgbClr val="FFC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636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6528816"/>
            <a:ext cx="10332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🐻 The Bear's Reading Adventure  |  Grade 2  |  90 min  |  Answer key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35640" y="652881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35 / 35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1225296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85A4F"/>
                </a:solidFill>
                <a:latin typeface="Calibri"/>
              </a:rPr>
              <a:t>TEACHER ONLY — hide this slide before presenting.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1572768"/>
            <a:ext cx="5577840" cy="45262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17373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85A4F"/>
                </a:solidFill>
                <a:latin typeface="Calibri"/>
              </a:rPr>
              <a:t>🔤 Phonics &amp; Word Games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148840"/>
            <a:ext cx="51206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42C38"/>
                </a:solidFill>
                <a:latin typeface="Calibri"/>
              </a:rPr>
              <a:t>•  Mystery Letter: M, B, S, T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42C38"/>
                </a:solidFill>
                <a:latin typeface="Calibri"/>
              </a:rPr>
              <a:t>•  First sounds: /b/, /k/, /s/, /m/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42C38"/>
                </a:solidFill>
                <a:latin typeface="Calibri"/>
              </a:rPr>
              <a:t>•  Sound Train: CAT, SUN, DOG, MAP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42C38"/>
                </a:solidFill>
                <a:latin typeface="Calibri"/>
              </a:rPr>
              <a:t>•  Feed the Bear: CAT, SUN, DOG, BIG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42C38"/>
                </a:solidFill>
                <a:latin typeface="Calibri"/>
              </a:rPr>
              <a:t>•  Word Hunt: each word appears 2 times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42C38"/>
                </a:solidFill>
                <a:latin typeface="Calibri"/>
              </a:rPr>
              <a:t>•  Word Detective: the, can, my, see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42C38"/>
                </a:solidFill>
                <a:latin typeface="Calibri"/>
              </a:rPr>
              <a:t>•  Memory Match: cat=CAT, sun=SUN,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42C38"/>
                </a:solidFill>
                <a:latin typeface="Calibri"/>
              </a:rPr>
              <a:t>•       dog=DOG, bear=BEAR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1572768"/>
            <a:ext cx="5577840" cy="45262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17373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E7D53"/>
                </a:solidFill>
                <a:latin typeface="Calibri"/>
              </a:rPr>
              <a:t>📖 Sentences &amp; Story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148840"/>
            <a:ext cx="51206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42C38"/>
                </a:solidFill>
                <a:latin typeface="Calibri"/>
              </a:rPr>
              <a:t>•  Build 1: I see a cat.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42C38"/>
                </a:solidFill>
                <a:latin typeface="Calibri"/>
              </a:rPr>
              <a:t>•  Build 2: The cat is big.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42C38"/>
                </a:solidFill>
                <a:latin typeface="Calibri"/>
              </a:rPr>
              <a:t>•  Build 3: I can run.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42C38"/>
                </a:solidFill>
                <a:latin typeface="Calibri"/>
              </a:rPr>
              <a:t>•  Build 4: We see the sun.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42C38"/>
                </a:solidFill>
                <a:latin typeface="Calibri"/>
              </a:rPr>
              <a:t>•  Build 5: My dog can run.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42C38"/>
                </a:solidFill>
                <a:latin typeface="Calibri"/>
              </a:rPr>
              <a:t>•  Build 6: Ben has a red ball.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42C38"/>
                </a:solidFill>
                <a:latin typeface="Calibri"/>
              </a:rPr>
              <a:t>•  Story Qs: Bear · Ball · Under the tree ·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42C38"/>
                </a:solidFill>
                <a:latin typeface="Calibri"/>
              </a:rPr>
              <a:t>•       It was gone · Happy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42C38"/>
                </a:solidFill>
                <a:latin typeface="Calibri"/>
              </a:rPr>
              <a:t>•  Picture match: ball · cat · tree</a:t>
            </a:r>
          </a:p>
        </p:txBody>
      </p:sp>
    </p:spTree>
  </p:cSld>
  <p:clrMapOvr>
    <a:masterClrMapping/>
  </p:clrMapOvr>
  <p:transition spd="med" advClick="1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