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206240" y="658368"/>
            <a:ext cx="3749039" cy="457200"/>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06240" y="731520"/>
            <a:ext cx="3749039" cy="329184"/>
          </a:xfrm>
          <a:prstGeom prst="rect">
            <a:avLst/>
          </a:prstGeom>
          <a:noFill/>
        </p:spPr>
        <p:txBody>
          <a:bodyPr wrap="square">
            <a:spAutoFit/>
          </a:bodyPr>
          <a:lstStyle/>
          <a:p>
            <a:pPr algn="ctr"/>
            <a:r>
              <a:rPr sz="1400" b="1" i="0">
                <a:solidFill>
                  <a:srgbClr val="FFFFFF"/>
                </a:solidFill>
                <a:latin typeface="Calibri"/>
              </a:rPr>
              <a:t>🚨  BREAKING NEWS  🚨</a:t>
            </a:r>
          </a:p>
        </p:txBody>
      </p:sp>
      <p:sp>
        <p:nvSpPr>
          <p:cNvPr id="6" name="TextBox 5"/>
          <p:cNvSpPr txBox="1"/>
          <p:nvPr/>
        </p:nvSpPr>
        <p:spPr>
          <a:xfrm>
            <a:off x="640080" y="1371600"/>
            <a:ext cx="10972800" cy="914400"/>
          </a:xfrm>
          <a:prstGeom prst="rect">
            <a:avLst/>
          </a:prstGeom>
          <a:noFill/>
        </p:spPr>
        <p:txBody>
          <a:bodyPr wrap="square">
            <a:spAutoFit/>
          </a:bodyPr>
          <a:lstStyle/>
          <a:p>
            <a:pPr algn="ctr"/>
            <a:r>
              <a:rPr sz="4400" b="1" i="0">
                <a:solidFill>
                  <a:srgbClr val="FFFFFF"/>
                </a:solidFill>
                <a:latin typeface="Georgia"/>
              </a:rPr>
              <a:t>WELCOME, YOUNG REPORTER!</a:t>
            </a:r>
          </a:p>
        </p:txBody>
      </p:sp>
      <p:sp>
        <p:nvSpPr>
          <p:cNvPr id="7" name="TextBox 6"/>
          <p:cNvSpPr txBox="1"/>
          <p:nvPr/>
        </p:nvSpPr>
        <p:spPr>
          <a:xfrm>
            <a:off x="640080" y="2331720"/>
            <a:ext cx="10972800" cy="457200"/>
          </a:xfrm>
          <a:prstGeom prst="rect">
            <a:avLst/>
          </a:prstGeom>
          <a:noFill/>
        </p:spPr>
        <p:txBody>
          <a:bodyPr wrap="square">
            <a:spAutoFit/>
          </a:bodyPr>
          <a:lstStyle/>
          <a:p>
            <a:pPr algn="ctr"/>
            <a:r>
              <a:rPr sz="2100" b="0" i="1">
                <a:solidFill>
                  <a:srgbClr val="C6CDD6"/>
                </a:solidFill>
                <a:latin typeface="Calibri"/>
              </a:rPr>
              <a:t>Can you create today's school newspaper?</a:t>
            </a:r>
          </a:p>
        </p:txBody>
      </p:sp>
      <p:sp>
        <p:nvSpPr>
          <p:cNvPr id="8" name="Rounded Rectangle 7"/>
          <p:cNvSpPr/>
          <p:nvPr/>
        </p:nvSpPr>
        <p:spPr>
          <a:xfrm>
            <a:off x="1051560" y="3108960"/>
            <a:ext cx="1508760" cy="1234440"/>
          </a:xfrm>
          <a:prstGeom prst="roundRect">
            <a:avLst/>
          </a:prstGeom>
          <a:solidFill>
            <a:srgbClr val="1E2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73552"/>
            <a:ext cx="1508760" cy="548640"/>
          </a:xfrm>
          <a:prstGeom prst="rect">
            <a:avLst/>
          </a:prstGeom>
          <a:noFill/>
        </p:spPr>
        <p:txBody>
          <a:bodyPr wrap="square">
            <a:spAutoFit/>
          </a:bodyPr>
          <a:lstStyle/>
          <a:p>
            <a:pPr algn="ctr"/>
            <a:r>
              <a:rPr sz="2200" b="0" i="0">
                <a:solidFill>
                  <a:srgbClr val="2A2F36"/>
                </a:solidFill>
                <a:latin typeface="Calibri"/>
              </a:rPr>
              <a:t>📰</a:t>
            </a:r>
          </a:p>
        </p:txBody>
      </p:sp>
      <p:sp>
        <p:nvSpPr>
          <p:cNvPr id="10" name="TextBox 9"/>
          <p:cNvSpPr txBox="1"/>
          <p:nvPr/>
        </p:nvSpPr>
        <p:spPr>
          <a:xfrm>
            <a:off x="1143000" y="3867912"/>
            <a:ext cx="1325880" cy="365760"/>
          </a:xfrm>
          <a:prstGeom prst="rect">
            <a:avLst/>
          </a:prstGeom>
          <a:noFill/>
        </p:spPr>
        <p:txBody>
          <a:bodyPr wrap="square">
            <a:spAutoFit/>
          </a:bodyPr>
          <a:lstStyle/>
          <a:p>
            <a:pPr algn="ctr"/>
            <a:r>
              <a:rPr sz="1000" b="0" i="0">
                <a:solidFill>
                  <a:srgbClr val="A8B2BD"/>
                </a:solidFill>
                <a:latin typeface="Calibri"/>
              </a:rPr>
              <a:t>newspaper</a:t>
            </a:r>
          </a:p>
        </p:txBody>
      </p:sp>
      <p:sp>
        <p:nvSpPr>
          <p:cNvPr id="11" name="Rounded Rectangle 10"/>
          <p:cNvSpPr/>
          <p:nvPr/>
        </p:nvSpPr>
        <p:spPr>
          <a:xfrm>
            <a:off x="2743200" y="3108960"/>
            <a:ext cx="1508760" cy="1234440"/>
          </a:xfrm>
          <a:prstGeom prst="roundRect">
            <a:avLst/>
          </a:prstGeom>
          <a:solidFill>
            <a:srgbClr val="1E2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3273552"/>
            <a:ext cx="1508760" cy="548640"/>
          </a:xfrm>
          <a:prstGeom prst="rect">
            <a:avLst/>
          </a:prstGeom>
          <a:noFill/>
        </p:spPr>
        <p:txBody>
          <a:bodyPr wrap="square">
            <a:spAutoFit/>
          </a:bodyPr>
          <a:lstStyle/>
          <a:p>
            <a:pPr algn="ctr"/>
            <a:r>
              <a:rPr sz="2200" b="0" i="0">
                <a:solidFill>
                  <a:srgbClr val="2A2F36"/>
                </a:solidFill>
                <a:latin typeface="Calibri"/>
              </a:rPr>
              <a:t>🎤</a:t>
            </a:r>
          </a:p>
        </p:txBody>
      </p:sp>
      <p:sp>
        <p:nvSpPr>
          <p:cNvPr id="13" name="TextBox 12"/>
          <p:cNvSpPr txBox="1"/>
          <p:nvPr/>
        </p:nvSpPr>
        <p:spPr>
          <a:xfrm>
            <a:off x="2834640" y="3867912"/>
            <a:ext cx="1325880" cy="365760"/>
          </a:xfrm>
          <a:prstGeom prst="rect">
            <a:avLst/>
          </a:prstGeom>
          <a:noFill/>
        </p:spPr>
        <p:txBody>
          <a:bodyPr wrap="square">
            <a:spAutoFit/>
          </a:bodyPr>
          <a:lstStyle/>
          <a:p>
            <a:pPr algn="ctr"/>
            <a:r>
              <a:rPr sz="1000" b="0" i="0">
                <a:solidFill>
                  <a:srgbClr val="A8B2BD"/>
                </a:solidFill>
                <a:latin typeface="Calibri"/>
              </a:rPr>
              <a:t>microphone</a:t>
            </a:r>
          </a:p>
        </p:txBody>
      </p:sp>
      <p:sp>
        <p:nvSpPr>
          <p:cNvPr id="14" name="Rounded Rectangle 13"/>
          <p:cNvSpPr/>
          <p:nvPr/>
        </p:nvSpPr>
        <p:spPr>
          <a:xfrm>
            <a:off x="4434840" y="3108960"/>
            <a:ext cx="1508760" cy="1234440"/>
          </a:xfrm>
          <a:prstGeom prst="roundRect">
            <a:avLst/>
          </a:prstGeom>
          <a:solidFill>
            <a:srgbClr val="1E2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3273552"/>
            <a:ext cx="1508760" cy="548640"/>
          </a:xfrm>
          <a:prstGeom prst="rect">
            <a:avLst/>
          </a:prstGeom>
          <a:noFill/>
        </p:spPr>
        <p:txBody>
          <a:bodyPr wrap="square">
            <a:spAutoFit/>
          </a:bodyPr>
          <a:lstStyle/>
          <a:p>
            <a:pPr algn="ctr"/>
            <a:r>
              <a:rPr sz="2200" b="0" i="0">
                <a:solidFill>
                  <a:srgbClr val="2A2F36"/>
                </a:solidFill>
                <a:latin typeface="Calibri"/>
              </a:rPr>
              <a:t>📷</a:t>
            </a:r>
          </a:p>
        </p:txBody>
      </p:sp>
      <p:sp>
        <p:nvSpPr>
          <p:cNvPr id="16" name="TextBox 15"/>
          <p:cNvSpPr txBox="1"/>
          <p:nvPr/>
        </p:nvSpPr>
        <p:spPr>
          <a:xfrm>
            <a:off x="4526280" y="3867912"/>
            <a:ext cx="1325880" cy="365760"/>
          </a:xfrm>
          <a:prstGeom prst="rect">
            <a:avLst/>
          </a:prstGeom>
          <a:noFill/>
        </p:spPr>
        <p:txBody>
          <a:bodyPr wrap="square">
            <a:spAutoFit/>
          </a:bodyPr>
          <a:lstStyle/>
          <a:p>
            <a:pPr algn="ctr"/>
            <a:r>
              <a:rPr sz="1000" b="0" i="0">
                <a:solidFill>
                  <a:srgbClr val="A8B2BD"/>
                </a:solidFill>
                <a:latin typeface="Calibri"/>
              </a:rPr>
              <a:t>camera</a:t>
            </a:r>
          </a:p>
        </p:txBody>
      </p:sp>
      <p:sp>
        <p:nvSpPr>
          <p:cNvPr id="17" name="Rounded Rectangle 16"/>
          <p:cNvSpPr/>
          <p:nvPr/>
        </p:nvSpPr>
        <p:spPr>
          <a:xfrm>
            <a:off x="6126480" y="3108960"/>
            <a:ext cx="1508760" cy="1234440"/>
          </a:xfrm>
          <a:prstGeom prst="roundRect">
            <a:avLst/>
          </a:prstGeom>
          <a:solidFill>
            <a:srgbClr val="1E2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73552"/>
            <a:ext cx="1508760" cy="548640"/>
          </a:xfrm>
          <a:prstGeom prst="rect">
            <a:avLst/>
          </a:prstGeom>
          <a:noFill/>
        </p:spPr>
        <p:txBody>
          <a:bodyPr wrap="square">
            <a:spAutoFit/>
          </a:bodyPr>
          <a:lstStyle/>
          <a:p>
            <a:pPr algn="ctr"/>
            <a:r>
              <a:rPr sz="2200" b="0" i="0">
                <a:solidFill>
                  <a:srgbClr val="2A2F36"/>
                </a:solidFill>
                <a:latin typeface="Calibri"/>
              </a:rPr>
              <a:t>📋</a:t>
            </a:r>
          </a:p>
        </p:txBody>
      </p:sp>
      <p:sp>
        <p:nvSpPr>
          <p:cNvPr id="19" name="TextBox 18"/>
          <p:cNvSpPr txBox="1"/>
          <p:nvPr/>
        </p:nvSpPr>
        <p:spPr>
          <a:xfrm>
            <a:off x="6217920" y="3867912"/>
            <a:ext cx="1325880" cy="365760"/>
          </a:xfrm>
          <a:prstGeom prst="rect">
            <a:avLst/>
          </a:prstGeom>
          <a:noFill/>
        </p:spPr>
        <p:txBody>
          <a:bodyPr wrap="square">
            <a:spAutoFit/>
          </a:bodyPr>
          <a:lstStyle/>
          <a:p>
            <a:pPr algn="ctr"/>
            <a:r>
              <a:rPr sz="1000" b="0" i="0">
                <a:solidFill>
                  <a:srgbClr val="A8B2BD"/>
                </a:solidFill>
                <a:latin typeface="Calibri"/>
              </a:rPr>
              <a:t>notebook</a:t>
            </a:r>
          </a:p>
        </p:txBody>
      </p:sp>
      <p:sp>
        <p:nvSpPr>
          <p:cNvPr id="20" name="Rounded Rectangle 19"/>
          <p:cNvSpPr/>
          <p:nvPr/>
        </p:nvSpPr>
        <p:spPr>
          <a:xfrm>
            <a:off x="7818120" y="3108960"/>
            <a:ext cx="1508760" cy="1234440"/>
          </a:xfrm>
          <a:prstGeom prst="roundRect">
            <a:avLst/>
          </a:prstGeom>
          <a:solidFill>
            <a:srgbClr val="1E2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18120" y="3273552"/>
            <a:ext cx="1508760" cy="548640"/>
          </a:xfrm>
          <a:prstGeom prst="rect">
            <a:avLst/>
          </a:prstGeom>
          <a:noFill/>
        </p:spPr>
        <p:txBody>
          <a:bodyPr wrap="square">
            <a:spAutoFit/>
          </a:bodyPr>
          <a:lstStyle/>
          <a:p>
            <a:pPr algn="ctr"/>
            <a:r>
              <a:rPr sz="2200" b="0" i="0">
                <a:solidFill>
                  <a:srgbClr val="2A2F36"/>
                </a:solidFill>
                <a:latin typeface="Calibri"/>
              </a:rPr>
              <a:t>✏️</a:t>
            </a:r>
          </a:p>
        </p:txBody>
      </p:sp>
      <p:sp>
        <p:nvSpPr>
          <p:cNvPr id="22" name="TextBox 21"/>
          <p:cNvSpPr txBox="1"/>
          <p:nvPr/>
        </p:nvSpPr>
        <p:spPr>
          <a:xfrm>
            <a:off x="7909560" y="3867912"/>
            <a:ext cx="1325880" cy="365760"/>
          </a:xfrm>
          <a:prstGeom prst="rect">
            <a:avLst/>
          </a:prstGeom>
          <a:noFill/>
        </p:spPr>
        <p:txBody>
          <a:bodyPr wrap="square">
            <a:spAutoFit/>
          </a:bodyPr>
          <a:lstStyle/>
          <a:p>
            <a:pPr algn="ctr"/>
            <a:r>
              <a:rPr sz="1000" b="0" i="0">
                <a:solidFill>
                  <a:srgbClr val="A8B2BD"/>
                </a:solidFill>
                <a:latin typeface="Calibri"/>
              </a:rPr>
              <a:t>pencil</a:t>
            </a:r>
          </a:p>
        </p:txBody>
      </p:sp>
      <p:sp>
        <p:nvSpPr>
          <p:cNvPr id="23" name="Rounded Rectangle 22"/>
          <p:cNvSpPr/>
          <p:nvPr/>
        </p:nvSpPr>
        <p:spPr>
          <a:xfrm>
            <a:off x="9509760" y="3108960"/>
            <a:ext cx="1508760" cy="1234440"/>
          </a:xfrm>
          <a:prstGeom prst="roundRect">
            <a:avLst/>
          </a:prstGeom>
          <a:solidFill>
            <a:srgbClr val="1E2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3273552"/>
            <a:ext cx="1508760" cy="548640"/>
          </a:xfrm>
          <a:prstGeom prst="rect">
            <a:avLst/>
          </a:prstGeom>
          <a:noFill/>
        </p:spPr>
        <p:txBody>
          <a:bodyPr wrap="square">
            <a:spAutoFit/>
          </a:bodyPr>
          <a:lstStyle/>
          <a:p>
            <a:pPr algn="ctr"/>
            <a:r>
              <a:rPr sz="2200" b="0" i="0">
                <a:solidFill>
                  <a:srgbClr val="2A2F36"/>
                </a:solidFill>
                <a:latin typeface="Calibri"/>
              </a:rPr>
              <a:t>🗞️</a:t>
            </a:r>
          </a:p>
        </p:txBody>
      </p:sp>
      <p:sp>
        <p:nvSpPr>
          <p:cNvPr id="25" name="TextBox 24"/>
          <p:cNvSpPr txBox="1"/>
          <p:nvPr/>
        </p:nvSpPr>
        <p:spPr>
          <a:xfrm>
            <a:off x="9601200" y="3867912"/>
            <a:ext cx="1325880" cy="365760"/>
          </a:xfrm>
          <a:prstGeom prst="rect">
            <a:avLst/>
          </a:prstGeom>
          <a:noFill/>
        </p:spPr>
        <p:txBody>
          <a:bodyPr wrap="square">
            <a:spAutoFit/>
          </a:bodyPr>
          <a:lstStyle/>
          <a:p>
            <a:pPr algn="ctr"/>
            <a:r>
              <a:rPr sz="1000" b="0" i="0">
                <a:solidFill>
                  <a:srgbClr val="A8B2BD"/>
                </a:solidFill>
                <a:latin typeface="Calibri"/>
              </a:rPr>
              <a:t>headline</a:t>
            </a:r>
          </a:p>
        </p:txBody>
      </p:sp>
      <p:sp>
        <p:nvSpPr>
          <p:cNvPr id="26" name="Rounded Rectangle 25"/>
          <p:cNvSpPr/>
          <p:nvPr/>
        </p:nvSpPr>
        <p:spPr>
          <a:xfrm>
            <a:off x="3017520" y="4663440"/>
            <a:ext cx="6126480" cy="1051560"/>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0" y="4892040"/>
            <a:ext cx="5760720" cy="640080"/>
          </a:xfrm>
          <a:prstGeom prst="rect">
            <a:avLst/>
          </a:prstGeom>
          <a:noFill/>
        </p:spPr>
        <p:txBody>
          <a:bodyPr wrap="square">
            <a:spAutoFit/>
          </a:bodyPr>
          <a:lstStyle/>
          <a:p>
            <a:pPr algn="ctr"/>
            <a:r>
              <a:rPr sz="1900" b="1" i="0">
                <a:solidFill>
                  <a:srgbClr val="FFFFFF"/>
                </a:solidFill>
                <a:latin typeface="Calibri"/>
              </a:rPr>
              <a:t>Grade 5  •  90 Minutes  •  Reading &amp; Grammar</a:t>
            </a:r>
          </a:p>
        </p:txBody>
      </p:sp>
      <p:sp>
        <p:nvSpPr>
          <p:cNvPr id="28" name="Rectangle 27"/>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419088"/>
            <a:ext cx="199863"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0–7 min</a:t>
            </a:r>
          </a:p>
        </p:txBody>
      </p:sp>
      <p:sp>
        <p:nvSpPr>
          <p:cNvPr id="32" name="TextBox 31"/>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 / 61</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BRIEFING</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0–7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Today's Newsroom Missions</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399727"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0–7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Five missions. Finish all five and the edition goes to print.</a:t>
            </a:r>
          </a:p>
        </p:txBody>
      </p:sp>
      <p:sp>
        <p:nvSpPr>
          <p:cNvPr id="15" name="Rounded Rectangle 14"/>
          <p:cNvSpPr/>
          <p:nvPr/>
        </p:nvSpPr>
        <p:spPr>
          <a:xfrm>
            <a:off x="457200" y="1737360"/>
            <a:ext cx="2103120" cy="32918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938528"/>
            <a:ext cx="2103120" cy="731520"/>
          </a:xfrm>
          <a:prstGeom prst="rect">
            <a:avLst/>
          </a:prstGeom>
          <a:noFill/>
        </p:spPr>
        <p:txBody>
          <a:bodyPr wrap="square">
            <a:spAutoFit/>
          </a:bodyPr>
          <a:lstStyle/>
          <a:p>
            <a:pPr algn="ctr"/>
            <a:r>
              <a:rPr sz="3200" b="0" i="0">
                <a:solidFill>
                  <a:srgbClr val="2A2F36"/>
                </a:solidFill>
                <a:latin typeface="Calibri"/>
              </a:rPr>
              <a:t>🗞️</a:t>
            </a:r>
          </a:p>
        </p:txBody>
      </p:sp>
      <p:sp>
        <p:nvSpPr>
          <p:cNvPr id="17" name="Rounded Rectangle 16"/>
          <p:cNvSpPr/>
          <p:nvPr/>
        </p:nvSpPr>
        <p:spPr>
          <a:xfrm>
            <a:off x="914400" y="2697480"/>
            <a:ext cx="1188720" cy="347472"/>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734056"/>
            <a:ext cx="1188720" cy="274320"/>
          </a:xfrm>
          <a:prstGeom prst="rect">
            <a:avLst/>
          </a:prstGeom>
          <a:noFill/>
        </p:spPr>
        <p:txBody>
          <a:bodyPr wrap="square">
            <a:spAutoFit/>
          </a:bodyPr>
          <a:lstStyle/>
          <a:p>
            <a:pPr algn="ctr"/>
            <a:r>
              <a:rPr sz="1000" b="1" i="0">
                <a:solidFill>
                  <a:srgbClr val="FFFFFF"/>
                </a:solidFill>
                <a:latin typeface="Calibri"/>
              </a:rPr>
              <a:t>Mission 1</a:t>
            </a:r>
          </a:p>
        </p:txBody>
      </p:sp>
      <p:sp>
        <p:nvSpPr>
          <p:cNvPr id="19" name="TextBox 18"/>
          <p:cNvSpPr txBox="1"/>
          <p:nvPr/>
        </p:nvSpPr>
        <p:spPr>
          <a:xfrm>
            <a:off x="548640" y="3182112"/>
            <a:ext cx="1920240" cy="822960"/>
          </a:xfrm>
          <a:prstGeom prst="rect">
            <a:avLst/>
          </a:prstGeom>
          <a:noFill/>
        </p:spPr>
        <p:txBody>
          <a:bodyPr wrap="square">
            <a:spAutoFit/>
          </a:bodyPr>
          <a:lstStyle/>
          <a:p>
            <a:pPr algn="ctr"/>
            <a:r>
              <a:rPr sz="1500" b="1" i="0">
                <a:solidFill>
                  <a:srgbClr val="C8322B"/>
                </a:solidFill>
                <a:latin typeface="Calibri"/>
              </a:rPr>
              <a:t>Headline Hunter</a:t>
            </a:r>
          </a:p>
        </p:txBody>
      </p:sp>
      <p:sp>
        <p:nvSpPr>
          <p:cNvPr id="20" name="TextBox 19"/>
          <p:cNvSpPr txBox="1"/>
          <p:nvPr/>
        </p:nvSpPr>
        <p:spPr>
          <a:xfrm>
            <a:off x="621792" y="4041648"/>
            <a:ext cx="1783080" cy="822960"/>
          </a:xfrm>
          <a:prstGeom prst="rect">
            <a:avLst/>
          </a:prstGeom>
          <a:noFill/>
        </p:spPr>
        <p:txBody>
          <a:bodyPr wrap="square">
            <a:spAutoFit/>
          </a:bodyPr>
          <a:lstStyle/>
          <a:p>
            <a:pPr algn="ctr"/>
            <a:r>
              <a:rPr sz="1100" b="0" i="0">
                <a:solidFill>
                  <a:srgbClr val="2A2F36"/>
                </a:solidFill>
                <a:latin typeface="Calibri"/>
              </a:rPr>
              <a:t>Find the main idea fast.</a:t>
            </a:r>
          </a:p>
        </p:txBody>
      </p:sp>
      <p:sp>
        <p:nvSpPr>
          <p:cNvPr id="21" name="Rounded Rectangle 20"/>
          <p:cNvSpPr/>
          <p:nvPr/>
        </p:nvSpPr>
        <p:spPr>
          <a:xfrm>
            <a:off x="2734056" y="1737360"/>
            <a:ext cx="2103120" cy="32918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34056" y="1938528"/>
            <a:ext cx="2103120" cy="731520"/>
          </a:xfrm>
          <a:prstGeom prst="rect">
            <a:avLst/>
          </a:prstGeom>
          <a:noFill/>
        </p:spPr>
        <p:txBody>
          <a:bodyPr wrap="square">
            <a:spAutoFit/>
          </a:bodyPr>
          <a:lstStyle/>
          <a:p>
            <a:pPr algn="ctr"/>
            <a:r>
              <a:rPr sz="3200" b="0" i="0">
                <a:solidFill>
                  <a:srgbClr val="2A2F36"/>
                </a:solidFill>
                <a:latin typeface="Calibri"/>
              </a:rPr>
              <a:t>🔎</a:t>
            </a:r>
          </a:p>
        </p:txBody>
      </p:sp>
      <p:sp>
        <p:nvSpPr>
          <p:cNvPr id="23" name="Rounded Rectangle 22"/>
          <p:cNvSpPr/>
          <p:nvPr/>
        </p:nvSpPr>
        <p:spPr>
          <a:xfrm>
            <a:off x="3191256" y="2697480"/>
            <a:ext cx="1188720" cy="347472"/>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91256" y="2734056"/>
            <a:ext cx="1188720" cy="274320"/>
          </a:xfrm>
          <a:prstGeom prst="rect">
            <a:avLst/>
          </a:prstGeom>
          <a:noFill/>
        </p:spPr>
        <p:txBody>
          <a:bodyPr wrap="square">
            <a:spAutoFit/>
          </a:bodyPr>
          <a:lstStyle/>
          <a:p>
            <a:pPr algn="ctr"/>
            <a:r>
              <a:rPr sz="1000" b="1" i="0">
                <a:solidFill>
                  <a:srgbClr val="FFFFFF"/>
                </a:solidFill>
                <a:latin typeface="Calibri"/>
              </a:rPr>
              <a:t>Mission 2</a:t>
            </a:r>
          </a:p>
        </p:txBody>
      </p:sp>
      <p:sp>
        <p:nvSpPr>
          <p:cNvPr id="25" name="TextBox 24"/>
          <p:cNvSpPr txBox="1"/>
          <p:nvPr/>
        </p:nvSpPr>
        <p:spPr>
          <a:xfrm>
            <a:off x="2825496" y="3182112"/>
            <a:ext cx="1920240" cy="822960"/>
          </a:xfrm>
          <a:prstGeom prst="rect">
            <a:avLst/>
          </a:prstGeom>
          <a:noFill/>
        </p:spPr>
        <p:txBody>
          <a:bodyPr wrap="square">
            <a:spAutoFit/>
          </a:bodyPr>
          <a:lstStyle/>
          <a:p>
            <a:pPr algn="ctr"/>
            <a:r>
              <a:rPr sz="1500" b="1" i="0">
                <a:solidFill>
                  <a:srgbClr val="6A4A9E"/>
                </a:solidFill>
                <a:latin typeface="Calibri"/>
              </a:rPr>
              <a:t>Word Detective</a:t>
            </a:r>
          </a:p>
        </p:txBody>
      </p:sp>
      <p:sp>
        <p:nvSpPr>
          <p:cNvPr id="26" name="TextBox 25"/>
          <p:cNvSpPr txBox="1"/>
          <p:nvPr/>
        </p:nvSpPr>
        <p:spPr>
          <a:xfrm>
            <a:off x="2898648" y="4041648"/>
            <a:ext cx="1783080" cy="822960"/>
          </a:xfrm>
          <a:prstGeom prst="rect">
            <a:avLst/>
          </a:prstGeom>
          <a:noFill/>
        </p:spPr>
        <p:txBody>
          <a:bodyPr wrap="square">
            <a:spAutoFit/>
          </a:bodyPr>
          <a:lstStyle/>
          <a:p>
            <a:pPr algn="ctr"/>
            <a:r>
              <a:rPr sz="1100" b="0" i="0">
                <a:solidFill>
                  <a:srgbClr val="2A2F36"/>
                </a:solidFill>
                <a:latin typeface="Calibri"/>
              </a:rPr>
              <a:t>Own twelve newsroom words.</a:t>
            </a:r>
          </a:p>
        </p:txBody>
      </p:sp>
      <p:sp>
        <p:nvSpPr>
          <p:cNvPr id="27" name="Rounded Rectangle 26"/>
          <p:cNvSpPr/>
          <p:nvPr/>
        </p:nvSpPr>
        <p:spPr>
          <a:xfrm>
            <a:off x="5010912" y="1737360"/>
            <a:ext cx="2103120" cy="32918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10912" y="1938528"/>
            <a:ext cx="2103120" cy="731520"/>
          </a:xfrm>
          <a:prstGeom prst="rect">
            <a:avLst/>
          </a:prstGeom>
          <a:noFill/>
        </p:spPr>
        <p:txBody>
          <a:bodyPr wrap="square">
            <a:spAutoFit/>
          </a:bodyPr>
          <a:lstStyle/>
          <a:p>
            <a:pPr algn="ctr"/>
            <a:r>
              <a:rPr sz="3200" b="0" i="0">
                <a:solidFill>
                  <a:srgbClr val="2A2F36"/>
                </a:solidFill>
                <a:latin typeface="Calibri"/>
              </a:rPr>
              <a:t>✏️</a:t>
            </a:r>
          </a:p>
        </p:txBody>
      </p:sp>
      <p:sp>
        <p:nvSpPr>
          <p:cNvPr id="29" name="Rounded Rectangle 28"/>
          <p:cNvSpPr/>
          <p:nvPr/>
        </p:nvSpPr>
        <p:spPr>
          <a:xfrm>
            <a:off x="5468112" y="2697480"/>
            <a:ext cx="1188720" cy="347472"/>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68112" y="2734056"/>
            <a:ext cx="1188720" cy="274320"/>
          </a:xfrm>
          <a:prstGeom prst="rect">
            <a:avLst/>
          </a:prstGeom>
          <a:noFill/>
        </p:spPr>
        <p:txBody>
          <a:bodyPr wrap="square">
            <a:spAutoFit/>
          </a:bodyPr>
          <a:lstStyle/>
          <a:p>
            <a:pPr algn="ctr"/>
            <a:r>
              <a:rPr sz="1000" b="1" i="0">
                <a:solidFill>
                  <a:srgbClr val="FFFFFF"/>
                </a:solidFill>
                <a:latin typeface="Calibri"/>
              </a:rPr>
              <a:t>Mission 3</a:t>
            </a:r>
          </a:p>
        </p:txBody>
      </p:sp>
      <p:sp>
        <p:nvSpPr>
          <p:cNvPr id="31" name="TextBox 30"/>
          <p:cNvSpPr txBox="1"/>
          <p:nvPr/>
        </p:nvSpPr>
        <p:spPr>
          <a:xfrm>
            <a:off x="5102352" y="3182112"/>
            <a:ext cx="1920240" cy="822960"/>
          </a:xfrm>
          <a:prstGeom prst="rect">
            <a:avLst/>
          </a:prstGeom>
          <a:noFill/>
        </p:spPr>
        <p:txBody>
          <a:bodyPr wrap="square">
            <a:spAutoFit/>
          </a:bodyPr>
          <a:lstStyle/>
          <a:p>
            <a:pPr algn="ctr"/>
            <a:r>
              <a:rPr sz="1500" b="1" i="0">
                <a:solidFill>
                  <a:srgbClr val="1E7A52"/>
                </a:solidFill>
                <a:latin typeface="Calibri"/>
              </a:rPr>
              <a:t>Grammar Editor</a:t>
            </a:r>
          </a:p>
        </p:txBody>
      </p:sp>
      <p:sp>
        <p:nvSpPr>
          <p:cNvPr id="32" name="TextBox 31"/>
          <p:cNvSpPr txBox="1"/>
          <p:nvPr/>
        </p:nvSpPr>
        <p:spPr>
          <a:xfrm>
            <a:off x="5175504" y="4041648"/>
            <a:ext cx="1783080" cy="822960"/>
          </a:xfrm>
          <a:prstGeom prst="rect">
            <a:avLst/>
          </a:prstGeom>
          <a:noFill/>
        </p:spPr>
        <p:txBody>
          <a:bodyPr wrap="square">
            <a:spAutoFit/>
          </a:bodyPr>
          <a:lstStyle/>
          <a:p>
            <a:pPr algn="ctr"/>
            <a:r>
              <a:rPr sz="1100" b="0" i="0">
                <a:solidFill>
                  <a:srgbClr val="2A2F36"/>
                </a:solidFill>
                <a:latin typeface="Calibri"/>
              </a:rPr>
              <a:t>Catch every mistake.</a:t>
            </a:r>
          </a:p>
        </p:txBody>
      </p:sp>
      <p:sp>
        <p:nvSpPr>
          <p:cNvPr id="33" name="Rounded Rectangle 32"/>
          <p:cNvSpPr/>
          <p:nvPr/>
        </p:nvSpPr>
        <p:spPr>
          <a:xfrm>
            <a:off x="7287768" y="1737360"/>
            <a:ext cx="2103120" cy="32918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7768" y="1938528"/>
            <a:ext cx="2103120" cy="731520"/>
          </a:xfrm>
          <a:prstGeom prst="rect">
            <a:avLst/>
          </a:prstGeom>
          <a:noFill/>
        </p:spPr>
        <p:txBody>
          <a:bodyPr wrap="square">
            <a:spAutoFit/>
          </a:bodyPr>
          <a:lstStyle/>
          <a:p>
            <a:pPr algn="ctr"/>
            <a:r>
              <a:rPr sz="3200" b="0" i="0">
                <a:solidFill>
                  <a:srgbClr val="2A2F36"/>
                </a:solidFill>
                <a:latin typeface="Calibri"/>
              </a:rPr>
              <a:t>📖</a:t>
            </a:r>
          </a:p>
        </p:txBody>
      </p:sp>
      <p:sp>
        <p:nvSpPr>
          <p:cNvPr id="35" name="Rounded Rectangle 34"/>
          <p:cNvSpPr/>
          <p:nvPr/>
        </p:nvSpPr>
        <p:spPr>
          <a:xfrm>
            <a:off x="7744968" y="2697480"/>
            <a:ext cx="1188720" cy="347472"/>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44968" y="2734056"/>
            <a:ext cx="1188720" cy="274320"/>
          </a:xfrm>
          <a:prstGeom prst="rect">
            <a:avLst/>
          </a:prstGeom>
          <a:noFill/>
        </p:spPr>
        <p:txBody>
          <a:bodyPr wrap="square">
            <a:spAutoFit/>
          </a:bodyPr>
          <a:lstStyle/>
          <a:p>
            <a:pPr algn="ctr"/>
            <a:r>
              <a:rPr sz="1000" b="1" i="0">
                <a:solidFill>
                  <a:srgbClr val="FFFFFF"/>
                </a:solidFill>
                <a:latin typeface="Calibri"/>
              </a:rPr>
              <a:t>Mission 4</a:t>
            </a:r>
          </a:p>
        </p:txBody>
      </p:sp>
      <p:sp>
        <p:nvSpPr>
          <p:cNvPr id="37" name="TextBox 36"/>
          <p:cNvSpPr txBox="1"/>
          <p:nvPr/>
        </p:nvSpPr>
        <p:spPr>
          <a:xfrm>
            <a:off x="7379208" y="3182112"/>
            <a:ext cx="1920240" cy="822960"/>
          </a:xfrm>
          <a:prstGeom prst="rect">
            <a:avLst/>
          </a:prstGeom>
          <a:noFill/>
        </p:spPr>
        <p:txBody>
          <a:bodyPr wrap="square">
            <a:spAutoFit/>
          </a:bodyPr>
          <a:lstStyle/>
          <a:p>
            <a:pPr algn="ctr"/>
            <a:r>
              <a:rPr sz="1500" b="1" i="0">
                <a:solidFill>
                  <a:srgbClr val="1B5E9E"/>
                </a:solidFill>
                <a:latin typeface="Calibri"/>
              </a:rPr>
              <a:t>Story Reporter</a:t>
            </a:r>
          </a:p>
        </p:txBody>
      </p:sp>
      <p:sp>
        <p:nvSpPr>
          <p:cNvPr id="38" name="TextBox 37"/>
          <p:cNvSpPr txBox="1"/>
          <p:nvPr/>
        </p:nvSpPr>
        <p:spPr>
          <a:xfrm>
            <a:off x="7452360" y="4041648"/>
            <a:ext cx="1783080" cy="822960"/>
          </a:xfrm>
          <a:prstGeom prst="rect">
            <a:avLst/>
          </a:prstGeom>
          <a:noFill/>
        </p:spPr>
        <p:txBody>
          <a:bodyPr wrap="square">
            <a:spAutoFit/>
          </a:bodyPr>
          <a:lstStyle/>
          <a:p>
            <a:pPr algn="ctr"/>
            <a:r>
              <a:rPr sz="1100" b="0" i="0">
                <a:solidFill>
                  <a:srgbClr val="2A2F36"/>
                </a:solidFill>
                <a:latin typeface="Calibri"/>
              </a:rPr>
              <a:t>Read and prove your answers.</a:t>
            </a:r>
          </a:p>
        </p:txBody>
      </p:sp>
      <p:sp>
        <p:nvSpPr>
          <p:cNvPr id="39" name="Rounded Rectangle 38"/>
          <p:cNvSpPr/>
          <p:nvPr/>
        </p:nvSpPr>
        <p:spPr>
          <a:xfrm>
            <a:off x="9564624" y="1737360"/>
            <a:ext cx="2103120" cy="32918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64624" y="1938528"/>
            <a:ext cx="2103120" cy="731520"/>
          </a:xfrm>
          <a:prstGeom prst="rect">
            <a:avLst/>
          </a:prstGeom>
          <a:noFill/>
        </p:spPr>
        <p:txBody>
          <a:bodyPr wrap="square">
            <a:spAutoFit/>
          </a:bodyPr>
          <a:lstStyle/>
          <a:p>
            <a:pPr algn="ctr"/>
            <a:r>
              <a:rPr sz="3200" b="0" i="0">
                <a:solidFill>
                  <a:srgbClr val="2A2F36"/>
                </a:solidFill>
                <a:latin typeface="Calibri"/>
              </a:rPr>
              <a:t>🏆</a:t>
            </a:r>
          </a:p>
        </p:txBody>
      </p:sp>
      <p:sp>
        <p:nvSpPr>
          <p:cNvPr id="41" name="Rounded Rectangle 40"/>
          <p:cNvSpPr/>
          <p:nvPr/>
        </p:nvSpPr>
        <p:spPr>
          <a:xfrm>
            <a:off x="10021824" y="2697480"/>
            <a:ext cx="1188720" cy="347472"/>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21824" y="2734056"/>
            <a:ext cx="1188720" cy="274320"/>
          </a:xfrm>
          <a:prstGeom prst="rect">
            <a:avLst/>
          </a:prstGeom>
          <a:noFill/>
        </p:spPr>
        <p:txBody>
          <a:bodyPr wrap="square">
            <a:spAutoFit/>
          </a:bodyPr>
          <a:lstStyle/>
          <a:p>
            <a:pPr algn="ctr"/>
            <a:r>
              <a:rPr sz="1000" b="1" i="0">
                <a:solidFill>
                  <a:srgbClr val="FFFFFF"/>
                </a:solidFill>
                <a:latin typeface="Calibri"/>
              </a:rPr>
              <a:t>Mission 5</a:t>
            </a:r>
          </a:p>
        </p:txBody>
      </p:sp>
      <p:sp>
        <p:nvSpPr>
          <p:cNvPr id="43" name="TextBox 42"/>
          <p:cNvSpPr txBox="1"/>
          <p:nvPr/>
        </p:nvSpPr>
        <p:spPr>
          <a:xfrm>
            <a:off x="9656064" y="3182112"/>
            <a:ext cx="1920240" cy="822960"/>
          </a:xfrm>
          <a:prstGeom prst="rect">
            <a:avLst/>
          </a:prstGeom>
          <a:noFill/>
        </p:spPr>
        <p:txBody>
          <a:bodyPr wrap="square">
            <a:spAutoFit/>
          </a:bodyPr>
          <a:lstStyle/>
          <a:p>
            <a:pPr algn="ctr"/>
            <a:r>
              <a:rPr sz="1500" b="1" i="0">
                <a:solidFill>
                  <a:srgbClr val="D08A0C"/>
                </a:solidFill>
                <a:latin typeface="Calibri"/>
              </a:rPr>
              <a:t>Final News Challenge</a:t>
            </a:r>
          </a:p>
        </p:txBody>
      </p:sp>
      <p:sp>
        <p:nvSpPr>
          <p:cNvPr id="44" name="TextBox 43"/>
          <p:cNvSpPr txBox="1"/>
          <p:nvPr/>
        </p:nvSpPr>
        <p:spPr>
          <a:xfrm>
            <a:off x="9729216" y="4041648"/>
            <a:ext cx="1783080" cy="822960"/>
          </a:xfrm>
          <a:prstGeom prst="rect">
            <a:avLst/>
          </a:prstGeom>
          <a:noFill/>
        </p:spPr>
        <p:txBody>
          <a:bodyPr wrap="square">
            <a:spAutoFit/>
          </a:bodyPr>
          <a:lstStyle/>
          <a:p>
            <a:pPr algn="ctr"/>
            <a:r>
              <a:rPr sz="1100" b="0" i="0">
                <a:solidFill>
                  <a:srgbClr val="2A2F36"/>
                </a:solidFill>
                <a:latin typeface="Calibri"/>
              </a:rPr>
              <a:t>Publish the edition.</a:t>
            </a:r>
          </a:p>
        </p:txBody>
      </p:sp>
      <p:sp>
        <p:nvSpPr>
          <p:cNvPr id="45" name="Rounded Rectangle 44"/>
          <p:cNvSpPr/>
          <p:nvPr/>
        </p:nvSpPr>
        <p:spPr>
          <a:xfrm>
            <a:off x="457200" y="5212080"/>
            <a:ext cx="11292840" cy="82296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440680"/>
            <a:ext cx="10698480" cy="402336"/>
          </a:xfrm>
          <a:prstGeom prst="rect">
            <a:avLst/>
          </a:prstGeom>
          <a:noFill/>
        </p:spPr>
        <p:txBody>
          <a:bodyPr wrap="square">
            <a:spAutoFit/>
          </a:bodyPr>
          <a:lstStyle/>
          <a:p>
            <a:pPr algn="ctr"/>
            <a:r>
              <a:rPr sz="1600" b="1" i="0">
                <a:solidFill>
                  <a:srgbClr val="111418"/>
                </a:solidFill>
                <a:latin typeface="Calibri"/>
              </a:rPr>
              <a:t>🗞️  →  🔎  →  ✏️  →  📖  →  🏆    Finish all five and you are a Young Reporter.</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DISCUSS</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0–7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What Makes a Good News Story?</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599591"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0–7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B5E9E"/>
                </a:solidFill>
                <a:latin typeface="Calibri"/>
              </a:rPr>
              <a:t>Read all four. Only one answer is complete.</a:t>
            </a:r>
          </a:p>
        </p:txBody>
      </p:sp>
      <p:sp>
        <p:nvSpPr>
          <p:cNvPr id="15" name="Rounded Rectangle 14"/>
          <p:cNvSpPr/>
          <p:nvPr/>
        </p:nvSpPr>
        <p:spPr>
          <a:xfrm>
            <a:off x="457200" y="1737360"/>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1920240"/>
            <a:ext cx="512064" cy="512064"/>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1984248"/>
            <a:ext cx="512064" cy="384048"/>
          </a:xfrm>
          <a:prstGeom prst="rect">
            <a:avLst/>
          </a:prstGeom>
          <a:noFill/>
        </p:spPr>
        <p:txBody>
          <a:bodyPr wrap="square">
            <a:spAutoFit/>
          </a:bodyPr>
          <a:lstStyle/>
          <a:p>
            <a:pPr algn="ctr"/>
            <a:r>
              <a:rPr sz="1500" b="1" i="0">
                <a:solidFill>
                  <a:srgbClr val="FFFFFF"/>
                </a:solidFill>
                <a:latin typeface="Calibri"/>
              </a:rPr>
              <a:t>A</a:t>
            </a:r>
          </a:p>
        </p:txBody>
      </p:sp>
      <p:sp>
        <p:nvSpPr>
          <p:cNvPr id="18" name="TextBox 17"/>
          <p:cNvSpPr txBox="1"/>
          <p:nvPr/>
        </p:nvSpPr>
        <p:spPr>
          <a:xfrm>
            <a:off x="1600200" y="1956816"/>
            <a:ext cx="9601200" cy="457200"/>
          </a:xfrm>
          <a:prstGeom prst="rect">
            <a:avLst/>
          </a:prstGeom>
          <a:noFill/>
        </p:spPr>
        <p:txBody>
          <a:bodyPr wrap="square">
            <a:spAutoFit/>
          </a:bodyPr>
          <a:lstStyle/>
          <a:p>
            <a:pPr algn="l"/>
            <a:r>
              <a:rPr sz="2100" b="1" i="0">
                <a:solidFill>
                  <a:srgbClr val="111418"/>
                </a:solidFill>
                <a:latin typeface="Calibri"/>
              </a:rPr>
              <a:t>It has information.</a:t>
            </a:r>
          </a:p>
        </p:txBody>
      </p:sp>
      <p:sp>
        <p:nvSpPr>
          <p:cNvPr id="19" name="Rounded Rectangle 18"/>
          <p:cNvSpPr/>
          <p:nvPr/>
        </p:nvSpPr>
        <p:spPr>
          <a:xfrm>
            <a:off x="457200" y="2761488"/>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2944368"/>
            <a:ext cx="512064" cy="512064"/>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008376"/>
            <a:ext cx="512064" cy="384048"/>
          </a:xfrm>
          <a:prstGeom prst="rect">
            <a:avLst/>
          </a:prstGeom>
          <a:noFill/>
        </p:spPr>
        <p:txBody>
          <a:bodyPr wrap="square">
            <a:spAutoFit/>
          </a:bodyPr>
          <a:lstStyle/>
          <a:p>
            <a:pPr algn="ctr"/>
            <a:r>
              <a:rPr sz="1500" b="1" i="0">
                <a:solidFill>
                  <a:srgbClr val="FFFFFF"/>
                </a:solidFill>
                <a:latin typeface="Calibri"/>
              </a:rPr>
              <a:t>B</a:t>
            </a:r>
          </a:p>
        </p:txBody>
      </p:sp>
      <p:sp>
        <p:nvSpPr>
          <p:cNvPr id="22" name="TextBox 21"/>
          <p:cNvSpPr txBox="1"/>
          <p:nvPr/>
        </p:nvSpPr>
        <p:spPr>
          <a:xfrm>
            <a:off x="1600200" y="2980944"/>
            <a:ext cx="9601200" cy="457200"/>
          </a:xfrm>
          <a:prstGeom prst="rect">
            <a:avLst/>
          </a:prstGeom>
          <a:noFill/>
        </p:spPr>
        <p:txBody>
          <a:bodyPr wrap="square">
            <a:spAutoFit/>
          </a:bodyPr>
          <a:lstStyle/>
          <a:p>
            <a:pPr algn="l"/>
            <a:r>
              <a:rPr sz="2100" b="1" i="0">
                <a:solidFill>
                  <a:srgbClr val="111418"/>
                </a:solidFill>
                <a:latin typeface="Calibri"/>
              </a:rPr>
              <a:t>It tells what happened.</a:t>
            </a:r>
          </a:p>
        </p:txBody>
      </p:sp>
      <p:sp>
        <p:nvSpPr>
          <p:cNvPr id="23" name="Rounded Rectangle 22"/>
          <p:cNvSpPr/>
          <p:nvPr/>
        </p:nvSpPr>
        <p:spPr>
          <a:xfrm>
            <a:off x="457200" y="3785616"/>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7240" y="3968496"/>
            <a:ext cx="512064" cy="512064"/>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032504"/>
            <a:ext cx="512064" cy="384048"/>
          </a:xfrm>
          <a:prstGeom prst="rect">
            <a:avLst/>
          </a:prstGeom>
          <a:noFill/>
        </p:spPr>
        <p:txBody>
          <a:bodyPr wrap="square">
            <a:spAutoFit/>
          </a:bodyPr>
          <a:lstStyle/>
          <a:p>
            <a:pPr algn="ctr"/>
            <a:r>
              <a:rPr sz="1500" b="1" i="0">
                <a:solidFill>
                  <a:srgbClr val="FFFFFF"/>
                </a:solidFill>
                <a:latin typeface="Calibri"/>
              </a:rPr>
              <a:t>C</a:t>
            </a:r>
          </a:p>
        </p:txBody>
      </p:sp>
      <p:sp>
        <p:nvSpPr>
          <p:cNvPr id="26" name="TextBox 25"/>
          <p:cNvSpPr txBox="1"/>
          <p:nvPr/>
        </p:nvSpPr>
        <p:spPr>
          <a:xfrm>
            <a:off x="1600200" y="4005072"/>
            <a:ext cx="9601200" cy="457200"/>
          </a:xfrm>
          <a:prstGeom prst="rect">
            <a:avLst/>
          </a:prstGeom>
          <a:noFill/>
        </p:spPr>
        <p:txBody>
          <a:bodyPr wrap="square">
            <a:spAutoFit/>
          </a:bodyPr>
          <a:lstStyle/>
          <a:p>
            <a:pPr algn="l"/>
            <a:r>
              <a:rPr sz="2100" b="1" i="0">
                <a:solidFill>
                  <a:srgbClr val="111418"/>
                </a:solidFill>
                <a:latin typeface="Calibri"/>
              </a:rPr>
              <a:t>It uses clear sentences.</a:t>
            </a:r>
          </a:p>
        </p:txBody>
      </p:sp>
      <p:sp>
        <p:nvSpPr>
          <p:cNvPr id="27" name="Rounded Rectangle 26"/>
          <p:cNvSpPr/>
          <p:nvPr/>
        </p:nvSpPr>
        <p:spPr>
          <a:xfrm>
            <a:off x="457200" y="4809744"/>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992624"/>
            <a:ext cx="512064" cy="512064"/>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056632"/>
            <a:ext cx="512064" cy="384048"/>
          </a:xfrm>
          <a:prstGeom prst="rect">
            <a:avLst/>
          </a:prstGeom>
          <a:noFill/>
        </p:spPr>
        <p:txBody>
          <a:bodyPr wrap="square">
            <a:spAutoFit/>
          </a:bodyPr>
          <a:lstStyle/>
          <a:p>
            <a:pPr algn="ctr"/>
            <a:r>
              <a:rPr sz="1500" b="1" i="0">
                <a:solidFill>
                  <a:srgbClr val="FFFFFF"/>
                </a:solidFill>
                <a:latin typeface="Calibri"/>
              </a:rPr>
              <a:t>D</a:t>
            </a:r>
          </a:p>
        </p:txBody>
      </p:sp>
      <p:sp>
        <p:nvSpPr>
          <p:cNvPr id="30" name="TextBox 29"/>
          <p:cNvSpPr txBox="1"/>
          <p:nvPr/>
        </p:nvSpPr>
        <p:spPr>
          <a:xfrm>
            <a:off x="1600200" y="5029200"/>
            <a:ext cx="9601200" cy="457200"/>
          </a:xfrm>
          <a:prstGeom prst="rect">
            <a:avLst/>
          </a:prstGeom>
          <a:noFill/>
        </p:spPr>
        <p:txBody>
          <a:bodyPr wrap="square">
            <a:spAutoFit/>
          </a:bodyPr>
          <a:lstStyle/>
          <a:p>
            <a:pPr algn="l"/>
            <a:r>
              <a:rPr sz="2100" b="1" i="0">
                <a:solidFill>
                  <a:srgbClr val="111418"/>
                </a:solidFill>
                <a:latin typeface="Calibri"/>
              </a:rPr>
              <a:t>All of the above.</a:t>
            </a:r>
          </a:p>
        </p:txBody>
      </p:sp>
      <p:sp>
        <p:nvSpPr>
          <p:cNvPr id="31" name="Rounded Rectangle 30"/>
          <p:cNvSpPr/>
          <p:nvPr/>
        </p:nvSpPr>
        <p:spPr>
          <a:xfrm>
            <a:off x="457200" y="5852160"/>
            <a:ext cx="1129284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925312"/>
            <a:ext cx="10698480" cy="329184"/>
          </a:xfrm>
          <a:prstGeom prst="rect">
            <a:avLst/>
          </a:prstGeom>
          <a:noFill/>
        </p:spPr>
        <p:txBody>
          <a:bodyPr wrap="square">
            <a:spAutoFit/>
          </a:bodyPr>
          <a:lstStyle/>
          <a:p>
            <a:pPr algn="l"/>
            <a:r>
              <a:rPr sz="1300" b="1" i="0">
                <a:solidFill>
                  <a:srgbClr val="1B5E9E"/>
                </a:solidFill>
                <a:latin typeface="Calibri"/>
              </a:rPr>
              <a:t>Ask her to defend her choice out loud before you confirm anything.</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WARM-UP</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0–7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Warm-Up — What's the News?</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799455"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0–7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D08A0C"/>
                </a:solidFill>
                <a:latin typeface="Calibri"/>
              </a:rPr>
              <a:t>No reading yet. Just look and tell me the story.</a:t>
            </a:r>
          </a:p>
        </p:txBody>
      </p:sp>
      <p:sp>
        <p:nvSpPr>
          <p:cNvPr id="15" name="Rounded Rectangle 14"/>
          <p:cNvSpPr/>
          <p:nvPr/>
        </p:nvSpPr>
        <p:spPr>
          <a:xfrm>
            <a:off x="457200" y="1627632"/>
            <a:ext cx="4846320" cy="411480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86000"/>
            <a:ext cx="4846320" cy="1645920"/>
          </a:xfrm>
          <a:prstGeom prst="rect">
            <a:avLst/>
          </a:prstGeom>
          <a:noFill/>
        </p:spPr>
        <p:txBody>
          <a:bodyPr wrap="square">
            <a:spAutoFit/>
          </a:bodyPr>
          <a:lstStyle/>
          <a:p>
            <a:pPr algn="ctr"/>
            <a:r>
              <a:rPr sz="9600" b="0" i="0">
                <a:solidFill>
                  <a:srgbClr val="2A2F36"/>
                </a:solidFill>
                <a:latin typeface="Calibri"/>
              </a:rPr>
              <a:t>🎃</a:t>
            </a:r>
          </a:p>
        </p:txBody>
      </p:sp>
      <p:sp>
        <p:nvSpPr>
          <p:cNvPr id="17" name="TextBox 16"/>
          <p:cNvSpPr txBox="1"/>
          <p:nvPr/>
        </p:nvSpPr>
        <p:spPr>
          <a:xfrm>
            <a:off x="640080" y="4251960"/>
            <a:ext cx="4480560" cy="822960"/>
          </a:xfrm>
          <a:prstGeom prst="rect">
            <a:avLst/>
          </a:prstGeom>
          <a:noFill/>
        </p:spPr>
        <p:txBody>
          <a:bodyPr wrap="square">
            <a:spAutoFit/>
          </a:bodyPr>
          <a:lstStyle/>
          <a:p>
            <a:pPr algn="ctr"/>
            <a:r>
              <a:rPr sz="1500" b="1" i="0">
                <a:solidFill>
                  <a:srgbClr val="111418"/>
                </a:solidFill>
                <a:latin typeface="Calibri"/>
              </a:rPr>
              <a:t>The school garden has grown a giant pumpkin overnight.</a:t>
            </a:r>
          </a:p>
        </p:txBody>
      </p:sp>
      <p:sp>
        <p:nvSpPr>
          <p:cNvPr id="18" name="Rounded Rectangle 17"/>
          <p:cNvSpPr/>
          <p:nvPr/>
        </p:nvSpPr>
        <p:spPr>
          <a:xfrm>
            <a:off x="5623560" y="1691640"/>
            <a:ext cx="6126480" cy="82296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1874520"/>
            <a:ext cx="457200" cy="457200"/>
          </a:xfrm>
          <a:prstGeom prst="rect">
            <a:avLst/>
          </a:prstGeom>
          <a:noFill/>
        </p:spPr>
        <p:txBody>
          <a:bodyPr wrap="square">
            <a:spAutoFit/>
          </a:bodyPr>
          <a:lstStyle/>
          <a:p>
            <a:pPr algn="ctr"/>
            <a:r>
              <a:rPr sz="1600" b="0" i="0">
                <a:solidFill>
                  <a:srgbClr val="2A2F36"/>
                </a:solidFill>
                <a:latin typeface="Calibri"/>
              </a:rPr>
              <a:t>🤔</a:t>
            </a:r>
          </a:p>
        </p:txBody>
      </p:sp>
      <p:sp>
        <p:nvSpPr>
          <p:cNvPr id="20" name="TextBox 19"/>
          <p:cNvSpPr txBox="1"/>
          <p:nvPr/>
        </p:nvSpPr>
        <p:spPr>
          <a:xfrm>
            <a:off x="6537960" y="1874520"/>
            <a:ext cx="4937760" cy="457200"/>
          </a:xfrm>
          <a:prstGeom prst="rect">
            <a:avLst/>
          </a:prstGeom>
          <a:noFill/>
        </p:spPr>
        <p:txBody>
          <a:bodyPr wrap="square">
            <a:spAutoFit/>
          </a:bodyPr>
          <a:lstStyle/>
          <a:p>
            <a:pPr algn="l"/>
            <a:r>
              <a:rPr sz="1700" b="1" i="0">
                <a:solidFill>
                  <a:srgbClr val="111418"/>
                </a:solidFill>
                <a:latin typeface="Calibri"/>
              </a:rPr>
              <a:t>What do you think happened?</a:t>
            </a:r>
          </a:p>
        </p:txBody>
      </p:sp>
      <p:sp>
        <p:nvSpPr>
          <p:cNvPr id="21" name="Rounded Rectangle 20"/>
          <p:cNvSpPr/>
          <p:nvPr/>
        </p:nvSpPr>
        <p:spPr>
          <a:xfrm>
            <a:off x="5623560" y="2651760"/>
            <a:ext cx="6126480" cy="82296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97880" y="2834640"/>
            <a:ext cx="457200" cy="457200"/>
          </a:xfrm>
          <a:prstGeom prst="rect">
            <a:avLst/>
          </a:prstGeom>
          <a:noFill/>
        </p:spPr>
        <p:txBody>
          <a:bodyPr wrap="square">
            <a:spAutoFit/>
          </a:bodyPr>
          <a:lstStyle/>
          <a:p>
            <a:pPr algn="ctr"/>
            <a:r>
              <a:rPr sz="1600" b="0" i="0">
                <a:solidFill>
                  <a:srgbClr val="2A2F36"/>
                </a:solidFill>
                <a:latin typeface="Calibri"/>
              </a:rPr>
              <a:t>🗞️</a:t>
            </a:r>
          </a:p>
        </p:txBody>
      </p:sp>
      <p:sp>
        <p:nvSpPr>
          <p:cNvPr id="23" name="TextBox 22"/>
          <p:cNvSpPr txBox="1"/>
          <p:nvPr/>
        </p:nvSpPr>
        <p:spPr>
          <a:xfrm>
            <a:off x="6537960" y="2834640"/>
            <a:ext cx="4937760" cy="457200"/>
          </a:xfrm>
          <a:prstGeom prst="rect">
            <a:avLst/>
          </a:prstGeom>
          <a:noFill/>
        </p:spPr>
        <p:txBody>
          <a:bodyPr wrap="square">
            <a:spAutoFit/>
          </a:bodyPr>
          <a:lstStyle/>
          <a:p>
            <a:pPr algn="l"/>
            <a:r>
              <a:rPr sz="1700" b="1" i="0">
                <a:solidFill>
                  <a:srgbClr val="111418"/>
                </a:solidFill>
                <a:latin typeface="Calibri"/>
              </a:rPr>
              <a:t>What would your headline be?</a:t>
            </a:r>
          </a:p>
        </p:txBody>
      </p:sp>
      <p:sp>
        <p:nvSpPr>
          <p:cNvPr id="24" name="Rounded Rectangle 23"/>
          <p:cNvSpPr/>
          <p:nvPr/>
        </p:nvSpPr>
        <p:spPr>
          <a:xfrm>
            <a:off x="5623560" y="3703320"/>
            <a:ext cx="6126480" cy="603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0" y="3813048"/>
            <a:ext cx="5486400" cy="420624"/>
          </a:xfrm>
          <a:prstGeom prst="rect">
            <a:avLst/>
          </a:prstGeom>
          <a:noFill/>
        </p:spPr>
        <p:txBody>
          <a:bodyPr wrap="square">
            <a:spAutoFit/>
          </a:bodyPr>
          <a:lstStyle/>
          <a:p>
            <a:pPr algn="l"/>
            <a:r>
              <a:rPr sz="2000" b="1" i="0">
                <a:solidFill>
                  <a:srgbClr val="D08A0C"/>
                </a:solidFill>
                <a:latin typeface="Calibri"/>
              </a:rPr>
              <a:t>I think ______.</a:t>
            </a:r>
          </a:p>
        </p:txBody>
      </p:sp>
      <p:sp>
        <p:nvSpPr>
          <p:cNvPr id="26" name="Rounded Rectangle 25"/>
          <p:cNvSpPr/>
          <p:nvPr/>
        </p:nvSpPr>
        <p:spPr>
          <a:xfrm>
            <a:off x="5623560" y="4416552"/>
            <a:ext cx="6126480" cy="603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0" y="4526280"/>
            <a:ext cx="5486400" cy="420624"/>
          </a:xfrm>
          <a:prstGeom prst="rect">
            <a:avLst/>
          </a:prstGeom>
          <a:noFill/>
        </p:spPr>
        <p:txBody>
          <a:bodyPr wrap="square">
            <a:spAutoFit/>
          </a:bodyPr>
          <a:lstStyle/>
          <a:p>
            <a:pPr algn="l"/>
            <a:r>
              <a:rPr sz="2000" b="1" i="0">
                <a:solidFill>
                  <a:srgbClr val="D08A0C"/>
                </a:solidFill>
                <a:latin typeface="Calibri"/>
              </a:rPr>
              <a:t>The picture shows ______.</a:t>
            </a:r>
          </a:p>
        </p:txBody>
      </p:sp>
      <p:sp>
        <p:nvSpPr>
          <p:cNvPr id="28" name="Rounded Rectangle 27"/>
          <p:cNvSpPr/>
          <p:nvPr/>
        </p:nvSpPr>
        <p:spPr>
          <a:xfrm>
            <a:off x="5623560" y="5129783"/>
            <a:ext cx="6126480" cy="603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0" y="5239511"/>
            <a:ext cx="5486400" cy="420624"/>
          </a:xfrm>
          <a:prstGeom prst="rect">
            <a:avLst/>
          </a:prstGeom>
          <a:noFill/>
        </p:spPr>
        <p:txBody>
          <a:bodyPr wrap="square">
            <a:spAutoFit/>
          </a:bodyPr>
          <a:lstStyle/>
          <a:p>
            <a:pPr algn="l"/>
            <a:r>
              <a:rPr sz="2000" b="1" i="0">
                <a:solidFill>
                  <a:srgbClr val="D08A0C"/>
                </a:solidFill>
                <a:latin typeface="Calibri"/>
              </a:rPr>
              <a:t>Maybe ______.</a:t>
            </a:r>
          </a:p>
        </p:txBody>
      </p:sp>
      <p:sp>
        <p:nvSpPr>
          <p:cNvPr id="30" name="Rounded Rectangle 29"/>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2" name="TextBox 31"/>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Accept any idea. This is the one task today with no wrong answer.</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PROMISE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0–7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How the Newsroom Works</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999319"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0–7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E7A52"/>
                </a:solidFill>
                <a:latin typeface="Calibri"/>
              </a:rPr>
              <a:t>Every skill today goes through these five steps.</a:t>
            </a:r>
          </a:p>
        </p:txBody>
      </p:sp>
      <p:sp>
        <p:nvSpPr>
          <p:cNvPr id="15" name="Rounded Rectangle 14"/>
          <p:cNvSpPr/>
          <p:nvPr/>
        </p:nvSpPr>
        <p:spPr>
          <a:xfrm>
            <a:off x="457200" y="1737360"/>
            <a:ext cx="2103120" cy="265176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34440" y="1938528"/>
            <a:ext cx="548640" cy="548640"/>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029968"/>
            <a:ext cx="548640" cy="384048"/>
          </a:xfrm>
          <a:prstGeom prst="rect">
            <a:avLst/>
          </a:prstGeom>
          <a:noFill/>
        </p:spPr>
        <p:txBody>
          <a:bodyPr wrap="square">
            <a:spAutoFit/>
          </a:bodyPr>
          <a:lstStyle/>
          <a:p>
            <a:pPr algn="ctr"/>
            <a:r>
              <a:rPr sz="1600" b="1" i="0">
                <a:solidFill>
                  <a:srgbClr val="FFFFFF"/>
                </a:solidFill>
                <a:latin typeface="Calibri"/>
              </a:rPr>
              <a:t>1</a:t>
            </a:r>
          </a:p>
        </p:txBody>
      </p:sp>
      <p:sp>
        <p:nvSpPr>
          <p:cNvPr id="18" name="TextBox 17"/>
          <p:cNvSpPr txBox="1"/>
          <p:nvPr/>
        </p:nvSpPr>
        <p:spPr>
          <a:xfrm>
            <a:off x="548640" y="2651760"/>
            <a:ext cx="1920240" cy="685800"/>
          </a:xfrm>
          <a:prstGeom prst="rect">
            <a:avLst/>
          </a:prstGeom>
          <a:noFill/>
        </p:spPr>
        <p:txBody>
          <a:bodyPr wrap="square">
            <a:spAutoFit/>
          </a:bodyPr>
          <a:lstStyle/>
          <a:p>
            <a:pPr algn="ctr"/>
            <a:r>
              <a:rPr sz="1300" b="1" i="0">
                <a:solidFill>
                  <a:srgbClr val="C8322B"/>
                </a:solidFill>
                <a:latin typeface="Calibri"/>
              </a:rPr>
              <a:t>TEACHER MODEL</a:t>
            </a:r>
          </a:p>
        </p:txBody>
      </p:sp>
      <p:sp>
        <p:nvSpPr>
          <p:cNvPr id="19" name="TextBox 18"/>
          <p:cNvSpPr txBox="1"/>
          <p:nvPr/>
        </p:nvSpPr>
        <p:spPr>
          <a:xfrm>
            <a:off x="621792" y="3383280"/>
            <a:ext cx="1783080" cy="822960"/>
          </a:xfrm>
          <a:prstGeom prst="rect">
            <a:avLst/>
          </a:prstGeom>
          <a:noFill/>
        </p:spPr>
        <p:txBody>
          <a:bodyPr wrap="square">
            <a:spAutoFit/>
          </a:bodyPr>
          <a:lstStyle/>
          <a:p>
            <a:pPr algn="ctr"/>
            <a:r>
              <a:rPr sz="1100" b="0" i="0">
                <a:solidFill>
                  <a:srgbClr val="2A2F36"/>
                </a:solidFill>
                <a:latin typeface="Calibri"/>
              </a:rPr>
              <a:t>I show you how it works.</a:t>
            </a:r>
          </a:p>
        </p:txBody>
      </p:sp>
      <p:sp>
        <p:nvSpPr>
          <p:cNvPr id="20" name="Rounded Rectangle 19"/>
          <p:cNvSpPr/>
          <p:nvPr/>
        </p:nvSpPr>
        <p:spPr>
          <a:xfrm>
            <a:off x="2734056" y="1737360"/>
            <a:ext cx="2103120" cy="265176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11296" y="1938528"/>
            <a:ext cx="548640" cy="548640"/>
          </a:xfrm>
          <a:prstGeom prst="ellipse">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11296" y="2029968"/>
            <a:ext cx="548640" cy="384048"/>
          </a:xfrm>
          <a:prstGeom prst="rect">
            <a:avLst/>
          </a:prstGeom>
          <a:noFill/>
        </p:spPr>
        <p:txBody>
          <a:bodyPr wrap="square">
            <a:spAutoFit/>
          </a:bodyPr>
          <a:lstStyle/>
          <a:p>
            <a:pPr algn="ctr"/>
            <a:r>
              <a:rPr sz="1600" b="1" i="0">
                <a:solidFill>
                  <a:srgbClr val="FFFFFF"/>
                </a:solidFill>
                <a:latin typeface="Calibri"/>
              </a:rPr>
              <a:t>2</a:t>
            </a:r>
          </a:p>
        </p:txBody>
      </p:sp>
      <p:sp>
        <p:nvSpPr>
          <p:cNvPr id="23" name="TextBox 22"/>
          <p:cNvSpPr txBox="1"/>
          <p:nvPr/>
        </p:nvSpPr>
        <p:spPr>
          <a:xfrm>
            <a:off x="2825496" y="2651760"/>
            <a:ext cx="1920240" cy="685800"/>
          </a:xfrm>
          <a:prstGeom prst="rect">
            <a:avLst/>
          </a:prstGeom>
          <a:noFill/>
        </p:spPr>
        <p:txBody>
          <a:bodyPr wrap="square">
            <a:spAutoFit/>
          </a:bodyPr>
          <a:lstStyle/>
          <a:p>
            <a:pPr algn="ctr"/>
            <a:r>
              <a:rPr sz="1300" b="1" i="0">
                <a:solidFill>
                  <a:srgbClr val="D08A0C"/>
                </a:solidFill>
                <a:latin typeface="Calibri"/>
              </a:rPr>
              <a:t>TOGETHER</a:t>
            </a:r>
          </a:p>
        </p:txBody>
      </p:sp>
      <p:sp>
        <p:nvSpPr>
          <p:cNvPr id="24" name="TextBox 23"/>
          <p:cNvSpPr txBox="1"/>
          <p:nvPr/>
        </p:nvSpPr>
        <p:spPr>
          <a:xfrm>
            <a:off x="2898648" y="3383280"/>
            <a:ext cx="1783080" cy="822960"/>
          </a:xfrm>
          <a:prstGeom prst="rect">
            <a:avLst/>
          </a:prstGeom>
          <a:noFill/>
        </p:spPr>
        <p:txBody>
          <a:bodyPr wrap="square">
            <a:spAutoFit/>
          </a:bodyPr>
          <a:lstStyle/>
          <a:p>
            <a:pPr algn="ctr"/>
            <a:r>
              <a:rPr sz="1100" b="0" i="0">
                <a:solidFill>
                  <a:srgbClr val="2A2F36"/>
                </a:solidFill>
                <a:latin typeface="Calibri"/>
              </a:rPr>
              <a:t>We do the next one out loud.</a:t>
            </a:r>
          </a:p>
        </p:txBody>
      </p:sp>
      <p:sp>
        <p:nvSpPr>
          <p:cNvPr id="25" name="Rounded Rectangle 24"/>
          <p:cNvSpPr/>
          <p:nvPr/>
        </p:nvSpPr>
        <p:spPr>
          <a:xfrm>
            <a:off x="5010912" y="1737360"/>
            <a:ext cx="2103120" cy="265176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788152" y="1938528"/>
            <a:ext cx="548640" cy="548640"/>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88152" y="2029968"/>
            <a:ext cx="548640" cy="384048"/>
          </a:xfrm>
          <a:prstGeom prst="rect">
            <a:avLst/>
          </a:prstGeom>
          <a:noFill/>
        </p:spPr>
        <p:txBody>
          <a:bodyPr wrap="square">
            <a:spAutoFit/>
          </a:bodyPr>
          <a:lstStyle/>
          <a:p>
            <a:pPr algn="ctr"/>
            <a:r>
              <a:rPr sz="1600" b="1" i="0">
                <a:solidFill>
                  <a:srgbClr val="FFFFFF"/>
                </a:solidFill>
                <a:latin typeface="Calibri"/>
              </a:rPr>
              <a:t>3</a:t>
            </a:r>
          </a:p>
        </p:txBody>
      </p:sp>
      <p:sp>
        <p:nvSpPr>
          <p:cNvPr id="28" name="TextBox 27"/>
          <p:cNvSpPr txBox="1"/>
          <p:nvPr/>
        </p:nvSpPr>
        <p:spPr>
          <a:xfrm>
            <a:off x="5102352" y="2651760"/>
            <a:ext cx="1920240" cy="685800"/>
          </a:xfrm>
          <a:prstGeom prst="rect">
            <a:avLst/>
          </a:prstGeom>
          <a:noFill/>
        </p:spPr>
        <p:txBody>
          <a:bodyPr wrap="square">
            <a:spAutoFit/>
          </a:bodyPr>
          <a:lstStyle/>
          <a:p>
            <a:pPr algn="ctr"/>
            <a:r>
              <a:rPr sz="1300" b="1" i="0">
                <a:solidFill>
                  <a:srgbClr val="1E7A52"/>
                </a:solidFill>
                <a:latin typeface="Calibri"/>
              </a:rPr>
              <a:t>YOU TRY</a:t>
            </a:r>
          </a:p>
        </p:txBody>
      </p:sp>
      <p:sp>
        <p:nvSpPr>
          <p:cNvPr id="29" name="TextBox 28"/>
          <p:cNvSpPr txBox="1"/>
          <p:nvPr/>
        </p:nvSpPr>
        <p:spPr>
          <a:xfrm>
            <a:off x="5175504" y="3383280"/>
            <a:ext cx="1783080" cy="822960"/>
          </a:xfrm>
          <a:prstGeom prst="rect">
            <a:avLst/>
          </a:prstGeom>
          <a:noFill/>
        </p:spPr>
        <p:txBody>
          <a:bodyPr wrap="square">
            <a:spAutoFit/>
          </a:bodyPr>
          <a:lstStyle/>
          <a:p>
            <a:pPr algn="ctr"/>
            <a:r>
              <a:rPr sz="1100" b="0" i="0">
                <a:solidFill>
                  <a:srgbClr val="2A2F36"/>
                </a:solidFill>
                <a:latin typeface="Calibri"/>
              </a:rPr>
              <a:t>You take one on your own.</a:t>
            </a:r>
          </a:p>
        </p:txBody>
      </p:sp>
      <p:sp>
        <p:nvSpPr>
          <p:cNvPr id="30" name="Rounded Rectangle 29"/>
          <p:cNvSpPr/>
          <p:nvPr/>
        </p:nvSpPr>
        <p:spPr>
          <a:xfrm>
            <a:off x="7287768" y="1737360"/>
            <a:ext cx="2103120" cy="265176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65008" y="1938528"/>
            <a:ext cx="548640" cy="548640"/>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65008" y="2029968"/>
            <a:ext cx="548640" cy="384048"/>
          </a:xfrm>
          <a:prstGeom prst="rect">
            <a:avLst/>
          </a:prstGeom>
          <a:noFill/>
        </p:spPr>
        <p:txBody>
          <a:bodyPr wrap="square">
            <a:spAutoFit/>
          </a:bodyPr>
          <a:lstStyle/>
          <a:p>
            <a:pPr algn="ctr"/>
            <a:r>
              <a:rPr sz="1600" b="1" i="0">
                <a:solidFill>
                  <a:srgbClr val="FFFFFF"/>
                </a:solidFill>
                <a:latin typeface="Calibri"/>
              </a:rPr>
              <a:t>4</a:t>
            </a:r>
          </a:p>
        </p:txBody>
      </p:sp>
      <p:sp>
        <p:nvSpPr>
          <p:cNvPr id="33" name="TextBox 32"/>
          <p:cNvSpPr txBox="1"/>
          <p:nvPr/>
        </p:nvSpPr>
        <p:spPr>
          <a:xfrm>
            <a:off x="7379208" y="2651760"/>
            <a:ext cx="1920240" cy="685800"/>
          </a:xfrm>
          <a:prstGeom prst="rect">
            <a:avLst/>
          </a:prstGeom>
          <a:noFill/>
        </p:spPr>
        <p:txBody>
          <a:bodyPr wrap="square">
            <a:spAutoFit/>
          </a:bodyPr>
          <a:lstStyle/>
          <a:p>
            <a:pPr algn="ctr"/>
            <a:r>
              <a:rPr sz="1300" b="1" i="0">
                <a:solidFill>
                  <a:srgbClr val="6A4A9E"/>
                </a:solidFill>
                <a:latin typeface="Calibri"/>
              </a:rPr>
              <a:t>GAME</a:t>
            </a:r>
          </a:p>
        </p:txBody>
      </p:sp>
      <p:sp>
        <p:nvSpPr>
          <p:cNvPr id="34" name="TextBox 33"/>
          <p:cNvSpPr txBox="1"/>
          <p:nvPr/>
        </p:nvSpPr>
        <p:spPr>
          <a:xfrm>
            <a:off x="7452360" y="3383280"/>
            <a:ext cx="1783080" cy="822960"/>
          </a:xfrm>
          <a:prstGeom prst="rect">
            <a:avLst/>
          </a:prstGeom>
          <a:noFill/>
        </p:spPr>
        <p:txBody>
          <a:bodyPr wrap="square">
            <a:spAutoFit/>
          </a:bodyPr>
          <a:lstStyle/>
          <a:p>
            <a:pPr algn="ctr"/>
            <a:r>
              <a:rPr sz="1100" b="0" i="0">
                <a:solidFill>
                  <a:srgbClr val="2A2F36"/>
                </a:solidFill>
                <a:latin typeface="Calibri"/>
              </a:rPr>
              <a:t>We turn it into a challenge.</a:t>
            </a:r>
          </a:p>
        </p:txBody>
      </p:sp>
      <p:sp>
        <p:nvSpPr>
          <p:cNvPr id="35" name="Rounded Rectangle 34"/>
          <p:cNvSpPr/>
          <p:nvPr/>
        </p:nvSpPr>
        <p:spPr>
          <a:xfrm>
            <a:off x="9564624" y="1737360"/>
            <a:ext cx="2103120" cy="265176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341864" y="1938528"/>
            <a:ext cx="548640" cy="548640"/>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41864" y="2029968"/>
            <a:ext cx="548640" cy="384048"/>
          </a:xfrm>
          <a:prstGeom prst="rect">
            <a:avLst/>
          </a:prstGeom>
          <a:noFill/>
        </p:spPr>
        <p:txBody>
          <a:bodyPr wrap="square">
            <a:spAutoFit/>
          </a:bodyPr>
          <a:lstStyle/>
          <a:p>
            <a:pPr algn="ctr"/>
            <a:r>
              <a:rPr sz="1600" b="1" i="0">
                <a:solidFill>
                  <a:srgbClr val="FFFFFF"/>
                </a:solidFill>
                <a:latin typeface="Calibri"/>
              </a:rPr>
              <a:t>5</a:t>
            </a:r>
          </a:p>
        </p:txBody>
      </p:sp>
      <p:sp>
        <p:nvSpPr>
          <p:cNvPr id="38" name="TextBox 37"/>
          <p:cNvSpPr txBox="1"/>
          <p:nvPr/>
        </p:nvSpPr>
        <p:spPr>
          <a:xfrm>
            <a:off x="9656064" y="2651760"/>
            <a:ext cx="1920240" cy="685800"/>
          </a:xfrm>
          <a:prstGeom prst="rect">
            <a:avLst/>
          </a:prstGeom>
          <a:noFill/>
        </p:spPr>
        <p:txBody>
          <a:bodyPr wrap="square">
            <a:spAutoFit/>
          </a:bodyPr>
          <a:lstStyle/>
          <a:p>
            <a:pPr algn="ctr"/>
            <a:r>
              <a:rPr sz="1300" b="1" i="0">
                <a:solidFill>
                  <a:srgbClr val="1B5E9E"/>
                </a:solidFill>
                <a:latin typeface="Calibri"/>
              </a:rPr>
              <a:t>APPLY</a:t>
            </a:r>
          </a:p>
        </p:txBody>
      </p:sp>
      <p:sp>
        <p:nvSpPr>
          <p:cNvPr id="39" name="TextBox 38"/>
          <p:cNvSpPr txBox="1"/>
          <p:nvPr/>
        </p:nvSpPr>
        <p:spPr>
          <a:xfrm>
            <a:off x="9729216" y="3383280"/>
            <a:ext cx="1783080" cy="822960"/>
          </a:xfrm>
          <a:prstGeom prst="rect">
            <a:avLst/>
          </a:prstGeom>
          <a:noFill/>
        </p:spPr>
        <p:txBody>
          <a:bodyPr wrap="square">
            <a:spAutoFit/>
          </a:bodyPr>
          <a:lstStyle/>
          <a:p>
            <a:pPr algn="ctr"/>
            <a:r>
              <a:rPr sz="1100" b="0" i="0">
                <a:solidFill>
                  <a:srgbClr val="2A2F36"/>
                </a:solidFill>
                <a:latin typeface="Calibri"/>
              </a:rPr>
              <a:t>You use it in your own writing.</a:t>
            </a:r>
          </a:p>
        </p:txBody>
      </p:sp>
      <p:sp>
        <p:nvSpPr>
          <p:cNvPr id="40" name="Rounded Rectangle 39"/>
          <p:cNvSpPr/>
          <p:nvPr/>
        </p:nvSpPr>
        <p:spPr>
          <a:xfrm>
            <a:off x="457200" y="4572000"/>
            <a:ext cx="11292840" cy="114300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4700016"/>
            <a:ext cx="10698480" cy="329184"/>
          </a:xfrm>
          <a:prstGeom prst="rect">
            <a:avLst/>
          </a:prstGeom>
          <a:noFill/>
        </p:spPr>
        <p:txBody>
          <a:bodyPr wrap="square">
            <a:spAutoFit/>
          </a:bodyPr>
          <a:lstStyle/>
          <a:p>
            <a:pPr algn="l"/>
            <a:r>
              <a:rPr sz="1300" b="1" i="0">
                <a:solidFill>
                  <a:srgbClr val="D08A0C"/>
                </a:solidFill>
                <a:latin typeface="Calibri"/>
              </a:rPr>
              <a:t>🟡 THE REPORTER HINT PROMISE</a:t>
            </a:r>
          </a:p>
        </p:txBody>
      </p:sp>
      <p:sp>
        <p:nvSpPr>
          <p:cNvPr id="42" name="TextBox 41"/>
          <p:cNvSpPr txBox="1"/>
          <p:nvPr/>
        </p:nvSpPr>
        <p:spPr>
          <a:xfrm>
            <a:off x="731520" y="5084064"/>
            <a:ext cx="10698480" cy="548640"/>
          </a:xfrm>
          <a:prstGeom prst="rect">
            <a:avLst/>
          </a:prstGeom>
          <a:noFill/>
        </p:spPr>
        <p:txBody>
          <a:bodyPr wrap="square">
            <a:spAutoFit/>
          </a:bodyPr>
          <a:lstStyle/>
          <a:p>
            <a:pPr algn="l"/>
            <a:r>
              <a:rPr sz="1600" b="1" i="0">
                <a:solidFill>
                  <a:srgbClr val="111418"/>
                </a:solidFill>
                <a:latin typeface="Calibri"/>
              </a:rPr>
              <a:t>You will never be left stuck. A hint always comes before the answer — and the answer is always yours to say.</a:t>
            </a:r>
          </a:p>
        </p:txBody>
      </p:sp>
      <p:sp>
        <p:nvSpPr>
          <p:cNvPr id="43" name="Rounded Rectangle 42"/>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5" name="TextBox 44"/>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Read the promise out loud. It changes how she handles the first mistake.</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LEARN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7–17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What Is a Headline?</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199183"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7–17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6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A headline gives the main idea in a few words.</a:t>
            </a:r>
          </a:p>
        </p:txBody>
      </p:sp>
      <p:sp>
        <p:nvSpPr>
          <p:cNvPr id="15" name="Rounded Rectangle 14"/>
          <p:cNvSpPr/>
          <p:nvPr/>
        </p:nvSpPr>
        <p:spPr>
          <a:xfrm>
            <a:off x="457200" y="1645920"/>
            <a:ext cx="11292840" cy="1371600"/>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938528"/>
            <a:ext cx="10698480" cy="822960"/>
          </a:xfrm>
          <a:prstGeom prst="rect">
            <a:avLst/>
          </a:prstGeom>
          <a:noFill/>
        </p:spPr>
        <p:txBody>
          <a:bodyPr wrap="square">
            <a:spAutoFit/>
          </a:bodyPr>
          <a:lstStyle/>
          <a:p>
            <a:pPr algn="ctr"/>
            <a:r>
              <a:rPr sz="3600" b="1" i="0">
                <a:solidFill>
                  <a:srgbClr val="FFFFFF"/>
                </a:solidFill>
                <a:latin typeface="Georgia"/>
              </a:rPr>
              <a:t>SCHOOL GARDEN GROWS GIANT PUMPKIN!</a:t>
            </a:r>
          </a:p>
        </p:txBody>
      </p:sp>
      <p:sp>
        <p:nvSpPr>
          <p:cNvPr id="17" name="Rounded Rectangle 16"/>
          <p:cNvSpPr/>
          <p:nvPr/>
        </p:nvSpPr>
        <p:spPr>
          <a:xfrm>
            <a:off x="457200" y="3246120"/>
            <a:ext cx="2697480" cy="19202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401568"/>
            <a:ext cx="2697480" cy="548640"/>
          </a:xfrm>
          <a:prstGeom prst="rect">
            <a:avLst/>
          </a:prstGeom>
          <a:noFill/>
        </p:spPr>
        <p:txBody>
          <a:bodyPr wrap="square">
            <a:spAutoFit/>
          </a:bodyPr>
          <a:lstStyle/>
          <a:p>
            <a:pPr algn="ctr"/>
            <a:r>
              <a:rPr sz="2200" b="0" i="0">
                <a:solidFill>
                  <a:srgbClr val="2A2F36"/>
                </a:solidFill>
                <a:latin typeface="Calibri"/>
              </a:rPr>
              <a:t>📏</a:t>
            </a:r>
          </a:p>
        </p:txBody>
      </p:sp>
      <p:sp>
        <p:nvSpPr>
          <p:cNvPr id="19" name="TextBox 18"/>
          <p:cNvSpPr txBox="1"/>
          <p:nvPr/>
        </p:nvSpPr>
        <p:spPr>
          <a:xfrm>
            <a:off x="548640" y="3977639"/>
            <a:ext cx="2514600" cy="457200"/>
          </a:xfrm>
          <a:prstGeom prst="rect">
            <a:avLst/>
          </a:prstGeom>
          <a:noFill/>
        </p:spPr>
        <p:txBody>
          <a:bodyPr wrap="square">
            <a:spAutoFit/>
          </a:bodyPr>
          <a:lstStyle/>
          <a:p>
            <a:pPr algn="ctr"/>
            <a:r>
              <a:rPr sz="1500" b="1" i="0">
                <a:solidFill>
                  <a:srgbClr val="C8322B"/>
                </a:solidFill>
                <a:latin typeface="Calibri"/>
              </a:rPr>
              <a:t>SHORT</a:t>
            </a:r>
          </a:p>
        </p:txBody>
      </p:sp>
      <p:sp>
        <p:nvSpPr>
          <p:cNvPr id="20" name="TextBox 19"/>
          <p:cNvSpPr txBox="1"/>
          <p:nvPr/>
        </p:nvSpPr>
        <p:spPr>
          <a:xfrm>
            <a:off x="685800" y="4462272"/>
            <a:ext cx="2240280" cy="640080"/>
          </a:xfrm>
          <a:prstGeom prst="rect">
            <a:avLst/>
          </a:prstGeom>
          <a:noFill/>
        </p:spPr>
        <p:txBody>
          <a:bodyPr wrap="square">
            <a:spAutoFit/>
          </a:bodyPr>
          <a:lstStyle/>
          <a:p>
            <a:pPr algn="ctr"/>
            <a:r>
              <a:rPr sz="1100" b="0" i="0">
                <a:solidFill>
                  <a:srgbClr val="2A2F36"/>
                </a:solidFill>
                <a:latin typeface="Calibri"/>
              </a:rPr>
              <a:t>Usually under eight words.</a:t>
            </a:r>
          </a:p>
        </p:txBody>
      </p:sp>
      <p:sp>
        <p:nvSpPr>
          <p:cNvPr id="21" name="Rounded Rectangle 20"/>
          <p:cNvSpPr/>
          <p:nvPr/>
        </p:nvSpPr>
        <p:spPr>
          <a:xfrm>
            <a:off x="3328416" y="3246120"/>
            <a:ext cx="2697480" cy="19202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28416" y="3401568"/>
            <a:ext cx="2697480" cy="548640"/>
          </a:xfrm>
          <a:prstGeom prst="rect">
            <a:avLst/>
          </a:prstGeom>
          <a:noFill/>
        </p:spPr>
        <p:txBody>
          <a:bodyPr wrap="square">
            <a:spAutoFit/>
          </a:bodyPr>
          <a:lstStyle/>
          <a:p>
            <a:pPr algn="ctr"/>
            <a:r>
              <a:rPr sz="2200" b="0" i="0">
                <a:solidFill>
                  <a:srgbClr val="2A2F36"/>
                </a:solidFill>
                <a:latin typeface="Calibri"/>
              </a:rPr>
              <a:t>💡</a:t>
            </a:r>
          </a:p>
        </p:txBody>
      </p:sp>
      <p:sp>
        <p:nvSpPr>
          <p:cNvPr id="23" name="TextBox 22"/>
          <p:cNvSpPr txBox="1"/>
          <p:nvPr/>
        </p:nvSpPr>
        <p:spPr>
          <a:xfrm>
            <a:off x="3419856" y="3977639"/>
            <a:ext cx="2514600" cy="457200"/>
          </a:xfrm>
          <a:prstGeom prst="rect">
            <a:avLst/>
          </a:prstGeom>
          <a:noFill/>
        </p:spPr>
        <p:txBody>
          <a:bodyPr wrap="square">
            <a:spAutoFit/>
          </a:bodyPr>
          <a:lstStyle/>
          <a:p>
            <a:pPr algn="ctr"/>
            <a:r>
              <a:rPr sz="1500" b="1" i="0">
                <a:solidFill>
                  <a:srgbClr val="C8322B"/>
                </a:solidFill>
                <a:latin typeface="Calibri"/>
              </a:rPr>
              <a:t>MAIN IDEA</a:t>
            </a:r>
          </a:p>
        </p:txBody>
      </p:sp>
      <p:sp>
        <p:nvSpPr>
          <p:cNvPr id="24" name="TextBox 23"/>
          <p:cNvSpPr txBox="1"/>
          <p:nvPr/>
        </p:nvSpPr>
        <p:spPr>
          <a:xfrm>
            <a:off x="3557016" y="4462272"/>
            <a:ext cx="2240280" cy="640080"/>
          </a:xfrm>
          <a:prstGeom prst="rect">
            <a:avLst/>
          </a:prstGeom>
          <a:noFill/>
        </p:spPr>
        <p:txBody>
          <a:bodyPr wrap="square">
            <a:spAutoFit/>
          </a:bodyPr>
          <a:lstStyle/>
          <a:p>
            <a:pPr algn="ctr"/>
            <a:r>
              <a:rPr sz="1100" b="0" i="0">
                <a:solidFill>
                  <a:srgbClr val="2A2F36"/>
                </a:solidFill>
                <a:latin typeface="Calibri"/>
              </a:rPr>
              <a:t>It tells you what the story is about.</a:t>
            </a:r>
          </a:p>
        </p:txBody>
      </p:sp>
      <p:sp>
        <p:nvSpPr>
          <p:cNvPr id="25" name="Rounded Rectangle 24"/>
          <p:cNvSpPr/>
          <p:nvPr/>
        </p:nvSpPr>
        <p:spPr>
          <a:xfrm>
            <a:off x="6199632" y="3246120"/>
            <a:ext cx="2697480" cy="19202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9632" y="3401568"/>
            <a:ext cx="2697480" cy="548640"/>
          </a:xfrm>
          <a:prstGeom prst="rect">
            <a:avLst/>
          </a:prstGeom>
          <a:noFill/>
        </p:spPr>
        <p:txBody>
          <a:bodyPr wrap="square">
            <a:spAutoFit/>
          </a:bodyPr>
          <a:lstStyle/>
          <a:p>
            <a:pPr algn="ctr"/>
            <a:r>
              <a:rPr sz="2200" b="0" i="0">
                <a:solidFill>
                  <a:srgbClr val="2A2F36"/>
                </a:solidFill>
                <a:latin typeface="Calibri"/>
              </a:rPr>
              <a:t>🔠</a:t>
            </a:r>
          </a:p>
        </p:txBody>
      </p:sp>
      <p:sp>
        <p:nvSpPr>
          <p:cNvPr id="27" name="TextBox 26"/>
          <p:cNvSpPr txBox="1"/>
          <p:nvPr/>
        </p:nvSpPr>
        <p:spPr>
          <a:xfrm>
            <a:off x="6291072" y="3977639"/>
            <a:ext cx="2514600" cy="457200"/>
          </a:xfrm>
          <a:prstGeom prst="rect">
            <a:avLst/>
          </a:prstGeom>
          <a:noFill/>
        </p:spPr>
        <p:txBody>
          <a:bodyPr wrap="square">
            <a:spAutoFit/>
          </a:bodyPr>
          <a:lstStyle/>
          <a:p>
            <a:pPr algn="ctr"/>
            <a:r>
              <a:rPr sz="1500" b="1" i="0">
                <a:solidFill>
                  <a:srgbClr val="C8322B"/>
                </a:solidFill>
                <a:latin typeface="Calibri"/>
              </a:rPr>
              <a:t>CAPITALS</a:t>
            </a:r>
          </a:p>
        </p:txBody>
      </p:sp>
      <p:sp>
        <p:nvSpPr>
          <p:cNvPr id="28" name="TextBox 27"/>
          <p:cNvSpPr txBox="1"/>
          <p:nvPr/>
        </p:nvSpPr>
        <p:spPr>
          <a:xfrm>
            <a:off x="6428232" y="4462272"/>
            <a:ext cx="2240280" cy="640080"/>
          </a:xfrm>
          <a:prstGeom prst="rect">
            <a:avLst/>
          </a:prstGeom>
          <a:noFill/>
        </p:spPr>
        <p:txBody>
          <a:bodyPr wrap="square">
            <a:spAutoFit/>
          </a:bodyPr>
          <a:lstStyle/>
          <a:p>
            <a:pPr algn="ctr"/>
            <a:r>
              <a:rPr sz="1100" b="0" i="0">
                <a:solidFill>
                  <a:srgbClr val="2A2F36"/>
                </a:solidFill>
                <a:latin typeface="Calibri"/>
              </a:rPr>
              <a:t>Often printed in all capital letters.</a:t>
            </a:r>
          </a:p>
        </p:txBody>
      </p:sp>
      <p:sp>
        <p:nvSpPr>
          <p:cNvPr id="29" name="Rounded Rectangle 28"/>
          <p:cNvSpPr/>
          <p:nvPr/>
        </p:nvSpPr>
        <p:spPr>
          <a:xfrm>
            <a:off x="9070848" y="3246120"/>
            <a:ext cx="2697480" cy="19202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70848" y="3401568"/>
            <a:ext cx="2697480" cy="548640"/>
          </a:xfrm>
          <a:prstGeom prst="rect">
            <a:avLst/>
          </a:prstGeom>
          <a:noFill/>
        </p:spPr>
        <p:txBody>
          <a:bodyPr wrap="square">
            <a:spAutoFit/>
          </a:bodyPr>
          <a:lstStyle/>
          <a:p>
            <a:pPr algn="ctr"/>
            <a:r>
              <a:rPr sz="2200" b="0" i="0">
                <a:solidFill>
                  <a:srgbClr val="2A2F36"/>
                </a:solidFill>
                <a:latin typeface="Calibri"/>
              </a:rPr>
              <a:t>⚡</a:t>
            </a:r>
          </a:p>
        </p:txBody>
      </p:sp>
      <p:sp>
        <p:nvSpPr>
          <p:cNvPr id="31" name="TextBox 30"/>
          <p:cNvSpPr txBox="1"/>
          <p:nvPr/>
        </p:nvSpPr>
        <p:spPr>
          <a:xfrm>
            <a:off x="9162288" y="3977639"/>
            <a:ext cx="2514600" cy="457200"/>
          </a:xfrm>
          <a:prstGeom prst="rect">
            <a:avLst/>
          </a:prstGeom>
          <a:noFill/>
        </p:spPr>
        <p:txBody>
          <a:bodyPr wrap="square">
            <a:spAutoFit/>
          </a:bodyPr>
          <a:lstStyle/>
          <a:p>
            <a:pPr algn="ctr"/>
            <a:r>
              <a:rPr sz="1500" b="1" i="0">
                <a:solidFill>
                  <a:srgbClr val="C8322B"/>
                </a:solidFill>
                <a:latin typeface="Calibri"/>
              </a:rPr>
              <a:t>STRONG VERBS</a:t>
            </a:r>
          </a:p>
        </p:txBody>
      </p:sp>
      <p:sp>
        <p:nvSpPr>
          <p:cNvPr id="32" name="TextBox 31"/>
          <p:cNvSpPr txBox="1"/>
          <p:nvPr/>
        </p:nvSpPr>
        <p:spPr>
          <a:xfrm>
            <a:off x="9299448" y="4462272"/>
            <a:ext cx="2240280" cy="640080"/>
          </a:xfrm>
          <a:prstGeom prst="rect">
            <a:avLst/>
          </a:prstGeom>
          <a:noFill/>
        </p:spPr>
        <p:txBody>
          <a:bodyPr wrap="square">
            <a:spAutoFit/>
          </a:bodyPr>
          <a:lstStyle/>
          <a:p>
            <a:pPr algn="ctr"/>
            <a:r>
              <a:rPr sz="1100" b="0" i="0">
                <a:solidFill>
                  <a:srgbClr val="2A2F36"/>
                </a:solidFill>
                <a:latin typeface="Calibri"/>
              </a:rPr>
              <a:t>GROWS, WINS, STARTS, VISITS.</a:t>
            </a:r>
          </a:p>
        </p:txBody>
      </p:sp>
      <p:sp>
        <p:nvSpPr>
          <p:cNvPr id="33" name="Rounded Rectangle 32"/>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5" name="TextBox 34"/>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Cover the headline and ask what the story is about. Then reveal it.</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READ</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7–17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Four Headlines — What Is Each About?</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399046"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7–17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7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Read each one out loud. Then say the topic in one word.</a:t>
            </a:r>
          </a:p>
        </p:txBody>
      </p:sp>
      <p:sp>
        <p:nvSpPr>
          <p:cNvPr id="15" name="Rounded Rectangle 14"/>
          <p:cNvSpPr/>
          <p:nvPr/>
        </p:nvSpPr>
        <p:spPr>
          <a:xfrm>
            <a:off x="457200" y="1691640"/>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1874520"/>
            <a:ext cx="640080" cy="512064"/>
          </a:xfrm>
          <a:prstGeom prst="rect">
            <a:avLst/>
          </a:prstGeom>
          <a:noFill/>
        </p:spPr>
        <p:txBody>
          <a:bodyPr wrap="square">
            <a:spAutoFit/>
          </a:bodyPr>
          <a:lstStyle/>
          <a:p>
            <a:pPr algn="ctr"/>
            <a:r>
              <a:rPr sz="2200" b="0" i="0">
                <a:solidFill>
                  <a:srgbClr val="2A2F36"/>
                </a:solidFill>
                <a:latin typeface="Calibri"/>
              </a:rPr>
              <a:t>🌻</a:t>
            </a:r>
          </a:p>
        </p:txBody>
      </p:sp>
      <p:sp>
        <p:nvSpPr>
          <p:cNvPr id="17" name="TextBox 16"/>
          <p:cNvSpPr txBox="1"/>
          <p:nvPr/>
        </p:nvSpPr>
        <p:spPr>
          <a:xfrm>
            <a:off x="1645920" y="1892808"/>
            <a:ext cx="6949440" cy="457200"/>
          </a:xfrm>
          <a:prstGeom prst="rect">
            <a:avLst/>
          </a:prstGeom>
          <a:noFill/>
        </p:spPr>
        <p:txBody>
          <a:bodyPr wrap="square">
            <a:spAutoFit/>
          </a:bodyPr>
          <a:lstStyle/>
          <a:p>
            <a:pPr algn="l"/>
            <a:r>
              <a:rPr sz="2000" b="1" i="0">
                <a:solidFill>
                  <a:srgbClr val="111418"/>
                </a:solidFill>
                <a:latin typeface="Georgia"/>
              </a:rPr>
              <a:t>CLASS PLANTS A SCHOOL GARDEN</a:t>
            </a:r>
          </a:p>
        </p:txBody>
      </p:sp>
      <p:sp>
        <p:nvSpPr>
          <p:cNvPr id="18" name="Rounded Rectangle 17"/>
          <p:cNvSpPr/>
          <p:nvPr/>
        </p:nvSpPr>
        <p:spPr>
          <a:xfrm>
            <a:off x="8778240" y="1911096"/>
            <a:ext cx="2651760" cy="4572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0" y="1993392"/>
            <a:ext cx="2651760" cy="329184"/>
          </a:xfrm>
          <a:prstGeom prst="rect">
            <a:avLst/>
          </a:prstGeom>
          <a:noFill/>
        </p:spPr>
        <p:txBody>
          <a:bodyPr wrap="square">
            <a:spAutoFit/>
          </a:bodyPr>
          <a:lstStyle/>
          <a:p>
            <a:pPr algn="ctr"/>
            <a:r>
              <a:rPr sz="1200" b="1" i="0">
                <a:solidFill>
                  <a:srgbClr val="C8322B"/>
                </a:solidFill>
                <a:latin typeface="Calibri"/>
              </a:rPr>
              <a:t>topic: planting</a:t>
            </a:r>
          </a:p>
        </p:txBody>
      </p:sp>
      <p:sp>
        <p:nvSpPr>
          <p:cNvPr id="20" name="Rounded Rectangle 19"/>
          <p:cNvSpPr/>
          <p:nvPr/>
        </p:nvSpPr>
        <p:spPr>
          <a:xfrm>
            <a:off x="457200" y="2715768"/>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898648"/>
            <a:ext cx="640080" cy="512064"/>
          </a:xfrm>
          <a:prstGeom prst="rect">
            <a:avLst/>
          </a:prstGeom>
          <a:noFill/>
        </p:spPr>
        <p:txBody>
          <a:bodyPr wrap="square">
            <a:spAutoFit/>
          </a:bodyPr>
          <a:lstStyle/>
          <a:p>
            <a:pPr algn="ctr"/>
            <a:r>
              <a:rPr sz="2200" b="0" i="0">
                <a:solidFill>
                  <a:srgbClr val="2A2F36"/>
                </a:solidFill>
                <a:latin typeface="Calibri"/>
              </a:rPr>
              <a:t>🐶</a:t>
            </a:r>
          </a:p>
        </p:txBody>
      </p:sp>
      <p:sp>
        <p:nvSpPr>
          <p:cNvPr id="22" name="TextBox 21"/>
          <p:cNvSpPr txBox="1"/>
          <p:nvPr/>
        </p:nvSpPr>
        <p:spPr>
          <a:xfrm>
            <a:off x="1645920" y="2916936"/>
            <a:ext cx="6949440" cy="457200"/>
          </a:xfrm>
          <a:prstGeom prst="rect">
            <a:avLst/>
          </a:prstGeom>
          <a:noFill/>
        </p:spPr>
        <p:txBody>
          <a:bodyPr wrap="square">
            <a:spAutoFit/>
          </a:bodyPr>
          <a:lstStyle/>
          <a:p>
            <a:pPr algn="l"/>
            <a:r>
              <a:rPr sz="2000" b="1" i="0">
                <a:solidFill>
                  <a:srgbClr val="111418"/>
                </a:solidFill>
                <a:latin typeface="Georgia"/>
              </a:rPr>
              <a:t>MYSTERY PUPPY VISITS SCHOOL</a:t>
            </a:r>
          </a:p>
        </p:txBody>
      </p:sp>
      <p:sp>
        <p:nvSpPr>
          <p:cNvPr id="23" name="Rounded Rectangle 22"/>
          <p:cNvSpPr/>
          <p:nvPr/>
        </p:nvSpPr>
        <p:spPr>
          <a:xfrm>
            <a:off x="8778240" y="2935224"/>
            <a:ext cx="2651760" cy="4572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0" y="3017520"/>
            <a:ext cx="2651760" cy="329184"/>
          </a:xfrm>
          <a:prstGeom prst="rect">
            <a:avLst/>
          </a:prstGeom>
          <a:noFill/>
        </p:spPr>
        <p:txBody>
          <a:bodyPr wrap="square">
            <a:spAutoFit/>
          </a:bodyPr>
          <a:lstStyle/>
          <a:p>
            <a:pPr algn="ctr"/>
            <a:r>
              <a:rPr sz="1200" b="1" i="0">
                <a:solidFill>
                  <a:srgbClr val="C8322B"/>
                </a:solidFill>
                <a:latin typeface="Calibri"/>
              </a:rPr>
              <a:t>topic: a visitor</a:t>
            </a:r>
          </a:p>
        </p:txBody>
      </p:sp>
      <p:sp>
        <p:nvSpPr>
          <p:cNvPr id="25" name="Rounded Rectangle 24"/>
          <p:cNvSpPr/>
          <p:nvPr/>
        </p:nvSpPr>
        <p:spPr>
          <a:xfrm>
            <a:off x="457200" y="3739896"/>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922776"/>
            <a:ext cx="640080" cy="512064"/>
          </a:xfrm>
          <a:prstGeom prst="rect">
            <a:avLst/>
          </a:prstGeom>
          <a:noFill/>
        </p:spPr>
        <p:txBody>
          <a:bodyPr wrap="square">
            <a:spAutoFit/>
          </a:bodyPr>
          <a:lstStyle/>
          <a:p>
            <a:pPr algn="ctr"/>
            <a:r>
              <a:rPr sz="2200" b="0" i="0">
                <a:solidFill>
                  <a:srgbClr val="2A2F36"/>
                </a:solidFill>
                <a:latin typeface="Calibri"/>
              </a:rPr>
              <a:t>🏅</a:t>
            </a:r>
          </a:p>
        </p:txBody>
      </p:sp>
      <p:sp>
        <p:nvSpPr>
          <p:cNvPr id="27" name="TextBox 26"/>
          <p:cNvSpPr txBox="1"/>
          <p:nvPr/>
        </p:nvSpPr>
        <p:spPr>
          <a:xfrm>
            <a:off x="1645920" y="3941064"/>
            <a:ext cx="6949440" cy="457200"/>
          </a:xfrm>
          <a:prstGeom prst="rect">
            <a:avLst/>
          </a:prstGeom>
          <a:noFill/>
        </p:spPr>
        <p:txBody>
          <a:bodyPr wrap="square">
            <a:spAutoFit/>
          </a:bodyPr>
          <a:lstStyle/>
          <a:p>
            <a:pPr algn="l"/>
            <a:r>
              <a:rPr sz="2000" b="1" i="0">
                <a:solidFill>
                  <a:srgbClr val="111418"/>
                </a:solidFill>
                <a:latin typeface="Georgia"/>
              </a:rPr>
              <a:t>STUDENTS WIN SCIENCE FAIR</a:t>
            </a:r>
          </a:p>
        </p:txBody>
      </p:sp>
      <p:sp>
        <p:nvSpPr>
          <p:cNvPr id="28" name="Rounded Rectangle 27"/>
          <p:cNvSpPr/>
          <p:nvPr/>
        </p:nvSpPr>
        <p:spPr>
          <a:xfrm>
            <a:off x="8778240" y="3959352"/>
            <a:ext cx="2651760" cy="4572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0" y="4041648"/>
            <a:ext cx="2651760" cy="329184"/>
          </a:xfrm>
          <a:prstGeom prst="rect">
            <a:avLst/>
          </a:prstGeom>
          <a:noFill/>
        </p:spPr>
        <p:txBody>
          <a:bodyPr wrap="square">
            <a:spAutoFit/>
          </a:bodyPr>
          <a:lstStyle/>
          <a:p>
            <a:pPr algn="ctr"/>
            <a:r>
              <a:rPr sz="1200" b="1" i="0">
                <a:solidFill>
                  <a:srgbClr val="C8322B"/>
                </a:solidFill>
                <a:latin typeface="Calibri"/>
              </a:rPr>
              <a:t>topic: winning</a:t>
            </a:r>
          </a:p>
        </p:txBody>
      </p:sp>
      <p:sp>
        <p:nvSpPr>
          <p:cNvPr id="30" name="Rounded Rectangle 29"/>
          <p:cNvSpPr/>
          <p:nvPr/>
        </p:nvSpPr>
        <p:spPr>
          <a:xfrm>
            <a:off x="457200" y="4764024"/>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946904"/>
            <a:ext cx="640080" cy="512064"/>
          </a:xfrm>
          <a:prstGeom prst="rect">
            <a:avLst/>
          </a:prstGeom>
          <a:noFill/>
        </p:spPr>
        <p:txBody>
          <a:bodyPr wrap="square">
            <a:spAutoFit/>
          </a:bodyPr>
          <a:lstStyle/>
          <a:p>
            <a:pPr algn="ctr"/>
            <a:r>
              <a:rPr sz="2200" b="0" i="0">
                <a:solidFill>
                  <a:srgbClr val="2A2F36"/>
                </a:solidFill>
                <a:latin typeface="Calibri"/>
              </a:rPr>
              <a:t>📚</a:t>
            </a:r>
          </a:p>
        </p:txBody>
      </p:sp>
      <p:sp>
        <p:nvSpPr>
          <p:cNvPr id="32" name="TextBox 31"/>
          <p:cNvSpPr txBox="1"/>
          <p:nvPr/>
        </p:nvSpPr>
        <p:spPr>
          <a:xfrm>
            <a:off x="1645920" y="4965192"/>
            <a:ext cx="6949440" cy="457200"/>
          </a:xfrm>
          <a:prstGeom prst="rect">
            <a:avLst/>
          </a:prstGeom>
          <a:noFill/>
        </p:spPr>
        <p:txBody>
          <a:bodyPr wrap="square">
            <a:spAutoFit/>
          </a:bodyPr>
          <a:lstStyle/>
          <a:p>
            <a:pPr algn="l"/>
            <a:r>
              <a:rPr sz="2000" b="1" i="0">
                <a:solidFill>
                  <a:srgbClr val="111418"/>
                </a:solidFill>
                <a:latin typeface="Georgia"/>
              </a:rPr>
              <a:t>NEW BOOK CLUB STARTS</a:t>
            </a:r>
          </a:p>
        </p:txBody>
      </p:sp>
      <p:sp>
        <p:nvSpPr>
          <p:cNvPr id="33" name="Rounded Rectangle 32"/>
          <p:cNvSpPr/>
          <p:nvPr/>
        </p:nvSpPr>
        <p:spPr>
          <a:xfrm>
            <a:off x="8778240" y="4983480"/>
            <a:ext cx="2651760" cy="4572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0" y="5065776"/>
            <a:ext cx="2651760" cy="329184"/>
          </a:xfrm>
          <a:prstGeom prst="rect">
            <a:avLst/>
          </a:prstGeom>
          <a:noFill/>
        </p:spPr>
        <p:txBody>
          <a:bodyPr wrap="square">
            <a:spAutoFit/>
          </a:bodyPr>
          <a:lstStyle/>
          <a:p>
            <a:pPr algn="ctr"/>
            <a:r>
              <a:rPr sz="1200" b="1" i="0">
                <a:solidFill>
                  <a:srgbClr val="C8322B"/>
                </a:solidFill>
                <a:latin typeface="Calibri"/>
              </a:rPr>
              <a:t>topic: starting something</a:t>
            </a:r>
          </a:p>
        </p:txBody>
      </p:sp>
      <p:sp>
        <p:nvSpPr>
          <p:cNvPr id="35" name="Rounded Rectangle 34"/>
          <p:cNvSpPr/>
          <p:nvPr/>
        </p:nvSpPr>
        <p:spPr>
          <a:xfrm>
            <a:off x="457200" y="5852160"/>
            <a:ext cx="11292840" cy="4572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925312"/>
            <a:ext cx="10698480" cy="329184"/>
          </a:xfrm>
          <a:prstGeom prst="rect">
            <a:avLst/>
          </a:prstGeom>
          <a:noFill/>
        </p:spPr>
        <p:txBody>
          <a:bodyPr wrap="square">
            <a:spAutoFit/>
          </a:bodyPr>
          <a:lstStyle/>
          <a:p>
            <a:pPr algn="l"/>
            <a:r>
              <a:rPr sz="1300" b="1" i="0">
                <a:solidFill>
                  <a:srgbClr val="78828E"/>
                </a:solidFill>
                <a:latin typeface="Calibri"/>
              </a:rPr>
              <a:t>Cover the topic box first. Let her name the topic before she sees it.</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7–17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Game: Headline Match</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598910"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7–17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8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Which headline belongs to this picture?</a:t>
            </a:r>
          </a:p>
        </p:txBody>
      </p:sp>
      <p:sp>
        <p:nvSpPr>
          <p:cNvPr id="15" name="Rounded Rectangle 14"/>
          <p:cNvSpPr/>
          <p:nvPr/>
        </p:nvSpPr>
        <p:spPr>
          <a:xfrm>
            <a:off x="457200" y="16916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0848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39696"/>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30632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34564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11296"/>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457200" y="44348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48280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882896"/>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24" name="TextBox 23"/>
          <p:cNvSpPr txBox="1"/>
          <p:nvPr/>
        </p:nvSpPr>
        <p:spPr>
          <a:xfrm>
            <a:off x="1325880" y="1965960"/>
            <a:ext cx="1005840" cy="685800"/>
          </a:xfrm>
          <a:prstGeom prst="rect">
            <a:avLst/>
          </a:prstGeom>
          <a:noFill/>
        </p:spPr>
        <p:txBody>
          <a:bodyPr wrap="square">
            <a:spAutoFit/>
          </a:bodyPr>
          <a:lstStyle/>
          <a:p>
            <a:pPr algn="ctr"/>
            <a:r>
              <a:rPr sz="3200" b="0" i="0">
                <a:solidFill>
                  <a:srgbClr val="2A2F36"/>
                </a:solidFill>
                <a:latin typeface="Calibri"/>
              </a:rPr>
              <a:t>🌻</a:t>
            </a:r>
          </a:p>
        </p:txBody>
      </p:sp>
      <p:sp>
        <p:nvSpPr>
          <p:cNvPr id="25" name="Rounded Rectangle 24"/>
          <p:cNvSpPr/>
          <p:nvPr/>
        </p:nvSpPr>
        <p:spPr>
          <a:xfrm>
            <a:off x="2606040" y="1819656"/>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1837944"/>
            <a:ext cx="8503920" cy="256032"/>
          </a:xfrm>
          <a:prstGeom prst="rect">
            <a:avLst/>
          </a:prstGeom>
          <a:noFill/>
        </p:spPr>
        <p:txBody>
          <a:bodyPr wrap="square">
            <a:spAutoFit/>
          </a:bodyPr>
          <a:lstStyle/>
          <a:p>
            <a:pPr algn="l"/>
            <a:r>
              <a:rPr sz="1300" b="1" i="0">
                <a:solidFill>
                  <a:srgbClr val="111418"/>
                </a:solidFill>
                <a:latin typeface="Calibri"/>
              </a:rPr>
              <a:t>STUDENTS WIN SCIENCE FAIR</a:t>
            </a:r>
          </a:p>
        </p:txBody>
      </p:sp>
      <p:sp>
        <p:nvSpPr>
          <p:cNvPr id="27" name="Rounded Rectangle 26"/>
          <p:cNvSpPr/>
          <p:nvPr/>
        </p:nvSpPr>
        <p:spPr>
          <a:xfrm>
            <a:off x="2606040" y="2157984"/>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34640" y="2176272"/>
            <a:ext cx="8503920" cy="256032"/>
          </a:xfrm>
          <a:prstGeom prst="rect">
            <a:avLst/>
          </a:prstGeom>
          <a:noFill/>
        </p:spPr>
        <p:txBody>
          <a:bodyPr wrap="square">
            <a:spAutoFit/>
          </a:bodyPr>
          <a:lstStyle/>
          <a:p>
            <a:pPr algn="l"/>
            <a:r>
              <a:rPr sz="1300" b="1" i="0">
                <a:solidFill>
                  <a:srgbClr val="111418"/>
                </a:solidFill>
                <a:latin typeface="Calibri"/>
              </a:rPr>
              <a:t>CLASS PLANTS A SCHOOL GARDEN</a:t>
            </a:r>
          </a:p>
        </p:txBody>
      </p:sp>
      <p:sp>
        <p:nvSpPr>
          <p:cNvPr id="29" name="Rounded Rectangle 28"/>
          <p:cNvSpPr/>
          <p:nvPr/>
        </p:nvSpPr>
        <p:spPr>
          <a:xfrm>
            <a:off x="2606040" y="2496312"/>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34640" y="2514600"/>
            <a:ext cx="8503920" cy="256032"/>
          </a:xfrm>
          <a:prstGeom prst="rect">
            <a:avLst/>
          </a:prstGeom>
          <a:noFill/>
        </p:spPr>
        <p:txBody>
          <a:bodyPr wrap="square">
            <a:spAutoFit/>
          </a:bodyPr>
          <a:lstStyle/>
          <a:p>
            <a:pPr algn="l"/>
            <a:r>
              <a:rPr sz="1300" b="1" i="0">
                <a:solidFill>
                  <a:srgbClr val="111418"/>
                </a:solidFill>
                <a:latin typeface="Calibri"/>
              </a:rPr>
              <a:t>NEW BOOK CLUB STARTS</a:t>
            </a:r>
          </a:p>
        </p:txBody>
      </p:sp>
      <p:sp>
        <p:nvSpPr>
          <p:cNvPr id="31" name="TextBox 30"/>
          <p:cNvSpPr txBox="1"/>
          <p:nvPr/>
        </p:nvSpPr>
        <p:spPr>
          <a:xfrm>
            <a:off x="1325880" y="3337560"/>
            <a:ext cx="1005840" cy="685800"/>
          </a:xfrm>
          <a:prstGeom prst="rect">
            <a:avLst/>
          </a:prstGeom>
          <a:noFill/>
        </p:spPr>
        <p:txBody>
          <a:bodyPr wrap="square">
            <a:spAutoFit/>
          </a:bodyPr>
          <a:lstStyle/>
          <a:p>
            <a:pPr algn="ctr"/>
            <a:r>
              <a:rPr sz="3200" b="0" i="0">
                <a:solidFill>
                  <a:srgbClr val="2A2F36"/>
                </a:solidFill>
                <a:latin typeface="Calibri"/>
              </a:rPr>
              <a:t>🐶</a:t>
            </a:r>
          </a:p>
        </p:txBody>
      </p:sp>
      <p:sp>
        <p:nvSpPr>
          <p:cNvPr id="32" name="Rounded Rectangle 31"/>
          <p:cNvSpPr/>
          <p:nvPr/>
        </p:nvSpPr>
        <p:spPr>
          <a:xfrm>
            <a:off x="2606040" y="3191256"/>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3209544"/>
            <a:ext cx="8503920" cy="256032"/>
          </a:xfrm>
          <a:prstGeom prst="rect">
            <a:avLst/>
          </a:prstGeom>
          <a:noFill/>
        </p:spPr>
        <p:txBody>
          <a:bodyPr wrap="square">
            <a:spAutoFit/>
          </a:bodyPr>
          <a:lstStyle/>
          <a:p>
            <a:pPr algn="l"/>
            <a:r>
              <a:rPr sz="1300" b="1" i="0">
                <a:solidFill>
                  <a:srgbClr val="111418"/>
                </a:solidFill>
                <a:latin typeface="Calibri"/>
              </a:rPr>
              <a:t>MYSTERY PUPPY VISITS SCHOOL</a:t>
            </a:r>
          </a:p>
        </p:txBody>
      </p:sp>
      <p:sp>
        <p:nvSpPr>
          <p:cNvPr id="34" name="Rounded Rectangle 33"/>
          <p:cNvSpPr/>
          <p:nvPr/>
        </p:nvSpPr>
        <p:spPr>
          <a:xfrm>
            <a:off x="2606040" y="3529584"/>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34640" y="3547872"/>
            <a:ext cx="8503920" cy="256032"/>
          </a:xfrm>
          <a:prstGeom prst="rect">
            <a:avLst/>
          </a:prstGeom>
          <a:noFill/>
        </p:spPr>
        <p:txBody>
          <a:bodyPr wrap="square">
            <a:spAutoFit/>
          </a:bodyPr>
          <a:lstStyle/>
          <a:p>
            <a:pPr algn="l"/>
            <a:r>
              <a:rPr sz="1300" b="1" i="0">
                <a:solidFill>
                  <a:srgbClr val="111418"/>
                </a:solidFill>
                <a:latin typeface="Calibri"/>
              </a:rPr>
              <a:t>PIZZA RETURNS TO THE MENU</a:t>
            </a:r>
          </a:p>
        </p:txBody>
      </p:sp>
      <p:sp>
        <p:nvSpPr>
          <p:cNvPr id="36" name="Rounded Rectangle 35"/>
          <p:cNvSpPr/>
          <p:nvPr/>
        </p:nvSpPr>
        <p:spPr>
          <a:xfrm>
            <a:off x="2606040" y="3867912"/>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0" y="3886200"/>
            <a:ext cx="8503920" cy="256032"/>
          </a:xfrm>
          <a:prstGeom prst="rect">
            <a:avLst/>
          </a:prstGeom>
          <a:noFill/>
        </p:spPr>
        <p:txBody>
          <a:bodyPr wrap="square">
            <a:spAutoFit/>
          </a:bodyPr>
          <a:lstStyle/>
          <a:p>
            <a:pPr algn="l"/>
            <a:r>
              <a:rPr sz="1300" b="1" i="0">
                <a:solidFill>
                  <a:srgbClr val="111418"/>
                </a:solidFill>
                <a:latin typeface="Calibri"/>
              </a:rPr>
              <a:t>ART SHOW FILLS THE HALL</a:t>
            </a:r>
          </a:p>
        </p:txBody>
      </p:sp>
      <p:sp>
        <p:nvSpPr>
          <p:cNvPr id="38" name="TextBox 37"/>
          <p:cNvSpPr txBox="1"/>
          <p:nvPr/>
        </p:nvSpPr>
        <p:spPr>
          <a:xfrm>
            <a:off x="1325880" y="4709160"/>
            <a:ext cx="1005840" cy="685800"/>
          </a:xfrm>
          <a:prstGeom prst="rect">
            <a:avLst/>
          </a:prstGeom>
          <a:noFill/>
        </p:spPr>
        <p:txBody>
          <a:bodyPr wrap="square">
            <a:spAutoFit/>
          </a:bodyPr>
          <a:lstStyle/>
          <a:p>
            <a:pPr algn="ctr"/>
            <a:r>
              <a:rPr sz="3200" b="0" i="0">
                <a:solidFill>
                  <a:srgbClr val="2A2F36"/>
                </a:solidFill>
                <a:latin typeface="Calibri"/>
              </a:rPr>
              <a:t>🏅</a:t>
            </a:r>
          </a:p>
        </p:txBody>
      </p:sp>
      <p:sp>
        <p:nvSpPr>
          <p:cNvPr id="39" name="Rounded Rectangle 38"/>
          <p:cNvSpPr/>
          <p:nvPr/>
        </p:nvSpPr>
        <p:spPr>
          <a:xfrm>
            <a:off x="2606040" y="4562856"/>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34640" y="4581144"/>
            <a:ext cx="8503920" cy="256032"/>
          </a:xfrm>
          <a:prstGeom prst="rect">
            <a:avLst/>
          </a:prstGeom>
          <a:noFill/>
        </p:spPr>
        <p:txBody>
          <a:bodyPr wrap="square">
            <a:spAutoFit/>
          </a:bodyPr>
          <a:lstStyle/>
          <a:p>
            <a:pPr algn="l"/>
            <a:r>
              <a:rPr sz="1300" b="1" i="0">
                <a:solidFill>
                  <a:srgbClr val="111418"/>
                </a:solidFill>
                <a:latin typeface="Calibri"/>
              </a:rPr>
              <a:t>NEW BOOK CLUB STARTS</a:t>
            </a:r>
          </a:p>
        </p:txBody>
      </p:sp>
      <p:sp>
        <p:nvSpPr>
          <p:cNvPr id="41" name="Rounded Rectangle 40"/>
          <p:cNvSpPr/>
          <p:nvPr/>
        </p:nvSpPr>
        <p:spPr>
          <a:xfrm>
            <a:off x="2606040" y="4901184"/>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34640" y="4919472"/>
            <a:ext cx="8503920" cy="256032"/>
          </a:xfrm>
          <a:prstGeom prst="rect">
            <a:avLst/>
          </a:prstGeom>
          <a:noFill/>
        </p:spPr>
        <p:txBody>
          <a:bodyPr wrap="square">
            <a:spAutoFit/>
          </a:bodyPr>
          <a:lstStyle/>
          <a:p>
            <a:pPr algn="l"/>
            <a:r>
              <a:rPr sz="1300" b="1" i="0">
                <a:solidFill>
                  <a:srgbClr val="111418"/>
                </a:solidFill>
                <a:latin typeface="Calibri"/>
              </a:rPr>
              <a:t>ART SHOW FILLS THE HALL</a:t>
            </a:r>
          </a:p>
        </p:txBody>
      </p:sp>
      <p:sp>
        <p:nvSpPr>
          <p:cNvPr id="43" name="Rounded Rectangle 42"/>
          <p:cNvSpPr/>
          <p:nvPr/>
        </p:nvSpPr>
        <p:spPr>
          <a:xfrm>
            <a:off x="2606040" y="5239512"/>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34640" y="5257800"/>
            <a:ext cx="8503920" cy="256032"/>
          </a:xfrm>
          <a:prstGeom prst="rect">
            <a:avLst/>
          </a:prstGeom>
          <a:noFill/>
        </p:spPr>
        <p:txBody>
          <a:bodyPr wrap="square">
            <a:spAutoFit/>
          </a:bodyPr>
          <a:lstStyle/>
          <a:p>
            <a:pPr algn="l"/>
            <a:r>
              <a:rPr sz="1300" b="1" i="0">
                <a:solidFill>
                  <a:srgbClr val="111418"/>
                </a:solidFill>
                <a:latin typeface="Calibri"/>
              </a:rPr>
              <a:t>STUDENTS WIN SCIENCE FAIR</a:t>
            </a:r>
          </a:p>
        </p:txBody>
      </p:sp>
      <p:sp>
        <p:nvSpPr>
          <p:cNvPr id="45" name="Rounded Rectangle 44"/>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7" name="TextBox 46"/>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Find one word in the headline that matches the picture.</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7–17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Headline Match — Rounds 4 to 6</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798774"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7–17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9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Three more. Each time, tell me which word helped you.</a:t>
            </a:r>
          </a:p>
        </p:txBody>
      </p:sp>
      <p:sp>
        <p:nvSpPr>
          <p:cNvPr id="15" name="Rounded Rectangle 14"/>
          <p:cNvSpPr/>
          <p:nvPr/>
        </p:nvSpPr>
        <p:spPr>
          <a:xfrm>
            <a:off x="457200" y="16916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0848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39696"/>
            <a:ext cx="438912" cy="347472"/>
          </a:xfrm>
          <a:prstGeom prst="rect">
            <a:avLst/>
          </a:prstGeom>
          <a:noFill/>
        </p:spPr>
        <p:txBody>
          <a:bodyPr wrap="square">
            <a:spAutoFit/>
          </a:bodyPr>
          <a:lstStyle/>
          <a:p>
            <a:pPr algn="ctr"/>
            <a:r>
              <a:rPr sz="1200" b="1" i="0">
                <a:solidFill>
                  <a:srgbClr val="FFFFFF"/>
                </a:solidFill>
                <a:latin typeface="Calibri"/>
              </a:rPr>
              <a:t>4</a:t>
            </a:r>
          </a:p>
        </p:txBody>
      </p:sp>
      <p:sp>
        <p:nvSpPr>
          <p:cNvPr id="18" name="Rounded Rectangle 17"/>
          <p:cNvSpPr/>
          <p:nvPr/>
        </p:nvSpPr>
        <p:spPr>
          <a:xfrm>
            <a:off x="457200" y="30632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34564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11296"/>
            <a:ext cx="438912" cy="347472"/>
          </a:xfrm>
          <a:prstGeom prst="rect">
            <a:avLst/>
          </a:prstGeom>
          <a:noFill/>
        </p:spPr>
        <p:txBody>
          <a:bodyPr wrap="square">
            <a:spAutoFit/>
          </a:bodyPr>
          <a:lstStyle/>
          <a:p>
            <a:pPr algn="ctr"/>
            <a:r>
              <a:rPr sz="1200" b="1" i="0">
                <a:solidFill>
                  <a:srgbClr val="FFFFFF"/>
                </a:solidFill>
                <a:latin typeface="Calibri"/>
              </a:rPr>
              <a:t>5</a:t>
            </a:r>
          </a:p>
        </p:txBody>
      </p:sp>
      <p:sp>
        <p:nvSpPr>
          <p:cNvPr id="21" name="Rounded Rectangle 20"/>
          <p:cNvSpPr/>
          <p:nvPr/>
        </p:nvSpPr>
        <p:spPr>
          <a:xfrm>
            <a:off x="457200" y="44348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48280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882896"/>
            <a:ext cx="438912" cy="347472"/>
          </a:xfrm>
          <a:prstGeom prst="rect">
            <a:avLst/>
          </a:prstGeom>
          <a:noFill/>
        </p:spPr>
        <p:txBody>
          <a:bodyPr wrap="square">
            <a:spAutoFit/>
          </a:bodyPr>
          <a:lstStyle/>
          <a:p>
            <a:pPr algn="ctr"/>
            <a:r>
              <a:rPr sz="1200" b="1" i="0">
                <a:solidFill>
                  <a:srgbClr val="FFFFFF"/>
                </a:solidFill>
                <a:latin typeface="Calibri"/>
              </a:rPr>
              <a:t>6</a:t>
            </a:r>
          </a:p>
        </p:txBody>
      </p:sp>
      <p:sp>
        <p:nvSpPr>
          <p:cNvPr id="24" name="TextBox 23"/>
          <p:cNvSpPr txBox="1"/>
          <p:nvPr/>
        </p:nvSpPr>
        <p:spPr>
          <a:xfrm>
            <a:off x="1325880" y="1965960"/>
            <a:ext cx="1005840" cy="685800"/>
          </a:xfrm>
          <a:prstGeom prst="rect">
            <a:avLst/>
          </a:prstGeom>
          <a:noFill/>
        </p:spPr>
        <p:txBody>
          <a:bodyPr wrap="square">
            <a:spAutoFit/>
          </a:bodyPr>
          <a:lstStyle/>
          <a:p>
            <a:pPr algn="ctr"/>
            <a:r>
              <a:rPr sz="3200" b="0" i="0">
                <a:solidFill>
                  <a:srgbClr val="2A2F36"/>
                </a:solidFill>
                <a:latin typeface="Calibri"/>
              </a:rPr>
              <a:t>📚</a:t>
            </a:r>
          </a:p>
        </p:txBody>
      </p:sp>
      <p:sp>
        <p:nvSpPr>
          <p:cNvPr id="25" name="Rounded Rectangle 24"/>
          <p:cNvSpPr/>
          <p:nvPr/>
        </p:nvSpPr>
        <p:spPr>
          <a:xfrm>
            <a:off x="2606040" y="1819656"/>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1837944"/>
            <a:ext cx="8503920" cy="256032"/>
          </a:xfrm>
          <a:prstGeom prst="rect">
            <a:avLst/>
          </a:prstGeom>
          <a:noFill/>
        </p:spPr>
        <p:txBody>
          <a:bodyPr wrap="square">
            <a:spAutoFit/>
          </a:bodyPr>
          <a:lstStyle/>
          <a:p>
            <a:pPr algn="l"/>
            <a:r>
              <a:rPr sz="1300" b="1" i="0">
                <a:solidFill>
                  <a:srgbClr val="111418"/>
                </a:solidFill>
                <a:latin typeface="Calibri"/>
              </a:rPr>
              <a:t>NEW BOOK CLUB STARTS</a:t>
            </a:r>
          </a:p>
        </p:txBody>
      </p:sp>
      <p:sp>
        <p:nvSpPr>
          <p:cNvPr id="27" name="Rounded Rectangle 26"/>
          <p:cNvSpPr/>
          <p:nvPr/>
        </p:nvSpPr>
        <p:spPr>
          <a:xfrm>
            <a:off x="2606040" y="2157984"/>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34640" y="2176272"/>
            <a:ext cx="8503920" cy="256032"/>
          </a:xfrm>
          <a:prstGeom prst="rect">
            <a:avLst/>
          </a:prstGeom>
          <a:noFill/>
        </p:spPr>
        <p:txBody>
          <a:bodyPr wrap="square">
            <a:spAutoFit/>
          </a:bodyPr>
          <a:lstStyle/>
          <a:p>
            <a:pPr algn="l"/>
            <a:r>
              <a:rPr sz="1300" b="1" i="0">
                <a:solidFill>
                  <a:srgbClr val="111418"/>
                </a:solidFill>
                <a:latin typeface="Calibri"/>
              </a:rPr>
              <a:t>STUDENTS WIN SCIENCE FAIR</a:t>
            </a:r>
          </a:p>
        </p:txBody>
      </p:sp>
      <p:sp>
        <p:nvSpPr>
          <p:cNvPr id="29" name="Rounded Rectangle 28"/>
          <p:cNvSpPr/>
          <p:nvPr/>
        </p:nvSpPr>
        <p:spPr>
          <a:xfrm>
            <a:off x="2606040" y="2496312"/>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34640" y="2514600"/>
            <a:ext cx="8503920" cy="256032"/>
          </a:xfrm>
          <a:prstGeom prst="rect">
            <a:avLst/>
          </a:prstGeom>
          <a:noFill/>
        </p:spPr>
        <p:txBody>
          <a:bodyPr wrap="square">
            <a:spAutoFit/>
          </a:bodyPr>
          <a:lstStyle/>
          <a:p>
            <a:pPr algn="l"/>
            <a:r>
              <a:rPr sz="1300" b="1" i="0">
                <a:solidFill>
                  <a:srgbClr val="111418"/>
                </a:solidFill>
                <a:latin typeface="Calibri"/>
              </a:rPr>
              <a:t>MYSTERY PUPPY VISITS SCHOOL</a:t>
            </a:r>
          </a:p>
        </p:txBody>
      </p:sp>
      <p:sp>
        <p:nvSpPr>
          <p:cNvPr id="31" name="TextBox 30"/>
          <p:cNvSpPr txBox="1"/>
          <p:nvPr/>
        </p:nvSpPr>
        <p:spPr>
          <a:xfrm>
            <a:off x="1325880" y="3337560"/>
            <a:ext cx="1005840" cy="685800"/>
          </a:xfrm>
          <a:prstGeom prst="rect">
            <a:avLst/>
          </a:prstGeom>
          <a:noFill/>
        </p:spPr>
        <p:txBody>
          <a:bodyPr wrap="square">
            <a:spAutoFit/>
          </a:bodyPr>
          <a:lstStyle/>
          <a:p>
            <a:pPr algn="ctr"/>
            <a:r>
              <a:rPr sz="3200" b="0" i="0">
                <a:solidFill>
                  <a:srgbClr val="2A2F36"/>
                </a:solidFill>
                <a:latin typeface="Calibri"/>
              </a:rPr>
              <a:t>🍕</a:t>
            </a:r>
          </a:p>
        </p:txBody>
      </p:sp>
      <p:sp>
        <p:nvSpPr>
          <p:cNvPr id="32" name="Rounded Rectangle 31"/>
          <p:cNvSpPr/>
          <p:nvPr/>
        </p:nvSpPr>
        <p:spPr>
          <a:xfrm>
            <a:off x="2606040" y="3191256"/>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3209544"/>
            <a:ext cx="8503920" cy="256032"/>
          </a:xfrm>
          <a:prstGeom prst="rect">
            <a:avLst/>
          </a:prstGeom>
          <a:noFill/>
        </p:spPr>
        <p:txBody>
          <a:bodyPr wrap="square">
            <a:spAutoFit/>
          </a:bodyPr>
          <a:lstStyle/>
          <a:p>
            <a:pPr algn="l"/>
            <a:r>
              <a:rPr sz="1300" b="1" i="0">
                <a:solidFill>
                  <a:srgbClr val="111418"/>
                </a:solidFill>
                <a:latin typeface="Calibri"/>
              </a:rPr>
              <a:t>CLASS PLANTS A SCHOOL GARDEN</a:t>
            </a:r>
          </a:p>
        </p:txBody>
      </p:sp>
      <p:sp>
        <p:nvSpPr>
          <p:cNvPr id="34" name="Rounded Rectangle 33"/>
          <p:cNvSpPr/>
          <p:nvPr/>
        </p:nvSpPr>
        <p:spPr>
          <a:xfrm>
            <a:off x="2606040" y="3529584"/>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34640" y="3547872"/>
            <a:ext cx="8503920" cy="256032"/>
          </a:xfrm>
          <a:prstGeom prst="rect">
            <a:avLst/>
          </a:prstGeom>
          <a:noFill/>
        </p:spPr>
        <p:txBody>
          <a:bodyPr wrap="square">
            <a:spAutoFit/>
          </a:bodyPr>
          <a:lstStyle/>
          <a:p>
            <a:pPr algn="l"/>
            <a:r>
              <a:rPr sz="1300" b="1" i="0">
                <a:solidFill>
                  <a:srgbClr val="111418"/>
                </a:solidFill>
                <a:latin typeface="Calibri"/>
              </a:rPr>
              <a:t>PIZZA RETURNS TO THE MENU</a:t>
            </a:r>
          </a:p>
        </p:txBody>
      </p:sp>
      <p:sp>
        <p:nvSpPr>
          <p:cNvPr id="36" name="Rounded Rectangle 35"/>
          <p:cNvSpPr/>
          <p:nvPr/>
        </p:nvSpPr>
        <p:spPr>
          <a:xfrm>
            <a:off x="2606040" y="3867912"/>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0" y="3886200"/>
            <a:ext cx="8503920" cy="256032"/>
          </a:xfrm>
          <a:prstGeom prst="rect">
            <a:avLst/>
          </a:prstGeom>
          <a:noFill/>
        </p:spPr>
        <p:txBody>
          <a:bodyPr wrap="square">
            <a:spAutoFit/>
          </a:bodyPr>
          <a:lstStyle/>
          <a:p>
            <a:pPr algn="l"/>
            <a:r>
              <a:rPr sz="1300" b="1" i="0">
                <a:solidFill>
                  <a:srgbClr val="111418"/>
                </a:solidFill>
                <a:latin typeface="Calibri"/>
              </a:rPr>
              <a:t>NEW BOOK CLUB STARTS</a:t>
            </a:r>
          </a:p>
        </p:txBody>
      </p:sp>
      <p:sp>
        <p:nvSpPr>
          <p:cNvPr id="38" name="TextBox 37"/>
          <p:cNvSpPr txBox="1"/>
          <p:nvPr/>
        </p:nvSpPr>
        <p:spPr>
          <a:xfrm>
            <a:off x="1325880" y="4709160"/>
            <a:ext cx="1005840" cy="685800"/>
          </a:xfrm>
          <a:prstGeom prst="rect">
            <a:avLst/>
          </a:prstGeom>
          <a:noFill/>
        </p:spPr>
        <p:txBody>
          <a:bodyPr wrap="square">
            <a:spAutoFit/>
          </a:bodyPr>
          <a:lstStyle/>
          <a:p>
            <a:pPr algn="ctr"/>
            <a:r>
              <a:rPr sz="3200" b="0" i="0">
                <a:solidFill>
                  <a:srgbClr val="2A2F36"/>
                </a:solidFill>
                <a:latin typeface="Calibri"/>
              </a:rPr>
              <a:t>🎨</a:t>
            </a:r>
          </a:p>
        </p:txBody>
      </p:sp>
      <p:sp>
        <p:nvSpPr>
          <p:cNvPr id="39" name="Rounded Rectangle 38"/>
          <p:cNvSpPr/>
          <p:nvPr/>
        </p:nvSpPr>
        <p:spPr>
          <a:xfrm>
            <a:off x="2606040" y="4562856"/>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34640" y="4581144"/>
            <a:ext cx="8503920" cy="256032"/>
          </a:xfrm>
          <a:prstGeom prst="rect">
            <a:avLst/>
          </a:prstGeom>
          <a:noFill/>
        </p:spPr>
        <p:txBody>
          <a:bodyPr wrap="square">
            <a:spAutoFit/>
          </a:bodyPr>
          <a:lstStyle/>
          <a:p>
            <a:pPr algn="l"/>
            <a:r>
              <a:rPr sz="1300" b="1" i="0">
                <a:solidFill>
                  <a:srgbClr val="111418"/>
                </a:solidFill>
                <a:latin typeface="Calibri"/>
              </a:rPr>
              <a:t>ART SHOW FILLS THE HALL</a:t>
            </a:r>
          </a:p>
        </p:txBody>
      </p:sp>
      <p:sp>
        <p:nvSpPr>
          <p:cNvPr id="41" name="Rounded Rectangle 40"/>
          <p:cNvSpPr/>
          <p:nvPr/>
        </p:nvSpPr>
        <p:spPr>
          <a:xfrm>
            <a:off x="2606040" y="4901184"/>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34640" y="4919472"/>
            <a:ext cx="8503920" cy="256032"/>
          </a:xfrm>
          <a:prstGeom prst="rect">
            <a:avLst/>
          </a:prstGeom>
          <a:noFill/>
        </p:spPr>
        <p:txBody>
          <a:bodyPr wrap="square">
            <a:spAutoFit/>
          </a:bodyPr>
          <a:lstStyle/>
          <a:p>
            <a:pPr algn="l"/>
            <a:r>
              <a:rPr sz="1300" b="1" i="0">
                <a:solidFill>
                  <a:srgbClr val="111418"/>
                </a:solidFill>
                <a:latin typeface="Calibri"/>
              </a:rPr>
              <a:t>MYSTERY PUPPY VISITS SCHOOL</a:t>
            </a:r>
          </a:p>
        </p:txBody>
      </p:sp>
      <p:sp>
        <p:nvSpPr>
          <p:cNvPr id="43" name="Rounded Rectangle 42"/>
          <p:cNvSpPr/>
          <p:nvPr/>
        </p:nvSpPr>
        <p:spPr>
          <a:xfrm>
            <a:off x="2606040" y="5239512"/>
            <a:ext cx="8869680" cy="30175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34640" y="5257800"/>
            <a:ext cx="8503920" cy="256032"/>
          </a:xfrm>
          <a:prstGeom prst="rect">
            <a:avLst/>
          </a:prstGeom>
          <a:noFill/>
        </p:spPr>
        <p:txBody>
          <a:bodyPr wrap="square">
            <a:spAutoFit/>
          </a:bodyPr>
          <a:lstStyle/>
          <a:p>
            <a:pPr algn="l"/>
            <a:r>
              <a:rPr sz="1300" b="1" i="0">
                <a:solidFill>
                  <a:srgbClr val="111418"/>
                </a:solidFill>
                <a:latin typeface="Calibri"/>
              </a:rPr>
              <a:t>PIZZA RETURNS TO THE MENU</a:t>
            </a:r>
          </a:p>
        </p:txBody>
      </p:sp>
      <p:sp>
        <p:nvSpPr>
          <p:cNvPr id="45" name="Rounded Rectangle 44"/>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7" name="TextBox 46"/>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Two headlines are close. Read both again before choosing.</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7–17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Game: Headline Mix-Up</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998638"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7–17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10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6A4A9E"/>
                </a:solidFill>
                <a:latin typeface="Calibri"/>
              </a:rPr>
              <a:t>The words fell off the page. Put the headline back together.</a:t>
            </a:r>
          </a:p>
        </p:txBody>
      </p:sp>
      <p:sp>
        <p:nvSpPr>
          <p:cNvPr id="15" name="Rounded Rectangle 14"/>
          <p:cNvSpPr/>
          <p:nvPr/>
        </p:nvSpPr>
        <p:spPr>
          <a:xfrm>
            <a:off x="457200" y="1691640"/>
            <a:ext cx="112928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112263"/>
            <a:ext cx="438912" cy="438912"/>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67128"/>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3108960"/>
            <a:ext cx="112928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3529583"/>
            <a:ext cx="438912" cy="438912"/>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84448"/>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457200" y="4526280"/>
            <a:ext cx="112928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4946903"/>
            <a:ext cx="438912" cy="438912"/>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01768"/>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24" name="Rounded Rectangle 23"/>
          <p:cNvSpPr/>
          <p:nvPr/>
        </p:nvSpPr>
        <p:spPr>
          <a:xfrm>
            <a:off x="1325880" y="187452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1965960"/>
            <a:ext cx="1920240" cy="384048"/>
          </a:xfrm>
          <a:prstGeom prst="rect">
            <a:avLst/>
          </a:prstGeom>
          <a:noFill/>
        </p:spPr>
        <p:txBody>
          <a:bodyPr wrap="square">
            <a:spAutoFit/>
          </a:bodyPr>
          <a:lstStyle/>
          <a:p>
            <a:pPr algn="ctr"/>
            <a:r>
              <a:rPr sz="1500" b="1" i="0">
                <a:solidFill>
                  <a:srgbClr val="6A4A9E"/>
                </a:solidFill>
                <a:latin typeface="Calibri"/>
              </a:rPr>
              <a:t>GARDEN</a:t>
            </a:r>
          </a:p>
        </p:txBody>
      </p:sp>
      <p:sp>
        <p:nvSpPr>
          <p:cNvPr id="26" name="Rounded Rectangle 25"/>
          <p:cNvSpPr/>
          <p:nvPr/>
        </p:nvSpPr>
        <p:spPr>
          <a:xfrm>
            <a:off x="3383280" y="187452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3280" y="1965960"/>
            <a:ext cx="1920240" cy="384048"/>
          </a:xfrm>
          <a:prstGeom prst="rect">
            <a:avLst/>
          </a:prstGeom>
          <a:noFill/>
        </p:spPr>
        <p:txBody>
          <a:bodyPr wrap="square">
            <a:spAutoFit/>
          </a:bodyPr>
          <a:lstStyle/>
          <a:p>
            <a:pPr algn="ctr"/>
            <a:r>
              <a:rPr sz="1500" b="1" i="0">
                <a:solidFill>
                  <a:srgbClr val="6A4A9E"/>
                </a:solidFill>
                <a:latin typeface="Calibri"/>
              </a:rPr>
              <a:t>SCHOOL</a:t>
            </a:r>
          </a:p>
        </p:txBody>
      </p:sp>
      <p:sp>
        <p:nvSpPr>
          <p:cNvPr id="28" name="Rounded Rectangle 27"/>
          <p:cNvSpPr/>
          <p:nvPr/>
        </p:nvSpPr>
        <p:spPr>
          <a:xfrm>
            <a:off x="5440680" y="187452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40680" y="1965960"/>
            <a:ext cx="1920240" cy="384048"/>
          </a:xfrm>
          <a:prstGeom prst="rect">
            <a:avLst/>
          </a:prstGeom>
          <a:noFill/>
        </p:spPr>
        <p:txBody>
          <a:bodyPr wrap="square">
            <a:spAutoFit/>
          </a:bodyPr>
          <a:lstStyle/>
          <a:p>
            <a:pPr algn="ctr"/>
            <a:r>
              <a:rPr sz="1500" b="1" i="0">
                <a:solidFill>
                  <a:srgbClr val="6A4A9E"/>
                </a:solidFill>
                <a:latin typeface="Calibri"/>
              </a:rPr>
              <a:t>GROWS</a:t>
            </a:r>
          </a:p>
        </p:txBody>
      </p:sp>
      <p:sp>
        <p:nvSpPr>
          <p:cNvPr id="30" name="Rounded Rectangle 29"/>
          <p:cNvSpPr/>
          <p:nvPr/>
        </p:nvSpPr>
        <p:spPr>
          <a:xfrm>
            <a:off x="7498079" y="187452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79" y="1965960"/>
            <a:ext cx="1920240" cy="384048"/>
          </a:xfrm>
          <a:prstGeom prst="rect">
            <a:avLst/>
          </a:prstGeom>
          <a:noFill/>
        </p:spPr>
        <p:txBody>
          <a:bodyPr wrap="square">
            <a:spAutoFit/>
          </a:bodyPr>
          <a:lstStyle/>
          <a:p>
            <a:pPr algn="ctr"/>
            <a:r>
              <a:rPr sz="1500" b="1" i="0">
                <a:solidFill>
                  <a:srgbClr val="6A4A9E"/>
                </a:solidFill>
                <a:latin typeface="Calibri"/>
              </a:rPr>
              <a:t>GIANT</a:t>
            </a:r>
          </a:p>
        </p:txBody>
      </p:sp>
      <p:sp>
        <p:nvSpPr>
          <p:cNvPr id="32" name="Rounded Rectangle 31"/>
          <p:cNvSpPr/>
          <p:nvPr/>
        </p:nvSpPr>
        <p:spPr>
          <a:xfrm>
            <a:off x="9555480" y="187452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55480" y="1965960"/>
            <a:ext cx="1920240" cy="384048"/>
          </a:xfrm>
          <a:prstGeom prst="rect">
            <a:avLst/>
          </a:prstGeom>
          <a:noFill/>
        </p:spPr>
        <p:txBody>
          <a:bodyPr wrap="square">
            <a:spAutoFit/>
          </a:bodyPr>
          <a:lstStyle/>
          <a:p>
            <a:pPr algn="ctr"/>
            <a:r>
              <a:rPr sz="1500" b="1" i="0">
                <a:solidFill>
                  <a:srgbClr val="6A4A9E"/>
                </a:solidFill>
                <a:latin typeface="Calibri"/>
              </a:rPr>
              <a:t>PUMPKIN</a:t>
            </a:r>
          </a:p>
        </p:txBody>
      </p:sp>
      <p:sp>
        <p:nvSpPr>
          <p:cNvPr id="34" name="Rounded Rectangle 33"/>
          <p:cNvSpPr/>
          <p:nvPr/>
        </p:nvSpPr>
        <p:spPr>
          <a:xfrm>
            <a:off x="1325880" y="2478024"/>
            <a:ext cx="10012680" cy="402336"/>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54480" y="2542032"/>
            <a:ext cx="9601200" cy="310896"/>
          </a:xfrm>
          <a:prstGeom prst="rect">
            <a:avLst/>
          </a:prstGeom>
          <a:noFill/>
        </p:spPr>
        <p:txBody>
          <a:bodyPr wrap="square">
            <a:spAutoFit/>
          </a:bodyPr>
          <a:lstStyle/>
          <a:p>
            <a:pPr algn="l"/>
            <a:r>
              <a:rPr sz="1200" b="0" i="0">
                <a:solidFill>
                  <a:srgbClr val="78828E"/>
                </a:solidFill>
                <a:latin typeface="Calibri"/>
              </a:rPr>
              <a:t>Your headline:  ________________________________________________</a:t>
            </a:r>
          </a:p>
        </p:txBody>
      </p:sp>
      <p:sp>
        <p:nvSpPr>
          <p:cNvPr id="36" name="Rounded Rectangle 35"/>
          <p:cNvSpPr/>
          <p:nvPr/>
        </p:nvSpPr>
        <p:spPr>
          <a:xfrm>
            <a:off x="1325880" y="329184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25880" y="3383280"/>
            <a:ext cx="1920240" cy="384048"/>
          </a:xfrm>
          <a:prstGeom prst="rect">
            <a:avLst/>
          </a:prstGeom>
          <a:noFill/>
        </p:spPr>
        <p:txBody>
          <a:bodyPr wrap="square">
            <a:spAutoFit/>
          </a:bodyPr>
          <a:lstStyle/>
          <a:p>
            <a:pPr algn="ctr"/>
            <a:r>
              <a:rPr sz="1500" b="1" i="0">
                <a:solidFill>
                  <a:srgbClr val="6A4A9E"/>
                </a:solidFill>
                <a:latin typeface="Calibri"/>
              </a:rPr>
              <a:t>WIN</a:t>
            </a:r>
          </a:p>
        </p:txBody>
      </p:sp>
      <p:sp>
        <p:nvSpPr>
          <p:cNvPr id="38" name="Rounded Rectangle 37"/>
          <p:cNvSpPr/>
          <p:nvPr/>
        </p:nvSpPr>
        <p:spPr>
          <a:xfrm>
            <a:off x="3383280" y="329184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83280" y="3383280"/>
            <a:ext cx="1920240" cy="384048"/>
          </a:xfrm>
          <a:prstGeom prst="rect">
            <a:avLst/>
          </a:prstGeom>
          <a:noFill/>
        </p:spPr>
        <p:txBody>
          <a:bodyPr wrap="square">
            <a:spAutoFit/>
          </a:bodyPr>
          <a:lstStyle/>
          <a:p>
            <a:pPr algn="ctr"/>
            <a:r>
              <a:rPr sz="1500" b="1" i="0">
                <a:solidFill>
                  <a:srgbClr val="6A4A9E"/>
                </a:solidFill>
                <a:latin typeface="Calibri"/>
              </a:rPr>
              <a:t>STUDENTS</a:t>
            </a:r>
          </a:p>
        </p:txBody>
      </p:sp>
      <p:sp>
        <p:nvSpPr>
          <p:cNvPr id="40" name="Rounded Rectangle 39"/>
          <p:cNvSpPr/>
          <p:nvPr/>
        </p:nvSpPr>
        <p:spPr>
          <a:xfrm>
            <a:off x="5440680" y="329184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40680" y="3383280"/>
            <a:ext cx="1920240" cy="384048"/>
          </a:xfrm>
          <a:prstGeom prst="rect">
            <a:avLst/>
          </a:prstGeom>
          <a:noFill/>
        </p:spPr>
        <p:txBody>
          <a:bodyPr wrap="square">
            <a:spAutoFit/>
          </a:bodyPr>
          <a:lstStyle/>
          <a:p>
            <a:pPr algn="ctr"/>
            <a:r>
              <a:rPr sz="1500" b="1" i="0">
                <a:solidFill>
                  <a:srgbClr val="6A4A9E"/>
                </a:solidFill>
                <a:latin typeface="Calibri"/>
              </a:rPr>
              <a:t>FAIR</a:t>
            </a:r>
          </a:p>
        </p:txBody>
      </p:sp>
      <p:sp>
        <p:nvSpPr>
          <p:cNvPr id="42" name="Rounded Rectangle 41"/>
          <p:cNvSpPr/>
          <p:nvPr/>
        </p:nvSpPr>
        <p:spPr>
          <a:xfrm>
            <a:off x="7498079" y="329184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98079" y="3383280"/>
            <a:ext cx="1920240" cy="384048"/>
          </a:xfrm>
          <a:prstGeom prst="rect">
            <a:avLst/>
          </a:prstGeom>
          <a:noFill/>
        </p:spPr>
        <p:txBody>
          <a:bodyPr wrap="square">
            <a:spAutoFit/>
          </a:bodyPr>
          <a:lstStyle/>
          <a:p>
            <a:pPr algn="ctr"/>
            <a:r>
              <a:rPr sz="1500" b="1" i="0">
                <a:solidFill>
                  <a:srgbClr val="6A4A9E"/>
                </a:solidFill>
                <a:latin typeface="Calibri"/>
              </a:rPr>
              <a:t>SCIENCE</a:t>
            </a:r>
          </a:p>
        </p:txBody>
      </p:sp>
      <p:sp>
        <p:nvSpPr>
          <p:cNvPr id="44" name="Rounded Rectangle 43"/>
          <p:cNvSpPr/>
          <p:nvPr/>
        </p:nvSpPr>
        <p:spPr>
          <a:xfrm>
            <a:off x="1325880" y="3895344"/>
            <a:ext cx="10012680" cy="402336"/>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54480" y="3959352"/>
            <a:ext cx="9601200" cy="310896"/>
          </a:xfrm>
          <a:prstGeom prst="rect">
            <a:avLst/>
          </a:prstGeom>
          <a:noFill/>
        </p:spPr>
        <p:txBody>
          <a:bodyPr wrap="square">
            <a:spAutoFit/>
          </a:bodyPr>
          <a:lstStyle/>
          <a:p>
            <a:pPr algn="l"/>
            <a:r>
              <a:rPr sz="1200" b="0" i="0">
                <a:solidFill>
                  <a:srgbClr val="78828E"/>
                </a:solidFill>
                <a:latin typeface="Calibri"/>
              </a:rPr>
              <a:t>Your headline:  ________________________________________________</a:t>
            </a:r>
          </a:p>
        </p:txBody>
      </p:sp>
      <p:sp>
        <p:nvSpPr>
          <p:cNvPr id="46" name="Rounded Rectangle 45"/>
          <p:cNvSpPr/>
          <p:nvPr/>
        </p:nvSpPr>
        <p:spPr>
          <a:xfrm>
            <a:off x="1325880" y="470916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325880" y="4800600"/>
            <a:ext cx="1920240" cy="384048"/>
          </a:xfrm>
          <a:prstGeom prst="rect">
            <a:avLst/>
          </a:prstGeom>
          <a:noFill/>
        </p:spPr>
        <p:txBody>
          <a:bodyPr wrap="square">
            <a:spAutoFit/>
          </a:bodyPr>
          <a:lstStyle/>
          <a:p>
            <a:pPr algn="ctr"/>
            <a:r>
              <a:rPr sz="1500" b="1" i="0">
                <a:solidFill>
                  <a:srgbClr val="6A4A9E"/>
                </a:solidFill>
                <a:latin typeface="Calibri"/>
              </a:rPr>
              <a:t>CLUB</a:t>
            </a:r>
          </a:p>
        </p:txBody>
      </p:sp>
      <p:sp>
        <p:nvSpPr>
          <p:cNvPr id="48" name="Rounded Rectangle 47"/>
          <p:cNvSpPr/>
          <p:nvPr/>
        </p:nvSpPr>
        <p:spPr>
          <a:xfrm>
            <a:off x="3383280" y="470916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3280" y="4800600"/>
            <a:ext cx="1920240" cy="384048"/>
          </a:xfrm>
          <a:prstGeom prst="rect">
            <a:avLst/>
          </a:prstGeom>
          <a:noFill/>
        </p:spPr>
        <p:txBody>
          <a:bodyPr wrap="square">
            <a:spAutoFit/>
          </a:bodyPr>
          <a:lstStyle/>
          <a:p>
            <a:pPr algn="ctr"/>
            <a:r>
              <a:rPr sz="1500" b="1" i="0">
                <a:solidFill>
                  <a:srgbClr val="6A4A9E"/>
                </a:solidFill>
                <a:latin typeface="Calibri"/>
              </a:rPr>
              <a:t>BOOK</a:t>
            </a:r>
          </a:p>
        </p:txBody>
      </p:sp>
      <p:sp>
        <p:nvSpPr>
          <p:cNvPr id="50" name="Rounded Rectangle 49"/>
          <p:cNvSpPr/>
          <p:nvPr/>
        </p:nvSpPr>
        <p:spPr>
          <a:xfrm>
            <a:off x="5440680" y="470916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40680" y="4800600"/>
            <a:ext cx="1920240" cy="384048"/>
          </a:xfrm>
          <a:prstGeom prst="rect">
            <a:avLst/>
          </a:prstGeom>
          <a:noFill/>
        </p:spPr>
        <p:txBody>
          <a:bodyPr wrap="square">
            <a:spAutoFit/>
          </a:bodyPr>
          <a:lstStyle/>
          <a:p>
            <a:pPr algn="ctr"/>
            <a:r>
              <a:rPr sz="1500" b="1" i="0">
                <a:solidFill>
                  <a:srgbClr val="6A4A9E"/>
                </a:solidFill>
                <a:latin typeface="Calibri"/>
              </a:rPr>
              <a:t>STARTS</a:t>
            </a:r>
          </a:p>
        </p:txBody>
      </p:sp>
      <p:sp>
        <p:nvSpPr>
          <p:cNvPr id="52" name="Rounded Rectangle 51"/>
          <p:cNvSpPr/>
          <p:nvPr/>
        </p:nvSpPr>
        <p:spPr>
          <a:xfrm>
            <a:off x="7498079" y="4709160"/>
            <a:ext cx="1920240" cy="530352"/>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8079" y="4800600"/>
            <a:ext cx="1920240" cy="384048"/>
          </a:xfrm>
          <a:prstGeom prst="rect">
            <a:avLst/>
          </a:prstGeom>
          <a:noFill/>
        </p:spPr>
        <p:txBody>
          <a:bodyPr wrap="square">
            <a:spAutoFit/>
          </a:bodyPr>
          <a:lstStyle/>
          <a:p>
            <a:pPr algn="ctr"/>
            <a:r>
              <a:rPr sz="1500" b="1" i="0">
                <a:solidFill>
                  <a:srgbClr val="6A4A9E"/>
                </a:solidFill>
                <a:latin typeface="Calibri"/>
              </a:rPr>
              <a:t>NEW</a:t>
            </a:r>
          </a:p>
        </p:txBody>
      </p:sp>
      <p:sp>
        <p:nvSpPr>
          <p:cNvPr id="54" name="Rounded Rectangle 53"/>
          <p:cNvSpPr/>
          <p:nvPr/>
        </p:nvSpPr>
        <p:spPr>
          <a:xfrm>
            <a:off x="1325880" y="5312664"/>
            <a:ext cx="10012680" cy="402336"/>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54480" y="5376672"/>
            <a:ext cx="9601200" cy="310896"/>
          </a:xfrm>
          <a:prstGeom prst="rect">
            <a:avLst/>
          </a:prstGeom>
          <a:noFill/>
        </p:spPr>
        <p:txBody>
          <a:bodyPr wrap="square">
            <a:spAutoFit/>
          </a:bodyPr>
          <a:lstStyle/>
          <a:p>
            <a:pPr algn="l"/>
            <a:r>
              <a:rPr sz="1200" b="0" i="0">
                <a:solidFill>
                  <a:srgbClr val="78828E"/>
                </a:solidFill>
                <a:latin typeface="Calibri"/>
              </a:rPr>
              <a:t>Your headline:  ________________________________________________</a:t>
            </a:r>
          </a:p>
        </p:txBody>
      </p:sp>
      <p:sp>
        <p:nvSpPr>
          <p:cNvPr id="56" name="Rounded Rectangle 55"/>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8" name="TextBox 57"/>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Start with the verb. A headline is built around its action word.</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BADGE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7–17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Mission 1 Complete — Headline Hunter</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2198502"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Headline Desk  |  7–17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11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E7A52"/>
                </a:solidFill>
                <a:latin typeface="Calibri"/>
              </a:rPr>
              <a:t>You can find the main idea in seconds. That is a real skill.</a:t>
            </a:r>
          </a:p>
        </p:txBody>
      </p:sp>
      <p:sp>
        <p:nvSpPr>
          <p:cNvPr id="15" name="Rounded Rectangle 14"/>
          <p:cNvSpPr/>
          <p:nvPr/>
        </p:nvSpPr>
        <p:spPr>
          <a:xfrm>
            <a:off x="457200" y="1691640"/>
            <a:ext cx="4846320" cy="402336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377440"/>
            <a:ext cx="4846320" cy="1554480"/>
          </a:xfrm>
          <a:prstGeom prst="rect">
            <a:avLst/>
          </a:prstGeom>
          <a:noFill/>
        </p:spPr>
        <p:txBody>
          <a:bodyPr wrap="square">
            <a:spAutoFit/>
          </a:bodyPr>
          <a:lstStyle/>
          <a:p>
            <a:pPr algn="ctr"/>
            <a:r>
              <a:rPr sz="9000" b="0" i="0">
                <a:solidFill>
                  <a:srgbClr val="2A2F36"/>
                </a:solidFill>
                <a:latin typeface="Calibri"/>
              </a:rPr>
              <a:t>🗞️</a:t>
            </a:r>
          </a:p>
        </p:txBody>
      </p:sp>
      <p:sp>
        <p:nvSpPr>
          <p:cNvPr id="17" name="TextBox 16"/>
          <p:cNvSpPr txBox="1"/>
          <p:nvPr/>
        </p:nvSpPr>
        <p:spPr>
          <a:xfrm>
            <a:off x="457200" y="4114800"/>
            <a:ext cx="4846320" cy="640080"/>
          </a:xfrm>
          <a:prstGeom prst="rect">
            <a:avLst/>
          </a:prstGeom>
          <a:noFill/>
        </p:spPr>
        <p:txBody>
          <a:bodyPr wrap="square">
            <a:spAutoFit/>
          </a:bodyPr>
          <a:lstStyle/>
          <a:p>
            <a:pPr algn="ctr"/>
            <a:r>
              <a:rPr sz="2600" b="1" i="0">
                <a:solidFill>
                  <a:srgbClr val="1E7A52"/>
                </a:solidFill>
                <a:latin typeface="Georgia"/>
              </a:rPr>
              <a:t>BADGE 1 EARNED</a:t>
            </a:r>
          </a:p>
        </p:txBody>
      </p:sp>
      <p:sp>
        <p:nvSpPr>
          <p:cNvPr id="18" name="TextBox 17"/>
          <p:cNvSpPr txBox="1"/>
          <p:nvPr/>
        </p:nvSpPr>
        <p:spPr>
          <a:xfrm>
            <a:off x="731520" y="4846320"/>
            <a:ext cx="4297680" cy="548640"/>
          </a:xfrm>
          <a:prstGeom prst="rect">
            <a:avLst/>
          </a:prstGeom>
          <a:noFill/>
        </p:spPr>
        <p:txBody>
          <a:bodyPr wrap="square">
            <a:spAutoFit/>
          </a:bodyPr>
          <a:lstStyle/>
          <a:p>
            <a:pPr algn="ctr"/>
            <a:r>
              <a:rPr sz="1500" b="0" i="0">
                <a:solidFill>
                  <a:srgbClr val="78828E"/>
                </a:solidFill>
                <a:latin typeface="Calibri"/>
              </a:rPr>
              <a:t>Headline Hunter</a:t>
            </a:r>
          </a:p>
        </p:txBody>
      </p:sp>
      <p:sp>
        <p:nvSpPr>
          <p:cNvPr id="19" name="Rounded Rectangle 18"/>
          <p:cNvSpPr/>
          <p:nvPr/>
        </p:nvSpPr>
        <p:spPr>
          <a:xfrm>
            <a:off x="5623560" y="1737360"/>
            <a:ext cx="612648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897880" y="1920240"/>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97880" y="1975104"/>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22" name="TextBox 21"/>
          <p:cNvSpPr txBox="1"/>
          <p:nvPr/>
        </p:nvSpPr>
        <p:spPr>
          <a:xfrm>
            <a:off x="6629400" y="1956816"/>
            <a:ext cx="4846320" cy="457200"/>
          </a:xfrm>
          <a:prstGeom prst="rect">
            <a:avLst/>
          </a:prstGeom>
          <a:noFill/>
        </p:spPr>
        <p:txBody>
          <a:bodyPr wrap="square">
            <a:spAutoFit/>
          </a:bodyPr>
          <a:lstStyle/>
          <a:p>
            <a:pPr algn="l"/>
            <a:r>
              <a:rPr sz="1500" b="1" i="0">
                <a:solidFill>
                  <a:srgbClr val="111418"/>
                </a:solidFill>
                <a:latin typeface="Calibri"/>
              </a:rPr>
              <a:t>A headline gives the MAIN IDEA.</a:t>
            </a:r>
          </a:p>
        </p:txBody>
      </p:sp>
      <p:sp>
        <p:nvSpPr>
          <p:cNvPr id="23" name="Rounded Rectangle 22"/>
          <p:cNvSpPr/>
          <p:nvPr/>
        </p:nvSpPr>
        <p:spPr>
          <a:xfrm>
            <a:off x="5623560" y="2761488"/>
            <a:ext cx="612648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97880" y="2944368"/>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97880" y="2999232"/>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26" name="TextBox 25"/>
          <p:cNvSpPr txBox="1"/>
          <p:nvPr/>
        </p:nvSpPr>
        <p:spPr>
          <a:xfrm>
            <a:off x="6629400" y="2980944"/>
            <a:ext cx="4846320" cy="457200"/>
          </a:xfrm>
          <a:prstGeom prst="rect">
            <a:avLst/>
          </a:prstGeom>
          <a:noFill/>
        </p:spPr>
        <p:txBody>
          <a:bodyPr wrap="square">
            <a:spAutoFit/>
          </a:bodyPr>
          <a:lstStyle/>
          <a:p>
            <a:pPr algn="l"/>
            <a:r>
              <a:rPr sz="1500" b="1" i="0">
                <a:solidFill>
                  <a:srgbClr val="111418"/>
                </a:solidFill>
                <a:latin typeface="Calibri"/>
              </a:rPr>
              <a:t>Short words, strong verbs, capital letters.</a:t>
            </a:r>
          </a:p>
        </p:txBody>
      </p:sp>
      <p:sp>
        <p:nvSpPr>
          <p:cNvPr id="27" name="Rounded Rectangle 26"/>
          <p:cNvSpPr/>
          <p:nvPr/>
        </p:nvSpPr>
        <p:spPr>
          <a:xfrm>
            <a:off x="5623560" y="3785616"/>
            <a:ext cx="612648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97880" y="3968496"/>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7880" y="4023360"/>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30" name="TextBox 29"/>
          <p:cNvSpPr txBox="1"/>
          <p:nvPr/>
        </p:nvSpPr>
        <p:spPr>
          <a:xfrm>
            <a:off x="6629400" y="4005072"/>
            <a:ext cx="4846320" cy="457200"/>
          </a:xfrm>
          <a:prstGeom prst="rect">
            <a:avLst/>
          </a:prstGeom>
          <a:noFill/>
        </p:spPr>
        <p:txBody>
          <a:bodyPr wrap="square">
            <a:spAutoFit/>
          </a:bodyPr>
          <a:lstStyle/>
          <a:p>
            <a:pPr algn="l"/>
            <a:r>
              <a:rPr sz="1500" b="1" i="0">
                <a:solidFill>
                  <a:srgbClr val="111418"/>
                </a:solidFill>
                <a:latin typeface="Calibri"/>
              </a:rPr>
              <a:t>One word in the headline usually gives it away.</a:t>
            </a:r>
          </a:p>
        </p:txBody>
      </p:sp>
      <p:sp>
        <p:nvSpPr>
          <p:cNvPr id="31" name="Rounded Rectangle 30"/>
          <p:cNvSpPr/>
          <p:nvPr/>
        </p:nvSpPr>
        <p:spPr>
          <a:xfrm>
            <a:off x="5623560" y="4809744"/>
            <a:ext cx="612648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897880" y="4992624"/>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97880" y="5047488"/>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34" name="TextBox 33"/>
          <p:cNvSpPr txBox="1"/>
          <p:nvPr/>
        </p:nvSpPr>
        <p:spPr>
          <a:xfrm>
            <a:off x="6629400" y="5029200"/>
            <a:ext cx="4846320" cy="457200"/>
          </a:xfrm>
          <a:prstGeom prst="rect">
            <a:avLst/>
          </a:prstGeom>
          <a:noFill/>
        </p:spPr>
        <p:txBody>
          <a:bodyPr wrap="square">
            <a:spAutoFit/>
          </a:bodyPr>
          <a:lstStyle/>
          <a:p>
            <a:pPr algn="l"/>
            <a:r>
              <a:rPr sz="1500" b="1" i="0">
                <a:solidFill>
                  <a:srgbClr val="111418"/>
                </a:solidFill>
                <a:latin typeface="Calibri"/>
              </a:rPr>
              <a:t>You can rebuild a headline from scattered words.</a:t>
            </a:r>
          </a:p>
        </p:txBody>
      </p:sp>
      <p:sp>
        <p:nvSpPr>
          <p:cNvPr id="35" name="Rounded Rectangle 34"/>
          <p:cNvSpPr/>
          <p:nvPr/>
        </p:nvSpPr>
        <p:spPr>
          <a:xfrm>
            <a:off x="457200" y="5897880"/>
            <a:ext cx="11292840" cy="420624"/>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952744"/>
            <a:ext cx="2286000" cy="310896"/>
          </a:xfrm>
          <a:prstGeom prst="rect">
            <a:avLst/>
          </a:prstGeom>
          <a:noFill/>
        </p:spPr>
        <p:txBody>
          <a:bodyPr wrap="square">
            <a:spAutoFit/>
          </a:bodyPr>
          <a:lstStyle/>
          <a:p>
            <a:pPr algn="l"/>
            <a:r>
              <a:rPr sz="1200" b="1" i="0">
                <a:solidFill>
                  <a:srgbClr val="1E7A52"/>
                </a:solidFill>
                <a:latin typeface="Calibri"/>
              </a:rPr>
              <a:t>➡️ COMING UP</a:t>
            </a:r>
          </a:p>
        </p:txBody>
      </p:sp>
      <p:sp>
        <p:nvSpPr>
          <p:cNvPr id="37" name="TextBox 36"/>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Next up: the twelve words that run this newsroom.</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VOCABULARY</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17–27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Newsroom Words — Set 1 of 3</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2398366"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Word Desk  |  17–27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12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6A4A9E"/>
                </a:solidFill>
                <a:latin typeface="Calibri"/>
              </a:rPr>
              <a:t>Four words only. Say it, mean it, then use it.</a:t>
            </a:r>
          </a:p>
        </p:txBody>
      </p:sp>
      <p:sp>
        <p:nvSpPr>
          <p:cNvPr id="15" name="Rounded Rectangle 14"/>
          <p:cNvSpPr/>
          <p:nvPr/>
        </p:nvSpPr>
        <p:spPr>
          <a:xfrm>
            <a:off x="457200"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17" name="Rounded Rectangle 16"/>
          <p:cNvSpPr/>
          <p:nvPr/>
        </p:nvSpPr>
        <p:spPr>
          <a:xfrm>
            <a:off x="594360"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651760"/>
            <a:ext cx="2423160" cy="402336"/>
          </a:xfrm>
          <a:prstGeom prst="rect">
            <a:avLst/>
          </a:prstGeom>
          <a:noFill/>
        </p:spPr>
        <p:txBody>
          <a:bodyPr wrap="square">
            <a:spAutoFit/>
          </a:bodyPr>
          <a:lstStyle/>
          <a:p>
            <a:pPr algn="ctr"/>
            <a:r>
              <a:rPr sz="1600" b="1" i="0">
                <a:solidFill>
                  <a:srgbClr val="FFFFFF"/>
                </a:solidFill>
                <a:latin typeface="Calibri"/>
              </a:rPr>
              <a:t>REPORTER</a:t>
            </a:r>
          </a:p>
        </p:txBody>
      </p:sp>
      <p:sp>
        <p:nvSpPr>
          <p:cNvPr id="19" name="TextBox 18"/>
          <p:cNvSpPr txBox="1"/>
          <p:nvPr/>
        </p:nvSpPr>
        <p:spPr>
          <a:xfrm>
            <a:off x="685800" y="3246120"/>
            <a:ext cx="2240280" cy="914400"/>
          </a:xfrm>
          <a:prstGeom prst="rect">
            <a:avLst/>
          </a:prstGeom>
          <a:noFill/>
        </p:spPr>
        <p:txBody>
          <a:bodyPr wrap="square">
            <a:spAutoFit/>
          </a:bodyPr>
          <a:lstStyle/>
          <a:p>
            <a:pPr algn="ctr"/>
            <a:r>
              <a:rPr sz="1200" b="0" i="0">
                <a:solidFill>
                  <a:srgbClr val="2A2F36"/>
                </a:solidFill>
                <a:latin typeface="Calibri"/>
              </a:rPr>
              <a:t>a person who finds news and writes about it</a:t>
            </a:r>
          </a:p>
        </p:txBody>
      </p:sp>
      <p:sp>
        <p:nvSpPr>
          <p:cNvPr id="20" name="Rounded Rectangle 19"/>
          <p:cNvSpPr/>
          <p:nvPr/>
        </p:nvSpPr>
        <p:spPr>
          <a:xfrm>
            <a:off x="594360"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389120"/>
            <a:ext cx="2148840" cy="685800"/>
          </a:xfrm>
          <a:prstGeom prst="rect">
            <a:avLst/>
          </a:prstGeom>
          <a:noFill/>
        </p:spPr>
        <p:txBody>
          <a:bodyPr wrap="square">
            <a:spAutoFit/>
          </a:bodyPr>
          <a:lstStyle/>
          <a:p>
            <a:pPr algn="ctr"/>
            <a:r>
              <a:rPr sz="1100" b="0" i="1">
                <a:solidFill>
                  <a:srgbClr val="6A4A9E"/>
                </a:solidFill>
                <a:latin typeface="Calibri"/>
              </a:rPr>
              <a:t>The reporter asked ten questions.</a:t>
            </a:r>
          </a:p>
        </p:txBody>
      </p:sp>
      <p:sp>
        <p:nvSpPr>
          <p:cNvPr id="22" name="Rounded Rectangle 21"/>
          <p:cNvSpPr/>
          <p:nvPr/>
        </p:nvSpPr>
        <p:spPr>
          <a:xfrm>
            <a:off x="594360"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24" name="Rounded Rectangle 23"/>
          <p:cNvSpPr/>
          <p:nvPr/>
        </p:nvSpPr>
        <p:spPr>
          <a:xfrm>
            <a:off x="3328416"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28416"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26" name="Rounded Rectangle 25"/>
          <p:cNvSpPr/>
          <p:nvPr/>
        </p:nvSpPr>
        <p:spPr>
          <a:xfrm>
            <a:off x="3465576"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65576" y="2651760"/>
            <a:ext cx="2423160" cy="402336"/>
          </a:xfrm>
          <a:prstGeom prst="rect">
            <a:avLst/>
          </a:prstGeom>
          <a:noFill/>
        </p:spPr>
        <p:txBody>
          <a:bodyPr wrap="square">
            <a:spAutoFit/>
          </a:bodyPr>
          <a:lstStyle/>
          <a:p>
            <a:pPr algn="ctr"/>
            <a:r>
              <a:rPr sz="1600" b="1" i="0">
                <a:solidFill>
                  <a:srgbClr val="FFFFFF"/>
                </a:solidFill>
                <a:latin typeface="Calibri"/>
              </a:rPr>
              <a:t>HEADLINE</a:t>
            </a:r>
          </a:p>
        </p:txBody>
      </p:sp>
      <p:sp>
        <p:nvSpPr>
          <p:cNvPr id="28" name="TextBox 27"/>
          <p:cNvSpPr txBox="1"/>
          <p:nvPr/>
        </p:nvSpPr>
        <p:spPr>
          <a:xfrm>
            <a:off x="3557016" y="3246120"/>
            <a:ext cx="2240280" cy="914400"/>
          </a:xfrm>
          <a:prstGeom prst="rect">
            <a:avLst/>
          </a:prstGeom>
          <a:noFill/>
        </p:spPr>
        <p:txBody>
          <a:bodyPr wrap="square">
            <a:spAutoFit/>
          </a:bodyPr>
          <a:lstStyle/>
          <a:p>
            <a:pPr algn="ctr"/>
            <a:r>
              <a:rPr sz="1200" b="0" i="0">
                <a:solidFill>
                  <a:srgbClr val="2A2F36"/>
                </a:solidFill>
                <a:latin typeface="Calibri"/>
              </a:rPr>
              <a:t>the big title at the top of a news story</a:t>
            </a:r>
          </a:p>
        </p:txBody>
      </p:sp>
      <p:sp>
        <p:nvSpPr>
          <p:cNvPr id="29" name="Rounded Rectangle 28"/>
          <p:cNvSpPr/>
          <p:nvPr/>
        </p:nvSpPr>
        <p:spPr>
          <a:xfrm>
            <a:off x="3465576"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02736" y="4389120"/>
            <a:ext cx="2148840" cy="685800"/>
          </a:xfrm>
          <a:prstGeom prst="rect">
            <a:avLst/>
          </a:prstGeom>
          <a:noFill/>
        </p:spPr>
        <p:txBody>
          <a:bodyPr wrap="square">
            <a:spAutoFit/>
          </a:bodyPr>
          <a:lstStyle/>
          <a:p>
            <a:pPr algn="ctr"/>
            <a:r>
              <a:rPr sz="1100" b="0" i="1">
                <a:solidFill>
                  <a:srgbClr val="6A4A9E"/>
                </a:solidFill>
                <a:latin typeface="Calibri"/>
              </a:rPr>
              <a:t>The headline used only five words.</a:t>
            </a:r>
          </a:p>
        </p:txBody>
      </p:sp>
      <p:sp>
        <p:nvSpPr>
          <p:cNvPr id="31" name="Rounded Rectangle 30"/>
          <p:cNvSpPr/>
          <p:nvPr/>
        </p:nvSpPr>
        <p:spPr>
          <a:xfrm>
            <a:off x="3465576"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57016"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33" name="Rounded Rectangle 32"/>
          <p:cNvSpPr/>
          <p:nvPr/>
        </p:nvSpPr>
        <p:spPr>
          <a:xfrm>
            <a:off x="6199632"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99632"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35" name="Rounded Rectangle 34"/>
          <p:cNvSpPr/>
          <p:nvPr/>
        </p:nvSpPr>
        <p:spPr>
          <a:xfrm>
            <a:off x="6336792"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36792" y="2651760"/>
            <a:ext cx="2423160" cy="402336"/>
          </a:xfrm>
          <a:prstGeom prst="rect">
            <a:avLst/>
          </a:prstGeom>
          <a:noFill/>
        </p:spPr>
        <p:txBody>
          <a:bodyPr wrap="square">
            <a:spAutoFit/>
          </a:bodyPr>
          <a:lstStyle/>
          <a:p>
            <a:pPr algn="ctr"/>
            <a:r>
              <a:rPr sz="1600" b="1" i="0">
                <a:solidFill>
                  <a:srgbClr val="FFFFFF"/>
                </a:solidFill>
                <a:latin typeface="Calibri"/>
              </a:rPr>
              <a:t>GARDEN</a:t>
            </a:r>
          </a:p>
        </p:txBody>
      </p:sp>
      <p:sp>
        <p:nvSpPr>
          <p:cNvPr id="37" name="TextBox 36"/>
          <p:cNvSpPr txBox="1"/>
          <p:nvPr/>
        </p:nvSpPr>
        <p:spPr>
          <a:xfrm>
            <a:off x="6428232" y="3246120"/>
            <a:ext cx="2240280" cy="914400"/>
          </a:xfrm>
          <a:prstGeom prst="rect">
            <a:avLst/>
          </a:prstGeom>
          <a:noFill/>
        </p:spPr>
        <p:txBody>
          <a:bodyPr wrap="square">
            <a:spAutoFit/>
          </a:bodyPr>
          <a:lstStyle/>
          <a:p>
            <a:pPr algn="ctr"/>
            <a:r>
              <a:rPr sz="1200" b="0" i="0">
                <a:solidFill>
                  <a:srgbClr val="2A2F36"/>
                </a:solidFill>
                <a:latin typeface="Calibri"/>
              </a:rPr>
              <a:t>a place where plants are grown</a:t>
            </a:r>
          </a:p>
        </p:txBody>
      </p:sp>
      <p:sp>
        <p:nvSpPr>
          <p:cNvPr id="38" name="Rounded Rectangle 37"/>
          <p:cNvSpPr/>
          <p:nvPr/>
        </p:nvSpPr>
        <p:spPr>
          <a:xfrm>
            <a:off x="6336792"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3952" y="4389120"/>
            <a:ext cx="2148840" cy="685800"/>
          </a:xfrm>
          <a:prstGeom prst="rect">
            <a:avLst/>
          </a:prstGeom>
          <a:noFill/>
        </p:spPr>
        <p:txBody>
          <a:bodyPr wrap="square">
            <a:spAutoFit/>
          </a:bodyPr>
          <a:lstStyle/>
          <a:p>
            <a:pPr algn="ctr"/>
            <a:r>
              <a:rPr sz="1100" b="0" i="1">
                <a:solidFill>
                  <a:srgbClr val="6A4A9E"/>
                </a:solidFill>
                <a:latin typeface="Calibri"/>
              </a:rPr>
              <a:t>The garden is behind the school.</a:t>
            </a:r>
          </a:p>
        </p:txBody>
      </p:sp>
      <p:sp>
        <p:nvSpPr>
          <p:cNvPr id="40" name="Rounded Rectangle 39"/>
          <p:cNvSpPr/>
          <p:nvPr/>
        </p:nvSpPr>
        <p:spPr>
          <a:xfrm>
            <a:off x="6336792"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8232"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42" name="Rounded Rectangle 41"/>
          <p:cNvSpPr/>
          <p:nvPr/>
        </p:nvSpPr>
        <p:spPr>
          <a:xfrm>
            <a:off x="9070848"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70848"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44" name="Rounded Rectangle 43"/>
          <p:cNvSpPr/>
          <p:nvPr/>
        </p:nvSpPr>
        <p:spPr>
          <a:xfrm>
            <a:off x="9208008"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08008" y="2651760"/>
            <a:ext cx="2423160" cy="402336"/>
          </a:xfrm>
          <a:prstGeom prst="rect">
            <a:avLst/>
          </a:prstGeom>
          <a:noFill/>
        </p:spPr>
        <p:txBody>
          <a:bodyPr wrap="square">
            <a:spAutoFit/>
          </a:bodyPr>
          <a:lstStyle/>
          <a:p>
            <a:pPr algn="ctr"/>
            <a:r>
              <a:rPr sz="1600" b="1" i="0">
                <a:solidFill>
                  <a:srgbClr val="FFFFFF"/>
                </a:solidFill>
                <a:latin typeface="Calibri"/>
              </a:rPr>
              <a:t>PROJECT</a:t>
            </a:r>
          </a:p>
        </p:txBody>
      </p:sp>
      <p:sp>
        <p:nvSpPr>
          <p:cNvPr id="46" name="TextBox 45"/>
          <p:cNvSpPr txBox="1"/>
          <p:nvPr/>
        </p:nvSpPr>
        <p:spPr>
          <a:xfrm>
            <a:off x="9299448" y="3246120"/>
            <a:ext cx="2240280" cy="914400"/>
          </a:xfrm>
          <a:prstGeom prst="rect">
            <a:avLst/>
          </a:prstGeom>
          <a:noFill/>
        </p:spPr>
        <p:txBody>
          <a:bodyPr wrap="square">
            <a:spAutoFit/>
          </a:bodyPr>
          <a:lstStyle/>
          <a:p>
            <a:pPr algn="ctr"/>
            <a:r>
              <a:rPr sz="1200" b="0" i="0">
                <a:solidFill>
                  <a:srgbClr val="2A2F36"/>
                </a:solidFill>
                <a:latin typeface="Calibri"/>
              </a:rPr>
              <a:t>a piece of work with a goal</a:t>
            </a:r>
          </a:p>
        </p:txBody>
      </p:sp>
      <p:sp>
        <p:nvSpPr>
          <p:cNvPr id="47" name="Rounded Rectangle 46"/>
          <p:cNvSpPr/>
          <p:nvPr/>
        </p:nvSpPr>
        <p:spPr>
          <a:xfrm>
            <a:off x="9208008"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45168" y="4389120"/>
            <a:ext cx="2148840" cy="685800"/>
          </a:xfrm>
          <a:prstGeom prst="rect">
            <a:avLst/>
          </a:prstGeom>
          <a:noFill/>
        </p:spPr>
        <p:txBody>
          <a:bodyPr wrap="square">
            <a:spAutoFit/>
          </a:bodyPr>
          <a:lstStyle/>
          <a:p>
            <a:pPr algn="ctr"/>
            <a:r>
              <a:rPr sz="1100" b="0" i="1">
                <a:solidFill>
                  <a:srgbClr val="6A4A9E"/>
                </a:solidFill>
                <a:latin typeface="Calibri"/>
              </a:rPr>
              <a:t>Our class project took one month.</a:t>
            </a:r>
          </a:p>
        </p:txBody>
      </p:sp>
      <p:sp>
        <p:nvSpPr>
          <p:cNvPr id="49" name="Rounded Rectangle 48"/>
          <p:cNvSpPr/>
          <p:nvPr/>
        </p:nvSpPr>
        <p:spPr>
          <a:xfrm>
            <a:off x="9208008"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99448"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51" name="Rounded Rectangle 50"/>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3" name="TextBox 52"/>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Say the word, she repeats it, then she reads the sentence.</a:t>
            </a: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VOCABULARY</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17–27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Newsroom Words — Set 2 of 3</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2598230"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Word Desk  |  17–27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13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6A4A9E"/>
                </a:solidFill>
                <a:latin typeface="Calibri"/>
              </a:rPr>
              <a:t>Four more. Two of these appear in today's news story.</a:t>
            </a:r>
          </a:p>
        </p:txBody>
      </p:sp>
      <p:sp>
        <p:nvSpPr>
          <p:cNvPr id="15" name="Rounded Rectangle 14"/>
          <p:cNvSpPr/>
          <p:nvPr/>
        </p:nvSpPr>
        <p:spPr>
          <a:xfrm>
            <a:off x="457200"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17" name="Rounded Rectangle 16"/>
          <p:cNvSpPr/>
          <p:nvPr/>
        </p:nvSpPr>
        <p:spPr>
          <a:xfrm>
            <a:off x="594360"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651760"/>
            <a:ext cx="2423160" cy="402336"/>
          </a:xfrm>
          <a:prstGeom prst="rect">
            <a:avLst/>
          </a:prstGeom>
          <a:noFill/>
        </p:spPr>
        <p:txBody>
          <a:bodyPr wrap="square">
            <a:spAutoFit/>
          </a:bodyPr>
          <a:lstStyle/>
          <a:p>
            <a:pPr algn="ctr"/>
            <a:r>
              <a:rPr sz="1600" b="1" i="0">
                <a:solidFill>
                  <a:srgbClr val="FFFFFF"/>
                </a:solidFill>
                <a:latin typeface="Calibri"/>
              </a:rPr>
              <a:t>DISCOVER</a:t>
            </a:r>
          </a:p>
        </p:txBody>
      </p:sp>
      <p:sp>
        <p:nvSpPr>
          <p:cNvPr id="19" name="TextBox 18"/>
          <p:cNvSpPr txBox="1"/>
          <p:nvPr/>
        </p:nvSpPr>
        <p:spPr>
          <a:xfrm>
            <a:off x="685800" y="3246120"/>
            <a:ext cx="2240280" cy="914400"/>
          </a:xfrm>
          <a:prstGeom prst="rect">
            <a:avLst/>
          </a:prstGeom>
          <a:noFill/>
        </p:spPr>
        <p:txBody>
          <a:bodyPr wrap="square">
            <a:spAutoFit/>
          </a:bodyPr>
          <a:lstStyle/>
          <a:p>
            <a:pPr algn="ctr"/>
            <a:r>
              <a:rPr sz="1200" b="0" i="0">
                <a:solidFill>
                  <a:srgbClr val="2A2F36"/>
                </a:solidFill>
                <a:latin typeface="Calibri"/>
              </a:rPr>
              <a:t>to find something new</a:t>
            </a:r>
          </a:p>
        </p:txBody>
      </p:sp>
      <p:sp>
        <p:nvSpPr>
          <p:cNvPr id="20" name="Rounded Rectangle 19"/>
          <p:cNvSpPr/>
          <p:nvPr/>
        </p:nvSpPr>
        <p:spPr>
          <a:xfrm>
            <a:off x="594360"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389120"/>
            <a:ext cx="2148840" cy="685800"/>
          </a:xfrm>
          <a:prstGeom prst="rect">
            <a:avLst/>
          </a:prstGeom>
          <a:noFill/>
        </p:spPr>
        <p:txBody>
          <a:bodyPr wrap="square">
            <a:spAutoFit/>
          </a:bodyPr>
          <a:lstStyle/>
          <a:p>
            <a:pPr algn="ctr"/>
            <a:r>
              <a:rPr sz="1100" b="0" i="1">
                <a:solidFill>
                  <a:srgbClr val="6A4A9E"/>
                </a:solidFill>
                <a:latin typeface="Calibri"/>
              </a:rPr>
              <a:t>Students discovered a tiny bird's nest.</a:t>
            </a:r>
          </a:p>
        </p:txBody>
      </p:sp>
      <p:sp>
        <p:nvSpPr>
          <p:cNvPr id="22" name="Rounded Rectangle 21"/>
          <p:cNvSpPr/>
          <p:nvPr/>
        </p:nvSpPr>
        <p:spPr>
          <a:xfrm>
            <a:off x="594360"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24" name="Rounded Rectangle 23"/>
          <p:cNvSpPr/>
          <p:nvPr/>
        </p:nvSpPr>
        <p:spPr>
          <a:xfrm>
            <a:off x="3328416"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28416"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26" name="Rounded Rectangle 25"/>
          <p:cNvSpPr/>
          <p:nvPr/>
        </p:nvSpPr>
        <p:spPr>
          <a:xfrm>
            <a:off x="3465576"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65576" y="2651760"/>
            <a:ext cx="2423160" cy="402336"/>
          </a:xfrm>
          <a:prstGeom prst="rect">
            <a:avLst/>
          </a:prstGeom>
          <a:noFill/>
        </p:spPr>
        <p:txBody>
          <a:bodyPr wrap="square">
            <a:spAutoFit/>
          </a:bodyPr>
          <a:lstStyle/>
          <a:p>
            <a:pPr algn="ctr"/>
            <a:r>
              <a:rPr sz="1600" b="1" i="0">
                <a:solidFill>
                  <a:srgbClr val="FFFFFF"/>
                </a:solidFill>
                <a:latin typeface="Calibri"/>
              </a:rPr>
              <a:t>EXCITED</a:t>
            </a:r>
          </a:p>
        </p:txBody>
      </p:sp>
      <p:sp>
        <p:nvSpPr>
          <p:cNvPr id="28" name="TextBox 27"/>
          <p:cNvSpPr txBox="1"/>
          <p:nvPr/>
        </p:nvSpPr>
        <p:spPr>
          <a:xfrm>
            <a:off x="3557016" y="3246120"/>
            <a:ext cx="2240280" cy="914400"/>
          </a:xfrm>
          <a:prstGeom prst="rect">
            <a:avLst/>
          </a:prstGeom>
          <a:noFill/>
        </p:spPr>
        <p:txBody>
          <a:bodyPr wrap="square">
            <a:spAutoFit/>
          </a:bodyPr>
          <a:lstStyle/>
          <a:p>
            <a:pPr algn="ctr"/>
            <a:r>
              <a:rPr sz="1200" b="0" i="0">
                <a:solidFill>
                  <a:srgbClr val="2A2F36"/>
                </a:solidFill>
                <a:latin typeface="Calibri"/>
              </a:rPr>
              <a:t>feeling happy and eager</a:t>
            </a:r>
          </a:p>
        </p:txBody>
      </p:sp>
      <p:sp>
        <p:nvSpPr>
          <p:cNvPr id="29" name="Rounded Rectangle 28"/>
          <p:cNvSpPr/>
          <p:nvPr/>
        </p:nvSpPr>
        <p:spPr>
          <a:xfrm>
            <a:off x="3465576"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02736" y="4389120"/>
            <a:ext cx="2148840" cy="685800"/>
          </a:xfrm>
          <a:prstGeom prst="rect">
            <a:avLst/>
          </a:prstGeom>
          <a:noFill/>
        </p:spPr>
        <p:txBody>
          <a:bodyPr wrap="square">
            <a:spAutoFit/>
          </a:bodyPr>
          <a:lstStyle/>
          <a:p>
            <a:pPr algn="ctr"/>
            <a:r>
              <a:rPr sz="1100" b="0" i="1">
                <a:solidFill>
                  <a:srgbClr val="6A4A9E"/>
                </a:solidFill>
                <a:latin typeface="Calibri"/>
              </a:rPr>
              <a:t>The excited team clapped and cheered.</a:t>
            </a:r>
          </a:p>
        </p:txBody>
      </p:sp>
      <p:sp>
        <p:nvSpPr>
          <p:cNvPr id="31" name="Rounded Rectangle 30"/>
          <p:cNvSpPr/>
          <p:nvPr/>
        </p:nvSpPr>
        <p:spPr>
          <a:xfrm>
            <a:off x="3465576"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57016"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33" name="Rounded Rectangle 32"/>
          <p:cNvSpPr/>
          <p:nvPr/>
        </p:nvSpPr>
        <p:spPr>
          <a:xfrm>
            <a:off x="6199632"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99632"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35" name="Rounded Rectangle 34"/>
          <p:cNvSpPr/>
          <p:nvPr/>
        </p:nvSpPr>
        <p:spPr>
          <a:xfrm>
            <a:off x="6336792"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36792" y="2651760"/>
            <a:ext cx="2423160" cy="402336"/>
          </a:xfrm>
          <a:prstGeom prst="rect">
            <a:avLst/>
          </a:prstGeom>
          <a:noFill/>
        </p:spPr>
        <p:txBody>
          <a:bodyPr wrap="square">
            <a:spAutoFit/>
          </a:bodyPr>
          <a:lstStyle/>
          <a:p>
            <a:pPr algn="ctr"/>
            <a:r>
              <a:rPr sz="1600" b="1" i="0">
                <a:solidFill>
                  <a:srgbClr val="FFFFFF"/>
                </a:solidFill>
                <a:latin typeface="Calibri"/>
              </a:rPr>
              <a:t>CAREFULLY</a:t>
            </a:r>
          </a:p>
        </p:txBody>
      </p:sp>
      <p:sp>
        <p:nvSpPr>
          <p:cNvPr id="37" name="TextBox 36"/>
          <p:cNvSpPr txBox="1"/>
          <p:nvPr/>
        </p:nvSpPr>
        <p:spPr>
          <a:xfrm>
            <a:off x="6428232" y="3246120"/>
            <a:ext cx="2240280" cy="914400"/>
          </a:xfrm>
          <a:prstGeom prst="rect">
            <a:avLst/>
          </a:prstGeom>
          <a:noFill/>
        </p:spPr>
        <p:txBody>
          <a:bodyPr wrap="square">
            <a:spAutoFit/>
          </a:bodyPr>
          <a:lstStyle/>
          <a:p>
            <a:pPr algn="ctr"/>
            <a:r>
              <a:rPr sz="1200" b="0" i="0">
                <a:solidFill>
                  <a:srgbClr val="2A2F36"/>
                </a:solidFill>
                <a:latin typeface="Calibri"/>
              </a:rPr>
              <a:t>doing something with full attention</a:t>
            </a:r>
          </a:p>
        </p:txBody>
      </p:sp>
      <p:sp>
        <p:nvSpPr>
          <p:cNvPr id="38" name="Rounded Rectangle 37"/>
          <p:cNvSpPr/>
          <p:nvPr/>
        </p:nvSpPr>
        <p:spPr>
          <a:xfrm>
            <a:off x="6336792"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3952" y="4389120"/>
            <a:ext cx="2148840" cy="685800"/>
          </a:xfrm>
          <a:prstGeom prst="rect">
            <a:avLst/>
          </a:prstGeom>
          <a:noFill/>
        </p:spPr>
        <p:txBody>
          <a:bodyPr wrap="square">
            <a:spAutoFit/>
          </a:bodyPr>
          <a:lstStyle/>
          <a:p>
            <a:pPr algn="ctr"/>
            <a:r>
              <a:rPr sz="1100" b="0" i="1">
                <a:solidFill>
                  <a:srgbClr val="6A4A9E"/>
                </a:solidFill>
                <a:latin typeface="Calibri"/>
              </a:rPr>
              <a:t>She carefully wrote down every name.</a:t>
            </a:r>
          </a:p>
        </p:txBody>
      </p:sp>
      <p:sp>
        <p:nvSpPr>
          <p:cNvPr id="40" name="Rounded Rectangle 39"/>
          <p:cNvSpPr/>
          <p:nvPr/>
        </p:nvSpPr>
        <p:spPr>
          <a:xfrm>
            <a:off x="6336792"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8232"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42" name="Rounded Rectangle 41"/>
          <p:cNvSpPr/>
          <p:nvPr/>
        </p:nvSpPr>
        <p:spPr>
          <a:xfrm>
            <a:off x="9070848"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70848"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44" name="Rounded Rectangle 43"/>
          <p:cNvSpPr/>
          <p:nvPr/>
        </p:nvSpPr>
        <p:spPr>
          <a:xfrm>
            <a:off x="9208008"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08008" y="2651760"/>
            <a:ext cx="2423160" cy="402336"/>
          </a:xfrm>
          <a:prstGeom prst="rect">
            <a:avLst/>
          </a:prstGeom>
          <a:noFill/>
        </p:spPr>
        <p:txBody>
          <a:bodyPr wrap="square">
            <a:spAutoFit/>
          </a:bodyPr>
          <a:lstStyle/>
          <a:p>
            <a:pPr algn="ctr"/>
            <a:r>
              <a:rPr sz="1600" b="1" i="0">
                <a:solidFill>
                  <a:srgbClr val="FFFFFF"/>
                </a:solidFill>
                <a:latin typeface="Calibri"/>
              </a:rPr>
              <a:t>INTERVIEW</a:t>
            </a:r>
          </a:p>
        </p:txBody>
      </p:sp>
      <p:sp>
        <p:nvSpPr>
          <p:cNvPr id="46" name="TextBox 45"/>
          <p:cNvSpPr txBox="1"/>
          <p:nvPr/>
        </p:nvSpPr>
        <p:spPr>
          <a:xfrm>
            <a:off x="9299448" y="3246120"/>
            <a:ext cx="2240280" cy="914400"/>
          </a:xfrm>
          <a:prstGeom prst="rect">
            <a:avLst/>
          </a:prstGeom>
          <a:noFill/>
        </p:spPr>
        <p:txBody>
          <a:bodyPr wrap="square">
            <a:spAutoFit/>
          </a:bodyPr>
          <a:lstStyle/>
          <a:p>
            <a:pPr algn="ctr"/>
            <a:r>
              <a:rPr sz="1200" b="0" i="0">
                <a:solidFill>
                  <a:srgbClr val="2A2F36"/>
                </a:solidFill>
                <a:latin typeface="Calibri"/>
              </a:rPr>
              <a:t>to ask someone questions for a story</a:t>
            </a:r>
          </a:p>
        </p:txBody>
      </p:sp>
      <p:sp>
        <p:nvSpPr>
          <p:cNvPr id="47" name="Rounded Rectangle 46"/>
          <p:cNvSpPr/>
          <p:nvPr/>
        </p:nvSpPr>
        <p:spPr>
          <a:xfrm>
            <a:off x="9208008"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45168" y="4389120"/>
            <a:ext cx="2148840" cy="685800"/>
          </a:xfrm>
          <a:prstGeom prst="rect">
            <a:avLst/>
          </a:prstGeom>
          <a:noFill/>
        </p:spPr>
        <p:txBody>
          <a:bodyPr wrap="square">
            <a:spAutoFit/>
          </a:bodyPr>
          <a:lstStyle/>
          <a:p>
            <a:pPr algn="ctr"/>
            <a:r>
              <a:rPr sz="1100" b="0" i="1">
                <a:solidFill>
                  <a:srgbClr val="6A4A9E"/>
                </a:solidFill>
                <a:latin typeface="Calibri"/>
              </a:rPr>
              <a:t>I will interview the principal today.</a:t>
            </a:r>
          </a:p>
        </p:txBody>
      </p:sp>
      <p:sp>
        <p:nvSpPr>
          <p:cNvPr id="49" name="Rounded Rectangle 48"/>
          <p:cNvSpPr/>
          <p:nvPr/>
        </p:nvSpPr>
        <p:spPr>
          <a:xfrm>
            <a:off x="9208008"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99448"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51" name="Rounded Rectangle 50"/>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3" name="TextBox 52"/>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CAREFULLY ends in -ly, so it describes HOW something is done.</a:t>
            </a:r>
          </a:p>
        </p:txBody>
      </p:sp>
    </p:spTree>
  </p:cSld>
  <p:clrMapOvr>
    <a:masterClrMapping/>
  </p:clrMapOvr>
  <p:transition spd="med"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VOCABULARY</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17–27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Newsroom Words — Set 3 of 3</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2798093"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Word Desk  |  17–27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14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6A4A9E"/>
                </a:solidFill>
                <a:latin typeface="Calibri"/>
              </a:rPr>
              <a:t>The last four. Now you own all twelve.</a:t>
            </a:r>
          </a:p>
        </p:txBody>
      </p:sp>
      <p:sp>
        <p:nvSpPr>
          <p:cNvPr id="15" name="Rounded Rectangle 14"/>
          <p:cNvSpPr/>
          <p:nvPr/>
        </p:nvSpPr>
        <p:spPr>
          <a:xfrm>
            <a:off x="457200"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17" name="Rounded Rectangle 16"/>
          <p:cNvSpPr/>
          <p:nvPr/>
        </p:nvSpPr>
        <p:spPr>
          <a:xfrm>
            <a:off x="594360"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651760"/>
            <a:ext cx="2423160" cy="402336"/>
          </a:xfrm>
          <a:prstGeom prst="rect">
            <a:avLst/>
          </a:prstGeom>
          <a:noFill/>
        </p:spPr>
        <p:txBody>
          <a:bodyPr wrap="square">
            <a:spAutoFit/>
          </a:bodyPr>
          <a:lstStyle/>
          <a:p>
            <a:pPr algn="ctr"/>
            <a:r>
              <a:rPr sz="1600" b="1" i="0">
                <a:solidFill>
                  <a:srgbClr val="FFFFFF"/>
                </a:solidFill>
                <a:latin typeface="Calibri"/>
              </a:rPr>
              <a:t>TEAM</a:t>
            </a:r>
          </a:p>
        </p:txBody>
      </p:sp>
      <p:sp>
        <p:nvSpPr>
          <p:cNvPr id="19" name="TextBox 18"/>
          <p:cNvSpPr txBox="1"/>
          <p:nvPr/>
        </p:nvSpPr>
        <p:spPr>
          <a:xfrm>
            <a:off x="685800" y="3246120"/>
            <a:ext cx="2240280" cy="914400"/>
          </a:xfrm>
          <a:prstGeom prst="rect">
            <a:avLst/>
          </a:prstGeom>
          <a:noFill/>
        </p:spPr>
        <p:txBody>
          <a:bodyPr wrap="square">
            <a:spAutoFit/>
          </a:bodyPr>
          <a:lstStyle/>
          <a:p>
            <a:pPr algn="ctr"/>
            <a:r>
              <a:rPr sz="1200" b="0" i="0">
                <a:solidFill>
                  <a:srgbClr val="2A2F36"/>
                </a:solidFill>
                <a:latin typeface="Calibri"/>
              </a:rPr>
              <a:t>a group of people working together</a:t>
            </a:r>
          </a:p>
        </p:txBody>
      </p:sp>
      <p:sp>
        <p:nvSpPr>
          <p:cNvPr id="20" name="Rounded Rectangle 19"/>
          <p:cNvSpPr/>
          <p:nvPr/>
        </p:nvSpPr>
        <p:spPr>
          <a:xfrm>
            <a:off x="594360"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389120"/>
            <a:ext cx="2148840" cy="685800"/>
          </a:xfrm>
          <a:prstGeom prst="rect">
            <a:avLst/>
          </a:prstGeom>
          <a:noFill/>
        </p:spPr>
        <p:txBody>
          <a:bodyPr wrap="square">
            <a:spAutoFit/>
          </a:bodyPr>
          <a:lstStyle/>
          <a:p>
            <a:pPr algn="ctr"/>
            <a:r>
              <a:rPr sz="1100" b="0" i="1">
                <a:solidFill>
                  <a:srgbClr val="6A4A9E"/>
                </a:solidFill>
                <a:latin typeface="Calibri"/>
              </a:rPr>
              <a:t>The team met every Tuesday.</a:t>
            </a:r>
          </a:p>
        </p:txBody>
      </p:sp>
      <p:sp>
        <p:nvSpPr>
          <p:cNvPr id="22" name="Rounded Rectangle 21"/>
          <p:cNvSpPr/>
          <p:nvPr/>
        </p:nvSpPr>
        <p:spPr>
          <a:xfrm>
            <a:off x="594360"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24" name="Rounded Rectangle 23"/>
          <p:cNvSpPr/>
          <p:nvPr/>
        </p:nvSpPr>
        <p:spPr>
          <a:xfrm>
            <a:off x="3328416"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28416"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26" name="Rounded Rectangle 25"/>
          <p:cNvSpPr/>
          <p:nvPr/>
        </p:nvSpPr>
        <p:spPr>
          <a:xfrm>
            <a:off x="3465576"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65576" y="2651760"/>
            <a:ext cx="2423160" cy="402336"/>
          </a:xfrm>
          <a:prstGeom prst="rect">
            <a:avLst/>
          </a:prstGeom>
          <a:noFill/>
        </p:spPr>
        <p:txBody>
          <a:bodyPr wrap="square">
            <a:spAutoFit/>
          </a:bodyPr>
          <a:lstStyle/>
          <a:p>
            <a:pPr algn="ctr"/>
            <a:r>
              <a:rPr sz="1600" b="1" i="0">
                <a:solidFill>
                  <a:srgbClr val="FFFFFF"/>
                </a:solidFill>
                <a:latin typeface="Calibri"/>
              </a:rPr>
              <a:t>PRACTICE</a:t>
            </a:r>
          </a:p>
        </p:txBody>
      </p:sp>
      <p:sp>
        <p:nvSpPr>
          <p:cNvPr id="28" name="TextBox 27"/>
          <p:cNvSpPr txBox="1"/>
          <p:nvPr/>
        </p:nvSpPr>
        <p:spPr>
          <a:xfrm>
            <a:off x="3557016" y="3246120"/>
            <a:ext cx="2240280" cy="914400"/>
          </a:xfrm>
          <a:prstGeom prst="rect">
            <a:avLst/>
          </a:prstGeom>
          <a:noFill/>
        </p:spPr>
        <p:txBody>
          <a:bodyPr wrap="square">
            <a:spAutoFit/>
          </a:bodyPr>
          <a:lstStyle/>
          <a:p>
            <a:pPr algn="ctr"/>
            <a:r>
              <a:rPr sz="1200" b="0" i="0">
                <a:solidFill>
                  <a:srgbClr val="2A2F36"/>
                </a:solidFill>
                <a:latin typeface="Calibri"/>
              </a:rPr>
              <a:t>to do something again to get better</a:t>
            </a:r>
          </a:p>
        </p:txBody>
      </p:sp>
      <p:sp>
        <p:nvSpPr>
          <p:cNvPr id="29" name="Rounded Rectangle 28"/>
          <p:cNvSpPr/>
          <p:nvPr/>
        </p:nvSpPr>
        <p:spPr>
          <a:xfrm>
            <a:off x="3465576"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02736" y="4389120"/>
            <a:ext cx="2148840" cy="685800"/>
          </a:xfrm>
          <a:prstGeom prst="rect">
            <a:avLst/>
          </a:prstGeom>
          <a:noFill/>
        </p:spPr>
        <p:txBody>
          <a:bodyPr wrap="square">
            <a:spAutoFit/>
          </a:bodyPr>
          <a:lstStyle/>
          <a:p>
            <a:pPr algn="ctr"/>
            <a:r>
              <a:rPr sz="1100" b="0" i="1">
                <a:solidFill>
                  <a:srgbClr val="6A4A9E"/>
                </a:solidFill>
                <a:latin typeface="Calibri"/>
              </a:rPr>
              <a:t>We practice reading out loud.</a:t>
            </a:r>
          </a:p>
        </p:txBody>
      </p:sp>
      <p:sp>
        <p:nvSpPr>
          <p:cNvPr id="31" name="Rounded Rectangle 30"/>
          <p:cNvSpPr/>
          <p:nvPr/>
        </p:nvSpPr>
        <p:spPr>
          <a:xfrm>
            <a:off x="3465576"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57016"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33" name="Rounded Rectangle 32"/>
          <p:cNvSpPr/>
          <p:nvPr/>
        </p:nvSpPr>
        <p:spPr>
          <a:xfrm>
            <a:off x="6199632"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99632"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35" name="Rounded Rectangle 34"/>
          <p:cNvSpPr/>
          <p:nvPr/>
        </p:nvSpPr>
        <p:spPr>
          <a:xfrm>
            <a:off x="6336792"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36792" y="2651760"/>
            <a:ext cx="2423160" cy="402336"/>
          </a:xfrm>
          <a:prstGeom prst="rect">
            <a:avLst/>
          </a:prstGeom>
          <a:noFill/>
        </p:spPr>
        <p:txBody>
          <a:bodyPr wrap="square">
            <a:spAutoFit/>
          </a:bodyPr>
          <a:lstStyle/>
          <a:p>
            <a:pPr algn="ctr"/>
            <a:r>
              <a:rPr sz="1600" b="1" i="0">
                <a:solidFill>
                  <a:srgbClr val="FFFFFF"/>
                </a:solidFill>
                <a:latin typeface="Calibri"/>
              </a:rPr>
              <a:t>CELEBRATE</a:t>
            </a:r>
          </a:p>
        </p:txBody>
      </p:sp>
      <p:sp>
        <p:nvSpPr>
          <p:cNvPr id="37" name="TextBox 36"/>
          <p:cNvSpPr txBox="1"/>
          <p:nvPr/>
        </p:nvSpPr>
        <p:spPr>
          <a:xfrm>
            <a:off x="6428232" y="3246120"/>
            <a:ext cx="2240280" cy="914400"/>
          </a:xfrm>
          <a:prstGeom prst="rect">
            <a:avLst/>
          </a:prstGeom>
          <a:noFill/>
        </p:spPr>
        <p:txBody>
          <a:bodyPr wrap="square">
            <a:spAutoFit/>
          </a:bodyPr>
          <a:lstStyle/>
          <a:p>
            <a:pPr algn="ctr"/>
            <a:r>
              <a:rPr sz="1200" b="0" i="0">
                <a:solidFill>
                  <a:srgbClr val="2A2F36"/>
                </a:solidFill>
                <a:latin typeface="Calibri"/>
              </a:rPr>
              <a:t>to show you are happy about something</a:t>
            </a:r>
          </a:p>
        </p:txBody>
      </p:sp>
      <p:sp>
        <p:nvSpPr>
          <p:cNvPr id="38" name="Rounded Rectangle 37"/>
          <p:cNvSpPr/>
          <p:nvPr/>
        </p:nvSpPr>
        <p:spPr>
          <a:xfrm>
            <a:off x="6336792"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3952" y="4389120"/>
            <a:ext cx="2148840" cy="685800"/>
          </a:xfrm>
          <a:prstGeom prst="rect">
            <a:avLst/>
          </a:prstGeom>
          <a:noFill/>
        </p:spPr>
        <p:txBody>
          <a:bodyPr wrap="square">
            <a:spAutoFit/>
          </a:bodyPr>
          <a:lstStyle/>
          <a:p>
            <a:pPr algn="ctr"/>
            <a:r>
              <a:rPr sz="1100" b="0" i="1">
                <a:solidFill>
                  <a:srgbClr val="6A4A9E"/>
                </a:solidFill>
                <a:latin typeface="Calibri"/>
              </a:rPr>
              <a:t>They celebrated the first red tomato.</a:t>
            </a:r>
          </a:p>
        </p:txBody>
      </p:sp>
      <p:sp>
        <p:nvSpPr>
          <p:cNvPr id="40" name="Rounded Rectangle 39"/>
          <p:cNvSpPr/>
          <p:nvPr/>
        </p:nvSpPr>
        <p:spPr>
          <a:xfrm>
            <a:off x="6336792"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8232"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42" name="Rounded Rectangle 41"/>
          <p:cNvSpPr/>
          <p:nvPr/>
        </p:nvSpPr>
        <p:spPr>
          <a:xfrm>
            <a:off x="9070848" y="1627632"/>
            <a:ext cx="2697480" cy="406908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70848" y="1783080"/>
            <a:ext cx="2697480" cy="685800"/>
          </a:xfrm>
          <a:prstGeom prst="rect">
            <a:avLst/>
          </a:prstGeom>
          <a:noFill/>
        </p:spPr>
        <p:txBody>
          <a:bodyPr wrap="square">
            <a:spAutoFit/>
          </a:bodyPr>
          <a:lstStyle/>
          <a:p>
            <a:pPr algn="ctr"/>
            <a:r>
              <a:rPr sz="3000" b="0" i="0">
                <a:solidFill>
                  <a:srgbClr val="2A2F36"/>
                </a:solidFill>
                <a:latin typeface="Calibri"/>
              </a:rPr>
              <a:t>🏫</a:t>
            </a:r>
          </a:p>
        </p:txBody>
      </p:sp>
      <p:sp>
        <p:nvSpPr>
          <p:cNvPr id="44" name="Rounded Rectangle 43"/>
          <p:cNvSpPr/>
          <p:nvPr/>
        </p:nvSpPr>
        <p:spPr>
          <a:xfrm>
            <a:off x="9208008" y="2542032"/>
            <a:ext cx="242316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08008" y="2651760"/>
            <a:ext cx="2423160" cy="402336"/>
          </a:xfrm>
          <a:prstGeom prst="rect">
            <a:avLst/>
          </a:prstGeom>
          <a:noFill/>
        </p:spPr>
        <p:txBody>
          <a:bodyPr wrap="square">
            <a:spAutoFit/>
          </a:bodyPr>
          <a:lstStyle/>
          <a:p>
            <a:pPr algn="ctr"/>
            <a:r>
              <a:rPr sz="1600" b="1" i="0">
                <a:solidFill>
                  <a:srgbClr val="FFFFFF"/>
                </a:solidFill>
                <a:latin typeface="Calibri"/>
              </a:rPr>
              <a:t>SCHOOL</a:t>
            </a:r>
          </a:p>
        </p:txBody>
      </p:sp>
      <p:sp>
        <p:nvSpPr>
          <p:cNvPr id="46" name="TextBox 45"/>
          <p:cNvSpPr txBox="1"/>
          <p:nvPr/>
        </p:nvSpPr>
        <p:spPr>
          <a:xfrm>
            <a:off x="9299448" y="3246120"/>
            <a:ext cx="2240280" cy="914400"/>
          </a:xfrm>
          <a:prstGeom prst="rect">
            <a:avLst/>
          </a:prstGeom>
          <a:noFill/>
        </p:spPr>
        <p:txBody>
          <a:bodyPr wrap="square">
            <a:spAutoFit/>
          </a:bodyPr>
          <a:lstStyle/>
          <a:p>
            <a:pPr algn="ctr"/>
            <a:r>
              <a:rPr sz="1200" b="0" i="0">
                <a:solidFill>
                  <a:srgbClr val="2A2F36"/>
                </a:solidFill>
                <a:latin typeface="Calibri"/>
              </a:rPr>
              <a:t>a place where students learn</a:t>
            </a:r>
          </a:p>
        </p:txBody>
      </p:sp>
      <p:sp>
        <p:nvSpPr>
          <p:cNvPr id="47" name="Rounded Rectangle 46"/>
          <p:cNvSpPr/>
          <p:nvPr/>
        </p:nvSpPr>
        <p:spPr>
          <a:xfrm>
            <a:off x="9208008" y="4279392"/>
            <a:ext cx="24231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45168" y="4389120"/>
            <a:ext cx="2148840" cy="685800"/>
          </a:xfrm>
          <a:prstGeom prst="rect">
            <a:avLst/>
          </a:prstGeom>
          <a:noFill/>
        </p:spPr>
        <p:txBody>
          <a:bodyPr wrap="square">
            <a:spAutoFit/>
          </a:bodyPr>
          <a:lstStyle/>
          <a:p>
            <a:pPr algn="ctr"/>
            <a:r>
              <a:rPr sz="1100" b="0" i="1">
                <a:solidFill>
                  <a:srgbClr val="6A4A9E"/>
                </a:solidFill>
                <a:latin typeface="Calibri"/>
              </a:rPr>
              <a:t>Our school has its own newspaper.</a:t>
            </a:r>
          </a:p>
        </p:txBody>
      </p:sp>
      <p:sp>
        <p:nvSpPr>
          <p:cNvPr id="49" name="Rounded Rectangle 48"/>
          <p:cNvSpPr/>
          <p:nvPr/>
        </p:nvSpPr>
        <p:spPr>
          <a:xfrm>
            <a:off x="9208008" y="5248656"/>
            <a:ext cx="242316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99448" y="5321808"/>
            <a:ext cx="2240280" cy="292608"/>
          </a:xfrm>
          <a:prstGeom prst="rect">
            <a:avLst/>
          </a:prstGeom>
          <a:noFill/>
        </p:spPr>
        <p:txBody>
          <a:bodyPr wrap="square">
            <a:spAutoFit/>
          </a:bodyPr>
          <a:lstStyle/>
          <a:p>
            <a:pPr algn="ctr"/>
            <a:r>
              <a:rPr sz="1000" b="0" i="0">
                <a:solidFill>
                  <a:srgbClr val="78828E"/>
                </a:solidFill>
                <a:latin typeface="Calibri"/>
              </a:rPr>
              <a:t>your turn:  ____________</a:t>
            </a:r>
          </a:p>
        </p:txBody>
      </p:sp>
      <p:sp>
        <p:nvSpPr>
          <p:cNvPr id="51" name="Rounded Rectangle 50"/>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3" name="TextBox 52"/>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Go back to Set 1 for twenty seconds before you move on.</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17–27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Game: Word or Not?</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2997957"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Word Desk  |  17–27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15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5807C"/>
                </a:solidFill>
                <a:latin typeface="Calibri"/>
              </a:rPr>
              <a:t>Which of these words belong in our newsroom?</a:t>
            </a:r>
          </a:p>
        </p:txBody>
      </p:sp>
      <p:sp>
        <p:nvSpPr>
          <p:cNvPr id="15" name="Rounded Rectangle 14"/>
          <p:cNvSpPr/>
          <p:nvPr/>
        </p:nvSpPr>
        <p:spPr>
          <a:xfrm>
            <a:off x="457200" y="1783080"/>
            <a:ext cx="2697480" cy="14630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039112"/>
            <a:ext cx="2697480" cy="548640"/>
          </a:xfrm>
          <a:prstGeom prst="rect">
            <a:avLst/>
          </a:prstGeom>
          <a:noFill/>
        </p:spPr>
        <p:txBody>
          <a:bodyPr wrap="square">
            <a:spAutoFit/>
          </a:bodyPr>
          <a:lstStyle/>
          <a:p>
            <a:pPr algn="ctr"/>
            <a:r>
              <a:rPr sz="2200" b="1" i="0">
                <a:solidFill>
                  <a:srgbClr val="111418"/>
                </a:solidFill>
                <a:latin typeface="Georgia"/>
              </a:rPr>
              <a:t>REPORTER</a:t>
            </a:r>
          </a:p>
        </p:txBody>
      </p:sp>
      <p:sp>
        <p:nvSpPr>
          <p:cNvPr id="17" name="Rounded Rectangle 16"/>
          <p:cNvSpPr/>
          <p:nvPr/>
        </p:nvSpPr>
        <p:spPr>
          <a:xfrm>
            <a:off x="1005840" y="2679192"/>
            <a:ext cx="16002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2743200"/>
            <a:ext cx="1600200" cy="310896"/>
          </a:xfrm>
          <a:prstGeom prst="rect">
            <a:avLst/>
          </a:prstGeom>
          <a:noFill/>
        </p:spPr>
        <p:txBody>
          <a:bodyPr wrap="square">
            <a:spAutoFit/>
          </a:bodyPr>
          <a:lstStyle/>
          <a:p>
            <a:pPr algn="ctr"/>
            <a:r>
              <a:rPr sz="1200" b="1" i="0">
                <a:solidFill>
                  <a:srgbClr val="78828E"/>
                </a:solidFill>
                <a:latin typeface="Calibri"/>
              </a:rPr>
              <a:t>✓  YES    ✗  NO</a:t>
            </a:r>
          </a:p>
        </p:txBody>
      </p:sp>
      <p:sp>
        <p:nvSpPr>
          <p:cNvPr id="19" name="Rounded Rectangle 18"/>
          <p:cNvSpPr/>
          <p:nvPr/>
        </p:nvSpPr>
        <p:spPr>
          <a:xfrm>
            <a:off x="3328416" y="1783080"/>
            <a:ext cx="2697480" cy="14630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28416" y="2039112"/>
            <a:ext cx="2697480" cy="548640"/>
          </a:xfrm>
          <a:prstGeom prst="rect">
            <a:avLst/>
          </a:prstGeom>
          <a:noFill/>
        </p:spPr>
        <p:txBody>
          <a:bodyPr wrap="square">
            <a:spAutoFit/>
          </a:bodyPr>
          <a:lstStyle/>
          <a:p>
            <a:pPr algn="ctr"/>
            <a:r>
              <a:rPr sz="2200" b="1" i="0">
                <a:solidFill>
                  <a:srgbClr val="111418"/>
                </a:solidFill>
                <a:latin typeface="Georgia"/>
              </a:rPr>
              <a:t>BANANA</a:t>
            </a:r>
          </a:p>
        </p:txBody>
      </p:sp>
      <p:sp>
        <p:nvSpPr>
          <p:cNvPr id="21" name="Rounded Rectangle 20"/>
          <p:cNvSpPr/>
          <p:nvPr/>
        </p:nvSpPr>
        <p:spPr>
          <a:xfrm>
            <a:off x="3877056" y="2679192"/>
            <a:ext cx="16002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77056" y="2743200"/>
            <a:ext cx="1600200" cy="310896"/>
          </a:xfrm>
          <a:prstGeom prst="rect">
            <a:avLst/>
          </a:prstGeom>
          <a:noFill/>
        </p:spPr>
        <p:txBody>
          <a:bodyPr wrap="square">
            <a:spAutoFit/>
          </a:bodyPr>
          <a:lstStyle/>
          <a:p>
            <a:pPr algn="ctr"/>
            <a:r>
              <a:rPr sz="1200" b="1" i="0">
                <a:solidFill>
                  <a:srgbClr val="78828E"/>
                </a:solidFill>
                <a:latin typeface="Calibri"/>
              </a:rPr>
              <a:t>✓  YES    ✗  NO</a:t>
            </a:r>
          </a:p>
        </p:txBody>
      </p:sp>
      <p:sp>
        <p:nvSpPr>
          <p:cNvPr id="23" name="Rounded Rectangle 22"/>
          <p:cNvSpPr/>
          <p:nvPr/>
        </p:nvSpPr>
        <p:spPr>
          <a:xfrm>
            <a:off x="6199632" y="1783080"/>
            <a:ext cx="2697480" cy="14630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9632" y="2039112"/>
            <a:ext cx="2697480" cy="548640"/>
          </a:xfrm>
          <a:prstGeom prst="rect">
            <a:avLst/>
          </a:prstGeom>
          <a:noFill/>
        </p:spPr>
        <p:txBody>
          <a:bodyPr wrap="square">
            <a:spAutoFit/>
          </a:bodyPr>
          <a:lstStyle/>
          <a:p>
            <a:pPr algn="ctr"/>
            <a:r>
              <a:rPr sz="2200" b="1" i="0">
                <a:solidFill>
                  <a:srgbClr val="111418"/>
                </a:solidFill>
                <a:latin typeface="Georgia"/>
              </a:rPr>
              <a:t>HEADLINE</a:t>
            </a:r>
          </a:p>
        </p:txBody>
      </p:sp>
      <p:sp>
        <p:nvSpPr>
          <p:cNvPr id="25" name="Rounded Rectangle 24"/>
          <p:cNvSpPr/>
          <p:nvPr/>
        </p:nvSpPr>
        <p:spPr>
          <a:xfrm>
            <a:off x="6748272" y="2679192"/>
            <a:ext cx="16002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48272" y="2743200"/>
            <a:ext cx="1600200" cy="310896"/>
          </a:xfrm>
          <a:prstGeom prst="rect">
            <a:avLst/>
          </a:prstGeom>
          <a:noFill/>
        </p:spPr>
        <p:txBody>
          <a:bodyPr wrap="square">
            <a:spAutoFit/>
          </a:bodyPr>
          <a:lstStyle/>
          <a:p>
            <a:pPr algn="ctr"/>
            <a:r>
              <a:rPr sz="1200" b="1" i="0">
                <a:solidFill>
                  <a:srgbClr val="78828E"/>
                </a:solidFill>
                <a:latin typeface="Calibri"/>
              </a:rPr>
              <a:t>✓  YES    ✗  NO</a:t>
            </a:r>
          </a:p>
        </p:txBody>
      </p:sp>
      <p:sp>
        <p:nvSpPr>
          <p:cNvPr id="27" name="Rounded Rectangle 26"/>
          <p:cNvSpPr/>
          <p:nvPr/>
        </p:nvSpPr>
        <p:spPr>
          <a:xfrm>
            <a:off x="9070848" y="1783080"/>
            <a:ext cx="2697480" cy="14630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039112"/>
            <a:ext cx="2697480" cy="548640"/>
          </a:xfrm>
          <a:prstGeom prst="rect">
            <a:avLst/>
          </a:prstGeom>
          <a:noFill/>
        </p:spPr>
        <p:txBody>
          <a:bodyPr wrap="square">
            <a:spAutoFit/>
          </a:bodyPr>
          <a:lstStyle/>
          <a:p>
            <a:pPr algn="ctr"/>
            <a:r>
              <a:rPr sz="2200" b="1" i="0">
                <a:solidFill>
                  <a:srgbClr val="111418"/>
                </a:solidFill>
                <a:latin typeface="Georgia"/>
              </a:rPr>
              <a:t>GARDEN</a:t>
            </a:r>
          </a:p>
        </p:txBody>
      </p:sp>
      <p:sp>
        <p:nvSpPr>
          <p:cNvPr id="29" name="Rounded Rectangle 28"/>
          <p:cNvSpPr/>
          <p:nvPr/>
        </p:nvSpPr>
        <p:spPr>
          <a:xfrm>
            <a:off x="9619488" y="2679192"/>
            <a:ext cx="16002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19488" y="2743200"/>
            <a:ext cx="1600200" cy="310896"/>
          </a:xfrm>
          <a:prstGeom prst="rect">
            <a:avLst/>
          </a:prstGeom>
          <a:noFill/>
        </p:spPr>
        <p:txBody>
          <a:bodyPr wrap="square">
            <a:spAutoFit/>
          </a:bodyPr>
          <a:lstStyle/>
          <a:p>
            <a:pPr algn="ctr"/>
            <a:r>
              <a:rPr sz="1200" b="1" i="0">
                <a:solidFill>
                  <a:srgbClr val="78828E"/>
                </a:solidFill>
                <a:latin typeface="Calibri"/>
              </a:rPr>
              <a:t>✓  YES    ✗  NO</a:t>
            </a:r>
          </a:p>
        </p:txBody>
      </p:sp>
      <p:sp>
        <p:nvSpPr>
          <p:cNvPr id="31" name="Rounded Rectangle 30"/>
          <p:cNvSpPr/>
          <p:nvPr/>
        </p:nvSpPr>
        <p:spPr>
          <a:xfrm>
            <a:off x="457200" y="3474720"/>
            <a:ext cx="2697480" cy="14630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730752"/>
            <a:ext cx="2697480" cy="548640"/>
          </a:xfrm>
          <a:prstGeom prst="rect">
            <a:avLst/>
          </a:prstGeom>
          <a:noFill/>
        </p:spPr>
        <p:txBody>
          <a:bodyPr wrap="square">
            <a:spAutoFit/>
          </a:bodyPr>
          <a:lstStyle/>
          <a:p>
            <a:pPr algn="ctr"/>
            <a:r>
              <a:rPr sz="2200" b="1" i="0">
                <a:solidFill>
                  <a:srgbClr val="111418"/>
                </a:solidFill>
                <a:latin typeface="Georgia"/>
              </a:rPr>
              <a:t>ROCKET</a:t>
            </a:r>
          </a:p>
        </p:txBody>
      </p:sp>
      <p:sp>
        <p:nvSpPr>
          <p:cNvPr id="33" name="Rounded Rectangle 32"/>
          <p:cNvSpPr/>
          <p:nvPr/>
        </p:nvSpPr>
        <p:spPr>
          <a:xfrm>
            <a:off x="1005840" y="4370832"/>
            <a:ext cx="16002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4434840"/>
            <a:ext cx="1600200" cy="310896"/>
          </a:xfrm>
          <a:prstGeom prst="rect">
            <a:avLst/>
          </a:prstGeom>
          <a:noFill/>
        </p:spPr>
        <p:txBody>
          <a:bodyPr wrap="square">
            <a:spAutoFit/>
          </a:bodyPr>
          <a:lstStyle/>
          <a:p>
            <a:pPr algn="ctr"/>
            <a:r>
              <a:rPr sz="1200" b="1" i="0">
                <a:solidFill>
                  <a:srgbClr val="78828E"/>
                </a:solidFill>
                <a:latin typeface="Calibri"/>
              </a:rPr>
              <a:t>✓  YES    ✗  NO</a:t>
            </a:r>
          </a:p>
        </p:txBody>
      </p:sp>
      <p:sp>
        <p:nvSpPr>
          <p:cNvPr id="35" name="Rounded Rectangle 34"/>
          <p:cNvSpPr/>
          <p:nvPr/>
        </p:nvSpPr>
        <p:spPr>
          <a:xfrm>
            <a:off x="3328416" y="3474720"/>
            <a:ext cx="2697480" cy="14630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28416" y="3730752"/>
            <a:ext cx="2697480" cy="548640"/>
          </a:xfrm>
          <a:prstGeom prst="rect">
            <a:avLst/>
          </a:prstGeom>
          <a:noFill/>
        </p:spPr>
        <p:txBody>
          <a:bodyPr wrap="square">
            <a:spAutoFit/>
          </a:bodyPr>
          <a:lstStyle/>
          <a:p>
            <a:pPr algn="ctr"/>
            <a:r>
              <a:rPr sz="2200" b="1" i="0">
                <a:solidFill>
                  <a:srgbClr val="111418"/>
                </a:solidFill>
                <a:latin typeface="Georgia"/>
              </a:rPr>
              <a:t>INTERVIEW</a:t>
            </a:r>
          </a:p>
        </p:txBody>
      </p:sp>
      <p:sp>
        <p:nvSpPr>
          <p:cNvPr id="37" name="Rounded Rectangle 36"/>
          <p:cNvSpPr/>
          <p:nvPr/>
        </p:nvSpPr>
        <p:spPr>
          <a:xfrm>
            <a:off x="3877056" y="4370832"/>
            <a:ext cx="16002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77056" y="4434840"/>
            <a:ext cx="1600200" cy="310896"/>
          </a:xfrm>
          <a:prstGeom prst="rect">
            <a:avLst/>
          </a:prstGeom>
          <a:noFill/>
        </p:spPr>
        <p:txBody>
          <a:bodyPr wrap="square">
            <a:spAutoFit/>
          </a:bodyPr>
          <a:lstStyle/>
          <a:p>
            <a:pPr algn="ctr"/>
            <a:r>
              <a:rPr sz="1200" b="1" i="0">
                <a:solidFill>
                  <a:srgbClr val="78828E"/>
                </a:solidFill>
                <a:latin typeface="Calibri"/>
              </a:rPr>
              <a:t>✓  YES    ✗  NO</a:t>
            </a:r>
          </a:p>
        </p:txBody>
      </p:sp>
      <p:sp>
        <p:nvSpPr>
          <p:cNvPr id="39" name="Rounded Rectangle 38"/>
          <p:cNvSpPr/>
          <p:nvPr/>
        </p:nvSpPr>
        <p:spPr>
          <a:xfrm>
            <a:off x="6199632" y="3474720"/>
            <a:ext cx="2697480" cy="14630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9632" y="3730752"/>
            <a:ext cx="2697480" cy="548640"/>
          </a:xfrm>
          <a:prstGeom prst="rect">
            <a:avLst/>
          </a:prstGeom>
          <a:noFill/>
        </p:spPr>
        <p:txBody>
          <a:bodyPr wrap="square">
            <a:spAutoFit/>
          </a:bodyPr>
          <a:lstStyle/>
          <a:p>
            <a:pPr algn="ctr"/>
            <a:r>
              <a:rPr sz="2200" b="1" i="0">
                <a:solidFill>
                  <a:srgbClr val="111418"/>
                </a:solidFill>
                <a:latin typeface="Georgia"/>
              </a:rPr>
              <a:t>PENGUIN</a:t>
            </a:r>
          </a:p>
        </p:txBody>
      </p:sp>
      <p:sp>
        <p:nvSpPr>
          <p:cNvPr id="41" name="Rounded Rectangle 40"/>
          <p:cNvSpPr/>
          <p:nvPr/>
        </p:nvSpPr>
        <p:spPr>
          <a:xfrm>
            <a:off x="6748272" y="4370832"/>
            <a:ext cx="16002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48272" y="4434840"/>
            <a:ext cx="1600200" cy="310896"/>
          </a:xfrm>
          <a:prstGeom prst="rect">
            <a:avLst/>
          </a:prstGeom>
          <a:noFill/>
        </p:spPr>
        <p:txBody>
          <a:bodyPr wrap="square">
            <a:spAutoFit/>
          </a:bodyPr>
          <a:lstStyle/>
          <a:p>
            <a:pPr algn="ctr"/>
            <a:r>
              <a:rPr sz="1200" b="1" i="0">
                <a:solidFill>
                  <a:srgbClr val="78828E"/>
                </a:solidFill>
                <a:latin typeface="Calibri"/>
              </a:rPr>
              <a:t>✓  YES    ✗  NO</a:t>
            </a:r>
          </a:p>
        </p:txBody>
      </p:sp>
      <p:sp>
        <p:nvSpPr>
          <p:cNvPr id="43" name="Rounded Rectangle 42"/>
          <p:cNvSpPr/>
          <p:nvPr/>
        </p:nvSpPr>
        <p:spPr>
          <a:xfrm>
            <a:off x="9070848" y="3474720"/>
            <a:ext cx="2697480" cy="14630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70848" y="3730752"/>
            <a:ext cx="2697480" cy="548640"/>
          </a:xfrm>
          <a:prstGeom prst="rect">
            <a:avLst/>
          </a:prstGeom>
          <a:noFill/>
        </p:spPr>
        <p:txBody>
          <a:bodyPr wrap="square">
            <a:spAutoFit/>
          </a:bodyPr>
          <a:lstStyle/>
          <a:p>
            <a:pPr algn="ctr"/>
            <a:r>
              <a:rPr sz="2200" b="1" i="0">
                <a:solidFill>
                  <a:srgbClr val="111418"/>
                </a:solidFill>
                <a:latin typeface="Georgia"/>
              </a:rPr>
              <a:t>EDITOR</a:t>
            </a:r>
          </a:p>
        </p:txBody>
      </p:sp>
      <p:sp>
        <p:nvSpPr>
          <p:cNvPr id="45" name="Rounded Rectangle 44"/>
          <p:cNvSpPr/>
          <p:nvPr/>
        </p:nvSpPr>
        <p:spPr>
          <a:xfrm>
            <a:off x="9619488" y="4370832"/>
            <a:ext cx="16002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19488" y="4434840"/>
            <a:ext cx="1600200" cy="310896"/>
          </a:xfrm>
          <a:prstGeom prst="rect">
            <a:avLst/>
          </a:prstGeom>
          <a:noFill/>
        </p:spPr>
        <p:txBody>
          <a:bodyPr wrap="square">
            <a:spAutoFit/>
          </a:bodyPr>
          <a:lstStyle/>
          <a:p>
            <a:pPr algn="ctr"/>
            <a:r>
              <a:rPr sz="1200" b="1" i="0">
                <a:solidFill>
                  <a:srgbClr val="78828E"/>
                </a:solidFill>
                <a:latin typeface="Calibri"/>
              </a:rPr>
              <a:t>✓  YES    ✗  NO</a:t>
            </a:r>
          </a:p>
        </p:txBody>
      </p:sp>
      <p:sp>
        <p:nvSpPr>
          <p:cNvPr id="47" name="Rounded Rectangle 46"/>
          <p:cNvSpPr/>
          <p:nvPr/>
        </p:nvSpPr>
        <p:spPr>
          <a:xfrm>
            <a:off x="457200" y="5120640"/>
            <a:ext cx="11292840" cy="60350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5257800"/>
            <a:ext cx="10698480" cy="365760"/>
          </a:xfrm>
          <a:prstGeom prst="rect">
            <a:avLst/>
          </a:prstGeom>
          <a:noFill/>
        </p:spPr>
        <p:txBody>
          <a:bodyPr wrap="square">
            <a:spAutoFit/>
          </a:bodyPr>
          <a:lstStyle/>
          <a:p>
            <a:pPr algn="l"/>
            <a:r>
              <a:rPr sz="1400" b="1" i="0">
                <a:solidFill>
                  <a:srgbClr val="111418"/>
                </a:solidFill>
                <a:latin typeface="Calibri"/>
              </a:rPr>
              <a:t>⭐ EDITOR CHALLENGE:  Read every YES word out loud, then use two of them in one sentence.</a:t>
            </a:r>
          </a:p>
        </p:txBody>
      </p:sp>
      <p:sp>
        <p:nvSpPr>
          <p:cNvPr id="49" name="Rounded Rectangle 48"/>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1" name="TextBox 50"/>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Ask "would a reporter write this word today?" rather than "is it real?"</a:t>
            </a: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17–27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Game: Who Am I?</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3197821"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Word Desk  |  17–27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16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D08A0C"/>
                </a:solidFill>
                <a:latin typeface="Calibri"/>
              </a:rPr>
              <a:t>Three clues each. Guess before the third clue if you can.</a:t>
            </a:r>
          </a:p>
        </p:txBody>
      </p:sp>
      <p:sp>
        <p:nvSpPr>
          <p:cNvPr id="15" name="Rounded Rectangle 14"/>
          <p:cNvSpPr/>
          <p:nvPr/>
        </p:nvSpPr>
        <p:spPr>
          <a:xfrm>
            <a:off x="457200" y="1691640"/>
            <a:ext cx="3566160" cy="402336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847088"/>
            <a:ext cx="3566160" cy="658368"/>
          </a:xfrm>
          <a:prstGeom prst="rect">
            <a:avLst/>
          </a:prstGeom>
          <a:noFill/>
        </p:spPr>
        <p:txBody>
          <a:bodyPr wrap="square">
            <a:spAutoFit/>
          </a:bodyPr>
          <a:lstStyle/>
          <a:p>
            <a:pPr algn="ctr"/>
            <a:r>
              <a:rPr sz="2800" b="0" i="0">
                <a:solidFill>
                  <a:srgbClr val="2A2F36"/>
                </a:solidFill>
                <a:latin typeface="Calibri"/>
              </a:rPr>
              <a:t>🗞️</a:t>
            </a:r>
          </a:p>
        </p:txBody>
      </p:sp>
      <p:sp>
        <p:nvSpPr>
          <p:cNvPr id="17" name="Rounded Rectangle 16"/>
          <p:cNvSpPr/>
          <p:nvPr/>
        </p:nvSpPr>
        <p:spPr>
          <a:xfrm>
            <a:off x="658368" y="2578608"/>
            <a:ext cx="315468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779776"/>
            <a:ext cx="320040" cy="329184"/>
          </a:xfrm>
          <a:prstGeom prst="rect">
            <a:avLst/>
          </a:prstGeom>
          <a:noFill/>
        </p:spPr>
        <p:txBody>
          <a:bodyPr wrap="square">
            <a:spAutoFit/>
          </a:bodyPr>
          <a:lstStyle/>
          <a:p>
            <a:pPr algn="l"/>
            <a:r>
              <a:rPr sz="1100" b="1" i="0">
                <a:solidFill>
                  <a:srgbClr val="D08A0C"/>
                </a:solidFill>
                <a:latin typeface="Calibri"/>
              </a:rPr>
              <a:t>1.</a:t>
            </a:r>
          </a:p>
        </p:txBody>
      </p:sp>
      <p:sp>
        <p:nvSpPr>
          <p:cNvPr id="19" name="TextBox 18"/>
          <p:cNvSpPr txBox="1"/>
          <p:nvPr/>
        </p:nvSpPr>
        <p:spPr>
          <a:xfrm>
            <a:off x="1188720" y="2743200"/>
            <a:ext cx="2514600" cy="457200"/>
          </a:xfrm>
          <a:prstGeom prst="rect">
            <a:avLst/>
          </a:prstGeom>
          <a:noFill/>
        </p:spPr>
        <p:txBody>
          <a:bodyPr wrap="square">
            <a:spAutoFit/>
          </a:bodyPr>
          <a:lstStyle/>
          <a:p>
            <a:pPr algn="l"/>
            <a:r>
              <a:rPr sz="1100" b="0" i="0">
                <a:solidFill>
                  <a:srgbClr val="2A2F36"/>
                </a:solidFill>
                <a:latin typeface="Calibri"/>
              </a:rPr>
              <a:t>I am the big title at the top.</a:t>
            </a:r>
          </a:p>
        </p:txBody>
      </p:sp>
      <p:sp>
        <p:nvSpPr>
          <p:cNvPr id="20" name="Rounded Rectangle 19"/>
          <p:cNvSpPr/>
          <p:nvPr/>
        </p:nvSpPr>
        <p:spPr>
          <a:xfrm>
            <a:off x="658368" y="3419856"/>
            <a:ext cx="315468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621024"/>
            <a:ext cx="320040" cy="329184"/>
          </a:xfrm>
          <a:prstGeom prst="rect">
            <a:avLst/>
          </a:prstGeom>
          <a:noFill/>
        </p:spPr>
        <p:txBody>
          <a:bodyPr wrap="square">
            <a:spAutoFit/>
          </a:bodyPr>
          <a:lstStyle/>
          <a:p>
            <a:pPr algn="l"/>
            <a:r>
              <a:rPr sz="1100" b="1" i="0">
                <a:solidFill>
                  <a:srgbClr val="D08A0C"/>
                </a:solidFill>
                <a:latin typeface="Calibri"/>
              </a:rPr>
              <a:t>2.</a:t>
            </a:r>
          </a:p>
        </p:txBody>
      </p:sp>
      <p:sp>
        <p:nvSpPr>
          <p:cNvPr id="22" name="TextBox 21"/>
          <p:cNvSpPr txBox="1"/>
          <p:nvPr/>
        </p:nvSpPr>
        <p:spPr>
          <a:xfrm>
            <a:off x="1188720" y="3584448"/>
            <a:ext cx="2514600" cy="457200"/>
          </a:xfrm>
          <a:prstGeom prst="rect">
            <a:avLst/>
          </a:prstGeom>
          <a:noFill/>
        </p:spPr>
        <p:txBody>
          <a:bodyPr wrap="square">
            <a:spAutoFit/>
          </a:bodyPr>
          <a:lstStyle/>
          <a:p>
            <a:pPr algn="l"/>
            <a:r>
              <a:rPr sz="1100" b="0" i="0">
                <a:solidFill>
                  <a:srgbClr val="2A2F36"/>
                </a:solidFill>
                <a:latin typeface="Calibri"/>
              </a:rPr>
              <a:t>I give the main idea in very few words.</a:t>
            </a:r>
          </a:p>
        </p:txBody>
      </p:sp>
      <p:sp>
        <p:nvSpPr>
          <p:cNvPr id="23" name="Rounded Rectangle 22"/>
          <p:cNvSpPr/>
          <p:nvPr/>
        </p:nvSpPr>
        <p:spPr>
          <a:xfrm>
            <a:off x="658368" y="4261104"/>
            <a:ext cx="315468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62272"/>
            <a:ext cx="320040" cy="329184"/>
          </a:xfrm>
          <a:prstGeom prst="rect">
            <a:avLst/>
          </a:prstGeom>
          <a:noFill/>
        </p:spPr>
        <p:txBody>
          <a:bodyPr wrap="square">
            <a:spAutoFit/>
          </a:bodyPr>
          <a:lstStyle/>
          <a:p>
            <a:pPr algn="l"/>
            <a:r>
              <a:rPr sz="1100" b="1" i="0">
                <a:solidFill>
                  <a:srgbClr val="D08A0C"/>
                </a:solidFill>
                <a:latin typeface="Calibri"/>
              </a:rPr>
              <a:t>3.</a:t>
            </a:r>
          </a:p>
        </p:txBody>
      </p:sp>
      <p:sp>
        <p:nvSpPr>
          <p:cNvPr id="25" name="TextBox 24"/>
          <p:cNvSpPr txBox="1"/>
          <p:nvPr/>
        </p:nvSpPr>
        <p:spPr>
          <a:xfrm>
            <a:off x="1188720" y="4425696"/>
            <a:ext cx="2514600" cy="457200"/>
          </a:xfrm>
          <a:prstGeom prst="rect">
            <a:avLst/>
          </a:prstGeom>
          <a:noFill/>
        </p:spPr>
        <p:txBody>
          <a:bodyPr wrap="square">
            <a:spAutoFit/>
          </a:bodyPr>
          <a:lstStyle/>
          <a:p>
            <a:pPr algn="l"/>
            <a:r>
              <a:rPr sz="1100" b="0" i="0">
                <a:solidFill>
                  <a:srgbClr val="2A2F36"/>
                </a:solidFill>
                <a:latin typeface="Calibri"/>
              </a:rPr>
              <a:t>I am usually printed in capital letters.</a:t>
            </a:r>
          </a:p>
        </p:txBody>
      </p:sp>
      <p:sp>
        <p:nvSpPr>
          <p:cNvPr id="26" name="Rounded Rectangle 25"/>
          <p:cNvSpPr/>
          <p:nvPr/>
        </p:nvSpPr>
        <p:spPr>
          <a:xfrm>
            <a:off x="1097280" y="5175504"/>
            <a:ext cx="22860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239512"/>
            <a:ext cx="2286000" cy="310896"/>
          </a:xfrm>
          <a:prstGeom prst="rect">
            <a:avLst/>
          </a:prstGeom>
          <a:noFill/>
        </p:spPr>
        <p:txBody>
          <a:bodyPr wrap="square">
            <a:spAutoFit/>
          </a:bodyPr>
          <a:lstStyle/>
          <a:p>
            <a:pPr algn="ctr"/>
            <a:r>
              <a:rPr sz="1100" b="0" i="0">
                <a:solidFill>
                  <a:srgbClr val="78828E"/>
                </a:solidFill>
                <a:latin typeface="Calibri"/>
              </a:rPr>
              <a:t>I am a ____________</a:t>
            </a:r>
          </a:p>
        </p:txBody>
      </p:sp>
      <p:sp>
        <p:nvSpPr>
          <p:cNvPr id="28" name="Rounded Rectangle 27"/>
          <p:cNvSpPr/>
          <p:nvPr/>
        </p:nvSpPr>
        <p:spPr>
          <a:xfrm>
            <a:off x="4251960" y="1691640"/>
            <a:ext cx="3566160" cy="402336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51960" y="1847088"/>
            <a:ext cx="3566160" cy="658368"/>
          </a:xfrm>
          <a:prstGeom prst="rect">
            <a:avLst/>
          </a:prstGeom>
          <a:noFill/>
        </p:spPr>
        <p:txBody>
          <a:bodyPr wrap="square">
            <a:spAutoFit/>
          </a:bodyPr>
          <a:lstStyle/>
          <a:p>
            <a:pPr algn="ctr"/>
            <a:r>
              <a:rPr sz="2800" b="0" i="0">
                <a:solidFill>
                  <a:srgbClr val="2A2F36"/>
                </a:solidFill>
                <a:latin typeface="Calibri"/>
              </a:rPr>
              <a:t>🎤</a:t>
            </a:r>
          </a:p>
        </p:txBody>
      </p:sp>
      <p:sp>
        <p:nvSpPr>
          <p:cNvPr id="30" name="Rounded Rectangle 29"/>
          <p:cNvSpPr/>
          <p:nvPr/>
        </p:nvSpPr>
        <p:spPr>
          <a:xfrm>
            <a:off x="4453128" y="2578608"/>
            <a:ext cx="315468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0" y="2779776"/>
            <a:ext cx="320040" cy="329184"/>
          </a:xfrm>
          <a:prstGeom prst="rect">
            <a:avLst/>
          </a:prstGeom>
          <a:noFill/>
        </p:spPr>
        <p:txBody>
          <a:bodyPr wrap="square">
            <a:spAutoFit/>
          </a:bodyPr>
          <a:lstStyle/>
          <a:p>
            <a:pPr algn="l"/>
            <a:r>
              <a:rPr sz="1100" b="1" i="0">
                <a:solidFill>
                  <a:srgbClr val="D08A0C"/>
                </a:solidFill>
                <a:latin typeface="Calibri"/>
              </a:rPr>
              <a:t>1.</a:t>
            </a:r>
          </a:p>
        </p:txBody>
      </p:sp>
      <p:sp>
        <p:nvSpPr>
          <p:cNvPr id="32" name="TextBox 31"/>
          <p:cNvSpPr txBox="1"/>
          <p:nvPr/>
        </p:nvSpPr>
        <p:spPr>
          <a:xfrm>
            <a:off x="4983480" y="2743200"/>
            <a:ext cx="2514600" cy="457200"/>
          </a:xfrm>
          <a:prstGeom prst="rect">
            <a:avLst/>
          </a:prstGeom>
          <a:noFill/>
        </p:spPr>
        <p:txBody>
          <a:bodyPr wrap="square">
            <a:spAutoFit/>
          </a:bodyPr>
          <a:lstStyle/>
          <a:p>
            <a:pPr algn="l"/>
            <a:r>
              <a:rPr sz="1100" b="0" i="0">
                <a:solidFill>
                  <a:srgbClr val="2A2F36"/>
                </a:solidFill>
                <a:latin typeface="Calibri"/>
              </a:rPr>
              <a:t>I ask people questions.</a:t>
            </a:r>
          </a:p>
        </p:txBody>
      </p:sp>
      <p:sp>
        <p:nvSpPr>
          <p:cNvPr id="33" name="Rounded Rectangle 32"/>
          <p:cNvSpPr/>
          <p:nvPr/>
        </p:nvSpPr>
        <p:spPr>
          <a:xfrm>
            <a:off x="4453128" y="3419856"/>
            <a:ext cx="315468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0" y="3621024"/>
            <a:ext cx="320040" cy="329184"/>
          </a:xfrm>
          <a:prstGeom prst="rect">
            <a:avLst/>
          </a:prstGeom>
          <a:noFill/>
        </p:spPr>
        <p:txBody>
          <a:bodyPr wrap="square">
            <a:spAutoFit/>
          </a:bodyPr>
          <a:lstStyle/>
          <a:p>
            <a:pPr algn="l"/>
            <a:r>
              <a:rPr sz="1100" b="1" i="0">
                <a:solidFill>
                  <a:srgbClr val="D08A0C"/>
                </a:solidFill>
                <a:latin typeface="Calibri"/>
              </a:rPr>
              <a:t>2.</a:t>
            </a:r>
          </a:p>
        </p:txBody>
      </p:sp>
      <p:sp>
        <p:nvSpPr>
          <p:cNvPr id="35" name="TextBox 34"/>
          <p:cNvSpPr txBox="1"/>
          <p:nvPr/>
        </p:nvSpPr>
        <p:spPr>
          <a:xfrm>
            <a:off x="4983480" y="3584448"/>
            <a:ext cx="2514600" cy="457200"/>
          </a:xfrm>
          <a:prstGeom prst="rect">
            <a:avLst/>
          </a:prstGeom>
          <a:noFill/>
        </p:spPr>
        <p:txBody>
          <a:bodyPr wrap="square">
            <a:spAutoFit/>
          </a:bodyPr>
          <a:lstStyle/>
          <a:p>
            <a:pPr algn="l"/>
            <a:r>
              <a:rPr sz="1100" b="0" i="0">
                <a:solidFill>
                  <a:srgbClr val="2A2F36"/>
                </a:solidFill>
                <a:latin typeface="Calibri"/>
              </a:rPr>
              <a:t>I write down what they say.</a:t>
            </a:r>
          </a:p>
        </p:txBody>
      </p:sp>
      <p:sp>
        <p:nvSpPr>
          <p:cNvPr id="36" name="Rounded Rectangle 35"/>
          <p:cNvSpPr/>
          <p:nvPr/>
        </p:nvSpPr>
        <p:spPr>
          <a:xfrm>
            <a:off x="4453128" y="4261104"/>
            <a:ext cx="315468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4462272"/>
            <a:ext cx="320040" cy="329184"/>
          </a:xfrm>
          <a:prstGeom prst="rect">
            <a:avLst/>
          </a:prstGeom>
          <a:noFill/>
        </p:spPr>
        <p:txBody>
          <a:bodyPr wrap="square">
            <a:spAutoFit/>
          </a:bodyPr>
          <a:lstStyle/>
          <a:p>
            <a:pPr algn="l"/>
            <a:r>
              <a:rPr sz="1100" b="1" i="0">
                <a:solidFill>
                  <a:srgbClr val="D08A0C"/>
                </a:solidFill>
                <a:latin typeface="Calibri"/>
              </a:rPr>
              <a:t>3.</a:t>
            </a:r>
          </a:p>
        </p:txBody>
      </p:sp>
      <p:sp>
        <p:nvSpPr>
          <p:cNvPr id="38" name="TextBox 37"/>
          <p:cNvSpPr txBox="1"/>
          <p:nvPr/>
        </p:nvSpPr>
        <p:spPr>
          <a:xfrm>
            <a:off x="4983480" y="4425696"/>
            <a:ext cx="2514600" cy="457200"/>
          </a:xfrm>
          <a:prstGeom prst="rect">
            <a:avLst/>
          </a:prstGeom>
          <a:noFill/>
        </p:spPr>
        <p:txBody>
          <a:bodyPr wrap="square">
            <a:spAutoFit/>
          </a:bodyPr>
          <a:lstStyle/>
          <a:p>
            <a:pPr algn="l"/>
            <a:r>
              <a:rPr sz="1100" b="0" i="0">
                <a:solidFill>
                  <a:srgbClr val="2A2F36"/>
                </a:solidFill>
                <a:latin typeface="Calibri"/>
              </a:rPr>
              <a:t>I work for the newspaper.</a:t>
            </a:r>
          </a:p>
        </p:txBody>
      </p:sp>
      <p:sp>
        <p:nvSpPr>
          <p:cNvPr id="39" name="Rounded Rectangle 38"/>
          <p:cNvSpPr/>
          <p:nvPr/>
        </p:nvSpPr>
        <p:spPr>
          <a:xfrm>
            <a:off x="4892040" y="5175504"/>
            <a:ext cx="22860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2040" y="5239512"/>
            <a:ext cx="2286000" cy="310896"/>
          </a:xfrm>
          <a:prstGeom prst="rect">
            <a:avLst/>
          </a:prstGeom>
          <a:noFill/>
        </p:spPr>
        <p:txBody>
          <a:bodyPr wrap="square">
            <a:spAutoFit/>
          </a:bodyPr>
          <a:lstStyle/>
          <a:p>
            <a:pPr algn="ctr"/>
            <a:r>
              <a:rPr sz="1100" b="0" i="0">
                <a:solidFill>
                  <a:srgbClr val="78828E"/>
                </a:solidFill>
                <a:latin typeface="Calibri"/>
              </a:rPr>
              <a:t>I am a ____________</a:t>
            </a:r>
          </a:p>
        </p:txBody>
      </p:sp>
      <p:sp>
        <p:nvSpPr>
          <p:cNvPr id="41" name="Rounded Rectangle 40"/>
          <p:cNvSpPr/>
          <p:nvPr/>
        </p:nvSpPr>
        <p:spPr>
          <a:xfrm>
            <a:off x="8046720" y="1691640"/>
            <a:ext cx="3566160" cy="402336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1847088"/>
            <a:ext cx="3566160" cy="658368"/>
          </a:xfrm>
          <a:prstGeom prst="rect">
            <a:avLst/>
          </a:prstGeom>
          <a:noFill/>
        </p:spPr>
        <p:txBody>
          <a:bodyPr wrap="square">
            <a:spAutoFit/>
          </a:bodyPr>
          <a:lstStyle/>
          <a:p>
            <a:pPr algn="ctr"/>
            <a:r>
              <a:rPr sz="2800" b="0" i="0">
                <a:solidFill>
                  <a:srgbClr val="2A2F36"/>
                </a:solidFill>
                <a:latin typeface="Calibri"/>
              </a:rPr>
              <a:t>🔎</a:t>
            </a:r>
          </a:p>
        </p:txBody>
      </p:sp>
      <p:sp>
        <p:nvSpPr>
          <p:cNvPr id="43" name="Rounded Rectangle 42"/>
          <p:cNvSpPr/>
          <p:nvPr/>
        </p:nvSpPr>
        <p:spPr>
          <a:xfrm>
            <a:off x="8247888" y="2578608"/>
            <a:ext cx="315468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66760" y="2779776"/>
            <a:ext cx="320040" cy="329184"/>
          </a:xfrm>
          <a:prstGeom prst="rect">
            <a:avLst/>
          </a:prstGeom>
          <a:noFill/>
        </p:spPr>
        <p:txBody>
          <a:bodyPr wrap="square">
            <a:spAutoFit/>
          </a:bodyPr>
          <a:lstStyle/>
          <a:p>
            <a:pPr algn="l"/>
            <a:r>
              <a:rPr sz="1100" b="1" i="0">
                <a:solidFill>
                  <a:srgbClr val="D08A0C"/>
                </a:solidFill>
                <a:latin typeface="Calibri"/>
              </a:rPr>
              <a:t>1.</a:t>
            </a:r>
          </a:p>
        </p:txBody>
      </p:sp>
      <p:sp>
        <p:nvSpPr>
          <p:cNvPr id="45" name="TextBox 44"/>
          <p:cNvSpPr txBox="1"/>
          <p:nvPr/>
        </p:nvSpPr>
        <p:spPr>
          <a:xfrm>
            <a:off x="8778240" y="2743200"/>
            <a:ext cx="2514600" cy="457200"/>
          </a:xfrm>
          <a:prstGeom prst="rect">
            <a:avLst/>
          </a:prstGeom>
          <a:noFill/>
        </p:spPr>
        <p:txBody>
          <a:bodyPr wrap="square">
            <a:spAutoFit/>
          </a:bodyPr>
          <a:lstStyle/>
          <a:p>
            <a:pPr algn="l"/>
            <a:r>
              <a:rPr sz="1100" b="0" i="0">
                <a:solidFill>
                  <a:srgbClr val="2A2F36"/>
                </a:solidFill>
                <a:latin typeface="Calibri"/>
              </a:rPr>
              <a:t>I mean to find something new.</a:t>
            </a:r>
          </a:p>
        </p:txBody>
      </p:sp>
      <p:sp>
        <p:nvSpPr>
          <p:cNvPr id="46" name="Rounded Rectangle 45"/>
          <p:cNvSpPr/>
          <p:nvPr/>
        </p:nvSpPr>
        <p:spPr>
          <a:xfrm>
            <a:off x="8247888" y="3419856"/>
            <a:ext cx="315468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66760" y="3621024"/>
            <a:ext cx="320040" cy="329184"/>
          </a:xfrm>
          <a:prstGeom prst="rect">
            <a:avLst/>
          </a:prstGeom>
          <a:noFill/>
        </p:spPr>
        <p:txBody>
          <a:bodyPr wrap="square">
            <a:spAutoFit/>
          </a:bodyPr>
          <a:lstStyle/>
          <a:p>
            <a:pPr algn="l"/>
            <a:r>
              <a:rPr sz="1100" b="1" i="0">
                <a:solidFill>
                  <a:srgbClr val="D08A0C"/>
                </a:solidFill>
                <a:latin typeface="Calibri"/>
              </a:rPr>
              <a:t>2.</a:t>
            </a:r>
          </a:p>
        </p:txBody>
      </p:sp>
      <p:sp>
        <p:nvSpPr>
          <p:cNvPr id="48" name="TextBox 47"/>
          <p:cNvSpPr txBox="1"/>
          <p:nvPr/>
        </p:nvSpPr>
        <p:spPr>
          <a:xfrm>
            <a:off x="8778240" y="3584448"/>
            <a:ext cx="2514600" cy="457200"/>
          </a:xfrm>
          <a:prstGeom prst="rect">
            <a:avLst/>
          </a:prstGeom>
          <a:noFill/>
        </p:spPr>
        <p:txBody>
          <a:bodyPr wrap="square">
            <a:spAutoFit/>
          </a:bodyPr>
          <a:lstStyle/>
          <a:p>
            <a:pPr algn="l"/>
            <a:r>
              <a:rPr sz="1100" b="0" i="0">
                <a:solidFill>
                  <a:srgbClr val="2A2F36"/>
                </a:solidFill>
                <a:latin typeface="Calibri"/>
              </a:rPr>
              <a:t>Scientists do me all the time.</a:t>
            </a:r>
          </a:p>
        </p:txBody>
      </p:sp>
      <p:sp>
        <p:nvSpPr>
          <p:cNvPr id="49" name="Rounded Rectangle 48"/>
          <p:cNvSpPr/>
          <p:nvPr/>
        </p:nvSpPr>
        <p:spPr>
          <a:xfrm>
            <a:off x="8247888" y="4261104"/>
            <a:ext cx="315468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66760" y="4462272"/>
            <a:ext cx="320040" cy="329184"/>
          </a:xfrm>
          <a:prstGeom prst="rect">
            <a:avLst/>
          </a:prstGeom>
          <a:noFill/>
        </p:spPr>
        <p:txBody>
          <a:bodyPr wrap="square">
            <a:spAutoFit/>
          </a:bodyPr>
          <a:lstStyle/>
          <a:p>
            <a:pPr algn="l"/>
            <a:r>
              <a:rPr sz="1100" b="1" i="0">
                <a:solidFill>
                  <a:srgbClr val="D08A0C"/>
                </a:solidFill>
                <a:latin typeface="Calibri"/>
              </a:rPr>
              <a:t>3.</a:t>
            </a:r>
          </a:p>
        </p:txBody>
      </p:sp>
      <p:sp>
        <p:nvSpPr>
          <p:cNvPr id="51" name="TextBox 50"/>
          <p:cNvSpPr txBox="1"/>
          <p:nvPr/>
        </p:nvSpPr>
        <p:spPr>
          <a:xfrm>
            <a:off x="8778240" y="4425696"/>
            <a:ext cx="2514600" cy="457200"/>
          </a:xfrm>
          <a:prstGeom prst="rect">
            <a:avLst/>
          </a:prstGeom>
          <a:noFill/>
        </p:spPr>
        <p:txBody>
          <a:bodyPr wrap="square">
            <a:spAutoFit/>
          </a:bodyPr>
          <a:lstStyle/>
          <a:p>
            <a:pPr algn="l"/>
            <a:r>
              <a:rPr sz="1100" b="0" i="0">
                <a:solidFill>
                  <a:srgbClr val="2A2F36"/>
                </a:solidFill>
                <a:latin typeface="Calibri"/>
              </a:rPr>
              <a:t>The students did me when the birds arrived.</a:t>
            </a:r>
          </a:p>
        </p:txBody>
      </p:sp>
      <p:sp>
        <p:nvSpPr>
          <p:cNvPr id="52" name="Rounded Rectangle 51"/>
          <p:cNvSpPr/>
          <p:nvPr/>
        </p:nvSpPr>
        <p:spPr>
          <a:xfrm>
            <a:off x="8686800" y="5175504"/>
            <a:ext cx="2286000"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86800" y="5239512"/>
            <a:ext cx="2286000" cy="310896"/>
          </a:xfrm>
          <a:prstGeom prst="rect">
            <a:avLst/>
          </a:prstGeom>
          <a:noFill/>
        </p:spPr>
        <p:txBody>
          <a:bodyPr wrap="square">
            <a:spAutoFit/>
          </a:bodyPr>
          <a:lstStyle/>
          <a:p>
            <a:pPr algn="ctr"/>
            <a:r>
              <a:rPr sz="1100" b="0" i="0">
                <a:solidFill>
                  <a:srgbClr val="78828E"/>
                </a:solidFill>
                <a:latin typeface="Calibri"/>
              </a:rPr>
              <a:t>I am a ____________</a:t>
            </a:r>
          </a:p>
        </p:txBody>
      </p:sp>
      <p:sp>
        <p:nvSpPr>
          <p:cNvPr id="54" name="Rounded Rectangle 53"/>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6" name="TextBox 55"/>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Guessed after clue one? Read the other two anyway and confirm.</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PRACTICE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17–27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Which Word Fits?</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3397685"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Word Desk  |  17–27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17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6A4A9E"/>
                </a:solidFill>
                <a:latin typeface="Calibri"/>
              </a:rPr>
              <a:t>Read the whole sentence first. The sentence tells you.</a:t>
            </a:r>
          </a:p>
        </p:txBody>
      </p:sp>
      <p:sp>
        <p:nvSpPr>
          <p:cNvPr id="15" name="Rounded Rectangle 14"/>
          <p:cNvSpPr/>
          <p:nvPr/>
        </p:nvSpPr>
        <p:spPr>
          <a:xfrm>
            <a:off x="457200" y="173736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130552"/>
            <a:ext cx="438912" cy="438912"/>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85416"/>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310896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3502152"/>
            <a:ext cx="438912" cy="438912"/>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57016"/>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457200" y="448056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4873752"/>
            <a:ext cx="438912" cy="438912"/>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28616"/>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24" name="TextBox 23"/>
          <p:cNvSpPr txBox="1"/>
          <p:nvPr/>
        </p:nvSpPr>
        <p:spPr>
          <a:xfrm>
            <a:off x="1325880" y="1956816"/>
            <a:ext cx="9966960" cy="457200"/>
          </a:xfrm>
          <a:prstGeom prst="rect">
            <a:avLst/>
          </a:prstGeom>
          <a:noFill/>
        </p:spPr>
        <p:txBody>
          <a:bodyPr wrap="square">
            <a:spAutoFit/>
          </a:bodyPr>
          <a:lstStyle/>
          <a:p>
            <a:pPr algn="l"/>
            <a:r>
              <a:rPr sz="1900" b="1" i="0">
                <a:solidFill>
                  <a:srgbClr val="111418"/>
                </a:solidFill>
                <a:latin typeface="Calibri"/>
              </a:rPr>
              <a:t>Priya will ______ the principal after school.</a:t>
            </a:r>
          </a:p>
        </p:txBody>
      </p:sp>
      <p:sp>
        <p:nvSpPr>
          <p:cNvPr id="25" name="Rounded Rectangle 24"/>
          <p:cNvSpPr/>
          <p:nvPr/>
        </p:nvSpPr>
        <p:spPr>
          <a:xfrm>
            <a:off x="1325880" y="2468880"/>
            <a:ext cx="2697480" cy="40233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25880" y="2532888"/>
            <a:ext cx="2697480" cy="310896"/>
          </a:xfrm>
          <a:prstGeom prst="rect">
            <a:avLst/>
          </a:prstGeom>
          <a:noFill/>
        </p:spPr>
        <p:txBody>
          <a:bodyPr wrap="square">
            <a:spAutoFit/>
          </a:bodyPr>
          <a:lstStyle/>
          <a:p>
            <a:pPr algn="ctr"/>
            <a:r>
              <a:rPr sz="1400" b="1" i="0">
                <a:solidFill>
                  <a:srgbClr val="6A4A9E"/>
                </a:solidFill>
                <a:latin typeface="Calibri"/>
              </a:rPr>
              <a:t>interview</a:t>
            </a:r>
          </a:p>
        </p:txBody>
      </p:sp>
      <p:sp>
        <p:nvSpPr>
          <p:cNvPr id="27" name="Rounded Rectangle 26"/>
          <p:cNvSpPr/>
          <p:nvPr/>
        </p:nvSpPr>
        <p:spPr>
          <a:xfrm>
            <a:off x="4251960" y="2468880"/>
            <a:ext cx="2697480" cy="40233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51960" y="2532888"/>
            <a:ext cx="2697480" cy="310896"/>
          </a:xfrm>
          <a:prstGeom prst="rect">
            <a:avLst/>
          </a:prstGeom>
          <a:noFill/>
        </p:spPr>
        <p:txBody>
          <a:bodyPr wrap="square">
            <a:spAutoFit/>
          </a:bodyPr>
          <a:lstStyle/>
          <a:p>
            <a:pPr algn="ctr"/>
            <a:r>
              <a:rPr sz="1400" b="1" i="0">
                <a:solidFill>
                  <a:srgbClr val="6A4A9E"/>
                </a:solidFill>
                <a:latin typeface="Calibri"/>
              </a:rPr>
              <a:t>celebrate</a:t>
            </a:r>
          </a:p>
        </p:txBody>
      </p:sp>
      <p:sp>
        <p:nvSpPr>
          <p:cNvPr id="29" name="Rounded Rectangle 28"/>
          <p:cNvSpPr/>
          <p:nvPr/>
        </p:nvSpPr>
        <p:spPr>
          <a:xfrm>
            <a:off x="7178040" y="2468880"/>
            <a:ext cx="2697480" cy="40233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78040" y="2532888"/>
            <a:ext cx="2697480" cy="310896"/>
          </a:xfrm>
          <a:prstGeom prst="rect">
            <a:avLst/>
          </a:prstGeom>
          <a:noFill/>
        </p:spPr>
        <p:txBody>
          <a:bodyPr wrap="square">
            <a:spAutoFit/>
          </a:bodyPr>
          <a:lstStyle/>
          <a:p>
            <a:pPr algn="ctr"/>
            <a:r>
              <a:rPr sz="1400" b="1" i="0">
                <a:solidFill>
                  <a:srgbClr val="6A4A9E"/>
                </a:solidFill>
                <a:latin typeface="Calibri"/>
              </a:rPr>
              <a:t>practice</a:t>
            </a:r>
          </a:p>
        </p:txBody>
      </p:sp>
      <p:sp>
        <p:nvSpPr>
          <p:cNvPr id="31" name="TextBox 30"/>
          <p:cNvSpPr txBox="1"/>
          <p:nvPr/>
        </p:nvSpPr>
        <p:spPr>
          <a:xfrm>
            <a:off x="1325880" y="3328416"/>
            <a:ext cx="9966960" cy="457200"/>
          </a:xfrm>
          <a:prstGeom prst="rect">
            <a:avLst/>
          </a:prstGeom>
          <a:noFill/>
        </p:spPr>
        <p:txBody>
          <a:bodyPr wrap="square">
            <a:spAutoFit/>
          </a:bodyPr>
          <a:lstStyle/>
          <a:p>
            <a:pPr algn="l"/>
            <a:r>
              <a:rPr sz="1900" b="1" i="0">
                <a:solidFill>
                  <a:srgbClr val="111418"/>
                </a:solidFill>
                <a:latin typeface="Calibri"/>
              </a:rPr>
              <a:t>The team worked ______ so that no seeds were broken.</a:t>
            </a:r>
          </a:p>
        </p:txBody>
      </p:sp>
      <p:sp>
        <p:nvSpPr>
          <p:cNvPr id="32" name="Rounded Rectangle 31"/>
          <p:cNvSpPr/>
          <p:nvPr/>
        </p:nvSpPr>
        <p:spPr>
          <a:xfrm>
            <a:off x="1325880" y="3840480"/>
            <a:ext cx="2697480" cy="40233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25880" y="3904488"/>
            <a:ext cx="2697480" cy="310896"/>
          </a:xfrm>
          <a:prstGeom prst="rect">
            <a:avLst/>
          </a:prstGeom>
          <a:noFill/>
        </p:spPr>
        <p:txBody>
          <a:bodyPr wrap="square">
            <a:spAutoFit/>
          </a:bodyPr>
          <a:lstStyle/>
          <a:p>
            <a:pPr algn="ctr"/>
            <a:r>
              <a:rPr sz="1400" b="1" i="0">
                <a:solidFill>
                  <a:srgbClr val="6A4A9E"/>
                </a:solidFill>
                <a:latin typeface="Calibri"/>
              </a:rPr>
              <a:t>quickly</a:t>
            </a:r>
          </a:p>
        </p:txBody>
      </p:sp>
      <p:sp>
        <p:nvSpPr>
          <p:cNvPr id="34" name="Rounded Rectangle 33"/>
          <p:cNvSpPr/>
          <p:nvPr/>
        </p:nvSpPr>
        <p:spPr>
          <a:xfrm>
            <a:off x="4251960" y="3840480"/>
            <a:ext cx="2697480" cy="40233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51960" y="3904488"/>
            <a:ext cx="2697480" cy="310896"/>
          </a:xfrm>
          <a:prstGeom prst="rect">
            <a:avLst/>
          </a:prstGeom>
          <a:noFill/>
        </p:spPr>
        <p:txBody>
          <a:bodyPr wrap="square">
            <a:spAutoFit/>
          </a:bodyPr>
          <a:lstStyle/>
          <a:p>
            <a:pPr algn="ctr"/>
            <a:r>
              <a:rPr sz="1400" b="1" i="0">
                <a:solidFill>
                  <a:srgbClr val="6A4A9E"/>
                </a:solidFill>
                <a:latin typeface="Calibri"/>
              </a:rPr>
              <a:t>carefully</a:t>
            </a:r>
          </a:p>
        </p:txBody>
      </p:sp>
      <p:sp>
        <p:nvSpPr>
          <p:cNvPr id="36" name="Rounded Rectangle 35"/>
          <p:cNvSpPr/>
          <p:nvPr/>
        </p:nvSpPr>
        <p:spPr>
          <a:xfrm>
            <a:off x="7178040" y="3840480"/>
            <a:ext cx="2697480" cy="40233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78040" y="3904488"/>
            <a:ext cx="2697480" cy="310896"/>
          </a:xfrm>
          <a:prstGeom prst="rect">
            <a:avLst/>
          </a:prstGeom>
          <a:noFill/>
        </p:spPr>
        <p:txBody>
          <a:bodyPr wrap="square">
            <a:spAutoFit/>
          </a:bodyPr>
          <a:lstStyle/>
          <a:p>
            <a:pPr algn="ctr"/>
            <a:r>
              <a:rPr sz="1400" b="1" i="0">
                <a:solidFill>
                  <a:srgbClr val="6A4A9E"/>
                </a:solidFill>
                <a:latin typeface="Calibri"/>
              </a:rPr>
              <a:t>loudly</a:t>
            </a:r>
          </a:p>
        </p:txBody>
      </p:sp>
      <p:sp>
        <p:nvSpPr>
          <p:cNvPr id="38" name="TextBox 37"/>
          <p:cNvSpPr txBox="1"/>
          <p:nvPr/>
        </p:nvSpPr>
        <p:spPr>
          <a:xfrm>
            <a:off x="1325880" y="4700016"/>
            <a:ext cx="9966960" cy="457200"/>
          </a:xfrm>
          <a:prstGeom prst="rect">
            <a:avLst/>
          </a:prstGeom>
          <a:noFill/>
        </p:spPr>
        <p:txBody>
          <a:bodyPr wrap="square">
            <a:spAutoFit/>
          </a:bodyPr>
          <a:lstStyle/>
          <a:p>
            <a:pPr algn="l"/>
            <a:r>
              <a:rPr sz="1900" b="1" i="0">
                <a:solidFill>
                  <a:srgbClr val="111418"/>
                </a:solidFill>
                <a:latin typeface="Calibri"/>
              </a:rPr>
              <a:t>We will ______ when the first tomato turns red.</a:t>
            </a:r>
          </a:p>
        </p:txBody>
      </p:sp>
      <p:sp>
        <p:nvSpPr>
          <p:cNvPr id="39" name="Rounded Rectangle 38"/>
          <p:cNvSpPr/>
          <p:nvPr/>
        </p:nvSpPr>
        <p:spPr>
          <a:xfrm>
            <a:off x="1325880" y="5212080"/>
            <a:ext cx="2697480" cy="40233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25880" y="5276088"/>
            <a:ext cx="2697480" cy="310896"/>
          </a:xfrm>
          <a:prstGeom prst="rect">
            <a:avLst/>
          </a:prstGeom>
          <a:noFill/>
        </p:spPr>
        <p:txBody>
          <a:bodyPr wrap="square">
            <a:spAutoFit/>
          </a:bodyPr>
          <a:lstStyle/>
          <a:p>
            <a:pPr algn="ctr"/>
            <a:r>
              <a:rPr sz="1400" b="1" i="0">
                <a:solidFill>
                  <a:srgbClr val="6A4A9E"/>
                </a:solidFill>
                <a:latin typeface="Calibri"/>
              </a:rPr>
              <a:t>discover</a:t>
            </a:r>
          </a:p>
        </p:txBody>
      </p:sp>
      <p:sp>
        <p:nvSpPr>
          <p:cNvPr id="41" name="Rounded Rectangle 40"/>
          <p:cNvSpPr/>
          <p:nvPr/>
        </p:nvSpPr>
        <p:spPr>
          <a:xfrm>
            <a:off x="4251960" y="5212080"/>
            <a:ext cx="2697480" cy="40233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51960" y="5276088"/>
            <a:ext cx="2697480" cy="310896"/>
          </a:xfrm>
          <a:prstGeom prst="rect">
            <a:avLst/>
          </a:prstGeom>
          <a:noFill/>
        </p:spPr>
        <p:txBody>
          <a:bodyPr wrap="square">
            <a:spAutoFit/>
          </a:bodyPr>
          <a:lstStyle/>
          <a:p>
            <a:pPr algn="ctr"/>
            <a:r>
              <a:rPr sz="1400" b="1" i="0">
                <a:solidFill>
                  <a:srgbClr val="6A4A9E"/>
                </a:solidFill>
                <a:latin typeface="Calibri"/>
              </a:rPr>
              <a:t>interview</a:t>
            </a:r>
          </a:p>
        </p:txBody>
      </p:sp>
      <p:sp>
        <p:nvSpPr>
          <p:cNvPr id="43" name="Rounded Rectangle 42"/>
          <p:cNvSpPr/>
          <p:nvPr/>
        </p:nvSpPr>
        <p:spPr>
          <a:xfrm>
            <a:off x="7178040" y="5212080"/>
            <a:ext cx="2697480" cy="40233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78040" y="5276088"/>
            <a:ext cx="2697480" cy="310896"/>
          </a:xfrm>
          <a:prstGeom prst="rect">
            <a:avLst/>
          </a:prstGeom>
          <a:noFill/>
        </p:spPr>
        <p:txBody>
          <a:bodyPr wrap="square">
            <a:spAutoFit/>
          </a:bodyPr>
          <a:lstStyle/>
          <a:p>
            <a:pPr algn="ctr"/>
            <a:r>
              <a:rPr sz="1400" b="1" i="0">
                <a:solidFill>
                  <a:srgbClr val="6A4A9E"/>
                </a:solidFill>
                <a:latin typeface="Calibri"/>
              </a:rPr>
              <a:t>celebrate</a:t>
            </a:r>
          </a:p>
        </p:txBody>
      </p:sp>
      <p:sp>
        <p:nvSpPr>
          <p:cNvPr id="45" name="Rounded Rectangle 44"/>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7" name="TextBox 46"/>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Try each word in the blank out loud. The wrong ones sound wrong.</a:t>
            </a:r>
          </a:p>
        </p:txBody>
      </p:sp>
    </p:spTree>
  </p:cSld>
  <p:clrMapOvr>
    <a:masterClrMapping/>
  </p:clrMapOvr>
  <p:transition spd="med"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LEARN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27–37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Subject and Predicate</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3597549"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27–37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18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E7A52"/>
                </a:solidFill>
                <a:latin typeface="Calibri"/>
              </a:rPr>
              <a:t>Every sentence has a WHO and a WHAT THEY DO.</a:t>
            </a:r>
          </a:p>
        </p:txBody>
      </p:sp>
      <p:sp>
        <p:nvSpPr>
          <p:cNvPr id="15" name="Rounded Rectangle 14"/>
          <p:cNvSpPr/>
          <p:nvPr/>
        </p:nvSpPr>
        <p:spPr>
          <a:xfrm>
            <a:off x="457200" y="1645920"/>
            <a:ext cx="1129284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1828800"/>
            <a:ext cx="4023360" cy="82296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011680"/>
            <a:ext cx="4023360" cy="502920"/>
          </a:xfrm>
          <a:prstGeom prst="rect">
            <a:avLst/>
          </a:prstGeom>
          <a:noFill/>
        </p:spPr>
        <p:txBody>
          <a:bodyPr wrap="square">
            <a:spAutoFit/>
          </a:bodyPr>
          <a:lstStyle/>
          <a:p>
            <a:pPr algn="ctr"/>
            <a:r>
              <a:rPr sz="2800" b="1" i="0">
                <a:solidFill>
                  <a:srgbClr val="1B5E9E"/>
                </a:solidFill>
                <a:latin typeface="Calibri"/>
              </a:rPr>
              <a:t>The students</a:t>
            </a:r>
          </a:p>
        </p:txBody>
      </p:sp>
      <p:sp>
        <p:nvSpPr>
          <p:cNvPr id="18" name="Rounded Rectangle 17"/>
          <p:cNvSpPr/>
          <p:nvPr/>
        </p:nvSpPr>
        <p:spPr>
          <a:xfrm>
            <a:off x="5120640" y="1828800"/>
            <a:ext cx="6309360" cy="82296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011680"/>
            <a:ext cx="6309360" cy="502920"/>
          </a:xfrm>
          <a:prstGeom prst="rect">
            <a:avLst/>
          </a:prstGeom>
          <a:noFill/>
        </p:spPr>
        <p:txBody>
          <a:bodyPr wrap="square">
            <a:spAutoFit/>
          </a:bodyPr>
          <a:lstStyle/>
          <a:p>
            <a:pPr algn="ctr"/>
            <a:r>
              <a:rPr sz="2800" b="1" i="0">
                <a:solidFill>
                  <a:srgbClr val="1E7A52"/>
                </a:solidFill>
                <a:latin typeface="Calibri"/>
              </a:rPr>
              <a:t>practice every morning.</a:t>
            </a:r>
          </a:p>
        </p:txBody>
      </p:sp>
      <p:sp>
        <p:nvSpPr>
          <p:cNvPr id="20" name="TextBox 19"/>
          <p:cNvSpPr txBox="1"/>
          <p:nvPr/>
        </p:nvSpPr>
        <p:spPr>
          <a:xfrm>
            <a:off x="777240" y="2907792"/>
            <a:ext cx="4023360" cy="310896"/>
          </a:xfrm>
          <a:prstGeom prst="rect">
            <a:avLst/>
          </a:prstGeom>
          <a:noFill/>
        </p:spPr>
        <p:txBody>
          <a:bodyPr wrap="square">
            <a:spAutoFit/>
          </a:bodyPr>
          <a:lstStyle/>
          <a:p>
            <a:pPr algn="ctr"/>
            <a:r>
              <a:rPr sz="1200" b="1" i="0">
                <a:solidFill>
                  <a:srgbClr val="1B5E9E"/>
                </a:solidFill>
                <a:latin typeface="Calibri"/>
              </a:rPr>
              <a:t>SUBJECT — who or what</a:t>
            </a:r>
          </a:p>
        </p:txBody>
      </p:sp>
      <p:sp>
        <p:nvSpPr>
          <p:cNvPr id="21" name="TextBox 20"/>
          <p:cNvSpPr txBox="1"/>
          <p:nvPr/>
        </p:nvSpPr>
        <p:spPr>
          <a:xfrm>
            <a:off x="5120640" y="2907792"/>
            <a:ext cx="6309360" cy="310896"/>
          </a:xfrm>
          <a:prstGeom prst="rect">
            <a:avLst/>
          </a:prstGeom>
          <a:noFill/>
        </p:spPr>
        <p:txBody>
          <a:bodyPr wrap="square">
            <a:spAutoFit/>
          </a:bodyPr>
          <a:lstStyle/>
          <a:p>
            <a:pPr algn="ctr"/>
            <a:r>
              <a:rPr sz="1200" b="1" i="0">
                <a:solidFill>
                  <a:srgbClr val="1E7A52"/>
                </a:solidFill>
                <a:latin typeface="Calibri"/>
              </a:rPr>
              <a:t>PREDICATE — what they do</a:t>
            </a:r>
          </a:p>
        </p:txBody>
      </p:sp>
      <p:sp>
        <p:nvSpPr>
          <p:cNvPr id="22" name="Rounded Rectangle 21"/>
          <p:cNvSpPr/>
          <p:nvPr/>
        </p:nvSpPr>
        <p:spPr>
          <a:xfrm>
            <a:off x="457200" y="3429000"/>
            <a:ext cx="11292840" cy="65836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3520440"/>
            <a:ext cx="4023360" cy="475488"/>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593592"/>
            <a:ext cx="4023360" cy="365760"/>
          </a:xfrm>
          <a:prstGeom prst="rect">
            <a:avLst/>
          </a:prstGeom>
          <a:noFill/>
        </p:spPr>
        <p:txBody>
          <a:bodyPr wrap="square">
            <a:spAutoFit/>
          </a:bodyPr>
          <a:lstStyle/>
          <a:p>
            <a:pPr algn="ctr"/>
            <a:r>
              <a:rPr sz="1700" b="1" i="0">
                <a:solidFill>
                  <a:srgbClr val="1B5E9E"/>
                </a:solidFill>
                <a:latin typeface="Calibri"/>
              </a:rPr>
              <a:t>Our school newspaper</a:t>
            </a:r>
          </a:p>
        </p:txBody>
      </p:sp>
      <p:sp>
        <p:nvSpPr>
          <p:cNvPr id="25" name="Rounded Rectangle 24"/>
          <p:cNvSpPr/>
          <p:nvPr/>
        </p:nvSpPr>
        <p:spPr>
          <a:xfrm>
            <a:off x="5120640" y="3520440"/>
            <a:ext cx="6309360" cy="475488"/>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0640" y="3593592"/>
            <a:ext cx="6309360" cy="365760"/>
          </a:xfrm>
          <a:prstGeom prst="rect">
            <a:avLst/>
          </a:prstGeom>
          <a:noFill/>
        </p:spPr>
        <p:txBody>
          <a:bodyPr wrap="square">
            <a:spAutoFit/>
          </a:bodyPr>
          <a:lstStyle/>
          <a:p>
            <a:pPr algn="ctr"/>
            <a:r>
              <a:rPr sz="1700" b="1" i="0">
                <a:solidFill>
                  <a:srgbClr val="1E7A52"/>
                </a:solidFill>
                <a:latin typeface="Calibri"/>
              </a:rPr>
              <a:t>prints a new edition on Friday.</a:t>
            </a:r>
          </a:p>
        </p:txBody>
      </p:sp>
      <p:sp>
        <p:nvSpPr>
          <p:cNvPr id="27" name="Rounded Rectangle 26"/>
          <p:cNvSpPr/>
          <p:nvPr/>
        </p:nvSpPr>
        <p:spPr>
          <a:xfrm>
            <a:off x="457200" y="4206240"/>
            <a:ext cx="11292840" cy="65836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4297680"/>
            <a:ext cx="4023360" cy="475488"/>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370832"/>
            <a:ext cx="4023360" cy="365760"/>
          </a:xfrm>
          <a:prstGeom prst="rect">
            <a:avLst/>
          </a:prstGeom>
          <a:noFill/>
        </p:spPr>
        <p:txBody>
          <a:bodyPr wrap="square">
            <a:spAutoFit/>
          </a:bodyPr>
          <a:lstStyle/>
          <a:p>
            <a:pPr algn="ctr"/>
            <a:r>
              <a:rPr sz="1700" b="1" i="0">
                <a:solidFill>
                  <a:srgbClr val="1B5E9E"/>
                </a:solidFill>
                <a:latin typeface="Calibri"/>
              </a:rPr>
              <a:t>Priya</a:t>
            </a:r>
          </a:p>
        </p:txBody>
      </p:sp>
      <p:sp>
        <p:nvSpPr>
          <p:cNvPr id="30" name="Rounded Rectangle 29"/>
          <p:cNvSpPr/>
          <p:nvPr/>
        </p:nvSpPr>
        <p:spPr>
          <a:xfrm>
            <a:off x="5120640" y="4297680"/>
            <a:ext cx="6309360" cy="475488"/>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4370832"/>
            <a:ext cx="6309360" cy="365760"/>
          </a:xfrm>
          <a:prstGeom prst="rect">
            <a:avLst/>
          </a:prstGeom>
          <a:noFill/>
        </p:spPr>
        <p:txBody>
          <a:bodyPr wrap="square">
            <a:spAutoFit/>
          </a:bodyPr>
          <a:lstStyle/>
          <a:p>
            <a:pPr algn="ctr"/>
            <a:r>
              <a:rPr sz="1700" b="1" i="0">
                <a:solidFill>
                  <a:srgbClr val="1E7A52"/>
                </a:solidFill>
                <a:latin typeface="Calibri"/>
              </a:rPr>
              <a:t>interviewed the science teacher.</a:t>
            </a:r>
          </a:p>
        </p:txBody>
      </p:sp>
      <p:sp>
        <p:nvSpPr>
          <p:cNvPr id="32" name="Rounded Rectangle 31"/>
          <p:cNvSpPr/>
          <p:nvPr/>
        </p:nvSpPr>
        <p:spPr>
          <a:xfrm>
            <a:off x="457200" y="4983480"/>
            <a:ext cx="11292840" cy="65836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77240" y="5074920"/>
            <a:ext cx="4023360" cy="475488"/>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148072"/>
            <a:ext cx="4023360" cy="365760"/>
          </a:xfrm>
          <a:prstGeom prst="rect">
            <a:avLst/>
          </a:prstGeom>
          <a:noFill/>
        </p:spPr>
        <p:txBody>
          <a:bodyPr wrap="square">
            <a:spAutoFit/>
          </a:bodyPr>
          <a:lstStyle/>
          <a:p>
            <a:pPr algn="ctr"/>
            <a:r>
              <a:rPr sz="1700" b="1" i="0">
                <a:solidFill>
                  <a:srgbClr val="1B5E9E"/>
                </a:solidFill>
                <a:latin typeface="Calibri"/>
              </a:rPr>
              <a:t>The excited reporters</a:t>
            </a:r>
          </a:p>
        </p:txBody>
      </p:sp>
      <p:sp>
        <p:nvSpPr>
          <p:cNvPr id="35" name="Rounded Rectangle 34"/>
          <p:cNvSpPr/>
          <p:nvPr/>
        </p:nvSpPr>
        <p:spPr>
          <a:xfrm>
            <a:off x="5120640" y="5074920"/>
            <a:ext cx="6309360" cy="475488"/>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20640" y="5148072"/>
            <a:ext cx="6309360" cy="365760"/>
          </a:xfrm>
          <a:prstGeom prst="rect">
            <a:avLst/>
          </a:prstGeom>
          <a:noFill/>
        </p:spPr>
        <p:txBody>
          <a:bodyPr wrap="square">
            <a:spAutoFit/>
          </a:bodyPr>
          <a:lstStyle/>
          <a:p>
            <a:pPr algn="ctr"/>
            <a:r>
              <a:rPr sz="1700" b="1" i="0">
                <a:solidFill>
                  <a:srgbClr val="1E7A52"/>
                </a:solidFill>
                <a:latin typeface="Calibri"/>
              </a:rPr>
              <a:t>celebrate a good story.</a:t>
            </a:r>
          </a:p>
        </p:txBody>
      </p:sp>
      <p:sp>
        <p:nvSpPr>
          <p:cNvPr id="37" name="Rounded Rectangle 36"/>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9" name="TextBox 38"/>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Ask "who is doing it?" first. That answer is always the subject.</a:t>
            </a:r>
          </a:p>
        </p:txBody>
      </p:sp>
    </p:spTree>
  </p:cSld>
  <p:clrMapOvr>
    <a:masterClrMapping/>
  </p:clrMapOvr>
  <p:transition spd="med"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LEARN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27–37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Subject-Verb Agreement</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3797413"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27–37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19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E7A52"/>
                </a:solidFill>
                <a:latin typeface="Calibri"/>
              </a:rPr>
              <a:t>One person adds an S to the verb. Two or more do not.</a:t>
            </a:r>
          </a:p>
        </p:txBody>
      </p:sp>
      <p:sp>
        <p:nvSpPr>
          <p:cNvPr id="15" name="Rounded Rectangle 14"/>
          <p:cNvSpPr/>
          <p:nvPr/>
        </p:nvSpPr>
        <p:spPr>
          <a:xfrm>
            <a:off x="457200" y="1737360"/>
            <a:ext cx="5440680" cy="178308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011680"/>
            <a:ext cx="4800600" cy="566928"/>
          </a:xfrm>
          <a:prstGeom prst="rect">
            <a:avLst/>
          </a:prstGeom>
          <a:noFill/>
        </p:spPr>
        <p:txBody>
          <a:bodyPr wrap="square">
            <a:spAutoFit/>
          </a:bodyPr>
          <a:lstStyle/>
          <a:p>
            <a:pPr algn="l"/>
            <a:r>
              <a:rPr sz="2600" b="1" i="0">
                <a:solidFill>
                  <a:srgbClr val="111418"/>
                </a:solidFill>
                <a:latin typeface="Calibri"/>
              </a:rPr>
              <a:t>The student </a:t>
            </a:r>
          </a:p>
        </p:txBody>
      </p:sp>
      <p:sp>
        <p:nvSpPr>
          <p:cNvPr id="17" name="TextBox 16"/>
          <p:cNvSpPr txBox="1"/>
          <p:nvPr/>
        </p:nvSpPr>
        <p:spPr>
          <a:xfrm>
            <a:off x="777240" y="2606040"/>
            <a:ext cx="2560320" cy="502920"/>
          </a:xfrm>
          <a:prstGeom prst="rect">
            <a:avLst/>
          </a:prstGeom>
          <a:noFill/>
        </p:spPr>
        <p:txBody>
          <a:bodyPr wrap="square">
            <a:spAutoFit/>
          </a:bodyPr>
          <a:lstStyle/>
          <a:p>
            <a:pPr algn="l"/>
            <a:r>
              <a:rPr sz="3000" b="1" i="0">
                <a:solidFill>
                  <a:srgbClr val="1B5E9E"/>
                </a:solidFill>
                <a:latin typeface="Georgia"/>
              </a:rPr>
              <a:t>WRITES</a:t>
            </a:r>
          </a:p>
        </p:txBody>
      </p:sp>
      <p:sp>
        <p:nvSpPr>
          <p:cNvPr id="18" name="Rounded Rectangle 17"/>
          <p:cNvSpPr/>
          <p:nvPr/>
        </p:nvSpPr>
        <p:spPr>
          <a:xfrm>
            <a:off x="3474720" y="2651760"/>
            <a:ext cx="210312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2724912"/>
            <a:ext cx="2103120" cy="310896"/>
          </a:xfrm>
          <a:prstGeom prst="rect">
            <a:avLst/>
          </a:prstGeom>
          <a:noFill/>
        </p:spPr>
        <p:txBody>
          <a:bodyPr wrap="square">
            <a:spAutoFit/>
          </a:bodyPr>
          <a:lstStyle/>
          <a:p>
            <a:pPr algn="ctr"/>
            <a:r>
              <a:rPr sz="1000" b="1" i="0">
                <a:solidFill>
                  <a:srgbClr val="1B5E9E"/>
                </a:solidFill>
                <a:latin typeface="Calibri"/>
              </a:rPr>
              <a:t>1 person → verb gets S</a:t>
            </a:r>
          </a:p>
        </p:txBody>
      </p:sp>
      <p:sp>
        <p:nvSpPr>
          <p:cNvPr id="20" name="Rounded Rectangle 19"/>
          <p:cNvSpPr/>
          <p:nvPr/>
        </p:nvSpPr>
        <p:spPr>
          <a:xfrm>
            <a:off x="6172200" y="1737360"/>
            <a:ext cx="5440680" cy="178308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011680"/>
            <a:ext cx="4800600" cy="566928"/>
          </a:xfrm>
          <a:prstGeom prst="rect">
            <a:avLst/>
          </a:prstGeom>
          <a:noFill/>
        </p:spPr>
        <p:txBody>
          <a:bodyPr wrap="square">
            <a:spAutoFit/>
          </a:bodyPr>
          <a:lstStyle/>
          <a:p>
            <a:pPr algn="l"/>
            <a:r>
              <a:rPr sz="2600" b="1" i="0">
                <a:solidFill>
                  <a:srgbClr val="111418"/>
                </a:solidFill>
                <a:latin typeface="Calibri"/>
              </a:rPr>
              <a:t>The students </a:t>
            </a:r>
          </a:p>
        </p:txBody>
      </p:sp>
      <p:sp>
        <p:nvSpPr>
          <p:cNvPr id="22" name="TextBox 21"/>
          <p:cNvSpPr txBox="1"/>
          <p:nvPr/>
        </p:nvSpPr>
        <p:spPr>
          <a:xfrm>
            <a:off x="6492240" y="2606040"/>
            <a:ext cx="2560320" cy="502920"/>
          </a:xfrm>
          <a:prstGeom prst="rect">
            <a:avLst/>
          </a:prstGeom>
          <a:noFill/>
        </p:spPr>
        <p:txBody>
          <a:bodyPr wrap="square">
            <a:spAutoFit/>
          </a:bodyPr>
          <a:lstStyle/>
          <a:p>
            <a:pPr algn="l"/>
            <a:r>
              <a:rPr sz="3000" b="1" i="0">
                <a:solidFill>
                  <a:srgbClr val="1E7A52"/>
                </a:solidFill>
                <a:latin typeface="Georgia"/>
              </a:rPr>
              <a:t>WRITE</a:t>
            </a:r>
          </a:p>
        </p:txBody>
      </p:sp>
      <p:sp>
        <p:nvSpPr>
          <p:cNvPr id="23" name="Rounded Rectangle 22"/>
          <p:cNvSpPr/>
          <p:nvPr/>
        </p:nvSpPr>
        <p:spPr>
          <a:xfrm>
            <a:off x="9189720" y="2651760"/>
            <a:ext cx="210312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9720" y="2724912"/>
            <a:ext cx="2103120" cy="310896"/>
          </a:xfrm>
          <a:prstGeom prst="rect">
            <a:avLst/>
          </a:prstGeom>
          <a:noFill/>
        </p:spPr>
        <p:txBody>
          <a:bodyPr wrap="square">
            <a:spAutoFit/>
          </a:bodyPr>
          <a:lstStyle/>
          <a:p>
            <a:pPr algn="ctr"/>
            <a:r>
              <a:rPr sz="1000" b="1" i="0">
                <a:solidFill>
                  <a:srgbClr val="1E7A52"/>
                </a:solidFill>
                <a:latin typeface="Calibri"/>
              </a:rPr>
              <a:t>2+ people → no S</a:t>
            </a:r>
          </a:p>
        </p:txBody>
      </p:sp>
      <p:sp>
        <p:nvSpPr>
          <p:cNvPr id="25" name="Rounded Rectangle 24"/>
          <p:cNvSpPr/>
          <p:nvPr/>
        </p:nvSpPr>
        <p:spPr>
          <a:xfrm>
            <a:off x="457200" y="3749039"/>
            <a:ext cx="5440680" cy="178308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023359"/>
            <a:ext cx="4800600" cy="566928"/>
          </a:xfrm>
          <a:prstGeom prst="rect">
            <a:avLst/>
          </a:prstGeom>
          <a:noFill/>
        </p:spPr>
        <p:txBody>
          <a:bodyPr wrap="square">
            <a:spAutoFit/>
          </a:bodyPr>
          <a:lstStyle/>
          <a:p>
            <a:pPr algn="l"/>
            <a:r>
              <a:rPr sz="2600" b="1" i="0">
                <a:solidFill>
                  <a:srgbClr val="111418"/>
                </a:solidFill>
                <a:latin typeface="Calibri"/>
              </a:rPr>
              <a:t>The reporter </a:t>
            </a:r>
          </a:p>
        </p:txBody>
      </p:sp>
      <p:sp>
        <p:nvSpPr>
          <p:cNvPr id="27" name="TextBox 26"/>
          <p:cNvSpPr txBox="1"/>
          <p:nvPr/>
        </p:nvSpPr>
        <p:spPr>
          <a:xfrm>
            <a:off x="777240" y="4617719"/>
            <a:ext cx="2560320" cy="502920"/>
          </a:xfrm>
          <a:prstGeom prst="rect">
            <a:avLst/>
          </a:prstGeom>
          <a:noFill/>
        </p:spPr>
        <p:txBody>
          <a:bodyPr wrap="square">
            <a:spAutoFit/>
          </a:bodyPr>
          <a:lstStyle/>
          <a:p>
            <a:pPr algn="l"/>
            <a:r>
              <a:rPr sz="3000" b="1" i="0">
                <a:solidFill>
                  <a:srgbClr val="1B5E9E"/>
                </a:solidFill>
                <a:latin typeface="Georgia"/>
              </a:rPr>
              <a:t>ASKS</a:t>
            </a:r>
          </a:p>
        </p:txBody>
      </p:sp>
      <p:sp>
        <p:nvSpPr>
          <p:cNvPr id="28" name="Rounded Rectangle 27"/>
          <p:cNvSpPr/>
          <p:nvPr/>
        </p:nvSpPr>
        <p:spPr>
          <a:xfrm>
            <a:off x="3474720" y="4663439"/>
            <a:ext cx="210312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0" y="4736591"/>
            <a:ext cx="2103120" cy="310896"/>
          </a:xfrm>
          <a:prstGeom prst="rect">
            <a:avLst/>
          </a:prstGeom>
          <a:noFill/>
        </p:spPr>
        <p:txBody>
          <a:bodyPr wrap="square">
            <a:spAutoFit/>
          </a:bodyPr>
          <a:lstStyle/>
          <a:p>
            <a:pPr algn="ctr"/>
            <a:r>
              <a:rPr sz="1000" b="1" i="0">
                <a:solidFill>
                  <a:srgbClr val="1B5E9E"/>
                </a:solidFill>
                <a:latin typeface="Calibri"/>
              </a:rPr>
              <a:t>1 person → verb gets S</a:t>
            </a:r>
          </a:p>
        </p:txBody>
      </p:sp>
      <p:sp>
        <p:nvSpPr>
          <p:cNvPr id="30" name="Rounded Rectangle 29"/>
          <p:cNvSpPr/>
          <p:nvPr/>
        </p:nvSpPr>
        <p:spPr>
          <a:xfrm>
            <a:off x="6172200" y="3749039"/>
            <a:ext cx="5440680" cy="178308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4023359"/>
            <a:ext cx="4800600" cy="566928"/>
          </a:xfrm>
          <a:prstGeom prst="rect">
            <a:avLst/>
          </a:prstGeom>
          <a:noFill/>
        </p:spPr>
        <p:txBody>
          <a:bodyPr wrap="square">
            <a:spAutoFit/>
          </a:bodyPr>
          <a:lstStyle/>
          <a:p>
            <a:pPr algn="l"/>
            <a:r>
              <a:rPr sz="2600" b="1" i="0">
                <a:solidFill>
                  <a:srgbClr val="111418"/>
                </a:solidFill>
                <a:latin typeface="Calibri"/>
              </a:rPr>
              <a:t>The reporters </a:t>
            </a:r>
          </a:p>
        </p:txBody>
      </p:sp>
      <p:sp>
        <p:nvSpPr>
          <p:cNvPr id="32" name="TextBox 31"/>
          <p:cNvSpPr txBox="1"/>
          <p:nvPr/>
        </p:nvSpPr>
        <p:spPr>
          <a:xfrm>
            <a:off x="6492240" y="4617719"/>
            <a:ext cx="2560320" cy="502920"/>
          </a:xfrm>
          <a:prstGeom prst="rect">
            <a:avLst/>
          </a:prstGeom>
          <a:noFill/>
        </p:spPr>
        <p:txBody>
          <a:bodyPr wrap="square">
            <a:spAutoFit/>
          </a:bodyPr>
          <a:lstStyle/>
          <a:p>
            <a:pPr algn="l"/>
            <a:r>
              <a:rPr sz="3000" b="1" i="0">
                <a:solidFill>
                  <a:srgbClr val="1E7A52"/>
                </a:solidFill>
                <a:latin typeface="Georgia"/>
              </a:rPr>
              <a:t>ASK</a:t>
            </a:r>
          </a:p>
        </p:txBody>
      </p:sp>
      <p:sp>
        <p:nvSpPr>
          <p:cNvPr id="33" name="Rounded Rectangle 32"/>
          <p:cNvSpPr/>
          <p:nvPr/>
        </p:nvSpPr>
        <p:spPr>
          <a:xfrm>
            <a:off x="9189720" y="4663439"/>
            <a:ext cx="210312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89720" y="4736591"/>
            <a:ext cx="2103120" cy="310896"/>
          </a:xfrm>
          <a:prstGeom prst="rect">
            <a:avLst/>
          </a:prstGeom>
          <a:noFill/>
        </p:spPr>
        <p:txBody>
          <a:bodyPr wrap="square">
            <a:spAutoFit/>
          </a:bodyPr>
          <a:lstStyle/>
          <a:p>
            <a:pPr algn="ctr"/>
            <a:r>
              <a:rPr sz="1000" b="1" i="0">
                <a:solidFill>
                  <a:srgbClr val="1E7A52"/>
                </a:solidFill>
                <a:latin typeface="Calibri"/>
              </a:rPr>
              <a:t>2+ people → no S</a:t>
            </a:r>
          </a:p>
        </p:txBody>
      </p:sp>
      <p:sp>
        <p:nvSpPr>
          <p:cNvPr id="35" name="Rounded Rectangle 34"/>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7" name="TextBox 36"/>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Count the people first. The count decides the verb, nothing else.</a:t>
            </a:r>
          </a:p>
        </p:txBody>
      </p:sp>
    </p:spTree>
  </p:cSld>
  <p:clrMapOvr>
    <a:masterClrMapping/>
  </p:clrMapOvr>
  <p:transition spd="med"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PRACTICE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27–37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Choose the Right Verb</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3997277"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27–37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20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E7A52"/>
                </a:solidFill>
                <a:latin typeface="Calibri"/>
              </a:rPr>
              <a:t>Count the people. Then pick the verb.</a:t>
            </a:r>
          </a:p>
        </p:txBody>
      </p:sp>
      <p:sp>
        <p:nvSpPr>
          <p:cNvPr id="15" name="Rounded Rectangle 14"/>
          <p:cNvSpPr/>
          <p:nvPr/>
        </p:nvSpPr>
        <p:spPr>
          <a:xfrm>
            <a:off x="457200" y="166420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1810512"/>
            <a:ext cx="438912" cy="438912"/>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865376"/>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248716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2633472"/>
            <a:ext cx="438912" cy="438912"/>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688336"/>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457200" y="331012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3456432"/>
            <a:ext cx="438912" cy="438912"/>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511296"/>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24" name="Rounded Rectangle 23"/>
          <p:cNvSpPr/>
          <p:nvPr/>
        </p:nvSpPr>
        <p:spPr>
          <a:xfrm>
            <a:off x="457200" y="413308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5800" y="4279392"/>
            <a:ext cx="438912" cy="438912"/>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334256"/>
            <a:ext cx="438912" cy="347472"/>
          </a:xfrm>
          <a:prstGeom prst="rect">
            <a:avLst/>
          </a:prstGeom>
          <a:noFill/>
        </p:spPr>
        <p:txBody>
          <a:bodyPr wrap="square">
            <a:spAutoFit/>
          </a:bodyPr>
          <a:lstStyle/>
          <a:p>
            <a:pPr algn="ctr"/>
            <a:r>
              <a:rPr sz="1200" b="1" i="0">
                <a:solidFill>
                  <a:srgbClr val="FFFFFF"/>
                </a:solidFill>
                <a:latin typeface="Calibri"/>
              </a:rPr>
              <a:t>4</a:t>
            </a:r>
          </a:p>
        </p:txBody>
      </p:sp>
      <p:sp>
        <p:nvSpPr>
          <p:cNvPr id="27" name="Rounded Rectangle 26"/>
          <p:cNvSpPr/>
          <p:nvPr/>
        </p:nvSpPr>
        <p:spPr>
          <a:xfrm>
            <a:off x="457200" y="495604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5800" y="5102352"/>
            <a:ext cx="438912" cy="438912"/>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157216"/>
            <a:ext cx="438912" cy="347472"/>
          </a:xfrm>
          <a:prstGeom prst="rect">
            <a:avLst/>
          </a:prstGeom>
          <a:noFill/>
        </p:spPr>
        <p:txBody>
          <a:bodyPr wrap="square">
            <a:spAutoFit/>
          </a:bodyPr>
          <a:lstStyle/>
          <a:p>
            <a:pPr algn="ctr"/>
            <a:r>
              <a:rPr sz="1200" b="1" i="0">
                <a:solidFill>
                  <a:srgbClr val="FFFFFF"/>
                </a:solidFill>
                <a:latin typeface="Calibri"/>
              </a:rPr>
              <a:t>5</a:t>
            </a:r>
          </a:p>
        </p:txBody>
      </p:sp>
      <p:sp>
        <p:nvSpPr>
          <p:cNvPr id="30" name="TextBox 29"/>
          <p:cNvSpPr txBox="1"/>
          <p:nvPr/>
        </p:nvSpPr>
        <p:spPr>
          <a:xfrm>
            <a:off x="1325880" y="1828800"/>
            <a:ext cx="4572000" cy="457200"/>
          </a:xfrm>
          <a:prstGeom prst="rect">
            <a:avLst/>
          </a:prstGeom>
          <a:noFill/>
        </p:spPr>
        <p:txBody>
          <a:bodyPr wrap="square">
            <a:spAutoFit/>
          </a:bodyPr>
          <a:lstStyle/>
          <a:p>
            <a:pPr algn="l"/>
            <a:r>
              <a:rPr sz="1700" b="1" i="0">
                <a:solidFill>
                  <a:srgbClr val="111418"/>
                </a:solidFill>
                <a:latin typeface="Calibri"/>
              </a:rPr>
              <a:t>Mr. Ellis ______ the team.</a:t>
            </a:r>
          </a:p>
        </p:txBody>
      </p:sp>
      <p:sp>
        <p:nvSpPr>
          <p:cNvPr id="31" name="Rounded Rectangle 30"/>
          <p:cNvSpPr/>
          <p:nvPr/>
        </p:nvSpPr>
        <p:spPr>
          <a:xfrm>
            <a:off x="5989320" y="180136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89320" y="1865376"/>
            <a:ext cx="1737360" cy="347472"/>
          </a:xfrm>
          <a:prstGeom prst="rect">
            <a:avLst/>
          </a:prstGeom>
          <a:noFill/>
        </p:spPr>
        <p:txBody>
          <a:bodyPr wrap="square">
            <a:spAutoFit/>
          </a:bodyPr>
          <a:lstStyle/>
          <a:p>
            <a:pPr algn="ctr"/>
            <a:r>
              <a:rPr sz="1400" b="1" i="0">
                <a:solidFill>
                  <a:srgbClr val="111418"/>
                </a:solidFill>
                <a:latin typeface="Calibri"/>
              </a:rPr>
              <a:t>help</a:t>
            </a:r>
          </a:p>
        </p:txBody>
      </p:sp>
      <p:sp>
        <p:nvSpPr>
          <p:cNvPr id="33" name="Rounded Rectangle 32"/>
          <p:cNvSpPr/>
          <p:nvPr/>
        </p:nvSpPr>
        <p:spPr>
          <a:xfrm>
            <a:off x="7863840" y="180136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1865376"/>
            <a:ext cx="1737360" cy="347472"/>
          </a:xfrm>
          <a:prstGeom prst="rect">
            <a:avLst/>
          </a:prstGeom>
          <a:noFill/>
        </p:spPr>
        <p:txBody>
          <a:bodyPr wrap="square">
            <a:spAutoFit/>
          </a:bodyPr>
          <a:lstStyle/>
          <a:p>
            <a:pPr algn="ctr"/>
            <a:r>
              <a:rPr sz="1400" b="1" i="0">
                <a:solidFill>
                  <a:srgbClr val="111418"/>
                </a:solidFill>
                <a:latin typeface="Calibri"/>
              </a:rPr>
              <a:t>helps</a:t>
            </a:r>
          </a:p>
        </p:txBody>
      </p:sp>
      <p:sp>
        <p:nvSpPr>
          <p:cNvPr id="35" name="TextBox 34"/>
          <p:cNvSpPr txBox="1"/>
          <p:nvPr/>
        </p:nvSpPr>
        <p:spPr>
          <a:xfrm>
            <a:off x="1325880" y="2651760"/>
            <a:ext cx="4572000" cy="457200"/>
          </a:xfrm>
          <a:prstGeom prst="rect">
            <a:avLst/>
          </a:prstGeom>
          <a:noFill/>
        </p:spPr>
        <p:txBody>
          <a:bodyPr wrap="square">
            <a:spAutoFit/>
          </a:bodyPr>
          <a:lstStyle/>
          <a:p>
            <a:pPr algn="l"/>
            <a:r>
              <a:rPr sz="1700" b="1" i="0">
                <a:solidFill>
                  <a:srgbClr val="111418"/>
                </a:solidFill>
                <a:latin typeface="Calibri"/>
              </a:rPr>
              <a:t>Butterflies ______ to the garden.</a:t>
            </a:r>
          </a:p>
        </p:txBody>
      </p:sp>
      <p:sp>
        <p:nvSpPr>
          <p:cNvPr id="36" name="Rounded Rectangle 35"/>
          <p:cNvSpPr/>
          <p:nvPr/>
        </p:nvSpPr>
        <p:spPr>
          <a:xfrm>
            <a:off x="5989320" y="262432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89320" y="2688336"/>
            <a:ext cx="1737360" cy="347472"/>
          </a:xfrm>
          <a:prstGeom prst="rect">
            <a:avLst/>
          </a:prstGeom>
          <a:noFill/>
        </p:spPr>
        <p:txBody>
          <a:bodyPr wrap="square">
            <a:spAutoFit/>
          </a:bodyPr>
          <a:lstStyle/>
          <a:p>
            <a:pPr algn="ctr"/>
            <a:r>
              <a:rPr sz="1400" b="1" i="0">
                <a:solidFill>
                  <a:srgbClr val="111418"/>
                </a:solidFill>
                <a:latin typeface="Calibri"/>
              </a:rPr>
              <a:t>come</a:t>
            </a:r>
          </a:p>
        </p:txBody>
      </p:sp>
      <p:sp>
        <p:nvSpPr>
          <p:cNvPr id="38" name="Rounded Rectangle 37"/>
          <p:cNvSpPr/>
          <p:nvPr/>
        </p:nvSpPr>
        <p:spPr>
          <a:xfrm>
            <a:off x="7863840" y="262432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2688336"/>
            <a:ext cx="1737360" cy="347472"/>
          </a:xfrm>
          <a:prstGeom prst="rect">
            <a:avLst/>
          </a:prstGeom>
          <a:noFill/>
        </p:spPr>
        <p:txBody>
          <a:bodyPr wrap="square">
            <a:spAutoFit/>
          </a:bodyPr>
          <a:lstStyle/>
          <a:p>
            <a:pPr algn="ctr"/>
            <a:r>
              <a:rPr sz="1400" b="1" i="0">
                <a:solidFill>
                  <a:srgbClr val="111418"/>
                </a:solidFill>
                <a:latin typeface="Calibri"/>
              </a:rPr>
              <a:t>comes</a:t>
            </a:r>
          </a:p>
        </p:txBody>
      </p:sp>
      <p:sp>
        <p:nvSpPr>
          <p:cNvPr id="40" name="TextBox 39"/>
          <p:cNvSpPr txBox="1"/>
          <p:nvPr/>
        </p:nvSpPr>
        <p:spPr>
          <a:xfrm>
            <a:off x="1325880" y="3474720"/>
            <a:ext cx="4572000" cy="457200"/>
          </a:xfrm>
          <a:prstGeom prst="rect">
            <a:avLst/>
          </a:prstGeom>
          <a:noFill/>
        </p:spPr>
        <p:txBody>
          <a:bodyPr wrap="square">
            <a:spAutoFit/>
          </a:bodyPr>
          <a:lstStyle/>
          <a:p>
            <a:pPr algn="l"/>
            <a:r>
              <a:rPr sz="1700" b="1" i="0">
                <a:solidFill>
                  <a:srgbClr val="111418"/>
                </a:solidFill>
                <a:latin typeface="Calibri"/>
              </a:rPr>
              <a:t>My class ______ vegetables.</a:t>
            </a:r>
          </a:p>
        </p:txBody>
      </p:sp>
      <p:sp>
        <p:nvSpPr>
          <p:cNvPr id="41" name="Rounded Rectangle 40"/>
          <p:cNvSpPr/>
          <p:nvPr/>
        </p:nvSpPr>
        <p:spPr>
          <a:xfrm>
            <a:off x="5989320" y="344728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89320" y="3511296"/>
            <a:ext cx="1737360" cy="347472"/>
          </a:xfrm>
          <a:prstGeom prst="rect">
            <a:avLst/>
          </a:prstGeom>
          <a:noFill/>
        </p:spPr>
        <p:txBody>
          <a:bodyPr wrap="square">
            <a:spAutoFit/>
          </a:bodyPr>
          <a:lstStyle/>
          <a:p>
            <a:pPr algn="ctr"/>
            <a:r>
              <a:rPr sz="1400" b="1" i="0">
                <a:solidFill>
                  <a:srgbClr val="111418"/>
                </a:solidFill>
                <a:latin typeface="Calibri"/>
              </a:rPr>
              <a:t>plant</a:t>
            </a:r>
          </a:p>
        </p:txBody>
      </p:sp>
      <p:sp>
        <p:nvSpPr>
          <p:cNvPr id="43" name="Rounded Rectangle 42"/>
          <p:cNvSpPr/>
          <p:nvPr/>
        </p:nvSpPr>
        <p:spPr>
          <a:xfrm>
            <a:off x="7863840" y="344728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0" y="3511296"/>
            <a:ext cx="1737360" cy="347472"/>
          </a:xfrm>
          <a:prstGeom prst="rect">
            <a:avLst/>
          </a:prstGeom>
          <a:noFill/>
        </p:spPr>
        <p:txBody>
          <a:bodyPr wrap="square">
            <a:spAutoFit/>
          </a:bodyPr>
          <a:lstStyle/>
          <a:p>
            <a:pPr algn="ctr"/>
            <a:r>
              <a:rPr sz="1400" b="1" i="0">
                <a:solidFill>
                  <a:srgbClr val="111418"/>
                </a:solidFill>
                <a:latin typeface="Calibri"/>
              </a:rPr>
              <a:t>plants</a:t>
            </a:r>
          </a:p>
        </p:txBody>
      </p:sp>
      <p:sp>
        <p:nvSpPr>
          <p:cNvPr id="45" name="TextBox 44"/>
          <p:cNvSpPr txBox="1"/>
          <p:nvPr/>
        </p:nvSpPr>
        <p:spPr>
          <a:xfrm>
            <a:off x="1325880" y="4297680"/>
            <a:ext cx="4572000" cy="457200"/>
          </a:xfrm>
          <a:prstGeom prst="rect">
            <a:avLst/>
          </a:prstGeom>
          <a:noFill/>
        </p:spPr>
        <p:txBody>
          <a:bodyPr wrap="square">
            <a:spAutoFit/>
          </a:bodyPr>
          <a:lstStyle/>
          <a:p>
            <a:pPr algn="l"/>
            <a:r>
              <a:rPr sz="1700" b="1" i="0">
                <a:solidFill>
                  <a:srgbClr val="111418"/>
                </a:solidFill>
                <a:latin typeface="Calibri"/>
              </a:rPr>
              <a:t>The birds ______ a nest.</a:t>
            </a:r>
          </a:p>
        </p:txBody>
      </p:sp>
      <p:sp>
        <p:nvSpPr>
          <p:cNvPr id="46" name="Rounded Rectangle 45"/>
          <p:cNvSpPr/>
          <p:nvPr/>
        </p:nvSpPr>
        <p:spPr>
          <a:xfrm>
            <a:off x="5989320" y="427024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89320" y="4334256"/>
            <a:ext cx="1737360" cy="347472"/>
          </a:xfrm>
          <a:prstGeom prst="rect">
            <a:avLst/>
          </a:prstGeom>
          <a:noFill/>
        </p:spPr>
        <p:txBody>
          <a:bodyPr wrap="square">
            <a:spAutoFit/>
          </a:bodyPr>
          <a:lstStyle/>
          <a:p>
            <a:pPr algn="ctr"/>
            <a:r>
              <a:rPr sz="1400" b="1" i="0">
                <a:solidFill>
                  <a:srgbClr val="111418"/>
                </a:solidFill>
                <a:latin typeface="Calibri"/>
              </a:rPr>
              <a:t>build</a:t>
            </a:r>
          </a:p>
        </p:txBody>
      </p:sp>
      <p:sp>
        <p:nvSpPr>
          <p:cNvPr id="48" name="Rounded Rectangle 47"/>
          <p:cNvSpPr/>
          <p:nvPr/>
        </p:nvSpPr>
        <p:spPr>
          <a:xfrm>
            <a:off x="7863840" y="427024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63840" y="4334256"/>
            <a:ext cx="1737360" cy="347472"/>
          </a:xfrm>
          <a:prstGeom prst="rect">
            <a:avLst/>
          </a:prstGeom>
          <a:noFill/>
        </p:spPr>
        <p:txBody>
          <a:bodyPr wrap="square">
            <a:spAutoFit/>
          </a:bodyPr>
          <a:lstStyle/>
          <a:p>
            <a:pPr algn="ctr"/>
            <a:r>
              <a:rPr sz="1400" b="1" i="0">
                <a:solidFill>
                  <a:srgbClr val="111418"/>
                </a:solidFill>
                <a:latin typeface="Calibri"/>
              </a:rPr>
              <a:t>builds</a:t>
            </a:r>
          </a:p>
        </p:txBody>
      </p:sp>
      <p:sp>
        <p:nvSpPr>
          <p:cNvPr id="50" name="TextBox 49"/>
          <p:cNvSpPr txBox="1"/>
          <p:nvPr/>
        </p:nvSpPr>
        <p:spPr>
          <a:xfrm>
            <a:off x="1325880" y="5120640"/>
            <a:ext cx="4572000" cy="457200"/>
          </a:xfrm>
          <a:prstGeom prst="rect">
            <a:avLst/>
          </a:prstGeom>
          <a:noFill/>
        </p:spPr>
        <p:txBody>
          <a:bodyPr wrap="square">
            <a:spAutoFit/>
          </a:bodyPr>
          <a:lstStyle/>
          <a:p>
            <a:pPr algn="l"/>
            <a:r>
              <a:rPr sz="1700" b="1" i="0">
                <a:solidFill>
                  <a:srgbClr val="111418"/>
                </a:solidFill>
                <a:latin typeface="Calibri"/>
              </a:rPr>
              <a:t>Priya ______ every answer.</a:t>
            </a:r>
          </a:p>
        </p:txBody>
      </p:sp>
      <p:sp>
        <p:nvSpPr>
          <p:cNvPr id="51" name="Rounded Rectangle 50"/>
          <p:cNvSpPr/>
          <p:nvPr/>
        </p:nvSpPr>
        <p:spPr>
          <a:xfrm>
            <a:off x="5989320" y="509320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89320" y="5157216"/>
            <a:ext cx="1737360" cy="347472"/>
          </a:xfrm>
          <a:prstGeom prst="rect">
            <a:avLst/>
          </a:prstGeom>
          <a:noFill/>
        </p:spPr>
        <p:txBody>
          <a:bodyPr wrap="square">
            <a:spAutoFit/>
          </a:bodyPr>
          <a:lstStyle/>
          <a:p>
            <a:pPr algn="ctr"/>
            <a:r>
              <a:rPr sz="1400" b="1" i="0">
                <a:solidFill>
                  <a:srgbClr val="111418"/>
                </a:solidFill>
                <a:latin typeface="Calibri"/>
              </a:rPr>
              <a:t>check</a:t>
            </a:r>
          </a:p>
        </p:txBody>
      </p:sp>
      <p:sp>
        <p:nvSpPr>
          <p:cNvPr id="53" name="Rounded Rectangle 52"/>
          <p:cNvSpPr/>
          <p:nvPr/>
        </p:nvSpPr>
        <p:spPr>
          <a:xfrm>
            <a:off x="7863840" y="5093208"/>
            <a:ext cx="173736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63840" y="5157216"/>
            <a:ext cx="1737360" cy="347472"/>
          </a:xfrm>
          <a:prstGeom prst="rect">
            <a:avLst/>
          </a:prstGeom>
          <a:noFill/>
        </p:spPr>
        <p:txBody>
          <a:bodyPr wrap="square">
            <a:spAutoFit/>
          </a:bodyPr>
          <a:lstStyle/>
          <a:p>
            <a:pPr algn="ctr"/>
            <a:r>
              <a:rPr sz="1400" b="1" i="0">
                <a:solidFill>
                  <a:srgbClr val="111418"/>
                </a:solidFill>
                <a:latin typeface="Calibri"/>
              </a:rPr>
              <a:t>checks</a:t>
            </a:r>
          </a:p>
        </p:txBody>
      </p:sp>
      <p:sp>
        <p:nvSpPr>
          <p:cNvPr id="55" name="Rounded Rectangle 54"/>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7" name="TextBox 56"/>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Butterflies is more than one, even though it has no THE in front.</a:t>
            </a:r>
          </a:p>
        </p:txBody>
      </p:sp>
    </p:spTree>
  </p:cSld>
  <p:clrMapOvr>
    <a:masterClrMapping/>
  </p:clrMapOvr>
  <p:transition spd="med"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27–37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Game: Editor's Red Pen</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4197140"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27–37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21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One mistake per sentence. Find it before you fix it.</a:t>
            </a:r>
          </a:p>
        </p:txBody>
      </p:sp>
      <p:sp>
        <p:nvSpPr>
          <p:cNvPr id="15" name="Rounded Rectangle 14"/>
          <p:cNvSpPr/>
          <p:nvPr/>
        </p:nvSpPr>
        <p:spPr>
          <a:xfrm>
            <a:off x="457200" y="16916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0848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39696"/>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30632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34564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11296"/>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457200" y="44348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48280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882896"/>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24" name="Rounded Rectangle 23"/>
          <p:cNvSpPr/>
          <p:nvPr/>
        </p:nvSpPr>
        <p:spPr>
          <a:xfrm>
            <a:off x="1280160" y="18562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1938528"/>
            <a:ext cx="7040880" cy="402336"/>
          </a:xfrm>
          <a:prstGeom prst="rect">
            <a:avLst/>
          </a:prstGeom>
          <a:noFill/>
        </p:spPr>
        <p:txBody>
          <a:bodyPr wrap="square">
            <a:spAutoFit/>
          </a:bodyPr>
          <a:lstStyle/>
          <a:p>
            <a:pPr algn="l"/>
            <a:r>
              <a:rPr sz="1700" b="1" i="1">
                <a:solidFill>
                  <a:srgbClr val="C8322B"/>
                </a:solidFill>
                <a:latin typeface="Calibri"/>
              </a:rPr>
              <a:t>The students writes a story.</a:t>
            </a:r>
          </a:p>
        </p:txBody>
      </p:sp>
      <p:sp>
        <p:nvSpPr>
          <p:cNvPr id="26" name="TextBox 25"/>
          <p:cNvSpPr txBox="1"/>
          <p:nvPr/>
        </p:nvSpPr>
        <p:spPr>
          <a:xfrm>
            <a:off x="1325880" y="24780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27" name="Rounded Rectangle 26"/>
          <p:cNvSpPr/>
          <p:nvPr/>
        </p:nvSpPr>
        <p:spPr>
          <a:xfrm>
            <a:off x="891540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15400" y="19202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29" name="Rounded Rectangle 28"/>
          <p:cNvSpPr/>
          <p:nvPr/>
        </p:nvSpPr>
        <p:spPr>
          <a:xfrm>
            <a:off x="1280160" y="32278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08760" y="3310128"/>
            <a:ext cx="7040880" cy="402336"/>
          </a:xfrm>
          <a:prstGeom prst="rect">
            <a:avLst/>
          </a:prstGeom>
          <a:noFill/>
        </p:spPr>
        <p:txBody>
          <a:bodyPr wrap="square">
            <a:spAutoFit/>
          </a:bodyPr>
          <a:lstStyle/>
          <a:p>
            <a:pPr algn="l"/>
            <a:r>
              <a:rPr sz="1700" b="1" i="1">
                <a:solidFill>
                  <a:srgbClr val="C8322B"/>
                </a:solidFill>
                <a:latin typeface="Calibri"/>
              </a:rPr>
              <a:t>The reporter ask a question.</a:t>
            </a:r>
          </a:p>
        </p:txBody>
      </p:sp>
      <p:sp>
        <p:nvSpPr>
          <p:cNvPr id="31" name="TextBox 30"/>
          <p:cNvSpPr txBox="1"/>
          <p:nvPr/>
        </p:nvSpPr>
        <p:spPr>
          <a:xfrm>
            <a:off x="1325880" y="38496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32" name="Rounded Rectangle 31"/>
          <p:cNvSpPr/>
          <p:nvPr/>
        </p:nvSpPr>
        <p:spPr>
          <a:xfrm>
            <a:off x="8915400" y="32644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2918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34" name="Rounded Rectangle 33"/>
          <p:cNvSpPr/>
          <p:nvPr/>
        </p:nvSpPr>
        <p:spPr>
          <a:xfrm>
            <a:off x="1280160" y="45994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08760" y="4681728"/>
            <a:ext cx="7040880" cy="402336"/>
          </a:xfrm>
          <a:prstGeom prst="rect">
            <a:avLst/>
          </a:prstGeom>
          <a:noFill/>
        </p:spPr>
        <p:txBody>
          <a:bodyPr wrap="square">
            <a:spAutoFit/>
          </a:bodyPr>
          <a:lstStyle/>
          <a:p>
            <a:pPr algn="l"/>
            <a:r>
              <a:rPr sz="1700" b="1" i="1">
                <a:solidFill>
                  <a:srgbClr val="C8322B"/>
                </a:solidFill>
                <a:latin typeface="Calibri"/>
              </a:rPr>
              <a:t>My friend read the newspaper every day.</a:t>
            </a:r>
          </a:p>
        </p:txBody>
      </p:sp>
      <p:sp>
        <p:nvSpPr>
          <p:cNvPr id="36" name="TextBox 35"/>
          <p:cNvSpPr txBox="1"/>
          <p:nvPr/>
        </p:nvSpPr>
        <p:spPr>
          <a:xfrm>
            <a:off x="1325880" y="52212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37" name="Rounded Rectangle 36"/>
          <p:cNvSpPr/>
          <p:nvPr/>
        </p:nvSpPr>
        <p:spPr>
          <a:xfrm>
            <a:off x="8915400" y="46360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5400" y="46634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39" name="Rounded Rectangle 38"/>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1" name="TextBox 40"/>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Point at the subject and ask: is that one person, or more?</a:t>
            </a:r>
          </a:p>
        </p:txBody>
      </p:sp>
    </p:spTree>
  </p:cSld>
  <p:clrMapOvr>
    <a:masterClrMapping/>
  </p:clrMapOvr>
  <p:transition spd="med"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27–37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Editor's Red Pen — Sentences 4 and 5</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4397004"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27–37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22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Two harder ones. Say the rule out loud as you fix it.</a:t>
            </a:r>
          </a:p>
        </p:txBody>
      </p:sp>
      <p:sp>
        <p:nvSpPr>
          <p:cNvPr id="15" name="Rounded Rectangle 14"/>
          <p:cNvSpPr/>
          <p:nvPr/>
        </p:nvSpPr>
        <p:spPr>
          <a:xfrm>
            <a:off x="457200" y="16916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0848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39696"/>
            <a:ext cx="438912" cy="347472"/>
          </a:xfrm>
          <a:prstGeom prst="rect">
            <a:avLst/>
          </a:prstGeom>
          <a:noFill/>
        </p:spPr>
        <p:txBody>
          <a:bodyPr wrap="square">
            <a:spAutoFit/>
          </a:bodyPr>
          <a:lstStyle/>
          <a:p>
            <a:pPr algn="ctr"/>
            <a:r>
              <a:rPr sz="1200" b="1" i="0">
                <a:solidFill>
                  <a:srgbClr val="FFFFFF"/>
                </a:solidFill>
                <a:latin typeface="Calibri"/>
              </a:rPr>
              <a:t>4</a:t>
            </a:r>
          </a:p>
        </p:txBody>
      </p:sp>
      <p:sp>
        <p:nvSpPr>
          <p:cNvPr id="18" name="Rounded Rectangle 17"/>
          <p:cNvSpPr/>
          <p:nvPr/>
        </p:nvSpPr>
        <p:spPr>
          <a:xfrm>
            <a:off x="457200" y="30632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34564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11296"/>
            <a:ext cx="438912" cy="347472"/>
          </a:xfrm>
          <a:prstGeom prst="rect">
            <a:avLst/>
          </a:prstGeom>
          <a:noFill/>
        </p:spPr>
        <p:txBody>
          <a:bodyPr wrap="square">
            <a:spAutoFit/>
          </a:bodyPr>
          <a:lstStyle/>
          <a:p>
            <a:pPr algn="ctr"/>
            <a:r>
              <a:rPr sz="1200" b="1" i="0">
                <a:solidFill>
                  <a:srgbClr val="FFFFFF"/>
                </a:solidFill>
                <a:latin typeface="Calibri"/>
              </a:rPr>
              <a:t>5</a:t>
            </a:r>
          </a:p>
        </p:txBody>
      </p:sp>
      <p:sp>
        <p:nvSpPr>
          <p:cNvPr id="21" name="Rounded Rectangle 20"/>
          <p:cNvSpPr/>
          <p:nvPr/>
        </p:nvSpPr>
        <p:spPr>
          <a:xfrm>
            <a:off x="1280160" y="18562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08760" y="1938528"/>
            <a:ext cx="7040880" cy="402336"/>
          </a:xfrm>
          <a:prstGeom prst="rect">
            <a:avLst/>
          </a:prstGeom>
          <a:noFill/>
        </p:spPr>
        <p:txBody>
          <a:bodyPr wrap="square">
            <a:spAutoFit/>
          </a:bodyPr>
          <a:lstStyle/>
          <a:p>
            <a:pPr algn="l"/>
            <a:r>
              <a:rPr sz="1700" b="1" i="1">
                <a:solidFill>
                  <a:srgbClr val="C8322B"/>
                </a:solidFill>
                <a:latin typeface="Calibri"/>
              </a:rPr>
              <a:t>The teachers helps the team.</a:t>
            </a:r>
          </a:p>
        </p:txBody>
      </p:sp>
      <p:sp>
        <p:nvSpPr>
          <p:cNvPr id="23" name="TextBox 22"/>
          <p:cNvSpPr txBox="1"/>
          <p:nvPr/>
        </p:nvSpPr>
        <p:spPr>
          <a:xfrm>
            <a:off x="1325880" y="24780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24" name="Rounded Rectangle 23"/>
          <p:cNvSpPr/>
          <p:nvPr/>
        </p:nvSpPr>
        <p:spPr>
          <a:xfrm>
            <a:off x="891540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15400" y="19202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26" name="Rounded Rectangle 25"/>
          <p:cNvSpPr/>
          <p:nvPr/>
        </p:nvSpPr>
        <p:spPr>
          <a:xfrm>
            <a:off x="1280160" y="32278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3310128"/>
            <a:ext cx="7040880" cy="402336"/>
          </a:xfrm>
          <a:prstGeom prst="rect">
            <a:avLst/>
          </a:prstGeom>
          <a:noFill/>
        </p:spPr>
        <p:txBody>
          <a:bodyPr wrap="square">
            <a:spAutoFit/>
          </a:bodyPr>
          <a:lstStyle/>
          <a:p>
            <a:pPr algn="l"/>
            <a:r>
              <a:rPr sz="1700" b="1" i="1">
                <a:solidFill>
                  <a:srgbClr val="C8322B"/>
                </a:solidFill>
                <a:latin typeface="Calibri"/>
              </a:rPr>
              <a:t>Priya and Sam plants the seeds.</a:t>
            </a:r>
          </a:p>
        </p:txBody>
      </p:sp>
      <p:sp>
        <p:nvSpPr>
          <p:cNvPr id="28" name="TextBox 27"/>
          <p:cNvSpPr txBox="1"/>
          <p:nvPr/>
        </p:nvSpPr>
        <p:spPr>
          <a:xfrm>
            <a:off x="1325880" y="38496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29" name="Rounded Rectangle 28"/>
          <p:cNvSpPr/>
          <p:nvPr/>
        </p:nvSpPr>
        <p:spPr>
          <a:xfrm>
            <a:off x="8915400" y="32644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5400" y="32918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31" name="Rounded Rectangle 30"/>
          <p:cNvSpPr/>
          <p:nvPr/>
        </p:nvSpPr>
        <p:spPr>
          <a:xfrm>
            <a:off x="457200" y="4480560"/>
            <a:ext cx="11292840" cy="118872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617720"/>
            <a:ext cx="10698480" cy="329184"/>
          </a:xfrm>
          <a:prstGeom prst="rect">
            <a:avLst/>
          </a:prstGeom>
          <a:noFill/>
        </p:spPr>
        <p:txBody>
          <a:bodyPr wrap="square">
            <a:spAutoFit/>
          </a:bodyPr>
          <a:lstStyle/>
          <a:p>
            <a:pPr algn="l"/>
            <a:r>
              <a:rPr sz="1300" b="1" i="0">
                <a:solidFill>
                  <a:srgbClr val="6A4A9E"/>
                </a:solidFill>
                <a:latin typeface="Calibri"/>
              </a:rPr>
              <a:t>⭐ EDITOR CHALLENGE</a:t>
            </a:r>
          </a:p>
        </p:txBody>
      </p:sp>
      <p:sp>
        <p:nvSpPr>
          <p:cNvPr id="33" name="TextBox 32"/>
          <p:cNvSpPr txBox="1"/>
          <p:nvPr/>
        </p:nvSpPr>
        <p:spPr>
          <a:xfrm>
            <a:off x="731520" y="5010912"/>
            <a:ext cx="10698480" cy="548640"/>
          </a:xfrm>
          <a:prstGeom prst="rect">
            <a:avLst/>
          </a:prstGeom>
          <a:noFill/>
        </p:spPr>
        <p:txBody>
          <a:bodyPr wrap="square">
            <a:spAutoFit/>
          </a:bodyPr>
          <a:lstStyle/>
          <a:p>
            <a:pPr algn="l"/>
            <a:r>
              <a:rPr sz="1600" b="1" i="0">
                <a:solidFill>
                  <a:srgbClr val="111418"/>
                </a:solidFill>
                <a:latin typeface="Calibri"/>
              </a:rPr>
              <a:t>"Priya and Sam" is two people. Can you write one more sentence with two names as the subject?</a:t>
            </a:r>
          </a:p>
        </p:txBody>
      </p:sp>
      <p:sp>
        <p:nvSpPr>
          <p:cNvPr id="34" name="Rounded Rectangle 33"/>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6" name="TextBox 35"/>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Two names joined by AND always count as more than one.</a:t>
            </a:r>
          </a:p>
        </p:txBody>
      </p:sp>
    </p:spTree>
  </p:cSld>
  <p:clrMapOvr>
    <a:masterClrMapping/>
  </p:clrMapOvr>
  <p:transition spd="med"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LEARN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37–44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The Parts of Speech Colour Code</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4596868"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37–44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23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B5E9E"/>
                </a:solidFill>
                <a:latin typeface="Calibri"/>
              </a:rPr>
              <a:t>We colour every sentence from here on. Learn the four colours.</a:t>
            </a:r>
          </a:p>
        </p:txBody>
      </p:sp>
      <p:sp>
        <p:nvSpPr>
          <p:cNvPr id="15" name="Rounded Rectangle 14"/>
          <p:cNvSpPr/>
          <p:nvPr/>
        </p:nvSpPr>
        <p:spPr>
          <a:xfrm>
            <a:off x="457200" y="1691640"/>
            <a:ext cx="2697480" cy="265176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1901952"/>
            <a:ext cx="2148840" cy="56692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011680"/>
            <a:ext cx="2148840" cy="402336"/>
          </a:xfrm>
          <a:prstGeom prst="rect">
            <a:avLst/>
          </a:prstGeom>
          <a:noFill/>
        </p:spPr>
        <p:txBody>
          <a:bodyPr wrap="square">
            <a:spAutoFit/>
          </a:bodyPr>
          <a:lstStyle/>
          <a:p>
            <a:pPr algn="ctr"/>
            <a:r>
              <a:rPr sz="1500" b="1" i="0">
                <a:solidFill>
                  <a:srgbClr val="FFFFFF"/>
                </a:solidFill>
                <a:latin typeface="Calibri"/>
              </a:rPr>
              <a:t>NOUN</a:t>
            </a:r>
          </a:p>
        </p:txBody>
      </p:sp>
      <p:sp>
        <p:nvSpPr>
          <p:cNvPr id="18" name="TextBox 17"/>
          <p:cNvSpPr txBox="1"/>
          <p:nvPr/>
        </p:nvSpPr>
        <p:spPr>
          <a:xfrm>
            <a:off x="685800" y="2651760"/>
            <a:ext cx="2240280" cy="685800"/>
          </a:xfrm>
          <a:prstGeom prst="rect">
            <a:avLst/>
          </a:prstGeom>
          <a:noFill/>
        </p:spPr>
        <p:txBody>
          <a:bodyPr wrap="square">
            <a:spAutoFit/>
          </a:bodyPr>
          <a:lstStyle/>
          <a:p>
            <a:pPr algn="ctr"/>
            <a:r>
              <a:rPr sz="1200" b="0" i="0">
                <a:solidFill>
                  <a:srgbClr val="2A2F36"/>
                </a:solidFill>
                <a:latin typeface="Calibri"/>
              </a:rPr>
              <a:t>a person, place or thing</a:t>
            </a:r>
          </a:p>
        </p:txBody>
      </p:sp>
      <p:sp>
        <p:nvSpPr>
          <p:cNvPr id="19" name="Rounded Rectangle 18"/>
          <p:cNvSpPr/>
          <p:nvPr/>
        </p:nvSpPr>
        <p:spPr>
          <a:xfrm>
            <a:off x="640080" y="3429000"/>
            <a:ext cx="233172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566160"/>
            <a:ext cx="2148840" cy="530352"/>
          </a:xfrm>
          <a:prstGeom prst="rect">
            <a:avLst/>
          </a:prstGeom>
          <a:noFill/>
        </p:spPr>
        <p:txBody>
          <a:bodyPr wrap="square">
            <a:spAutoFit/>
          </a:bodyPr>
          <a:lstStyle/>
          <a:p>
            <a:pPr algn="ctr"/>
            <a:r>
              <a:rPr sz="1100" b="1" i="0">
                <a:solidFill>
                  <a:srgbClr val="1B5E9E"/>
                </a:solidFill>
                <a:latin typeface="Calibri"/>
              </a:rPr>
              <a:t>reporter, garden, story</a:t>
            </a:r>
          </a:p>
        </p:txBody>
      </p:sp>
      <p:sp>
        <p:nvSpPr>
          <p:cNvPr id="21" name="Rounded Rectangle 20"/>
          <p:cNvSpPr/>
          <p:nvPr/>
        </p:nvSpPr>
        <p:spPr>
          <a:xfrm>
            <a:off x="3328416" y="1691640"/>
            <a:ext cx="2697480" cy="265176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02736" y="1901952"/>
            <a:ext cx="2148840" cy="566928"/>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02736" y="2011680"/>
            <a:ext cx="2148840" cy="402336"/>
          </a:xfrm>
          <a:prstGeom prst="rect">
            <a:avLst/>
          </a:prstGeom>
          <a:noFill/>
        </p:spPr>
        <p:txBody>
          <a:bodyPr wrap="square">
            <a:spAutoFit/>
          </a:bodyPr>
          <a:lstStyle/>
          <a:p>
            <a:pPr algn="ctr"/>
            <a:r>
              <a:rPr sz="1500" b="1" i="0">
                <a:solidFill>
                  <a:srgbClr val="FFFFFF"/>
                </a:solidFill>
                <a:latin typeface="Calibri"/>
              </a:rPr>
              <a:t>VERB</a:t>
            </a:r>
          </a:p>
        </p:txBody>
      </p:sp>
      <p:sp>
        <p:nvSpPr>
          <p:cNvPr id="24" name="TextBox 23"/>
          <p:cNvSpPr txBox="1"/>
          <p:nvPr/>
        </p:nvSpPr>
        <p:spPr>
          <a:xfrm>
            <a:off x="3557016" y="2651760"/>
            <a:ext cx="2240280" cy="685800"/>
          </a:xfrm>
          <a:prstGeom prst="rect">
            <a:avLst/>
          </a:prstGeom>
          <a:noFill/>
        </p:spPr>
        <p:txBody>
          <a:bodyPr wrap="square">
            <a:spAutoFit/>
          </a:bodyPr>
          <a:lstStyle/>
          <a:p>
            <a:pPr algn="ctr"/>
            <a:r>
              <a:rPr sz="1200" b="0" i="0">
                <a:solidFill>
                  <a:srgbClr val="2A2F36"/>
                </a:solidFill>
                <a:latin typeface="Calibri"/>
              </a:rPr>
              <a:t>the action word</a:t>
            </a:r>
          </a:p>
        </p:txBody>
      </p:sp>
      <p:sp>
        <p:nvSpPr>
          <p:cNvPr id="25" name="Rounded Rectangle 24"/>
          <p:cNvSpPr/>
          <p:nvPr/>
        </p:nvSpPr>
        <p:spPr>
          <a:xfrm>
            <a:off x="3511296" y="3429000"/>
            <a:ext cx="233172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02736" y="3566160"/>
            <a:ext cx="2148840" cy="530352"/>
          </a:xfrm>
          <a:prstGeom prst="rect">
            <a:avLst/>
          </a:prstGeom>
          <a:noFill/>
        </p:spPr>
        <p:txBody>
          <a:bodyPr wrap="square">
            <a:spAutoFit/>
          </a:bodyPr>
          <a:lstStyle/>
          <a:p>
            <a:pPr algn="ctr"/>
            <a:r>
              <a:rPr sz="1100" b="1" i="0">
                <a:solidFill>
                  <a:srgbClr val="1E7A52"/>
                </a:solidFill>
                <a:latin typeface="Calibri"/>
              </a:rPr>
              <a:t>wrote, planted, celebrate</a:t>
            </a:r>
          </a:p>
        </p:txBody>
      </p:sp>
      <p:sp>
        <p:nvSpPr>
          <p:cNvPr id="27" name="Rounded Rectangle 26"/>
          <p:cNvSpPr/>
          <p:nvPr/>
        </p:nvSpPr>
        <p:spPr>
          <a:xfrm>
            <a:off x="6199632" y="1691640"/>
            <a:ext cx="2697480" cy="265176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73952" y="1901952"/>
            <a:ext cx="2148840" cy="56692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3952" y="2011680"/>
            <a:ext cx="2148840" cy="402336"/>
          </a:xfrm>
          <a:prstGeom prst="rect">
            <a:avLst/>
          </a:prstGeom>
          <a:noFill/>
        </p:spPr>
        <p:txBody>
          <a:bodyPr wrap="square">
            <a:spAutoFit/>
          </a:bodyPr>
          <a:lstStyle/>
          <a:p>
            <a:pPr algn="ctr"/>
            <a:r>
              <a:rPr sz="1500" b="1" i="0">
                <a:solidFill>
                  <a:srgbClr val="FFFFFF"/>
                </a:solidFill>
                <a:latin typeface="Calibri"/>
              </a:rPr>
              <a:t>ADJECTIVE</a:t>
            </a:r>
          </a:p>
        </p:txBody>
      </p:sp>
      <p:sp>
        <p:nvSpPr>
          <p:cNvPr id="30" name="TextBox 29"/>
          <p:cNvSpPr txBox="1"/>
          <p:nvPr/>
        </p:nvSpPr>
        <p:spPr>
          <a:xfrm>
            <a:off x="6428232" y="2651760"/>
            <a:ext cx="2240280" cy="685800"/>
          </a:xfrm>
          <a:prstGeom prst="rect">
            <a:avLst/>
          </a:prstGeom>
          <a:noFill/>
        </p:spPr>
        <p:txBody>
          <a:bodyPr wrap="square">
            <a:spAutoFit/>
          </a:bodyPr>
          <a:lstStyle/>
          <a:p>
            <a:pPr algn="ctr"/>
            <a:r>
              <a:rPr sz="1200" b="0" i="0">
                <a:solidFill>
                  <a:srgbClr val="2A2F36"/>
                </a:solidFill>
                <a:latin typeface="Calibri"/>
              </a:rPr>
              <a:t>describes a noun</a:t>
            </a:r>
          </a:p>
        </p:txBody>
      </p:sp>
      <p:sp>
        <p:nvSpPr>
          <p:cNvPr id="31" name="Rounded Rectangle 30"/>
          <p:cNvSpPr/>
          <p:nvPr/>
        </p:nvSpPr>
        <p:spPr>
          <a:xfrm>
            <a:off x="6382512" y="3429000"/>
            <a:ext cx="233172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3952" y="3566160"/>
            <a:ext cx="2148840" cy="530352"/>
          </a:xfrm>
          <a:prstGeom prst="rect">
            <a:avLst/>
          </a:prstGeom>
          <a:noFill/>
        </p:spPr>
        <p:txBody>
          <a:bodyPr wrap="square">
            <a:spAutoFit/>
          </a:bodyPr>
          <a:lstStyle/>
          <a:p>
            <a:pPr algn="ctr"/>
            <a:r>
              <a:rPr sz="1100" b="1" i="0">
                <a:solidFill>
                  <a:srgbClr val="6A4A9E"/>
                </a:solidFill>
                <a:latin typeface="Calibri"/>
              </a:rPr>
              <a:t>excited, small, busy</a:t>
            </a:r>
          </a:p>
        </p:txBody>
      </p:sp>
      <p:sp>
        <p:nvSpPr>
          <p:cNvPr id="33" name="Rounded Rectangle 32"/>
          <p:cNvSpPr/>
          <p:nvPr/>
        </p:nvSpPr>
        <p:spPr>
          <a:xfrm>
            <a:off x="9070848" y="1691640"/>
            <a:ext cx="2697480" cy="265176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345168" y="1901952"/>
            <a:ext cx="2148840" cy="566928"/>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45168" y="2011680"/>
            <a:ext cx="2148840" cy="402336"/>
          </a:xfrm>
          <a:prstGeom prst="rect">
            <a:avLst/>
          </a:prstGeom>
          <a:noFill/>
        </p:spPr>
        <p:txBody>
          <a:bodyPr wrap="square">
            <a:spAutoFit/>
          </a:bodyPr>
          <a:lstStyle/>
          <a:p>
            <a:pPr algn="ctr"/>
            <a:r>
              <a:rPr sz="1500" b="1" i="0">
                <a:solidFill>
                  <a:srgbClr val="FFFFFF"/>
                </a:solidFill>
                <a:latin typeface="Calibri"/>
              </a:rPr>
              <a:t>ADVERB</a:t>
            </a:r>
          </a:p>
        </p:txBody>
      </p:sp>
      <p:sp>
        <p:nvSpPr>
          <p:cNvPr id="36" name="TextBox 35"/>
          <p:cNvSpPr txBox="1"/>
          <p:nvPr/>
        </p:nvSpPr>
        <p:spPr>
          <a:xfrm>
            <a:off x="9299448" y="2651760"/>
            <a:ext cx="2240280" cy="685800"/>
          </a:xfrm>
          <a:prstGeom prst="rect">
            <a:avLst/>
          </a:prstGeom>
          <a:noFill/>
        </p:spPr>
        <p:txBody>
          <a:bodyPr wrap="square">
            <a:spAutoFit/>
          </a:bodyPr>
          <a:lstStyle/>
          <a:p>
            <a:pPr algn="ctr"/>
            <a:r>
              <a:rPr sz="1200" b="0" i="0">
                <a:solidFill>
                  <a:srgbClr val="2A2F36"/>
                </a:solidFill>
                <a:latin typeface="Calibri"/>
              </a:rPr>
              <a:t>describes a verb — often -ly</a:t>
            </a:r>
          </a:p>
        </p:txBody>
      </p:sp>
      <p:sp>
        <p:nvSpPr>
          <p:cNvPr id="37" name="Rounded Rectangle 36"/>
          <p:cNvSpPr/>
          <p:nvPr/>
        </p:nvSpPr>
        <p:spPr>
          <a:xfrm>
            <a:off x="9253728" y="3429000"/>
            <a:ext cx="233172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45168" y="3566160"/>
            <a:ext cx="2148840" cy="530352"/>
          </a:xfrm>
          <a:prstGeom prst="rect">
            <a:avLst/>
          </a:prstGeom>
          <a:noFill/>
        </p:spPr>
        <p:txBody>
          <a:bodyPr wrap="square">
            <a:spAutoFit/>
          </a:bodyPr>
          <a:lstStyle/>
          <a:p>
            <a:pPr algn="ctr"/>
            <a:r>
              <a:rPr sz="1100" b="1" i="0">
                <a:solidFill>
                  <a:srgbClr val="D08A0C"/>
                </a:solidFill>
                <a:latin typeface="Calibri"/>
              </a:rPr>
              <a:t>quickly, carefully</a:t>
            </a:r>
          </a:p>
        </p:txBody>
      </p:sp>
      <p:sp>
        <p:nvSpPr>
          <p:cNvPr id="39" name="Rounded Rectangle 38"/>
          <p:cNvSpPr/>
          <p:nvPr/>
        </p:nvSpPr>
        <p:spPr>
          <a:xfrm>
            <a:off x="457200" y="4572000"/>
            <a:ext cx="1129284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4846320"/>
            <a:ext cx="10515600" cy="640080"/>
          </a:xfrm>
          <a:prstGeom prst="rect">
            <a:avLst/>
          </a:prstGeom>
          <a:noFill/>
        </p:spPr>
        <p:txBody>
          <a:bodyPr wrap="square">
            <a:spAutoFit/>
          </a:bodyPr>
          <a:lstStyle/>
          <a:p>
            <a:pPr algn="ctr"/>
            <a:r>
              <a:rPr sz="2800" b="0">
                <a:solidFill>
                  <a:srgbClr val="111418"/>
                </a:solidFill>
                <a:latin typeface="Calibri"/>
              </a:rPr>
              <a:t>The </a:t>
            </a:r>
            <a:r>
              <a:rPr sz="2800" b="1">
                <a:solidFill>
                  <a:srgbClr val="6A4A9E"/>
                </a:solidFill>
                <a:latin typeface="Calibri"/>
              </a:rPr>
              <a:t>excited </a:t>
            </a:r>
            <a:r>
              <a:rPr sz="2800" b="1">
                <a:solidFill>
                  <a:srgbClr val="1B5E9E"/>
                </a:solidFill>
                <a:latin typeface="Calibri"/>
              </a:rPr>
              <a:t>reporter </a:t>
            </a:r>
            <a:r>
              <a:rPr sz="2800" b="1">
                <a:solidFill>
                  <a:srgbClr val="D08A0C"/>
                </a:solidFill>
                <a:latin typeface="Calibri"/>
              </a:rPr>
              <a:t>quickly </a:t>
            </a:r>
            <a:r>
              <a:rPr sz="2800" b="1">
                <a:solidFill>
                  <a:srgbClr val="1E7A52"/>
                </a:solidFill>
                <a:latin typeface="Calibri"/>
              </a:rPr>
              <a:t>wrote </a:t>
            </a:r>
            <a:r>
              <a:rPr sz="2800" b="0">
                <a:solidFill>
                  <a:srgbClr val="111418"/>
                </a:solidFill>
                <a:latin typeface="Calibri"/>
              </a:rPr>
              <a:t>the </a:t>
            </a:r>
            <a:r>
              <a:rPr sz="2800" b="1">
                <a:solidFill>
                  <a:srgbClr val="1B5E9E"/>
                </a:solidFill>
                <a:latin typeface="Calibri"/>
              </a:rPr>
              <a:t>story.</a:t>
            </a:r>
          </a:p>
        </p:txBody>
      </p:sp>
      <p:sp>
        <p:nvSpPr>
          <p:cNvPr id="41" name="Rounded Rectangle 40"/>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3" name="TextBox 42"/>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Adverbs usually end in -ly. That one rule solves most of them.</a:t>
            </a:r>
          </a:p>
        </p:txBody>
      </p:sp>
    </p:spTree>
  </p:cSld>
  <p:clrMapOvr>
    <a:masterClrMapping/>
  </p:clrMapOvr>
  <p:transition spd="med"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37–44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Game: Grammar Spin</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4796732"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37–44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24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D08A0C"/>
                </a:solidFill>
                <a:latin typeface="Calibri"/>
              </a:rPr>
              <a:t>Pick a category with your eyes closed. Then answer fast.</a:t>
            </a:r>
          </a:p>
        </p:txBody>
      </p:sp>
      <p:sp>
        <p:nvSpPr>
          <p:cNvPr id="15" name="Rounded Rectangle 14"/>
          <p:cNvSpPr/>
          <p:nvPr/>
        </p:nvSpPr>
        <p:spPr>
          <a:xfrm>
            <a:off x="457200" y="1691640"/>
            <a:ext cx="2103120" cy="2743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874519"/>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17" name="Rounded Rectangle 16"/>
          <p:cNvSpPr/>
          <p:nvPr/>
        </p:nvSpPr>
        <p:spPr>
          <a:xfrm>
            <a:off x="594360" y="2578608"/>
            <a:ext cx="1828800" cy="502920"/>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670048"/>
            <a:ext cx="1828800" cy="365760"/>
          </a:xfrm>
          <a:prstGeom prst="rect">
            <a:avLst/>
          </a:prstGeom>
          <a:noFill/>
        </p:spPr>
        <p:txBody>
          <a:bodyPr wrap="square">
            <a:spAutoFit/>
          </a:bodyPr>
          <a:lstStyle/>
          <a:p>
            <a:pPr algn="ctr"/>
            <a:r>
              <a:rPr sz="1300" b="1" i="0">
                <a:solidFill>
                  <a:srgbClr val="FFFFFF"/>
                </a:solidFill>
                <a:latin typeface="Calibri"/>
              </a:rPr>
              <a:t>NOUN</a:t>
            </a:r>
          </a:p>
        </p:txBody>
      </p:sp>
      <p:sp>
        <p:nvSpPr>
          <p:cNvPr id="19" name="TextBox 18"/>
          <p:cNvSpPr txBox="1"/>
          <p:nvPr/>
        </p:nvSpPr>
        <p:spPr>
          <a:xfrm>
            <a:off x="621792" y="3246120"/>
            <a:ext cx="1783080" cy="822960"/>
          </a:xfrm>
          <a:prstGeom prst="rect">
            <a:avLst/>
          </a:prstGeom>
          <a:noFill/>
        </p:spPr>
        <p:txBody>
          <a:bodyPr wrap="square">
            <a:spAutoFit/>
          </a:bodyPr>
          <a:lstStyle/>
          <a:p>
            <a:pPr algn="ctr"/>
            <a:r>
              <a:rPr sz="1200" b="0" i="0">
                <a:solidFill>
                  <a:srgbClr val="2A2F36"/>
                </a:solidFill>
                <a:latin typeface="Calibri"/>
              </a:rPr>
              <a:t>Find the noun.</a:t>
            </a:r>
          </a:p>
        </p:txBody>
      </p:sp>
      <p:sp>
        <p:nvSpPr>
          <p:cNvPr id="20" name="Rounded Rectangle 19"/>
          <p:cNvSpPr/>
          <p:nvPr/>
        </p:nvSpPr>
        <p:spPr>
          <a:xfrm>
            <a:off x="2734056" y="1691640"/>
            <a:ext cx="2103120" cy="2743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34056" y="1874519"/>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22" name="Rounded Rectangle 21"/>
          <p:cNvSpPr/>
          <p:nvPr/>
        </p:nvSpPr>
        <p:spPr>
          <a:xfrm>
            <a:off x="2871216" y="2578608"/>
            <a:ext cx="1828800" cy="502920"/>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71216" y="2670048"/>
            <a:ext cx="1828800" cy="365760"/>
          </a:xfrm>
          <a:prstGeom prst="rect">
            <a:avLst/>
          </a:prstGeom>
          <a:noFill/>
        </p:spPr>
        <p:txBody>
          <a:bodyPr wrap="square">
            <a:spAutoFit/>
          </a:bodyPr>
          <a:lstStyle/>
          <a:p>
            <a:pPr algn="ctr"/>
            <a:r>
              <a:rPr sz="1300" b="1" i="0">
                <a:solidFill>
                  <a:srgbClr val="FFFFFF"/>
                </a:solidFill>
                <a:latin typeface="Calibri"/>
              </a:rPr>
              <a:t>VERB</a:t>
            </a:r>
          </a:p>
        </p:txBody>
      </p:sp>
      <p:sp>
        <p:nvSpPr>
          <p:cNvPr id="24" name="TextBox 23"/>
          <p:cNvSpPr txBox="1"/>
          <p:nvPr/>
        </p:nvSpPr>
        <p:spPr>
          <a:xfrm>
            <a:off x="2898648" y="3246120"/>
            <a:ext cx="1783080" cy="822960"/>
          </a:xfrm>
          <a:prstGeom prst="rect">
            <a:avLst/>
          </a:prstGeom>
          <a:noFill/>
        </p:spPr>
        <p:txBody>
          <a:bodyPr wrap="square">
            <a:spAutoFit/>
          </a:bodyPr>
          <a:lstStyle/>
          <a:p>
            <a:pPr algn="ctr"/>
            <a:r>
              <a:rPr sz="1200" b="0" i="0">
                <a:solidFill>
                  <a:srgbClr val="2A2F36"/>
                </a:solidFill>
                <a:latin typeface="Calibri"/>
              </a:rPr>
              <a:t>Find the verb.</a:t>
            </a:r>
          </a:p>
        </p:txBody>
      </p:sp>
      <p:sp>
        <p:nvSpPr>
          <p:cNvPr id="25" name="Rounded Rectangle 24"/>
          <p:cNvSpPr/>
          <p:nvPr/>
        </p:nvSpPr>
        <p:spPr>
          <a:xfrm>
            <a:off x="5010912" y="1691640"/>
            <a:ext cx="2103120" cy="274320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1874519"/>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27" name="Rounded Rectangle 26"/>
          <p:cNvSpPr/>
          <p:nvPr/>
        </p:nvSpPr>
        <p:spPr>
          <a:xfrm>
            <a:off x="5148072" y="2578608"/>
            <a:ext cx="1828800" cy="502920"/>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48072" y="2670048"/>
            <a:ext cx="1828800" cy="365760"/>
          </a:xfrm>
          <a:prstGeom prst="rect">
            <a:avLst/>
          </a:prstGeom>
          <a:noFill/>
        </p:spPr>
        <p:txBody>
          <a:bodyPr wrap="square">
            <a:spAutoFit/>
          </a:bodyPr>
          <a:lstStyle/>
          <a:p>
            <a:pPr algn="ctr"/>
            <a:r>
              <a:rPr sz="1300" b="1" i="0">
                <a:solidFill>
                  <a:srgbClr val="FFFFFF"/>
                </a:solidFill>
                <a:latin typeface="Calibri"/>
              </a:rPr>
              <a:t>ADJECTIVE</a:t>
            </a:r>
          </a:p>
        </p:txBody>
      </p:sp>
      <p:sp>
        <p:nvSpPr>
          <p:cNvPr id="29" name="TextBox 28"/>
          <p:cNvSpPr txBox="1"/>
          <p:nvPr/>
        </p:nvSpPr>
        <p:spPr>
          <a:xfrm>
            <a:off x="5175504" y="3246120"/>
            <a:ext cx="1783080" cy="822960"/>
          </a:xfrm>
          <a:prstGeom prst="rect">
            <a:avLst/>
          </a:prstGeom>
          <a:noFill/>
        </p:spPr>
        <p:txBody>
          <a:bodyPr wrap="square">
            <a:spAutoFit/>
          </a:bodyPr>
          <a:lstStyle/>
          <a:p>
            <a:pPr algn="ctr"/>
            <a:r>
              <a:rPr sz="1200" b="0" i="0">
                <a:solidFill>
                  <a:srgbClr val="2A2F36"/>
                </a:solidFill>
                <a:latin typeface="Calibri"/>
              </a:rPr>
              <a:t>Find the adjective.</a:t>
            </a:r>
          </a:p>
        </p:txBody>
      </p:sp>
      <p:sp>
        <p:nvSpPr>
          <p:cNvPr id="30" name="Rounded Rectangle 29"/>
          <p:cNvSpPr/>
          <p:nvPr/>
        </p:nvSpPr>
        <p:spPr>
          <a:xfrm>
            <a:off x="7287768" y="1691640"/>
            <a:ext cx="2103120" cy="274320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87768" y="1874519"/>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32" name="Rounded Rectangle 31"/>
          <p:cNvSpPr/>
          <p:nvPr/>
        </p:nvSpPr>
        <p:spPr>
          <a:xfrm>
            <a:off x="7424928" y="2578608"/>
            <a:ext cx="1828800" cy="502920"/>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24928" y="2670048"/>
            <a:ext cx="1828800" cy="365760"/>
          </a:xfrm>
          <a:prstGeom prst="rect">
            <a:avLst/>
          </a:prstGeom>
          <a:noFill/>
        </p:spPr>
        <p:txBody>
          <a:bodyPr wrap="square">
            <a:spAutoFit/>
          </a:bodyPr>
          <a:lstStyle/>
          <a:p>
            <a:pPr algn="ctr"/>
            <a:r>
              <a:rPr sz="1300" b="1" i="0">
                <a:solidFill>
                  <a:srgbClr val="FFFFFF"/>
                </a:solidFill>
                <a:latin typeface="Calibri"/>
              </a:rPr>
              <a:t>ADVERB</a:t>
            </a:r>
          </a:p>
        </p:txBody>
      </p:sp>
      <p:sp>
        <p:nvSpPr>
          <p:cNvPr id="34" name="TextBox 33"/>
          <p:cNvSpPr txBox="1"/>
          <p:nvPr/>
        </p:nvSpPr>
        <p:spPr>
          <a:xfrm>
            <a:off x="7452360" y="3246120"/>
            <a:ext cx="1783080" cy="822960"/>
          </a:xfrm>
          <a:prstGeom prst="rect">
            <a:avLst/>
          </a:prstGeom>
          <a:noFill/>
        </p:spPr>
        <p:txBody>
          <a:bodyPr wrap="square">
            <a:spAutoFit/>
          </a:bodyPr>
          <a:lstStyle/>
          <a:p>
            <a:pPr algn="ctr"/>
            <a:r>
              <a:rPr sz="1200" b="0" i="0">
                <a:solidFill>
                  <a:srgbClr val="2A2F36"/>
                </a:solidFill>
                <a:latin typeface="Calibri"/>
              </a:rPr>
              <a:t>Find the adverb.</a:t>
            </a:r>
          </a:p>
        </p:txBody>
      </p:sp>
      <p:sp>
        <p:nvSpPr>
          <p:cNvPr id="35" name="Rounded Rectangle 34"/>
          <p:cNvSpPr/>
          <p:nvPr/>
        </p:nvSpPr>
        <p:spPr>
          <a:xfrm>
            <a:off x="9564624" y="1691640"/>
            <a:ext cx="2103120" cy="27432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64624" y="1874519"/>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37" name="Rounded Rectangle 36"/>
          <p:cNvSpPr/>
          <p:nvPr/>
        </p:nvSpPr>
        <p:spPr>
          <a:xfrm>
            <a:off x="9701784" y="2578608"/>
            <a:ext cx="1828800" cy="502920"/>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01784" y="2670048"/>
            <a:ext cx="1828800" cy="365760"/>
          </a:xfrm>
          <a:prstGeom prst="rect">
            <a:avLst/>
          </a:prstGeom>
          <a:noFill/>
        </p:spPr>
        <p:txBody>
          <a:bodyPr wrap="square">
            <a:spAutoFit/>
          </a:bodyPr>
          <a:lstStyle/>
          <a:p>
            <a:pPr algn="ctr"/>
            <a:r>
              <a:rPr sz="1300" b="1" i="0">
                <a:solidFill>
                  <a:srgbClr val="FFFFFF"/>
                </a:solidFill>
                <a:latin typeface="Calibri"/>
              </a:rPr>
              <a:t>FIX IT</a:t>
            </a:r>
          </a:p>
        </p:txBody>
      </p:sp>
      <p:sp>
        <p:nvSpPr>
          <p:cNvPr id="39" name="TextBox 38"/>
          <p:cNvSpPr txBox="1"/>
          <p:nvPr/>
        </p:nvSpPr>
        <p:spPr>
          <a:xfrm>
            <a:off x="9729216" y="3246120"/>
            <a:ext cx="1783080" cy="822960"/>
          </a:xfrm>
          <a:prstGeom prst="rect">
            <a:avLst/>
          </a:prstGeom>
          <a:noFill/>
        </p:spPr>
        <p:txBody>
          <a:bodyPr wrap="square">
            <a:spAutoFit/>
          </a:bodyPr>
          <a:lstStyle/>
          <a:p>
            <a:pPr algn="ctr"/>
            <a:r>
              <a:rPr sz="1200" b="0" i="0">
                <a:solidFill>
                  <a:srgbClr val="2A2F36"/>
                </a:solidFill>
                <a:latin typeface="Calibri"/>
              </a:rPr>
              <a:t>Fix the sentence.</a:t>
            </a:r>
          </a:p>
        </p:txBody>
      </p:sp>
      <p:sp>
        <p:nvSpPr>
          <p:cNvPr id="40" name="Rounded Rectangle 39"/>
          <p:cNvSpPr/>
          <p:nvPr/>
        </p:nvSpPr>
        <p:spPr>
          <a:xfrm>
            <a:off x="457200" y="4617720"/>
            <a:ext cx="11292840" cy="109728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4754880"/>
            <a:ext cx="10698480" cy="329184"/>
          </a:xfrm>
          <a:prstGeom prst="rect">
            <a:avLst/>
          </a:prstGeom>
          <a:noFill/>
        </p:spPr>
        <p:txBody>
          <a:bodyPr wrap="square">
            <a:spAutoFit/>
          </a:bodyPr>
          <a:lstStyle/>
          <a:p>
            <a:pPr algn="l"/>
            <a:r>
              <a:rPr sz="1300" b="1" i="0">
                <a:solidFill>
                  <a:srgbClr val="D08A0C"/>
                </a:solidFill>
                <a:latin typeface="Calibri"/>
              </a:rPr>
              <a:t>HOW TO SPIN</a:t>
            </a:r>
          </a:p>
        </p:txBody>
      </p:sp>
      <p:sp>
        <p:nvSpPr>
          <p:cNvPr id="42" name="TextBox 41"/>
          <p:cNvSpPr txBox="1"/>
          <p:nvPr/>
        </p:nvSpPr>
        <p:spPr>
          <a:xfrm>
            <a:off x="731520" y="5138928"/>
            <a:ext cx="10698480" cy="457200"/>
          </a:xfrm>
          <a:prstGeom prst="rect">
            <a:avLst/>
          </a:prstGeom>
          <a:noFill/>
        </p:spPr>
        <p:txBody>
          <a:bodyPr wrap="square">
            <a:spAutoFit/>
          </a:bodyPr>
          <a:lstStyle/>
          <a:p>
            <a:pPr algn="l"/>
            <a:r>
              <a:rPr sz="1500" b="0" i="0">
                <a:solidFill>
                  <a:srgbClr val="111418"/>
                </a:solidFill>
                <a:latin typeface="Calibri"/>
              </a:rPr>
              <a:t>Close your eyes, point at the screen, open them. Whatever you landed on is your challenge. Keep each turn under twenty seconds.</a:t>
            </a:r>
          </a:p>
        </p:txBody>
      </p:sp>
      <p:sp>
        <p:nvSpPr>
          <p:cNvPr id="43" name="Rounded Rectangle 42"/>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5" name="TextBox 44"/>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Speed matters more than perfection here. Keep the pace up.</a:t>
            </a:r>
          </a:p>
        </p:txBody>
      </p:sp>
    </p:spTree>
  </p:cSld>
  <p:clrMapOvr>
    <a:masterClrMapping/>
  </p:clrMapOvr>
  <p:transition spd="med"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37–44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Grammar Spin — Sentence 1</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4996596"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37–44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25 / 61</a:t>
            </a:r>
          </a:p>
        </p:txBody>
      </p:sp>
      <p:sp>
        <p:nvSpPr>
          <p:cNvPr id="14" name="Rounded Rectangle 13"/>
          <p:cNvSpPr/>
          <p:nvPr/>
        </p:nvSpPr>
        <p:spPr>
          <a:xfrm>
            <a:off x="457200" y="1216152"/>
            <a:ext cx="1463040" cy="310896"/>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243584"/>
            <a:ext cx="1463040" cy="256032"/>
          </a:xfrm>
          <a:prstGeom prst="rect">
            <a:avLst/>
          </a:prstGeom>
          <a:noFill/>
        </p:spPr>
        <p:txBody>
          <a:bodyPr wrap="square">
            <a:spAutoFit/>
          </a:bodyPr>
          <a:lstStyle/>
          <a:p>
            <a:pPr algn="ctr"/>
            <a:r>
              <a:rPr sz="1000" b="1" i="0">
                <a:solidFill>
                  <a:srgbClr val="FFFFFF"/>
                </a:solidFill>
                <a:latin typeface="Calibri"/>
              </a:rPr>
              <a:t>NOUN</a:t>
            </a:r>
          </a:p>
        </p:txBody>
      </p:sp>
      <p:sp>
        <p:nvSpPr>
          <p:cNvPr id="16" name="Rounded Rectangle 15"/>
          <p:cNvSpPr/>
          <p:nvPr/>
        </p:nvSpPr>
        <p:spPr>
          <a:xfrm>
            <a:off x="2029967" y="1216152"/>
            <a:ext cx="1463040" cy="310896"/>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29967" y="1243584"/>
            <a:ext cx="1463040" cy="256032"/>
          </a:xfrm>
          <a:prstGeom prst="rect">
            <a:avLst/>
          </a:prstGeom>
          <a:noFill/>
        </p:spPr>
        <p:txBody>
          <a:bodyPr wrap="square">
            <a:spAutoFit/>
          </a:bodyPr>
          <a:lstStyle/>
          <a:p>
            <a:pPr algn="ctr"/>
            <a:r>
              <a:rPr sz="1000" b="1" i="0">
                <a:solidFill>
                  <a:srgbClr val="FFFFFF"/>
                </a:solidFill>
                <a:latin typeface="Calibri"/>
              </a:rPr>
              <a:t>VERB</a:t>
            </a:r>
          </a:p>
        </p:txBody>
      </p:sp>
      <p:sp>
        <p:nvSpPr>
          <p:cNvPr id="18" name="Rounded Rectangle 17"/>
          <p:cNvSpPr/>
          <p:nvPr/>
        </p:nvSpPr>
        <p:spPr>
          <a:xfrm>
            <a:off x="3602736" y="1216152"/>
            <a:ext cx="1463040" cy="310896"/>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2736" y="1243584"/>
            <a:ext cx="1463040" cy="256032"/>
          </a:xfrm>
          <a:prstGeom prst="rect">
            <a:avLst/>
          </a:prstGeom>
          <a:noFill/>
        </p:spPr>
        <p:txBody>
          <a:bodyPr wrap="square">
            <a:spAutoFit/>
          </a:bodyPr>
          <a:lstStyle/>
          <a:p>
            <a:pPr algn="ctr"/>
            <a:r>
              <a:rPr sz="1000" b="1" i="0">
                <a:solidFill>
                  <a:srgbClr val="FFFFFF"/>
                </a:solidFill>
                <a:latin typeface="Calibri"/>
              </a:rPr>
              <a:t>ADJECTIVE</a:t>
            </a:r>
          </a:p>
        </p:txBody>
      </p:sp>
      <p:sp>
        <p:nvSpPr>
          <p:cNvPr id="20" name="Rounded Rectangle 19"/>
          <p:cNvSpPr/>
          <p:nvPr/>
        </p:nvSpPr>
        <p:spPr>
          <a:xfrm>
            <a:off x="5175504" y="1216152"/>
            <a:ext cx="1463040" cy="310896"/>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75504" y="1243584"/>
            <a:ext cx="1463040" cy="256032"/>
          </a:xfrm>
          <a:prstGeom prst="rect">
            <a:avLst/>
          </a:prstGeom>
          <a:noFill/>
        </p:spPr>
        <p:txBody>
          <a:bodyPr wrap="square">
            <a:spAutoFit/>
          </a:bodyPr>
          <a:lstStyle/>
          <a:p>
            <a:pPr algn="ctr"/>
            <a:r>
              <a:rPr sz="1000" b="1" i="0">
                <a:solidFill>
                  <a:srgbClr val="FFFFFF"/>
                </a:solidFill>
                <a:latin typeface="Calibri"/>
              </a:rPr>
              <a:t>ADVERB</a:t>
            </a:r>
          </a:p>
        </p:txBody>
      </p:sp>
      <p:sp>
        <p:nvSpPr>
          <p:cNvPr id="22" name="Rounded Rectangle 21"/>
          <p:cNvSpPr/>
          <p:nvPr/>
        </p:nvSpPr>
        <p:spPr>
          <a:xfrm>
            <a:off x="457200" y="1691640"/>
            <a:ext cx="112928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1965960"/>
            <a:ext cx="10515600" cy="640080"/>
          </a:xfrm>
          <a:prstGeom prst="rect">
            <a:avLst/>
          </a:prstGeom>
          <a:noFill/>
        </p:spPr>
        <p:txBody>
          <a:bodyPr wrap="square">
            <a:spAutoFit/>
          </a:bodyPr>
          <a:lstStyle/>
          <a:p>
            <a:pPr algn="ctr"/>
            <a:r>
              <a:rPr sz="3200" b="0">
                <a:solidFill>
                  <a:srgbClr val="111418"/>
                </a:solidFill>
                <a:latin typeface="Calibri"/>
              </a:rPr>
              <a:t>The </a:t>
            </a:r>
            <a:r>
              <a:rPr sz="3200" b="1">
                <a:solidFill>
                  <a:srgbClr val="6A4A9E"/>
                </a:solidFill>
                <a:latin typeface="Calibri"/>
              </a:rPr>
              <a:t>excited </a:t>
            </a:r>
            <a:r>
              <a:rPr sz="3200" b="1">
                <a:solidFill>
                  <a:srgbClr val="1B5E9E"/>
                </a:solidFill>
                <a:latin typeface="Calibri"/>
              </a:rPr>
              <a:t>reporter </a:t>
            </a:r>
            <a:r>
              <a:rPr sz="3200" b="1">
                <a:solidFill>
                  <a:srgbClr val="D08A0C"/>
                </a:solidFill>
                <a:latin typeface="Calibri"/>
              </a:rPr>
              <a:t>quickly </a:t>
            </a:r>
            <a:r>
              <a:rPr sz="3200" b="1">
                <a:solidFill>
                  <a:srgbClr val="1E7A52"/>
                </a:solidFill>
                <a:latin typeface="Calibri"/>
              </a:rPr>
              <a:t>wrote </a:t>
            </a:r>
            <a:r>
              <a:rPr sz="3200" b="0">
                <a:solidFill>
                  <a:srgbClr val="111418"/>
                </a:solidFill>
                <a:latin typeface="Calibri"/>
              </a:rPr>
              <a:t>the </a:t>
            </a:r>
            <a:r>
              <a:rPr sz="3200" b="1">
                <a:solidFill>
                  <a:srgbClr val="1B5E9E"/>
                </a:solidFill>
                <a:latin typeface="Calibri"/>
              </a:rPr>
              <a:t>story.</a:t>
            </a:r>
          </a:p>
        </p:txBody>
      </p:sp>
      <p:sp>
        <p:nvSpPr>
          <p:cNvPr id="24" name="Rounded Rectangle 23"/>
          <p:cNvSpPr/>
          <p:nvPr/>
        </p:nvSpPr>
        <p:spPr>
          <a:xfrm>
            <a:off x="457200" y="3063240"/>
            <a:ext cx="5440680" cy="105156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319272"/>
            <a:ext cx="548640" cy="512064"/>
          </a:xfrm>
          <a:prstGeom prst="rect">
            <a:avLst/>
          </a:prstGeom>
          <a:noFill/>
        </p:spPr>
        <p:txBody>
          <a:bodyPr wrap="square">
            <a:spAutoFit/>
          </a:bodyPr>
          <a:lstStyle/>
          <a:p>
            <a:pPr algn="ctr"/>
            <a:r>
              <a:rPr sz="1700" b="0" i="0">
                <a:solidFill>
                  <a:srgbClr val="2A2F36"/>
                </a:solidFill>
                <a:latin typeface="Calibri"/>
              </a:rPr>
              <a:t>🔵</a:t>
            </a:r>
          </a:p>
        </p:txBody>
      </p:sp>
      <p:sp>
        <p:nvSpPr>
          <p:cNvPr id="26" name="TextBox 25"/>
          <p:cNvSpPr txBox="1"/>
          <p:nvPr/>
        </p:nvSpPr>
        <p:spPr>
          <a:xfrm>
            <a:off x="1463040" y="3246120"/>
            <a:ext cx="4206240" cy="402336"/>
          </a:xfrm>
          <a:prstGeom prst="rect">
            <a:avLst/>
          </a:prstGeom>
          <a:noFill/>
        </p:spPr>
        <p:txBody>
          <a:bodyPr wrap="square">
            <a:spAutoFit/>
          </a:bodyPr>
          <a:lstStyle/>
          <a:p>
            <a:pPr algn="l"/>
            <a:r>
              <a:rPr sz="1800" b="1" i="0">
                <a:solidFill>
                  <a:srgbClr val="111418"/>
                </a:solidFill>
                <a:latin typeface="Calibri"/>
              </a:rPr>
              <a:t>Find the noun</a:t>
            </a:r>
          </a:p>
        </p:txBody>
      </p:sp>
      <p:sp>
        <p:nvSpPr>
          <p:cNvPr id="27" name="TextBox 26"/>
          <p:cNvSpPr txBox="1"/>
          <p:nvPr/>
        </p:nvSpPr>
        <p:spPr>
          <a:xfrm>
            <a:off x="1463040" y="3685032"/>
            <a:ext cx="4206240" cy="329184"/>
          </a:xfrm>
          <a:prstGeom prst="rect">
            <a:avLst/>
          </a:prstGeom>
          <a:noFill/>
        </p:spPr>
        <p:txBody>
          <a:bodyPr wrap="square">
            <a:spAutoFit/>
          </a:bodyPr>
          <a:lstStyle/>
          <a:p>
            <a:pPr algn="l"/>
            <a:r>
              <a:rPr sz="1200" b="0" i="0">
                <a:solidFill>
                  <a:srgbClr val="78828E"/>
                </a:solidFill>
                <a:latin typeface="Calibri"/>
              </a:rPr>
              <a:t>2 of them hiding</a:t>
            </a:r>
          </a:p>
        </p:txBody>
      </p:sp>
      <p:sp>
        <p:nvSpPr>
          <p:cNvPr id="28" name="Rounded Rectangle 27"/>
          <p:cNvSpPr/>
          <p:nvPr/>
        </p:nvSpPr>
        <p:spPr>
          <a:xfrm>
            <a:off x="6172200" y="3063240"/>
            <a:ext cx="5440680" cy="105156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3319272"/>
            <a:ext cx="548640" cy="512064"/>
          </a:xfrm>
          <a:prstGeom prst="rect">
            <a:avLst/>
          </a:prstGeom>
          <a:noFill/>
        </p:spPr>
        <p:txBody>
          <a:bodyPr wrap="square">
            <a:spAutoFit/>
          </a:bodyPr>
          <a:lstStyle/>
          <a:p>
            <a:pPr algn="ctr"/>
            <a:r>
              <a:rPr sz="1700" b="0" i="0">
                <a:solidFill>
                  <a:srgbClr val="2A2F36"/>
                </a:solidFill>
                <a:latin typeface="Calibri"/>
              </a:rPr>
              <a:t>🟢</a:t>
            </a:r>
          </a:p>
        </p:txBody>
      </p:sp>
      <p:sp>
        <p:nvSpPr>
          <p:cNvPr id="30" name="TextBox 29"/>
          <p:cNvSpPr txBox="1"/>
          <p:nvPr/>
        </p:nvSpPr>
        <p:spPr>
          <a:xfrm>
            <a:off x="7178040" y="3246120"/>
            <a:ext cx="4206240" cy="402336"/>
          </a:xfrm>
          <a:prstGeom prst="rect">
            <a:avLst/>
          </a:prstGeom>
          <a:noFill/>
        </p:spPr>
        <p:txBody>
          <a:bodyPr wrap="square">
            <a:spAutoFit/>
          </a:bodyPr>
          <a:lstStyle/>
          <a:p>
            <a:pPr algn="l"/>
            <a:r>
              <a:rPr sz="1800" b="1" i="0">
                <a:solidFill>
                  <a:srgbClr val="111418"/>
                </a:solidFill>
                <a:latin typeface="Calibri"/>
              </a:rPr>
              <a:t>Find the verb</a:t>
            </a:r>
          </a:p>
        </p:txBody>
      </p:sp>
      <p:sp>
        <p:nvSpPr>
          <p:cNvPr id="31" name="TextBox 30"/>
          <p:cNvSpPr txBox="1"/>
          <p:nvPr/>
        </p:nvSpPr>
        <p:spPr>
          <a:xfrm>
            <a:off x="7178040" y="3685032"/>
            <a:ext cx="4206240" cy="329184"/>
          </a:xfrm>
          <a:prstGeom prst="rect">
            <a:avLst/>
          </a:prstGeom>
          <a:noFill/>
        </p:spPr>
        <p:txBody>
          <a:bodyPr wrap="square">
            <a:spAutoFit/>
          </a:bodyPr>
          <a:lstStyle/>
          <a:p>
            <a:pPr algn="l"/>
            <a:r>
              <a:rPr sz="1200" b="0" i="0">
                <a:solidFill>
                  <a:srgbClr val="78828E"/>
                </a:solidFill>
                <a:latin typeface="Calibri"/>
              </a:rPr>
              <a:t>only 1</a:t>
            </a:r>
          </a:p>
        </p:txBody>
      </p:sp>
      <p:sp>
        <p:nvSpPr>
          <p:cNvPr id="32" name="Rounded Rectangle 31"/>
          <p:cNvSpPr/>
          <p:nvPr/>
        </p:nvSpPr>
        <p:spPr>
          <a:xfrm>
            <a:off x="457200" y="4297680"/>
            <a:ext cx="5440680" cy="105156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53712"/>
            <a:ext cx="548640" cy="512064"/>
          </a:xfrm>
          <a:prstGeom prst="rect">
            <a:avLst/>
          </a:prstGeom>
          <a:noFill/>
        </p:spPr>
        <p:txBody>
          <a:bodyPr wrap="square">
            <a:spAutoFit/>
          </a:bodyPr>
          <a:lstStyle/>
          <a:p>
            <a:pPr algn="ctr"/>
            <a:r>
              <a:rPr sz="1700" b="0" i="0">
                <a:solidFill>
                  <a:srgbClr val="2A2F36"/>
                </a:solidFill>
                <a:latin typeface="Calibri"/>
              </a:rPr>
              <a:t>🟣</a:t>
            </a:r>
          </a:p>
        </p:txBody>
      </p:sp>
      <p:sp>
        <p:nvSpPr>
          <p:cNvPr id="34" name="TextBox 33"/>
          <p:cNvSpPr txBox="1"/>
          <p:nvPr/>
        </p:nvSpPr>
        <p:spPr>
          <a:xfrm>
            <a:off x="1463040" y="4480560"/>
            <a:ext cx="4206240" cy="402336"/>
          </a:xfrm>
          <a:prstGeom prst="rect">
            <a:avLst/>
          </a:prstGeom>
          <a:noFill/>
        </p:spPr>
        <p:txBody>
          <a:bodyPr wrap="square">
            <a:spAutoFit/>
          </a:bodyPr>
          <a:lstStyle/>
          <a:p>
            <a:pPr algn="l"/>
            <a:r>
              <a:rPr sz="1800" b="1" i="0">
                <a:solidFill>
                  <a:srgbClr val="111418"/>
                </a:solidFill>
                <a:latin typeface="Calibri"/>
              </a:rPr>
              <a:t>Find the adjective</a:t>
            </a:r>
          </a:p>
        </p:txBody>
      </p:sp>
      <p:sp>
        <p:nvSpPr>
          <p:cNvPr id="35" name="TextBox 34"/>
          <p:cNvSpPr txBox="1"/>
          <p:nvPr/>
        </p:nvSpPr>
        <p:spPr>
          <a:xfrm>
            <a:off x="1463040" y="4919472"/>
            <a:ext cx="4206240" cy="329184"/>
          </a:xfrm>
          <a:prstGeom prst="rect">
            <a:avLst/>
          </a:prstGeom>
          <a:noFill/>
        </p:spPr>
        <p:txBody>
          <a:bodyPr wrap="square">
            <a:spAutoFit/>
          </a:bodyPr>
          <a:lstStyle/>
          <a:p>
            <a:pPr algn="l"/>
            <a:r>
              <a:rPr sz="1200" b="0" i="0">
                <a:solidFill>
                  <a:srgbClr val="78828E"/>
                </a:solidFill>
                <a:latin typeface="Calibri"/>
              </a:rPr>
              <a:t>it describes the reporter</a:t>
            </a:r>
          </a:p>
        </p:txBody>
      </p:sp>
      <p:sp>
        <p:nvSpPr>
          <p:cNvPr id="36" name="Rounded Rectangle 35"/>
          <p:cNvSpPr/>
          <p:nvPr/>
        </p:nvSpPr>
        <p:spPr>
          <a:xfrm>
            <a:off x="6172200" y="4297680"/>
            <a:ext cx="5440680" cy="105156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4553712"/>
            <a:ext cx="548640" cy="512064"/>
          </a:xfrm>
          <a:prstGeom prst="rect">
            <a:avLst/>
          </a:prstGeom>
          <a:noFill/>
        </p:spPr>
        <p:txBody>
          <a:bodyPr wrap="square">
            <a:spAutoFit/>
          </a:bodyPr>
          <a:lstStyle/>
          <a:p>
            <a:pPr algn="ctr"/>
            <a:r>
              <a:rPr sz="1700" b="0" i="0">
                <a:solidFill>
                  <a:srgbClr val="2A2F36"/>
                </a:solidFill>
                <a:latin typeface="Calibri"/>
              </a:rPr>
              <a:t>🟡</a:t>
            </a:r>
          </a:p>
        </p:txBody>
      </p:sp>
      <p:sp>
        <p:nvSpPr>
          <p:cNvPr id="38" name="TextBox 37"/>
          <p:cNvSpPr txBox="1"/>
          <p:nvPr/>
        </p:nvSpPr>
        <p:spPr>
          <a:xfrm>
            <a:off x="7178040" y="4480560"/>
            <a:ext cx="4206240" cy="402336"/>
          </a:xfrm>
          <a:prstGeom prst="rect">
            <a:avLst/>
          </a:prstGeom>
          <a:noFill/>
        </p:spPr>
        <p:txBody>
          <a:bodyPr wrap="square">
            <a:spAutoFit/>
          </a:bodyPr>
          <a:lstStyle/>
          <a:p>
            <a:pPr algn="l"/>
            <a:r>
              <a:rPr sz="1800" b="1" i="0">
                <a:solidFill>
                  <a:srgbClr val="111418"/>
                </a:solidFill>
                <a:latin typeface="Calibri"/>
              </a:rPr>
              <a:t>Find the adverb</a:t>
            </a:r>
          </a:p>
        </p:txBody>
      </p:sp>
      <p:sp>
        <p:nvSpPr>
          <p:cNvPr id="39" name="TextBox 38"/>
          <p:cNvSpPr txBox="1"/>
          <p:nvPr/>
        </p:nvSpPr>
        <p:spPr>
          <a:xfrm>
            <a:off x="7178040" y="4919472"/>
            <a:ext cx="4206240" cy="329184"/>
          </a:xfrm>
          <a:prstGeom prst="rect">
            <a:avLst/>
          </a:prstGeom>
          <a:noFill/>
        </p:spPr>
        <p:txBody>
          <a:bodyPr wrap="square">
            <a:spAutoFit/>
          </a:bodyPr>
          <a:lstStyle/>
          <a:p>
            <a:pPr algn="l"/>
            <a:r>
              <a:rPr sz="1200" b="0" i="0">
                <a:solidFill>
                  <a:srgbClr val="78828E"/>
                </a:solidFill>
                <a:latin typeface="Calibri"/>
              </a:rPr>
              <a:t>it ends in -ly</a:t>
            </a:r>
          </a:p>
        </p:txBody>
      </p:sp>
      <p:sp>
        <p:nvSpPr>
          <p:cNvPr id="40" name="Rounded Rectangle 39"/>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2" name="TextBox 41"/>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Colours are the answer key. Cover them with a sticky note first.</a:t>
            </a:r>
          </a:p>
        </p:txBody>
      </p:sp>
    </p:spTree>
  </p:cSld>
  <p:clrMapOvr>
    <a:masterClrMapping/>
  </p:clrMapOvr>
  <p:transition spd="med"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37–44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Grammar Spin — Sentences 2 and 3</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5196460"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37–44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26 / 61</a:t>
            </a:r>
          </a:p>
        </p:txBody>
      </p:sp>
      <p:sp>
        <p:nvSpPr>
          <p:cNvPr id="14" name="Rounded Rectangle 13"/>
          <p:cNvSpPr/>
          <p:nvPr/>
        </p:nvSpPr>
        <p:spPr>
          <a:xfrm>
            <a:off x="457200" y="1216152"/>
            <a:ext cx="1463040" cy="310896"/>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243584"/>
            <a:ext cx="1463040" cy="256032"/>
          </a:xfrm>
          <a:prstGeom prst="rect">
            <a:avLst/>
          </a:prstGeom>
          <a:noFill/>
        </p:spPr>
        <p:txBody>
          <a:bodyPr wrap="square">
            <a:spAutoFit/>
          </a:bodyPr>
          <a:lstStyle/>
          <a:p>
            <a:pPr algn="ctr"/>
            <a:r>
              <a:rPr sz="1000" b="1" i="0">
                <a:solidFill>
                  <a:srgbClr val="FFFFFF"/>
                </a:solidFill>
                <a:latin typeface="Calibri"/>
              </a:rPr>
              <a:t>NOUN</a:t>
            </a:r>
          </a:p>
        </p:txBody>
      </p:sp>
      <p:sp>
        <p:nvSpPr>
          <p:cNvPr id="16" name="Rounded Rectangle 15"/>
          <p:cNvSpPr/>
          <p:nvPr/>
        </p:nvSpPr>
        <p:spPr>
          <a:xfrm>
            <a:off x="2029967" y="1216152"/>
            <a:ext cx="1463040" cy="310896"/>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29967" y="1243584"/>
            <a:ext cx="1463040" cy="256032"/>
          </a:xfrm>
          <a:prstGeom prst="rect">
            <a:avLst/>
          </a:prstGeom>
          <a:noFill/>
        </p:spPr>
        <p:txBody>
          <a:bodyPr wrap="square">
            <a:spAutoFit/>
          </a:bodyPr>
          <a:lstStyle/>
          <a:p>
            <a:pPr algn="ctr"/>
            <a:r>
              <a:rPr sz="1000" b="1" i="0">
                <a:solidFill>
                  <a:srgbClr val="FFFFFF"/>
                </a:solidFill>
                <a:latin typeface="Calibri"/>
              </a:rPr>
              <a:t>VERB</a:t>
            </a:r>
          </a:p>
        </p:txBody>
      </p:sp>
      <p:sp>
        <p:nvSpPr>
          <p:cNvPr id="18" name="Rounded Rectangle 17"/>
          <p:cNvSpPr/>
          <p:nvPr/>
        </p:nvSpPr>
        <p:spPr>
          <a:xfrm>
            <a:off x="3602736" y="1216152"/>
            <a:ext cx="1463040" cy="310896"/>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2736" y="1243584"/>
            <a:ext cx="1463040" cy="256032"/>
          </a:xfrm>
          <a:prstGeom prst="rect">
            <a:avLst/>
          </a:prstGeom>
          <a:noFill/>
        </p:spPr>
        <p:txBody>
          <a:bodyPr wrap="square">
            <a:spAutoFit/>
          </a:bodyPr>
          <a:lstStyle/>
          <a:p>
            <a:pPr algn="ctr"/>
            <a:r>
              <a:rPr sz="1000" b="1" i="0">
                <a:solidFill>
                  <a:srgbClr val="FFFFFF"/>
                </a:solidFill>
                <a:latin typeface="Calibri"/>
              </a:rPr>
              <a:t>ADJECTIVE</a:t>
            </a:r>
          </a:p>
        </p:txBody>
      </p:sp>
      <p:sp>
        <p:nvSpPr>
          <p:cNvPr id="20" name="Rounded Rectangle 19"/>
          <p:cNvSpPr/>
          <p:nvPr/>
        </p:nvSpPr>
        <p:spPr>
          <a:xfrm>
            <a:off x="5175504" y="1216152"/>
            <a:ext cx="1463040" cy="310896"/>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75504" y="1243584"/>
            <a:ext cx="1463040" cy="256032"/>
          </a:xfrm>
          <a:prstGeom prst="rect">
            <a:avLst/>
          </a:prstGeom>
          <a:noFill/>
        </p:spPr>
        <p:txBody>
          <a:bodyPr wrap="square">
            <a:spAutoFit/>
          </a:bodyPr>
          <a:lstStyle/>
          <a:p>
            <a:pPr algn="ctr"/>
            <a:r>
              <a:rPr sz="1000" b="1" i="0">
                <a:solidFill>
                  <a:srgbClr val="FFFFFF"/>
                </a:solidFill>
                <a:latin typeface="Calibri"/>
              </a:rPr>
              <a:t>ADVERB</a:t>
            </a:r>
          </a:p>
        </p:txBody>
      </p:sp>
      <p:sp>
        <p:nvSpPr>
          <p:cNvPr id="22" name="Rounded Rectangle 21"/>
          <p:cNvSpPr/>
          <p:nvPr/>
        </p:nvSpPr>
        <p:spPr>
          <a:xfrm>
            <a:off x="457200" y="1737360"/>
            <a:ext cx="112928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2011680"/>
            <a:ext cx="10515600" cy="640080"/>
          </a:xfrm>
          <a:prstGeom prst="rect">
            <a:avLst/>
          </a:prstGeom>
          <a:noFill/>
        </p:spPr>
        <p:txBody>
          <a:bodyPr wrap="square">
            <a:spAutoFit/>
          </a:bodyPr>
          <a:lstStyle/>
          <a:p>
            <a:pPr algn="ctr"/>
            <a:r>
              <a:rPr sz="2800" b="0">
                <a:solidFill>
                  <a:srgbClr val="111418"/>
                </a:solidFill>
                <a:latin typeface="Calibri"/>
              </a:rPr>
              <a:t>The </a:t>
            </a:r>
            <a:r>
              <a:rPr sz="2800" b="1">
                <a:solidFill>
                  <a:srgbClr val="6A4A9E"/>
                </a:solidFill>
                <a:latin typeface="Calibri"/>
              </a:rPr>
              <a:t>busy </a:t>
            </a:r>
            <a:r>
              <a:rPr sz="2800" b="1">
                <a:solidFill>
                  <a:srgbClr val="1B5E9E"/>
                </a:solidFill>
                <a:latin typeface="Calibri"/>
              </a:rPr>
              <a:t>students </a:t>
            </a:r>
            <a:r>
              <a:rPr sz="2800" b="1">
                <a:solidFill>
                  <a:srgbClr val="D08A0C"/>
                </a:solidFill>
                <a:latin typeface="Calibri"/>
              </a:rPr>
              <a:t>carefully </a:t>
            </a:r>
            <a:r>
              <a:rPr sz="2800" b="1">
                <a:solidFill>
                  <a:srgbClr val="1E7A52"/>
                </a:solidFill>
                <a:latin typeface="Calibri"/>
              </a:rPr>
              <a:t>planted </a:t>
            </a:r>
            <a:r>
              <a:rPr sz="2800" b="0">
                <a:solidFill>
                  <a:srgbClr val="111418"/>
                </a:solidFill>
                <a:latin typeface="Calibri"/>
              </a:rPr>
              <a:t>the </a:t>
            </a:r>
            <a:r>
              <a:rPr sz="2800" b="1">
                <a:solidFill>
                  <a:srgbClr val="6A4A9E"/>
                </a:solidFill>
                <a:latin typeface="Calibri"/>
              </a:rPr>
              <a:t>small </a:t>
            </a:r>
            <a:r>
              <a:rPr sz="2800" b="1">
                <a:solidFill>
                  <a:srgbClr val="1B5E9E"/>
                </a:solidFill>
                <a:latin typeface="Calibri"/>
              </a:rPr>
              <a:t>seeds.</a:t>
            </a:r>
          </a:p>
        </p:txBody>
      </p:sp>
      <p:sp>
        <p:nvSpPr>
          <p:cNvPr id="24" name="Rounded Rectangle 23"/>
          <p:cNvSpPr/>
          <p:nvPr/>
        </p:nvSpPr>
        <p:spPr>
          <a:xfrm>
            <a:off x="457200" y="3063239"/>
            <a:ext cx="112928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337559"/>
            <a:ext cx="10515600" cy="640080"/>
          </a:xfrm>
          <a:prstGeom prst="rect">
            <a:avLst/>
          </a:prstGeom>
          <a:noFill/>
        </p:spPr>
        <p:txBody>
          <a:bodyPr wrap="square">
            <a:spAutoFit/>
          </a:bodyPr>
          <a:lstStyle/>
          <a:p>
            <a:pPr algn="ctr"/>
            <a:r>
              <a:rPr sz="2800" b="0">
                <a:solidFill>
                  <a:srgbClr val="111418"/>
                </a:solidFill>
                <a:latin typeface="Calibri"/>
              </a:rPr>
              <a:t>Our </a:t>
            </a:r>
            <a:r>
              <a:rPr sz="2800" b="1">
                <a:solidFill>
                  <a:srgbClr val="6A4A9E"/>
                </a:solidFill>
                <a:latin typeface="Calibri"/>
              </a:rPr>
              <a:t>young </a:t>
            </a:r>
            <a:r>
              <a:rPr sz="2800" b="1">
                <a:solidFill>
                  <a:srgbClr val="1B5E9E"/>
                </a:solidFill>
                <a:latin typeface="Calibri"/>
              </a:rPr>
              <a:t>editor </a:t>
            </a:r>
            <a:r>
              <a:rPr sz="2800" b="1">
                <a:solidFill>
                  <a:srgbClr val="D08A0C"/>
                </a:solidFill>
                <a:latin typeface="Calibri"/>
              </a:rPr>
              <a:t>proudly </a:t>
            </a:r>
            <a:r>
              <a:rPr sz="2800" b="1">
                <a:solidFill>
                  <a:srgbClr val="1E7A52"/>
                </a:solidFill>
                <a:latin typeface="Calibri"/>
              </a:rPr>
              <a:t>printed </a:t>
            </a:r>
            <a:r>
              <a:rPr sz="2800" b="0">
                <a:solidFill>
                  <a:srgbClr val="111418"/>
                </a:solidFill>
                <a:latin typeface="Calibri"/>
              </a:rPr>
              <a:t>the </a:t>
            </a:r>
            <a:r>
              <a:rPr sz="2800" b="1">
                <a:solidFill>
                  <a:srgbClr val="6A4A9E"/>
                </a:solidFill>
                <a:latin typeface="Calibri"/>
              </a:rPr>
              <a:t>first </a:t>
            </a:r>
            <a:r>
              <a:rPr sz="2800" b="1">
                <a:solidFill>
                  <a:srgbClr val="1B5E9E"/>
                </a:solidFill>
                <a:latin typeface="Calibri"/>
              </a:rPr>
              <a:t>page.</a:t>
            </a:r>
          </a:p>
        </p:txBody>
      </p:sp>
      <p:sp>
        <p:nvSpPr>
          <p:cNvPr id="26" name="Rounded Rectangle 25"/>
          <p:cNvSpPr/>
          <p:nvPr/>
        </p:nvSpPr>
        <p:spPr>
          <a:xfrm>
            <a:off x="457200" y="4434840"/>
            <a:ext cx="5440680" cy="60350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4562856"/>
            <a:ext cx="457200" cy="384048"/>
          </a:xfrm>
          <a:prstGeom prst="rect">
            <a:avLst/>
          </a:prstGeom>
          <a:noFill/>
        </p:spPr>
        <p:txBody>
          <a:bodyPr wrap="square">
            <a:spAutoFit/>
          </a:bodyPr>
          <a:lstStyle/>
          <a:p>
            <a:pPr algn="ctr"/>
            <a:r>
              <a:rPr sz="1400" b="0" i="0">
                <a:solidFill>
                  <a:srgbClr val="2A2F36"/>
                </a:solidFill>
                <a:latin typeface="Calibri"/>
              </a:rPr>
              <a:t>🔵</a:t>
            </a:r>
          </a:p>
        </p:txBody>
      </p:sp>
      <p:sp>
        <p:nvSpPr>
          <p:cNvPr id="28" name="TextBox 27"/>
          <p:cNvSpPr txBox="1"/>
          <p:nvPr/>
        </p:nvSpPr>
        <p:spPr>
          <a:xfrm>
            <a:off x="1325880" y="4553712"/>
            <a:ext cx="4434840" cy="384048"/>
          </a:xfrm>
          <a:prstGeom prst="rect">
            <a:avLst/>
          </a:prstGeom>
          <a:noFill/>
        </p:spPr>
        <p:txBody>
          <a:bodyPr wrap="square">
            <a:spAutoFit/>
          </a:bodyPr>
          <a:lstStyle/>
          <a:p>
            <a:pPr algn="l"/>
            <a:r>
              <a:rPr sz="1400" b="1" i="0">
                <a:solidFill>
                  <a:srgbClr val="111418"/>
                </a:solidFill>
                <a:latin typeface="Calibri"/>
              </a:rPr>
              <a:t>Two nouns in each sentence — name them both.</a:t>
            </a:r>
          </a:p>
        </p:txBody>
      </p:sp>
      <p:sp>
        <p:nvSpPr>
          <p:cNvPr id="29" name="Rounded Rectangle 28"/>
          <p:cNvSpPr/>
          <p:nvPr/>
        </p:nvSpPr>
        <p:spPr>
          <a:xfrm>
            <a:off x="6172200" y="4434840"/>
            <a:ext cx="5440680" cy="60350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8232" y="4562856"/>
            <a:ext cx="457200" cy="384048"/>
          </a:xfrm>
          <a:prstGeom prst="rect">
            <a:avLst/>
          </a:prstGeom>
          <a:noFill/>
        </p:spPr>
        <p:txBody>
          <a:bodyPr wrap="square">
            <a:spAutoFit/>
          </a:bodyPr>
          <a:lstStyle/>
          <a:p>
            <a:pPr algn="ctr"/>
            <a:r>
              <a:rPr sz="1400" b="0" i="0">
                <a:solidFill>
                  <a:srgbClr val="2A2F36"/>
                </a:solidFill>
                <a:latin typeface="Calibri"/>
              </a:rPr>
              <a:t>🟣</a:t>
            </a:r>
          </a:p>
        </p:txBody>
      </p:sp>
      <p:sp>
        <p:nvSpPr>
          <p:cNvPr id="31" name="TextBox 30"/>
          <p:cNvSpPr txBox="1"/>
          <p:nvPr/>
        </p:nvSpPr>
        <p:spPr>
          <a:xfrm>
            <a:off x="7040880" y="4553712"/>
            <a:ext cx="4434840" cy="384048"/>
          </a:xfrm>
          <a:prstGeom prst="rect">
            <a:avLst/>
          </a:prstGeom>
          <a:noFill/>
        </p:spPr>
        <p:txBody>
          <a:bodyPr wrap="square">
            <a:spAutoFit/>
          </a:bodyPr>
          <a:lstStyle/>
          <a:p>
            <a:pPr algn="l"/>
            <a:r>
              <a:rPr sz="1400" b="1" i="0">
                <a:solidFill>
                  <a:srgbClr val="111418"/>
                </a:solidFill>
                <a:latin typeface="Calibri"/>
              </a:rPr>
              <a:t>Sentence 3 has two adjectives. Find both.</a:t>
            </a:r>
          </a:p>
        </p:txBody>
      </p:sp>
      <p:sp>
        <p:nvSpPr>
          <p:cNvPr id="32" name="Rounded Rectangle 31"/>
          <p:cNvSpPr/>
          <p:nvPr/>
        </p:nvSpPr>
        <p:spPr>
          <a:xfrm>
            <a:off x="457200" y="5148072"/>
            <a:ext cx="5440680" cy="60350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5276088"/>
            <a:ext cx="457200" cy="384048"/>
          </a:xfrm>
          <a:prstGeom prst="rect">
            <a:avLst/>
          </a:prstGeom>
          <a:noFill/>
        </p:spPr>
        <p:txBody>
          <a:bodyPr wrap="square">
            <a:spAutoFit/>
          </a:bodyPr>
          <a:lstStyle/>
          <a:p>
            <a:pPr algn="ctr"/>
            <a:r>
              <a:rPr sz="1400" b="0" i="0">
                <a:solidFill>
                  <a:srgbClr val="2A2F36"/>
                </a:solidFill>
                <a:latin typeface="Calibri"/>
              </a:rPr>
              <a:t>🟡</a:t>
            </a:r>
          </a:p>
        </p:txBody>
      </p:sp>
      <p:sp>
        <p:nvSpPr>
          <p:cNvPr id="34" name="TextBox 33"/>
          <p:cNvSpPr txBox="1"/>
          <p:nvPr/>
        </p:nvSpPr>
        <p:spPr>
          <a:xfrm>
            <a:off x="1325880" y="5266944"/>
            <a:ext cx="4434840" cy="384048"/>
          </a:xfrm>
          <a:prstGeom prst="rect">
            <a:avLst/>
          </a:prstGeom>
          <a:noFill/>
        </p:spPr>
        <p:txBody>
          <a:bodyPr wrap="square">
            <a:spAutoFit/>
          </a:bodyPr>
          <a:lstStyle/>
          <a:p>
            <a:pPr algn="l"/>
            <a:r>
              <a:rPr sz="1400" b="1" i="0">
                <a:solidFill>
                  <a:srgbClr val="111418"/>
                </a:solidFill>
                <a:latin typeface="Calibri"/>
              </a:rPr>
              <a:t>Both adverbs end in -ly.</a:t>
            </a:r>
          </a:p>
        </p:txBody>
      </p:sp>
      <p:sp>
        <p:nvSpPr>
          <p:cNvPr id="35" name="Rounded Rectangle 34"/>
          <p:cNvSpPr/>
          <p:nvPr/>
        </p:nvSpPr>
        <p:spPr>
          <a:xfrm>
            <a:off x="6172200" y="5148072"/>
            <a:ext cx="5440680" cy="60350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8232" y="5276088"/>
            <a:ext cx="457200" cy="384048"/>
          </a:xfrm>
          <a:prstGeom prst="rect">
            <a:avLst/>
          </a:prstGeom>
          <a:noFill/>
        </p:spPr>
        <p:txBody>
          <a:bodyPr wrap="square">
            <a:spAutoFit/>
          </a:bodyPr>
          <a:lstStyle/>
          <a:p>
            <a:pPr algn="ctr"/>
            <a:r>
              <a:rPr sz="1400" b="0" i="0">
                <a:solidFill>
                  <a:srgbClr val="2A2F36"/>
                </a:solidFill>
                <a:latin typeface="Calibri"/>
              </a:rPr>
              <a:t>⭐</a:t>
            </a:r>
          </a:p>
        </p:txBody>
      </p:sp>
      <p:sp>
        <p:nvSpPr>
          <p:cNvPr id="37" name="TextBox 36"/>
          <p:cNvSpPr txBox="1"/>
          <p:nvPr/>
        </p:nvSpPr>
        <p:spPr>
          <a:xfrm>
            <a:off x="7040880" y="5266944"/>
            <a:ext cx="4434840" cy="384048"/>
          </a:xfrm>
          <a:prstGeom prst="rect">
            <a:avLst/>
          </a:prstGeom>
          <a:noFill/>
        </p:spPr>
        <p:txBody>
          <a:bodyPr wrap="square">
            <a:spAutoFit/>
          </a:bodyPr>
          <a:lstStyle/>
          <a:p>
            <a:pPr algn="l"/>
            <a:r>
              <a:rPr sz="1400" b="1" i="0">
                <a:solidFill>
                  <a:srgbClr val="111418"/>
                </a:solidFill>
                <a:latin typeface="Calibri"/>
              </a:rPr>
              <a:t>Swap one adjective for your own. Read it again.</a:t>
            </a:r>
          </a:p>
        </p:txBody>
      </p:sp>
      <p:sp>
        <p:nvSpPr>
          <p:cNvPr id="38" name="Rounded Rectangle 37"/>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0" name="TextBox 39"/>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If she stalls, ask which word tells you HOW the action was done.</a:t>
            </a:r>
          </a:p>
        </p:txBody>
      </p:sp>
    </p:spTree>
  </p:cSld>
  <p:clrMapOvr>
    <a:masterClrMapping/>
  </p:clrMapOvr>
  <p:transition spd="med"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37–44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Grammar Spin — Fix the Sentence</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5396324"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37–44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27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Red means repair. Say what is wrong before you fix it.</a:t>
            </a:r>
          </a:p>
        </p:txBody>
      </p:sp>
      <p:sp>
        <p:nvSpPr>
          <p:cNvPr id="15" name="Rounded Rectangle 14"/>
          <p:cNvSpPr/>
          <p:nvPr/>
        </p:nvSpPr>
        <p:spPr>
          <a:xfrm>
            <a:off x="457200" y="16916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0848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39696"/>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30632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34564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11296"/>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457200" y="443484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4828032"/>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882896"/>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24" name="Rounded Rectangle 23"/>
          <p:cNvSpPr/>
          <p:nvPr/>
        </p:nvSpPr>
        <p:spPr>
          <a:xfrm>
            <a:off x="1280160" y="18562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1938528"/>
            <a:ext cx="7040880" cy="402336"/>
          </a:xfrm>
          <a:prstGeom prst="rect">
            <a:avLst/>
          </a:prstGeom>
          <a:noFill/>
        </p:spPr>
        <p:txBody>
          <a:bodyPr wrap="square">
            <a:spAutoFit/>
          </a:bodyPr>
          <a:lstStyle/>
          <a:p>
            <a:pPr algn="l"/>
            <a:r>
              <a:rPr sz="1700" b="1" i="1">
                <a:solidFill>
                  <a:srgbClr val="C8322B"/>
                </a:solidFill>
                <a:latin typeface="Calibri"/>
              </a:rPr>
              <a:t>the garden grow fast</a:t>
            </a:r>
          </a:p>
        </p:txBody>
      </p:sp>
      <p:sp>
        <p:nvSpPr>
          <p:cNvPr id="26" name="TextBox 25"/>
          <p:cNvSpPr txBox="1"/>
          <p:nvPr/>
        </p:nvSpPr>
        <p:spPr>
          <a:xfrm>
            <a:off x="1325880" y="24780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27" name="Rounded Rectangle 26"/>
          <p:cNvSpPr/>
          <p:nvPr/>
        </p:nvSpPr>
        <p:spPr>
          <a:xfrm>
            <a:off x="891540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15400" y="1920240"/>
            <a:ext cx="1234440" cy="274320"/>
          </a:xfrm>
          <a:prstGeom prst="rect">
            <a:avLst/>
          </a:prstGeom>
          <a:noFill/>
        </p:spPr>
        <p:txBody>
          <a:bodyPr wrap="square">
            <a:spAutoFit/>
          </a:bodyPr>
          <a:lstStyle/>
          <a:p>
            <a:pPr algn="ctr"/>
            <a:r>
              <a:rPr sz="1000" b="1" i="0">
                <a:solidFill>
                  <a:srgbClr val="78828E"/>
                </a:solidFill>
                <a:latin typeface="Calibri"/>
              </a:rPr>
              <a:t>capital</a:t>
            </a:r>
          </a:p>
        </p:txBody>
      </p:sp>
      <p:sp>
        <p:nvSpPr>
          <p:cNvPr id="29" name="Rounded Rectangle 28"/>
          <p:cNvSpPr/>
          <p:nvPr/>
        </p:nvSpPr>
        <p:spPr>
          <a:xfrm>
            <a:off x="1024128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0" y="19202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31" name="Rounded Rectangle 30"/>
          <p:cNvSpPr/>
          <p:nvPr/>
        </p:nvSpPr>
        <p:spPr>
          <a:xfrm>
            <a:off x="8915400" y="231343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15400" y="2340864"/>
            <a:ext cx="1234440" cy="274320"/>
          </a:xfrm>
          <a:prstGeom prst="rect">
            <a:avLst/>
          </a:prstGeom>
          <a:noFill/>
        </p:spPr>
        <p:txBody>
          <a:bodyPr wrap="square">
            <a:spAutoFit/>
          </a:bodyPr>
          <a:lstStyle/>
          <a:p>
            <a:pPr algn="ctr"/>
            <a:r>
              <a:rPr sz="1000" b="1" i="0">
                <a:solidFill>
                  <a:srgbClr val="78828E"/>
                </a:solidFill>
                <a:latin typeface="Calibri"/>
              </a:rPr>
              <a:t>period</a:t>
            </a:r>
          </a:p>
        </p:txBody>
      </p:sp>
      <p:sp>
        <p:nvSpPr>
          <p:cNvPr id="33" name="Rounded Rectangle 32"/>
          <p:cNvSpPr/>
          <p:nvPr/>
        </p:nvSpPr>
        <p:spPr>
          <a:xfrm>
            <a:off x="1280160" y="32278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3310128"/>
            <a:ext cx="7040880" cy="402336"/>
          </a:xfrm>
          <a:prstGeom prst="rect">
            <a:avLst/>
          </a:prstGeom>
          <a:noFill/>
        </p:spPr>
        <p:txBody>
          <a:bodyPr wrap="square">
            <a:spAutoFit/>
          </a:bodyPr>
          <a:lstStyle/>
          <a:p>
            <a:pPr algn="l"/>
            <a:r>
              <a:rPr sz="1700" b="1" i="1">
                <a:solidFill>
                  <a:srgbClr val="C8322B"/>
                </a:solidFill>
                <a:latin typeface="Calibri"/>
              </a:rPr>
              <a:t>priya write three headlines</a:t>
            </a:r>
          </a:p>
        </p:txBody>
      </p:sp>
      <p:sp>
        <p:nvSpPr>
          <p:cNvPr id="35" name="TextBox 34"/>
          <p:cNvSpPr txBox="1"/>
          <p:nvPr/>
        </p:nvSpPr>
        <p:spPr>
          <a:xfrm>
            <a:off x="1325880" y="38496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36" name="Rounded Rectangle 35"/>
          <p:cNvSpPr/>
          <p:nvPr/>
        </p:nvSpPr>
        <p:spPr>
          <a:xfrm>
            <a:off x="8915400" y="32644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15400" y="3291840"/>
            <a:ext cx="1234440" cy="274320"/>
          </a:xfrm>
          <a:prstGeom prst="rect">
            <a:avLst/>
          </a:prstGeom>
          <a:noFill/>
        </p:spPr>
        <p:txBody>
          <a:bodyPr wrap="square">
            <a:spAutoFit/>
          </a:bodyPr>
          <a:lstStyle/>
          <a:p>
            <a:pPr algn="ctr"/>
            <a:r>
              <a:rPr sz="1000" b="1" i="0">
                <a:solidFill>
                  <a:srgbClr val="78828E"/>
                </a:solidFill>
                <a:latin typeface="Calibri"/>
              </a:rPr>
              <a:t>capital</a:t>
            </a:r>
          </a:p>
        </p:txBody>
      </p:sp>
      <p:sp>
        <p:nvSpPr>
          <p:cNvPr id="38" name="Rounded Rectangle 37"/>
          <p:cNvSpPr/>
          <p:nvPr/>
        </p:nvSpPr>
        <p:spPr>
          <a:xfrm>
            <a:off x="10241280" y="32644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41280" y="32918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40" name="Rounded Rectangle 39"/>
          <p:cNvSpPr/>
          <p:nvPr/>
        </p:nvSpPr>
        <p:spPr>
          <a:xfrm>
            <a:off x="8915400" y="368503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15400" y="3712464"/>
            <a:ext cx="1234440" cy="274320"/>
          </a:xfrm>
          <a:prstGeom prst="rect">
            <a:avLst/>
          </a:prstGeom>
          <a:noFill/>
        </p:spPr>
        <p:txBody>
          <a:bodyPr wrap="square">
            <a:spAutoFit/>
          </a:bodyPr>
          <a:lstStyle/>
          <a:p>
            <a:pPr algn="ctr"/>
            <a:r>
              <a:rPr sz="1000" b="1" i="0">
                <a:solidFill>
                  <a:srgbClr val="78828E"/>
                </a:solidFill>
                <a:latin typeface="Calibri"/>
              </a:rPr>
              <a:t>period</a:t>
            </a:r>
          </a:p>
        </p:txBody>
      </p:sp>
      <p:sp>
        <p:nvSpPr>
          <p:cNvPr id="42" name="Rounded Rectangle 41"/>
          <p:cNvSpPr/>
          <p:nvPr/>
        </p:nvSpPr>
        <p:spPr>
          <a:xfrm>
            <a:off x="1280160" y="45994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08760" y="4681728"/>
            <a:ext cx="7040880" cy="402336"/>
          </a:xfrm>
          <a:prstGeom prst="rect">
            <a:avLst/>
          </a:prstGeom>
          <a:noFill/>
        </p:spPr>
        <p:txBody>
          <a:bodyPr wrap="square">
            <a:spAutoFit/>
          </a:bodyPr>
          <a:lstStyle/>
          <a:p>
            <a:pPr algn="l"/>
            <a:r>
              <a:rPr sz="1700" b="1" i="1">
                <a:solidFill>
                  <a:srgbClr val="C8322B"/>
                </a:solidFill>
                <a:latin typeface="Calibri"/>
              </a:rPr>
              <a:t>the birds builds a nest</a:t>
            </a:r>
          </a:p>
        </p:txBody>
      </p:sp>
      <p:sp>
        <p:nvSpPr>
          <p:cNvPr id="44" name="TextBox 43"/>
          <p:cNvSpPr txBox="1"/>
          <p:nvPr/>
        </p:nvSpPr>
        <p:spPr>
          <a:xfrm>
            <a:off x="1325880" y="52212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45" name="Rounded Rectangle 44"/>
          <p:cNvSpPr/>
          <p:nvPr/>
        </p:nvSpPr>
        <p:spPr>
          <a:xfrm>
            <a:off x="8915400" y="46360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5400" y="4663440"/>
            <a:ext cx="1234440" cy="274320"/>
          </a:xfrm>
          <a:prstGeom prst="rect">
            <a:avLst/>
          </a:prstGeom>
          <a:noFill/>
        </p:spPr>
        <p:txBody>
          <a:bodyPr wrap="square">
            <a:spAutoFit/>
          </a:bodyPr>
          <a:lstStyle/>
          <a:p>
            <a:pPr algn="ctr"/>
            <a:r>
              <a:rPr sz="1000" b="1" i="0">
                <a:solidFill>
                  <a:srgbClr val="78828E"/>
                </a:solidFill>
                <a:latin typeface="Calibri"/>
              </a:rPr>
              <a:t>capital</a:t>
            </a:r>
          </a:p>
        </p:txBody>
      </p:sp>
      <p:sp>
        <p:nvSpPr>
          <p:cNvPr id="47" name="Rounded Rectangle 46"/>
          <p:cNvSpPr/>
          <p:nvPr/>
        </p:nvSpPr>
        <p:spPr>
          <a:xfrm>
            <a:off x="10241280" y="46360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241280" y="46634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49" name="Rounded Rectangle 48"/>
          <p:cNvSpPr/>
          <p:nvPr/>
        </p:nvSpPr>
        <p:spPr>
          <a:xfrm>
            <a:off x="8915400" y="505663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15400" y="5084064"/>
            <a:ext cx="1234440" cy="274320"/>
          </a:xfrm>
          <a:prstGeom prst="rect">
            <a:avLst/>
          </a:prstGeom>
          <a:noFill/>
        </p:spPr>
        <p:txBody>
          <a:bodyPr wrap="square">
            <a:spAutoFit/>
          </a:bodyPr>
          <a:lstStyle/>
          <a:p>
            <a:pPr algn="ctr"/>
            <a:r>
              <a:rPr sz="1000" b="1" i="0">
                <a:solidFill>
                  <a:srgbClr val="78828E"/>
                </a:solidFill>
                <a:latin typeface="Calibri"/>
              </a:rPr>
              <a:t>period</a:t>
            </a:r>
          </a:p>
        </p:txBody>
      </p:sp>
      <p:sp>
        <p:nvSpPr>
          <p:cNvPr id="51" name="Rounded Rectangle 50"/>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3" name="TextBox 52"/>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Three things to check every time: capital, verb, end mark.</a:t>
            </a:r>
          </a:p>
        </p:txBody>
      </p:sp>
    </p:spTree>
  </p:cSld>
  <p:clrMapOvr>
    <a:masterClrMapping/>
  </p:clrMapOvr>
  <p:transition spd="med"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LEARN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37–44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Joining Words — and, but, so, because</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5596187"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37–44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28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5807C"/>
                </a:solidFill>
                <a:latin typeface="Calibri"/>
              </a:rPr>
              <a:t>These four words glue two ideas into one sentence.</a:t>
            </a:r>
          </a:p>
        </p:txBody>
      </p:sp>
      <p:sp>
        <p:nvSpPr>
          <p:cNvPr id="15" name="Rounded Rectangle 14"/>
          <p:cNvSpPr/>
          <p:nvPr/>
        </p:nvSpPr>
        <p:spPr>
          <a:xfrm>
            <a:off x="457200" y="1691640"/>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1874520"/>
            <a:ext cx="1554480" cy="512064"/>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1956816"/>
            <a:ext cx="1554480" cy="384048"/>
          </a:xfrm>
          <a:prstGeom prst="rect">
            <a:avLst/>
          </a:prstGeom>
          <a:noFill/>
        </p:spPr>
        <p:txBody>
          <a:bodyPr wrap="square">
            <a:spAutoFit/>
          </a:bodyPr>
          <a:lstStyle/>
          <a:p>
            <a:pPr algn="ctr"/>
            <a:r>
              <a:rPr sz="1800" b="1" i="0">
                <a:solidFill>
                  <a:srgbClr val="FFFFFF"/>
                </a:solidFill>
                <a:latin typeface="Calibri"/>
              </a:rPr>
              <a:t>and</a:t>
            </a:r>
          </a:p>
        </p:txBody>
      </p:sp>
      <p:sp>
        <p:nvSpPr>
          <p:cNvPr id="18" name="TextBox 17"/>
          <p:cNvSpPr txBox="1"/>
          <p:nvPr/>
        </p:nvSpPr>
        <p:spPr>
          <a:xfrm>
            <a:off x="2560320" y="1956816"/>
            <a:ext cx="2103120" cy="384048"/>
          </a:xfrm>
          <a:prstGeom prst="rect">
            <a:avLst/>
          </a:prstGeom>
          <a:noFill/>
        </p:spPr>
        <p:txBody>
          <a:bodyPr wrap="square">
            <a:spAutoFit/>
          </a:bodyPr>
          <a:lstStyle/>
          <a:p>
            <a:pPr algn="l"/>
            <a:r>
              <a:rPr sz="1300" b="0" i="0">
                <a:solidFill>
                  <a:srgbClr val="78828E"/>
                </a:solidFill>
                <a:latin typeface="Calibri"/>
              </a:rPr>
              <a:t>joins two ideas</a:t>
            </a:r>
          </a:p>
        </p:txBody>
      </p:sp>
      <p:sp>
        <p:nvSpPr>
          <p:cNvPr id="19" name="TextBox 18"/>
          <p:cNvSpPr txBox="1"/>
          <p:nvPr/>
        </p:nvSpPr>
        <p:spPr>
          <a:xfrm>
            <a:off x="4846320" y="1911096"/>
            <a:ext cx="6583680" cy="457200"/>
          </a:xfrm>
          <a:prstGeom prst="rect">
            <a:avLst/>
          </a:prstGeom>
          <a:noFill/>
        </p:spPr>
        <p:txBody>
          <a:bodyPr wrap="square">
            <a:spAutoFit/>
          </a:bodyPr>
          <a:lstStyle/>
          <a:p>
            <a:pPr algn="l"/>
            <a:r>
              <a:rPr sz="1600" b="1" i="0">
                <a:solidFill>
                  <a:srgbClr val="111418"/>
                </a:solidFill>
                <a:latin typeface="Calibri"/>
              </a:rPr>
              <a:t>The students planted seeds ___ watered them.</a:t>
            </a:r>
          </a:p>
        </p:txBody>
      </p:sp>
      <p:sp>
        <p:nvSpPr>
          <p:cNvPr id="20" name="Rounded Rectangle 19"/>
          <p:cNvSpPr/>
          <p:nvPr/>
        </p:nvSpPr>
        <p:spPr>
          <a:xfrm>
            <a:off x="457200" y="2715768"/>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2898648"/>
            <a:ext cx="1554480" cy="512064"/>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2980944"/>
            <a:ext cx="1554480" cy="384048"/>
          </a:xfrm>
          <a:prstGeom prst="rect">
            <a:avLst/>
          </a:prstGeom>
          <a:noFill/>
        </p:spPr>
        <p:txBody>
          <a:bodyPr wrap="square">
            <a:spAutoFit/>
          </a:bodyPr>
          <a:lstStyle/>
          <a:p>
            <a:pPr algn="ctr"/>
            <a:r>
              <a:rPr sz="1800" b="1" i="0">
                <a:solidFill>
                  <a:srgbClr val="FFFFFF"/>
                </a:solidFill>
                <a:latin typeface="Calibri"/>
              </a:rPr>
              <a:t>but</a:t>
            </a:r>
          </a:p>
        </p:txBody>
      </p:sp>
      <p:sp>
        <p:nvSpPr>
          <p:cNvPr id="23" name="TextBox 22"/>
          <p:cNvSpPr txBox="1"/>
          <p:nvPr/>
        </p:nvSpPr>
        <p:spPr>
          <a:xfrm>
            <a:off x="2560320" y="2980944"/>
            <a:ext cx="2103120" cy="384048"/>
          </a:xfrm>
          <a:prstGeom prst="rect">
            <a:avLst/>
          </a:prstGeom>
          <a:noFill/>
        </p:spPr>
        <p:txBody>
          <a:bodyPr wrap="square">
            <a:spAutoFit/>
          </a:bodyPr>
          <a:lstStyle/>
          <a:p>
            <a:pPr algn="l"/>
            <a:r>
              <a:rPr sz="1300" b="0" i="0">
                <a:solidFill>
                  <a:srgbClr val="78828E"/>
                </a:solidFill>
                <a:latin typeface="Calibri"/>
              </a:rPr>
              <a:t>shows a surprise</a:t>
            </a:r>
          </a:p>
        </p:txBody>
      </p:sp>
      <p:sp>
        <p:nvSpPr>
          <p:cNvPr id="24" name="TextBox 23"/>
          <p:cNvSpPr txBox="1"/>
          <p:nvPr/>
        </p:nvSpPr>
        <p:spPr>
          <a:xfrm>
            <a:off x="4846320" y="2935224"/>
            <a:ext cx="6583680" cy="457200"/>
          </a:xfrm>
          <a:prstGeom prst="rect">
            <a:avLst/>
          </a:prstGeom>
          <a:noFill/>
        </p:spPr>
        <p:txBody>
          <a:bodyPr wrap="square">
            <a:spAutoFit/>
          </a:bodyPr>
          <a:lstStyle/>
          <a:p>
            <a:pPr algn="l"/>
            <a:r>
              <a:rPr sz="1600" b="1" i="0">
                <a:solidFill>
                  <a:srgbClr val="111418"/>
                </a:solidFill>
                <a:latin typeface="Calibri"/>
              </a:rPr>
              <a:t>Priya was tired ___ she kept working.</a:t>
            </a:r>
          </a:p>
        </p:txBody>
      </p:sp>
      <p:sp>
        <p:nvSpPr>
          <p:cNvPr id="25" name="Rounded Rectangle 24"/>
          <p:cNvSpPr/>
          <p:nvPr/>
        </p:nvSpPr>
        <p:spPr>
          <a:xfrm>
            <a:off x="457200" y="3739896"/>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77240" y="3922776"/>
            <a:ext cx="1554480" cy="512064"/>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005072"/>
            <a:ext cx="1554480" cy="384048"/>
          </a:xfrm>
          <a:prstGeom prst="rect">
            <a:avLst/>
          </a:prstGeom>
          <a:noFill/>
        </p:spPr>
        <p:txBody>
          <a:bodyPr wrap="square">
            <a:spAutoFit/>
          </a:bodyPr>
          <a:lstStyle/>
          <a:p>
            <a:pPr algn="ctr"/>
            <a:r>
              <a:rPr sz="1800" b="1" i="0">
                <a:solidFill>
                  <a:srgbClr val="FFFFFF"/>
                </a:solidFill>
                <a:latin typeface="Calibri"/>
              </a:rPr>
              <a:t>so</a:t>
            </a:r>
          </a:p>
        </p:txBody>
      </p:sp>
      <p:sp>
        <p:nvSpPr>
          <p:cNvPr id="28" name="TextBox 27"/>
          <p:cNvSpPr txBox="1"/>
          <p:nvPr/>
        </p:nvSpPr>
        <p:spPr>
          <a:xfrm>
            <a:off x="2560320" y="4005072"/>
            <a:ext cx="2103120" cy="384048"/>
          </a:xfrm>
          <a:prstGeom prst="rect">
            <a:avLst/>
          </a:prstGeom>
          <a:noFill/>
        </p:spPr>
        <p:txBody>
          <a:bodyPr wrap="square">
            <a:spAutoFit/>
          </a:bodyPr>
          <a:lstStyle/>
          <a:p>
            <a:pPr algn="l"/>
            <a:r>
              <a:rPr sz="1300" b="0" i="0">
                <a:solidFill>
                  <a:srgbClr val="78828E"/>
                </a:solidFill>
                <a:latin typeface="Calibri"/>
              </a:rPr>
              <a:t>shows a result</a:t>
            </a:r>
          </a:p>
        </p:txBody>
      </p:sp>
      <p:sp>
        <p:nvSpPr>
          <p:cNvPr id="29" name="TextBox 28"/>
          <p:cNvSpPr txBox="1"/>
          <p:nvPr/>
        </p:nvSpPr>
        <p:spPr>
          <a:xfrm>
            <a:off x="4846320" y="3959352"/>
            <a:ext cx="6583680" cy="457200"/>
          </a:xfrm>
          <a:prstGeom prst="rect">
            <a:avLst/>
          </a:prstGeom>
          <a:noFill/>
        </p:spPr>
        <p:txBody>
          <a:bodyPr wrap="square">
            <a:spAutoFit/>
          </a:bodyPr>
          <a:lstStyle/>
          <a:p>
            <a:pPr algn="l"/>
            <a:r>
              <a:rPr sz="1600" b="1" i="0">
                <a:solidFill>
                  <a:srgbClr val="111418"/>
                </a:solidFill>
                <a:latin typeface="Calibri"/>
              </a:rPr>
              <a:t>The soil was hard, ___ they added new soil.</a:t>
            </a:r>
          </a:p>
        </p:txBody>
      </p:sp>
      <p:sp>
        <p:nvSpPr>
          <p:cNvPr id="30" name="Rounded Rectangle 29"/>
          <p:cNvSpPr/>
          <p:nvPr/>
        </p:nvSpPr>
        <p:spPr>
          <a:xfrm>
            <a:off x="457200" y="4764024"/>
            <a:ext cx="11292840" cy="8778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77240" y="4946904"/>
            <a:ext cx="1554480" cy="512064"/>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029200"/>
            <a:ext cx="1554480" cy="384048"/>
          </a:xfrm>
          <a:prstGeom prst="rect">
            <a:avLst/>
          </a:prstGeom>
          <a:noFill/>
        </p:spPr>
        <p:txBody>
          <a:bodyPr wrap="square">
            <a:spAutoFit/>
          </a:bodyPr>
          <a:lstStyle/>
          <a:p>
            <a:pPr algn="ctr"/>
            <a:r>
              <a:rPr sz="1800" b="1" i="0">
                <a:solidFill>
                  <a:srgbClr val="FFFFFF"/>
                </a:solidFill>
                <a:latin typeface="Calibri"/>
              </a:rPr>
              <a:t>because</a:t>
            </a:r>
          </a:p>
        </p:txBody>
      </p:sp>
      <p:sp>
        <p:nvSpPr>
          <p:cNvPr id="33" name="TextBox 32"/>
          <p:cNvSpPr txBox="1"/>
          <p:nvPr/>
        </p:nvSpPr>
        <p:spPr>
          <a:xfrm>
            <a:off x="2560320" y="5029200"/>
            <a:ext cx="2103120" cy="384048"/>
          </a:xfrm>
          <a:prstGeom prst="rect">
            <a:avLst/>
          </a:prstGeom>
          <a:noFill/>
        </p:spPr>
        <p:txBody>
          <a:bodyPr wrap="square">
            <a:spAutoFit/>
          </a:bodyPr>
          <a:lstStyle/>
          <a:p>
            <a:pPr algn="l"/>
            <a:r>
              <a:rPr sz="1300" b="0" i="0">
                <a:solidFill>
                  <a:srgbClr val="78828E"/>
                </a:solidFill>
                <a:latin typeface="Calibri"/>
              </a:rPr>
              <a:t>gives a reason</a:t>
            </a:r>
          </a:p>
        </p:txBody>
      </p:sp>
      <p:sp>
        <p:nvSpPr>
          <p:cNvPr id="34" name="TextBox 33"/>
          <p:cNvSpPr txBox="1"/>
          <p:nvPr/>
        </p:nvSpPr>
        <p:spPr>
          <a:xfrm>
            <a:off x="4846320" y="4983480"/>
            <a:ext cx="6583680" cy="457200"/>
          </a:xfrm>
          <a:prstGeom prst="rect">
            <a:avLst/>
          </a:prstGeom>
          <a:noFill/>
        </p:spPr>
        <p:txBody>
          <a:bodyPr wrap="square">
            <a:spAutoFit/>
          </a:bodyPr>
          <a:lstStyle/>
          <a:p>
            <a:pPr algn="l"/>
            <a:r>
              <a:rPr sz="1600" b="1" i="0">
                <a:solidFill>
                  <a:srgbClr val="111418"/>
                </a:solidFill>
                <a:latin typeface="Calibri"/>
              </a:rPr>
              <a:t>Birds came ___ the flowers attracted insects.</a:t>
            </a:r>
          </a:p>
        </p:txBody>
      </p:sp>
      <p:sp>
        <p:nvSpPr>
          <p:cNvPr id="35" name="Rounded Rectangle 34"/>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7" name="TextBox 36"/>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Read the sentence with each joining word. Only one makes sense.</a:t>
            </a:r>
          </a:p>
        </p:txBody>
      </p:sp>
    </p:spTree>
  </p:cSld>
  <p:clrMapOvr>
    <a:masterClrMapping/>
  </p:clrMapOvr>
  <p:transition spd="med"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BREAK</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44–49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Brain Break — Newsroom Actions</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5796051"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44–49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29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5807C"/>
                </a:solidFill>
                <a:latin typeface="Calibri"/>
              </a:rPr>
              <a:t>Stay by your chair. Act out whatever I call.</a:t>
            </a:r>
          </a:p>
        </p:txBody>
      </p:sp>
      <p:sp>
        <p:nvSpPr>
          <p:cNvPr id="15" name="Rounded Rectangle 14"/>
          <p:cNvSpPr/>
          <p:nvPr/>
        </p:nvSpPr>
        <p:spPr>
          <a:xfrm>
            <a:off x="457200" y="1691640"/>
            <a:ext cx="4937760" cy="402336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86000"/>
            <a:ext cx="4937760" cy="1645920"/>
          </a:xfrm>
          <a:prstGeom prst="rect">
            <a:avLst/>
          </a:prstGeom>
          <a:noFill/>
        </p:spPr>
        <p:txBody>
          <a:bodyPr wrap="square">
            <a:spAutoFit/>
          </a:bodyPr>
          <a:lstStyle/>
          <a:p>
            <a:pPr algn="ctr"/>
            <a:r>
              <a:rPr sz="9000" b="0" i="0">
                <a:solidFill>
                  <a:srgbClr val="2A2F36"/>
                </a:solidFill>
                <a:latin typeface="Calibri"/>
              </a:rPr>
              <a:t>🎬</a:t>
            </a:r>
          </a:p>
        </p:txBody>
      </p:sp>
      <p:sp>
        <p:nvSpPr>
          <p:cNvPr id="17" name="TextBox 16"/>
          <p:cNvSpPr txBox="1"/>
          <p:nvPr/>
        </p:nvSpPr>
        <p:spPr>
          <a:xfrm>
            <a:off x="457200" y="4114800"/>
            <a:ext cx="4937760" cy="640080"/>
          </a:xfrm>
          <a:prstGeom prst="rect">
            <a:avLst/>
          </a:prstGeom>
          <a:noFill/>
        </p:spPr>
        <p:txBody>
          <a:bodyPr wrap="square">
            <a:spAutoFit/>
          </a:bodyPr>
          <a:lstStyle/>
          <a:p>
            <a:pPr algn="ctr"/>
            <a:r>
              <a:rPr sz="3000" b="1" i="0">
                <a:solidFill>
                  <a:srgbClr val="15807C"/>
                </a:solidFill>
                <a:latin typeface="Georgia"/>
              </a:rPr>
              <a:t>5 MINUTES</a:t>
            </a:r>
          </a:p>
        </p:txBody>
      </p:sp>
      <p:sp>
        <p:nvSpPr>
          <p:cNvPr id="18" name="TextBox 17"/>
          <p:cNvSpPr txBox="1"/>
          <p:nvPr/>
        </p:nvSpPr>
        <p:spPr>
          <a:xfrm>
            <a:off x="731520" y="4846320"/>
            <a:ext cx="4389120" cy="548640"/>
          </a:xfrm>
          <a:prstGeom prst="rect">
            <a:avLst/>
          </a:prstGeom>
          <a:noFill/>
        </p:spPr>
        <p:txBody>
          <a:bodyPr wrap="square">
            <a:spAutoFit/>
          </a:bodyPr>
          <a:lstStyle/>
          <a:p>
            <a:pPr algn="ctr"/>
            <a:r>
              <a:rPr sz="1400" b="0" i="0">
                <a:solidFill>
                  <a:srgbClr val="78828E"/>
                </a:solidFill>
                <a:latin typeface="Calibri"/>
              </a:rPr>
              <a:t>then straight back to the news</a:t>
            </a:r>
          </a:p>
        </p:txBody>
      </p:sp>
      <p:sp>
        <p:nvSpPr>
          <p:cNvPr id="19" name="Rounded Rectangle 18"/>
          <p:cNvSpPr/>
          <p:nvPr/>
        </p:nvSpPr>
        <p:spPr>
          <a:xfrm>
            <a:off x="5715000" y="1737360"/>
            <a:ext cx="603504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989320" y="1920240"/>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1975104"/>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22" name="TextBox 21"/>
          <p:cNvSpPr txBox="1"/>
          <p:nvPr/>
        </p:nvSpPr>
        <p:spPr>
          <a:xfrm>
            <a:off x="6720840" y="1956816"/>
            <a:ext cx="4754880" cy="457200"/>
          </a:xfrm>
          <a:prstGeom prst="rect">
            <a:avLst/>
          </a:prstGeom>
          <a:noFill/>
        </p:spPr>
        <p:txBody>
          <a:bodyPr wrap="square">
            <a:spAutoFit/>
          </a:bodyPr>
          <a:lstStyle/>
          <a:p>
            <a:pPr algn="l"/>
            <a:r>
              <a:rPr sz="1500" b="1" i="0">
                <a:solidFill>
                  <a:srgbClr val="111418"/>
                </a:solidFill>
                <a:latin typeface="Calibri"/>
              </a:rPr>
              <a:t>Stay beside your chair the whole time.</a:t>
            </a:r>
          </a:p>
        </p:txBody>
      </p:sp>
      <p:sp>
        <p:nvSpPr>
          <p:cNvPr id="23" name="Rounded Rectangle 22"/>
          <p:cNvSpPr/>
          <p:nvPr/>
        </p:nvSpPr>
        <p:spPr>
          <a:xfrm>
            <a:off x="5715000" y="2761488"/>
            <a:ext cx="603504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89320" y="2944368"/>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89320" y="2999232"/>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26" name="TextBox 25"/>
          <p:cNvSpPr txBox="1"/>
          <p:nvPr/>
        </p:nvSpPr>
        <p:spPr>
          <a:xfrm>
            <a:off x="6720840" y="2980944"/>
            <a:ext cx="4754880" cy="457200"/>
          </a:xfrm>
          <a:prstGeom prst="rect">
            <a:avLst/>
          </a:prstGeom>
          <a:noFill/>
        </p:spPr>
        <p:txBody>
          <a:bodyPr wrap="square">
            <a:spAutoFit/>
          </a:bodyPr>
          <a:lstStyle/>
          <a:p>
            <a:pPr algn="l"/>
            <a:r>
              <a:rPr sz="1500" b="1" i="0">
                <a:solidFill>
                  <a:srgbClr val="111418"/>
                </a:solidFill>
                <a:latin typeface="Calibri"/>
              </a:rPr>
              <a:t>React fast — that is the whole game.</a:t>
            </a:r>
          </a:p>
        </p:txBody>
      </p:sp>
      <p:sp>
        <p:nvSpPr>
          <p:cNvPr id="27" name="Rounded Rectangle 26"/>
          <p:cNvSpPr/>
          <p:nvPr/>
        </p:nvSpPr>
        <p:spPr>
          <a:xfrm>
            <a:off x="5715000" y="3785616"/>
            <a:ext cx="603504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89320" y="3968496"/>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4023360"/>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30" name="TextBox 29"/>
          <p:cNvSpPr txBox="1"/>
          <p:nvPr/>
        </p:nvSpPr>
        <p:spPr>
          <a:xfrm>
            <a:off x="6720840" y="4005072"/>
            <a:ext cx="4754880" cy="457200"/>
          </a:xfrm>
          <a:prstGeom prst="rect">
            <a:avLst/>
          </a:prstGeom>
          <a:noFill/>
        </p:spPr>
        <p:txBody>
          <a:bodyPr wrap="square">
            <a:spAutoFit/>
          </a:bodyPr>
          <a:lstStyle/>
          <a:p>
            <a:pPr algn="l"/>
            <a:r>
              <a:rPr sz="1500" b="1" i="0">
                <a:solidFill>
                  <a:srgbClr val="111418"/>
                </a:solidFill>
                <a:latin typeface="Calibri"/>
              </a:rPr>
              <a:t>The last two rounds, you call and I act.</a:t>
            </a:r>
          </a:p>
        </p:txBody>
      </p:sp>
      <p:sp>
        <p:nvSpPr>
          <p:cNvPr id="31" name="Rounded Rectangle 30"/>
          <p:cNvSpPr/>
          <p:nvPr/>
        </p:nvSpPr>
        <p:spPr>
          <a:xfrm>
            <a:off x="5715000" y="4809744"/>
            <a:ext cx="603504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989320" y="4992624"/>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9320" y="5047488"/>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34" name="TextBox 33"/>
          <p:cNvSpPr txBox="1"/>
          <p:nvPr/>
        </p:nvSpPr>
        <p:spPr>
          <a:xfrm>
            <a:off x="6720840" y="5029200"/>
            <a:ext cx="4754880" cy="457200"/>
          </a:xfrm>
          <a:prstGeom prst="rect">
            <a:avLst/>
          </a:prstGeom>
          <a:noFill/>
        </p:spPr>
        <p:txBody>
          <a:bodyPr wrap="square">
            <a:spAutoFit/>
          </a:bodyPr>
          <a:lstStyle/>
          <a:p>
            <a:pPr algn="l"/>
            <a:r>
              <a:rPr sz="1500" b="1" i="0">
                <a:solidFill>
                  <a:srgbClr val="111418"/>
                </a:solidFill>
                <a:latin typeface="Calibri"/>
              </a:rPr>
              <a:t>"Breaking News" is always a whisper.</a:t>
            </a:r>
          </a:p>
        </p:txBody>
      </p:sp>
      <p:sp>
        <p:nvSpPr>
          <p:cNvPr id="35" name="Rounded Rectangle 34"/>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7" name="TextBox 36"/>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Letting her call the commands is the part that resets her focus.</a:t>
            </a:r>
          </a:p>
        </p:txBody>
      </p:sp>
    </p:spTree>
  </p:cSld>
  <p:clrMapOvr>
    <a:masterClrMapping/>
  </p:clrMapOvr>
  <p:transition spd="med"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BREAK</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44–49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Newsroom Actions — Six Calls</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5995915"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44–49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30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5807C"/>
                </a:solidFill>
                <a:latin typeface="Calibri"/>
              </a:rPr>
              <a:t>Listen for the call. Then act it out.</a:t>
            </a:r>
          </a:p>
        </p:txBody>
      </p:sp>
      <p:sp>
        <p:nvSpPr>
          <p:cNvPr id="15" name="Rounded Rectangle 14"/>
          <p:cNvSpPr/>
          <p:nvPr/>
        </p:nvSpPr>
        <p:spPr>
          <a:xfrm>
            <a:off x="457200" y="1737360"/>
            <a:ext cx="3566160" cy="19202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901952"/>
            <a:ext cx="3566160" cy="640080"/>
          </a:xfrm>
          <a:prstGeom prst="rect">
            <a:avLst/>
          </a:prstGeom>
          <a:noFill/>
        </p:spPr>
        <p:txBody>
          <a:bodyPr wrap="square">
            <a:spAutoFit/>
          </a:bodyPr>
          <a:lstStyle/>
          <a:p>
            <a:pPr algn="ctr"/>
            <a:r>
              <a:rPr sz="2800" b="0" i="0">
                <a:solidFill>
                  <a:srgbClr val="2A2F36"/>
                </a:solidFill>
                <a:latin typeface="Calibri"/>
              </a:rPr>
              <a:t>📷</a:t>
            </a:r>
          </a:p>
        </p:txBody>
      </p:sp>
      <p:sp>
        <p:nvSpPr>
          <p:cNvPr id="17" name="TextBox 16"/>
          <p:cNvSpPr txBox="1"/>
          <p:nvPr/>
        </p:nvSpPr>
        <p:spPr>
          <a:xfrm>
            <a:off x="594360" y="2578608"/>
            <a:ext cx="3291840" cy="457200"/>
          </a:xfrm>
          <a:prstGeom prst="rect">
            <a:avLst/>
          </a:prstGeom>
          <a:noFill/>
        </p:spPr>
        <p:txBody>
          <a:bodyPr wrap="square">
            <a:spAutoFit/>
          </a:bodyPr>
          <a:lstStyle/>
          <a:p>
            <a:pPr algn="ctr"/>
            <a:r>
              <a:rPr sz="2000" b="1" i="0">
                <a:solidFill>
                  <a:srgbClr val="15807C"/>
                </a:solidFill>
                <a:latin typeface="Georgia"/>
              </a:rPr>
              <a:t>Camera!</a:t>
            </a:r>
          </a:p>
        </p:txBody>
      </p:sp>
      <p:sp>
        <p:nvSpPr>
          <p:cNvPr id="18" name="TextBox 17"/>
          <p:cNvSpPr txBox="1"/>
          <p:nvPr/>
        </p:nvSpPr>
        <p:spPr>
          <a:xfrm>
            <a:off x="731520" y="3072384"/>
            <a:ext cx="3017520" cy="457200"/>
          </a:xfrm>
          <a:prstGeom prst="rect">
            <a:avLst/>
          </a:prstGeom>
          <a:noFill/>
        </p:spPr>
        <p:txBody>
          <a:bodyPr wrap="square">
            <a:spAutoFit/>
          </a:bodyPr>
          <a:lstStyle/>
          <a:p>
            <a:pPr algn="ctr"/>
            <a:r>
              <a:rPr sz="1200" b="0" i="0">
                <a:solidFill>
                  <a:srgbClr val="2A2F36"/>
                </a:solidFill>
                <a:latin typeface="Calibri"/>
              </a:rPr>
              <a:t>Pretend to take a picture.</a:t>
            </a:r>
          </a:p>
        </p:txBody>
      </p:sp>
      <p:sp>
        <p:nvSpPr>
          <p:cNvPr id="19" name="Rounded Rectangle 18"/>
          <p:cNvSpPr/>
          <p:nvPr/>
        </p:nvSpPr>
        <p:spPr>
          <a:xfrm>
            <a:off x="4251960" y="1737360"/>
            <a:ext cx="3566160" cy="19202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51960" y="1901952"/>
            <a:ext cx="3566160" cy="640080"/>
          </a:xfrm>
          <a:prstGeom prst="rect">
            <a:avLst/>
          </a:prstGeom>
          <a:noFill/>
        </p:spPr>
        <p:txBody>
          <a:bodyPr wrap="square">
            <a:spAutoFit/>
          </a:bodyPr>
          <a:lstStyle/>
          <a:p>
            <a:pPr algn="ctr"/>
            <a:r>
              <a:rPr sz="2800" b="0" i="0">
                <a:solidFill>
                  <a:srgbClr val="2A2F36"/>
                </a:solidFill>
                <a:latin typeface="Calibri"/>
              </a:rPr>
              <a:t>🎤</a:t>
            </a:r>
          </a:p>
        </p:txBody>
      </p:sp>
      <p:sp>
        <p:nvSpPr>
          <p:cNvPr id="21" name="TextBox 20"/>
          <p:cNvSpPr txBox="1"/>
          <p:nvPr/>
        </p:nvSpPr>
        <p:spPr>
          <a:xfrm>
            <a:off x="4389120" y="2578608"/>
            <a:ext cx="3291840" cy="457200"/>
          </a:xfrm>
          <a:prstGeom prst="rect">
            <a:avLst/>
          </a:prstGeom>
          <a:noFill/>
        </p:spPr>
        <p:txBody>
          <a:bodyPr wrap="square">
            <a:spAutoFit/>
          </a:bodyPr>
          <a:lstStyle/>
          <a:p>
            <a:pPr algn="ctr"/>
            <a:r>
              <a:rPr sz="2000" b="1" i="0">
                <a:solidFill>
                  <a:srgbClr val="15807C"/>
                </a:solidFill>
                <a:latin typeface="Georgia"/>
              </a:rPr>
              <a:t>Microphone!</a:t>
            </a:r>
          </a:p>
        </p:txBody>
      </p:sp>
      <p:sp>
        <p:nvSpPr>
          <p:cNvPr id="22" name="TextBox 21"/>
          <p:cNvSpPr txBox="1"/>
          <p:nvPr/>
        </p:nvSpPr>
        <p:spPr>
          <a:xfrm>
            <a:off x="4526280" y="3072384"/>
            <a:ext cx="3017520" cy="457200"/>
          </a:xfrm>
          <a:prstGeom prst="rect">
            <a:avLst/>
          </a:prstGeom>
          <a:noFill/>
        </p:spPr>
        <p:txBody>
          <a:bodyPr wrap="square">
            <a:spAutoFit/>
          </a:bodyPr>
          <a:lstStyle/>
          <a:p>
            <a:pPr algn="ctr"/>
            <a:r>
              <a:rPr sz="1200" b="0" i="0">
                <a:solidFill>
                  <a:srgbClr val="2A2F36"/>
                </a:solidFill>
                <a:latin typeface="Calibri"/>
              </a:rPr>
              <a:t>Pretend to interview someone.</a:t>
            </a:r>
          </a:p>
        </p:txBody>
      </p:sp>
      <p:sp>
        <p:nvSpPr>
          <p:cNvPr id="23" name="Rounded Rectangle 22"/>
          <p:cNvSpPr/>
          <p:nvPr/>
        </p:nvSpPr>
        <p:spPr>
          <a:xfrm>
            <a:off x="8046720" y="1737360"/>
            <a:ext cx="3566160" cy="19202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0" y="1901952"/>
            <a:ext cx="3566160" cy="640080"/>
          </a:xfrm>
          <a:prstGeom prst="rect">
            <a:avLst/>
          </a:prstGeom>
          <a:noFill/>
        </p:spPr>
        <p:txBody>
          <a:bodyPr wrap="square">
            <a:spAutoFit/>
          </a:bodyPr>
          <a:lstStyle/>
          <a:p>
            <a:pPr algn="ctr"/>
            <a:r>
              <a:rPr sz="2800" b="0" i="0">
                <a:solidFill>
                  <a:srgbClr val="2A2F36"/>
                </a:solidFill>
                <a:latin typeface="Calibri"/>
              </a:rPr>
              <a:t>📋</a:t>
            </a:r>
          </a:p>
        </p:txBody>
      </p:sp>
      <p:sp>
        <p:nvSpPr>
          <p:cNvPr id="25" name="TextBox 24"/>
          <p:cNvSpPr txBox="1"/>
          <p:nvPr/>
        </p:nvSpPr>
        <p:spPr>
          <a:xfrm>
            <a:off x="8183880" y="2578608"/>
            <a:ext cx="3291840" cy="457200"/>
          </a:xfrm>
          <a:prstGeom prst="rect">
            <a:avLst/>
          </a:prstGeom>
          <a:noFill/>
        </p:spPr>
        <p:txBody>
          <a:bodyPr wrap="square">
            <a:spAutoFit/>
          </a:bodyPr>
          <a:lstStyle/>
          <a:p>
            <a:pPr algn="ctr"/>
            <a:r>
              <a:rPr sz="2000" b="1" i="0">
                <a:solidFill>
                  <a:srgbClr val="15807C"/>
                </a:solidFill>
                <a:latin typeface="Georgia"/>
              </a:rPr>
              <a:t>Notebook!</a:t>
            </a:r>
          </a:p>
        </p:txBody>
      </p:sp>
      <p:sp>
        <p:nvSpPr>
          <p:cNvPr id="26" name="TextBox 25"/>
          <p:cNvSpPr txBox="1"/>
          <p:nvPr/>
        </p:nvSpPr>
        <p:spPr>
          <a:xfrm>
            <a:off x="8321040" y="3072384"/>
            <a:ext cx="3017520" cy="457200"/>
          </a:xfrm>
          <a:prstGeom prst="rect">
            <a:avLst/>
          </a:prstGeom>
          <a:noFill/>
        </p:spPr>
        <p:txBody>
          <a:bodyPr wrap="square">
            <a:spAutoFit/>
          </a:bodyPr>
          <a:lstStyle/>
          <a:p>
            <a:pPr algn="ctr"/>
            <a:r>
              <a:rPr sz="1200" b="0" i="0">
                <a:solidFill>
                  <a:srgbClr val="2A2F36"/>
                </a:solidFill>
                <a:latin typeface="Calibri"/>
              </a:rPr>
              <a:t>Pretend to write fast.</a:t>
            </a:r>
          </a:p>
        </p:txBody>
      </p:sp>
      <p:sp>
        <p:nvSpPr>
          <p:cNvPr id="27" name="Rounded Rectangle 26"/>
          <p:cNvSpPr/>
          <p:nvPr/>
        </p:nvSpPr>
        <p:spPr>
          <a:xfrm>
            <a:off x="457200" y="3840479"/>
            <a:ext cx="3566160" cy="19202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005071"/>
            <a:ext cx="3566160" cy="640080"/>
          </a:xfrm>
          <a:prstGeom prst="rect">
            <a:avLst/>
          </a:prstGeom>
          <a:noFill/>
        </p:spPr>
        <p:txBody>
          <a:bodyPr wrap="square">
            <a:spAutoFit/>
          </a:bodyPr>
          <a:lstStyle/>
          <a:p>
            <a:pPr algn="ctr"/>
            <a:r>
              <a:rPr sz="2800" b="0" i="0">
                <a:solidFill>
                  <a:srgbClr val="2A2F36"/>
                </a:solidFill>
                <a:latin typeface="Calibri"/>
              </a:rPr>
              <a:t>🗞️</a:t>
            </a:r>
          </a:p>
        </p:txBody>
      </p:sp>
      <p:sp>
        <p:nvSpPr>
          <p:cNvPr id="29" name="TextBox 28"/>
          <p:cNvSpPr txBox="1"/>
          <p:nvPr/>
        </p:nvSpPr>
        <p:spPr>
          <a:xfrm>
            <a:off x="594360" y="4681727"/>
            <a:ext cx="3291840" cy="457200"/>
          </a:xfrm>
          <a:prstGeom prst="rect">
            <a:avLst/>
          </a:prstGeom>
          <a:noFill/>
        </p:spPr>
        <p:txBody>
          <a:bodyPr wrap="square">
            <a:spAutoFit/>
          </a:bodyPr>
          <a:lstStyle/>
          <a:p>
            <a:pPr algn="ctr"/>
            <a:r>
              <a:rPr sz="2000" b="1" i="0">
                <a:solidFill>
                  <a:srgbClr val="15807C"/>
                </a:solidFill>
                <a:latin typeface="Georgia"/>
              </a:rPr>
              <a:t>Headline!</a:t>
            </a:r>
          </a:p>
        </p:txBody>
      </p:sp>
      <p:sp>
        <p:nvSpPr>
          <p:cNvPr id="30" name="TextBox 29"/>
          <p:cNvSpPr txBox="1"/>
          <p:nvPr/>
        </p:nvSpPr>
        <p:spPr>
          <a:xfrm>
            <a:off x="731520" y="5175503"/>
            <a:ext cx="3017520" cy="457200"/>
          </a:xfrm>
          <a:prstGeom prst="rect">
            <a:avLst/>
          </a:prstGeom>
          <a:noFill/>
        </p:spPr>
        <p:txBody>
          <a:bodyPr wrap="square">
            <a:spAutoFit/>
          </a:bodyPr>
          <a:lstStyle/>
          <a:p>
            <a:pPr algn="ctr"/>
            <a:r>
              <a:rPr sz="1200" b="0" i="0">
                <a:solidFill>
                  <a:srgbClr val="2A2F36"/>
                </a:solidFill>
                <a:latin typeface="Calibri"/>
              </a:rPr>
              <a:t>Strike a dramatic headline pose.</a:t>
            </a:r>
          </a:p>
        </p:txBody>
      </p:sp>
      <p:sp>
        <p:nvSpPr>
          <p:cNvPr id="31" name="Rounded Rectangle 30"/>
          <p:cNvSpPr/>
          <p:nvPr/>
        </p:nvSpPr>
        <p:spPr>
          <a:xfrm>
            <a:off x="4251960" y="3840479"/>
            <a:ext cx="3566160" cy="19202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51960" y="4005071"/>
            <a:ext cx="3566160" cy="640080"/>
          </a:xfrm>
          <a:prstGeom prst="rect">
            <a:avLst/>
          </a:prstGeom>
          <a:noFill/>
        </p:spPr>
        <p:txBody>
          <a:bodyPr wrap="square">
            <a:spAutoFit/>
          </a:bodyPr>
          <a:lstStyle/>
          <a:p>
            <a:pPr algn="ctr"/>
            <a:r>
              <a:rPr sz="2800" b="0" i="0">
                <a:solidFill>
                  <a:srgbClr val="2A2F36"/>
                </a:solidFill>
                <a:latin typeface="Calibri"/>
              </a:rPr>
              <a:t>🚨</a:t>
            </a:r>
          </a:p>
        </p:txBody>
      </p:sp>
      <p:sp>
        <p:nvSpPr>
          <p:cNvPr id="33" name="TextBox 32"/>
          <p:cNvSpPr txBox="1"/>
          <p:nvPr/>
        </p:nvSpPr>
        <p:spPr>
          <a:xfrm>
            <a:off x="4389120" y="4681727"/>
            <a:ext cx="3291840" cy="457200"/>
          </a:xfrm>
          <a:prstGeom prst="rect">
            <a:avLst/>
          </a:prstGeom>
          <a:noFill/>
        </p:spPr>
        <p:txBody>
          <a:bodyPr wrap="square">
            <a:spAutoFit/>
          </a:bodyPr>
          <a:lstStyle/>
          <a:p>
            <a:pPr algn="ctr"/>
            <a:r>
              <a:rPr sz="2000" b="1" i="0">
                <a:solidFill>
                  <a:srgbClr val="15807C"/>
                </a:solidFill>
                <a:latin typeface="Georgia"/>
              </a:rPr>
              <a:t>Breaking News!</a:t>
            </a:r>
          </a:p>
        </p:txBody>
      </p:sp>
      <p:sp>
        <p:nvSpPr>
          <p:cNvPr id="34" name="TextBox 33"/>
          <p:cNvSpPr txBox="1"/>
          <p:nvPr/>
        </p:nvSpPr>
        <p:spPr>
          <a:xfrm>
            <a:off x="4526280" y="5175503"/>
            <a:ext cx="3017520" cy="457200"/>
          </a:xfrm>
          <a:prstGeom prst="rect">
            <a:avLst/>
          </a:prstGeom>
          <a:noFill/>
        </p:spPr>
        <p:txBody>
          <a:bodyPr wrap="square">
            <a:spAutoFit/>
          </a:bodyPr>
          <a:lstStyle/>
          <a:p>
            <a:pPr algn="ctr"/>
            <a:r>
              <a:rPr sz="1200" b="0" i="0">
                <a:solidFill>
                  <a:srgbClr val="2A2F36"/>
                </a:solidFill>
                <a:latin typeface="Calibri"/>
              </a:rPr>
              <a:t>Whisper: "BREAKING NEWS!"</a:t>
            </a:r>
          </a:p>
        </p:txBody>
      </p:sp>
      <p:sp>
        <p:nvSpPr>
          <p:cNvPr id="35" name="Rounded Rectangle 34"/>
          <p:cNvSpPr/>
          <p:nvPr/>
        </p:nvSpPr>
        <p:spPr>
          <a:xfrm>
            <a:off x="8046720" y="3840479"/>
            <a:ext cx="3566160" cy="1920240"/>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0" y="4005071"/>
            <a:ext cx="3566160" cy="640080"/>
          </a:xfrm>
          <a:prstGeom prst="rect">
            <a:avLst/>
          </a:prstGeom>
          <a:noFill/>
        </p:spPr>
        <p:txBody>
          <a:bodyPr wrap="square">
            <a:spAutoFit/>
          </a:bodyPr>
          <a:lstStyle/>
          <a:p>
            <a:pPr algn="ctr"/>
            <a:r>
              <a:rPr sz="2800" b="0" i="0">
                <a:solidFill>
                  <a:srgbClr val="2A2F36"/>
                </a:solidFill>
                <a:latin typeface="Calibri"/>
              </a:rPr>
              <a:t>🔀</a:t>
            </a:r>
          </a:p>
        </p:txBody>
      </p:sp>
      <p:sp>
        <p:nvSpPr>
          <p:cNvPr id="37" name="TextBox 36"/>
          <p:cNvSpPr txBox="1"/>
          <p:nvPr/>
        </p:nvSpPr>
        <p:spPr>
          <a:xfrm>
            <a:off x="8183880" y="4681727"/>
            <a:ext cx="3291840" cy="457200"/>
          </a:xfrm>
          <a:prstGeom prst="rect">
            <a:avLst/>
          </a:prstGeom>
          <a:noFill/>
        </p:spPr>
        <p:txBody>
          <a:bodyPr wrap="square">
            <a:spAutoFit/>
          </a:bodyPr>
          <a:lstStyle/>
          <a:p>
            <a:pPr algn="ctr"/>
            <a:r>
              <a:rPr sz="2000" b="1" i="0">
                <a:solidFill>
                  <a:srgbClr val="15807C"/>
                </a:solidFill>
                <a:latin typeface="Georgia"/>
              </a:rPr>
              <a:t>Mix them up!</a:t>
            </a:r>
          </a:p>
        </p:txBody>
      </p:sp>
      <p:sp>
        <p:nvSpPr>
          <p:cNvPr id="38" name="TextBox 37"/>
          <p:cNvSpPr txBox="1"/>
          <p:nvPr/>
        </p:nvSpPr>
        <p:spPr>
          <a:xfrm>
            <a:off x="8321040" y="5175503"/>
            <a:ext cx="3017520" cy="457200"/>
          </a:xfrm>
          <a:prstGeom prst="rect">
            <a:avLst/>
          </a:prstGeom>
          <a:noFill/>
        </p:spPr>
        <p:txBody>
          <a:bodyPr wrap="square">
            <a:spAutoFit/>
          </a:bodyPr>
          <a:lstStyle/>
          <a:p>
            <a:pPr algn="ctr"/>
            <a:r>
              <a:rPr sz="1200" b="0" i="0">
                <a:solidFill>
                  <a:srgbClr val="2A2F36"/>
                </a:solidFill>
                <a:latin typeface="Calibri"/>
              </a:rPr>
              <a:t>Now the teacher calls them in any order.</a:t>
            </a:r>
          </a:p>
        </p:txBody>
      </p:sp>
      <p:sp>
        <p:nvSpPr>
          <p:cNvPr id="39" name="Rounded Rectangle 38"/>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1" name="TextBox 40"/>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Mix in a reading call: "Headline!" then point at a word to read.</a:t>
            </a:r>
          </a:p>
        </p:txBody>
      </p:sp>
    </p:spTree>
  </p:cSld>
  <p:clrMapOvr>
    <a:masterClrMapping/>
  </p:clrMapOvr>
  <p:transition spd="med"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LEARN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49–59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News Through Time — Past, Now, Future</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6195779"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49–59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31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B5E9E"/>
                </a:solidFill>
                <a:latin typeface="Calibri"/>
              </a:rPr>
              <a:t>Same reporter. Same teacher. Three different times.</a:t>
            </a:r>
          </a:p>
        </p:txBody>
      </p:sp>
      <p:sp>
        <p:nvSpPr>
          <p:cNvPr id="15" name="Rounded Rectangle 14"/>
          <p:cNvSpPr/>
          <p:nvPr/>
        </p:nvSpPr>
        <p:spPr>
          <a:xfrm>
            <a:off x="457200" y="1691640"/>
            <a:ext cx="3566160" cy="32004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417320" y="1901952"/>
            <a:ext cx="1645920" cy="548640"/>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17320" y="2011680"/>
            <a:ext cx="1645920" cy="384048"/>
          </a:xfrm>
          <a:prstGeom prst="rect">
            <a:avLst/>
          </a:prstGeom>
          <a:noFill/>
        </p:spPr>
        <p:txBody>
          <a:bodyPr wrap="square">
            <a:spAutoFit/>
          </a:bodyPr>
          <a:lstStyle/>
          <a:p>
            <a:pPr algn="ctr"/>
            <a:r>
              <a:rPr sz="1500" b="1" i="0">
                <a:solidFill>
                  <a:srgbClr val="FFFFFF"/>
                </a:solidFill>
                <a:latin typeface="Calibri"/>
              </a:rPr>
              <a:t>PAST</a:t>
            </a:r>
          </a:p>
        </p:txBody>
      </p:sp>
      <p:sp>
        <p:nvSpPr>
          <p:cNvPr id="18" name="TextBox 17"/>
          <p:cNvSpPr txBox="1"/>
          <p:nvPr/>
        </p:nvSpPr>
        <p:spPr>
          <a:xfrm>
            <a:off x="640080" y="2578608"/>
            <a:ext cx="3200400" cy="365760"/>
          </a:xfrm>
          <a:prstGeom prst="rect">
            <a:avLst/>
          </a:prstGeom>
          <a:noFill/>
        </p:spPr>
        <p:txBody>
          <a:bodyPr wrap="square">
            <a:spAutoFit/>
          </a:bodyPr>
          <a:lstStyle/>
          <a:p>
            <a:pPr algn="ctr"/>
            <a:r>
              <a:rPr sz="1300" b="0" i="1">
                <a:solidFill>
                  <a:srgbClr val="78828E"/>
                </a:solidFill>
                <a:latin typeface="Calibri"/>
              </a:rPr>
              <a:t>yesterday</a:t>
            </a:r>
          </a:p>
        </p:txBody>
      </p:sp>
      <p:sp>
        <p:nvSpPr>
          <p:cNvPr id="19" name="TextBox 18"/>
          <p:cNvSpPr txBox="1"/>
          <p:nvPr/>
        </p:nvSpPr>
        <p:spPr>
          <a:xfrm>
            <a:off x="731520" y="3063240"/>
            <a:ext cx="3017520" cy="1463040"/>
          </a:xfrm>
          <a:prstGeom prst="rect">
            <a:avLst/>
          </a:prstGeom>
          <a:noFill/>
        </p:spPr>
        <p:txBody>
          <a:bodyPr wrap="square">
            <a:spAutoFit/>
          </a:bodyPr>
          <a:lstStyle/>
          <a:p>
            <a:pPr algn="ctr"/>
            <a:r>
              <a:rPr sz="1700" b="1" i="0">
                <a:solidFill>
                  <a:srgbClr val="111418"/>
                </a:solidFill>
                <a:latin typeface="Calibri"/>
              </a:rPr>
              <a:t>The reporter interviewed the teacher.</a:t>
            </a:r>
          </a:p>
        </p:txBody>
      </p:sp>
      <p:sp>
        <p:nvSpPr>
          <p:cNvPr id="20" name="Rounded Rectangle 19"/>
          <p:cNvSpPr/>
          <p:nvPr/>
        </p:nvSpPr>
        <p:spPr>
          <a:xfrm>
            <a:off x="4251960" y="1691640"/>
            <a:ext cx="3566160" cy="32004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212080" y="1901952"/>
            <a:ext cx="1645920" cy="548640"/>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2011680"/>
            <a:ext cx="1645920" cy="384048"/>
          </a:xfrm>
          <a:prstGeom prst="rect">
            <a:avLst/>
          </a:prstGeom>
          <a:noFill/>
        </p:spPr>
        <p:txBody>
          <a:bodyPr wrap="square">
            <a:spAutoFit/>
          </a:bodyPr>
          <a:lstStyle/>
          <a:p>
            <a:pPr algn="ctr"/>
            <a:r>
              <a:rPr sz="1500" b="1" i="0">
                <a:solidFill>
                  <a:srgbClr val="FFFFFF"/>
                </a:solidFill>
                <a:latin typeface="Calibri"/>
              </a:rPr>
              <a:t>NOW</a:t>
            </a:r>
          </a:p>
        </p:txBody>
      </p:sp>
      <p:sp>
        <p:nvSpPr>
          <p:cNvPr id="23" name="TextBox 22"/>
          <p:cNvSpPr txBox="1"/>
          <p:nvPr/>
        </p:nvSpPr>
        <p:spPr>
          <a:xfrm>
            <a:off x="4434840" y="2578608"/>
            <a:ext cx="3200400" cy="365760"/>
          </a:xfrm>
          <a:prstGeom prst="rect">
            <a:avLst/>
          </a:prstGeom>
          <a:noFill/>
        </p:spPr>
        <p:txBody>
          <a:bodyPr wrap="square">
            <a:spAutoFit/>
          </a:bodyPr>
          <a:lstStyle/>
          <a:p>
            <a:pPr algn="ctr"/>
            <a:r>
              <a:rPr sz="1300" b="0" i="1">
                <a:solidFill>
                  <a:srgbClr val="78828E"/>
                </a:solidFill>
                <a:latin typeface="Calibri"/>
              </a:rPr>
              <a:t>today</a:t>
            </a:r>
          </a:p>
        </p:txBody>
      </p:sp>
      <p:sp>
        <p:nvSpPr>
          <p:cNvPr id="24" name="TextBox 23"/>
          <p:cNvSpPr txBox="1"/>
          <p:nvPr/>
        </p:nvSpPr>
        <p:spPr>
          <a:xfrm>
            <a:off x="4526280" y="3063240"/>
            <a:ext cx="3017520" cy="1463040"/>
          </a:xfrm>
          <a:prstGeom prst="rect">
            <a:avLst/>
          </a:prstGeom>
          <a:noFill/>
        </p:spPr>
        <p:txBody>
          <a:bodyPr wrap="square">
            <a:spAutoFit/>
          </a:bodyPr>
          <a:lstStyle/>
          <a:p>
            <a:pPr algn="ctr"/>
            <a:r>
              <a:rPr sz="1700" b="1" i="0">
                <a:solidFill>
                  <a:srgbClr val="111418"/>
                </a:solidFill>
                <a:latin typeface="Calibri"/>
              </a:rPr>
              <a:t>The reporter interviews the teacher.</a:t>
            </a:r>
          </a:p>
        </p:txBody>
      </p:sp>
      <p:sp>
        <p:nvSpPr>
          <p:cNvPr id="25" name="Rounded Rectangle 24"/>
          <p:cNvSpPr/>
          <p:nvPr/>
        </p:nvSpPr>
        <p:spPr>
          <a:xfrm>
            <a:off x="8046720" y="1691640"/>
            <a:ext cx="3566160" cy="32004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006840" y="1901952"/>
            <a:ext cx="1645920" cy="548640"/>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40" y="2011680"/>
            <a:ext cx="1645920" cy="384048"/>
          </a:xfrm>
          <a:prstGeom prst="rect">
            <a:avLst/>
          </a:prstGeom>
          <a:noFill/>
        </p:spPr>
        <p:txBody>
          <a:bodyPr wrap="square">
            <a:spAutoFit/>
          </a:bodyPr>
          <a:lstStyle/>
          <a:p>
            <a:pPr algn="ctr"/>
            <a:r>
              <a:rPr sz="1500" b="1" i="0">
                <a:solidFill>
                  <a:srgbClr val="FFFFFF"/>
                </a:solidFill>
                <a:latin typeface="Calibri"/>
              </a:rPr>
              <a:t>FUTURE</a:t>
            </a:r>
          </a:p>
        </p:txBody>
      </p:sp>
      <p:sp>
        <p:nvSpPr>
          <p:cNvPr id="28" name="TextBox 27"/>
          <p:cNvSpPr txBox="1"/>
          <p:nvPr/>
        </p:nvSpPr>
        <p:spPr>
          <a:xfrm>
            <a:off x="8229600" y="2578608"/>
            <a:ext cx="3200400" cy="365760"/>
          </a:xfrm>
          <a:prstGeom prst="rect">
            <a:avLst/>
          </a:prstGeom>
          <a:noFill/>
        </p:spPr>
        <p:txBody>
          <a:bodyPr wrap="square">
            <a:spAutoFit/>
          </a:bodyPr>
          <a:lstStyle/>
          <a:p>
            <a:pPr algn="ctr"/>
            <a:r>
              <a:rPr sz="1300" b="0" i="1">
                <a:solidFill>
                  <a:srgbClr val="78828E"/>
                </a:solidFill>
                <a:latin typeface="Calibri"/>
              </a:rPr>
              <a:t>tomorrow</a:t>
            </a:r>
          </a:p>
        </p:txBody>
      </p:sp>
      <p:sp>
        <p:nvSpPr>
          <p:cNvPr id="29" name="TextBox 28"/>
          <p:cNvSpPr txBox="1"/>
          <p:nvPr/>
        </p:nvSpPr>
        <p:spPr>
          <a:xfrm>
            <a:off x="8321040" y="3063240"/>
            <a:ext cx="3017520" cy="1463040"/>
          </a:xfrm>
          <a:prstGeom prst="rect">
            <a:avLst/>
          </a:prstGeom>
          <a:noFill/>
        </p:spPr>
        <p:txBody>
          <a:bodyPr wrap="square">
            <a:spAutoFit/>
          </a:bodyPr>
          <a:lstStyle/>
          <a:p>
            <a:pPr algn="ctr"/>
            <a:r>
              <a:rPr sz="1700" b="1" i="0">
                <a:solidFill>
                  <a:srgbClr val="111418"/>
                </a:solidFill>
                <a:latin typeface="Calibri"/>
              </a:rPr>
              <a:t>The reporter will interview the teacher.</a:t>
            </a:r>
          </a:p>
        </p:txBody>
      </p:sp>
      <p:sp>
        <p:nvSpPr>
          <p:cNvPr id="30" name="Rounded Rectangle 29"/>
          <p:cNvSpPr/>
          <p:nvPr/>
        </p:nvSpPr>
        <p:spPr>
          <a:xfrm>
            <a:off x="457200" y="5074920"/>
            <a:ext cx="11292840" cy="65836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230368"/>
            <a:ext cx="10698480" cy="402336"/>
          </a:xfrm>
          <a:prstGeom prst="rect">
            <a:avLst/>
          </a:prstGeom>
          <a:noFill/>
        </p:spPr>
        <p:txBody>
          <a:bodyPr wrap="square">
            <a:spAutoFit/>
          </a:bodyPr>
          <a:lstStyle/>
          <a:p>
            <a:pPr algn="ctr"/>
            <a:r>
              <a:rPr sz="1800" b="1" i="0">
                <a:solidFill>
                  <a:srgbClr val="FFFFFF"/>
                </a:solidFill>
                <a:latin typeface="Georgia"/>
              </a:rPr>
              <a:t>PAST   ←———————   NOW   ———————→   FUTURE</a:t>
            </a:r>
          </a:p>
        </p:txBody>
      </p:sp>
      <p:sp>
        <p:nvSpPr>
          <p:cNvPr id="32" name="Rounded Rectangle 31"/>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4" name="TextBox 33"/>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Ask when it happened before asking which verb to use.</a:t>
            </a:r>
          </a:p>
        </p:txBody>
      </p:sp>
    </p:spTree>
  </p:cSld>
  <p:clrMapOvr>
    <a:masterClrMapping/>
  </p:clrMapOvr>
  <p:transition spd="med"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LEARN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49–59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The Reporter's Verb Chart</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6395643"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49–59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32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B5E9E"/>
                </a:solidFill>
                <a:latin typeface="Calibri"/>
              </a:rPr>
              <a:t>Five newsroom verbs in all three times.</a:t>
            </a:r>
          </a:p>
        </p:txBody>
      </p:sp>
      <p:sp>
        <p:nvSpPr>
          <p:cNvPr id="15" name="Rounded Rectangle 14"/>
          <p:cNvSpPr/>
          <p:nvPr/>
        </p:nvSpPr>
        <p:spPr>
          <a:xfrm>
            <a:off x="457200" y="1719072"/>
            <a:ext cx="2743200" cy="457200"/>
          </a:xfrm>
          <a:prstGeom prst="roundRect">
            <a:avLst/>
          </a:prstGeom>
          <a:solidFill>
            <a:srgbClr val="465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810512"/>
            <a:ext cx="2743200" cy="329184"/>
          </a:xfrm>
          <a:prstGeom prst="rect">
            <a:avLst/>
          </a:prstGeom>
          <a:noFill/>
        </p:spPr>
        <p:txBody>
          <a:bodyPr wrap="square">
            <a:spAutoFit/>
          </a:bodyPr>
          <a:lstStyle/>
          <a:p>
            <a:pPr algn="ctr"/>
            <a:r>
              <a:rPr sz="1300" b="1" i="0">
                <a:solidFill>
                  <a:srgbClr val="FFFFFF"/>
                </a:solidFill>
                <a:latin typeface="Calibri"/>
              </a:rPr>
              <a:t>VERB</a:t>
            </a:r>
          </a:p>
        </p:txBody>
      </p:sp>
      <p:sp>
        <p:nvSpPr>
          <p:cNvPr id="17" name="Rounded Rectangle 16"/>
          <p:cNvSpPr/>
          <p:nvPr/>
        </p:nvSpPr>
        <p:spPr>
          <a:xfrm>
            <a:off x="3383280" y="1719072"/>
            <a:ext cx="2743200" cy="457200"/>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1810512"/>
            <a:ext cx="2743200" cy="329184"/>
          </a:xfrm>
          <a:prstGeom prst="rect">
            <a:avLst/>
          </a:prstGeom>
          <a:noFill/>
        </p:spPr>
        <p:txBody>
          <a:bodyPr wrap="square">
            <a:spAutoFit/>
          </a:bodyPr>
          <a:lstStyle/>
          <a:p>
            <a:pPr algn="ctr"/>
            <a:r>
              <a:rPr sz="1300" b="1" i="0">
                <a:solidFill>
                  <a:srgbClr val="FFFFFF"/>
                </a:solidFill>
                <a:latin typeface="Calibri"/>
              </a:rPr>
              <a:t>NOW</a:t>
            </a:r>
          </a:p>
        </p:txBody>
      </p:sp>
      <p:sp>
        <p:nvSpPr>
          <p:cNvPr id="19" name="Rounded Rectangle 18"/>
          <p:cNvSpPr/>
          <p:nvPr/>
        </p:nvSpPr>
        <p:spPr>
          <a:xfrm>
            <a:off x="6309360" y="1719072"/>
            <a:ext cx="2743200" cy="457200"/>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810512"/>
            <a:ext cx="2743200" cy="329184"/>
          </a:xfrm>
          <a:prstGeom prst="rect">
            <a:avLst/>
          </a:prstGeom>
          <a:noFill/>
        </p:spPr>
        <p:txBody>
          <a:bodyPr wrap="square">
            <a:spAutoFit/>
          </a:bodyPr>
          <a:lstStyle/>
          <a:p>
            <a:pPr algn="ctr"/>
            <a:r>
              <a:rPr sz="1300" b="1" i="0">
                <a:solidFill>
                  <a:srgbClr val="FFFFFF"/>
                </a:solidFill>
                <a:latin typeface="Calibri"/>
              </a:rPr>
              <a:t>PAST</a:t>
            </a:r>
          </a:p>
        </p:txBody>
      </p:sp>
      <p:sp>
        <p:nvSpPr>
          <p:cNvPr id="21" name="Rounded Rectangle 20"/>
          <p:cNvSpPr/>
          <p:nvPr/>
        </p:nvSpPr>
        <p:spPr>
          <a:xfrm>
            <a:off x="9235440" y="1719072"/>
            <a:ext cx="2514600" cy="457200"/>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1810512"/>
            <a:ext cx="2514600" cy="329184"/>
          </a:xfrm>
          <a:prstGeom prst="rect">
            <a:avLst/>
          </a:prstGeom>
          <a:noFill/>
        </p:spPr>
        <p:txBody>
          <a:bodyPr wrap="square">
            <a:spAutoFit/>
          </a:bodyPr>
          <a:lstStyle/>
          <a:p>
            <a:pPr algn="ctr"/>
            <a:r>
              <a:rPr sz="1300" b="1" i="0">
                <a:solidFill>
                  <a:srgbClr val="FFFFFF"/>
                </a:solidFill>
                <a:latin typeface="Calibri"/>
              </a:rPr>
              <a:t>FUTURE</a:t>
            </a:r>
          </a:p>
        </p:txBody>
      </p:sp>
      <p:sp>
        <p:nvSpPr>
          <p:cNvPr id="23" name="Rounded Rectangle 22"/>
          <p:cNvSpPr/>
          <p:nvPr/>
        </p:nvSpPr>
        <p:spPr>
          <a:xfrm>
            <a:off x="457200" y="2304288"/>
            <a:ext cx="27432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2432304"/>
            <a:ext cx="2743200" cy="402336"/>
          </a:xfrm>
          <a:prstGeom prst="rect">
            <a:avLst/>
          </a:prstGeom>
          <a:noFill/>
        </p:spPr>
        <p:txBody>
          <a:bodyPr wrap="square">
            <a:spAutoFit/>
          </a:bodyPr>
          <a:lstStyle/>
          <a:p>
            <a:pPr algn="ctr"/>
            <a:r>
              <a:rPr sz="1700" b="1" i="0">
                <a:solidFill>
                  <a:srgbClr val="111418"/>
                </a:solidFill>
                <a:latin typeface="Calibri"/>
              </a:rPr>
              <a:t>interview</a:t>
            </a:r>
          </a:p>
        </p:txBody>
      </p:sp>
      <p:sp>
        <p:nvSpPr>
          <p:cNvPr id="25" name="Rounded Rectangle 24"/>
          <p:cNvSpPr/>
          <p:nvPr/>
        </p:nvSpPr>
        <p:spPr>
          <a:xfrm>
            <a:off x="3383280" y="2304288"/>
            <a:ext cx="27432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83280" y="2432304"/>
            <a:ext cx="2743200" cy="402336"/>
          </a:xfrm>
          <a:prstGeom prst="rect">
            <a:avLst/>
          </a:prstGeom>
          <a:noFill/>
        </p:spPr>
        <p:txBody>
          <a:bodyPr wrap="square">
            <a:spAutoFit/>
          </a:bodyPr>
          <a:lstStyle/>
          <a:p>
            <a:pPr algn="ctr"/>
            <a:r>
              <a:rPr sz="1700" b="1" i="0">
                <a:solidFill>
                  <a:srgbClr val="1E7A52"/>
                </a:solidFill>
                <a:latin typeface="Calibri"/>
              </a:rPr>
              <a:t>interviews</a:t>
            </a:r>
          </a:p>
        </p:txBody>
      </p:sp>
      <p:sp>
        <p:nvSpPr>
          <p:cNvPr id="27" name="Rounded Rectangle 26"/>
          <p:cNvSpPr/>
          <p:nvPr/>
        </p:nvSpPr>
        <p:spPr>
          <a:xfrm>
            <a:off x="6309360" y="2304288"/>
            <a:ext cx="27432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2432304"/>
            <a:ext cx="2743200" cy="402336"/>
          </a:xfrm>
          <a:prstGeom prst="rect">
            <a:avLst/>
          </a:prstGeom>
          <a:noFill/>
        </p:spPr>
        <p:txBody>
          <a:bodyPr wrap="square">
            <a:spAutoFit/>
          </a:bodyPr>
          <a:lstStyle/>
          <a:p>
            <a:pPr algn="ctr"/>
            <a:r>
              <a:rPr sz="1700" b="1" i="0">
                <a:solidFill>
                  <a:srgbClr val="C8322B"/>
                </a:solidFill>
                <a:latin typeface="Calibri"/>
              </a:rPr>
              <a:t>interviewed</a:t>
            </a:r>
          </a:p>
        </p:txBody>
      </p:sp>
      <p:sp>
        <p:nvSpPr>
          <p:cNvPr id="29" name="Rounded Rectangle 28"/>
          <p:cNvSpPr/>
          <p:nvPr/>
        </p:nvSpPr>
        <p:spPr>
          <a:xfrm>
            <a:off x="9235440" y="2304288"/>
            <a:ext cx="25146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2432304"/>
            <a:ext cx="2514600" cy="402336"/>
          </a:xfrm>
          <a:prstGeom prst="rect">
            <a:avLst/>
          </a:prstGeom>
          <a:noFill/>
        </p:spPr>
        <p:txBody>
          <a:bodyPr wrap="square">
            <a:spAutoFit/>
          </a:bodyPr>
          <a:lstStyle/>
          <a:p>
            <a:pPr algn="ctr"/>
            <a:r>
              <a:rPr sz="1700" b="1" i="0">
                <a:solidFill>
                  <a:srgbClr val="1B5E9E"/>
                </a:solidFill>
                <a:latin typeface="Calibri"/>
              </a:rPr>
              <a:t>will interview</a:t>
            </a:r>
          </a:p>
        </p:txBody>
      </p:sp>
      <p:sp>
        <p:nvSpPr>
          <p:cNvPr id="31" name="Rounded Rectangle 30"/>
          <p:cNvSpPr/>
          <p:nvPr/>
        </p:nvSpPr>
        <p:spPr>
          <a:xfrm>
            <a:off x="457200" y="3017520"/>
            <a:ext cx="2743200" cy="62179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145536"/>
            <a:ext cx="2743200" cy="402336"/>
          </a:xfrm>
          <a:prstGeom prst="rect">
            <a:avLst/>
          </a:prstGeom>
          <a:noFill/>
        </p:spPr>
        <p:txBody>
          <a:bodyPr wrap="square">
            <a:spAutoFit/>
          </a:bodyPr>
          <a:lstStyle/>
          <a:p>
            <a:pPr algn="ctr"/>
            <a:r>
              <a:rPr sz="1700" b="1" i="0">
                <a:solidFill>
                  <a:srgbClr val="111418"/>
                </a:solidFill>
                <a:latin typeface="Calibri"/>
              </a:rPr>
              <a:t>plant</a:t>
            </a:r>
          </a:p>
        </p:txBody>
      </p:sp>
      <p:sp>
        <p:nvSpPr>
          <p:cNvPr id="33" name="Rounded Rectangle 32"/>
          <p:cNvSpPr/>
          <p:nvPr/>
        </p:nvSpPr>
        <p:spPr>
          <a:xfrm>
            <a:off x="3383280" y="3017520"/>
            <a:ext cx="2743200" cy="62179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80" y="3145536"/>
            <a:ext cx="2743200" cy="402336"/>
          </a:xfrm>
          <a:prstGeom prst="rect">
            <a:avLst/>
          </a:prstGeom>
          <a:noFill/>
        </p:spPr>
        <p:txBody>
          <a:bodyPr wrap="square">
            <a:spAutoFit/>
          </a:bodyPr>
          <a:lstStyle/>
          <a:p>
            <a:pPr algn="ctr"/>
            <a:r>
              <a:rPr sz="1700" b="1" i="0">
                <a:solidFill>
                  <a:srgbClr val="1E7A52"/>
                </a:solidFill>
                <a:latin typeface="Calibri"/>
              </a:rPr>
              <a:t>plants</a:t>
            </a:r>
          </a:p>
        </p:txBody>
      </p:sp>
      <p:sp>
        <p:nvSpPr>
          <p:cNvPr id="35" name="Rounded Rectangle 34"/>
          <p:cNvSpPr/>
          <p:nvPr/>
        </p:nvSpPr>
        <p:spPr>
          <a:xfrm>
            <a:off x="6309360" y="3017520"/>
            <a:ext cx="2743200" cy="62179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3145536"/>
            <a:ext cx="2743200" cy="402336"/>
          </a:xfrm>
          <a:prstGeom prst="rect">
            <a:avLst/>
          </a:prstGeom>
          <a:noFill/>
        </p:spPr>
        <p:txBody>
          <a:bodyPr wrap="square">
            <a:spAutoFit/>
          </a:bodyPr>
          <a:lstStyle/>
          <a:p>
            <a:pPr algn="ctr"/>
            <a:r>
              <a:rPr sz="1700" b="1" i="0">
                <a:solidFill>
                  <a:srgbClr val="C8322B"/>
                </a:solidFill>
                <a:latin typeface="Calibri"/>
              </a:rPr>
              <a:t>planted</a:t>
            </a:r>
          </a:p>
        </p:txBody>
      </p:sp>
      <p:sp>
        <p:nvSpPr>
          <p:cNvPr id="37" name="Rounded Rectangle 36"/>
          <p:cNvSpPr/>
          <p:nvPr/>
        </p:nvSpPr>
        <p:spPr>
          <a:xfrm>
            <a:off x="9235440" y="3017520"/>
            <a:ext cx="2514600" cy="62179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35440" y="3145536"/>
            <a:ext cx="2514600" cy="402336"/>
          </a:xfrm>
          <a:prstGeom prst="rect">
            <a:avLst/>
          </a:prstGeom>
          <a:noFill/>
        </p:spPr>
        <p:txBody>
          <a:bodyPr wrap="square">
            <a:spAutoFit/>
          </a:bodyPr>
          <a:lstStyle/>
          <a:p>
            <a:pPr algn="ctr"/>
            <a:r>
              <a:rPr sz="1700" b="1" i="0">
                <a:solidFill>
                  <a:srgbClr val="1B5E9E"/>
                </a:solidFill>
                <a:latin typeface="Calibri"/>
              </a:rPr>
              <a:t>will plant</a:t>
            </a:r>
          </a:p>
        </p:txBody>
      </p:sp>
      <p:sp>
        <p:nvSpPr>
          <p:cNvPr id="39" name="Rounded Rectangle 38"/>
          <p:cNvSpPr/>
          <p:nvPr/>
        </p:nvSpPr>
        <p:spPr>
          <a:xfrm>
            <a:off x="457200" y="3730752"/>
            <a:ext cx="27432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858768"/>
            <a:ext cx="2743200" cy="402336"/>
          </a:xfrm>
          <a:prstGeom prst="rect">
            <a:avLst/>
          </a:prstGeom>
          <a:noFill/>
        </p:spPr>
        <p:txBody>
          <a:bodyPr wrap="square">
            <a:spAutoFit/>
          </a:bodyPr>
          <a:lstStyle/>
          <a:p>
            <a:pPr algn="ctr"/>
            <a:r>
              <a:rPr sz="1700" b="1" i="0">
                <a:solidFill>
                  <a:srgbClr val="111418"/>
                </a:solidFill>
                <a:latin typeface="Calibri"/>
              </a:rPr>
              <a:t>win</a:t>
            </a:r>
          </a:p>
        </p:txBody>
      </p:sp>
      <p:sp>
        <p:nvSpPr>
          <p:cNvPr id="41" name="Rounded Rectangle 40"/>
          <p:cNvSpPr/>
          <p:nvPr/>
        </p:nvSpPr>
        <p:spPr>
          <a:xfrm>
            <a:off x="3383280" y="3730752"/>
            <a:ext cx="27432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83280" y="3858768"/>
            <a:ext cx="2743200" cy="402336"/>
          </a:xfrm>
          <a:prstGeom prst="rect">
            <a:avLst/>
          </a:prstGeom>
          <a:noFill/>
        </p:spPr>
        <p:txBody>
          <a:bodyPr wrap="square">
            <a:spAutoFit/>
          </a:bodyPr>
          <a:lstStyle/>
          <a:p>
            <a:pPr algn="ctr"/>
            <a:r>
              <a:rPr sz="1700" b="1" i="0">
                <a:solidFill>
                  <a:srgbClr val="1E7A52"/>
                </a:solidFill>
                <a:latin typeface="Calibri"/>
              </a:rPr>
              <a:t>wins</a:t>
            </a:r>
          </a:p>
        </p:txBody>
      </p:sp>
      <p:sp>
        <p:nvSpPr>
          <p:cNvPr id="43" name="Rounded Rectangle 42"/>
          <p:cNvSpPr/>
          <p:nvPr/>
        </p:nvSpPr>
        <p:spPr>
          <a:xfrm>
            <a:off x="6309360" y="3730752"/>
            <a:ext cx="27432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3858768"/>
            <a:ext cx="2743200" cy="402336"/>
          </a:xfrm>
          <a:prstGeom prst="rect">
            <a:avLst/>
          </a:prstGeom>
          <a:noFill/>
        </p:spPr>
        <p:txBody>
          <a:bodyPr wrap="square">
            <a:spAutoFit/>
          </a:bodyPr>
          <a:lstStyle/>
          <a:p>
            <a:pPr algn="ctr"/>
            <a:r>
              <a:rPr sz="1700" b="1" i="0">
                <a:solidFill>
                  <a:srgbClr val="C8322B"/>
                </a:solidFill>
                <a:latin typeface="Calibri"/>
              </a:rPr>
              <a:t>won</a:t>
            </a:r>
          </a:p>
        </p:txBody>
      </p:sp>
      <p:sp>
        <p:nvSpPr>
          <p:cNvPr id="45" name="Rounded Rectangle 44"/>
          <p:cNvSpPr/>
          <p:nvPr/>
        </p:nvSpPr>
        <p:spPr>
          <a:xfrm>
            <a:off x="9235440" y="3730752"/>
            <a:ext cx="25146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35440" y="3858768"/>
            <a:ext cx="2514600" cy="402336"/>
          </a:xfrm>
          <a:prstGeom prst="rect">
            <a:avLst/>
          </a:prstGeom>
          <a:noFill/>
        </p:spPr>
        <p:txBody>
          <a:bodyPr wrap="square">
            <a:spAutoFit/>
          </a:bodyPr>
          <a:lstStyle/>
          <a:p>
            <a:pPr algn="ctr"/>
            <a:r>
              <a:rPr sz="1700" b="1" i="0">
                <a:solidFill>
                  <a:srgbClr val="1B5E9E"/>
                </a:solidFill>
                <a:latin typeface="Calibri"/>
              </a:rPr>
              <a:t>will win</a:t>
            </a:r>
          </a:p>
        </p:txBody>
      </p:sp>
      <p:sp>
        <p:nvSpPr>
          <p:cNvPr id="47" name="Rounded Rectangle 46"/>
          <p:cNvSpPr/>
          <p:nvPr/>
        </p:nvSpPr>
        <p:spPr>
          <a:xfrm>
            <a:off x="457200" y="4443983"/>
            <a:ext cx="2743200" cy="62179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571999"/>
            <a:ext cx="2743200" cy="402336"/>
          </a:xfrm>
          <a:prstGeom prst="rect">
            <a:avLst/>
          </a:prstGeom>
          <a:noFill/>
        </p:spPr>
        <p:txBody>
          <a:bodyPr wrap="square">
            <a:spAutoFit/>
          </a:bodyPr>
          <a:lstStyle/>
          <a:p>
            <a:pPr algn="ctr"/>
            <a:r>
              <a:rPr sz="1700" b="1" i="0">
                <a:solidFill>
                  <a:srgbClr val="111418"/>
                </a:solidFill>
                <a:latin typeface="Calibri"/>
              </a:rPr>
              <a:t>write</a:t>
            </a:r>
          </a:p>
        </p:txBody>
      </p:sp>
      <p:sp>
        <p:nvSpPr>
          <p:cNvPr id="49" name="Rounded Rectangle 48"/>
          <p:cNvSpPr/>
          <p:nvPr/>
        </p:nvSpPr>
        <p:spPr>
          <a:xfrm>
            <a:off x="3383280" y="4443983"/>
            <a:ext cx="2743200" cy="62179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83280" y="4571999"/>
            <a:ext cx="2743200" cy="402336"/>
          </a:xfrm>
          <a:prstGeom prst="rect">
            <a:avLst/>
          </a:prstGeom>
          <a:noFill/>
        </p:spPr>
        <p:txBody>
          <a:bodyPr wrap="square">
            <a:spAutoFit/>
          </a:bodyPr>
          <a:lstStyle/>
          <a:p>
            <a:pPr algn="ctr"/>
            <a:r>
              <a:rPr sz="1700" b="1" i="0">
                <a:solidFill>
                  <a:srgbClr val="1E7A52"/>
                </a:solidFill>
                <a:latin typeface="Calibri"/>
              </a:rPr>
              <a:t>writes</a:t>
            </a:r>
          </a:p>
        </p:txBody>
      </p:sp>
      <p:sp>
        <p:nvSpPr>
          <p:cNvPr id="51" name="Rounded Rectangle 50"/>
          <p:cNvSpPr/>
          <p:nvPr/>
        </p:nvSpPr>
        <p:spPr>
          <a:xfrm>
            <a:off x="6309360" y="4443983"/>
            <a:ext cx="2743200" cy="62179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09360" y="4571999"/>
            <a:ext cx="2743200" cy="402336"/>
          </a:xfrm>
          <a:prstGeom prst="rect">
            <a:avLst/>
          </a:prstGeom>
          <a:noFill/>
        </p:spPr>
        <p:txBody>
          <a:bodyPr wrap="square">
            <a:spAutoFit/>
          </a:bodyPr>
          <a:lstStyle/>
          <a:p>
            <a:pPr algn="ctr"/>
            <a:r>
              <a:rPr sz="1700" b="1" i="0">
                <a:solidFill>
                  <a:srgbClr val="C8322B"/>
                </a:solidFill>
                <a:latin typeface="Calibri"/>
              </a:rPr>
              <a:t>wrote</a:t>
            </a:r>
          </a:p>
        </p:txBody>
      </p:sp>
      <p:sp>
        <p:nvSpPr>
          <p:cNvPr id="53" name="Rounded Rectangle 52"/>
          <p:cNvSpPr/>
          <p:nvPr/>
        </p:nvSpPr>
        <p:spPr>
          <a:xfrm>
            <a:off x="9235440" y="4443983"/>
            <a:ext cx="2514600" cy="62179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35440" y="4571999"/>
            <a:ext cx="2514600" cy="402336"/>
          </a:xfrm>
          <a:prstGeom prst="rect">
            <a:avLst/>
          </a:prstGeom>
          <a:noFill/>
        </p:spPr>
        <p:txBody>
          <a:bodyPr wrap="square">
            <a:spAutoFit/>
          </a:bodyPr>
          <a:lstStyle/>
          <a:p>
            <a:pPr algn="ctr"/>
            <a:r>
              <a:rPr sz="1700" b="1" i="0">
                <a:solidFill>
                  <a:srgbClr val="1B5E9E"/>
                </a:solidFill>
                <a:latin typeface="Calibri"/>
              </a:rPr>
              <a:t>will write</a:t>
            </a:r>
          </a:p>
        </p:txBody>
      </p:sp>
      <p:sp>
        <p:nvSpPr>
          <p:cNvPr id="55" name="Rounded Rectangle 54"/>
          <p:cNvSpPr/>
          <p:nvPr/>
        </p:nvSpPr>
        <p:spPr>
          <a:xfrm>
            <a:off x="457200" y="5157216"/>
            <a:ext cx="27432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5285232"/>
            <a:ext cx="2743200" cy="402336"/>
          </a:xfrm>
          <a:prstGeom prst="rect">
            <a:avLst/>
          </a:prstGeom>
          <a:noFill/>
        </p:spPr>
        <p:txBody>
          <a:bodyPr wrap="square">
            <a:spAutoFit/>
          </a:bodyPr>
          <a:lstStyle/>
          <a:p>
            <a:pPr algn="ctr"/>
            <a:r>
              <a:rPr sz="1700" b="1" i="0">
                <a:solidFill>
                  <a:srgbClr val="111418"/>
                </a:solidFill>
                <a:latin typeface="Calibri"/>
              </a:rPr>
              <a:t>discover</a:t>
            </a:r>
          </a:p>
        </p:txBody>
      </p:sp>
      <p:sp>
        <p:nvSpPr>
          <p:cNvPr id="57" name="Rounded Rectangle 56"/>
          <p:cNvSpPr/>
          <p:nvPr/>
        </p:nvSpPr>
        <p:spPr>
          <a:xfrm>
            <a:off x="3383280" y="5157216"/>
            <a:ext cx="27432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383280" y="5285232"/>
            <a:ext cx="2743200" cy="402336"/>
          </a:xfrm>
          <a:prstGeom prst="rect">
            <a:avLst/>
          </a:prstGeom>
          <a:noFill/>
        </p:spPr>
        <p:txBody>
          <a:bodyPr wrap="square">
            <a:spAutoFit/>
          </a:bodyPr>
          <a:lstStyle/>
          <a:p>
            <a:pPr algn="ctr"/>
            <a:r>
              <a:rPr sz="1700" b="1" i="0">
                <a:solidFill>
                  <a:srgbClr val="1E7A52"/>
                </a:solidFill>
                <a:latin typeface="Calibri"/>
              </a:rPr>
              <a:t>discovers</a:t>
            </a:r>
          </a:p>
        </p:txBody>
      </p:sp>
      <p:sp>
        <p:nvSpPr>
          <p:cNvPr id="59" name="Rounded Rectangle 58"/>
          <p:cNvSpPr/>
          <p:nvPr/>
        </p:nvSpPr>
        <p:spPr>
          <a:xfrm>
            <a:off x="6309360" y="5157216"/>
            <a:ext cx="27432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09360" y="5285232"/>
            <a:ext cx="2743200" cy="402336"/>
          </a:xfrm>
          <a:prstGeom prst="rect">
            <a:avLst/>
          </a:prstGeom>
          <a:noFill/>
        </p:spPr>
        <p:txBody>
          <a:bodyPr wrap="square">
            <a:spAutoFit/>
          </a:bodyPr>
          <a:lstStyle/>
          <a:p>
            <a:pPr algn="ctr"/>
            <a:r>
              <a:rPr sz="1700" b="1" i="0">
                <a:solidFill>
                  <a:srgbClr val="C8322B"/>
                </a:solidFill>
                <a:latin typeface="Calibri"/>
              </a:rPr>
              <a:t>discovered</a:t>
            </a:r>
          </a:p>
        </p:txBody>
      </p:sp>
      <p:sp>
        <p:nvSpPr>
          <p:cNvPr id="61" name="Rounded Rectangle 60"/>
          <p:cNvSpPr/>
          <p:nvPr/>
        </p:nvSpPr>
        <p:spPr>
          <a:xfrm>
            <a:off x="9235440" y="5157216"/>
            <a:ext cx="251460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35440" y="5285232"/>
            <a:ext cx="2514600" cy="402336"/>
          </a:xfrm>
          <a:prstGeom prst="rect">
            <a:avLst/>
          </a:prstGeom>
          <a:noFill/>
        </p:spPr>
        <p:txBody>
          <a:bodyPr wrap="square">
            <a:spAutoFit/>
          </a:bodyPr>
          <a:lstStyle/>
          <a:p>
            <a:pPr algn="ctr"/>
            <a:r>
              <a:rPr sz="1700" b="1" i="0">
                <a:solidFill>
                  <a:srgbClr val="1B5E9E"/>
                </a:solidFill>
                <a:latin typeface="Calibri"/>
              </a:rPr>
              <a:t>will discover</a:t>
            </a:r>
          </a:p>
        </p:txBody>
      </p:sp>
      <p:sp>
        <p:nvSpPr>
          <p:cNvPr id="63" name="Rounded Rectangle 62"/>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65" name="TextBox 64"/>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WIN → WON breaks the -ed rule. Flag it now so it is not a shock.</a:t>
            </a:r>
          </a:p>
        </p:txBody>
      </p:sp>
    </p:spTree>
  </p:cSld>
  <p:clrMapOvr>
    <a:masterClrMapping/>
  </p:clrMapOvr>
  <p:transition spd="med"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49–59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Game: Time Machine Reporter</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6595507"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49–59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33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B5E9E"/>
                </a:solidFill>
                <a:latin typeface="Calibri"/>
              </a:rPr>
              <a:t>Read the sentence. Name the tense. Twenty seconds each.</a:t>
            </a:r>
          </a:p>
        </p:txBody>
      </p:sp>
      <p:sp>
        <p:nvSpPr>
          <p:cNvPr id="15" name="Rounded Rectangle 14"/>
          <p:cNvSpPr/>
          <p:nvPr/>
        </p:nvSpPr>
        <p:spPr>
          <a:xfrm>
            <a:off x="457200" y="166420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1810512"/>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865376"/>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248716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2633472"/>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688336"/>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457200" y="331012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3456432"/>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511296"/>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24" name="Rounded Rectangle 23"/>
          <p:cNvSpPr/>
          <p:nvPr/>
        </p:nvSpPr>
        <p:spPr>
          <a:xfrm>
            <a:off x="457200" y="413308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5800" y="4279392"/>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334256"/>
            <a:ext cx="438912" cy="347472"/>
          </a:xfrm>
          <a:prstGeom prst="rect">
            <a:avLst/>
          </a:prstGeom>
          <a:noFill/>
        </p:spPr>
        <p:txBody>
          <a:bodyPr wrap="square">
            <a:spAutoFit/>
          </a:bodyPr>
          <a:lstStyle/>
          <a:p>
            <a:pPr algn="ctr"/>
            <a:r>
              <a:rPr sz="1200" b="1" i="0">
                <a:solidFill>
                  <a:srgbClr val="FFFFFF"/>
                </a:solidFill>
                <a:latin typeface="Calibri"/>
              </a:rPr>
              <a:t>4</a:t>
            </a:r>
          </a:p>
        </p:txBody>
      </p:sp>
      <p:sp>
        <p:nvSpPr>
          <p:cNvPr id="27" name="Rounded Rectangle 26"/>
          <p:cNvSpPr/>
          <p:nvPr/>
        </p:nvSpPr>
        <p:spPr>
          <a:xfrm>
            <a:off x="457200" y="495604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5800" y="5102352"/>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157216"/>
            <a:ext cx="438912" cy="347472"/>
          </a:xfrm>
          <a:prstGeom prst="rect">
            <a:avLst/>
          </a:prstGeom>
          <a:noFill/>
        </p:spPr>
        <p:txBody>
          <a:bodyPr wrap="square">
            <a:spAutoFit/>
          </a:bodyPr>
          <a:lstStyle/>
          <a:p>
            <a:pPr algn="ctr"/>
            <a:r>
              <a:rPr sz="1200" b="1" i="0">
                <a:solidFill>
                  <a:srgbClr val="FFFFFF"/>
                </a:solidFill>
                <a:latin typeface="Calibri"/>
              </a:rPr>
              <a:t>5</a:t>
            </a:r>
          </a:p>
        </p:txBody>
      </p:sp>
      <p:sp>
        <p:nvSpPr>
          <p:cNvPr id="30" name="TextBox 29"/>
          <p:cNvSpPr txBox="1"/>
          <p:nvPr/>
        </p:nvSpPr>
        <p:spPr>
          <a:xfrm>
            <a:off x="1325880" y="1828800"/>
            <a:ext cx="4572000" cy="457200"/>
          </a:xfrm>
          <a:prstGeom prst="rect">
            <a:avLst/>
          </a:prstGeom>
          <a:noFill/>
        </p:spPr>
        <p:txBody>
          <a:bodyPr wrap="square">
            <a:spAutoFit/>
          </a:bodyPr>
          <a:lstStyle/>
          <a:p>
            <a:pPr algn="l"/>
            <a:r>
              <a:rPr sz="1600" b="1" i="0">
                <a:solidFill>
                  <a:srgbClr val="111418"/>
                </a:solidFill>
                <a:latin typeface="Calibri"/>
              </a:rPr>
              <a:t>The reporter interviews the teacher.</a:t>
            </a:r>
          </a:p>
        </p:txBody>
      </p:sp>
      <p:sp>
        <p:nvSpPr>
          <p:cNvPr id="31" name="Rounded Rectangle 30"/>
          <p:cNvSpPr/>
          <p:nvPr/>
        </p:nvSpPr>
        <p:spPr>
          <a:xfrm>
            <a:off x="5989320" y="180136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89320" y="1865376"/>
            <a:ext cx="1737360" cy="347472"/>
          </a:xfrm>
          <a:prstGeom prst="rect">
            <a:avLst/>
          </a:prstGeom>
          <a:noFill/>
        </p:spPr>
        <p:txBody>
          <a:bodyPr wrap="square">
            <a:spAutoFit/>
          </a:bodyPr>
          <a:lstStyle/>
          <a:p>
            <a:pPr algn="ctr"/>
            <a:r>
              <a:rPr sz="1400" b="1" i="0">
                <a:solidFill>
                  <a:srgbClr val="111418"/>
                </a:solidFill>
                <a:latin typeface="Calibri"/>
              </a:rPr>
              <a:t>PAST</a:t>
            </a:r>
          </a:p>
        </p:txBody>
      </p:sp>
      <p:sp>
        <p:nvSpPr>
          <p:cNvPr id="33" name="Rounded Rectangle 32"/>
          <p:cNvSpPr/>
          <p:nvPr/>
        </p:nvSpPr>
        <p:spPr>
          <a:xfrm>
            <a:off x="7863840" y="180136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1865376"/>
            <a:ext cx="1737360" cy="347472"/>
          </a:xfrm>
          <a:prstGeom prst="rect">
            <a:avLst/>
          </a:prstGeom>
          <a:noFill/>
        </p:spPr>
        <p:txBody>
          <a:bodyPr wrap="square">
            <a:spAutoFit/>
          </a:bodyPr>
          <a:lstStyle/>
          <a:p>
            <a:pPr algn="ctr"/>
            <a:r>
              <a:rPr sz="1400" b="1" i="0">
                <a:solidFill>
                  <a:srgbClr val="111418"/>
                </a:solidFill>
                <a:latin typeface="Calibri"/>
              </a:rPr>
              <a:t>PRESENT</a:t>
            </a:r>
          </a:p>
        </p:txBody>
      </p:sp>
      <p:sp>
        <p:nvSpPr>
          <p:cNvPr id="35" name="Rounded Rectangle 34"/>
          <p:cNvSpPr/>
          <p:nvPr/>
        </p:nvSpPr>
        <p:spPr>
          <a:xfrm>
            <a:off x="9738359" y="180136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59" y="1865376"/>
            <a:ext cx="1737360" cy="347472"/>
          </a:xfrm>
          <a:prstGeom prst="rect">
            <a:avLst/>
          </a:prstGeom>
          <a:noFill/>
        </p:spPr>
        <p:txBody>
          <a:bodyPr wrap="square">
            <a:spAutoFit/>
          </a:bodyPr>
          <a:lstStyle/>
          <a:p>
            <a:pPr algn="ctr"/>
            <a:r>
              <a:rPr sz="1400" b="1" i="0">
                <a:solidFill>
                  <a:srgbClr val="111418"/>
                </a:solidFill>
                <a:latin typeface="Calibri"/>
              </a:rPr>
              <a:t>FUTURE</a:t>
            </a:r>
          </a:p>
        </p:txBody>
      </p:sp>
      <p:sp>
        <p:nvSpPr>
          <p:cNvPr id="37" name="TextBox 36"/>
          <p:cNvSpPr txBox="1"/>
          <p:nvPr/>
        </p:nvSpPr>
        <p:spPr>
          <a:xfrm>
            <a:off x="1325880" y="2651760"/>
            <a:ext cx="4572000" cy="457200"/>
          </a:xfrm>
          <a:prstGeom prst="rect">
            <a:avLst/>
          </a:prstGeom>
          <a:noFill/>
        </p:spPr>
        <p:txBody>
          <a:bodyPr wrap="square">
            <a:spAutoFit/>
          </a:bodyPr>
          <a:lstStyle/>
          <a:p>
            <a:pPr algn="l"/>
            <a:r>
              <a:rPr sz="1600" b="1" i="0">
                <a:solidFill>
                  <a:srgbClr val="111418"/>
                </a:solidFill>
                <a:latin typeface="Calibri"/>
              </a:rPr>
              <a:t>The team won the game.</a:t>
            </a:r>
          </a:p>
        </p:txBody>
      </p:sp>
      <p:sp>
        <p:nvSpPr>
          <p:cNvPr id="38" name="Rounded Rectangle 37"/>
          <p:cNvSpPr/>
          <p:nvPr/>
        </p:nvSpPr>
        <p:spPr>
          <a:xfrm>
            <a:off x="5989320" y="262432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9320" y="2688336"/>
            <a:ext cx="1737360" cy="347472"/>
          </a:xfrm>
          <a:prstGeom prst="rect">
            <a:avLst/>
          </a:prstGeom>
          <a:noFill/>
        </p:spPr>
        <p:txBody>
          <a:bodyPr wrap="square">
            <a:spAutoFit/>
          </a:bodyPr>
          <a:lstStyle/>
          <a:p>
            <a:pPr algn="ctr"/>
            <a:r>
              <a:rPr sz="1400" b="1" i="0">
                <a:solidFill>
                  <a:srgbClr val="111418"/>
                </a:solidFill>
                <a:latin typeface="Calibri"/>
              </a:rPr>
              <a:t>PAST</a:t>
            </a:r>
          </a:p>
        </p:txBody>
      </p:sp>
      <p:sp>
        <p:nvSpPr>
          <p:cNvPr id="40" name="Rounded Rectangle 39"/>
          <p:cNvSpPr/>
          <p:nvPr/>
        </p:nvSpPr>
        <p:spPr>
          <a:xfrm>
            <a:off x="7863840" y="262432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0" y="2688336"/>
            <a:ext cx="1737360" cy="347472"/>
          </a:xfrm>
          <a:prstGeom prst="rect">
            <a:avLst/>
          </a:prstGeom>
          <a:noFill/>
        </p:spPr>
        <p:txBody>
          <a:bodyPr wrap="square">
            <a:spAutoFit/>
          </a:bodyPr>
          <a:lstStyle/>
          <a:p>
            <a:pPr algn="ctr"/>
            <a:r>
              <a:rPr sz="1400" b="1" i="0">
                <a:solidFill>
                  <a:srgbClr val="111418"/>
                </a:solidFill>
                <a:latin typeface="Calibri"/>
              </a:rPr>
              <a:t>PRESENT</a:t>
            </a:r>
          </a:p>
        </p:txBody>
      </p:sp>
      <p:sp>
        <p:nvSpPr>
          <p:cNvPr id="42" name="Rounded Rectangle 41"/>
          <p:cNvSpPr/>
          <p:nvPr/>
        </p:nvSpPr>
        <p:spPr>
          <a:xfrm>
            <a:off x="9738359" y="262432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38359" y="2688336"/>
            <a:ext cx="1737360" cy="347472"/>
          </a:xfrm>
          <a:prstGeom prst="rect">
            <a:avLst/>
          </a:prstGeom>
          <a:noFill/>
        </p:spPr>
        <p:txBody>
          <a:bodyPr wrap="square">
            <a:spAutoFit/>
          </a:bodyPr>
          <a:lstStyle/>
          <a:p>
            <a:pPr algn="ctr"/>
            <a:r>
              <a:rPr sz="1400" b="1" i="0">
                <a:solidFill>
                  <a:srgbClr val="111418"/>
                </a:solidFill>
                <a:latin typeface="Calibri"/>
              </a:rPr>
              <a:t>FUTURE</a:t>
            </a:r>
          </a:p>
        </p:txBody>
      </p:sp>
      <p:sp>
        <p:nvSpPr>
          <p:cNvPr id="44" name="TextBox 43"/>
          <p:cNvSpPr txBox="1"/>
          <p:nvPr/>
        </p:nvSpPr>
        <p:spPr>
          <a:xfrm>
            <a:off x="1325880" y="3474720"/>
            <a:ext cx="4572000" cy="457200"/>
          </a:xfrm>
          <a:prstGeom prst="rect">
            <a:avLst/>
          </a:prstGeom>
          <a:noFill/>
        </p:spPr>
        <p:txBody>
          <a:bodyPr wrap="square">
            <a:spAutoFit/>
          </a:bodyPr>
          <a:lstStyle/>
          <a:p>
            <a:pPr algn="l"/>
            <a:r>
              <a:rPr sz="1600" b="1" i="0">
                <a:solidFill>
                  <a:srgbClr val="111418"/>
                </a:solidFill>
                <a:latin typeface="Calibri"/>
              </a:rPr>
              <a:t>We will publish the paper on Friday.</a:t>
            </a:r>
          </a:p>
        </p:txBody>
      </p:sp>
      <p:sp>
        <p:nvSpPr>
          <p:cNvPr id="45" name="Rounded Rectangle 44"/>
          <p:cNvSpPr/>
          <p:nvPr/>
        </p:nvSpPr>
        <p:spPr>
          <a:xfrm>
            <a:off x="5989320" y="344728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89320" y="3511296"/>
            <a:ext cx="1737360" cy="347472"/>
          </a:xfrm>
          <a:prstGeom prst="rect">
            <a:avLst/>
          </a:prstGeom>
          <a:noFill/>
        </p:spPr>
        <p:txBody>
          <a:bodyPr wrap="square">
            <a:spAutoFit/>
          </a:bodyPr>
          <a:lstStyle/>
          <a:p>
            <a:pPr algn="ctr"/>
            <a:r>
              <a:rPr sz="1400" b="1" i="0">
                <a:solidFill>
                  <a:srgbClr val="111418"/>
                </a:solidFill>
                <a:latin typeface="Calibri"/>
              </a:rPr>
              <a:t>PAST</a:t>
            </a:r>
          </a:p>
        </p:txBody>
      </p:sp>
      <p:sp>
        <p:nvSpPr>
          <p:cNvPr id="47" name="Rounded Rectangle 46"/>
          <p:cNvSpPr/>
          <p:nvPr/>
        </p:nvSpPr>
        <p:spPr>
          <a:xfrm>
            <a:off x="7863840" y="344728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63840" y="3511296"/>
            <a:ext cx="1737360" cy="347472"/>
          </a:xfrm>
          <a:prstGeom prst="rect">
            <a:avLst/>
          </a:prstGeom>
          <a:noFill/>
        </p:spPr>
        <p:txBody>
          <a:bodyPr wrap="square">
            <a:spAutoFit/>
          </a:bodyPr>
          <a:lstStyle/>
          <a:p>
            <a:pPr algn="ctr"/>
            <a:r>
              <a:rPr sz="1400" b="1" i="0">
                <a:solidFill>
                  <a:srgbClr val="111418"/>
                </a:solidFill>
                <a:latin typeface="Calibri"/>
              </a:rPr>
              <a:t>PRESENT</a:t>
            </a:r>
          </a:p>
        </p:txBody>
      </p:sp>
      <p:sp>
        <p:nvSpPr>
          <p:cNvPr id="49" name="Rounded Rectangle 48"/>
          <p:cNvSpPr/>
          <p:nvPr/>
        </p:nvSpPr>
        <p:spPr>
          <a:xfrm>
            <a:off x="9738359" y="344728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59" y="3511296"/>
            <a:ext cx="1737360" cy="347472"/>
          </a:xfrm>
          <a:prstGeom prst="rect">
            <a:avLst/>
          </a:prstGeom>
          <a:noFill/>
        </p:spPr>
        <p:txBody>
          <a:bodyPr wrap="square">
            <a:spAutoFit/>
          </a:bodyPr>
          <a:lstStyle/>
          <a:p>
            <a:pPr algn="ctr"/>
            <a:r>
              <a:rPr sz="1400" b="1" i="0">
                <a:solidFill>
                  <a:srgbClr val="111418"/>
                </a:solidFill>
                <a:latin typeface="Calibri"/>
              </a:rPr>
              <a:t>FUTURE</a:t>
            </a:r>
          </a:p>
        </p:txBody>
      </p:sp>
      <p:sp>
        <p:nvSpPr>
          <p:cNvPr id="51" name="TextBox 50"/>
          <p:cNvSpPr txBox="1"/>
          <p:nvPr/>
        </p:nvSpPr>
        <p:spPr>
          <a:xfrm>
            <a:off x="1325880" y="4297680"/>
            <a:ext cx="4572000" cy="457200"/>
          </a:xfrm>
          <a:prstGeom prst="rect">
            <a:avLst/>
          </a:prstGeom>
          <a:noFill/>
        </p:spPr>
        <p:txBody>
          <a:bodyPr wrap="square">
            <a:spAutoFit/>
          </a:bodyPr>
          <a:lstStyle/>
          <a:p>
            <a:pPr algn="l"/>
            <a:r>
              <a:rPr sz="1600" b="1" i="0">
                <a:solidFill>
                  <a:srgbClr val="111418"/>
                </a:solidFill>
                <a:latin typeface="Calibri"/>
              </a:rPr>
              <a:t>Priya wrote three headlines.</a:t>
            </a:r>
          </a:p>
        </p:txBody>
      </p:sp>
      <p:sp>
        <p:nvSpPr>
          <p:cNvPr id="52" name="Rounded Rectangle 51"/>
          <p:cNvSpPr/>
          <p:nvPr/>
        </p:nvSpPr>
        <p:spPr>
          <a:xfrm>
            <a:off x="5989320" y="427024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89320" y="4334256"/>
            <a:ext cx="1737360" cy="347472"/>
          </a:xfrm>
          <a:prstGeom prst="rect">
            <a:avLst/>
          </a:prstGeom>
          <a:noFill/>
        </p:spPr>
        <p:txBody>
          <a:bodyPr wrap="square">
            <a:spAutoFit/>
          </a:bodyPr>
          <a:lstStyle/>
          <a:p>
            <a:pPr algn="ctr"/>
            <a:r>
              <a:rPr sz="1400" b="1" i="0">
                <a:solidFill>
                  <a:srgbClr val="111418"/>
                </a:solidFill>
                <a:latin typeface="Calibri"/>
              </a:rPr>
              <a:t>PAST</a:t>
            </a:r>
          </a:p>
        </p:txBody>
      </p:sp>
      <p:sp>
        <p:nvSpPr>
          <p:cNvPr id="54" name="Rounded Rectangle 53"/>
          <p:cNvSpPr/>
          <p:nvPr/>
        </p:nvSpPr>
        <p:spPr>
          <a:xfrm>
            <a:off x="7863840" y="427024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63840" y="4334256"/>
            <a:ext cx="1737360" cy="347472"/>
          </a:xfrm>
          <a:prstGeom prst="rect">
            <a:avLst/>
          </a:prstGeom>
          <a:noFill/>
        </p:spPr>
        <p:txBody>
          <a:bodyPr wrap="square">
            <a:spAutoFit/>
          </a:bodyPr>
          <a:lstStyle/>
          <a:p>
            <a:pPr algn="ctr"/>
            <a:r>
              <a:rPr sz="1400" b="1" i="0">
                <a:solidFill>
                  <a:srgbClr val="111418"/>
                </a:solidFill>
                <a:latin typeface="Calibri"/>
              </a:rPr>
              <a:t>PRESENT</a:t>
            </a:r>
          </a:p>
        </p:txBody>
      </p:sp>
      <p:sp>
        <p:nvSpPr>
          <p:cNvPr id="56" name="Rounded Rectangle 55"/>
          <p:cNvSpPr/>
          <p:nvPr/>
        </p:nvSpPr>
        <p:spPr>
          <a:xfrm>
            <a:off x="9738359" y="427024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738359" y="4334256"/>
            <a:ext cx="1737360" cy="347472"/>
          </a:xfrm>
          <a:prstGeom prst="rect">
            <a:avLst/>
          </a:prstGeom>
          <a:noFill/>
        </p:spPr>
        <p:txBody>
          <a:bodyPr wrap="square">
            <a:spAutoFit/>
          </a:bodyPr>
          <a:lstStyle/>
          <a:p>
            <a:pPr algn="ctr"/>
            <a:r>
              <a:rPr sz="1400" b="1" i="0">
                <a:solidFill>
                  <a:srgbClr val="111418"/>
                </a:solidFill>
                <a:latin typeface="Calibri"/>
              </a:rPr>
              <a:t>FUTURE</a:t>
            </a:r>
          </a:p>
        </p:txBody>
      </p:sp>
      <p:sp>
        <p:nvSpPr>
          <p:cNvPr id="58" name="TextBox 57"/>
          <p:cNvSpPr txBox="1"/>
          <p:nvPr/>
        </p:nvSpPr>
        <p:spPr>
          <a:xfrm>
            <a:off x="1325880" y="5120640"/>
            <a:ext cx="4572000" cy="457200"/>
          </a:xfrm>
          <a:prstGeom prst="rect">
            <a:avLst/>
          </a:prstGeom>
          <a:noFill/>
        </p:spPr>
        <p:txBody>
          <a:bodyPr wrap="square">
            <a:spAutoFit/>
          </a:bodyPr>
          <a:lstStyle/>
          <a:p>
            <a:pPr algn="l"/>
            <a:r>
              <a:rPr sz="1600" b="1" i="0">
                <a:solidFill>
                  <a:srgbClr val="111418"/>
                </a:solidFill>
                <a:latin typeface="Calibri"/>
              </a:rPr>
              <a:t>The students celebrate every Friday.</a:t>
            </a:r>
          </a:p>
        </p:txBody>
      </p:sp>
      <p:sp>
        <p:nvSpPr>
          <p:cNvPr id="59" name="Rounded Rectangle 58"/>
          <p:cNvSpPr/>
          <p:nvPr/>
        </p:nvSpPr>
        <p:spPr>
          <a:xfrm>
            <a:off x="5989320" y="509320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89320" y="5157216"/>
            <a:ext cx="1737360" cy="347472"/>
          </a:xfrm>
          <a:prstGeom prst="rect">
            <a:avLst/>
          </a:prstGeom>
          <a:noFill/>
        </p:spPr>
        <p:txBody>
          <a:bodyPr wrap="square">
            <a:spAutoFit/>
          </a:bodyPr>
          <a:lstStyle/>
          <a:p>
            <a:pPr algn="ctr"/>
            <a:r>
              <a:rPr sz="1400" b="1" i="0">
                <a:solidFill>
                  <a:srgbClr val="111418"/>
                </a:solidFill>
                <a:latin typeface="Calibri"/>
              </a:rPr>
              <a:t>PAST</a:t>
            </a:r>
          </a:p>
        </p:txBody>
      </p:sp>
      <p:sp>
        <p:nvSpPr>
          <p:cNvPr id="61" name="Rounded Rectangle 60"/>
          <p:cNvSpPr/>
          <p:nvPr/>
        </p:nvSpPr>
        <p:spPr>
          <a:xfrm>
            <a:off x="7863840" y="509320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63840" y="5157216"/>
            <a:ext cx="1737360" cy="347472"/>
          </a:xfrm>
          <a:prstGeom prst="rect">
            <a:avLst/>
          </a:prstGeom>
          <a:noFill/>
        </p:spPr>
        <p:txBody>
          <a:bodyPr wrap="square">
            <a:spAutoFit/>
          </a:bodyPr>
          <a:lstStyle/>
          <a:p>
            <a:pPr algn="ctr"/>
            <a:r>
              <a:rPr sz="1400" b="1" i="0">
                <a:solidFill>
                  <a:srgbClr val="111418"/>
                </a:solidFill>
                <a:latin typeface="Calibri"/>
              </a:rPr>
              <a:t>PRESENT</a:t>
            </a:r>
          </a:p>
        </p:txBody>
      </p:sp>
      <p:sp>
        <p:nvSpPr>
          <p:cNvPr id="63" name="Rounded Rectangle 62"/>
          <p:cNvSpPr/>
          <p:nvPr/>
        </p:nvSpPr>
        <p:spPr>
          <a:xfrm>
            <a:off x="9738359" y="5093208"/>
            <a:ext cx="173736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738359" y="5157216"/>
            <a:ext cx="1737360" cy="347472"/>
          </a:xfrm>
          <a:prstGeom prst="rect">
            <a:avLst/>
          </a:prstGeom>
          <a:noFill/>
        </p:spPr>
        <p:txBody>
          <a:bodyPr wrap="square">
            <a:spAutoFit/>
          </a:bodyPr>
          <a:lstStyle/>
          <a:p>
            <a:pPr algn="ctr"/>
            <a:r>
              <a:rPr sz="1400" b="1" i="0">
                <a:solidFill>
                  <a:srgbClr val="111418"/>
                </a:solidFill>
                <a:latin typeface="Calibri"/>
              </a:rPr>
              <a:t>FUTURE</a:t>
            </a:r>
          </a:p>
        </p:txBody>
      </p:sp>
      <p:sp>
        <p:nvSpPr>
          <p:cNvPr id="65" name="Rounded Rectangle 64"/>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67" name="TextBox 66"/>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Hunt for a time word first: yesterday, every Friday, on Friday.</a:t>
            </a:r>
          </a:p>
        </p:txBody>
      </p:sp>
    </p:spTree>
  </p:cSld>
  <p:clrMapOvr>
    <a:masterClrMapping/>
  </p:clrMapOvr>
  <p:transition spd="med"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49–59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Time Machine — Now Change It</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6795370"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49–59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34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E7A52"/>
                </a:solidFill>
                <a:latin typeface="Calibri"/>
              </a:rPr>
              <a:t>I give you NOW. You give me PAST and FUTURE.</a:t>
            </a:r>
          </a:p>
        </p:txBody>
      </p:sp>
      <p:sp>
        <p:nvSpPr>
          <p:cNvPr id="15" name="Rounded Rectangle 14"/>
          <p:cNvSpPr/>
          <p:nvPr/>
        </p:nvSpPr>
        <p:spPr>
          <a:xfrm>
            <a:off x="457200" y="1691640"/>
            <a:ext cx="112928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112263"/>
            <a:ext cx="438912" cy="438912"/>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67128"/>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3108960"/>
            <a:ext cx="112928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3529583"/>
            <a:ext cx="438912" cy="438912"/>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84448"/>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457200" y="4526280"/>
            <a:ext cx="112928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4946903"/>
            <a:ext cx="438912" cy="438912"/>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01768"/>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24" name="Rounded Rectangle 23"/>
          <p:cNvSpPr/>
          <p:nvPr/>
        </p:nvSpPr>
        <p:spPr>
          <a:xfrm>
            <a:off x="1325880" y="1856232"/>
            <a:ext cx="10012680" cy="475488"/>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54480" y="1920240"/>
            <a:ext cx="9601200" cy="365760"/>
          </a:xfrm>
          <a:prstGeom prst="rect">
            <a:avLst/>
          </a:prstGeom>
          <a:noFill/>
        </p:spPr>
        <p:txBody>
          <a:bodyPr wrap="square">
            <a:spAutoFit/>
          </a:bodyPr>
          <a:lstStyle/>
          <a:p>
            <a:pPr algn="l"/>
            <a:r>
              <a:rPr sz="1600" b="1" i="0">
                <a:solidFill>
                  <a:srgbClr val="1E7A52"/>
                </a:solidFill>
                <a:latin typeface="Calibri"/>
              </a:rPr>
              <a:t>NOW:   The team wins the game.</a:t>
            </a:r>
          </a:p>
        </p:txBody>
      </p:sp>
      <p:sp>
        <p:nvSpPr>
          <p:cNvPr id="26" name="Rounded Rectangle 25"/>
          <p:cNvSpPr/>
          <p:nvPr/>
        </p:nvSpPr>
        <p:spPr>
          <a:xfrm>
            <a:off x="1325880" y="2423160"/>
            <a:ext cx="4937760" cy="4206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2487168"/>
            <a:ext cx="4572000" cy="329184"/>
          </a:xfrm>
          <a:prstGeom prst="rect">
            <a:avLst/>
          </a:prstGeom>
          <a:noFill/>
        </p:spPr>
        <p:txBody>
          <a:bodyPr wrap="square">
            <a:spAutoFit/>
          </a:bodyPr>
          <a:lstStyle/>
          <a:p>
            <a:pPr algn="l"/>
            <a:r>
              <a:rPr sz="1200" b="0" i="0">
                <a:solidFill>
                  <a:srgbClr val="78828E"/>
                </a:solidFill>
                <a:latin typeface="Calibri"/>
              </a:rPr>
              <a:t>PAST:  ___________________________</a:t>
            </a:r>
          </a:p>
        </p:txBody>
      </p:sp>
      <p:sp>
        <p:nvSpPr>
          <p:cNvPr id="28" name="Rounded Rectangle 27"/>
          <p:cNvSpPr/>
          <p:nvPr/>
        </p:nvSpPr>
        <p:spPr>
          <a:xfrm>
            <a:off x="6400800" y="2423160"/>
            <a:ext cx="4937760" cy="4206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2487168"/>
            <a:ext cx="4572000" cy="329184"/>
          </a:xfrm>
          <a:prstGeom prst="rect">
            <a:avLst/>
          </a:prstGeom>
          <a:noFill/>
        </p:spPr>
        <p:txBody>
          <a:bodyPr wrap="square">
            <a:spAutoFit/>
          </a:bodyPr>
          <a:lstStyle/>
          <a:p>
            <a:pPr algn="l"/>
            <a:r>
              <a:rPr sz="1200" b="0" i="0">
                <a:solidFill>
                  <a:srgbClr val="78828E"/>
                </a:solidFill>
                <a:latin typeface="Calibri"/>
              </a:rPr>
              <a:t>FUTURE:  ___________________________</a:t>
            </a:r>
          </a:p>
        </p:txBody>
      </p:sp>
      <p:sp>
        <p:nvSpPr>
          <p:cNvPr id="30" name="Rounded Rectangle 29"/>
          <p:cNvSpPr/>
          <p:nvPr/>
        </p:nvSpPr>
        <p:spPr>
          <a:xfrm>
            <a:off x="1325880" y="3273552"/>
            <a:ext cx="10012680" cy="475488"/>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54480" y="3337560"/>
            <a:ext cx="9601200" cy="365760"/>
          </a:xfrm>
          <a:prstGeom prst="rect">
            <a:avLst/>
          </a:prstGeom>
          <a:noFill/>
        </p:spPr>
        <p:txBody>
          <a:bodyPr wrap="square">
            <a:spAutoFit/>
          </a:bodyPr>
          <a:lstStyle/>
          <a:p>
            <a:pPr algn="l"/>
            <a:r>
              <a:rPr sz="1600" b="1" i="0">
                <a:solidFill>
                  <a:srgbClr val="1E7A52"/>
                </a:solidFill>
                <a:latin typeface="Calibri"/>
              </a:rPr>
              <a:t>NOW:   The reporter asks a question.</a:t>
            </a:r>
          </a:p>
        </p:txBody>
      </p:sp>
      <p:sp>
        <p:nvSpPr>
          <p:cNvPr id="32" name="Rounded Rectangle 31"/>
          <p:cNvSpPr/>
          <p:nvPr/>
        </p:nvSpPr>
        <p:spPr>
          <a:xfrm>
            <a:off x="1325880" y="3840480"/>
            <a:ext cx="4937760" cy="4206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08760" y="3904488"/>
            <a:ext cx="4572000" cy="329184"/>
          </a:xfrm>
          <a:prstGeom prst="rect">
            <a:avLst/>
          </a:prstGeom>
          <a:noFill/>
        </p:spPr>
        <p:txBody>
          <a:bodyPr wrap="square">
            <a:spAutoFit/>
          </a:bodyPr>
          <a:lstStyle/>
          <a:p>
            <a:pPr algn="l"/>
            <a:r>
              <a:rPr sz="1200" b="0" i="0">
                <a:solidFill>
                  <a:srgbClr val="78828E"/>
                </a:solidFill>
                <a:latin typeface="Calibri"/>
              </a:rPr>
              <a:t>PAST:  ___________________________</a:t>
            </a:r>
          </a:p>
        </p:txBody>
      </p:sp>
      <p:sp>
        <p:nvSpPr>
          <p:cNvPr id="34" name="Rounded Rectangle 33"/>
          <p:cNvSpPr/>
          <p:nvPr/>
        </p:nvSpPr>
        <p:spPr>
          <a:xfrm>
            <a:off x="6400800" y="3840480"/>
            <a:ext cx="4937760" cy="4206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3904488"/>
            <a:ext cx="4572000" cy="329184"/>
          </a:xfrm>
          <a:prstGeom prst="rect">
            <a:avLst/>
          </a:prstGeom>
          <a:noFill/>
        </p:spPr>
        <p:txBody>
          <a:bodyPr wrap="square">
            <a:spAutoFit/>
          </a:bodyPr>
          <a:lstStyle/>
          <a:p>
            <a:pPr algn="l"/>
            <a:r>
              <a:rPr sz="1200" b="0" i="0">
                <a:solidFill>
                  <a:srgbClr val="78828E"/>
                </a:solidFill>
                <a:latin typeface="Calibri"/>
              </a:rPr>
              <a:t>FUTURE:  ___________________________</a:t>
            </a:r>
          </a:p>
        </p:txBody>
      </p:sp>
      <p:sp>
        <p:nvSpPr>
          <p:cNvPr id="36" name="Rounded Rectangle 35"/>
          <p:cNvSpPr/>
          <p:nvPr/>
        </p:nvSpPr>
        <p:spPr>
          <a:xfrm>
            <a:off x="1325880" y="4690872"/>
            <a:ext cx="10012680" cy="475488"/>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54480" y="4754880"/>
            <a:ext cx="9601200" cy="365760"/>
          </a:xfrm>
          <a:prstGeom prst="rect">
            <a:avLst/>
          </a:prstGeom>
          <a:noFill/>
        </p:spPr>
        <p:txBody>
          <a:bodyPr wrap="square">
            <a:spAutoFit/>
          </a:bodyPr>
          <a:lstStyle/>
          <a:p>
            <a:pPr algn="l"/>
            <a:r>
              <a:rPr sz="1600" b="1" i="0">
                <a:solidFill>
                  <a:srgbClr val="1E7A52"/>
                </a:solidFill>
                <a:latin typeface="Calibri"/>
              </a:rPr>
              <a:t>NOW:   We plant beans.</a:t>
            </a:r>
          </a:p>
        </p:txBody>
      </p:sp>
      <p:sp>
        <p:nvSpPr>
          <p:cNvPr id="38" name="Rounded Rectangle 37"/>
          <p:cNvSpPr/>
          <p:nvPr/>
        </p:nvSpPr>
        <p:spPr>
          <a:xfrm>
            <a:off x="1325880" y="5257800"/>
            <a:ext cx="4937760" cy="4206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08760" y="5321808"/>
            <a:ext cx="4572000" cy="329184"/>
          </a:xfrm>
          <a:prstGeom prst="rect">
            <a:avLst/>
          </a:prstGeom>
          <a:noFill/>
        </p:spPr>
        <p:txBody>
          <a:bodyPr wrap="square">
            <a:spAutoFit/>
          </a:bodyPr>
          <a:lstStyle/>
          <a:p>
            <a:pPr algn="l"/>
            <a:r>
              <a:rPr sz="1200" b="0" i="0">
                <a:solidFill>
                  <a:srgbClr val="78828E"/>
                </a:solidFill>
                <a:latin typeface="Calibri"/>
              </a:rPr>
              <a:t>PAST:  ___________________________</a:t>
            </a:r>
          </a:p>
        </p:txBody>
      </p:sp>
      <p:sp>
        <p:nvSpPr>
          <p:cNvPr id="40" name="Rounded Rectangle 39"/>
          <p:cNvSpPr/>
          <p:nvPr/>
        </p:nvSpPr>
        <p:spPr>
          <a:xfrm>
            <a:off x="6400800" y="5257800"/>
            <a:ext cx="4937760" cy="4206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5321808"/>
            <a:ext cx="4572000" cy="329184"/>
          </a:xfrm>
          <a:prstGeom prst="rect">
            <a:avLst/>
          </a:prstGeom>
          <a:noFill/>
        </p:spPr>
        <p:txBody>
          <a:bodyPr wrap="square">
            <a:spAutoFit/>
          </a:bodyPr>
          <a:lstStyle/>
          <a:p>
            <a:pPr algn="l"/>
            <a:r>
              <a:rPr sz="1200" b="0" i="0">
                <a:solidFill>
                  <a:srgbClr val="78828E"/>
                </a:solidFill>
                <a:latin typeface="Calibri"/>
              </a:rPr>
              <a:t>FUTURE:  ___________________________</a:t>
            </a:r>
          </a:p>
        </p:txBody>
      </p:sp>
      <p:sp>
        <p:nvSpPr>
          <p:cNvPr id="42" name="Rounded Rectangle 41"/>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4" name="TextBox 43"/>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Say the time word out loud first: "yesterday, the team..."</a:t>
            </a:r>
          </a:p>
        </p:txBody>
      </p:sp>
    </p:spTree>
  </p:cSld>
  <p:clrMapOvr>
    <a:masterClrMapping/>
  </p:clrMapOvr>
  <p:transition spd="med"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BONUS</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49–59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Time Machine Challenge — Tricky Verbs</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6995234"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49–59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35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6A4A9E"/>
                </a:solidFill>
                <a:latin typeface="Calibri"/>
              </a:rPr>
              <a:t>These three do not take -ed. You have to know them.</a:t>
            </a:r>
          </a:p>
        </p:txBody>
      </p:sp>
      <p:sp>
        <p:nvSpPr>
          <p:cNvPr id="15" name="Rounded Rectangle 14"/>
          <p:cNvSpPr/>
          <p:nvPr/>
        </p:nvSpPr>
        <p:spPr>
          <a:xfrm>
            <a:off x="457200" y="1737360"/>
            <a:ext cx="11292840" cy="122529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1920240"/>
            <a:ext cx="214884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1975104"/>
            <a:ext cx="2148840" cy="256032"/>
          </a:xfrm>
          <a:prstGeom prst="rect">
            <a:avLst/>
          </a:prstGeom>
          <a:noFill/>
        </p:spPr>
        <p:txBody>
          <a:bodyPr wrap="square">
            <a:spAutoFit/>
          </a:bodyPr>
          <a:lstStyle/>
          <a:p>
            <a:pPr algn="ctr"/>
            <a:r>
              <a:rPr sz="900" b="1" i="0">
                <a:solidFill>
                  <a:srgbClr val="78828E"/>
                </a:solidFill>
                <a:latin typeface="Calibri"/>
              </a:rPr>
              <a:t>NOW</a:t>
            </a:r>
          </a:p>
        </p:txBody>
      </p:sp>
      <p:sp>
        <p:nvSpPr>
          <p:cNvPr id="18" name="TextBox 17"/>
          <p:cNvSpPr txBox="1"/>
          <p:nvPr/>
        </p:nvSpPr>
        <p:spPr>
          <a:xfrm>
            <a:off x="777240" y="2240280"/>
            <a:ext cx="2148840" cy="384048"/>
          </a:xfrm>
          <a:prstGeom prst="rect">
            <a:avLst/>
          </a:prstGeom>
          <a:noFill/>
        </p:spPr>
        <p:txBody>
          <a:bodyPr wrap="square">
            <a:spAutoFit/>
          </a:bodyPr>
          <a:lstStyle/>
          <a:p>
            <a:pPr algn="ctr"/>
            <a:r>
              <a:rPr sz="1700" b="1" i="0">
                <a:solidFill>
                  <a:srgbClr val="1E7A52"/>
                </a:solidFill>
                <a:latin typeface="Calibri"/>
              </a:rPr>
              <a:t>grow</a:t>
            </a:r>
          </a:p>
        </p:txBody>
      </p:sp>
      <p:sp>
        <p:nvSpPr>
          <p:cNvPr id="19" name="Rounded Rectangle 18"/>
          <p:cNvSpPr/>
          <p:nvPr/>
        </p:nvSpPr>
        <p:spPr>
          <a:xfrm>
            <a:off x="3154680" y="1920240"/>
            <a:ext cx="214884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54680" y="1975104"/>
            <a:ext cx="2148840" cy="256032"/>
          </a:xfrm>
          <a:prstGeom prst="rect">
            <a:avLst/>
          </a:prstGeom>
          <a:noFill/>
        </p:spPr>
        <p:txBody>
          <a:bodyPr wrap="square">
            <a:spAutoFit/>
          </a:bodyPr>
          <a:lstStyle/>
          <a:p>
            <a:pPr algn="ctr"/>
            <a:r>
              <a:rPr sz="900" b="1" i="0">
                <a:solidFill>
                  <a:srgbClr val="78828E"/>
                </a:solidFill>
                <a:latin typeface="Calibri"/>
              </a:rPr>
              <a:t>PAST</a:t>
            </a:r>
          </a:p>
        </p:txBody>
      </p:sp>
      <p:sp>
        <p:nvSpPr>
          <p:cNvPr id="21" name="TextBox 20"/>
          <p:cNvSpPr txBox="1"/>
          <p:nvPr/>
        </p:nvSpPr>
        <p:spPr>
          <a:xfrm>
            <a:off x="3154680" y="2240280"/>
            <a:ext cx="2148840" cy="384048"/>
          </a:xfrm>
          <a:prstGeom prst="rect">
            <a:avLst/>
          </a:prstGeom>
          <a:noFill/>
        </p:spPr>
        <p:txBody>
          <a:bodyPr wrap="square">
            <a:spAutoFit/>
          </a:bodyPr>
          <a:lstStyle/>
          <a:p>
            <a:pPr algn="ctr"/>
            <a:r>
              <a:rPr sz="1700" b="1" i="0">
                <a:solidFill>
                  <a:srgbClr val="C8322B"/>
                </a:solidFill>
                <a:latin typeface="Calibri"/>
              </a:rPr>
              <a:t>grew</a:t>
            </a:r>
          </a:p>
        </p:txBody>
      </p:sp>
      <p:sp>
        <p:nvSpPr>
          <p:cNvPr id="22" name="Rounded Rectangle 21"/>
          <p:cNvSpPr/>
          <p:nvPr/>
        </p:nvSpPr>
        <p:spPr>
          <a:xfrm>
            <a:off x="5532120" y="1920240"/>
            <a:ext cx="214884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2120" y="1975104"/>
            <a:ext cx="2148840" cy="256032"/>
          </a:xfrm>
          <a:prstGeom prst="rect">
            <a:avLst/>
          </a:prstGeom>
          <a:noFill/>
        </p:spPr>
        <p:txBody>
          <a:bodyPr wrap="square">
            <a:spAutoFit/>
          </a:bodyPr>
          <a:lstStyle/>
          <a:p>
            <a:pPr algn="ctr"/>
            <a:r>
              <a:rPr sz="900" b="1" i="0">
                <a:solidFill>
                  <a:srgbClr val="78828E"/>
                </a:solidFill>
                <a:latin typeface="Calibri"/>
              </a:rPr>
              <a:t>FUTURE</a:t>
            </a:r>
          </a:p>
        </p:txBody>
      </p:sp>
      <p:sp>
        <p:nvSpPr>
          <p:cNvPr id="24" name="TextBox 23"/>
          <p:cNvSpPr txBox="1"/>
          <p:nvPr/>
        </p:nvSpPr>
        <p:spPr>
          <a:xfrm>
            <a:off x="5532120" y="2240280"/>
            <a:ext cx="2148840" cy="384048"/>
          </a:xfrm>
          <a:prstGeom prst="rect">
            <a:avLst/>
          </a:prstGeom>
          <a:noFill/>
        </p:spPr>
        <p:txBody>
          <a:bodyPr wrap="square">
            <a:spAutoFit/>
          </a:bodyPr>
          <a:lstStyle/>
          <a:p>
            <a:pPr algn="ctr"/>
            <a:r>
              <a:rPr sz="1700" b="1" i="0">
                <a:solidFill>
                  <a:srgbClr val="1B5E9E"/>
                </a:solidFill>
                <a:latin typeface="Calibri"/>
              </a:rPr>
              <a:t>will grow</a:t>
            </a:r>
          </a:p>
        </p:txBody>
      </p:sp>
      <p:sp>
        <p:nvSpPr>
          <p:cNvPr id="25" name="Rounded Rectangle 24"/>
          <p:cNvSpPr/>
          <p:nvPr/>
        </p:nvSpPr>
        <p:spPr>
          <a:xfrm>
            <a:off x="8092440" y="1920240"/>
            <a:ext cx="333756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2084832"/>
            <a:ext cx="3017520" cy="457200"/>
          </a:xfrm>
          <a:prstGeom prst="rect">
            <a:avLst/>
          </a:prstGeom>
          <a:noFill/>
        </p:spPr>
        <p:txBody>
          <a:bodyPr wrap="square">
            <a:spAutoFit/>
          </a:bodyPr>
          <a:lstStyle/>
          <a:p>
            <a:pPr algn="ctr"/>
            <a:r>
              <a:rPr sz="1200" b="1" i="0">
                <a:solidFill>
                  <a:srgbClr val="111418"/>
                </a:solidFill>
                <a:latin typeface="Calibri"/>
              </a:rPr>
              <a:t>The garden ______ fast last summer.</a:t>
            </a:r>
          </a:p>
        </p:txBody>
      </p:sp>
      <p:sp>
        <p:nvSpPr>
          <p:cNvPr id="27" name="Rounded Rectangle 26"/>
          <p:cNvSpPr/>
          <p:nvPr/>
        </p:nvSpPr>
        <p:spPr>
          <a:xfrm>
            <a:off x="457200" y="3108960"/>
            <a:ext cx="11292840" cy="122529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3291840"/>
            <a:ext cx="214884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346704"/>
            <a:ext cx="2148840" cy="256032"/>
          </a:xfrm>
          <a:prstGeom prst="rect">
            <a:avLst/>
          </a:prstGeom>
          <a:noFill/>
        </p:spPr>
        <p:txBody>
          <a:bodyPr wrap="square">
            <a:spAutoFit/>
          </a:bodyPr>
          <a:lstStyle/>
          <a:p>
            <a:pPr algn="ctr"/>
            <a:r>
              <a:rPr sz="900" b="1" i="0">
                <a:solidFill>
                  <a:srgbClr val="78828E"/>
                </a:solidFill>
                <a:latin typeface="Calibri"/>
              </a:rPr>
              <a:t>NOW</a:t>
            </a:r>
          </a:p>
        </p:txBody>
      </p:sp>
      <p:sp>
        <p:nvSpPr>
          <p:cNvPr id="30" name="TextBox 29"/>
          <p:cNvSpPr txBox="1"/>
          <p:nvPr/>
        </p:nvSpPr>
        <p:spPr>
          <a:xfrm>
            <a:off x="777240" y="3611880"/>
            <a:ext cx="2148840" cy="384048"/>
          </a:xfrm>
          <a:prstGeom prst="rect">
            <a:avLst/>
          </a:prstGeom>
          <a:noFill/>
        </p:spPr>
        <p:txBody>
          <a:bodyPr wrap="square">
            <a:spAutoFit/>
          </a:bodyPr>
          <a:lstStyle/>
          <a:p>
            <a:pPr algn="ctr"/>
            <a:r>
              <a:rPr sz="1700" b="1" i="0">
                <a:solidFill>
                  <a:srgbClr val="1E7A52"/>
                </a:solidFill>
                <a:latin typeface="Calibri"/>
              </a:rPr>
              <a:t>take</a:t>
            </a:r>
          </a:p>
        </p:txBody>
      </p:sp>
      <p:sp>
        <p:nvSpPr>
          <p:cNvPr id="31" name="Rounded Rectangle 30"/>
          <p:cNvSpPr/>
          <p:nvPr/>
        </p:nvSpPr>
        <p:spPr>
          <a:xfrm>
            <a:off x="3154680" y="3291840"/>
            <a:ext cx="214884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54680" y="3346704"/>
            <a:ext cx="2148840" cy="256032"/>
          </a:xfrm>
          <a:prstGeom prst="rect">
            <a:avLst/>
          </a:prstGeom>
          <a:noFill/>
        </p:spPr>
        <p:txBody>
          <a:bodyPr wrap="square">
            <a:spAutoFit/>
          </a:bodyPr>
          <a:lstStyle/>
          <a:p>
            <a:pPr algn="ctr"/>
            <a:r>
              <a:rPr sz="900" b="1" i="0">
                <a:solidFill>
                  <a:srgbClr val="78828E"/>
                </a:solidFill>
                <a:latin typeface="Calibri"/>
              </a:rPr>
              <a:t>PAST</a:t>
            </a:r>
          </a:p>
        </p:txBody>
      </p:sp>
      <p:sp>
        <p:nvSpPr>
          <p:cNvPr id="33" name="TextBox 32"/>
          <p:cNvSpPr txBox="1"/>
          <p:nvPr/>
        </p:nvSpPr>
        <p:spPr>
          <a:xfrm>
            <a:off x="3154680" y="3611880"/>
            <a:ext cx="2148840" cy="384048"/>
          </a:xfrm>
          <a:prstGeom prst="rect">
            <a:avLst/>
          </a:prstGeom>
          <a:noFill/>
        </p:spPr>
        <p:txBody>
          <a:bodyPr wrap="square">
            <a:spAutoFit/>
          </a:bodyPr>
          <a:lstStyle/>
          <a:p>
            <a:pPr algn="ctr"/>
            <a:r>
              <a:rPr sz="1700" b="1" i="0">
                <a:solidFill>
                  <a:srgbClr val="C8322B"/>
                </a:solidFill>
                <a:latin typeface="Calibri"/>
              </a:rPr>
              <a:t>took</a:t>
            </a:r>
          </a:p>
        </p:txBody>
      </p:sp>
      <p:sp>
        <p:nvSpPr>
          <p:cNvPr id="34" name="Rounded Rectangle 33"/>
          <p:cNvSpPr/>
          <p:nvPr/>
        </p:nvSpPr>
        <p:spPr>
          <a:xfrm>
            <a:off x="5532120" y="3291840"/>
            <a:ext cx="214884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32120" y="3346704"/>
            <a:ext cx="2148840" cy="256032"/>
          </a:xfrm>
          <a:prstGeom prst="rect">
            <a:avLst/>
          </a:prstGeom>
          <a:noFill/>
        </p:spPr>
        <p:txBody>
          <a:bodyPr wrap="square">
            <a:spAutoFit/>
          </a:bodyPr>
          <a:lstStyle/>
          <a:p>
            <a:pPr algn="ctr"/>
            <a:r>
              <a:rPr sz="900" b="1" i="0">
                <a:solidFill>
                  <a:srgbClr val="78828E"/>
                </a:solidFill>
                <a:latin typeface="Calibri"/>
              </a:rPr>
              <a:t>FUTURE</a:t>
            </a:r>
          </a:p>
        </p:txBody>
      </p:sp>
      <p:sp>
        <p:nvSpPr>
          <p:cNvPr id="36" name="TextBox 35"/>
          <p:cNvSpPr txBox="1"/>
          <p:nvPr/>
        </p:nvSpPr>
        <p:spPr>
          <a:xfrm>
            <a:off x="5532120" y="3611880"/>
            <a:ext cx="2148840" cy="384048"/>
          </a:xfrm>
          <a:prstGeom prst="rect">
            <a:avLst/>
          </a:prstGeom>
          <a:noFill/>
        </p:spPr>
        <p:txBody>
          <a:bodyPr wrap="square">
            <a:spAutoFit/>
          </a:bodyPr>
          <a:lstStyle/>
          <a:p>
            <a:pPr algn="ctr"/>
            <a:r>
              <a:rPr sz="1700" b="1" i="0">
                <a:solidFill>
                  <a:srgbClr val="1B5E9E"/>
                </a:solidFill>
                <a:latin typeface="Calibri"/>
              </a:rPr>
              <a:t>will take</a:t>
            </a:r>
          </a:p>
        </p:txBody>
      </p:sp>
      <p:sp>
        <p:nvSpPr>
          <p:cNvPr id="37" name="Rounded Rectangle 36"/>
          <p:cNvSpPr/>
          <p:nvPr/>
        </p:nvSpPr>
        <p:spPr>
          <a:xfrm>
            <a:off x="8092440" y="3291840"/>
            <a:ext cx="333756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5320" y="3456432"/>
            <a:ext cx="3017520" cy="457200"/>
          </a:xfrm>
          <a:prstGeom prst="rect">
            <a:avLst/>
          </a:prstGeom>
          <a:noFill/>
        </p:spPr>
        <p:txBody>
          <a:bodyPr wrap="square">
            <a:spAutoFit/>
          </a:bodyPr>
          <a:lstStyle/>
          <a:p>
            <a:pPr algn="ctr"/>
            <a:r>
              <a:rPr sz="1200" b="1" i="0">
                <a:solidFill>
                  <a:srgbClr val="111418"/>
                </a:solidFill>
                <a:latin typeface="Calibri"/>
              </a:rPr>
              <a:t>She ______ a photo yesterday.</a:t>
            </a:r>
          </a:p>
        </p:txBody>
      </p:sp>
      <p:sp>
        <p:nvSpPr>
          <p:cNvPr id="39" name="Rounded Rectangle 38"/>
          <p:cNvSpPr/>
          <p:nvPr/>
        </p:nvSpPr>
        <p:spPr>
          <a:xfrm>
            <a:off x="457200" y="4480560"/>
            <a:ext cx="11292840" cy="1225296"/>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7240" y="4663440"/>
            <a:ext cx="214884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4718304"/>
            <a:ext cx="2148840" cy="256032"/>
          </a:xfrm>
          <a:prstGeom prst="rect">
            <a:avLst/>
          </a:prstGeom>
          <a:noFill/>
        </p:spPr>
        <p:txBody>
          <a:bodyPr wrap="square">
            <a:spAutoFit/>
          </a:bodyPr>
          <a:lstStyle/>
          <a:p>
            <a:pPr algn="ctr"/>
            <a:r>
              <a:rPr sz="900" b="1" i="0">
                <a:solidFill>
                  <a:srgbClr val="78828E"/>
                </a:solidFill>
                <a:latin typeface="Calibri"/>
              </a:rPr>
              <a:t>NOW</a:t>
            </a:r>
          </a:p>
        </p:txBody>
      </p:sp>
      <p:sp>
        <p:nvSpPr>
          <p:cNvPr id="42" name="TextBox 41"/>
          <p:cNvSpPr txBox="1"/>
          <p:nvPr/>
        </p:nvSpPr>
        <p:spPr>
          <a:xfrm>
            <a:off x="777240" y="4983480"/>
            <a:ext cx="2148840" cy="384048"/>
          </a:xfrm>
          <a:prstGeom prst="rect">
            <a:avLst/>
          </a:prstGeom>
          <a:noFill/>
        </p:spPr>
        <p:txBody>
          <a:bodyPr wrap="square">
            <a:spAutoFit/>
          </a:bodyPr>
          <a:lstStyle/>
          <a:p>
            <a:pPr algn="ctr"/>
            <a:r>
              <a:rPr sz="1700" b="1" i="0">
                <a:solidFill>
                  <a:srgbClr val="1E7A52"/>
                </a:solidFill>
                <a:latin typeface="Calibri"/>
              </a:rPr>
              <a:t>write</a:t>
            </a:r>
          </a:p>
        </p:txBody>
      </p:sp>
      <p:sp>
        <p:nvSpPr>
          <p:cNvPr id="43" name="Rounded Rectangle 42"/>
          <p:cNvSpPr/>
          <p:nvPr/>
        </p:nvSpPr>
        <p:spPr>
          <a:xfrm>
            <a:off x="3154680" y="4663440"/>
            <a:ext cx="214884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54680" y="4718304"/>
            <a:ext cx="2148840" cy="256032"/>
          </a:xfrm>
          <a:prstGeom prst="rect">
            <a:avLst/>
          </a:prstGeom>
          <a:noFill/>
        </p:spPr>
        <p:txBody>
          <a:bodyPr wrap="square">
            <a:spAutoFit/>
          </a:bodyPr>
          <a:lstStyle/>
          <a:p>
            <a:pPr algn="ctr"/>
            <a:r>
              <a:rPr sz="900" b="1" i="0">
                <a:solidFill>
                  <a:srgbClr val="78828E"/>
                </a:solidFill>
                <a:latin typeface="Calibri"/>
              </a:rPr>
              <a:t>PAST</a:t>
            </a:r>
          </a:p>
        </p:txBody>
      </p:sp>
      <p:sp>
        <p:nvSpPr>
          <p:cNvPr id="45" name="TextBox 44"/>
          <p:cNvSpPr txBox="1"/>
          <p:nvPr/>
        </p:nvSpPr>
        <p:spPr>
          <a:xfrm>
            <a:off x="3154680" y="4983480"/>
            <a:ext cx="2148840" cy="384048"/>
          </a:xfrm>
          <a:prstGeom prst="rect">
            <a:avLst/>
          </a:prstGeom>
          <a:noFill/>
        </p:spPr>
        <p:txBody>
          <a:bodyPr wrap="square">
            <a:spAutoFit/>
          </a:bodyPr>
          <a:lstStyle/>
          <a:p>
            <a:pPr algn="ctr"/>
            <a:r>
              <a:rPr sz="1700" b="1" i="0">
                <a:solidFill>
                  <a:srgbClr val="C8322B"/>
                </a:solidFill>
                <a:latin typeface="Calibri"/>
              </a:rPr>
              <a:t>wrote</a:t>
            </a:r>
          </a:p>
        </p:txBody>
      </p:sp>
      <p:sp>
        <p:nvSpPr>
          <p:cNvPr id="46" name="Rounded Rectangle 45"/>
          <p:cNvSpPr/>
          <p:nvPr/>
        </p:nvSpPr>
        <p:spPr>
          <a:xfrm>
            <a:off x="5532120" y="4663440"/>
            <a:ext cx="214884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32120" y="4718304"/>
            <a:ext cx="2148840" cy="256032"/>
          </a:xfrm>
          <a:prstGeom prst="rect">
            <a:avLst/>
          </a:prstGeom>
          <a:noFill/>
        </p:spPr>
        <p:txBody>
          <a:bodyPr wrap="square">
            <a:spAutoFit/>
          </a:bodyPr>
          <a:lstStyle/>
          <a:p>
            <a:pPr algn="ctr"/>
            <a:r>
              <a:rPr sz="900" b="1" i="0">
                <a:solidFill>
                  <a:srgbClr val="78828E"/>
                </a:solidFill>
                <a:latin typeface="Calibri"/>
              </a:rPr>
              <a:t>FUTURE</a:t>
            </a:r>
          </a:p>
        </p:txBody>
      </p:sp>
      <p:sp>
        <p:nvSpPr>
          <p:cNvPr id="48" name="TextBox 47"/>
          <p:cNvSpPr txBox="1"/>
          <p:nvPr/>
        </p:nvSpPr>
        <p:spPr>
          <a:xfrm>
            <a:off x="5532120" y="4983480"/>
            <a:ext cx="2148840" cy="384048"/>
          </a:xfrm>
          <a:prstGeom prst="rect">
            <a:avLst/>
          </a:prstGeom>
          <a:noFill/>
        </p:spPr>
        <p:txBody>
          <a:bodyPr wrap="square">
            <a:spAutoFit/>
          </a:bodyPr>
          <a:lstStyle/>
          <a:p>
            <a:pPr algn="ctr"/>
            <a:r>
              <a:rPr sz="1700" b="1" i="0">
                <a:solidFill>
                  <a:srgbClr val="1B5E9E"/>
                </a:solidFill>
                <a:latin typeface="Calibri"/>
              </a:rPr>
              <a:t>will write</a:t>
            </a:r>
          </a:p>
        </p:txBody>
      </p:sp>
      <p:sp>
        <p:nvSpPr>
          <p:cNvPr id="49" name="Rounded Rectangle 48"/>
          <p:cNvSpPr/>
          <p:nvPr/>
        </p:nvSpPr>
        <p:spPr>
          <a:xfrm>
            <a:off x="8092440" y="4663440"/>
            <a:ext cx="3337560" cy="7498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75320" y="4828032"/>
            <a:ext cx="3017520" cy="457200"/>
          </a:xfrm>
          <a:prstGeom prst="rect">
            <a:avLst/>
          </a:prstGeom>
          <a:noFill/>
        </p:spPr>
        <p:txBody>
          <a:bodyPr wrap="square">
            <a:spAutoFit/>
          </a:bodyPr>
          <a:lstStyle/>
          <a:p>
            <a:pPr algn="ctr"/>
            <a:r>
              <a:rPr sz="1200" b="1" i="0">
                <a:solidFill>
                  <a:srgbClr val="111418"/>
                </a:solidFill>
                <a:latin typeface="Calibri"/>
              </a:rPr>
              <a:t>They ______ the headline last night.</a:t>
            </a:r>
          </a:p>
        </p:txBody>
      </p:sp>
      <p:sp>
        <p:nvSpPr>
          <p:cNvPr id="51" name="Rounded Rectangle 50"/>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3" name="TextBox 52"/>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Fill the blanks with the PAST form. Read the whole sentence after.</a:t>
            </a:r>
          </a:p>
        </p:txBody>
      </p:sp>
    </p:spTree>
  </p:cSld>
  <p:clrMapOvr>
    <a:masterClrMapping/>
  </p:clrMapOvr>
  <p:transition spd="med"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BADGE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49–59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Mission 3 Complete — Grammar Editor</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7195098"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Editor's Desk  |  49–59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36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E7A52"/>
                </a:solidFill>
                <a:latin typeface="Calibri"/>
              </a:rPr>
              <a:t>You can now fix a sentence three different ways.</a:t>
            </a:r>
          </a:p>
        </p:txBody>
      </p:sp>
      <p:sp>
        <p:nvSpPr>
          <p:cNvPr id="15" name="Rounded Rectangle 14"/>
          <p:cNvSpPr/>
          <p:nvPr/>
        </p:nvSpPr>
        <p:spPr>
          <a:xfrm>
            <a:off x="457200" y="1691640"/>
            <a:ext cx="4846320" cy="402336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377440"/>
            <a:ext cx="4846320" cy="1554480"/>
          </a:xfrm>
          <a:prstGeom prst="rect">
            <a:avLst/>
          </a:prstGeom>
          <a:noFill/>
        </p:spPr>
        <p:txBody>
          <a:bodyPr wrap="square">
            <a:spAutoFit/>
          </a:bodyPr>
          <a:lstStyle/>
          <a:p>
            <a:pPr algn="ctr"/>
            <a:r>
              <a:rPr sz="9000" b="0" i="0">
                <a:solidFill>
                  <a:srgbClr val="2A2F36"/>
                </a:solidFill>
                <a:latin typeface="Calibri"/>
              </a:rPr>
              <a:t>✏️</a:t>
            </a:r>
          </a:p>
        </p:txBody>
      </p:sp>
      <p:sp>
        <p:nvSpPr>
          <p:cNvPr id="17" name="TextBox 16"/>
          <p:cNvSpPr txBox="1"/>
          <p:nvPr/>
        </p:nvSpPr>
        <p:spPr>
          <a:xfrm>
            <a:off x="457200" y="4114800"/>
            <a:ext cx="4846320" cy="640080"/>
          </a:xfrm>
          <a:prstGeom prst="rect">
            <a:avLst/>
          </a:prstGeom>
          <a:noFill/>
        </p:spPr>
        <p:txBody>
          <a:bodyPr wrap="square">
            <a:spAutoFit/>
          </a:bodyPr>
          <a:lstStyle/>
          <a:p>
            <a:pPr algn="ctr"/>
            <a:r>
              <a:rPr sz="2600" b="1" i="0">
                <a:solidFill>
                  <a:srgbClr val="1E7A52"/>
                </a:solidFill>
                <a:latin typeface="Georgia"/>
              </a:rPr>
              <a:t>BADGE 3 EARNED</a:t>
            </a:r>
          </a:p>
        </p:txBody>
      </p:sp>
      <p:sp>
        <p:nvSpPr>
          <p:cNvPr id="18" name="TextBox 17"/>
          <p:cNvSpPr txBox="1"/>
          <p:nvPr/>
        </p:nvSpPr>
        <p:spPr>
          <a:xfrm>
            <a:off x="731520" y="4846320"/>
            <a:ext cx="4297680" cy="548640"/>
          </a:xfrm>
          <a:prstGeom prst="rect">
            <a:avLst/>
          </a:prstGeom>
          <a:noFill/>
        </p:spPr>
        <p:txBody>
          <a:bodyPr wrap="square">
            <a:spAutoFit/>
          </a:bodyPr>
          <a:lstStyle/>
          <a:p>
            <a:pPr algn="ctr"/>
            <a:r>
              <a:rPr sz="1500" b="0" i="0">
                <a:solidFill>
                  <a:srgbClr val="78828E"/>
                </a:solidFill>
                <a:latin typeface="Calibri"/>
              </a:rPr>
              <a:t>Grammar Editor</a:t>
            </a:r>
          </a:p>
        </p:txBody>
      </p:sp>
      <p:sp>
        <p:nvSpPr>
          <p:cNvPr id="19" name="Rounded Rectangle 18"/>
          <p:cNvSpPr/>
          <p:nvPr/>
        </p:nvSpPr>
        <p:spPr>
          <a:xfrm>
            <a:off x="5623560" y="1737360"/>
            <a:ext cx="612648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897880" y="1920240"/>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97880" y="1975104"/>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22" name="TextBox 21"/>
          <p:cNvSpPr txBox="1"/>
          <p:nvPr/>
        </p:nvSpPr>
        <p:spPr>
          <a:xfrm>
            <a:off x="6629400" y="1956816"/>
            <a:ext cx="4846320" cy="457200"/>
          </a:xfrm>
          <a:prstGeom prst="rect">
            <a:avLst/>
          </a:prstGeom>
          <a:noFill/>
        </p:spPr>
        <p:txBody>
          <a:bodyPr wrap="square">
            <a:spAutoFit/>
          </a:bodyPr>
          <a:lstStyle/>
          <a:p>
            <a:pPr algn="l"/>
            <a:r>
              <a:rPr sz="1500" b="1" i="0">
                <a:solidFill>
                  <a:srgbClr val="111418"/>
                </a:solidFill>
                <a:latin typeface="Calibri"/>
              </a:rPr>
              <a:t>Subject and predicate in any sentence.</a:t>
            </a:r>
          </a:p>
        </p:txBody>
      </p:sp>
      <p:sp>
        <p:nvSpPr>
          <p:cNvPr id="23" name="Rounded Rectangle 22"/>
          <p:cNvSpPr/>
          <p:nvPr/>
        </p:nvSpPr>
        <p:spPr>
          <a:xfrm>
            <a:off x="5623560" y="2761488"/>
            <a:ext cx="612648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97880" y="2944368"/>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97880" y="2999232"/>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26" name="TextBox 25"/>
          <p:cNvSpPr txBox="1"/>
          <p:nvPr/>
        </p:nvSpPr>
        <p:spPr>
          <a:xfrm>
            <a:off x="6629400" y="2980944"/>
            <a:ext cx="4846320" cy="457200"/>
          </a:xfrm>
          <a:prstGeom prst="rect">
            <a:avLst/>
          </a:prstGeom>
          <a:noFill/>
        </p:spPr>
        <p:txBody>
          <a:bodyPr wrap="square">
            <a:spAutoFit/>
          </a:bodyPr>
          <a:lstStyle/>
          <a:p>
            <a:pPr algn="l"/>
            <a:r>
              <a:rPr sz="1500" b="1" i="0">
                <a:solidFill>
                  <a:srgbClr val="111418"/>
                </a:solidFill>
                <a:latin typeface="Calibri"/>
              </a:rPr>
              <a:t>One person adds an S — two or more do not.</a:t>
            </a:r>
          </a:p>
        </p:txBody>
      </p:sp>
      <p:sp>
        <p:nvSpPr>
          <p:cNvPr id="27" name="Rounded Rectangle 26"/>
          <p:cNvSpPr/>
          <p:nvPr/>
        </p:nvSpPr>
        <p:spPr>
          <a:xfrm>
            <a:off x="5623560" y="3785616"/>
            <a:ext cx="612648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97880" y="3968496"/>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7880" y="4023360"/>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30" name="TextBox 29"/>
          <p:cNvSpPr txBox="1"/>
          <p:nvPr/>
        </p:nvSpPr>
        <p:spPr>
          <a:xfrm>
            <a:off x="6629400" y="4005072"/>
            <a:ext cx="4846320" cy="457200"/>
          </a:xfrm>
          <a:prstGeom prst="rect">
            <a:avLst/>
          </a:prstGeom>
          <a:noFill/>
        </p:spPr>
        <p:txBody>
          <a:bodyPr wrap="square">
            <a:spAutoFit/>
          </a:bodyPr>
          <a:lstStyle/>
          <a:p>
            <a:pPr algn="l"/>
            <a:r>
              <a:rPr sz="1500" b="1" i="0">
                <a:solidFill>
                  <a:srgbClr val="111418"/>
                </a:solidFill>
                <a:latin typeface="Calibri"/>
              </a:rPr>
              <a:t>Noun, verb, adjective and adverb by colour.</a:t>
            </a:r>
          </a:p>
        </p:txBody>
      </p:sp>
      <p:sp>
        <p:nvSpPr>
          <p:cNvPr id="31" name="Rounded Rectangle 30"/>
          <p:cNvSpPr/>
          <p:nvPr/>
        </p:nvSpPr>
        <p:spPr>
          <a:xfrm>
            <a:off x="5623560" y="4809744"/>
            <a:ext cx="6126480" cy="87782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897880" y="4992624"/>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97880" y="5047488"/>
            <a:ext cx="512064" cy="402336"/>
          </a:xfrm>
          <a:prstGeom prst="rect">
            <a:avLst/>
          </a:prstGeom>
          <a:noFill/>
        </p:spPr>
        <p:txBody>
          <a:bodyPr wrap="square">
            <a:spAutoFit/>
          </a:bodyPr>
          <a:lstStyle/>
          <a:p>
            <a:pPr algn="ctr"/>
            <a:r>
              <a:rPr sz="1500" b="0" i="0">
                <a:solidFill>
                  <a:srgbClr val="2A2F36"/>
                </a:solidFill>
                <a:latin typeface="Calibri"/>
              </a:rPr>
              <a:t>⏰</a:t>
            </a:r>
          </a:p>
        </p:txBody>
      </p:sp>
      <p:sp>
        <p:nvSpPr>
          <p:cNvPr id="34" name="TextBox 33"/>
          <p:cNvSpPr txBox="1"/>
          <p:nvPr/>
        </p:nvSpPr>
        <p:spPr>
          <a:xfrm>
            <a:off x="6629400" y="5029200"/>
            <a:ext cx="4846320" cy="457200"/>
          </a:xfrm>
          <a:prstGeom prst="rect">
            <a:avLst/>
          </a:prstGeom>
          <a:noFill/>
        </p:spPr>
        <p:txBody>
          <a:bodyPr wrap="square">
            <a:spAutoFit/>
          </a:bodyPr>
          <a:lstStyle/>
          <a:p>
            <a:pPr algn="l"/>
            <a:r>
              <a:rPr sz="1500" b="1" i="0">
                <a:solidFill>
                  <a:srgbClr val="111418"/>
                </a:solidFill>
                <a:latin typeface="Calibri"/>
              </a:rPr>
              <a:t>Past, present and future, including won and wrote.</a:t>
            </a:r>
          </a:p>
        </p:txBody>
      </p:sp>
      <p:sp>
        <p:nvSpPr>
          <p:cNvPr id="35" name="Rounded Rectangle 34"/>
          <p:cNvSpPr/>
          <p:nvPr/>
        </p:nvSpPr>
        <p:spPr>
          <a:xfrm>
            <a:off x="457200" y="5897880"/>
            <a:ext cx="11292840" cy="420624"/>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952744"/>
            <a:ext cx="2286000" cy="310896"/>
          </a:xfrm>
          <a:prstGeom prst="rect">
            <a:avLst/>
          </a:prstGeom>
          <a:noFill/>
        </p:spPr>
        <p:txBody>
          <a:bodyPr wrap="square">
            <a:spAutoFit/>
          </a:bodyPr>
          <a:lstStyle/>
          <a:p>
            <a:pPr algn="l"/>
            <a:r>
              <a:rPr sz="1200" b="1" i="0">
                <a:solidFill>
                  <a:srgbClr val="1E7A52"/>
                </a:solidFill>
                <a:latin typeface="Calibri"/>
              </a:rPr>
              <a:t>➡️ COMING UP</a:t>
            </a:r>
          </a:p>
        </p:txBody>
      </p:sp>
      <p:sp>
        <p:nvSpPr>
          <p:cNvPr id="37" name="TextBox 36"/>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Next: the real news story. Everything above is about to be used.</a:t>
            </a:r>
          </a:p>
        </p:txBody>
      </p:sp>
    </p:spTree>
  </p:cSld>
  <p:clrMapOvr>
    <a:masterClrMapping/>
  </p:clrMapOvr>
  <p:transition spd="med"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STORY</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59–69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Today's Front Page Story</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7394962"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59–69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37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B5E9E"/>
                </a:solidFill>
                <a:latin typeface="Calibri"/>
              </a:rPr>
              <a:t>Six words to watch for. Four short parts. One question each.</a:t>
            </a:r>
          </a:p>
        </p:txBody>
      </p:sp>
      <p:sp>
        <p:nvSpPr>
          <p:cNvPr id="15" name="Rounded Rectangle 14"/>
          <p:cNvSpPr/>
          <p:nvPr/>
        </p:nvSpPr>
        <p:spPr>
          <a:xfrm>
            <a:off x="457200" y="1691640"/>
            <a:ext cx="3566160" cy="105156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929384"/>
            <a:ext cx="731520" cy="585216"/>
          </a:xfrm>
          <a:prstGeom prst="rect">
            <a:avLst/>
          </a:prstGeom>
          <a:noFill/>
        </p:spPr>
        <p:txBody>
          <a:bodyPr wrap="square">
            <a:spAutoFit/>
          </a:bodyPr>
          <a:lstStyle/>
          <a:p>
            <a:pPr algn="ctr"/>
            <a:r>
              <a:rPr sz="2400" b="0" i="0">
                <a:solidFill>
                  <a:srgbClr val="2A2F36"/>
                </a:solidFill>
                <a:latin typeface="Calibri"/>
              </a:rPr>
              <a:t>🕳️</a:t>
            </a:r>
          </a:p>
        </p:txBody>
      </p:sp>
      <p:sp>
        <p:nvSpPr>
          <p:cNvPr id="17" name="Rounded Rectangle 16"/>
          <p:cNvSpPr/>
          <p:nvPr/>
        </p:nvSpPr>
        <p:spPr>
          <a:xfrm>
            <a:off x="1691640" y="1965960"/>
            <a:ext cx="210312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91640" y="2048256"/>
            <a:ext cx="2103120" cy="365760"/>
          </a:xfrm>
          <a:prstGeom prst="rect">
            <a:avLst/>
          </a:prstGeom>
          <a:noFill/>
        </p:spPr>
        <p:txBody>
          <a:bodyPr wrap="square">
            <a:spAutoFit/>
          </a:bodyPr>
          <a:lstStyle/>
          <a:p>
            <a:pPr algn="ctr"/>
            <a:r>
              <a:rPr sz="1700" b="1" i="0">
                <a:solidFill>
                  <a:srgbClr val="1B5E9E"/>
                </a:solidFill>
                <a:latin typeface="Calibri"/>
              </a:rPr>
              <a:t>empty</a:t>
            </a:r>
          </a:p>
        </p:txBody>
      </p:sp>
      <p:sp>
        <p:nvSpPr>
          <p:cNvPr id="19" name="Rounded Rectangle 18"/>
          <p:cNvSpPr/>
          <p:nvPr/>
        </p:nvSpPr>
        <p:spPr>
          <a:xfrm>
            <a:off x="4251960" y="1691640"/>
            <a:ext cx="3566160" cy="105156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1929384"/>
            <a:ext cx="731520" cy="585216"/>
          </a:xfrm>
          <a:prstGeom prst="rect">
            <a:avLst/>
          </a:prstGeom>
          <a:noFill/>
        </p:spPr>
        <p:txBody>
          <a:bodyPr wrap="square">
            <a:spAutoFit/>
          </a:bodyPr>
          <a:lstStyle/>
          <a:p>
            <a:pPr algn="ctr"/>
            <a:r>
              <a:rPr sz="2400" b="0" i="0">
                <a:solidFill>
                  <a:srgbClr val="2A2F36"/>
                </a:solidFill>
                <a:latin typeface="Calibri"/>
              </a:rPr>
              <a:t>📏</a:t>
            </a:r>
          </a:p>
        </p:txBody>
      </p:sp>
      <p:sp>
        <p:nvSpPr>
          <p:cNvPr id="21" name="Rounded Rectangle 20"/>
          <p:cNvSpPr/>
          <p:nvPr/>
        </p:nvSpPr>
        <p:spPr>
          <a:xfrm>
            <a:off x="5486400" y="1965960"/>
            <a:ext cx="210312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0" y="2048256"/>
            <a:ext cx="2103120" cy="365760"/>
          </a:xfrm>
          <a:prstGeom prst="rect">
            <a:avLst/>
          </a:prstGeom>
          <a:noFill/>
        </p:spPr>
        <p:txBody>
          <a:bodyPr wrap="square">
            <a:spAutoFit/>
          </a:bodyPr>
          <a:lstStyle/>
          <a:p>
            <a:pPr algn="ctr"/>
            <a:r>
              <a:rPr sz="1700" b="1" i="0">
                <a:solidFill>
                  <a:srgbClr val="1B5E9E"/>
                </a:solidFill>
                <a:latin typeface="Calibri"/>
              </a:rPr>
              <a:t>measured</a:t>
            </a:r>
          </a:p>
        </p:txBody>
      </p:sp>
      <p:sp>
        <p:nvSpPr>
          <p:cNvPr id="23" name="Rounded Rectangle 22"/>
          <p:cNvSpPr/>
          <p:nvPr/>
        </p:nvSpPr>
        <p:spPr>
          <a:xfrm>
            <a:off x="8046720" y="1691640"/>
            <a:ext cx="3566160" cy="105156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1929384"/>
            <a:ext cx="731520" cy="585216"/>
          </a:xfrm>
          <a:prstGeom prst="rect">
            <a:avLst/>
          </a:prstGeom>
          <a:noFill/>
        </p:spPr>
        <p:txBody>
          <a:bodyPr wrap="square">
            <a:spAutoFit/>
          </a:bodyPr>
          <a:lstStyle/>
          <a:p>
            <a:pPr algn="ctr"/>
            <a:r>
              <a:rPr sz="2400" b="0" i="0">
                <a:solidFill>
                  <a:srgbClr val="2A2F36"/>
                </a:solidFill>
                <a:latin typeface="Calibri"/>
              </a:rPr>
              <a:t>🗓️</a:t>
            </a:r>
          </a:p>
        </p:txBody>
      </p:sp>
      <p:sp>
        <p:nvSpPr>
          <p:cNvPr id="25" name="Rounded Rectangle 24"/>
          <p:cNvSpPr/>
          <p:nvPr/>
        </p:nvSpPr>
        <p:spPr>
          <a:xfrm>
            <a:off x="9281160" y="1965960"/>
            <a:ext cx="210312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81160" y="2048256"/>
            <a:ext cx="2103120" cy="365760"/>
          </a:xfrm>
          <a:prstGeom prst="rect">
            <a:avLst/>
          </a:prstGeom>
          <a:noFill/>
        </p:spPr>
        <p:txBody>
          <a:bodyPr wrap="square">
            <a:spAutoFit/>
          </a:bodyPr>
          <a:lstStyle/>
          <a:p>
            <a:pPr algn="ctr"/>
            <a:r>
              <a:rPr sz="1700" b="1" i="0">
                <a:solidFill>
                  <a:srgbClr val="1B5E9E"/>
                </a:solidFill>
                <a:latin typeface="Calibri"/>
              </a:rPr>
              <a:t>schedule</a:t>
            </a:r>
          </a:p>
        </p:txBody>
      </p:sp>
      <p:sp>
        <p:nvSpPr>
          <p:cNvPr id="27" name="Rounded Rectangle 26"/>
          <p:cNvSpPr/>
          <p:nvPr/>
        </p:nvSpPr>
        <p:spPr>
          <a:xfrm>
            <a:off x="457200" y="2926080"/>
            <a:ext cx="3566160" cy="105156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3163824"/>
            <a:ext cx="731520" cy="585216"/>
          </a:xfrm>
          <a:prstGeom prst="rect">
            <a:avLst/>
          </a:prstGeom>
          <a:noFill/>
        </p:spPr>
        <p:txBody>
          <a:bodyPr wrap="square">
            <a:spAutoFit/>
          </a:bodyPr>
          <a:lstStyle/>
          <a:p>
            <a:pPr algn="ctr"/>
            <a:r>
              <a:rPr sz="2400" b="0" i="0">
                <a:solidFill>
                  <a:srgbClr val="2A2F36"/>
                </a:solidFill>
                <a:latin typeface="Calibri"/>
              </a:rPr>
              <a:t>🧹</a:t>
            </a:r>
          </a:p>
        </p:txBody>
      </p:sp>
      <p:sp>
        <p:nvSpPr>
          <p:cNvPr id="29" name="Rounded Rectangle 28"/>
          <p:cNvSpPr/>
          <p:nvPr/>
        </p:nvSpPr>
        <p:spPr>
          <a:xfrm>
            <a:off x="1691640" y="3200400"/>
            <a:ext cx="210312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91640" y="3282696"/>
            <a:ext cx="2103120" cy="365760"/>
          </a:xfrm>
          <a:prstGeom prst="rect">
            <a:avLst/>
          </a:prstGeom>
          <a:noFill/>
        </p:spPr>
        <p:txBody>
          <a:bodyPr wrap="square">
            <a:spAutoFit/>
          </a:bodyPr>
          <a:lstStyle/>
          <a:p>
            <a:pPr algn="ctr"/>
            <a:r>
              <a:rPr sz="1700" b="1" i="0">
                <a:solidFill>
                  <a:srgbClr val="1B5E9E"/>
                </a:solidFill>
                <a:latin typeface="Calibri"/>
              </a:rPr>
              <a:t>cleared</a:t>
            </a:r>
          </a:p>
        </p:txBody>
      </p:sp>
      <p:sp>
        <p:nvSpPr>
          <p:cNvPr id="31" name="Rounded Rectangle 30"/>
          <p:cNvSpPr/>
          <p:nvPr/>
        </p:nvSpPr>
        <p:spPr>
          <a:xfrm>
            <a:off x="4251960" y="2926080"/>
            <a:ext cx="3566160" cy="105156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0560" y="3163824"/>
            <a:ext cx="731520" cy="585216"/>
          </a:xfrm>
          <a:prstGeom prst="rect">
            <a:avLst/>
          </a:prstGeom>
          <a:noFill/>
        </p:spPr>
        <p:txBody>
          <a:bodyPr wrap="square">
            <a:spAutoFit/>
          </a:bodyPr>
          <a:lstStyle/>
          <a:p>
            <a:pPr algn="ctr"/>
            <a:r>
              <a:rPr sz="2400" b="0" i="0">
                <a:solidFill>
                  <a:srgbClr val="2A2F36"/>
                </a:solidFill>
                <a:latin typeface="Calibri"/>
              </a:rPr>
              <a:t>🦋</a:t>
            </a:r>
          </a:p>
        </p:txBody>
      </p:sp>
      <p:sp>
        <p:nvSpPr>
          <p:cNvPr id="33" name="Rounded Rectangle 32"/>
          <p:cNvSpPr/>
          <p:nvPr/>
        </p:nvSpPr>
        <p:spPr>
          <a:xfrm>
            <a:off x="5486400" y="3200400"/>
            <a:ext cx="210312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0" y="3282696"/>
            <a:ext cx="2103120" cy="365760"/>
          </a:xfrm>
          <a:prstGeom prst="rect">
            <a:avLst/>
          </a:prstGeom>
          <a:noFill/>
        </p:spPr>
        <p:txBody>
          <a:bodyPr wrap="square">
            <a:spAutoFit/>
          </a:bodyPr>
          <a:lstStyle/>
          <a:p>
            <a:pPr algn="ctr"/>
            <a:r>
              <a:rPr sz="1700" b="1" i="0">
                <a:solidFill>
                  <a:srgbClr val="1B5E9E"/>
                </a:solidFill>
                <a:latin typeface="Calibri"/>
              </a:rPr>
              <a:t>attracted</a:t>
            </a:r>
          </a:p>
        </p:txBody>
      </p:sp>
      <p:sp>
        <p:nvSpPr>
          <p:cNvPr id="35" name="Rounded Rectangle 34"/>
          <p:cNvSpPr/>
          <p:nvPr/>
        </p:nvSpPr>
        <p:spPr>
          <a:xfrm>
            <a:off x="8046720" y="2926080"/>
            <a:ext cx="3566160" cy="105156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20" y="3163824"/>
            <a:ext cx="731520" cy="585216"/>
          </a:xfrm>
          <a:prstGeom prst="rect">
            <a:avLst/>
          </a:prstGeom>
          <a:noFill/>
        </p:spPr>
        <p:txBody>
          <a:bodyPr wrap="square">
            <a:spAutoFit/>
          </a:bodyPr>
          <a:lstStyle/>
          <a:p>
            <a:pPr algn="ctr"/>
            <a:r>
              <a:rPr sz="2400" b="0" i="0">
                <a:solidFill>
                  <a:srgbClr val="2A2F36"/>
                </a:solidFill>
                <a:latin typeface="Calibri"/>
              </a:rPr>
              <a:t>🏫</a:t>
            </a:r>
          </a:p>
        </p:txBody>
      </p:sp>
      <p:sp>
        <p:nvSpPr>
          <p:cNvPr id="37" name="Rounded Rectangle 36"/>
          <p:cNvSpPr/>
          <p:nvPr/>
        </p:nvSpPr>
        <p:spPr>
          <a:xfrm>
            <a:off x="9281160" y="3200400"/>
            <a:ext cx="210312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81160" y="3282696"/>
            <a:ext cx="2103120" cy="365760"/>
          </a:xfrm>
          <a:prstGeom prst="rect">
            <a:avLst/>
          </a:prstGeom>
          <a:noFill/>
        </p:spPr>
        <p:txBody>
          <a:bodyPr wrap="square">
            <a:spAutoFit/>
          </a:bodyPr>
          <a:lstStyle/>
          <a:p>
            <a:pPr algn="ctr"/>
            <a:r>
              <a:rPr sz="1700" b="1" i="0">
                <a:solidFill>
                  <a:srgbClr val="1B5E9E"/>
                </a:solidFill>
                <a:latin typeface="Calibri"/>
              </a:rPr>
              <a:t>busiest</a:t>
            </a:r>
          </a:p>
        </p:txBody>
      </p:sp>
      <p:sp>
        <p:nvSpPr>
          <p:cNvPr id="39" name="Rounded Rectangle 38"/>
          <p:cNvSpPr/>
          <p:nvPr/>
        </p:nvSpPr>
        <p:spPr>
          <a:xfrm>
            <a:off x="457200" y="4297680"/>
            <a:ext cx="2697480" cy="13716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143000" y="4434840"/>
            <a:ext cx="1325880" cy="310896"/>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43000" y="4462272"/>
            <a:ext cx="1325880" cy="256032"/>
          </a:xfrm>
          <a:prstGeom prst="rect">
            <a:avLst/>
          </a:prstGeom>
          <a:noFill/>
        </p:spPr>
        <p:txBody>
          <a:bodyPr wrap="square">
            <a:spAutoFit/>
          </a:bodyPr>
          <a:lstStyle/>
          <a:p>
            <a:pPr algn="ctr"/>
            <a:r>
              <a:rPr sz="1000" b="1" i="0">
                <a:solidFill>
                  <a:srgbClr val="FFFFFF"/>
                </a:solidFill>
                <a:latin typeface="Calibri"/>
              </a:rPr>
              <a:t>STEP 1</a:t>
            </a:r>
          </a:p>
        </p:txBody>
      </p:sp>
      <p:sp>
        <p:nvSpPr>
          <p:cNvPr id="42" name="TextBox 41"/>
          <p:cNvSpPr txBox="1"/>
          <p:nvPr/>
        </p:nvSpPr>
        <p:spPr>
          <a:xfrm>
            <a:off x="548640" y="4828032"/>
            <a:ext cx="2514600" cy="365760"/>
          </a:xfrm>
          <a:prstGeom prst="rect">
            <a:avLst/>
          </a:prstGeom>
          <a:noFill/>
        </p:spPr>
        <p:txBody>
          <a:bodyPr wrap="square">
            <a:spAutoFit/>
          </a:bodyPr>
          <a:lstStyle/>
          <a:p>
            <a:pPr algn="ctr"/>
            <a:r>
              <a:rPr sz="1300" b="1" i="0">
                <a:solidFill>
                  <a:srgbClr val="C8322B"/>
                </a:solidFill>
                <a:latin typeface="Calibri"/>
              </a:rPr>
              <a:t>TEACHER MODEL</a:t>
            </a:r>
          </a:p>
        </p:txBody>
      </p:sp>
      <p:sp>
        <p:nvSpPr>
          <p:cNvPr id="43" name="TextBox 42"/>
          <p:cNvSpPr txBox="1"/>
          <p:nvPr/>
        </p:nvSpPr>
        <p:spPr>
          <a:xfrm>
            <a:off x="640080" y="5212080"/>
            <a:ext cx="2331720" cy="384048"/>
          </a:xfrm>
          <a:prstGeom prst="rect">
            <a:avLst/>
          </a:prstGeom>
          <a:noFill/>
        </p:spPr>
        <p:txBody>
          <a:bodyPr wrap="square">
            <a:spAutoFit/>
          </a:bodyPr>
          <a:lstStyle/>
          <a:p>
            <a:pPr algn="ctr"/>
            <a:r>
              <a:rPr sz="1000" b="0" i="0">
                <a:solidFill>
                  <a:srgbClr val="2A2F36"/>
                </a:solidFill>
                <a:latin typeface="Calibri"/>
              </a:rPr>
              <a:t>I read the first part.</a:t>
            </a:r>
          </a:p>
        </p:txBody>
      </p:sp>
      <p:sp>
        <p:nvSpPr>
          <p:cNvPr id="44" name="Rounded Rectangle 43"/>
          <p:cNvSpPr/>
          <p:nvPr/>
        </p:nvSpPr>
        <p:spPr>
          <a:xfrm>
            <a:off x="3328416" y="4297680"/>
            <a:ext cx="2697480" cy="13716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014216" y="4434840"/>
            <a:ext cx="1325880" cy="310896"/>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014216" y="4462272"/>
            <a:ext cx="1325880" cy="256032"/>
          </a:xfrm>
          <a:prstGeom prst="rect">
            <a:avLst/>
          </a:prstGeom>
          <a:noFill/>
        </p:spPr>
        <p:txBody>
          <a:bodyPr wrap="square">
            <a:spAutoFit/>
          </a:bodyPr>
          <a:lstStyle/>
          <a:p>
            <a:pPr algn="ctr"/>
            <a:r>
              <a:rPr sz="1000" b="1" i="0">
                <a:solidFill>
                  <a:srgbClr val="FFFFFF"/>
                </a:solidFill>
                <a:latin typeface="Calibri"/>
              </a:rPr>
              <a:t>STEP 2</a:t>
            </a:r>
          </a:p>
        </p:txBody>
      </p:sp>
      <p:sp>
        <p:nvSpPr>
          <p:cNvPr id="47" name="TextBox 46"/>
          <p:cNvSpPr txBox="1"/>
          <p:nvPr/>
        </p:nvSpPr>
        <p:spPr>
          <a:xfrm>
            <a:off x="3419856" y="4828032"/>
            <a:ext cx="2514600" cy="365760"/>
          </a:xfrm>
          <a:prstGeom prst="rect">
            <a:avLst/>
          </a:prstGeom>
          <a:noFill/>
        </p:spPr>
        <p:txBody>
          <a:bodyPr wrap="square">
            <a:spAutoFit/>
          </a:bodyPr>
          <a:lstStyle/>
          <a:p>
            <a:pPr algn="ctr"/>
            <a:r>
              <a:rPr sz="1300" b="1" i="0">
                <a:solidFill>
                  <a:srgbClr val="D08A0C"/>
                </a:solidFill>
                <a:latin typeface="Calibri"/>
              </a:rPr>
              <a:t>SHARED READING</a:t>
            </a:r>
          </a:p>
        </p:txBody>
      </p:sp>
      <p:sp>
        <p:nvSpPr>
          <p:cNvPr id="48" name="TextBox 47"/>
          <p:cNvSpPr txBox="1"/>
          <p:nvPr/>
        </p:nvSpPr>
        <p:spPr>
          <a:xfrm>
            <a:off x="3511296" y="5212080"/>
            <a:ext cx="2331720" cy="384048"/>
          </a:xfrm>
          <a:prstGeom prst="rect">
            <a:avLst/>
          </a:prstGeom>
          <a:noFill/>
        </p:spPr>
        <p:txBody>
          <a:bodyPr wrap="square">
            <a:spAutoFit/>
          </a:bodyPr>
          <a:lstStyle/>
          <a:p>
            <a:pPr algn="ctr"/>
            <a:r>
              <a:rPr sz="1000" b="0" i="0">
                <a:solidFill>
                  <a:srgbClr val="2A2F36"/>
                </a:solidFill>
                <a:latin typeface="Calibri"/>
              </a:rPr>
              <a:t>We read the next part together.</a:t>
            </a:r>
          </a:p>
        </p:txBody>
      </p:sp>
      <p:sp>
        <p:nvSpPr>
          <p:cNvPr id="49" name="Rounded Rectangle 48"/>
          <p:cNvSpPr/>
          <p:nvPr/>
        </p:nvSpPr>
        <p:spPr>
          <a:xfrm>
            <a:off x="6199632" y="4297680"/>
            <a:ext cx="2697480" cy="13716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885432" y="4434840"/>
            <a:ext cx="1325880" cy="310896"/>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85432" y="4462272"/>
            <a:ext cx="1325880" cy="256032"/>
          </a:xfrm>
          <a:prstGeom prst="rect">
            <a:avLst/>
          </a:prstGeom>
          <a:noFill/>
        </p:spPr>
        <p:txBody>
          <a:bodyPr wrap="square">
            <a:spAutoFit/>
          </a:bodyPr>
          <a:lstStyle/>
          <a:p>
            <a:pPr algn="ctr"/>
            <a:r>
              <a:rPr sz="1000" b="1" i="0">
                <a:solidFill>
                  <a:srgbClr val="FFFFFF"/>
                </a:solidFill>
                <a:latin typeface="Calibri"/>
              </a:rPr>
              <a:t>STEP 3</a:t>
            </a:r>
          </a:p>
        </p:txBody>
      </p:sp>
      <p:sp>
        <p:nvSpPr>
          <p:cNvPr id="52" name="TextBox 51"/>
          <p:cNvSpPr txBox="1"/>
          <p:nvPr/>
        </p:nvSpPr>
        <p:spPr>
          <a:xfrm>
            <a:off x="6291072" y="4828032"/>
            <a:ext cx="2514600" cy="365760"/>
          </a:xfrm>
          <a:prstGeom prst="rect">
            <a:avLst/>
          </a:prstGeom>
          <a:noFill/>
        </p:spPr>
        <p:txBody>
          <a:bodyPr wrap="square">
            <a:spAutoFit/>
          </a:bodyPr>
          <a:lstStyle/>
          <a:p>
            <a:pPr algn="ctr"/>
            <a:r>
              <a:rPr sz="1300" b="1" i="0">
                <a:solidFill>
                  <a:srgbClr val="1E7A52"/>
                </a:solidFill>
                <a:latin typeface="Calibri"/>
              </a:rPr>
              <a:t>YOU READ</a:t>
            </a:r>
          </a:p>
        </p:txBody>
      </p:sp>
      <p:sp>
        <p:nvSpPr>
          <p:cNvPr id="53" name="TextBox 52"/>
          <p:cNvSpPr txBox="1"/>
          <p:nvPr/>
        </p:nvSpPr>
        <p:spPr>
          <a:xfrm>
            <a:off x="6382512" y="5212080"/>
            <a:ext cx="2331720" cy="384048"/>
          </a:xfrm>
          <a:prstGeom prst="rect">
            <a:avLst/>
          </a:prstGeom>
          <a:noFill/>
        </p:spPr>
        <p:txBody>
          <a:bodyPr wrap="square">
            <a:spAutoFit/>
          </a:bodyPr>
          <a:lstStyle/>
          <a:p>
            <a:pPr algn="ctr"/>
            <a:r>
              <a:rPr sz="1000" b="0" i="0">
                <a:solidFill>
                  <a:srgbClr val="2A2F36"/>
                </a:solidFill>
                <a:latin typeface="Calibri"/>
              </a:rPr>
              <a:t>You read the sentences I point to.</a:t>
            </a:r>
          </a:p>
        </p:txBody>
      </p:sp>
      <p:sp>
        <p:nvSpPr>
          <p:cNvPr id="54" name="Rounded Rectangle 53"/>
          <p:cNvSpPr/>
          <p:nvPr/>
        </p:nvSpPr>
        <p:spPr>
          <a:xfrm>
            <a:off x="9070848" y="4297680"/>
            <a:ext cx="2697480" cy="13716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9756648" y="4434840"/>
            <a:ext cx="1325880" cy="310896"/>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56648" y="4462272"/>
            <a:ext cx="1325880" cy="256032"/>
          </a:xfrm>
          <a:prstGeom prst="rect">
            <a:avLst/>
          </a:prstGeom>
          <a:noFill/>
        </p:spPr>
        <p:txBody>
          <a:bodyPr wrap="square">
            <a:spAutoFit/>
          </a:bodyPr>
          <a:lstStyle/>
          <a:p>
            <a:pPr algn="ctr"/>
            <a:r>
              <a:rPr sz="1000" b="1" i="0">
                <a:solidFill>
                  <a:srgbClr val="FFFFFF"/>
                </a:solidFill>
                <a:latin typeface="Calibri"/>
              </a:rPr>
              <a:t>STEP 4</a:t>
            </a:r>
          </a:p>
        </p:txBody>
      </p:sp>
      <p:sp>
        <p:nvSpPr>
          <p:cNvPr id="57" name="TextBox 56"/>
          <p:cNvSpPr txBox="1"/>
          <p:nvPr/>
        </p:nvSpPr>
        <p:spPr>
          <a:xfrm>
            <a:off x="9162288" y="4828032"/>
            <a:ext cx="2514600" cy="365760"/>
          </a:xfrm>
          <a:prstGeom prst="rect">
            <a:avLst/>
          </a:prstGeom>
          <a:noFill/>
        </p:spPr>
        <p:txBody>
          <a:bodyPr wrap="square">
            <a:spAutoFit/>
          </a:bodyPr>
          <a:lstStyle/>
          <a:p>
            <a:pPr algn="ctr"/>
            <a:r>
              <a:rPr sz="1300" b="1" i="0">
                <a:solidFill>
                  <a:srgbClr val="1B5E9E"/>
                </a:solidFill>
                <a:latin typeface="Calibri"/>
              </a:rPr>
              <a:t>CHECK</a:t>
            </a:r>
          </a:p>
        </p:txBody>
      </p:sp>
      <p:sp>
        <p:nvSpPr>
          <p:cNvPr id="58" name="TextBox 57"/>
          <p:cNvSpPr txBox="1"/>
          <p:nvPr/>
        </p:nvSpPr>
        <p:spPr>
          <a:xfrm>
            <a:off x="9253728" y="5212080"/>
            <a:ext cx="2331720" cy="384048"/>
          </a:xfrm>
          <a:prstGeom prst="rect">
            <a:avLst/>
          </a:prstGeom>
          <a:noFill/>
        </p:spPr>
        <p:txBody>
          <a:bodyPr wrap="square">
            <a:spAutoFit/>
          </a:bodyPr>
          <a:lstStyle/>
          <a:p>
            <a:pPr algn="ctr"/>
            <a:r>
              <a:rPr sz="1000" b="0" i="0">
                <a:solidFill>
                  <a:srgbClr val="2A2F36"/>
                </a:solidFill>
                <a:latin typeface="Calibri"/>
              </a:rPr>
              <a:t>One question before we move on.</a:t>
            </a:r>
          </a:p>
        </p:txBody>
      </p:sp>
      <p:sp>
        <p:nvSpPr>
          <p:cNvPr id="59" name="Rounded Rectangle 58"/>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61" name="TextBox 60"/>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Read the six words together now. No cold surprises in the passage.</a:t>
            </a:r>
          </a:p>
        </p:txBody>
      </p:sp>
    </p:spTree>
  </p:cSld>
  <p:clrMapOvr>
    <a:masterClrMapping/>
  </p:clrMapOvr>
  <p:transition spd="med"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STORY · PART 1</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59–69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The Empty Space</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7594826"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59–69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38 / 61</a:t>
            </a:r>
          </a:p>
        </p:txBody>
      </p:sp>
      <p:sp>
        <p:nvSpPr>
          <p:cNvPr id="14" name="TextBox 13"/>
          <p:cNvSpPr txBox="1"/>
          <p:nvPr/>
        </p:nvSpPr>
        <p:spPr>
          <a:xfrm>
            <a:off x="411480" y="1188720"/>
            <a:ext cx="10515600" cy="329184"/>
          </a:xfrm>
          <a:prstGeom prst="rect">
            <a:avLst/>
          </a:prstGeom>
          <a:noFill/>
        </p:spPr>
        <p:txBody>
          <a:bodyPr wrap="square">
            <a:spAutoFit/>
          </a:bodyPr>
          <a:lstStyle/>
          <a:p>
            <a:pPr algn="l"/>
            <a:r>
              <a:rPr sz="1400" b="1" i="0">
                <a:solidFill>
                  <a:srgbClr val="78828E"/>
                </a:solidFill>
                <a:latin typeface="Calibri"/>
              </a:rPr>
              <a:t>STUDENTS TURN AN EMPTY SPACE INTO A GARDEN</a:t>
            </a:r>
          </a:p>
        </p:txBody>
      </p:sp>
      <p:sp>
        <p:nvSpPr>
          <p:cNvPr id="15" name="Rounded Rectangle 14"/>
          <p:cNvSpPr/>
          <p:nvPr/>
        </p:nvSpPr>
        <p:spPr>
          <a:xfrm>
            <a:off x="457200" y="1627632"/>
            <a:ext cx="2286000" cy="356616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40280"/>
            <a:ext cx="2286000" cy="1371600"/>
          </a:xfrm>
          <a:prstGeom prst="rect">
            <a:avLst/>
          </a:prstGeom>
          <a:noFill/>
        </p:spPr>
        <p:txBody>
          <a:bodyPr wrap="square">
            <a:spAutoFit/>
          </a:bodyPr>
          <a:lstStyle/>
          <a:p>
            <a:pPr algn="ctr"/>
            <a:r>
              <a:rPr sz="7600" b="0" i="0">
                <a:solidFill>
                  <a:srgbClr val="2A2F36"/>
                </a:solidFill>
                <a:latin typeface="Calibri"/>
              </a:rPr>
              <a:t>🕳️</a:t>
            </a:r>
          </a:p>
        </p:txBody>
      </p:sp>
      <p:sp>
        <p:nvSpPr>
          <p:cNvPr id="17" name="Rounded Rectangle 16"/>
          <p:cNvSpPr/>
          <p:nvPr/>
        </p:nvSpPr>
        <p:spPr>
          <a:xfrm>
            <a:off x="685800" y="3886200"/>
            <a:ext cx="182880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86784"/>
            <a:ext cx="1828800" cy="365760"/>
          </a:xfrm>
          <a:prstGeom prst="rect">
            <a:avLst/>
          </a:prstGeom>
          <a:noFill/>
        </p:spPr>
        <p:txBody>
          <a:bodyPr wrap="square">
            <a:spAutoFit/>
          </a:bodyPr>
          <a:lstStyle/>
          <a:p>
            <a:pPr algn="ctr"/>
            <a:r>
              <a:rPr sz="1400" b="1" i="0">
                <a:solidFill>
                  <a:srgbClr val="C8322B"/>
                </a:solidFill>
                <a:latin typeface="Calibri"/>
              </a:rPr>
              <a:t>PART 1</a:t>
            </a:r>
          </a:p>
        </p:txBody>
      </p:sp>
      <p:sp>
        <p:nvSpPr>
          <p:cNvPr id="19" name="Rounded Rectangle 18"/>
          <p:cNvSpPr/>
          <p:nvPr/>
        </p:nvSpPr>
        <p:spPr>
          <a:xfrm>
            <a:off x="2971800" y="1627632"/>
            <a:ext cx="877824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1847088"/>
            <a:ext cx="8183879" cy="1051560"/>
          </a:xfrm>
          <a:prstGeom prst="rect">
            <a:avLst/>
          </a:prstGeom>
          <a:noFill/>
        </p:spPr>
        <p:txBody>
          <a:bodyPr wrap="square">
            <a:spAutoFit/>
          </a:bodyPr>
          <a:lstStyle/>
          <a:p>
            <a:pPr>
              <a:spcAft>
                <a:spcPts val="800"/>
              </a:spcAft>
            </a:pPr>
            <a:r>
              <a:rPr sz="1500" b="0">
                <a:solidFill>
                  <a:srgbClr val="2A2F36"/>
                </a:solidFill>
                <a:latin typeface="Calibri"/>
              </a:rPr>
              <a:t>Behind Lincoln Elementary School, there was an empty space. Nobody used it. The ground was dry, and old boxes were stacked against the fence. Students walked past it every day without stopping.</a:t>
            </a:r>
          </a:p>
        </p:txBody>
      </p:sp>
      <p:sp>
        <p:nvSpPr>
          <p:cNvPr id="21" name="TextBox 20"/>
          <p:cNvSpPr txBox="1"/>
          <p:nvPr/>
        </p:nvSpPr>
        <p:spPr>
          <a:xfrm>
            <a:off x="3291840" y="3017520"/>
            <a:ext cx="8183879" cy="1051560"/>
          </a:xfrm>
          <a:prstGeom prst="rect">
            <a:avLst/>
          </a:prstGeom>
          <a:noFill/>
        </p:spPr>
        <p:txBody>
          <a:bodyPr wrap="square">
            <a:spAutoFit/>
          </a:bodyPr>
          <a:lstStyle/>
          <a:p>
            <a:pPr>
              <a:spcAft>
                <a:spcPts val="800"/>
              </a:spcAft>
            </a:pPr>
            <a:r>
              <a:rPr sz="1500" b="0">
                <a:solidFill>
                  <a:srgbClr val="2A2F36"/>
                </a:solidFill>
                <a:latin typeface="Calibri"/>
              </a:rPr>
              <a:t>One morning in March, a fifth grader named Priya looked at the space and had an idea. "We could grow something here," she said to her friends. Her teacher, Mr. Ellis, listened carefully and agreed to help.</a:t>
            </a:r>
          </a:p>
        </p:txBody>
      </p:sp>
      <p:sp>
        <p:nvSpPr>
          <p:cNvPr id="22" name="Rounded Rectangle 21"/>
          <p:cNvSpPr/>
          <p:nvPr/>
        </p:nvSpPr>
        <p:spPr>
          <a:xfrm>
            <a:off x="457200" y="5321808"/>
            <a:ext cx="11292840" cy="4572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394960"/>
            <a:ext cx="2011680" cy="329184"/>
          </a:xfrm>
          <a:prstGeom prst="rect">
            <a:avLst/>
          </a:prstGeom>
          <a:noFill/>
        </p:spPr>
        <p:txBody>
          <a:bodyPr wrap="square">
            <a:spAutoFit/>
          </a:bodyPr>
          <a:lstStyle/>
          <a:p>
            <a:pPr algn="l"/>
            <a:r>
              <a:rPr sz="1200" b="1" i="0">
                <a:solidFill>
                  <a:srgbClr val="C8322B"/>
                </a:solidFill>
                <a:latin typeface="Calibri"/>
              </a:rPr>
              <a:t>✅ QUICK CHECK</a:t>
            </a:r>
          </a:p>
        </p:txBody>
      </p:sp>
      <p:sp>
        <p:nvSpPr>
          <p:cNvPr id="24" name="TextBox 23"/>
          <p:cNvSpPr txBox="1"/>
          <p:nvPr/>
        </p:nvSpPr>
        <p:spPr>
          <a:xfrm>
            <a:off x="3108960" y="5385816"/>
            <a:ext cx="8412480" cy="347472"/>
          </a:xfrm>
          <a:prstGeom prst="rect">
            <a:avLst/>
          </a:prstGeom>
          <a:noFill/>
        </p:spPr>
        <p:txBody>
          <a:bodyPr wrap="square">
            <a:spAutoFit/>
          </a:bodyPr>
          <a:lstStyle/>
          <a:p>
            <a:pPr algn="l"/>
            <a:r>
              <a:rPr sz="1400" b="1" i="0">
                <a:solidFill>
                  <a:srgbClr val="111418"/>
                </a:solidFill>
                <a:latin typeface="Calibri"/>
              </a:rPr>
              <a:t>Who had the idea for the garden?</a:t>
            </a:r>
          </a:p>
        </p:txBody>
      </p:sp>
      <p:sp>
        <p:nvSpPr>
          <p:cNvPr id="25" name="Rounded Rectangle 24"/>
          <p:cNvSpPr/>
          <p:nvPr/>
        </p:nvSpPr>
        <p:spPr>
          <a:xfrm>
            <a:off x="457200" y="5897880"/>
            <a:ext cx="3566160" cy="420624"/>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943600"/>
            <a:ext cx="3566160" cy="329184"/>
          </a:xfrm>
          <a:prstGeom prst="rect">
            <a:avLst/>
          </a:prstGeom>
          <a:noFill/>
        </p:spPr>
        <p:txBody>
          <a:bodyPr wrap="square">
            <a:spAutoFit/>
          </a:bodyPr>
          <a:lstStyle/>
          <a:p>
            <a:pPr algn="ctr"/>
            <a:r>
              <a:rPr sz="1300" b="1" i="0">
                <a:solidFill>
                  <a:srgbClr val="FFFFFF"/>
                </a:solidFill>
                <a:latin typeface="Calibri"/>
              </a:rPr>
              <a:t>I MODEL  ·  Teacher</a:t>
            </a:r>
          </a:p>
        </p:txBody>
      </p:sp>
      <p:sp>
        <p:nvSpPr>
          <p:cNvPr id="27" name="Rounded Rectangle 26"/>
          <p:cNvSpPr/>
          <p:nvPr/>
        </p:nvSpPr>
        <p:spPr>
          <a:xfrm>
            <a:off x="4251960" y="5897880"/>
            <a:ext cx="3566160" cy="420624"/>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51960" y="5943600"/>
            <a:ext cx="3566160" cy="329184"/>
          </a:xfrm>
          <a:prstGeom prst="rect">
            <a:avLst/>
          </a:prstGeom>
          <a:noFill/>
        </p:spPr>
        <p:txBody>
          <a:bodyPr wrap="square">
            <a:spAutoFit/>
          </a:bodyPr>
          <a:lstStyle/>
          <a:p>
            <a:pPr algn="ctr"/>
            <a:r>
              <a:rPr sz="1300" b="1" i="0">
                <a:solidFill>
                  <a:srgbClr val="FFFFFF"/>
                </a:solidFill>
                <a:latin typeface="Calibri"/>
              </a:rPr>
              <a:t>WE TRY  ·  Together</a:t>
            </a:r>
          </a:p>
        </p:txBody>
      </p:sp>
      <p:sp>
        <p:nvSpPr>
          <p:cNvPr id="29" name="Rounded Rectangle 28"/>
          <p:cNvSpPr/>
          <p:nvPr/>
        </p:nvSpPr>
        <p:spPr>
          <a:xfrm>
            <a:off x="8046720" y="5897880"/>
            <a:ext cx="3566160" cy="420624"/>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0" y="5943600"/>
            <a:ext cx="3566160" cy="329184"/>
          </a:xfrm>
          <a:prstGeom prst="rect">
            <a:avLst/>
          </a:prstGeom>
          <a:noFill/>
        </p:spPr>
        <p:txBody>
          <a:bodyPr wrap="square">
            <a:spAutoFit/>
          </a:bodyPr>
          <a:lstStyle/>
          <a:p>
            <a:pPr algn="ctr"/>
            <a:r>
              <a:rPr sz="1300" b="1" i="0">
                <a:solidFill>
                  <a:srgbClr val="FFFFFF"/>
                </a:solidFill>
                <a:latin typeface="Calibri"/>
              </a:rPr>
              <a:t>YOU GO  ·  Your turn</a:t>
            </a:r>
          </a:p>
        </p:txBody>
      </p:sp>
    </p:spTree>
  </p:cSld>
  <p:clrMapOvr>
    <a:masterClrMapping/>
  </p:clrMapOvr>
  <p:transition spd="med"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STORY · PART 2</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59–69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The Plan</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7794690"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59–69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39 / 61</a:t>
            </a:r>
          </a:p>
        </p:txBody>
      </p:sp>
      <p:sp>
        <p:nvSpPr>
          <p:cNvPr id="14" name="TextBox 13"/>
          <p:cNvSpPr txBox="1"/>
          <p:nvPr/>
        </p:nvSpPr>
        <p:spPr>
          <a:xfrm>
            <a:off x="411480" y="1188720"/>
            <a:ext cx="10515600" cy="329184"/>
          </a:xfrm>
          <a:prstGeom prst="rect">
            <a:avLst/>
          </a:prstGeom>
          <a:noFill/>
        </p:spPr>
        <p:txBody>
          <a:bodyPr wrap="square">
            <a:spAutoFit/>
          </a:bodyPr>
          <a:lstStyle/>
          <a:p>
            <a:pPr algn="l"/>
            <a:r>
              <a:rPr sz="1400" b="1" i="0">
                <a:solidFill>
                  <a:srgbClr val="78828E"/>
                </a:solidFill>
                <a:latin typeface="Calibri"/>
              </a:rPr>
              <a:t>STUDENTS TURN AN EMPTY SPACE INTO A GARDEN</a:t>
            </a:r>
          </a:p>
        </p:txBody>
      </p:sp>
      <p:sp>
        <p:nvSpPr>
          <p:cNvPr id="15" name="Rounded Rectangle 14"/>
          <p:cNvSpPr/>
          <p:nvPr/>
        </p:nvSpPr>
        <p:spPr>
          <a:xfrm>
            <a:off x="457200" y="1627632"/>
            <a:ext cx="2286000" cy="356616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40280"/>
            <a:ext cx="2286000" cy="1371600"/>
          </a:xfrm>
          <a:prstGeom prst="rect">
            <a:avLst/>
          </a:prstGeom>
          <a:noFill/>
        </p:spPr>
        <p:txBody>
          <a:bodyPr wrap="square">
            <a:spAutoFit/>
          </a:bodyPr>
          <a:lstStyle/>
          <a:p>
            <a:pPr algn="ctr"/>
            <a:r>
              <a:rPr sz="7600" b="0" i="0">
                <a:solidFill>
                  <a:srgbClr val="2A2F36"/>
                </a:solidFill>
                <a:latin typeface="Calibri"/>
              </a:rPr>
              <a:t>🗓️</a:t>
            </a:r>
          </a:p>
        </p:txBody>
      </p:sp>
      <p:sp>
        <p:nvSpPr>
          <p:cNvPr id="17" name="Rounded Rectangle 16"/>
          <p:cNvSpPr/>
          <p:nvPr/>
        </p:nvSpPr>
        <p:spPr>
          <a:xfrm>
            <a:off x="685800" y="3886200"/>
            <a:ext cx="182880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86784"/>
            <a:ext cx="1828800" cy="365760"/>
          </a:xfrm>
          <a:prstGeom prst="rect">
            <a:avLst/>
          </a:prstGeom>
          <a:noFill/>
        </p:spPr>
        <p:txBody>
          <a:bodyPr wrap="square">
            <a:spAutoFit/>
          </a:bodyPr>
          <a:lstStyle/>
          <a:p>
            <a:pPr algn="ctr"/>
            <a:r>
              <a:rPr sz="1400" b="1" i="0">
                <a:solidFill>
                  <a:srgbClr val="6A4A9E"/>
                </a:solidFill>
                <a:latin typeface="Calibri"/>
              </a:rPr>
              <a:t>PART 2</a:t>
            </a:r>
          </a:p>
        </p:txBody>
      </p:sp>
      <p:sp>
        <p:nvSpPr>
          <p:cNvPr id="19" name="Rounded Rectangle 18"/>
          <p:cNvSpPr/>
          <p:nvPr/>
        </p:nvSpPr>
        <p:spPr>
          <a:xfrm>
            <a:off x="2971800" y="1627632"/>
            <a:ext cx="877824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1847088"/>
            <a:ext cx="8183879" cy="1051560"/>
          </a:xfrm>
          <a:prstGeom prst="rect">
            <a:avLst/>
          </a:prstGeom>
          <a:noFill/>
        </p:spPr>
        <p:txBody>
          <a:bodyPr wrap="square">
            <a:spAutoFit/>
          </a:bodyPr>
          <a:lstStyle/>
          <a:p>
            <a:pPr>
              <a:spcAft>
                <a:spcPts val="800"/>
              </a:spcAft>
            </a:pPr>
            <a:r>
              <a:rPr sz="1500" b="0">
                <a:solidFill>
                  <a:srgbClr val="2A2F36"/>
                </a:solidFill>
                <a:latin typeface="Calibri"/>
              </a:rPr>
              <a:t>The students formed a team. First, they measured the space and drew a map. Next, they made a list of the plants they wanted. Some students wanted flowers. Others wanted vegetables, because they liked the idea of growing food.</a:t>
            </a:r>
          </a:p>
        </p:txBody>
      </p:sp>
      <p:sp>
        <p:nvSpPr>
          <p:cNvPr id="21" name="TextBox 20"/>
          <p:cNvSpPr txBox="1"/>
          <p:nvPr/>
        </p:nvSpPr>
        <p:spPr>
          <a:xfrm>
            <a:off x="3291840" y="3017520"/>
            <a:ext cx="8183879" cy="1051560"/>
          </a:xfrm>
          <a:prstGeom prst="rect">
            <a:avLst/>
          </a:prstGeom>
          <a:noFill/>
        </p:spPr>
        <p:txBody>
          <a:bodyPr wrap="square">
            <a:spAutoFit/>
          </a:bodyPr>
          <a:lstStyle/>
          <a:p>
            <a:pPr>
              <a:spcAft>
                <a:spcPts val="800"/>
              </a:spcAft>
            </a:pPr>
            <a:r>
              <a:rPr sz="1500" b="0">
                <a:solidFill>
                  <a:srgbClr val="2A2F36"/>
                </a:solidFill>
                <a:latin typeface="Calibri"/>
              </a:rPr>
              <a:t>Mr. Ellis asked them a hard question. "Who will water the garden in the summer?" The team had not thought about that. They built a schedule so that every family took one week.</a:t>
            </a:r>
          </a:p>
        </p:txBody>
      </p:sp>
      <p:sp>
        <p:nvSpPr>
          <p:cNvPr id="22" name="Rounded Rectangle 21"/>
          <p:cNvSpPr/>
          <p:nvPr/>
        </p:nvSpPr>
        <p:spPr>
          <a:xfrm>
            <a:off x="457200" y="5321808"/>
            <a:ext cx="11292840" cy="45720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394960"/>
            <a:ext cx="2011680" cy="329184"/>
          </a:xfrm>
          <a:prstGeom prst="rect">
            <a:avLst/>
          </a:prstGeom>
          <a:noFill/>
        </p:spPr>
        <p:txBody>
          <a:bodyPr wrap="square">
            <a:spAutoFit/>
          </a:bodyPr>
          <a:lstStyle/>
          <a:p>
            <a:pPr algn="l"/>
            <a:r>
              <a:rPr sz="1200" b="1" i="0">
                <a:solidFill>
                  <a:srgbClr val="6A4A9E"/>
                </a:solidFill>
                <a:latin typeface="Calibri"/>
              </a:rPr>
              <a:t>✅ QUICK CHECK</a:t>
            </a:r>
          </a:p>
        </p:txBody>
      </p:sp>
      <p:sp>
        <p:nvSpPr>
          <p:cNvPr id="24" name="TextBox 23"/>
          <p:cNvSpPr txBox="1"/>
          <p:nvPr/>
        </p:nvSpPr>
        <p:spPr>
          <a:xfrm>
            <a:off x="3108960" y="5385816"/>
            <a:ext cx="8412480" cy="347472"/>
          </a:xfrm>
          <a:prstGeom prst="rect">
            <a:avLst/>
          </a:prstGeom>
          <a:noFill/>
        </p:spPr>
        <p:txBody>
          <a:bodyPr wrap="square">
            <a:spAutoFit/>
          </a:bodyPr>
          <a:lstStyle/>
          <a:p>
            <a:pPr algn="l"/>
            <a:r>
              <a:rPr sz="1400" b="1" i="0">
                <a:solidFill>
                  <a:srgbClr val="111418"/>
                </a:solidFill>
                <a:latin typeface="Calibri"/>
              </a:rPr>
              <a:t>What problem did Mr. Ellis point out?</a:t>
            </a:r>
          </a:p>
        </p:txBody>
      </p:sp>
      <p:sp>
        <p:nvSpPr>
          <p:cNvPr id="25" name="Rounded Rectangle 24"/>
          <p:cNvSpPr/>
          <p:nvPr/>
        </p:nvSpPr>
        <p:spPr>
          <a:xfrm>
            <a:off x="457200" y="5897880"/>
            <a:ext cx="3566160" cy="420624"/>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943600"/>
            <a:ext cx="3566160" cy="329184"/>
          </a:xfrm>
          <a:prstGeom prst="rect">
            <a:avLst/>
          </a:prstGeom>
          <a:noFill/>
        </p:spPr>
        <p:txBody>
          <a:bodyPr wrap="square">
            <a:spAutoFit/>
          </a:bodyPr>
          <a:lstStyle/>
          <a:p>
            <a:pPr algn="ctr"/>
            <a:r>
              <a:rPr sz="1300" b="1" i="0">
                <a:solidFill>
                  <a:srgbClr val="FFFFFF"/>
                </a:solidFill>
                <a:latin typeface="Calibri"/>
              </a:rPr>
              <a:t>I MODEL  ·  Teacher</a:t>
            </a:r>
          </a:p>
        </p:txBody>
      </p:sp>
      <p:sp>
        <p:nvSpPr>
          <p:cNvPr id="27" name="Rounded Rectangle 26"/>
          <p:cNvSpPr/>
          <p:nvPr/>
        </p:nvSpPr>
        <p:spPr>
          <a:xfrm>
            <a:off x="4251960" y="5897880"/>
            <a:ext cx="3566160" cy="420624"/>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51960" y="5943600"/>
            <a:ext cx="3566160" cy="329184"/>
          </a:xfrm>
          <a:prstGeom prst="rect">
            <a:avLst/>
          </a:prstGeom>
          <a:noFill/>
        </p:spPr>
        <p:txBody>
          <a:bodyPr wrap="square">
            <a:spAutoFit/>
          </a:bodyPr>
          <a:lstStyle/>
          <a:p>
            <a:pPr algn="ctr"/>
            <a:r>
              <a:rPr sz="1300" b="1" i="0">
                <a:solidFill>
                  <a:srgbClr val="FFFFFF"/>
                </a:solidFill>
                <a:latin typeface="Calibri"/>
              </a:rPr>
              <a:t>WE TRY  ·  Together</a:t>
            </a:r>
          </a:p>
        </p:txBody>
      </p:sp>
      <p:sp>
        <p:nvSpPr>
          <p:cNvPr id="29" name="Rounded Rectangle 28"/>
          <p:cNvSpPr/>
          <p:nvPr/>
        </p:nvSpPr>
        <p:spPr>
          <a:xfrm>
            <a:off x="8046720" y="5897880"/>
            <a:ext cx="3566160" cy="420624"/>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0" y="5943600"/>
            <a:ext cx="3566160" cy="329184"/>
          </a:xfrm>
          <a:prstGeom prst="rect">
            <a:avLst/>
          </a:prstGeom>
          <a:noFill/>
        </p:spPr>
        <p:txBody>
          <a:bodyPr wrap="square">
            <a:spAutoFit/>
          </a:bodyPr>
          <a:lstStyle/>
          <a:p>
            <a:pPr algn="ctr"/>
            <a:r>
              <a:rPr sz="1300" b="1" i="0">
                <a:solidFill>
                  <a:srgbClr val="FFFFFF"/>
                </a:solidFill>
                <a:latin typeface="Calibri"/>
              </a:rPr>
              <a:t>YOU GO  ·  Your turn</a:t>
            </a:r>
          </a:p>
        </p:txBody>
      </p:sp>
    </p:spTree>
  </p:cSld>
  <p:clrMapOvr>
    <a:masterClrMapping/>
  </p:clrMapOvr>
  <p:transition spd="med"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STORY · PART 3</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59–69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The Work</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7994554"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59–69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40 / 61</a:t>
            </a:r>
          </a:p>
        </p:txBody>
      </p:sp>
      <p:sp>
        <p:nvSpPr>
          <p:cNvPr id="14" name="TextBox 13"/>
          <p:cNvSpPr txBox="1"/>
          <p:nvPr/>
        </p:nvSpPr>
        <p:spPr>
          <a:xfrm>
            <a:off x="411480" y="1188720"/>
            <a:ext cx="10515600" cy="329184"/>
          </a:xfrm>
          <a:prstGeom prst="rect">
            <a:avLst/>
          </a:prstGeom>
          <a:noFill/>
        </p:spPr>
        <p:txBody>
          <a:bodyPr wrap="square">
            <a:spAutoFit/>
          </a:bodyPr>
          <a:lstStyle/>
          <a:p>
            <a:pPr algn="l"/>
            <a:r>
              <a:rPr sz="1400" b="1" i="0">
                <a:solidFill>
                  <a:srgbClr val="78828E"/>
                </a:solidFill>
                <a:latin typeface="Calibri"/>
              </a:rPr>
              <a:t>STUDENTS TURN AN EMPTY SPACE INTO A GARDEN</a:t>
            </a:r>
          </a:p>
        </p:txBody>
      </p:sp>
      <p:sp>
        <p:nvSpPr>
          <p:cNvPr id="15" name="Rounded Rectangle 14"/>
          <p:cNvSpPr/>
          <p:nvPr/>
        </p:nvSpPr>
        <p:spPr>
          <a:xfrm>
            <a:off x="457200" y="1627632"/>
            <a:ext cx="2286000" cy="356616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40280"/>
            <a:ext cx="2286000" cy="1371600"/>
          </a:xfrm>
          <a:prstGeom prst="rect">
            <a:avLst/>
          </a:prstGeom>
          <a:noFill/>
        </p:spPr>
        <p:txBody>
          <a:bodyPr wrap="square">
            <a:spAutoFit/>
          </a:bodyPr>
          <a:lstStyle/>
          <a:p>
            <a:pPr algn="ctr"/>
            <a:r>
              <a:rPr sz="7600" b="0" i="0">
                <a:solidFill>
                  <a:srgbClr val="2A2F36"/>
                </a:solidFill>
                <a:latin typeface="Calibri"/>
              </a:rPr>
              <a:t>🧹</a:t>
            </a:r>
          </a:p>
        </p:txBody>
      </p:sp>
      <p:sp>
        <p:nvSpPr>
          <p:cNvPr id="17" name="Rounded Rectangle 16"/>
          <p:cNvSpPr/>
          <p:nvPr/>
        </p:nvSpPr>
        <p:spPr>
          <a:xfrm>
            <a:off x="685800" y="3886200"/>
            <a:ext cx="182880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86784"/>
            <a:ext cx="1828800" cy="365760"/>
          </a:xfrm>
          <a:prstGeom prst="rect">
            <a:avLst/>
          </a:prstGeom>
          <a:noFill/>
        </p:spPr>
        <p:txBody>
          <a:bodyPr wrap="square">
            <a:spAutoFit/>
          </a:bodyPr>
          <a:lstStyle/>
          <a:p>
            <a:pPr algn="ctr"/>
            <a:r>
              <a:rPr sz="1400" b="1" i="0">
                <a:solidFill>
                  <a:srgbClr val="1E7A52"/>
                </a:solidFill>
                <a:latin typeface="Calibri"/>
              </a:rPr>
              <a:t>PART 3</a:t>
            </a:r>
          </a:p>
        </p:txBody>
      </p:sp>
      <p:sp>
        <p:nvSpPr>
          <p:cNvPr id="19" name="Rounded Rectangle 18"/>
          <p:cNvSpPr/>
          <p:nvPr/>
        </p:nvSpPr>
        <p:spPr>
          <a:xfrm>
            <a:off x="2971800" y="1627632"/>
            <a:ext cx="877824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1847088"/>
            <a:ext cx="8183879" cy="1051560"/>
          </a:xfrm>
          <a:prstGeom prst="rect">
            <a:avLst/>
          </a:prstGeom>
          <a:noFill/>
        </p:spPr>
        <p:txBody>
          <a:bodyPr wrap="square">
            <a:spAutoFit/>
          </a:bodyPr>
          <a:lstStyle/>
          <a:p>
            <a:pPr>
              <a:spcAft>
                <a:spcPts val="800"/>
              </a:spcAft>
            </a:pPr>
            <a:r>
              <a:rPr sz="1500" b="0">
                <a:solidFill>
                  <a:srgbClr val="2A2F36"/>
                </a:solidFill>
                <a:latin typeface="Calibri"/>
              </a:rPr>
              <a:t>In April, the work began. The students cleared the old boxes and carried them to the recycling bin. They dug the hard ground and mixed in fresh soil. It took three weekends. Priya said her arms hurt, but she came back every time.</a:t>
            </a:r>
          </a:p>
        </p:txBody>
      </p:sp>
      <p:sp>
        <p:nvSpPr>
          <p:cNvPr id="21" name="TextBox 20"/>
          <p:cNvSpPr txBox="1"/>
          <p:nvPr/>
        </p:nvSpPr>
        <p:spPr>
          <a:xfrm>
            <a:off x="3291840" y="3017520"/>
            <a:ext cx="8183879" cy="1051560"/>
          </a:xfrm>
          <a:prstGeom prst="rect">
            <a:avLst/>
          </a:prstGeom>
          <a:noFill/>
        </p:spPr>
        <p:txBody>
          <a:bodyPr wrap="square">
            <a:spAutoFit/>
          </a:bodyPr>
          <a:lstStyle/>
          <a:p>
            <a:pPr>
              <a:spcAft>
                <a:spcPts val="800"/>
              </a:spcAft>
            </a:pPr>
            <a:r>
              <a:rPr sz="1500" b="0">
                <a:solidFill>
                  <a:srgbClr val="2A2F36"/>
                </a:solidFill>
                <a:latin typeface="Calibri"/>
              </a:rPr>
              <a:t>By the end of the month, they had planted sunflowers, tomatoes, beans, and carrots. They painted small wooden signs so visitors would know what was growing.</a:t>
            </a:r>
          </a:p>
        </p:txBody>
      </p:sp>
      <p:sp>
        <p:nvSpPr>
          <p:cNvPr id="22" name="Rounded Rectangle 21"/>
          <p:cNvSpPr/>
          <p:nvPr/>
        </p:nvSpPr>
        <p:spPr>
          <a:xfrm>
            <a:off x="457200" y="5321808"/>
            <a:ext cx="11292840" cy="4572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394960"/>
            <a:ext cx="2011680" cy="329184"/>
          </a:xfrm>
          <a:prstGeom prst="rect">
            <a:avLst/>
          </a:prstGeom>
          <a:noFill/>
        </p:spPr>
        <p:txBody>
          <a:bodyPr wrap="square">
            <a:spAutoFit/>
          </a:bodyPr>
          <a:lstStyle/>
          <a:p>
            <a:pPr algn="l"/>
            <a:r>
              <a:rPr sz="1200" b="1" i="0">
                <a:solidFill>
                  <a:srgbClr val="1E7A52"/>
                </a:solidFill>
                <a:latin typeface="Calibri"/>
              </a:rPr>
              <a:t>✅ QUICK CHECK</a:t>
            </a:r>
          </a:p>
        </p:txBody>
      </p:sp>
      <p:sp>
        <p:nvSpPr>
          <p:cNvPr id="24" name="TextBox 23"/>
          <p:cNvSpPr txBox="1"/>
          <p:nvPr/>
        </p:nvSpPr>
        <p:spPr>
          <a:xfrm>
            <a:off x="3108960" y="5385816"/>
            <a:ext cx="8412480" cy="347472"/>
          </a:xfrm>
          <a:prstGeom prst="rect">
            <a:avLst/>
          </a:prstGeom>
          <a:noFill/>
        </p:spPr>
        <p:txBody>
          <a:bodyPr wrap="square">
            <a:spAutoFit/>
          </a:bodyPr>
          <a:lstStyle/>
          <a:p>
            <a:pPr algn="l"/>
            <a:r>
              <a:rPr sz="1400" b="1" i="0">
                <a:solidFill>
                  <a:srgbClr val="111418"/>
                </a:solidFill>
                <a:latin typeface="Calibri"/>
              </a:rPr>
              <a:t>How many weekends did the digging take?</a:t>
            </a:r>
          </a:p>
        </p:txBody>
      </p:sp>
      <p:sp>
        <p:nvSpPr>
          <p:cNvPr id="25" name="Rounded Rectangle 24"/>
          <p:cNvSpPr/>
          <p:nvPr/>
        </p:nvSpPr>
        <p:spPr>
          <a:xfrm>
            <a:off x="457200" y="5897880"/>
            <a:ext cx="3566160" cy="420624"/>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943600"/>
            <a:ext cx="3566160" cy="329184"/>
          </a:xfrm>
          <a:prstGeom prst="rect">
            <a:avLst/>
          </a:prstGeom>
          <a:noFill/>
        </p:spPr>
        <p:txBody>
          <a:bodyPr wrap="square">
            <a:spAutoFit/>
          </a:bodyPr>
          <a:lstStyle/>
          <a:p>
            <a:pPr algn="ctr"/>
            <a:r>
              <a:rPr sz="1300" b="1" i="0">
                <a:solidFill>
                  <a:srgbClr val="FFFFFF"/>
                </a:solidFill>
                <a:latin typeface="Calibri"/>
              </a:rPr>
              <a:t>I MODEL  ·  Teacher</a:t>
            </a:r>
          </a:p>
        </p:txBody>
      </p:sp>
      <p:sp>
        <p:nvSpPr>
          <p:cNvPr id="27" name="Rounded Rectangle 26"/>
          <p:cNvSpPr/>
          <p:nvPr/>
        </p:nvSpPr>
        <p:spPr>
          <a:xfrm>
            <a:off x="4251960" y="5897880"/>
            <a:ext cx="3566160" cy="420624"/>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51960" y="5943600"/>
            <a:ext cx="3566160" cy="329184"/>
          </a:xfrm>
          <a:prstGeom prst="rect">
            <a:avLst/>
          </a:prstGeom>
          <a:noFill/>
        </p:spPr>
        <p:txBody>
          <a:bodyPr wrap="square">
            <a:spAutoFit/>
          </a:bodyPr>
          <a:lstStyle/>
          <a:p>
            <a:pPr algn="ctr"/>
            <a:r>
              <a:rPr sz="1300" b="1" i="0">
                <a:solidFill>
                  <a:srgbClr val="FFFFFF"/>
                </a:solidFill>
                <a:latin typeface="Calibri"/>
              </a:rPr>
              <a:t>WE TRY  ·  Together</a:t>
            </a:r>
          </a:p>
        </p:txBody>
      </p:sp>
      <p:sp>
        <p:nvSpPr>
          <p:cNvPr id="29" name="Rounded Rectangle 28"/>
          <p:cNvSpPr/>
          <p:nvPr/>
        </p:nvSpPr>
        <p:spPr>
          <a:xfrm>
            <a:off x="8046720" y="5897880"/>
            <a:ext cx="3566160" cy="420624"/>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0" y="5943600"/>
            <a:ext cx="3566160" cy="329184"/>
          </a:xfrm>
          <a:prstGeom prst="rect">
            <a:avLst/>
          </a:prstGeom>
          <a:noFill/>
        </p:spPr>
        <p:txBody>
          <a:bodyPr wrap="square">
            <a:spAutoFit/>
          </a:bodyPr>
          <a:lstStyle/>
          <a:p>
            <a:pPr algn="ctr"/>
            <a:r>
              <a:rPr sz="1300" b="1" i="0">
                <a:solidFill>
                  <a:srgbClr val="FFFFFF"/>
                </a:solidFill>
                <a:latin typeface="Calibri"/>
              </a:rPr>
              <a:t>YOU GO  ·  Your turn</a:t>
            </a:r>
          </a:p>
        </p:txBody>
      </p:sp>
    </p:spTree>
  </p:cSld>
  <p:clrMapOvr>
    <a:masterClrMapping/>
  </p:clrMapOvr>
  <p:transition spd="med"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STORY · PART 4</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59–69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What They Discovered</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8194417"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59–69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41 / 61</a:t>
            </a:r>
          </a:p>
        </p:txBody>
      </p:sp>
      <p:sp>
        <p:nvSpPr>
          <p:cNvPr id="14" name="TextBox 13"/>
          <p:cNvSpPr txBox="1"/>
          <p:nvPr/>
        </p:nvSpPr>
        <p:spPr>
          <a:xfrm>
            <a:off x="411480" y="1188720"/>
            <a:ext cx="10515600" cy="329184"/>
          </a:xfrm>
          <a:prstGeom prst="rect">
            <a:avLst/>
          </a:prstGeom>
          <a:noFill/>
        </p:spPr>
        <p:txBody>
          <a:bodyPr wrap="square">
            <a:spAutoFit/>
          </a:bodyPr>
          <a:lstStyle/>
          <a:p>
            <a:pPr algn="l"/>
            <a:r>
              <a:rPr sz="1400" b="1" i="0">
                <a:solidFill>
                  <a:srgbClr val="78828E"/>
                </a:solidFill>
                <a:latin typeface="Calibri"/>
              </a:rPr>
              <a:t>STUDENTS TURN AN EMPTY SPACE INTO A GARDEN</a:t>
            </a:r>
          </a:p>
        </p:txBody>
      </p:sp>
      <p:sp>
        <p:nvSpPr>
          <p:cNvPr id="15" name="Rounded Rectangle 14"/>
          <p:cNvSpPr/>
          <p:nvPr/>
        </p:nvSpPr>
        <p:spPr>
          <a:xfrm>
            <a:off x="457200" y="1627632"/>
            <a:ext cx="2286000" cy="356616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40280"/>
            <a:ext cx="2286000" cy="1371600"/>
          </a:xfrm>
          <a:prstGeom prst="rect">
            <a:avLst/>
          </a:prstGeom>
          <a:noFill/>
        </p:spPr>
        <p:txBody>
          <a:bodyPr wrap="square">
            <a:spAutoFit/>
          </a:bodyPr>
          <a:lstStyle/>
          <a:p>
            <a:pPr algn="ctr"/>
            <a:r>
              <a:rPr sz="7600" b="0" i="0">
                <a:solidFill>
                  <a:srgbClr val="2A2F36"/>
                </a:solidFill>
                <a:latin typeface="Calibri"/>
              </a:rPr>
              <a:t>🦋</a:t>
            </a:r>
          </a:p>
        </p:txBody>
      </p:sp>
      <p:sp>
        <p:nvSpPr>
          <p:cNvPr id="17" name="Rounded Rectangle 16"/>
          <p:cNvSpPr/>
          <p:nvPr/>
        </p:nvSpPr>
        <p:spPr>
          <a:xfrm>
            <a:off x="685800" y="3886200"/>
            <a:ext cx="182880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86784"/>
            <a:ext cx="1828800" cy="365760"/>
          </a:xfrm>
          <a:prstGeom prst="rect">
            <a:avLst/>
          </a:prstGeom>
          <a:noFill/>
        </p:spPr>
        <p:txBody>
          <a:bodyPr wrap="square">
            <a:spAutoFit/>
          </a:bodyPr>
          <a:lstStyle/>
          <a:p>
            <a:pPr algn="ctr"/>
            <a:r>
              <a:rPr sz="1400" b="1" i="0">
                <a:solidFill>
                  <a:srgbClr val="1B5E9E"/>
                </a:solidFill>
                <a:latin typeface="Calibri"/>
              </a:rPr>
              <a:t>PART 4</a:t>
            </a:r>
          </a:p>
        </p:txBody>
      </p:sp>
      <p:sp>
        <p:nvSpPr>
          <p:cNvPr id="19" name="Rounded Rectangle 18"/>
          <p:cNvSpPr/>
          <p:nvPr/>
        </p:nvSpPr>
        <p:spPr>
          <a:xfrm>
            <a:off x="2971800" y="1627632"/>
            <a:ext cx="877824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1847088"/>
            <a:ext cx="8183879" cy="1051560"/>
          </a:xfrm>
          <a:prstGeom prst="rect">
            <a:avLst/>
          </a:prstGeom>
          <a:noFill/>
        </p:spPr>
        <p:txBody>
          <a:bodyPr wrap="square">
            <a:spAutoFit/>
          </a:bodyPr>
          <a:lstStyle/>
          <a:p>
            <a:pPr>
              <a:spcAft>
                <a:spcPts val="800"/>
              </a:spcAft>
            </a:pPr>
            <a:r>
              <a:rPr sz="1500" b="0">
                <a:solidFill>
                  <a:srgbClr val="2A2F36"/>
                </a:solidFill>
                <a:latin typeface="Calibri"/>
              </a:rPr>
              <a:t>In June, something surprising happened. Butterflies arrived first, then bees, and finally a pair of small brown birds that built a nest near the fence. A science teacher explained that the flowers had attracted the insects, and the insects had attracted the birds.</a:t>
            </a:r>
          </a:p>
        </p:txBody>
      </p:sp>
      <p:sp>
        <p:nvSpPr>
          <p:cNvPr id="21" name="TextBox 20"/>
          <p:cNvSpPr txBox="1"/>
          <p:nvPr/>
        </p:nvSpPr>
        <p:spPr>
          <a:xfrm>
            <a:off x="3291840" y="3017520"/>
            <a:ext cx="8183879" cy="1051560"/>
          </a:xfrm>
          <a:prstGeom prst="rect">
            <a:avLst/>
          </a:prstGeom>
          <a:noFill/>
        </p:spPr>
        <p:txBody>
          <a:bodyPr wrap="square">
            <a:spAutoFit/>
          </a:bodyPr>
          <a:lstStyle/>
          <a:p>
            <a:pPr>
              <a:spcAft>
                <a:spcPts val="800"/>
              </a:spcAft>
            </a:pPr>
            <a:r>
              <a:rPr sz="1500" b="0">
                <a:solidFill>
                  <a:srgbClr val="2A2F36"/>
                </a:solidFill>
                <a:latin typeface="Calibri"/>
              </a:rPr>
              <a:t>"We thought we were growing vegetables," Priya told the school newspaper. "We were really building a home for animals." The empty space is now the busiest corner of the school.</a:t>
            </a:r>
          </a:p>
        </p:txBody>
      </p:sp>
      <p:sp>
        <p:nvSpPr>
          <p:cNvPr id="22" name="Rounded Rectangle 21"/>
          <p:cNvSpPr/>
          <p:nvPr/>
        </p:nvSpPr>
        <p:spPr>
          <a:xfrm>
            <a:off x="457200" y="5321808"/>
            <a:ext cx="11292840" cy="457200"/>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394960"/>
            <a:ext cx="2011680" cy="329184"/>
          </a:xfrm>
          <a:prstGeom prst="rect">
            <a:avLst/>
          </a:prstGeom>
          <a:noFill/>
        </p:spPr>
        <p:txBody>
          <a:bodyPr wrap="square">
            <a:spAutoFit/>
          </a:bodyPr>
          <a:lstStyle/>
          <a:p>
            <a:pPr algn="l"/>
            <a:r>
              <a:rPr sz="1200" b="1" i="0">
                <a:solidFill>
                  <a:srgbClr val="1B5E9E"/>
                </a:solidFill>
                <a:latin typeface="Calibri"/>
              </a:rPr>
              <a:t>✅ QUICK CHECK</a:t>
            </a:r>
          </a:p>
        </p:txBody>
      </p:sp>
      <p:sp>
        <p:nvSpPr>
          <p:cNvPr id="24" name="TextBox 23"/>
          <p:cNvSpPr txBox="1"/>
          <p:nvPr/>
        </p:nvSpPr>
        <p:spPr>
          <a:xfrm>
            <a:off x="3108960" y="5385816"/>
            <a:ext cx="8412480" cy="347472"/>
          </a:xfrm>
          <a:prstGeom prst="rect">
            <a:avLst/>
          </a:prstGeom>
          <a:noFill/>
        </p:spPr>
        <p:txBody>
          <a:bodyPr wrap="square">
            <a:spAutoFit/>
          </a:bodyPr>
          <a:lstStyle/>
          <a:p>
            <a:pPr algn="l"/>
            <a:r>
              <a:rPr sz="1400" b="1" i="0">
                <a:solidFill>
                  <a:srgbClr val="111418"/>
                </a:solidFill>
                <a:latin typeface="Calibri"/>
              </a:rPr>
              <a:t>What did Priya say they were really building?</a:t>
            </a:r>
          </a:p>
        </p:txBody>
      </p:sp>
      <p:sp>
        <p:nvSpPr>
          <p:cNvPr id="25" name="Rounded Rectangle 24"/>
          <p:cNvSpPr/>
          <p:nvPr/>
        </p:nvSpPr>
        <p:spPr>
          <a:xfrm>
            <a:off x="457200" y="5897880"/>
            <a:ext cx="3566160" cy="420624"/>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943600"/>
            <a:ext cx="3566160" cy="329184"/>
          </a:xfrm>
          <a:prstGeom prst="rect">
            <a:avLst/>
          </a:prstGeom>
          <a:noFill/>
        </p:spPr>
        <p:txBody>
          <a:bodyPr wrap="square">
            <a:spAutoFit/>
          </a:bodyPr>
          <a:lstStyle/>
          <a:p>
            <a:pPr algn="ctr"/>
            <a:r>
              <a:rPr sz="1300" b="1" i="0">
                <a:solidFill>
                  <a:srgbClr val="FFFFFF"/>
                </a:solidFill>
                <a:latin typeface="Calibri"/>
              </a:rPr>
              <a:t>I MODEL  ·  Teacher</a:t>
            </a:r>
          </a:p>
        </p:txBody>
      </p:sp>
      <p:sp>
        <p:nvSpPr>
          <p:cNvPr id="27" name="Rounded Rectangle 26"/>
          <p:cNvSpPr/>
          <p:nvPr/>
        </p:nvSpPr>
        <p:spPr>
          <a:xfrm>
            <a:off x="4251960" y="5897880"/>
            <a:ext cx="3566160" cy="420624"/>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51960" y="5943600"/>
            <a:ext cx="3566160" cy="329184"/>
          </a:xfrm>
          <a:prstGeom prst="rect">
            <a:avLst/>
          </a:prstGeom>
          <a:noFill/>
        </p:spPr>
        <p:txBody>
          <a:bodyPr wrap="square">
            <a:spAutoFit/>
          </a:bodyPr>
          <a:lstStyle/>
          <a:p>
            <a:pPr algn="ctr"/>
            <a:r>
              <a:rPr sz="1300" b="1" i="0">
                <a:solidFill>
                  <a:srgbClr val="FFFFFF"/>
                </a:solidFill>
                <a:latin typeface="Calibri"/>
              </a:rPr>
              <a:t>WE TRY  ·  Together</a:t>
            </a:r>
          </a:p>
        </p:txBody>
      </p:sp>
      <p:sp>
        <p:nvSpPr>
          <p:cNvPr id="29" name="Rounded Rectangle 28"/>
          <p:cNvSpPr/>
          <p:nvPr/>
        </p:nvSpPr>
        <p:spPr>
          <a:xfrm>
            <a:off x="8046720" y="5897880"/>
            <a:ext cx="3566160" cy="420624"/>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0" y="5943600"/>
            <a:ext cx="3566160" cy="329184"/>
          </a:xfrm>
          <a:prstGeom prst="rect">
            <a:avLst/>
          </a:prstGeom>
          <a:noFill/>
        </p:spPr>
        <p:txBody>
          <a:bodyPr wrap="square">
            <a:spAutoFit/>
          </a:bodyPr>
          <a:lstStyle/>
          <a:p>
            <a:pPr algn="ctr"/>
            <a:r>
              <a:rPr sz="1300" b="1" i="0">
                <a:solidFill>
                  <a:srgbClr val="FFFFFF"/>
                </a:solidFill>
                <a:latin typeface="Calibri"/>
              </a:rPr>
              <a:t>YOU GO  ·  Your turn</a:t>
            </a:r>
          </a:p>
        </p:txBody>
      </p:sp>
    </p:spTree>
  </p:cSld>
  <p:clrMapOvr>
    <a:masterClrMapping/>
  </p:clrMapOvr>
  <p:transition spd="med"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COMPREHENSION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59–69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Main Idea and Order of Events</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8394281"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59–69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42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6A4A9E"/>
                </a:solidFill>
                <a:latin typeface="Calibri"/>
              </a:rPr>
              <a:t>One main idea. Then put the four events in order.</a:t>
            </a:r>
          </a:p>
        </p:txBody>
      </p:sp>
      <p:sp>
        <p:nvSpPr>
          <p:cNvPr id="15" name="TextBox 14"/>
          <p:cNvSpPr txBox="1"/>
          <p:nvPr/>
        </p:nvSpPr>
        <p:spPr>
          <a:xfrm>
            <a:off x="457200" y="1627632"/>
            <a:ext cx="11292840" cy="329184"/>
          </a:xfrm>
          <a:prstGeom prst="rect">
            <a:avLst/>
          </a:prstGeom>
          <a:noFill/>
        </p:spPr>
        <p:txBody>
          <a:bodyPr wrap="square">
            <a:spAutoFit/>
          </a:bodyPr>
          <a:lstStyle/>
          <a:p>
            <a:pPr algn="l"/>
            <a:r>
              <a:rPr sz="1300" b="1" i="0">
                <a:solidFill>
                  <a:srgbClr val="6A4A9E"/>
                </a:solidFill>
                <a:latin typeface="Calibri"/>
              </a:rPr>
              <a:t>WHICH SENTENCE IS THE MAIN IDEA OF THE WHOLE STORY?</a:t>
            </a:r>
          </a:p>
        </p:txBody>
      </p:sp>
      <p:sp>
        <p:nvSpPr>
          <p:cNvPr id="16" name="Rounded Rectangle 15"/>
          <p:cNvSpPr/>
          <p:nvPr/>
        </p:nvSpPr>
        <p:spPr>
          <a:xfrm>
            <a:off x="457200" y="1993392"/>
            <a:ext cx="1129284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2093976"/>
            <a:ext cx="329184" cy="329184"/>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121408"/>
            <a:ext cx="329184" cy="274320"/>
          </a:xfrm>
          <a:prstGeom prst="rect">
            <a:avLst/>
          </a:prstGeom>
          <a:noFill/>
        </p:spPr>
        <p:txBody>
          <a:bodyPr wrap="square">
            <a:spAutoFit/>
          </a:bodyPr>
          <a:lstStyle/>
          <a:p>
            <a:pPr algn="ctr"/>
            <a:r>
              <a:rPr sz="1000" b="1" i="0">
                <a:solidFill>
                  <a:srgbClr val="FFFFFF"/>
                </a:solidFill>
                <a:latin typeface="Calibri"/>
              </a:rPr>
              <a:t>A</a:t>
            </a:r>
          </a:p>
        </p:txBody>
      </p:sp>
      <p:sp>
        <p:nvSpPr>
          <p:cNvPr id="19" name="TextBox 18"/>
          <p:cNvSpPr txBox="1"/>
          <p:nvPr/>
        </p:nvSpPr>
        <p:spPr>
          <a:xfrm>
            <a:off x="1371600" y="2084832"/>
            <a:ext cx="9784080" cy="365760"/>
          </a:xfrm>
          <a:prstGeom prst="rect">
            <a:avLst/>
          </a:prstGeom>
          <a:noFill/>
        </p:spPr>
        <p:txBody>
          <a:bodyPr wrap="square">
            <a:spAutoFit/>
          </a:bodyPr>
          <a:lstStyle/>
          <a:p>
            <a:pPr algn="l"/>
            <a:r>
              <a:rPr sz="1600" b="1" i="0">
                <a:solidFill>
                  <a:srgbClr val="111418"/>
                </a:solidFill>
                <a:latin typeface="Calibri"/>
              </a:rPr>
              <a:t>A teacher taught a science lesson about insects.</a:t>
            </a:r>
          </a:p>
        </p:txBody>
      </p:sp>
      <p:sp>
        <p:nvSpPr>
          <p:cNvPr id="20" name="Rounded Rectangle 19"/>
          <p:cNvSpPr/>
          <p:nvPr/>
        </p:nvSpPr>
        <p:spPr>
          <a:xfrm>
            <a:off x="457200" y="2633472"/>
            <a:ext cx="1129284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2734056"/>
            <a:ext cx="329184" cy="329184"/>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2761488"/>
            <a:ext cx="329184" cy="274320"/>
          </a:xfrm>
          <a:prstGeom prst="rect">
            <a:avLst/>
          </a:prstGeom>
          <a:noFill/>
        </p:spPr>
        <p:txBody>
          <a:bodyPr wrap="square">
            <a:spAutoFit/>
          </a:bodyPr>
          <a:lstStyle/>
          <a:p>
            <a:pPr algn="ctr"/>
            <a:r>
              <a:rPr sz="1000" b="1" i="0">
                <a:solidFill>
                  <a:srgbClr val="FFFFFF"/>
                </a:solidFill>
                <a:latin typeface="Calibri"/>
              </a:rPr>
              <a:t>B</a:t>
            </a:r>
          </a:p>
        </p:txBody>
      </p:sp>
      <p:sp>
        <p:nvSpPr>
          <p:cNvPr id="23" name="TextBox 22"/>
          <p:cNvSpPr txBox="1"/>
          <p:nvPr/>
        </p:nvSpPr>
        <p:spPr>
          <a:xfrm>
            <a:off x="1371600" y="2724912"/>
            <a:ext cx="9784080" cy="365760"/>
          </a:xfrm>
          <a:prstGeom prst="rect">
            <a:avLst/>
          </a:prstGeom>
          <a:noFill/>
        </p:spPr>
        <p:txBody>
          <a:bodyPr wrap="square">
            <a:spAutoFit/>
          </a:bodyPr>
          <a:lstStyle/>
          <a:p>
            <a:pPr algn="l"/>
            <a:r>
              <a:rPr sz="1600" b="1" i="0">
                <a:solidFill>
                  <a:srgbClr val="111418"/>
                </a:solidFill>
                <a:latin typeface="Calibri"/>
              </a:rPr>
              <a:t>Students turned an unused space into a garden that brought wildlife.</a:t>
            </a:r>
          </a:p>
        </p:txBody>
      </p:sp>
      <p:sp>
        <p:nvSpPr>
          <p:cNvPr id="24" name="Rounded Rectangle 23"/>
          <p:cNvSpPr/>
          <p:nvPr/>
        </p:nvSpPr>
        <p:spPr>
          <a:xfrm>
            <a:off x="457200" y="3273552"/>
            <a:ext cx="1129284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1520" y="3374136"/>
            <a:ext cx="329184" cy="329184"/>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401568"/>
            <a:ext cx="329184" cy="274320"/>
          </a:xfrm>
          <a:prstGeom prst="rect">
            <a:avLst/>
          </a:prstGeom>
          <a:noFill/>
        </p:spPr>
        <p:txBody>
          <a:bodyPr wrap="square">
            <a:spAutoFit/>
          </a:bodyPr>
          <a:lstStyle/>
          <a:p>
            <a:pPr algn="ctr"/>
            <a:r>
              <a:rPr sz="1000" b="1" i="0">
                <a:solidFill>
                  <a:srgbClr val="FFFFFF"/>
                </a:solidFill>
                <a:latin typeface="Calibri"/>
              </a:rPr>
              <a:t>C</a:t>
            </a:r>
          </a:p>
        </p:txBody>
      </p:sp>
      <p:sp>
        <p:nvSpPr>
          <p:cNvPr id="27" name="TextBox 26"/>
          <p:cNvSpPr txBox="1"/>
          <p:nvPr/>
        </p:nvSpPr>
        <p:spPr>
          <a:xfrm>
            <a:off x="1371600" y="3364992"/>
            <a:ext cx="9784080" cy="365760"/>
          </a:xfrm>
          <a:prstGeom prst="rect">
            <a:avLst/>
          </a:prstGeom>
          <a:noFill/>
        </p:spPr>
        <p:txBody>
          <a:bodyPr wrap="square">
            <a:spAutoFit/>
          </a:bodyPr>
          <a:lstStyle/>
          <a:p>
            <a:pPr algn="l"/>
            <a:r>
              <a:rPr sz="1600" b="1" i="0">
                <a:solidFill>
                  <a:srgbClr val="111418"/>
                </a:solidFill>
                <a:latin typeface="Calibri"/>
              </a:rPr>
              <a:t>Priya's arms hurt after three weekends of digging.</a:t>
            </a:r>
          </a:p>
        </p:txBody>
      </p:sp>
      <p:sp>
        <p:nvSpPr>
          <p:cNvPr id="28" name="TextBox 27"/>
          <p:cNvSpPr txBox="1"/>
          <p:nvPr/>
        </p:nvSpPr>
        <p:spPr>
          <a:xfrm>
            <a:off x="457200" y="4041648"/>
            <a:ext cx="11292840" cy="329184"/>
          </a:xfrm>
          <a:prstGeom prst="rect">
            <a:avLst/>
          </a:prstGeom>
          <a:noFill/>
        </p:spPr>
        <p:txBody>
          <a:bodyPr wrap="square">
            <a:spAutoFit/>
          </a:bodyPr>
          <a:lstStyle/>
          <a:p>
            <a:pPr algn="l"/>
            <a:r>
              <a:rPr sz="1300" b="1" i="0">
                <a:solidFill>
                  <a:srgbClr val="1B5E9E"/>
                </a:solidFill>
                <a:latin typeface="Calibri"/>
              </a:rPr>
              <a:t>NOW NUMBER THESE EVENTS 1 TO 4 IN THE ORDER THEY HAPPENED.</a:t>
            </a:r>
          </a:p>
        </p:txBody>
      </p:sp>
      <p:sp>
        <p:nvSpPr>
          <p:cNvPr id="29" name="Rounded Rectangle 28"/>
          <p:cNvSpPr/>
          <p:nvPr/>
        </p:nvSpPr>
        <p:spPr>
          <a:xfrm>
            <a:off x="457200" y="4407408"/>
            <a:ext cx="5440680" cy="603504"/>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8368" y="4526280"/>
            <a:ext cx="384048"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70432" y="4517136"/>
            <a:ext cx="457200" cy="384048"/>
          </a:xfrm>
          <a:prstGeom prst="rect">
            <a:avLst/>
          </a:prstGeom>
          <a:noFill/>
        </p:spPr>
        <p:txBody>
          <a:bodyPr wrap="square">
            <a:spAutoFit/>
          </a:bodyPr>
          <a:lstStyle/>
          <a:p>
            <a:pPr algn="ctr"/>
            <a:r>
              <a:rPr sz="1400" b="0" i="0">
                <a:solidFill>
                  <a:srgbClr val="2A2F36"/>
                </a:solidFill>
                <a:latin typeface="Calibri"/>
              </a:rPr>
              <a:t>🕳️</a:t>
            </a:r>
          </a:p>
        </p:txBody>
      </p:sp>
      <p:sp>
        <p:nvSpPr>
          <p:cNvPr id="32" name="TextBox 31"/>
          <p:cNvSpPr txBox="1"/>
          <p:nvPr/>
        </p:nvSpPr>
        <p:spPr>
          <a:xfrm>
            <a:off x="1691640" y="4535424"/>
            <a:ext cx="4069080" cy="365760"/>
          </a:xfrm>
          <a:prstGeom prst="rect">
            <a:avLst/>
          </a:prstGeom>
          <a:noFill/>
        </p:spPr>
        <p:txBody>
          <a:bodyPr wrap="square">
            <a:spAutoFit/>
          </a:bodyPr>
          <a:lstStyle/>
          <a:p>
            <a:pPr algn="l"/>
            <a:r>
              <a:rPr sz="1200" b="1" i="0">
                <a:solidFill>
                  <a:srgbClr val="111418"/>
                </a:solidFill>
                <a:latin typeface="Calibri"/>
              </a:rPr>
              <a:t>Priya looks at the empty space and has an idea.</a:t>
            </a:r>
          </a:p>
        </p:txBody>
      </p:sp>
      <p:sp>
        <p:nvSpPr>
          <p:cNvPr id="33" name="Rounded Rectangle 32"/>
          <p:cNvSpPr/>
          <p:nvPr/>
        </p:nvSpPr>
        <p:spPr>
          <a:xfrm>
            <a:off x="6172200" y="4407408"/>
            <a:ext cx="5440680" cy="603504"/>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73368" y="4526280"/>
            <a:ext cx="384048"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85432" y="4517136"/>
            <a:ext cx="457200" cy="384048"/>
          </a:xfrm>
          <a:prstGeom prst="rect">
            <a:avLst/>
          </a:prstGeom>
          <a:noFill/>
        </p:spPr>
        <p:txBody>
          <a:bodyPr wrap="square">
            <a:spAutoFit/>
          </a:bodyPr>
          <a:lstStyle/>
          <a:p>
            <a:pPr algn="ctr"/>
            <a:r>
              <a:rPr sz="1400" b="0" i="0">
                <a:solidFill>
                  <a:srgbClr val="2A2F36"/>
                </a:solidFill>
                <a:latin typeface="Calibri"/>
              </a:rPr>
              <a:t>🗓️</a:t>
            </a:r>
          </a:p>
        </p:txBody>
      </p:sp>
      <p:sp>
        <p:nvSpPr>
          <p:cNvPr id="36" name="TextBox 35"/>
          <p:cNvSpPr txBox="1"/>
          <p:nvPr/>
        </p:nvSpPr>
        <p:spPr>
          <a:xfrm>
            <a:off x="7406640" y="4535424"/>
            <a:ext cx="4069080" cy="365760"/>
          </a:xfrm>
          <a:prstGeom prst="rect">
            <a:avLst/>
          </a:prstGeom>
          <a:noFill/>
        </p:spPr>
        <p:txBody>
          <a:bodyPr wrap="square">
            <a:spAutoFit/>
          </a:bodyPr>
          <a:lstStyle/>
          <a:p>
            <a:pPr algn="l"/>
            <a:r>
              <a:rPr sz="1200" b="1" i="0">
                <a:solidFill>
                  <a:srgbClr val="111418"/>
                </a:solidFill>
                <a:latin typeface="Calibri"/>
              </a:rPr>
              <a:t>The team measures, draws a map and builds a schedule.</a:t>
            </a:r>
          </a:p>
        </p:txBody>
      </p:sp>
      <p:sp>
        <p:nvSpPr>
          <p:cNvPr id="37" name="Rounded Rectangle 36"/>
          <p:cNvSpPr/>
          <p:nvPr/>
        </p:nvSpPr>
        <p:spPr>
          <a:xfrm>
            <a:off x="457200" y="5120640"/>
            <a:ext cx="5440680" cy="603504"/>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8368" y="5239512"/>
            <a:ext cx="384048"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70432" y="5230368"/>
            <a:ext cx="457200" cy="384048"/>
          </a:xfrm>
          <a:prstGeom prst="rect">
            <a:avLst/>
          </a:prstGeom>
          <a:noFill/>
        </p:spPr>
        <p:txBody>
          <a:bodyPr wrap="square">
            <a:spAutoFit/>
          </a:bodyPr>
          <a:lstStyle/>
          <a:p>
            <a:pPr algn="ctr"/>
            <a:r>
              <a:rPr sz="1400" b="0" i="0">
                <a:solidFill>
                  <a:srgbClr val="2A2F36"/>
                </a:solidFill>
                <a:latin typeface="Calibri"/>
              </a:rPr>
              <a:t>🧹</a:t>
            </a:r>
          </a:p>
        </p:txBody>
      </p:sp>
      <p:sp>
        <p:nvSpPr>
          <p:cNvPr id="40" name="TextBox 39"/>
          <p:cNvSpPr txBox="1"/>
          <p:nvPr/>
        </p:nvSpPr>
        <p:spPr>
          <a:xfrm>
            <a:off x="1691640" y="5248656"/>
            <a:ext cx="4069080" cy="365760"/>
          </a:xfrm>
          <a:prstGeom prst="rect">
            <a:avLst/>
          </a:prstGeom>
          <a:noFill/>
        </p:spPr>
        <p:txBody>
          <a:bodyPr wrap="square">
            <a:spAutoFit/>
          </a:bodyPr>
          <a:lstStyle/>
          <a:p>
            <a:pPr algn="l"/>
            <a:r>
              <a:rPr sz="1200" b="1" i="0">
                <a:solidFill>
                  <a:srgbClr val="111418"/>
                </a:solidFill>
                <a:latin typeface="Calibri"/>
              </a:rPr>
              <a:t>They clear the boxes, dig the ground and plant.</a:t>
            </a:r>
          </a:p>
        </p:txBody>
      </p:sp>
      <p:sp>
        <p:nvSpPr>
          <p:cNvPr id="41" name="Rounded Rectangle 40"/>
          <p:cNvSpPr/>
          <p:nvPr/>
        </p:nvSpPr>
        <p:spPr>
          <a:xfrm>
            <a:off x="6172200" y="5120640"/>
            <a:ext cx="5440680" cy="603504"/>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373368" y="5239512"/>
            <a:ext cx="384048"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85432" y="5230368"/>
            <a:ext cx="457200" cy="384048"/>
          </a:xfrm>
          <a:prstGeom prst="rect">
            <a:avLst/>
          </a:prstGeom>
          <a:noFill/>
        </p:spPr>
        <p:txBody>
          <a:bodyPr wrap="square">
            <a:spAutoFit/>
          </a:bodyPr>
          <a:lstStyle/>
          <a:p>
            <a:pPr algn="ctr"/>
            <a:r>
              <a:rPr sz="1400" b="0" i="0">
                <a:solidFill>
                  <a:srgbClr val="2A2F36"/>
                </a:solidFill>
                <a:latin typeface="Calibri"/>
              </a:rPr>
              <a:t>🦋</a:t>
            </a:r>
          </a:p>
        </p:txBody>
      </p:sp>
      <p:sp>
        <p:nvSpPr>
          <p:cNvPr id="44" name="TextBox 43"/>
          <p:cNvSpPr txBox="1"/>
          <p:nvPr/>
        </p:nvSpPr>
        <p:spPr>
          <a:xfrm>
            <a:off x="7406640" y="5248656"/>
            <a:ext cx="4069080" cy="365760"/>
          </a:xfrm>
          <a:prstGeom prst="rect">
            <a:avLst/>
          </a:prstGeom>
          <a:noFill/>
        </p:spPr>
        <p:txBody>
          <a:bodyPr wrap="square">
            <a:spAutoFit/>
          </a:bodyPr>
          <a:lstStyle/>
          <a:p>
            <a:pPr algn="l"/>
            <a:r>
              <a:rPr sz="1200" b="1" i="0">
                <a:solidFill>
                  <a:srgbClr val="111418"/>
                </a:solidFill>
                <a:latin typeface="Calibri"/>
              </a:rPr>
              <a:t>Butterflies, bees and birds arrive.</a:t>
            </a:r>
          </a:p>
        </p:txBody>
      </p:sp>
      <p:sp>
        <p:nvSpPr>
          <p:cNvPr id="45" name="Rounded Rectangle 44"/>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7" name="TextBox 46"/>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The main idea covers the WHOLE story, not one interesting detail.</a:t>
            </a:r>
          </a:p>
        </p:txBody>
      </p:sp>
    </p:spTree>
  </p:cSld>
  <p:clrMapOvr>
    <a:masterClrMapping/>
  </p:clrMapOvr>
  <p:transition spd="med"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LEARN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69–77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Don't Just Guess — Find the Evidence!</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8594145"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69–77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43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From now on, every answer needs a sentence to back it up.</a:t>
            </a:r>
          </a:p>
        </p:txBody>
      </p:sp>
      <p:sp>
        <p:nvSpPr>
          <p:cNvPr id="15" name="Rounded Rectangle 14"/>
          <p:cNvSpPr/>
          <p:nvPr/>
        </p:nvSpPr>
        <p:spPr>
          <a:xfrm>
            <a:off x="457200" y="1691640"/>
            <a:ext cx="3566160" cy="28346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920240" y="1920240"/>
            <a:ext cx="640080" cy="640080"/>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2029968"/>
            <a:ext cx="640080" cy="420624"/>
          </a:xfrm>
          <a:prstGeom prst="rect">
            <a:avLst/>
          </a:prstGeom>
          <a:noFill/>
        </p:spPr>
        <p:txBody>
          <a:bodyPr wrap="square">
            <a:spAutoFit/>
          </a:bodyPr>
          <a:lstStyle/>
          <a:p>
            <a:pPr algn="ctr"/>
            <a:r>
              <a:rPr sz="1800" b="1" i="0">
                <a:solidFill>
                  <a:srgbClr val="FFFFFF"/>
                </a:solidFill>
                <a:latin typeface="Calibri"/>
              </a:rPr>
              <a:t>1</a:t>
            </a:r>
          </a:p>
        </p:txBody>
      </p:sp>
      <p:sp>
        <p:nvSpPr>
          <p:cNvPr id="18" name="TextBox 17"/>
          <p:cNvSpPr txBox="1"/>
          <p:nvPr/>
        </p:nvSpPr>
        <p:spPr>
          <a:xfrm>
            <a:off x="594360" y="2743200"/>
            <a:ext cx="3291840" cy="457200"/>
          </a:xfrm>
          <a:prstGeom prst="rect">
            <a:avLst/>
          </a:prstGeom>
          <a:noFill/>
        </p:spPr>
        <p:txBody>
          <a:bodyPr wrap="square">
            <a:spAutoFit/>
          </a:bodyPr>
          <a:lstStyle/>
          <a:p>
            <a:pPr algn="ctr"/>
            <a:r>
              <a:rPr sz="1900" b="1" i="0">
                <a:solidFill>
                  <a:srgbClr val="C8322B"/>
                </a:solidFill>
                <a:latin typeface="Georgia"/>
              </a:rPr>
              <a:t>ANSWER IT</a:t>
            </a:r>
          </a:p>
        </p:txBody>
      </p:sp>
      <p:sp>
        <p:nvSpPr>
          <p:cNvPr id="19" name="TextBox 18"/>
          <p:cNvSpPr txBox="1"/>
          <p:nvPr/>
        </p:nvSpPr>
        <p:spPr>
          <a:xfrm>
            <a:off x="731520" y="3291840"/>
            <a:ext cx="3017520" cy="640080"/>
          </a:xfrm>
          <a:prstGeom prst="rect">
            <a:avLst/>
          </a:prstGeom>
          <a:noFill/>
        </p:spPr>
        <p:txBody>
          <a:bodyPr wrap="square">
            <a:spAutoFit/>
          </a:bodyPr>
          <a:lstStyle/>
          <a:p>
            <a:pPr algn="ctr"/>
            <a:r>
              <a:rPr sz="1300" b="0" i="0">
                <a:solidFill>
                  <a:srgbClr val="2A2F36"/>
                </a:solidFill>
                <a:latin typeface="Calibri"/>
              </a:rPr>
              <a:t>Say what you think.</a:t>
            </a:r>
          </a:p>
        </p:txBody>
      </p:sp>
      <p:sp>
        <p:nvSpPr>
          <p:cNvPr id="20" name="Rounded Rectangle 19"/>
          <p:cNvSpPr/>
          <p:nvPr/>
        </p:nvSpPr>
        <p:spPr>
          <a:xfrm>
            <a:off x="4251960" y="1691640"/>
            <a:ext cx="3566160" cy="28346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5000" y="1920240"/>
            <a:ext cx="640080" cy="640080"/>
          </a:xfrm>
          <a:prstGeom prst="ellipse">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5000" y="2029968"/>
            <a:ext cx="640080" cy="420624"/>
          </a:xfrm>
          <a:prstGeom prst="rect">
            <a:avLst/>
          </a:prstGeom>
          <a:noFill/>
        </p:spPr>
        <p:txBody>
          <a:bodyPr wrap="square">
            <a:spAutoFit/>
          </a:bodyPr>
          <a:lstStyle/>
          <a:p>
            <a:pPr algn="ctr"/>
            <a:r>
              <a:rPr sz="1800" b="1" i="0">
                <a:solidFill>
                  <a:srgbClr val="FFFFFF"/>
                </a:solidFill>
                <a:latin typeface="Calibri"/>
              </a:rPr>
              <a:t>2</a:t>
            </a:r>
          </a:p>
        </p:txBody>
      </p:sp>
      <p:sp>
        <p:nvSpPr>
          <p:cNvPr id="23" name="TextBox 22"/>
          <p:cNvSpPr txBox="1"/>
          <p:nvPr/>
        </p:nvSpPr>
        <p:spPr>
          <a:xfrm>
            <a:off x="4389120" y="2743200"/>
            <a:ext cx="3291840" cy="457200"/>
          </a:xfrm>
          <a:prstGeom prst="rect">
            <a:avLst/>
          </a:prstGeom>
          <a:noFill/>
        </p:spPr>
        <p:txBody>
          <a:bodyPr wrap="square">
            <a:spAutoFit/>
          </a:bodyPr>
          <a:lstStyle/>
          <a:p>
            <a:pPr algn="ctr"/>
            <a:r>
              <a:rPr sz="1900" b="1" i="0">
                <a:solidFill>
                  <a:srgbClr val="D08A0C"/>
                </a:solidFill>
                <a:latin typeface="Georgia"/>
              </a:rPr>
              <a:t>FIND IT</a:t>
            </a:r>
          </a:p>
        </p:txBody>
      </p:sp>
      <p:sp>
        <p:nvSpPr>
          <p:cNvPr id="24" name="TextBox 23"/>
          <p:cNvSpPr txBox="1"/>
          <p:nvPr/>
        </p:nvSpPr>
        <p:spPr>
          <a:xfrm>
            <a:off x="4526280" y="3291840"/>
            <a:ext cx="3017520" cy="640080"/>
          </a:xfrm>
          <a:prstGeom prst="rect">
            <a:avLst/>
          </a:prstGeom>
          <a:noFill/>
        </p:spPr>
        <p:txBody>
          <a:bodyPr wrap="square">
            <a:spAutoFit/>
          </a:bodyPr>
          <a:lstStyle/>
          <a:p>
            <a:pPr algn="ctr"/>
            <a:r>
              <a:rPr sz="1300" b="0" i="0">
                <a:solidFill>
                  <a:srgbClr val="2A2F36"/>
                </a:solidFill>
                <a:latin typeface="Calibri"/>
              </a:rPr>
              <a:t>Go back and hunt for the sentence.</a:t>
            </a:r>
          </a:p>
        </p:txBody>
      </p:sp>
      <p:sp>
        <p:nvSpPr>
          <p:cNvPr id="25" name="Rounded Rectangle 24"/>
          <p:cNvSpPr/>
          <p:nvPr/>
        </p:nvSpPr>
        <p:spPr>
          <a:xfrm>
            <a:off x="8046720" y="1691640"/>
            <a:ext cx="3566160" cy="28346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509760" y="1920240"/>
            <a:ext cx="640080" cy="640080"/>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9760" y="2029968"/>
            <a:ext cx="640080" cy="420624"/>
          </a:xfrm>
          <a:prstGeom prst="rect">
            <a:avLst/>
          </a:prstGeom>
          <a:noFill/>
        </p:spPr>
        <p:txBody>
          <a:bodyPr wrap="square">
            <a:spAutoFit/>
          </a:bodyPr>
          <a:lstStyle/>
          <a:p>
            <a:pPr algn="ctr"/>
            <a:r>
              <a:rPr sz="1800" b="1" i="0">
                <a:solidFill>
                  <a:srgbClr val="FFFFFF"/>
                </a:solidFill>
                <a:latin typeface="Calibri"/>
              </a:rPr>
              <a:t>3</a:t>
            </a:r>
          </a:p>
        </p:txBody>
      </p:sp>
      <p:sp>
        <p:nvSpPr>
          <p:cNvPr id="28" name="TextBox 27"/>
          <p:cNvSpPr txBox="1"/>
          <p:nvPr/>
        </p:nvSpPr>
        <p:spPr>
          <a:xfrm>
            <a:off x="8183880" y="2743200"/>
            <a:ext cx="3291840" cy="457200"/>
          </a:xfrm>
          <a:prstGeom prst="rect">
            <a:avLst/>
          </a:prstGeom>
          <a:noFill/>
        </p:spPr>
        <p:txBody>
          <a:bodyPr wrap="square">
            <a:spAutoFit/>
          </a:bodyPr>
          <a:lstStyle/>
          <a:p>
            <a:pPr algn="ctr"/>
            <a:r>
              <a:rPr sz="1900" b="1" i="0">
                <a:solidFill>
                  <a:srgbClr val="1E7A52"/>
                </a:solidFill>
                <a:latin typeface="Georgia"/>
              </a:rPr>
              <a:t>READ IT</a:t>
            </a:r>
          </a:p>
        </p:txBody>
      </p:sp>
      <p:sp>
        <p:nvSpPr>
          <p:cNvPr id="29" name="TextBox 28"/>
          <p:cNvSpPr txBox="1"/>
          <p:nvPr/>
        </p:nvSpPr>
        <p:spPr>
          <a:xfrm>
            <a:off x="8321040" y="3291840"/>
            <a:ext cx="3017520" cy="640080"/>
          </a:xfrm>
          <a:prstGeom prst="rect">
            <a:avLst/>
          </a:prstGeom>
          <a:noFill/>
        </p:spPr>
        <p:txBody>
          <a:bodyPr wrap="square">
            <a:spAutoFit/>
          </a:bodyPr>
          <a:lstStyle/>
          <a:p>
            <a:pPr algn="ctr"/>
            <a:r>
              <a:rPr sz="1300" b="0" i="0">
                <a:solidFill>
                  <a:srgbClr val="2A2F36"/>
                </a:solidFill>
                <a:latin typeface="Calibri"/>
              </a:rPr>
              <a:t>Read that sentence out loud to me.</a:t>
            </a:r>
          </a:p>
        </p:txBody>
      </p:sp>
      <p:sp>
        <p:nvSpPr>
          <p:cNvPr id="30" name="Rounded Rectangle 29"/>
          <p:cNvSpPr/>
          <p:nvPr/>
        </p:nvSpPr>
        <p:spPr>
          <a:xfrm>
            <a:off x="457200" y="4709160"/>
            <a:ext cx="11292840" cy="1005840"/>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010912"/>
            <a:ext cx="10698480" cy="457200"/>
          </a:xfrm>
          <a:prstGeom prst="rect">
            <a:avLst/>
          </a:prstGeom>
          <a:noFill/>
        </p:spPr>
        <p:txBody>
          <a:bodyPr wrap="square">
            <a:spAutoFit/>
          </a:bodyPr>
          <a:lstStyle/>
          <a:p>
            <a:pPr algn="ctr"/>
            <a:r>
              <a:rPr sz="2400" b="1" i="0">
                <a:solidFill>
                  <a:srgbClr val="FFFFFF"/>
                </a:solidFill>
                <a:latin typeface="Georgia"/>
              </a:rPr>
              <a:t>📰  "SHOW ME WHERE YOU FOUND IT."</a:t>
            </a:r>
          </a:p>
        </p:txBody>
      </p:sp>
      <p:sp>
        <p:nvSpPr>
          <p:cNvPr id="32" name="Rounded Rectangle 31"/>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4" name="TextBox 33"/>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Going back to the text is not cheating. It is the actual skill.</a:t>
            </a:r>
          </a:p>
        </p:txBody>
      </p:sp>
    </p:spTree>
  </p:cSld>
  <p:clrMapOvr>
    <a:masterClrMapping/>
  </p:clrMapOvr>
  <p:transition spd="med"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69–77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Game: Find the Evidence — 1 and 2</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8794009"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69–77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44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B5E9E"/>
                </a:solidFill>
                <a:latin typeface="Calibri"/>
              </a:rPr>
              <a:t>Answer it. Then find the sentence that proves it.</a:t>
            </a:r>
          </a:p>
        </p:txBody>
      </p:sp>
      <p:sp>
        <p:nvSpPr>
          <p:cNvPr id="15" name="Rounded Rectangle 14"/>
          <p:cNvSpPr/>
          <p:nvPr/>
        </p:nvSpPr>
        <p:spPr>
          <a:xfrm>
            <a:off x="457200" y="169164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363724"/>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418587"/>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370332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4375404"/>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0267"/>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TextBox 20"/>
          <p:cNvSpPr txBox="1"/>
          <p:nvPr/>
        </p:nvSpPr>
        <p:spPr>
          <a:xfrm>
            <a:off x="1325880" y="2194560"/>
            <a:ext cx="914400" cy="731520"/>
          </a:xfrm>
          <a:prstGeom prst="rect">
            <a:avLst/>
          </a:prstGeom>
          <a:noFill/>
        </p:spPr>
        <p:txBody>
          <a:bodyPr wrap="square">
            <a:spAutoFit/>
          </a:bodyPr>
          <a:lstStyle/>
          <a:p>
            <a:pPr algn="ctr"/>
            <a:r>
              <a:rPr sz="3200" b="0" i="0">
                <a:solidFill>
                  <a:srgbClr val="2A2F36"/>
                </a:solidFill>
                <a:latin typeface="Calibri"/>
              </a:rPr>
              <a:t>❓</a:t>
            </a:r>
          </a:p>
        </p:txBody>
      </p:sp>
      <p:sp>
        <p:nvSpPr>
          <p:cNvPr id="22" name="TextBox 21"/>
          <p:cNvSpPr txBox="1"/>
          <p:nvPr/>
        </p:nvSpPr>
        <p:spPr>
          <a:xfrm>
            <a:off x="2423160" y="1965960"/>
            <a:ext cx="8961120" cy="566928"/>
          </a:xfrm>
          <a:prstGeom prst="rect">
            <a:avLst/>
          </a:prstGeom>
          <a:noFill/>
        </p:spPr>
        <p:txBody>
          <a:bodyPr wrap="square">
            <a:spAutoFit/>
          </a:bodyPr>
          <a:lstStyle/>
          <a:p>
            <a:pPr algn="l"/>
            <a:r>
              <a:rPr sz="2100" b="1" i="0">
                <a:solidFill>
                  <a:srgbClr val="111418"/>
                </a:solidFill>
                <a:latin typeface="Calibri"/>
              </a:rPr>
              <a:t>Why did the students start the garden?</a:t>
            </a:r>
          </a:p>
        </p:txBody>
      </p:sp>
      <p:sp>
        <p:nvSpPr>
          <p:cNvPr id="23" name="Rounded Rectangle 22"/>
          <p:cNvSpPr/>
          <p:nvPr/>
        </p:nvSpPr>
        <p:spPr>
          <a:xfrm>
            <a:off x="2423160" y="2606040"/>
            <a:ext cx="4297680" cy="56692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51760" y="2724911"/>
            <a:ext cx="3931920" cy="384048"/>
          </a:xfrm>
          <a:prstGeom prst="rect">
            <a:avLst/>
          </a:prstGeom>
          <a:noFill/>
        </p:spPr>
        <p:txBody>
          <a:bodyPr wrap="square">
            <a:spAutoFit/>
          </a:bodyPr>
          <a:lstStyle/>
          <a:p>
            <a:pPr algn="l"/>
            <a:r>
              <a:rPr sz="1200" b="0" i="0">
                <a:solidFill>
                  <a:srgbClr val="78828E"/>
                </a:solidFill>
                <a:latin typeface="Calibri"/>
              </a:rPr>
              <a:t>Your answer:  ____________________</a:t>
            </a:r>
          </a:p>
        </p:txBody>
      </p:sp>
      <p:sp>
        <p:nvSpPr>
          <p:cNvPr id="25" name="Rounded Rectangle 24"/>
          <p:cNvSpPr/>
          <p:nvPr/>
        </p:nvSpPr>
        <p:spPr>
          <a:xfrm>
            <a:off x="6949440" y="2606040"/>
            <a:ext cx="4434840" cy="566928"/>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78040" y="2706624"/>
            <a:ext cx="4023360" cy="402336"/>
          </a:xfrm>
          <a:prstGeom prst="rect">
            <a:avLst/>
          </a:prstGeom>
          <a:noFill/>
        </p:spPr>
        <p:txBody>
          <a:bodyPr wrap="square">
            <a:spAutoFit/>
          </a:bodyPr>
          <a:lstStyle/>
          <a:p>
            <a:pPr algn="l"/>
            <a:r>
              <a:rPr sz="1200" b="1" i="0">
                <a:solidFill>
                  <a:srgbClr val="1B5E9E"/>
                </a:solidFill>
                <a:latin typeface="Calibri"/>
              </a:rPr>
              <a:t>📰 SHOW ME WHERE  ·  look in Part 1</a:t>
            </a:r>
          </a:p>
        </p:txBody>
      </p:sp>
      <p:sp>
        <p:nvSpPr>
          <p:cNvPr id="27" name="TextBox 26"/>
          <p:cNvSpPr txBox="1"/>
          <p:nvPr/>
        </p:nvSpPr>
        <p:spPr>
          <a:xfrm>
            <a:off x="1325880" y="4206240"/>
            <a:ext cx="914400" cy="731520"/>
          </a:xfrm>
          <a:prstGeom prst="rect">
            <a:avLst/>
          </a:prstGeom>
          <a:noFill/>
        </p:spPr>
        <p:txBody>
          <a:bodyPr wrap="square">
            <a:spAutoFit/>
          </a:bodyPr>
          <a:lstStyle/>
          <a:p>
            <a:pPr algn="ctr"/>
            <a:r>
              <a:rPr sz="3200" b="0" i="0">
                <a:solidFill>
                  <a:srgbClr val="2A2F36"/>
                </a:solidFill>
                <a:latin typeface="Calibri"/>
              </a:rPr>
              <a:t>🌱</a:t>
            </a:r>
          </a:p>
        </p:txBody>
      </p:sp>
      <p:sp>
        <p:nvSpPr>
          <p:cNvPr id="28" name="TextBox 27"/>
          <p:cNvSpPr txBox="1"/>
          <p:nvPr/>
        </p:nvSpPr>
        <p:spPr>
          <a:xfrm>
            <a:off x="2423160" y="3977640"/>
            <a:ext cx="8961120" cy="566928"/>
          </a:xfrm>
          <a:prstGeom prst="rect">
            <a:avLst/>
          </a:prstGeom>
          <a:noFill/>
        </p:spPr>
        <p:txBody>
          <a:bodyPr wrap="square">
            <a:spAutoFit/>
          </a:bodyPr>
          <a:lstStyle/>
          <a:p>
            <a:pPr algn="l"/>
            <a:r>
              <a:rPr sz="2100" b="1" i="0">
                <a:solidFill>
                  <a:srgbClr val="111418"/>
                </a:solidFill>
                <a:latin typeface="Calibri"/>
              </a:rPr>
              <a:t>What did they plant?</a:t>
            </a:r>
          </a:p>
        </p:txBody>
      </p:sp>
      <p:sp>
        <p:nvSpPr>
          <p:cNvPr id="29" name="Rounded Rectangle 28"/>
          <p:cNvSpPr/>
          <p:nvPr/>
        </p:nvSpPr>
        <p:spPr>
          <a:xfrm>
            <a:off x="2423160" y="4617720"/>
            <a:ext cx="4297680" cy="56692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51760" y="4736591"/>
            <a:ext cx="3931920" cy="384048"/>
          </a:xfrm>
          <a:prstGeom prst="rect">
            <a:avLst/>
          </a:prstGeom>
          <a:noFill/>
        </p:spPr>
        <p:txBody>
          <a:bodyPr wrap="square">
            <a:spAutoFit/>
          </a:bodyPr>
          <a:lstStyle/>
          <a:p>
            <a:pPr algn="l"/>
            <a:r>
              <a:rPr sz="1200" b="0" i="0">
                <a:solidFill>
                  <a:srgbClr val="78828E"/>
                </a:solidFill>
                <a:latin typeface="Calibri"/>
              </a:rPr>
              <a:t>Your answer:  ____________________</a:t>
            </a:r>
          </a:p>
        </p:txBody>
      </p:sp>
      <p:sp>
        <p:nvSpPr>
          <p:cNvPr id="31" name="Rounded Rectangle 30"/>
          <p:cNvSpPr/>
          <p:nvPr/>
        </p:nvSpPr>
        <p:spPr>
          <a:xfrm>
            <a:off x="6949440" y="4617720"/>
            <a:ext cx="4434840" cy="566928"/>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78040" y="4718304"/>
            <a:ext cx="4023360" cy="402336"/>
          </a:xfrm>
          <a:prstGeom prst="rect">
            <a:avLst/>
          </a:prstGeom>
          <a:noFill/>
        </p:spPr>
        <p:txBody>
          <a:bodyPr wrap="square">
            <a:spAutoFit/>
          </a:bodyPr>
          <a:lstStyle/>
          <a:p>
            <a:pPr algn="l"/>
            <a:r>
              <a:rPr sz="1200" b="1" i="0">
                <a:solidFill>
                  <a:srgbClr val="1B5E9E"/>
                </a:solidFill>
                <a:latin typeface="Calibri"/>
              </a:rPr>
              <a:t>📰 SHOW ME WHERE  ·  look in Part 3</a:t>
            </a:r>
          </a:p>
        </p:txBody>
      </p:sp>
      <p:sp>
        <p:nvSpPr>
          <p:cNvPr id="33" name="Rounded Rectangle 32"/>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5" name="TextBox 34"/>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Part 3 lists four plants. Ask her to read all four out loud.</a:t>
            </a:r>
          </a:p>
        </p:txBody>
      </p:sp>
    </p:spTree>
  </p:cSld>
  <p:clrMapOvr>
    <a:masterClrMapping/>
  </p:clrMapOvr>
  <p:transition spd="med"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69–77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Find the Evidence — 3 and 4</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8993873"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69–77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45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B5E9E"/>
                </a:solidFill>
                <a:latin typeface="Calibri"/>
              </a:rPr>
              <a:t>Two more. Read the proof sentence out loud each time.</a:t>
            </a:r>
          </a:p>
        </p:txBody>
      </p:sp>
      <p:sp>
        <p:nvSpPr>
          <p:cNvPr id="15" name="Rounded Rectangle 14"/>
          <p:cNvSpPr/>
          <p:nvPr/>
        </p:nvSpPr>
        <p:spPr>
          <a:xfrm>
            <a:off x="457200" y="169164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363724"/>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418587"/>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18" name="Rounded Rectangle 17"/>
          <p:cNvSpPr/>
          <p:nvPr/>
        </p:nvSpPr>
        <p:spPr>
          <a:xfrm>
            <a:off x="457200" y="370332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4375404"/>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0267"/>
            <a:ext cx="438912" cy="347472"/>
          </a:xfrm>
          <a:prstGeom prst="rect">
            <a:avLst/>
          </a:prstGeom>
          <a:noFill/>
        </p:spPr>
        <p:txBody>
          <a:bodyPr wrap="square">
            <a:spAutoFit/>
          </a:bodyPr>
          <a:lstStyle/>
          <a:p>
            <a:pPr algn="ctr"/>
            <a:r>
              <a:rPr sz="1200" b="1" i="0">
                <a:solidFill>
                  <a:srgbClr val="FFFFFF"/>
                </a:solidFill>
                <a:latin typeface="Calibri"/>
              </a:rPr>
              <a:t>4</a:t>
            </a:r>
          </a:p>
        </p:txBody>
      </p:sp>
      <p:sp>
        <p:nvSpPr>
          <p:cNvPr id="21" name="TextBox 20"/>
          <p:cNvSpPr txBox="1"/>
          <p:nvPr/>
        </p:nvSpPr>
        <p:spPr>
          <a:xfrm>
            <a:off x="1325880" y="2194560"/>
            <a:ext cx="914400" cy="731520"/>
          </a:xfrm>
          <a:prstGeom prst="rect">
            <a:avLst/>
          </a:prstGeom>
          <a:noFill/>
        </p:spPr>
        <p:txBody>
          <a:bodyPr wrap="square">
            <a:spAutoFit/>
          </a:bodyPr>
          <a:lstStyle/>
          <a:p>
            <a:pPr algn="ctr"/>
            <a:r>
              <a:rPr sz="3200" b="0" i="0">
                <a:solidFill>
                  <a:srgbClr val="2A2F36"/>
                </a:solidFill>
                <a:latin typeface="Calibri"/>
              </a:rPr>
              <a:t>🦋</a:t>
            </a:r>
          </a:p>
        </p:txBody>
      </p:sp>
      <p:sp>
        <p:nvSpPr>
          <p:cNvPr id="22" name="TextBox 21"/>
          <p:cNvSpPr txBox="1"/>
          <p:nvPr/>
        </p:nvSpPr>
        <p:spPr>
          <a:xfrm>
            <a:off x="2423160" y="1965960"/>
            <a:ext cx="8961120" cy="566928"/>
          </a:xfrm>
          <a:prstGeom prst="rect">
            <a:avLst/>
          </a:prstGeom>
          <a:noFill/>
        </p:spPr>
        <p:txBody>
          <a:bodyPr wrap="square">
            <a:spAutoFit/>
          </a:bodyPr>
          <a:lstStyle/>
          <a:p>
            <a:pPr algn="l"/>
            <a:r>
              <a:rPr sz="2100" b="1" i="0">
                <a:solidFill>
                  <a:srgbClr val="111418"/>
                </a:solidFill>
                <a:latin typeface="Calibri"/>
              </a:rPr>
              <a:t>What animals came to the garden?</a:t>
            </a:r>
          </a:p>
        </p:txBody>
      </p:sp>
      <p:sp>
        <p:nvSpPr>
          <p:cNvPr id="23" name="Rounded Rectangle 22"/>
          <p:cNvSpPr/>
          <p:nvPr/>
        </p:nvSpPr>
        <p:spPr>
          <a:xfrm>
            <a:off x="2423160" y="2606040"/>
            <a:ext cx="4297680" cy="56692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51760" y="2724911"/>
            <a:ext cx="3931920" cy="384048"/>
          </a:xfrm>
          <a:prstGeom prst="rect">
            <a:avLst/>
          </a:prstGeom>
          <a:noFill/>
        </p:spPr>
        <p:txBody>
          <a:bodyPr wrap="square">
            <a:spAutoFit/>
          </a:bodyPr>
          <a:lstStyle/>
          <a:p>
            <a:pPr algn="l"/>
            <a:r>
              <a:rPr sz="1200" b="0" i="0">
                <a:solidFill>
                  <a:srgbClr val="78828E"/>
                </a:solidFill>
                <a:latin typeface="Calibri"/>
              </a:rPr>
              <a:t>Your answer:  ____________________</a:t>
            </a:r>
          </a:p>
        </p:txBody>
      </p:sp>
      <p:sp>
        <p:nvSpPr>
          <p:cNvPr id="25" name="Rounded Rectangle 24"/>
          <p:cNvSpPr/>
          <p:nvPr/>
        </p:nvSpPr>
        <p:spPr>
          <a:xfrm>
            <a:off x="6949440" y="2606040"/>
            <a:ext cx="4434840" cy="566928"/>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78040" y="2706624"/>
            <a:ext cx="4023360" cy="402336"/>
          </a:xfrm>
          <a:prstGeom prst="rect">
            <a:avLst/>
          </a:prstGeom>
          <a:noFill/>
        </p:spPr>
        <p:txBody>
          <a:bodyPr wrap="square">
            <a:spAutoFit/>
          </a:bodyPr>
          <a:lstStyle/>
          <a:p>
            <a:pPr algn="l"/>
            <a:r>
              <a:rPr sz="1200" b="1" i="0">
                <a:solidFill>
                  <a:srgbClr val="1B5E9E"/>
                </a:solidFill>
                <a:latin typeface="Calibri"/>
              </a:rPr>
              <a:t>📰 SHOW ME WHERE  ·  look in Part 4</a:t>
            </a:r>
          </a:p>
        </p:txBody>
      </p:sp>
      <p:sp>
        <p:nvSpPr>
          <p:cNvPr id="27" name="TextBox 26"/>
          <p:cNvSpPr txBox="1"/>
          <p:nvPr/>
        </p:nvSpPr>
        <p:spPr>
          <a:xfrm>
            <a:off x="1325880" y="4206240"/>
            <a:ext cx="914400" cy="731520"/>
          </a:xfrm>
          <a:prstGeom prst="rect">
            <a:avLst/>
          </a:prstGeom>
          <a:noFill/>
        </p:spPr>
        <p:txBody>
          <a:bodyPr wrap="square">
            <a:spAutoFit/>
          </a:bodyPr>
          <a:lstStyle/>
          <a:p>
            <a:pPr algn="ctr"/>
            <a:r>
              <a:rPr sz="3200" b="0" i="0">
                <a:solidFill>
                  <a:srgbClr val="2A2F36"/>
                </a:solidFill>
                <a:latin typeface="Calibri"/>
              </a:rPr>
              <a:t>💡</a:t>
            </a:r>
          </a:p>
        </p:txBody>
      </p:sp>
      <p:sp>
        <p:nvSpPr>
          <p:cNvPr id="28" name="TextBox 27"/>
          <p:cNvSpPr txBox="1"/>
          <p:nvPr/>
        </p:nvSpPr>
        <p:spPr>
          <a:xfrm>
            <a:off x="2423160" y="3977640"/>
            <a:ext cx="8961120" cy="566928"/>
          </a:xfrm>
          <a:prstGeom prst="rect">
            <a:avLst/>
          </a:prstGeom>
          <a:noFill/>
        </p:spPr>
        <p:txBody>
          <a:bodyPr wrap="square">
            <a:spAutoFit/>
          </a:bodyPr>
          <a:lstStyle/>
          <a:p>
            <a:pPr algn="l"/>
            <a:r>
              <a:rPr sz="2100" b="1" i="0">
                <a:solidFill>
                  <a:srgbClr val="111418"/>
                </a:solidFill>
                <a:latin typeface="Calibri"/>
              </a:rPr>
              <a:t>What did the students learn?</a:t>
            </a:r>
          </a:p>
        </p:txBody>
      </p:sp>
      <p:sp>
        <p:nvSpPr>
          <p:cNvPr id="29" name="Rounded Rectangle 28"/>
          <p:cNvSpPr/>
          <p:nvPr/>
        </p:nvSpPr>
        <p:spPr>
          <a:xfrm>
            <a:off x="2423160" y="4617720"/>
            <a:ext cx="4297680" cy="56692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51760" y="4736591"/>
            <a:ext cx="3931920" cy="384048"/>
          </a:xfrm>
          <a:prstGeom prst="rect">
            <a:avLst/>
          </a:prstGeom>
          <a:noFill/>
        </p:spPr>
        <p:txBody>
          <a:bodyPr wrap="square">
            <a:spAutoFit/>
          </a:bodyPr>
          <a:lstStyle/>
          <a:p>
            <a:pPr algn="l"/>
            <a:r>
              <a:rPr sz="1200" b="0" i="0">
                <a:solidFill>
                  <a:srgbClr val="78828E"/>
                </a:solidFill>
                <a:latin typeface="Calibri"/>
              </a:rPr>
              <a:t>Your answer:  ____________________</a:t>
            </a:r>
          </a:p>
        </p:txBody>
      </p:sp>
      <p:sp>
        <p:nvSpPr>
          <p:cNvPr id="31" name="Rounded Rectangle 30"/>
          <p:cNvSpPr/>
          <p:nvPr/>
        </p:nvSpPr>
        <p:spPr>
          <a:xfrm>
            <a:off x="6949440" y="4617720"/>
            <a:ext cx="4434840" cy="566928"/>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78040" y="4718304"/>
            <a:ext cx="4023360" cy="402336"/>
          </a:xfrm>
          <a:prstGeom prst="rect">
            <a:avLst/>
          </a:prstGeom>
          <a:noFill/>
        </p:spPr>
        <p:txBody>
          <a:bodyPr wrap="square">
            <a:spAutoFit/>
          </a:bodyPr>
          <a:lstStyle/>
          <a:p>
            <a:pPr algn="l"/>
            <a:r>
              <a:rPr sz="1200" b="1" i="0">
                <a:solidFill>
                  <a:srgbClr val="1B5E9E"/>
                </a:solidFill>
                <a:latin typeface="Calibri"/>
              </a:rPr>
              <a:t>📰 SHOW ME WHERE  ·  look in Part 4</a:t>
            </a:r>
          </a:p>
        </p:txBody>
      </p:sp>
      <p:sp>
        <p:nvSpPr>
          <p:cNvPr id="33" name="Rounded Rectangle 32"/>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5" name="TextBox 34"/>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Question 4 is answered in Priya's own quoted words.</a:t>
            </a:r>
          </a:p>
        </p:txBody>
      </p:sp>
    </p:spTree>
  </p:cSld>
  <p:clrMapOvr>
    <a:masterClrMapping/>
  </p:clrMapOvr>
  <p:transition spd="med"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69–77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Find the Evidence — 5 and an Inference</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9193737"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69–77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46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6A4A9E"/>
                </a:solidFill>
                <a:latin typeface="Calibri"/>
              </a:rPr>
              <a:t>The last one is not written down. You work it out.</a:t>
            </a:r>
          </a:p>
        </p:txBody>
      </p:sp>
      <p:sp>
        <p:nvSpPr>
          <p:cNvPr id="15" name="Rounded Rectangle 14"/>
          <p:cNvSpPr/>
          <p:nvPr/>
        </p:nvSpPr>
        <p:spPr>
          <a:xfrm>
            <a:off x="457200" y="169164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363724"/>
            <a:ext cx="438912" cy="438912"/>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418587"/>
            <a:ext cx="438912" cy="347472"/>
          </a:xfrm>
          <a:prstGeom prst="rect">
            <a:avLst/>
          </a:prstGeom>
          <a:noFill/>
        </p:spPr>
        <p:txBody>
          <a:bodyPr wrap="square">
            <a:spAutoFit/>
          </a:bodyPr>
          <a:lstStyle/>
          <a:p>
            <a:pPr algn="ctr"/>
            <a:r>
              <a:rPr sz="1200" b="1" i="0">
                <a:solidFill>
                  <a:srgbClr val="FFFFFF"/>
                </a:solidFill>
                <a:latin typeface="Calibri"/>
              </a:rPr>
              <a:t>5</a:t>
            </a:r>
          </a:p>
        </p:txBody>
      </p:sp>
      <p:sp>
        <p:nvSpPr>
          <p:cNvPr id="18" name="TextBox 17"/>
          <p:cNvSpPr txBox="1"/>
          <p:nvPr/>
        </p:nvSpPr>
        <p:spPr>
          <a:xfrm>
            <a:off x="1325880" y="2194560"/>
            <a:ext cx="914400" cy="731520"/>
          </a:xfrm>
          <a:prstGeom prst="rect">
            <a:avLst/>
          </a:prstGeom>
          <a:noFill/>
        </p:spPr>
        <p:txBody>
          <a:bodyPr wrap="square">
            <a:spAutoFit/>
          </a:bodyPr>
          <a:lstStyle/>
          <a:p>
            <a:pPr algn="ctr"/>
            <a:r>
              <a:rPr sz="3200" b="0" i="0">
                <a:solidFill>
                  <a:srgbClr val="2A2F36"/>
                </a:solidFill>
                <a:latin typeface="Calibri"/>
              </a:rPr>
              <a:t>🏫</a:t>
            </a:r>
          </a:p>
        </p:txBody>
      </p:sp>
      <p:sp>
        <p:nvSpPr>
          <p:cNvPr id="19" name="TextBox 18"/>
          <p:cNvSpPr txBox="1"/>
          <p:nvPr/>
        </p:nvSpPr>
        <p:spPr>
          <a:xfrm>
            <a:off x="2423160" y="1965960"/>
            <a:ext cx="8961120" cy="566928"/>
          </a:xfrm>
          <a:prstGeom prst="rect">
            <a:avLst/>
          </a:prstGeom>
          <a:noFill/>
        </p:spPr>
        <p:txBody>
          <a:bodyPr wrap="square">
            <a:spAutoFit/>
          </a:bodyPr>
          <a:lstStyle/>
          <a:p>
            <a:pPr algn="l"/>
            <a:r>
              <a:rPr sz="2100" b="1" i="0">
                <a:solidFill>
                  <a:srgbClr val="111418"/>
                </a:solidFill>
                <a:latin typeface="Calibri"/>
              </a:rPr>
              <a:t>How did the garden change the school area?</a:t>
            </a:r>
          </a:p>
        </p:txBody>
      </p:sp>
      <p:sp>
        <p:nvSpPr>
          <p:cNvPr id="20" name="Rounded Rectangle 19"/>
          <p:cNvSpPr/>
          <p:nvPr/>
        </p:nvSpPr>
        <p:spPr>
          <a:xfrm>
            <a:off x="2423160" y="2606040"/>
            <a:ext cx="4297680" cy="56692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51760" y="2724911"/>
            <a:ext cx="3931920" cy="384048"/>
          </a:xfrm>
          <a:prstGeom prst="rect">
            <a:avLst/>
          </a:prstGeom>
          <a:noFill/>
        </p:spPr>
        <p:txBody>
          <a:bodyPr wrap="square">
            <a:spAutoFit/>
          </a:bodyPr>
          <a:lstStyle/>
          <a:p>
            <a:pPr algn="l"/>
            <a:r>
              <a:rPr sz="1200" b="0" i="0">
                <a:solidFill>
                  <a:srgbClr val="78828E"/>
                </a:solidFill>
                <a:latin typeface="Calibri"/>
              </a:rPr>
              <a:t>Your answer:  ____________________</a:t>
            </a:r>
          </a:p>
        </p:txBody>
      </p:sp>
      <p:sp>
        <p:nvSpPr>
          <p:cNvPr id="22" name="Rounded Rectangle 21"/>
          <p:cNvSpPr/>
          <p:nvPr/>
        </p:nvSpPr>
        <p:spPr>
          <a:xfrm>
            <a:off x="6949440" y="2606040"/>
            <a:ext cx="4434840" cy="566928"/>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706624"/>
            <a:ext cx="4023360" cy="402336"/>
          </a:xfrm>
          <a:prstGeom prst="rect">
            <a:avLst/>
          </a:prstGeom>
          <a:noFill/>
        </p:spPr>
        <p:txBody>
          <a:bodyPr wrap="square">
            <a:spAutoFit/>
          </a:bodyPr>
          <a:lstStyle/>
          <a:p>
            <a:pPr algn="l"/>
            <a:r>
              <a:rPr sz="1200" b="1" i="0">
                <a:solidFill>
                  <a:srgbClr val="1B5E9E"/>
                </a:solidFill>
                <a:latin typeface="Calibri"/>
              </a:rPr>
              <a:t>📰 SHOW ME WHERE  ·  look in Part 4</a:t>
            </a:r>
          </a:p>
        </p:txBody>
      </p:sp>
      <p:sp>
        <p:nvSpPr>
          <p:cNvPr id="24" name="Rounded Rectangle 23"/>
          <p:cNvSpPr/>
          <p:nvPr/>
        </p:nvSpPr>
        <p:spPr>
          <a:xfrm>
            <a:off x="457200" y="3749039"/>
            <a:ext cx="11292840" cy="192024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886200"/>
            <a:ext cx="10698480" cy="329184"/>
          </a:xfrm>
          <a:prstGeom prst="rect">
            <a:avLst/>
          </a:prstGeom>
          <a:noFill/>
        </p:spPr>
        <p:txBody>
          <a:bodyPr wrap="square">
            <a:spAutoFit/>
          </a:bodyPr>
          <a:lstStyle/>
          <a:p>
            <a:pPr algn="l"/>
            <a:r>
              <a:rPr sz="1200" b="1" i="0">
                <a:solidFill>
                  <a:srgbClr val="6A4A9E"/>
                </a:solidFill>
                <a:latin typeface="Calibri"/>
              </a:rPr>
              <a:t>🧠 INFERENCE — the answer is hinted, not stated</a:t>
            </a:r>
          </a:p>
        </p:txBody>
      </p:sp>
      <p:sp>
        <p:nvSpPr>
          <p:cNvPr id="26" name="TextBox 25"/>
          <p:cNvSpPr txBox="1"/>
          <p:nvPr/>
        </p:nvSpPr>
        <p:spPr>
          <a:xfrm>
            <a:off x="731520" y="4251960"/>
            <a:ext cx="10698480" cy="365760"/>
          </a:xfrm>
          <a:prstGeom prst="rect">
            <a:avLst/>
          </a:prstGeom>
          <a:noFill/>
        </p:spPr>
        <p:txBody>
          <a:bodyPr wrap="square">
            <a:spAutoFit/>
          </a:bodyPr>
          <a:lstStyle/>
          <a:p>
            <a:pPr algn="l"/>
            <a:r>
              <a:rPr sz="1600" b="1" i="1">
                <a:solidFill>
                  <a:srgbClr val="111418"/>
                </a:solidFill>
                <a:latin typeface="Calibri"/>
              </a:rPr>
              <a:t>"Priya said her arms hurt, but she came back every time."</a:t>
            </a:r>
          </a:p>
        </p:txBody>
      </p:sp>
      <p:sp>
        <p:nvSpPr>
          <p:cNvPr id="27" name="TextBox 26"/>
          <p:cNvSpPr txBox="1"/>
          <p:nvPr/>
        </p:nvSpPr>
        <p:spPr>
          <a:xfrm>
            <a:off x="731520" y="4681728"/>
            <a:ext cx="10698480" cy="329184"/>
          </a:xfrm>
          <a:prstGeom prst="rect">
            <a:avLst/>
          </a:prstGeom>
          <a:noFill/>
        </p:spPr>
        <p:txBody>
          <a:bodyPr wrap="square">
            <a:spAutoFit/>
          </a:bodyPr>
          <a:lstStyle/>
          <a:p>
            <a:pPr algn="l"/>
            <a:r>
              <a:rPr sz="1400" b="1" i="0">
                <a:solidFill>
                  <a:srgbClr val="6A4A9E"/>
                </a:solidFill>
                <a:latin typeface="Calibri"/>
              </a:rPr>
              <a:t>What does this tell you about Priya?</a:t>
            </a:r>
          </a:p>
        </p:txBody>
      </p:sp>
      <p:sp>
        <p:nvSpPr>
          <p:cNvPr id="28" name="Rounded Rectangle 27"/>
          <p:cNvSpPr/>
          <p:nvPr/>
        </p:nvSpPr>
        <p:spPr>
          <a:xfrm>
            <a:off x="731520" y="5074920"/>
            <a:ext cx="3429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148072"/>
            <a:ext cx="3429000" cy="329184"/>
          </a:xfrm>
          <a:prstGeom prst="rect">
            <a:avLst/>
          </a:prstGeom>
          <a:noFill/>
        </p:spPr>
        <p:txBody>
          <a:bodyPr wrap="square">
            <a:spAutoFit/>
          </a:bodyPr>
          <a:lstStyle/>
          <a:p>
            <a:pPr algn="ctr"/>
            <a:r>
              <a:rPr sz="1200" b="1" i="0">
                <a:solidFill>
                  <a:srgbClr val="111418"/>
                </a:solidFill>
                <a:latin typeface="Calibri"/>
              </a:rPr>
              <a:t>She gives up easily.</a:t>
            </a:r>
          </a:p>
        </p:txBody>
      </p:sp>
      <p:sp>
        <p:nvSpPr>
          <p:cNvPr id="30" name="Rounded Rectangle 29"/>
          <p:cNvSpPr/>
          <p:nvPr/>
        </p:nvSpPr>
        <p:spPr>
          <a:xfrm>
            <a:off x="4343400" y="5074920"/>
            <a:ext cx="3429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5148072"/>
            <a:ext cx="3429000" cy="329184"/>
          </a:xfrm>
          <a:prstGeom prst="rect">
            <a:avLst/>
          </a:prstGeom>
          <a:noFill/>
        </p:spPr>
        <p:txBody>
          <a:bodyPr wrap="square">
            <a:spAutoFit/>
          </a:bodyPr>
          <a:lstStyle/>
          <a:p>
            <a:pPr algn="ctr"/>
            <a:r>
              <a:rPr sz="1200" b="1" i="0">
                <a:solidFill>
                  <a:srgbClr val="111418"/>
                </a:solidFill>
                <a:latin typeface="Calibri"/>
              </a:rPr>
              <a:t>She does not like gardens.</a:t>
            </a:r>
          </a:p>
        </p:txBody>
      </p:sp>
      <p:sp>
        <p:nvSpPr>
          <p:cNvPr id="32" name="Rounded Rectangle 31"/>
          <p:cNvSpPr/>
          <p:nvPr/>
        </p:nvSpPr>
        <p:spPr>
          <a:xfrm>
            <a:off x="7955280" y="5074920"/>
            <a:ext cx="3429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0" y="5148072"/>
            <a:ext cx="3429000" cy="329184"/>
          </a:xfrm>
          <a:prstGeom prst="rect">
            <a:avLst/>
          </a:prstGeom>
          <a:noFill/>
        </p:spPr>
        <p:txBody>
          <a:bodyPr wrap="square">
            <a:spAutoFit/>
          </a:bodyPr>
          <a:lstStyle/>
          <a:p>
            <a:pPr algn="ctr"/>
            <a:r>
              <a:rPr sz="1200" b="1" i="0">
                <a:solidFill>
                  <a:srgbClr val="111418"/>
                </a:solidFill>
                <a:latin typeface="Calibri"/>
              </a:rPr>
              <a:t>She keeps going even when it is hard.</a:t>
            </a:r>
          </a:p>
        </p:txBody>
      </p:sp>
      <p:sp>
        <p:nvSpPr>
          <p:cNvPr id="34" name="Rounded Rectangle 33"/>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6" name="TextBox 35"/>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Ask: what kind of person comes back when their arms hurt?</a:t>
            </a:r>
          </a:p>
        </p:txBody>
      </p:sp>
    </p:spTree>
  </p:cSld>
  <p:clrMapOvr>
    <a:masterClrMapping/>
  </p:clrMapOvr>
  <p:transition spd="med"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VOCABULARY</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69–77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Word Meaning from the Story</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9393601"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Reading Desk  |  69–77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47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15807C"/>
                </a:solidFill>
                <a:latin typeface="Calibri"/>
              </a:rPr>
              <a:t>Go back to the sentence. The sentence gives you the meaning.</a:t>
            </a:r>
          </a:p>
        </p:txBody>
      </p:sp>
      <p:sp>
        <p:nvSpPr>
          <p:cNvPr id="15" name="Rounded Rectangle 14"/>
          <p:cNvSpPr/>
          <p:nvPr/>
        </p:nvSpPr>
        <p:spPr>
          <a:xfrm>
            <a:off x="457200" y="173736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130552"/>
            <a:ext cx="438912" cy="438912"/>
          </a:xfrm>
          <a:prstGeom prst="ellipse">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85416"/>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310896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3502152"/>
            <a:ext cx="438912" cy="438912"/>
          </a:xfrm>
          <a:prstGeom prst="ellipse">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57016"/>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457200" y="4480560"/>
            <a:ext cx="11292840"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4873752"/>
            <a:ext cx="438912" cy="438912"/>
          </a:xfrm>
          <a:prstGeom prst="ellipse">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28616"/>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24" name="Rounded Rectangle 23"/>
          <p:cNvSpPr/>
          <p:nvPr/>
        </p:nvSpPr>
        <p:spPr>
          <a:xfrm>
            <a:off x="1325880" y="1938528"/>
            <a:ext cx="2286000" cy="566928"/>
          </a:xfrm>
          <a:prstGeom prst="round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2039112"/>
            <a:ext cx="2286000" cy="402336"/>
          </a:xfrm>
          <a:prstGeom prst="rect">
            <a:avLst/>
          </a:prstGeom>
          <a:noFill/>
        </p:spPr>
        <p:txBody>
          <a:bodyPr wrap="square">
            <a:spAutoFit/>
          </a:bodyPr>
          <a:lstStyle/>
          <a:p>
            <a:pPr algn="ctr"/>
            <a:r>
              <a:rPr sz="1900" b="1" i="0">
                <a:solidFill>
                  <a:srgbClr val="FFFFFF"/>
                </a:solidFill>
                <a:latin typeface="Calibri"/>
              </a:rPr>
              <a:t>attracted</a:t>
            </a:r>
          </a:p>
        </p:txBody>
      </p:sp>
      <p:sp>
        <p:nvSpPr>
          <p:cNvPr id="26" name="TextBox 25"/>
          <p:cNvSpPr txBox="1"/>
          <p:nvPr/>
        </p:nvSpPr>
        <p:spPr>
          <a:xfrm>
            <a:off x="1325880" y="2578608"/>
            <a:ext cx="2286000" cy="310896"/>
          </a:xfrm>
          <a:prstGeom prst="rect">
            <a:avLst/>
          </a:prstGeom>
          <a:noFill/>
        </p:spPr>
        <p:txBody>
          <a:bodyPr wrap="square">
            <a:spAutoFit/>
          </a:bodyPr>
          <a:lstStyle/>
          <a:p>
            <a:pPr algn="ctr"/>
            <a:r>
              <a:rPr sz="1100" b="0" i="0">
                <a:solidFill>
                  <a:srgbClr val="78828E"/>
                </a:solidFill>
                <a:latin typeface="Calibri"/>
              </a:rPr>
              <a:t>look in Part 4</a:t>
            </a:r>
          </a:p>
        </p:txBody>
      </p:sp>
      <p:sp>
        <p:nvSpPr>
          <p:cNvPr id="27" name="Rounded Rectangle 26"/>
          <p:cNvSpPr/>
          <p:nvPr/>
        </p:nvSpPr>
        <p:spPr>
          <a:xfrm>
            <a:off x="3886200" y="2029968"/>
            <a:ext cx="2377440" cy="658368"/>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95928" y="2121408"/>
            <a:ext cx="2157984" cy="512064"/>
          </a:xfrm>
          <a:prstGeom prst="rect">
            <a:avLst/>
          </a:prstGeom>
          <a:noFill/>
        </p:spPr>
        <p:txBody>
          <a:bodyPr wrap="square">
            <a:spAutoFit/>
          </a:bodyPr>
          <a:lstStyle/>
          <a:p>
            <a:pPr algn="ctr"/>
            <a:r>
              <a:rPr sz="1200" b="1" i="0">
                <a:solidFill>
                  <a:srgbClr val="111418"/>
                </a:solidFill>
                <a:latin typeface="Calibri"/>
              </a:rPr>
              <a:t>pushed away</a:t>
            </a:r>
          </a:p>
        </p:txBody>
      </p:sp>
      <p:sp>
        <p:nvSpPr>
          <p:cNvPr id="29" name="Rounded Rectangle 28"/>
          <p:cNvSpPr/>
          <p:nvPr/>
        </p:nvSpPr>
        <p:spPr>
          <a:xfrm>
            <a:off x="6428231" y="2029968"/>
            <a:ext cx="2377440" cy="658368"/>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59" y="2121408"/>
            <a:ext cx="2157984" cy="512064"/>
          </a:xfrm>
          <a:prstGeom prst="rect">
            <a:avLst/>
          </a:prstGeom>
          <a:noFill/>
        </p:spPr>
        <p:txBody>
          <a:bodyPr wrap="square">
            <a:spAutoFit/>
          </a:bodyPr>
          <a:lstStyle/>
          <a:p>
            <a:pPr algn="ctr"/>
            <a:r>
              <a:rPr sz="1200" b="1" i="0">
                <a:solidFill>
                  <a:srgbClr val="111418"/>
                </a:solidFill>
                <a:latin typeface="Calibri"/>
              </a:rPr>
              <a:t>brought closer</a:t>
            </a:r>
          </a:p>
        </p:txBody>
      </p:sp>
      <p:sp>
        <p:nvSpPr>
          <p:cNvPr id="31" name="Rounded Rectangle 30"/>
          <p:cNvSpPr/>
          <p:nvPr/>
        </p:nvSpPr>
        <p:spPr>
          <a:xfrm>
            <a:off x="8970263" y="2029968"/>
            <a:ext cx="2377440" cy="658368"/>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79991" y="2121408"/>
            <a:ext cx="2157984" cy="512064"/>
          </a:xfrm>
          <a:prstGeom prst="rect">
            <a:avLst/>
          </a:prstGeom>
          <a:noFill/>
        </p:spPr>
        <p:txBody>
          <a:bodyPr wrap="square">
            <a:spAutoFit/>
          </a:bodyPr>
          <a:lstStyle/>
          <a:p>
            <a:pPr algn="ctr"/>
            <a:r>
              <a:rPr sz="1200" b="1" i="0">
                <a:solidFill>
                  <a:srgbClr val="111418"/>
                </a:solidFill>
                <a:latin typeface="Calibri"/>
              </a:rPr>
              <a:t>painted</a:t>
            </a:r>
          </a:p>
        </p:txBody>
      </p:sp>
      <p:sp>
        <p:nvSpPr>
          <p:cNvPr id="33" name="Rounded Rectangle 32"/>
          <p:cNvSpPr/>
          <p:nvPr/>
        </p:nvSpPr>
        <p:spPr>
          <a:xfrm>
            <a:off x="1325880" y="3310128"/>
            <a:ext cx="2286000" cy="566928"/>
          </a:xfrm>
          <a:prstGeom prst="round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25880" y="3410712"/>
            <a:ext cx="2286000" cy="402336"/>
          </a:xfrm>
          <a:prstGeom prst="rect">
            <a:avLst/>
          </a:prstGeom>
          <a:noFill/>
        </p:spPr>
        <p:txBody>
          <a:bodyPr wrap="square">
            <a:spAutoFit/>
          </a:bodyPr>
          <a:lstStyle/>
          <a:p>
            <a:pPr algn="ctr"/>
            <a:r>
              <a:rPr sz="1900" b="1" i="0">
                <a:solidFill>
                  <a:srgbClr val="FFFFFF"/>
                </a:solidFill>
                <a:latin typeface="Calibri"/>
              </a:rPr>
              <a:t>schedule</a:t>
            </a:r>
          </a:p>
        </p:txBody>
      </p:sp>
      <p:sp>
        <p:nvSpPr>
          <p:cNvPr id="35" name="TextBox 34"/>
          <p:cNvSpPr txBox="1"/>
          <p:nvPr/>
        </p:nvSpPr>
        <p:spPr>
          <a:xfrm>
            <a:off x="1325880" y="3950208"/>
            <a:ext cx="2286000" cy="310896"/>
          </a:xfrm>
          <a:prstGeom prst="rect">
            <a:avLst/>
          </a:prstGeom>
          <a:noFill/>
        </p:spPr>
        <p:txBody>
          <a:bodyPr wrap="square">
            <a:spAutoFit/>
          </a:bodyPr>
          <a:lstStyle/>
          <a:p>
            <a:pPr algn="ctr"/>
            <a:r>
              <a:rPr sz="1100" b="0" i="0">
                <a:solidFill>
                  <a:srgbClr val="78828E"/>
                </a:solidFill>
                <a:latin typeface="Calibri"/>
              </a:rPr>
              <a:t>look in Part 2</a:t>
            </a:r>
          </a:p>
        </p:txBody>
      </p:sp>
      <p:sp>
        <p:nvSpPr>
          <p:cNvPr id="36" name="Rounded Rectangle 35"/>
          <p:cNvSpPr/>
          <p:nvPr/>
        </p:nvSpPr>
        <p:spPr>
          <a:xfrm>
            <a:off x="3886200" y="3401568"/>
            <a:ext cx="2377440" cy="658368"/>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95928" y="3493008"/>
            <a:ext cx="2157984" cy="512064"/>
          </a:xfrm>
          <a:prstGeom prst="rect">
            <a:avLst/>
          </a:prstGeom>
          <a:noFill/>
        </p:spPr>
        <p:txBody>
          <a:bodyPr wrap="square">
            <a:spAutoFit/>
          </a:bodyPr>
          <a:lstStyle/>
          <a:p>
            <a:pPr algn="ctr"/>
            <a:r>
              <a:rPr sz="1200" b="1" i="0">
                <a:solidFill>
                  <a:srgbClr val="111418"/>
                </a:solidFill>
                <a:latin typeface="Calibri"/>
              </a:rPr>
              <a:t>a plan of who does what and when</a:t>
            </a:r>
          </a:p>
        </p:txBody>
      </p:sp>
      <p:sp>
        <p:nvSpPr>
          <p:cNvPr id="38" name="Rounded Rectangle 37"/>
          <p:cNvSpPr/>
          <p:nvPr/>
        </p:nvSpPr>
        <p:spPr>
          <a:xfrm>
            <a:off x="6428231" y="3401568"/>
            <a:ext cx="2377440" cy="658368"/>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37959" y="3493008"/>
            <a:ext cx="2157984" cy="512064"/>
          </a:xfrm>
          <a:prstGeom prst="rect">
            <a:avLst/>
          </a:prstGeom>
          <a:noFill/>
        </p:spPr>
        <p:txBody>
          <a:bodyPr wrap="square">
            <a:spAutoFit/>
          </a:bodyPr>
          <a:lstStyle/>
          <a:p>
            <a:pPr algn="ctr"/>
            <a:r>
              <a:rPr sz="1200" b="1" i="0">
                <a:solidFill>
                  <a:srgbClr val="111418"/>
                </a:solidFill>
                <a:latin typeface="Calibri"/>
              </a:rPr>
              <a:t>a type of plant</a:t>
            </a:r>
          </a:p>
        </p:txBody>
      </p:sp>
      <p:sp>
        <p:nvSpPr>
          <p:cNvPr id="40" name="Rounded Rectangle 39"/>
          <p:cNvSpPr/>
          <p:nvPr/>
        </p:nvSpPr>
        <p:spPr>
          <a:xfrm>
            <a:off x="8970263" y="3401568"/>
            <a:ext cx="2377440" cy="658368"/>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79991" y="3493008"/>
            <a:ext cx="2157984" cy="512064"/>
          </a:xfrm>
          <a:prstGeom prst="rect">
            <a:avLst/>
          </a:prstGeom>
          <a:noFill/>
        </p:spPr>
        <p:txBody>
          <a:bodyPr wrap="square">
            <a:spAutoFit/>
          </a:bodyPr>
          <a:lstStyle/>
          <a:p>
            <a:pPr algn="ctr"/>
            <a:r>
              <a:rPr sz="1200" b="1" i="0">
                <a:solidFill>
                  <a:srgbClr val="111418"/>
                </a:solidFill>
                <a:latin typeface="Calibri"/>
              </a:rPr>
              <a:t>a kind of tool</a:t>
            </a:r>
          </a:p>
        </p:txBody>
      </p:sp>
      <p:sp>
        <p:nvSpPr>
          <p:cNvPr id="42" name="Rounded Rectangle 41"/>
          <p:cNvSpPr/>
          <p:nvPr/>
        </p:nvSpPr>
        <p:spPr>
          <a:xfrm>
            <a:off x="1325880" y="4681728"/>
            <a:ext cx="2286000" cy="566928"/>
          </a:xfrm>
          <a:prstGeom prst="roundRect">
            <a:avLst/>
          </a:prstGeom>
          <a:solidFill>
            <a:srgbClr val="158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25880" y="4782312"/>
            <a:ext cx="2286000" cy="402336"/>
          </a:xfrm>
          <a:prstGeom prst="rect">
            <a:avLst/>
          </a:prstGeom>
          <a:noFill/>
        </p:spPr>
        <p:txBody>
          <a:bodyPr wrap="square">
            <a:spAutoFit/>
          </a:bodyPr>
          <a:lstStyle/>
          <a:p>
            <a:pPr algn="ctr"/>
            <a:r>
              <a:rPr sz="1900" b="1" i="0">
                <a:solidFill>
                  <a:srgbClr val="FFFFFF"/>
                </a:solidFill>
                <a:latin typeface="Calibri"/>
              </a:rPr>
              <a:t>cleared</a:t>
            </a:r>
          </a:p>
        </p:txBody>
      </p:sp>
      <p:sp>
        <p:nvSpPr>
          <p:cNvPr id="44" name="TextBox 43"/>
          <p:cNvSpPr txBox="1"/>
          <p:nvPr/>
        </p:nvSpPr>
        <p:spPr>
          <a:xfrm>
            <a:off x="1325880" y="5321808"/>
            <a:ext cx="2286000" cy="310896"/>
          </a:xfrm>
          <a:prstGeom prst="rect">
            <a:avLst/>
          </a:prstGeom>
          <a:noFill/>
        </p:spPr>
        <p:txBody>
          <a:bodyPr wrap="square">
            <a:spAutoFit/>
          </a:bodyPr>
          <a:lstStyle/>
          <a:p>
            <a:pPr algn="ctr"/>
            <a:r>
              <a:rPr sz="1100" b="0" i="0">
                <a:solidFill>
                  <a:srgbClr val="78828E"/>
                </a:solidFill>
                <a:latin typeface="Calibri"/>
              </a:rPr>
              <a:t>look in Part 3</a:t>
            </a:r>
          </a:p>
        </p:txBody>
      </p:sp>
      <p:sp>
        <p:nvSpPr>
          <p:cNvPr id="45" name="Rounded Rectangle 44"/>
          <p:cNvSpPr/>
          <p:nvPr/>
        </p:nvSpPr>
        <p:spPr>
          <a:xfrm>
            <a:off x="3886200" y="4773168"/>
            <a:ext cx="2377440" cy="658368"/>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95928" y="4864608"/>
            <a:ext cx="2157984" cy="512064"/>
          </a:xfrm>
          <a:prstGeom prst="rect">
            <a:avLst/>
          </a:prstGeom>
          <a:noFill/>
        </p:spPr>
        <p:txBody>
          <a:bodyPr wrap="square">
            <a:spAutoFit/>
          </a:bodyPr>
          <a:lstStyle/>
          <a:p>
            <a:pPr algn="ctr"/>
            <a:r>
              <a:rPr sz="1200" b="1" i="0">
                <a:solidFill>
                  <a:srgbClr val="111418"/>
                </a:solidFill>
                <a:latin typeface="Calibri"/>
              </a:rPr>
              <a:t>filled up</a:t>
            </a:r>
          </a:p>
        </p:txBody>
      </p:sp>
      <p:sp>
        <p:nvSpPr>
          <p:cNvPr id="47" name="Rounded Rectangle 46"/>
          <p:cNvSpPr/>
          <p:nvPr/>
        </p:nvSpPr>
        <p:spPr>
          <a:xfrm>
            <a:off x="6428231" y="4773168"/>
            <a:ext cx="2377440" cy="658368"/>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37959" y="4864608"/>
            <a:ext cx="2157984" cy="512064"/>
          </a:xfrm>
          <a:prstGeom prst="rect">
            <a:avLst/>
          </a:prstGeom>
          <a:noFill/>
        </p:spPr>
        <p:txBody>
          <a:bodyPr wrap="square">
            <a:spAutoFit/>
          </a:bodyPr>
          <a:lstStyle/>
          <a:p>
            <a:pPr algn="ctr"/>
            <a:r>
              <a:rPr sz="1200" b="1" i="0">
                <a:solidFill>
                  <a:srgbClr val="111418"/>
                </a:solidFill>
                <a:latin typeface="Calibri"/>
              </a:rPr>
              <a:t>removed things from</a:t>
            </a:r>
          </a:p>
        </p:txBody>
      </p:sp>
      <p:sp>
        <p:nvSpPr>
          <p:cNvPr id="49" name="Rounded Rectangle 48"/>
          <p:cNvSpPr/>
          <p:nvPr/>
        </p:nvSpPr>
        <p:spPr>
          <a:xfrm>
            <a:off x="8970263" y="4773168"/>
            <a:ext cx="2377440" cy="658368"/>
          </a:xfrm>
          <a:prstGeom prst="roundRect">
            <a:avLst/>
          </a:prstGeom>
          <a:solidFill>
            <a:srgbClr val="E1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79991" y="4864608"/>
            <a:ext cx="2157984" cy="512064"/>
          </a:xfrm>
          <a:prstGeom prst="rect">
            <a:avLst/>
          </a:prstGeom>
          <a:noFill/>
        </p:spPr>
        <p:txBody>
          <a:bodyPr wrap="square">
            <a:spAutoFit/>
          </a:bodyPr>
          <a:lstStyle/>
          <a:p>
            <a:pPr algn="ctr"/>
            <a:r>
              <a:rPr sz="1200" b="1" i="0">
                <a:solidFill>
                  <a:srgbClr val="111418"/>
                </a:solidFill>
                <a:latin typeface="Calibri"/>
              </a:rPr>
              <a:t>measured</a:t>
            </a:r>
          </a:p>
        </p:txBody>
      </p:sp>
      <p:sp>
        <p:nvSpPr>
          <p:cNvPr id="51" name="Rounded Rectangle 50"/>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3" name="TextBox 52"/>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Read the whole sentence with each option swapped in. One fits.</a:t>
            </a:r>
          </a:p>
        </p:txBody>
      </p:sp>
    </p:spTree>
  </p:cSld>
  <p:clrMapOvr>
    <a:masterClrMapping/>
  </p:clrMapOvr>
  <p:transition spd="med"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LEARN</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77–84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Copy Editor — Your Five Checks</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9593464"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  |  77–84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48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Run every sentence past these five before you approve it.</a:t>
            </a:r>
          </a:p>
        </p:txBody>
      </p:sp>
      <p:sp>
        <p:nvSpPr>
          <p:cNvPr id="15" name="Rounded Rectangle 14"/>
          <p:cNvSpPr/>
          <p:nvPr/>
        </p:nvSpPr>
        <p:spPr>
          <a:xfrm>
            <a:off x="457200" y="1737360"/>
            <a:ext cx="2103120" cy="301752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920240"/>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17" name="Rounded Rectangle 16"/>
          <p:cNvSpPr/>
          <p:nvPr/>
        </p:nvSpPr>
        <p:spPr>
          <a:xfrm>
            <a:off x="566928" y="2633472"/>
            <a:ext cx="1883664" cy="457200"/>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706624"/>
            <a:ext cx="1883664" cy="329184"/>
          </a:xfrm>
          <a:prstGeom prst="rect">
            <a:avLst/>
          </a:prstGeom>
          <a:noFill/>
        </p:spPr>
        <p:txBody>
          <a:bodyPr wrap="square">
            <a:spAutoFit/>
          </a:bodyPr>
          <a:lstStyle/>
          <a:p>
            <a:pPr algn="ctr"/>
            <a:r>
              <a:rPr sz="1100" b="1" i="0">
                <a:solidFill>
                  <a:srgbClr val="FFFFFF"/>
                </a:solidFill>
                <a:latin typeface="Calibri"/>
              </a:rPr>
              <a:t>CAPITAL LETTERS</a:t>
            </a:r>
          </a:p>
        </p:txBody>
      </p:sp>
      <p:sp>
        <p:nvSpPr>
          <p:cNvPr id="19" name="TextBox 18"/>
          <p:cNvSpPr txBox="1"/>
          <p:nvPr/>
        </p:nvSpPr>
        <p:spPr>
          <a:xfrm>
            <a:off x="621792" y="3246120"/>
            <a:ext cx="1783080" cy="1280160"/>
          </a:xfrm>
          <a:prstGeom prst="rect">
            <a:avLst/>
          </a:prstGeom>
          <a:noFill/>
        </p:spPr>
        <p:txBody>
          <a:bodyPr wrap="square">
            <a:spAutoFit/>
          </a:bodyPr>
          <a:lstStyle/>
          <a:p>
            <a:pPr algn="ctr"/>
            <a:r>
              <a:rPr sz="1100" b="0" i="0">
                <a:solidFill>
                  <a:srgbClr val="2A2F36"/>
                </a:solidFill>
                <a:latin typeface="Calibri"/>
              </a:rPr>
              <a:t>first word, names, Mr.</a:t>
            </a:r>
          </a:p>
        </p:txBody>
      </p:sp>
      <p:sp>
        <p:nvSpPr>
          <p:cNvPr id="20" name="Rounded Rectangle 19"/>
          <p:cNvSpPr/>
          <p:nvPr/>
        </p:nvSpPr>
        <p:spPr>
          <a:xfrm>
            <a:off x="2734056" y="1737360"/>
            <a:ext cx="2103120" cy="301752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34056" y="1920240"/>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22" name="Rounded Rectangle 21"/>
          <p:cNvSpPr/>
          <p:nvPr/>
        </p:nvSpPr>
        <p:spPr>
          <a:xfrm>
            <a:off x="2843784" y="2633472"/>
            <a:ext cx="1883664" cy="457200"/>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43784" y="2706624"/>
            <a:ext cx="1883664" cy="329184"/>
          </a:xfrm>
          <a:prstGeom prst="rect">
            <a:avLst/>
          </a:prstGeom>
          <a:noFill/>
        </p:spPr>
        <p:txBody>
          <a:bodyPr wrap="square">
            <a:spAutoFit/>
          </a:bodyPr>
          <a:lstStyle/>
          <a:p>
            <a:pPr algn="ctr"/>
            <a:r>
              <a:rPr sz="1100" b="1" i="0">
                <a:solidFill>
                  <a:srgbClr val="FFFFFF"/>
                </a:solidFill>
                <a:latin typeface="Calibri"/>
              </a:rPr>
              <a:t>PUNCTUATION</a:t>
            </a:r>
          </a:p>
        </p:txBody>
      </p:sp>
      <p:sp>
        <p:nvSpPr>
          <p:cNvPr id="24" name="TextBox 23"/>
          <p:cNvSpPr txBox="1"/>
          <p:nvPr/>
        </p:nvSpPr>
        <p:spPr>
          <a:xfrm>
            <a:off x="2898648" y="3246120"/>
            <a:ext cx="1783080" cy="1280160"/>
          </a:xfrm>
          <a:prstGeom prst="rect">
            <a:avLst/>
          </a:prstGeom>
          <a:noFill/>
        </p:spPr>
        <p:txBody>
          <a:bodyPr wrap="square">
            <a:spAutoFit/>
          </a:bodyPr>
          <a:lstStyle/>
          <a:p>
            <a:pPr algn="ctr"/>
            <a:r>
              <a:rPr sz="1100" b="0" i="0">
                <a:solidFill>
                  <a:srgbClr val="2A2F36"/>
                </a:solidFill>
                <a:latin typeface="Calibri"/>
              </a:rPr>
              <a:t>period, comma, question mark</a:t>
            </a:r>
          </a:p>
        </p:txBody>
      </p:sp>
      <p:sp>
        <p:nvSpPr>
          <p:cNvPr id="25" name="Rounded Rectangle 24"/>
          <p:cNvSpPr/>
          <p:nvPr/>
        </p:nvSpPr>
        <p:spPr>
          <a:xfrm>
            <a:off x="5010912" y="1737360"/>
            <a:ext cx="2103120" cy="301752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912" y="1920240"/>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27" name="Rounded Rectangle 26"/>
          <p:cNvSpPr/>
          <p:nvPr/>
        </p:nvSpPr>
        <p:spPr>
          <a:xfrm>
            <a:off x="5120640" y="2633472"/>
            <a:ext cx="1883664" cy="457200"/>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2706624"/>
            <a:ext cx="1883664" cy="329184"/>
          </a:xfrm>
          <a:prstGeom prst="rect">
            <a:avLst/>
          </a:prstGeom>
          <a:noFill/>
        </p:spPr>
        <p:txBody>
          <a:bodyPr wrap="square">
            <a:spAutoFit/>
          </a:bodyPr>
          <a:lstStyle/>
          <a:p>
            <a:pPr algn="ctr"/>
            <a:r>
              <a:rPr sz="1100" b="1" i="0">
                <a:solidFill>
                  <a:srgbClr val="FFFFFF"/>
                </a:solidFill>
                <a:latin typeface="Calibri"/>
              </a:rPr>
              <a:t>SUBJECT-VERB</a:t>
            </a:r>
          </a:p>
        </p:txBody>
      </p:sp>
      <p:sp>
        <p:nvSpPr>
          <p:cNvPr id="29" name="TextBox 28"/>
          <p:cNvSpPr txBox="1"/>
          <p:nvPr/>
        </p:nvSpPr>
        <p:spPr>
          <a:xfrm>
            <a:off x="5175504" y="3246120"/>
            <a:ext cx="1783080" cy="1280160"/>
          </a:xfrm>
          <a:prstGeom prst="rect">
            <a:avLst/>
          </a:prstGeom>
          <a:noFill/>
        </p:spPr>
        <p:txBody>
          <a:bodyPr wrap="square">
            <a:spAutoFit/>
          </a:bodyPr>
          <a:lstStyle/>
          <a:p>
            <a:pPr algn="ctr"/>
            <a:r>
              <a:rPr sz="1100" b="0" i="0">
                <a:solidFill>
                  <a:srgbClr val="2A2F36"/>
                </a:solidFill>
                <a:latin typeface="Calibri"/>
              </a:rPr>
              <a:t>one student writes / two students write</a:t>
            </a:r>
          </a:p>
        </p:txBody>
      </p:sp>
      <p:sp>
        <p:nvSpPr>
          <p:cNvPr id="30" name="Rounded Rectangle 29"/>
          <p:cNvSpPr/>
          <p:nvPr/>
        </p:nvSpPr>
        <p:spPr>
          <a:xfrm>
            <a:off x="7287768" y="1737360"/>
            <a:ext cx="2103120" cy="301752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87768" y="1920240"/>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32" name="Rounded Rectangle 31"/>
          <p:cNvSpPr/>
          <p:nvPr/>
        </p:nvSpPr>
        <p:spPr>
          <a:xfrm>
            <a:off x="7397496" y="2633472"/>
            <a:ext cx="1883664" cy="457200"/>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97496" y="2706624"/>
            <a:ext cx="1883664" cy="329184"/>
          </a:xfrm>
          <a:prstGeom prst="rect">
            <a:avLst/>
          </a:prstGeom>
          <a:noFill/>
        </p:spPr>
        <p:txBody>
          <a:bodyPr wrap="square">
            <a:spAutoFit/>
          </a:bodyPr>
          <a:lstStyle/>
          <a:p>
            <a:pPr algn="ctr"/>
            <a:r>
              <a:rPr sz="1100" b="1" i="0">
                <a:solidFill>
                  <a:srgbClr val="FFFFFF"/>
                </a:solidFill>
                <a:latin typeface="Calibri"/>
              </a:rPr>
              <a:t>TENSE</a:t>
            </a:r>
          </a:p>
        </p:txBody>
      </p:sp>
      <p:sp>
        <p:nvSpPr>
          <p:cNvPr id="34" name="TextBox 33"/>
          <p:cNvSpPr txBox="1"/>
          <p:nvPr/>
        </p:nvSpPr>
        <p:spPr>
          <a:xfrm>
            <a:off x="7452360" y="3246120"/>
            <a:ext cx="1783080" cy="1280160"/>
          </a:xfrm>
          <a:prstGeom prst="rect">
            <a:avLst/>
          </a:prstGeom>
          <a:noFill/>
        </p:spPr>
        <p:txBody>
          <a:bodyPr wrap="square">
            <a:spAutoFit/>
          </a:bodyPr>
          <a:lstStyle/>
          <a:p>
            <a:pPr algn="ctr"/>
            <a:r>
              <a:rPr sz="1100" b="0" i="0">
                <a:solidFill>
                  <a:srgbClr val="2A2F36"/>
                </a:solidFill>
                <a:latin typeface="Calibri"/>
              </a:rPr>
              <a:t>yesterday needs a past verb</a:t>
            </a:r>
          </a:p>
        </p:txBody>
      </p:sp>
      <p:sp>
        <p:nvSpPr>
          <p:cNvPr id="35" name="Rounded Rectangle 34"/>
          <p:cNvSpPr/>
          <p:nvPr/>
        </p:nvSpPr>
        <p:spPr>
          <a:xfrm>
            <a:off x="9564624" y="1737360"/>
            <a:ext cx="2103120" cy="301752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64624" y="1920240"/>
            <a:ext cx="2103120" cy="640080"/>
          </a:xfrm>
          <a:prstGeom prst="rect">
            <a:avLst/>
          </a:prstGeom>
          <a:noFill/>
        </p:spPr>
        <p:txBody>
          <a:bodyPr wrap="square">
            <a:spAutoFit/>
          </a:bodyPr>
          <a:lstStyle/>
          <a:p>
            <a:pPr algn="ctr"/>
            <a:r>
              <a:rPr sz="2600" b="0" i="0">
                <a:solidFill>
                  <a:srgbClr val="2A2F36"/>
                </a:solidFill>
                <a:latin typeface="Calibri"/>
              </a:rPr>
              <a:t>🔤</a:t>
            </a:r>
          </a:p>
        </p:txBody>
      </p:sp>
      <p:sp>
        <p:nvSpPr>
          <p:cNvPr id="37" name="Rounded Rectangle 36"/>
          <p:cNvSpPr/>
          <p:nvPr/>
        </p:nvSpPr>
        <p:spPr>
          <a:xfrm>
            <a:off x="9674352" y="2633472"/>
            <a:ext cx="1883664" cy="457200"/>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352" y="2706624"/>
            <a:ext cx="1883664" cy="329184"/>
          </a:xfrm>
          <a:prstGeom prst="rect">
            <a:avLst/>
          </a:prstGeom>
          <a:noFill/>
        </p:spPr>
        <p:txBody>
          <a:bodyPr wrap="square">
            <a:spAutoFit/>
          </a:bodyPr>
          <a:lstStyle/>
          <a:p>
            <a:pPr algn="ctr"/>
            <a:r>
              <a:rPr sz="1100" b="1" i="0">
                <a:solidFill>
                  <a:srgbClr val="FFFFFF"/>
                </a:solidFill>
                <a:latin typeface="Calibri"/>
              </a:rPr>
              <a:t>SPELLING</a:t>
            </a:r>
          </a:p>
        </p:txBody>
      </p:sp>
      <p:sp>
        <p:nvSpPr>
          <p:cNvPr id="39" name="TextBox 38"/>
          <p:cNvSpPr txBox="1"/>
          <p:nvPr/>
        </p:nvSpPr>
        <p:spPr>
          <a:xfrm>
            <a:off x="9729216" y="3246120"/>
            <a:ext cx="1783080" cy="1280160"/>
          </a:xfrm>
          <a:prstGeom prst="rect">
            <a:avLst/>
          </a:prstGeom>
          <a:noFill/>
        </p:spPr>
        <p:txBody>
          <a:bodyPr wrap="square">
            <a:spAutoFit/>
          </a:bodyPr>
          <a:lstStyle/>
          <a:p>
            <a:pPr algn="ctr"/>
            <a:r>
              <a:rPr sz="1100" b="0" i="0">
                <a:solidFill>
                  <a:srgbClr val="2A2F36"/>
                </a:solidFill>
                <a:latin typeface="Calibri"/>
              </a:rPr>
              <a:t>read it letter by letter</a:t>
            </a:r>
          </a:p>
        </p:txBody>
      </p:sp>
      <p:sp>
        <p:nvSpPr>
          <p:cNvPr id="40" name="Rounded Rectangle 39"/>
          <p:cNvSpPr/>
          <p:nvPr/>
        </p:nvSpPr>
        <p:spPr>
          <a:xfrm>
            <a:off x="457200" y="4937760"/>
            <a:ext cx="11292840" cy="77724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120640"/>
            <a:ext cx="10698480" cy="402336"/>
          </a:xfrm>
          <a:prstGeom prst="rect">
            <a:avLst/>
          </a:prstGeom>
          <a:noFill/>
        </p:spPr>
        <p:txBody>
          <a:bodyPr wrap="square">
            <a:spAutoFit/>
          </a:bodyPr>
          <a:lstStyle/>
          <a:p>
            <a:pPr algn="ctr"/>
            <a:r>
              <a:rPr sz="1500" b="1" i="0">
                <a:solidFill>
                  <a:srgbClr val="111418"/>
                </a:solidFill>
                <a:latin typeface="Calibri"/>
              </a:rPr>
              <a:t>⭐ Every sentence you fix completely earns one newspaper star. Five stars and the edition is approved.</a:t>
            </a:r>
          </a:p>
        </p:txBody>
      </p:sp>
      <p:sp>
        <p:nvSpPr>
          <p:cNvPr id="42" name="Rounded Rectangle 41"/>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4" name="TextBox 43"/>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Have her name the check she is using out loud as she fixes.</a:t>
            </a:r>
          </a:p>
        </p:txBody>
      </p:sp>
    </p:spTree>
  </p:cSld>
  <p:clrMapOvr>
    <a:masterClrMapping/>
  </p:clrMapOvr>
  <p:transition spd="med"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77–84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Game: Fix the News! — Stars 1 and 2</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9793328"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  |  77–84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49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More than one mistake in each. Name them all first.</a:t>
            </a:r>
          </a:p>
        </p:txBody>
      </p:sp>
      <p:sp>
        <p:nvSpPr>
          <p:cNvPr id="15" name="Rounded Rectangle 14"/>
          <p:cNvSpPr/>
          <p:nvPr/>
        </p:nvSpPr>
        <p:spPr>
          <a:xfrm>
            <a:off x="457200" y="169164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363724"/>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418587"/>
            <a:ext cx="438912" cy="347472"/>
          </a:xfrm>
          <a:prstGeom prst="rect">
            <a:avLst/>
          </a:prstGeom>
          <a:noFill/>
        </p:spPr>
        <p:txBody>
          <a:bodyPr wrap="square">
            <a:spAutoFit/>
          </a:bodyPr>
          <a:lstStyle/>
          <a:p>
            <a:pPr algn="ctr"/>
            <a:r>
              <a:rPr sz="1200" b="1" i="0">
                <a:solidFill>
                  <a:srgbClr val="FFFFFF"/>
                </a:solidFill>
                <a:latin typeface="Calibri"/>
              </a:rPr>
              <a:t>1</a:t>
            </a:r>
          </a:p>
        </p:txBody>
      </p:sp>
      <p:sp>
        <p:nvSpPr>
          <p:cNvPr id="18" name="Rounded Rectangle 17"/>
          <p:cNvSpPr/>
          <p:nvPr/>
        </p:nvSpPr>
        <p:spPr>
          <a:xfrm>
            <a:off x="457200" y="365760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4329684"/>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384547"/>
            <a:ext cx="438912" cy="347472"/>
          </a:xfrm>
          <a:prstGeom prst="rect">
            <a:avLst/>
          </a:prstGeom>
          <a:noFill/>
        </p:spPr>
        <p:txBody>
          <a:bodyPr wrap="square">
            <a:spAutoFit/>
          </a:bodyPr>
          <a:lstStyle/>
          <a:p>
            <a:pPr algn="ctr"/>
            <a:r>
              <a:rPr sz="1200" b="1" i="0">
                <a:solidFill>
                  <a:srgbClr val="FFFFFF"/>
                </a:solidFill>
                <a:latin typeface="Calibri"/>
              </a:rPr>
              <a:t>2</a:t>
            </a:r>
          </a:p>
        </p:txBody>
      </p:sp>
      <p:sp>
        <p:nvSpPr>
          <p:cNvPr id="21" name="Rounded Rectangle 20"/>
          <p:cNvSpPr/>
          <p:nvPr/>
        </p:nvSpPr>
        <p:spPr>
          <a:xfrm>
            <a:off x="1280160" y="18562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08760" y="1938528"/>
            <a:ext cx="7040880" cy="402336"/>
          </a:xfrm>
          <a:prstGeom prst="rect">
            <a:avLst/>
          </a:prstGeom>
          <a:noFill/>
        </p:spPr>
        <p:txBody>
          <a:bodyPr wrap="square">
            <a:spAutoFit/>
          </a:bodyPr>
          <a:lstStyle/>
          <a:p>
            <a:pPr algn="l"/>
            <a:r>
              <a:rPr sz="1700" b="1" i="1">
                <a:solidFill>
                  <a:srgbClr val="C8322B"/>
                </a:solidFill>
                <a:latin typeface="Calibri"/>
              </a:rPr>
              <a:t>the students plants flowers in the garden</a:t>
            </a:r>
          </a:p>
        </p:txBody>
      </p:sp>
      <p:sp>
        <p:nvSpPr>
          <p:cNvPr id="23" name="TextBox 22"/>
          <p:cNvSpPr txBox="1"/>
          <p:nvPr/>
        </p:nvSpPr>
        <p:spPr>
          <a:xfrm>
            <a:off x="1325880" y="24780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24" name="Rounded Rectangle 23"/>
          <p:cNvSpPr/>
          <p:nvPr/>
        </p:nvSpPr>
        <p:spPr>
          <a:xfrm>
            <a:off x="891540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15400" y="1920240"/>
            <a:ext cx="1234440" cy="274320"/>
          </a:xfrm>
          <a:prstGeom prst="rect">
            <a:avLst/>
          </a:prstGeom>
          <a:noFill/>
        </p:spPr>
        <p:txBody>
          <a:bodyPr wrap="square">
            <a:spAutoFit/>
          </a:bodyPr>
          <a:lstStyle/>
          <a:p>
            <a:pPr algn="ctr"/>
            <a:r>
              <a:rPr sz="1000" b="1" i="0">
                <a:solidFill>
                  <a:srgbClr val="78828E"/>
                </a:solidFill>
                <a:latin typeface="Calibri"/>
              </a:rPr>
              <a:t>capital</a:t>
            </a:r>
          </a:p>
        </p:txBody>
      </p:sp>
      <p:sp>
        <p:nvSpPr>
          <p:cNvPr id="26" name="Rounded Rectangle 25"/>
          <p:cNvSpPr/>
          <p:nvPr/>
        </p:nvSpPr>
        <p:spPr>
          <a:xfrm>
            <a:off x="1024128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0" y="19202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28" name="Rounded Rectangle 27"/>
          <p:cNvSpPr/>
          <p:nvPr/>
        </p:nvSpPr>
        <p:spPr>
          <a:xfrm>
            <a:off x="8915400" y="231343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2340864"/>
            <a:ext cx="1234440" cy="274320"/>
          </a:xfrm>
          <a:prstGeom prst="rect">
            <a:avLst/>
          </a:prstGeom>
          <a:noFill/>
        </p:spPr>
        <p:txBody>
          <a:bodyPr wrap="square">
            <a:spAutoFit/>
          </a:bodyPr>
          <a:lstStyle/>
          <a:p>
            <a:pPr algn="ctr"/>
            <a:r>
              <a:rPr sz="1000" b="1" i="0">
                <a:solidFill>
                  <a:srgbClr val="78828E"/>
                </a:solidFill>
                <a:latin typeface="Calibri"/>
              </a:rPr>
              <a:t>period</a:t>
            </a:r>
          </a:p>
        </p:txBody>
      </p:sp>
      <p:sp>
        <p:nvSpPr>
          <p:cNvPr id="30" name="Rounded Rectangle 29"/>
          <p:cNvSpPr/>
          <p:nvPr/>
        </p:nvSpPr>
        <p:spPr>
          <a:xfrm>
            <a:off x="1280160" y="2825496"/>
            <a:ext cx="10104120" cy="47548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08760" y="2916936"/>
            <a:ext cx="9692640" cy="347472"/>
          </a:xfrm>
          <a:prstGeom prst="rect">
            <a:avLst/>
          </a:prstGeom>
          <a:noFill/>
        </p:spPr>
        <p:txBody>
          <a:bodyPr wrap="square">
            <a:spAutoFit/>
          </a:bodyPr>
          <a:lstStyle/>
          <a:p>
            <a:pPr algn="l"/>
            <a:r>
              <a:rPr sz="1200" b="0" i="0">
                <a:solidFill>
                  <a:srgbClr val="78828E"/>
                </a:solidFill>
                <a:latin typeface="Calibri"/>
              </a:rPr>
              <a:t>Now write it correctly:  ____________________________________________________________</a:t>
            </a:r>
          </a:p>
        </p:txBody>
      </p:sp>
      <p:sp>
        <p:nvSpPr>
          <p:cNvPr id="32" name="Rounded Rectangle 31"/>
          <p:cNvSpPr/>
          <p:nvPr/>
        </p:nvSpPr>
        <p:spPr>
          <a:xfrm>
            <a:off x="1280160" y="382219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08760" y="3904488"/>
            <a:ext cx="7040880" cy="402336"/>
          </a:xfrm>
          <a:prstGeom prst="rect">
            <a:avLst/>
          </a:prstGeom>
          <a:noFill/>
        </p:spPr>
        <p:txBody>
          <a:bodyPr wrap="square">
            <a:spAutoFit/>
          </a:bodyPr>
          <a:lstStyle/>
          <a:p>
            <a:pPr algn="l"/>
            <a:r>
              <a:rPr sz="1700" b="1" i="1">
                <a:solidFill>
                  <a:srgbClr val="C8322B"/>
                </a:solidFill>
                <a:latin typeface="Calibri"/>
              </a:rPr>
              <a:t>the reporter write a story yesterday</a:t>
            </a:r>
          </a:p>
        </p:txBody>
      </p:sp>
      <p:sp>
        <p:nvSpPr>
          <p:cNvPr id="34" name="TextBox 33"/>
          <p:cNvSpPr txBox="1"/>
          <p:nvPr/>
        </p:nvSpPr>
        <p:spPr>
          <a:xfrm>
            <a:off x="1325880" y="444398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35" name="Rounded Rectangle 34"/>
          <p:cNvSpPr/>
          <p:nvPr/>
        </p:nvSpPr>
        <p:spPr>
          <a:xfrm>
            <a:off x="8915400" y="385876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15400" y="3886200"/>
            <a:ext cx="1234440" cy="274320"/>
          </a:xfrm>
          <a:prstGeom prst="rect">
            <a:avLst/>
          </a:prstGeom>
          <a:noFill/>
        </p:spPr>
        <p:txBody>
          <a:bodyPr wrap="square">
            <a:spAutoFit/>
          </a:bodyPr>
          <a:lstStyle/>
          <a:p>
            <a:pPr algn="ctr"/>
            <a:r>
              <a:rPr sz="1000" b="1" i="0">
                <a:solidFill>
                  <a:srgbClr val="78828E"/>
                </a:solidFill>
                <a:latin typeface="Calibri"/>
              </a:rPr>
              <a:t>capital</a:t>
            </a:r>
          </a:p>
        </p:txBody>
      </p:sp>
      <p:sp>
        <p:nvSpPr>
          <p:cNvPr id="37" name="Rounded Rectangle 36"/>
          <p:cNvSpPr/>
          <p:nvPr/>
        </p:nvSpPr>
        <p:spPr>
          <a:xfrm>
            <a:off x="10241280" y="385876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41280" y="3886200"/>
            <a:ext cx="1234440" cy="274320"/>
          </a:xfrm>
          <a:prstGeom prst="rect">
            <a:avLst/>
          </a:prstGeom>
          <a:noFill/>
        </p:spPr>
        <p:txBody>
          <a:bodyPr wrap="square">
            <a:spAutoFit/>
          </a:bodyPr>
          <a:lstStyle/>
          <a:p>
            <a:pPr algn="ctr"/>
            <a:r>
              <a:rPr sz="1000" b="1" i="0">
                <a:solidFill>
                  <a:srgbClr val="78828E"/>
                </a:solidFill>
                <a:latin typeface="Calibri"/>
              </a:rPr>
              <a:t>tense</a:t>
            </a:r>
          </a:p>
        </p:txBody>
      </p:sp>
      <p:sp>
        <p:nvSpPr>
          <p:cNvPr id="39" name="Rounded Rectangle 38"/>
          <p:cNvSpPr/>
          <p:nvPr/>
        </p:nvSpPr>
        <p:spPr>
          <a:xfrm>
            <a:off x="8915400" y="427939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15400" y="4306824"/>
            <a:ext cx="1234440" cy="274320"/>
          </a:xfrm>
          <a:prstGeom prst="rect">
            <a:avLst/>
          </a:prstGeom>
          <a:noFill/>
        </p:spPr>
        <p:txBody>
          <a:bodyPr wrap="square">
            <a:spAutoFit/>
          </a:bodyPr>
          <a:lstStyle/>
          <a:p>
            <a:pPr algn="ctr"/>
            <a:r>
              <a:rPr sz="1000" b="1" i="0">
                <a:solidFill>
                  <a:srgbClr val="78828E"/>
                </a:solidFill>
                <a:latin typeface="Calibri"/>
              </a:rPr>
              <a:t>period</a:t>
            </a:r>
          </a:p>
        </p:txBody>
      </p:sp>
      <p:sp>
        <p:nvSpPr>
          <p:cNvPr id="41" name="Rounded Rectangle 40"/>
          <p:cNvSpPr/>
          <p:nvPr/>
        </p:nvSpPr>
        <p:spPr>
          <a:xfrm>
            <a:off x="1280160" y="4791456"/>
            <a:ext cx="10104120" cy="47548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08760" y="4882896"/>
            <a:ext cx="9692640" cy="347472"/>
          </a:xfrm>
          <a:prstGeom prst="rect">
            <a:avLst/>
          </a:prstGeom>
          <a:noFill/>
        </p:spPr>
        <p:txBody>
          <a:bodyPr wrap="square">
            <a:spAutoFit/>
          </a:bodyPr>
          <a:lstStyle/>
          <a:p>
            <a:pPr algn="l"/>
            <a:r>
              <a:rPr sz="1200" b="0" i="0">
                <a:solidFill>
                  <a:srgbClr val="78828E"/>
                </a:solidFill>
                <a:latin typeface="Calibri"/>
              </a:rPr>
              <a:t>Now write it correctly:  ____________________________________________________________</a:t>
            </a:r>
          </a:p>
        </p:txBody>
      </p:sp>
      <p:sp>
        <p:nvSpPr>
          <p:cNvPr id="43" name="Rounded Rectangle 42"/>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5" name="TextBox 44"/>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Start at the very first letter. Capitals are the easiest catch.</a:t>
            </a:r>
          </a:p>
        </p:txBody>
      </p:sp>
    </p:spTree>
  </p:cSld>
  <p:clrMapOvr>
    <a:masterClrMapping/>
  </p:clrMapOvr>
  <p:transition spd="med"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77–84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Fix the News! — Stars 3 and 4</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9993192"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  |  77–84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50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One of these needs an adverb, not an adjective.</a:t>
            </a:r>
          </a:p>
        </p:txBody>
      </p:sp>
      <p:sp>
        <p:nvSpPr>
          <p:cNvPr id="15" name="Rounded Rectangle 14"/>
          <p:cNvSpPr/>
          <p:nvPr/>
        </p:nvSpPr>
        <p:spPr>
          <a:xfrm>
            <a:off x="457200" y="169164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363724"/>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418587"/>
            <a:ext cx="438912" cy="347472"/>
          </a:xfrm>
          <a:prstGeom prst="rect">
            <a:avLst/>
          </a:prstGeom>
          <a:noFill/>
        </p:spPr>
        <p:txBody>
          <a:bodyPr wrap="square">
            <a:spAutoFit/>
          </a:bodyPr>
          <a:lstStyle/>
          <a:p>
            <a:pPr algn="ctr"/>
            <a:r>
              <a:rPr sz="1200" b="1" i="0">
                <a:solidFill>
                  <a:srgbClr val="FFFFFF"/>
                </a:solidFill>
                <a:latin typeface="Calibri"/>
              </a:rPr>
              <a:t>3</a:t>
            </a:r>
          </a:p>
        </p:txBody>
      </p:sp>
      <p:sp>
        <p:nvSpPr>
          <p:cNvPr id="18" name="Rounded Rectangle 17"/>
          <p:cNvSpPr/>
          <p:nvPr/>
        </p:nvSpPr>
        <p:spPr>
          <a:xfrm>
            <a:off x="457200" y="365760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4329684"/>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384547"/>
            <a:ext cx="438912" cy="347472"/>
          </a:xfrm>
          <a:prstGeom prst="rect">
            <a:avLst/>
          </a:prstGeom>
          <a:noFill/>
        </p:spPr>
        <p:txBody>
          <a:bodyPr wrap="square">
            <a:spAutoFit/>
          </a:bodyPr>
          <a:lstStyle/>
          <a:p>
            <a:pPr algn="ctr"/>
            <a:r>
              <a:rPr sz="1200" b="1" i="0">
                <a:solidFill>
                  <a:srgbClr val="FFFFFF"/>
                </a:solidFill>
                <a:latin typeface="Calibri"/>
              </a:rPr>
              <a:t>4</a:t>
            </a:r>
          </a:p>
        </p:txBody>
      </p:sp>
      <p:sp>
        <p:nvSpPr>
          <p:cNvPr id="21" name="Rounded Rectangle 20"/>
          <p:cNvSpPr/>
          <p:nvPr/>
        </p:nvSpPr>
        <p:spPr>
          <a:xfrm>
            <a:off x="1280160" y="18562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08760" y="1938528"/>
            <a:ext cx="7040880" cy="402336"/>
          </a:xfrm>
          <a:prstGeom prst="rect">
            <a:avLst/>
          </a:prstGeom>
          <a:noFill/>
        </p:spPr>
        <p:txBody>
          <a:bodyPr wrap="square">
            <a:spAutoFit/>
          </a:bodyPr>
          <a:lstStyle/>
          <a:p>
            <a:pPr algn="l"/>
            <a:r>
              <a:rPr sz="1700" b="1" i="1">
                <a:solidFill>
                  <a:srgbClr val="C8322B"/>
                </a:solidFill>
                <a:latin typeface="Calibri"/>
              </a:rPr>
              <a:t>priya and her team works very hard</a:t>
            </a:r>
          </a:p>
        </p:txBody>
      </p:sp>
      <p:sp>
        <p:nvSpPr>
          <p:cNvPr id="23" name="TextBox 22"/>
          <p:cNvSpPr txBox="1"/>
          <p:nvPr/>
        </p:nvSpPr>
        <p:spPr>
          <a:xfrm>
            <a:off x="1325880" y="24780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24" name="Rounded Rectangle 23"/>
          <p:cNvSpPr/>
          <p:nvPr/>
        </p:nvSpPr>
        <p:spPr>
          <a:xfrm>
            <a:off x="891540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15400" y="1920240"/>
            <a:ext cx="1234440" cy="274320"/>
          </a:xfrm>
          <a:prstGeom prst="rect">
            <a:avLst/>
          </a:prstGeom>
          <a:noFill/>
        </p:spPr>
        <p:txBody>
          <a:bodyPr wrap="square">
            <a:spAutoFit/>
          </a:bodyPr>
          <a:lstStyle/>
          <a:p>
            <a:pPr algn="ctr"/>
            <a:r>
              <a:rPr sz="1000" b="1" i="0">
                <a:solidFill>
                  <a:srgbClr val="78828E"/>
                </a:solidFill>
                <a:latin typeface="Calibri"/>
              </a:rPr>
              <a:t>capital</a:t>
            </a:r>
          </a:p>
        </p:txBody>
      </p:sp>
      <p:sp>
        <p:nvSpPr>
          <p:cNvPr id="26" name="Rounded Rectangle 25"/>
          <p:cNvSpPr/>
          <p:nvPr/>
        </p:nvSpPr>
        <p:spPr>
          <a:xfrm>
            <a:off x="1024128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0" y="192024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28" name="Rounded Rectangle 27"/>
          <p:cNvSpPr/>
          <p:nvPr/>
        </p:nvSpPr>
        <p:spPr>
          <a:xfrm>
            <a:off x="8915400" y="231343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2340864"/>
            <a:ext cx="1234440" cy="274320"/>
          </a:xfrm>
          <a:prstGeom prst="rect">
            <a:avLst/>
          </a:prstGeom>
          <a:noFill/>
        </p:spPr>
        <p:txBody>
          <a:bodyPr wrap="square">
            <a:spAutoFit/>
          </a:bodyPr>
          <a:lstStyle/>
          <a:p>
            <a:pPr algn="ctr"/>
            <a:r>
              <a:rPr sz="1000" b="1" i="0">
                <a:solidFill>
                  <a:srgbClr val="78828E"/>
                </a:solidFill>
                <a:latin typeface="Calibri"/>
              </a:rPr>
              <a:t>period</a:t>
            </a:r>
          </a:p>
        </p:txBody>
      </p:sp>
      <p:sp>
        <p:nvSpPr>
          <p:cNvPr id="30" name="Rounded Rectangle 29"/>
          <p:cNvSpPr/>
          <p:nvPr/>
        </p:nvSpPr>
        <p:spPr>
          <a:xfrm>
            <a:off x="1280160" y="2825496"/>
            <a:ext cx="10104120" cy="47548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08760" y="2916936"/>
            <a:ext cx="9692640" cy="347472"/>
          </a:xfrm>
          <a:prstGeom prst="rect">
            <a:avLst/>
          </a:prstGeom>
          <a:noFill/>
        </p:spPr>
        <p:txBody>
          <a:bodyPr wrap="square">
            <a:spAutoFit/>
          </a:bodyPr>
          <a:lstStyle/>
          <a:p>
            <a:pPr algn="l"/>
            <a:r>
              <a:rPr sz="1200" b="0" i="0">
                <a:solidFill>
                  <a:srgbClr val="78828E"/>
                </a:solidFill>
                <a:latin typeface="Calibri"/>
              </a:rPr>
              <a:t>Now write it correctly:  ____________________________________________________________</a:t>
            </a:r>
          </a:p>
        </p:txBody>
      </p:sp>
      <p:sp>
        <p:nvSpPr>
          <p:cNvPr id="32" name="Rounded Rectangle 31"/>
          <p:cNvSpPr/>
          <p:nvPr/>
        </p:nvSpPr>
        <p:spPr>
          <a:xfrm>
            <a:off x="1280160" y="382219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08760" y="3904488"/>
            <a:ext cx="7040880" cy="402336"/>
          </a:xfrm>
          <a:prstGeom prst="rect">
            <a:avLst/>
          </a:prstGeom>
          <a:noFill/>
        </p:spPr>
        <p:txBody>
          <a:bodyPr wrap="square">
            <a:spAutoFit/>
          </a:bodyPr>
          <a:lstStyle/>
          <a:p>
            <a:pPr algn="l"/>
            <a:r>
              <a:rPr sz="1700" b="1" i="1">
                <a:solidFill>
                  <a:srgbClr val="C8322B"/>
                </a:solidFill>
                <a:latin typeface="Calibri"/>
              </a:rPr>
              <a:t>the birds builds a nest quick</a:t>
            </a:r>
          </a:p>
        </p:txBody>
      </p:sp>
      <p:sp>
        <p:nvSpPr>
          <p:cNvPr id="34" name="TextBox 33"/>
          <p:cNvSpPr txBox="1"/>
          <p:nvPr/>
        </p:nvSpPr>
        <p:spPr>
          <a:xfrm>
            <a:off x="1325880" y="444398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35" name="Rounded Rectangle 34"/>
          <p:cNvSpPr/>
          <p:nvPr/>
        </p:nvSpPr>
        <p:spPr>
          <a:xfrm>
            <a:off x="8915400" y="385876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15400" y="3886200"/>
            <a:ext cx="1234440" cy="274320"/>
          </a:xfrm>
          <a:prstGeom prst="rect">
            <a:avLst/>
          </a:prstGeom>
          <a:noFill/>
        </p:spPr>
        <p:txBody>
          <a:bodyPr wrap="square">
            <a:spAutoFit/>
          </a:bodyPr>
          <a:lstStyle/>
          <a:p>
            <a:pPr algn="ctr"/>
            <a:r>
              <a:rPr sz="1000" b="1" i="0">
                <a:solidFill>
                  <a:srgbClr val="78828E"/>
                </a:solidFill>
                <a:latin typeface="Calibri"/>
              </a:rPr>
              <a:t>capital</a:t>
            </a:r>
          </a:p>
        </p:txBody>
      </p:sp>
      <p:sp>
        <p:nvSpPr>
          <p:cNvPr id="37" name="Rounded Rectangle 36"/>
          <p:cNvSpPr/>
          <p:nvPr/>
        </p:nvSpPr>
        <p:spPr>
          <a:xfrm>
            <a:off x="10241280" y="385876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41280" y="3886200"/>
            <a:ext cx="1234440" cy="274320"/>
          </a:xfrm>
          <a:prstGeom prst="rect">
            <a:avLst/>
          </a:prstGeom>
          <a:noFill/>
        </p:spPr>
        <p:txBody>
          <a:bodyPr wrap="square">
            <a:spAutoFit/>
          </a:bodyPr>
          <a:lstStyle/>
          <a:p>
            <a:pPr algn="ctr"/>
            <a:r>
              <a:rPr sz="1000" b="1" i="0">
                <a:solidFill>
                  <a:srgbClr val="78828E"/>
                </a:solidFill>
                <a:latin typeface="Calibri"/>
              </a:rPr>
              <a:t>verb</a:t>
            </a:r>
          </a:p>
        </p:txBody>
      </p:sp>
      <p:sp>
        <p:nvSpPr>
          <p:cNvPr id="39" name="Rounded Rectangle 38"/>
          <p:cNvSpPr/>
          <p:nvPr/>
        </p:nvSpPr>
        <p:spPr>
          <a:xfrm>
            <a:off x="8915400" y="427939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15400" y="4306824"/>
            <a:ext cx="1234440" cy="274320"/>
          </a:xfrm>
          <a:prstGeom prst="rect">
            <a:avLst/>
          </a:prstGeom>
          <a:noFill/>
        </p:spPr>
        <p:txBody>
          <a:bodyPr wrap="square">
            <a:spAutoFit/>
          </a:bodyPr>
          <a:lstStyle/>
          <a:p>
            <a:pPr algn="ctr"/>
            <a:r>
              <a:rPr sz="1000" b="1" i="0">
                <a:solidFill>
                  <a:srgbClr val="78828E"/>
                </a:solidFill>
                <a:latin typeface="Calibri"/>
              </a:rPr>
              <a:t>adverb</a:t>
            </a:r>
          </a:p>
        </p:txBody>
      </p:sp>
      <p:sp>
        <p:nvSpPr>
          <p:cNvPr id="41" name="Rounded Rectangle 40"/>
          <p:cNvSpPr/>
          <p:nvPr/>
        </p:nvSpPr>
        <p:spPr>
          <a:xfrm>
            <a:off x="10241280" y="427939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41280" y="4306824"/>
            <a:ext cx="1234440" cy="274320"/>
          </a:xfrm>
          <a:prstGeom prst="rect">
            <a:avLst/>
          </a:prstGeom>
          <a:noFill/>
        </p:spPr>
        <p:txBody>
          <a:bodyPr wrap="square">
            <a:spAutoFit/>
          </a:bodyPr>
          <a:lstStyle/>
          <a:p>
            <a:pPr algn="ctr"/>
            <a:r>
              <a:rPr sz="1000" b="1" i="0">
                <a:solidFill>
                  <a:srgbClr val="78828E"/>
                </a:solidFill>
                <a:latin typeface="Calibri"/>
              </a:rPr>
              <a:t>period</a:t>
            </a:r>
          </a:p>
        </p:txBody>
      </p:sp>
      <p:sp>
        <p:nvSpPr>
          <p:cNvPr id="43" name="Rounded Rectangle 42"/>
          <p:cNvSpPr/>
          <p:nvPr/>
        </p:nvSpPr>
        <p:spPr>
          <a:xfrm>
            <a:off x="1280160" y="4791456"/>
            <a:ext cx="10104120" cy="47548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508760" y="4882896"/>
            <a:ext cx="9692640" cy="347472"/>
          </a:xfrm>
          <a:prstGeom prst="rect">
            <a:avLst/>
          </a:prstGeom>
          <a:noFill/>
        </p:spPr>
        <p:txBody>
          <a:bodyPr wrap="square">
            <a:spAutoFit/>
          </a:bodyPr>
          <a:lstStyle/>
          <a:p>
            <a:pPr algn="l"/>
            <a:r>
              <a:rPr sz="1200" b="0" i="0">
                <a:solidFill>
                  <a:srgbClr val="78828E"/>
                </a:solidFill>
                <a:latin typeface="Calibri"/>
              </a:rPr>
              <a:t>Now write it correctly:  ____________________________________________________________</a:t>
            </a:r>
          </a:p>
        </p:txBody>
      </p:sp>
      <p:sp>
        <p:nvSpPr>
          <p:cNvPr id="45" name="Rounded Rectangle 44"/>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7" name="TextBox 46"/>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"Quick" describes a thing. "Quickly" describes how they build.</a:t>
            </a:r>
          </a:p>
        </p:txBody>
      </p:sp>
    </p:spTree>
  </p:cSld>
  <p:clrMapOvr>
    <a:masterClrMapping/>
  </p:clrMapOvr>
  <p:transition spd="med"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77–84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Fix the News! — Stars 5 and 6</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0193056"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  |  77–84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51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The last two. These need commas and a title.</a:t>
            </a:r>
          </a:p>
        </p:txBody>
      </p:sp>
      <p:sp>
        <p:nvSpPr>
          <p:cNvPr id="15" name="Rounded Rectangle 14"/>
          <p:cNvSpPr/>
          <p:nvPr/>
        </p:nvSpPr>
        <p:spPr>
          <a:xfrm>
            <a:off x="457200" y="169164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363724"/>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418587"/>
            <a:ext cx="438912" cy="347472"/>
          </a:xfrm>
          <a:prstGeom prst="rect">
            <a:avLst/>
          </a:prstGeom>
          <a:noFill/>
        </p:spPr>
        <p:txBody>
          <a:bodyPr wrap="square">
            <a:spAutoFit/>
          </a:bodyPr>
          <a:lstStyle/>
          <a:p>
            <a:pPr algn="ctr"/>
            <a:r>
              <a:rPr sz="1200" b="1" i="0">
                <a:solidFill>
                  <a:srgbClr val="FFFFFF"/>
                </a:solidFill>
                <a:latin typeface="Calibri"/>
              </a:rPr>
              <a:t>5</a:t>
            </a:r>
          </a:p>
        </p:txBody>
      </p:sp>
      <p:sp>
        <p:nvSpPr>
          <p:cNvPr id="18" name="Rounded Rectangle 17"/>
          <p:cNvSpPr/>
          <p:nvPr/>
        </p:nvSpPr>
        <p:spPr>
          <a:xfrm>
            <a:off x="457200" y="3657600"/>
            <a:ext cx="1129284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4329684"/>
            <a:ext cx="438912" cy="438912"/>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384547"/>
            <a:ext cx="438912" cy="347472"/>
          </a:xfrm>
          <a:prstGeom prst="rect">
            <a:avLst/>
          </a:prstGeom>
          <a:noFill/>
        </p:spPr>
        <p:txBody>
          <a:bodyPr wrap="square">
            <a:spAutoFit/>
          </a:bodyPr>
          <a:lstStyle/>
          <a:p>
            <a:pPr algn="ctr"/>
            <a:r>
              <a:rPr sz="1200" b="1" i="0">
                <a:solidFill>
                  <a:srgbClr val="FFFFFF"/>
                </a:solidFill>
                <a:latin typeface="Calibri"/>
              </a:rPr>
              <a:t>6</a:t>
            </a:r>
          </a:p>
        </p:txBody>
      </p:sp>
      <p:sp>
        <p:nvSpPr>
          <p:cNvPr id="21" name="Rounded Rectangle 20"/>
          <p:cNvSpPr/>
          <p:nvPr/>
        </p:nvSpPr>
        <p:spPr>
          <a:xfrm>
            <a:off x="1280160" y="185623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08760" y="1938528"/>
            <a:ext cx="7040880" cy="402336"/>
          </a:xfrm>
          <a:prstGeom prst="rect">
            <a:avLst/>
          </a:prstGeom>
          <a:noFill/>
        </p:spPr>
        <p:txBody>
          <a:bodyPr wrap="square">
            <a:spAutoFit/>
          </a:bodyPr>
          <a:lstStyle/>
          <a:p>
            <a:pPr algn="l"/>
            <a:r>
              <a:rPr sz="1700" b="1" i="1">
                <a:solidFill>
                  <a:srgbClr val="C8322B"/>
                </a:solidFill>
                <a:latin typeface="Calibri"/>
              </a:rPr>
              <a:t>we planted sunflowers tomatoes and beans</a:t>
            </a:r>
          </a:p>
        </p:txBody>
      </p:sp>
      <p:sp>
        <p:nvSpPr>
          <p:cNvPr id="23" name="TextBox 22"/>
          <p:cNvSpPr txBox="1"/>
          <p:nvPr/>
        </p:nvSpPr>
        <p:spPr>
          <a:xfrm>
            <a:off x="1325880" y="247802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24" name="Rounded Rectangle 23"/>
          <p:cNvSpPr/>
          <p:nvPr/>
        </p:nvSpPr>
        <p:spPr>
          <a:xfrm>
            <a:off x="891540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15400" y="1920240"/>
            <a:ext cx="1234440" cy="274320"/>
          </a:xfrm>
          <a:prstGeom prst="rect">
            <a:avLst/>
          </a:prstGeom>
          <a:noFill/>
        </p:spPr>
        <p:txBody>
          <a:bodyPr wrap="square">
            <a:spAutoFit/>
          </a:bodyPr>
          <a:lstStyle/>
          <a:p>
            <a:pPr algn="ctr"/>
            <a:r>
              <a:rPr sz="1000" b="1" i="0">
                <a:solidFill>
                  <a:srgbClr val="78828E"/>
                </a:solidFill>
                <a:latin typeface="Calibri"/>
              </a:rPr>
              <a:t>capital</a:t>
            </a:r>
          </a:p>
        </p:txBody>
      </p:sp>
      <p:sp>
        <p:nvSpPr>
          <p:cNvPr id="26" name="Rounded Rectangle 25"/>
          <p:cNvSpPr/>
          <p:nvPr/>
        </p:nvSpPr>
        <p:spPr>
          <a:xfrm>
            <a:off x="10241280" y="189280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0" y="1920240"/>
            <a:ext cx="1234440" cy="274320"/>
          </a:xfrm>
          <a:prstGeom prst="rect">
            <a:avLst/>
          </a:prstGeom>
          <a:noFill/>
        </p:spPr>
        <p:txBody>
          <a:bodyPr wrap="square">
            <a:spAutoFit/>
          </a:bodyPr>
          <a:lstStyle/>
          <a:p>
            <a:pPr algn="ctr"/>
            <a:r>
              <a:rPr sz="1000" b="1" i="0">
                <a:solidFill>
                  <a:srgbClr val="78828E"/>
                </a:solidFill>
                <a:latin typeface="Calibri"/>
              </a:rPr>
              <a:t>commas</a:t>
            </a:r>
          </a:p>
        </p:txBody>
      </p:sp>
      <p:sp>
        <p:nvSpPr>
          <p:cNvPr id="28" name="Rounded Rectangle 27"/>
          <p:cNvSpPr/>
          <p:nvPr/>
        </p:nvSpPr>
        <p:spPr>
          <a:xfrm>
            <a:off x="8915400" y="231343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2340864"/>
            <a:ext cx="1234440" cy="274320"/>
          </a:xfrm>
          <a:prstGeom prst="rect">
            <a:avLst/>
          </a:prstGeom>
          <a:noFill/>
        </p:spPr>
        <p:txBody>
          <a:bodyPr wrap="square">
            <a:spAutoFit/>
          </a:bodyPr>
          <a:lstStyle/>
          <a:p>
            <a:pPr algn="ctr"/>
            <a:r>
              <a:rPr sz="1000" b="1" i="0">
                <a:solidFill>
                  <a:srgbClr val="78828E"/>
                </a:solidFill>
                <a:latin typeface="Calibri"/>
              </a:rPr>
              <a:t>period</a:t>
            </a:r>
          </a:p>
        </p:txBody>
      </p:sp>
      <p:sp>
        <p:nvSpPr>
          <p:cNvPr id="30" name="Rounded Rectangle 29"/>
          <p:cNvSpPr/>
          <p:nvPr/>
        </p:nvSpPr>
        <p:spPr>
          <a:xfrm>
            <a:off x="1280160" y="2825496"/>
            <a:ext cx="10104120" cy="47548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08760" y="2916936"/>
            <a:ext cx="9692640" cy="347472"/>
          </a:xfrm>
          <a:prstGeom prst="rect">
            <a:avLst/>
          </a:prstGeom>
          <a:noFill/>
        </p:spPr>
        <p:txBody>
          <a:bodyPr wrap="square">
            <a:spAutoFit/>
          </a:bodyPr>
          <a:lstStyle/>
          <a:p>
            <a:pPr algn="l"/>
            <a:r>
              <a:rPr sz="1200" b="0" i="0">
                <a:solidFill>
                  <a:srgbClr val="78828E"/>
                </a:solidFill>
                <a:latin typeface="Calibri"/>
              </a:rPr>
              <a:t>Now write it correctly:  ____________________________________________________________</a:t>
            </a:r>
          </a:p>
        </p:txBody>
      </p:sp>
      <p:sp>
        <p:nvSpPr>
          <p:cNvPr id="32" name="Rounded Rectangle 31"/>
          <p:cNvSpPr/>
          <p:nvPr/>
        </p:nvSpPr>
        <p:spPr>
          <a:xfrm>
            <a:off x="1280160" y="3822192"/>
            <a:ext cx="7406640" cy="54864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08760" y="3904488"/>
            <a:ext cx="7040880" cy="402336"/>
          </a:xfrm>
          <a:prstGeom prst="rect">
            <a:avLst/>
          </a:prstGeom>
          <a:noFill/>
        </p:spPr>
        <p:txBody>
          <a:bodyPr wrap="square">
            <a:spAutoFit/>
          </a:bodyPr>
          <a:lstStyle/>
          <a:p>
            <a:pPr algn="l"/>
            <a:r>
              <a:rPr sz="1700" b="1" i="1">
                <a:solidFill>
                  <a:srgbClr val="C8322B"/>
                </a:solidFill>
                <a:latin typeface="Calibri"/>
              </a:rPr>
              <a:t>mr ellis ask a hard question</a:t>
            </a:r>
          </a:p>
        </p:txBody>
      </p:sp>
      <p:sp>
        <p:nvSpPr>
          <p:cNvPr id="34" name="TextBox 33"/>
          <p:cNvSpPr txBox="1"/>
          <p:nvPr/>
        </p:nvSpPr>
        <p:spPr>
          <a:xfrm>
            <a:off x="1325880" y="4443984"/>
            <a:ext cx="7315200" cy="310896"/>
          </a:xfrm>
          <a:prstGeom prst="rect">
            <a:avLst/>
          </a:prstGeom>
          <a:noFill/>
        </p:spPr>
        <p:txBody>
          <a:bodyPr wrap="square">
            <a:spAutoFit/>
          </a:bodyPr>
          <a:lstStyle/>
          <a:p>
            <a:pPr algn="l"/>
            <a:r>
              <a:rPr sz="1100" b="0" i="0">
                <a:solidFill>
                  <a:srgbClr val="78828E"/>
                </a:solidFill>
                <a:latin typeface="Calibri"/>
              </a:rPr>
              <a:t>Find every mistake first, then read the fixed sentence out loud.</a:t>
            </a:r>
          </a:p>
        </p:txBody>
      </p:sp>
      <p:sp>
        <p:nvSpPr>
          <p:cNvPr id="35" name="Rounded Rectangle 34"/>
          <p:cNvSpPr/>
          <p:nvPr/>
        </p:nvSpPr>
        <p:spPr>
          <a:xfrm>
            <a:off x="8915400" y="385876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15400" y="3886200"/>
            <a:ext cx="1234440" cy="274320"/>
          </a:xfrm>
          <a:prstGeom prst="rect">
            <a:avLst/>
          </a:prstGeom>
          <a:noFill/>
        </p:spPr>
        <p:txBody>
          <a:bodyPr wrap="square">
            <a:spAutoFit/>
          </a:bodyPr>
          <a:lstStyle/>
          <a:p>
            <a:pPr algn="ctr"/>
            <a:r>
              <a:rPr sz="1000" b="1" i="0">
                <a:solidFill>
                  <a:srgbClr val="78828E"/>
                </a:solidFill>
                <a:latin typeface="Calibri"/>
              </a:rPr>
              <a:t>capital</a:t>
            </a:r>
          </a:p>
        </p:txBody>
      </p:sp>
      <p:sp>
        <p:nvSpPr>
          <p:cNvPr id="37" name="Rounded Rectangle 36"/>
          <p:cNvSpPr/>
          <p:nvPr/>
        </p:nvSpPr>
        <p:spPr>
          <a:xfrm>
            <a:off x="10241280" y="3858768"/>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41280" y="3886200"/>
            <a:ext cx="1234440" cy="274320"/>
          </a:xfrm>
          <a:prstGeom prst="rect">
            <a:avLst/>
          </a:prstGeom>
          <a:noFill/>
        </p:spPr>
        <p:txBody>
          <a:bodyPr wrap="square">
            <a:spAutoFit/>
          </a:bodyPr>
          <a:lstStyle/>
          <a:p>
            <a:pPr algn="ctr"/>
            <a:r>
              <a:rPr sz="1000" b="1" i="0">
                <a:solidFill>
                  <a:srgbClr val="78828E"/>
                </a:solidFill>
                <a:latin typeface="Calibri"/>
              </a:rPr>
              <a:t>spelling</a:t>
            </a:r>
          </a:p>
        </p:txBody>
      </p:sp>
      <p:sp>
        <p:nvSpPr>
          <p:cNvPr id="39" name="Rounded Rectangle 38"/>
          <p:cNvSpPr/>
          <p:nvPr/>
        </p:nvSpPr>
        <p:spPr>
          <a:xfrm>
            <a:off x="8915400" y="427939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15400" y="4306824"/>
            <a:ext cx="1234440" cy="274320"/>
          </a:xfrm>
          <a:prstGeom prst="rect">
            <a:avLst/>
          </a:prstGeom>
          <a:noFill/>
        </p:spPr>
        <p:txBody>
          <a:bodyPr wrap="square">
            <a:spAutoFit/>
          </a:bodyPr>
          <a:lstStyle/>
          <a:p>
            <a:pPr algn="ctr"/>
            <a:r>
              <a:rPr sz="1000" b="1" i="0">
                <a:solidFill>
                  <a:srgbClr val="78828E"/>
                </a:solidFill>
                <a:latin typeface="Calibri"/>
              </a:rPr>
              <a:t>tense</a:t>
            </a:r>
          </a:p>
        </p:txBody>
      </p:sp>
      <p:sp>
        <p:nvSpPr>
          <p:cNvPr id="41" name="Rounded Rectangle 40"/>
          <p:cNvSpPr/>
          <p:nvPr/>
        </p:nvSpPr>
        <p:spPr>
          <a:xfrm>
            <a:off x="10241280" y="4279392"/>
            <a:ext cx="12344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41280" y="4306824"/>
            <a:ext cx="1234440" cy="274320"/>
          </a:xfrm>
          <a:prstGeom prst="rect">
            <a:avLst/>
          </a:prstGeom>
          <a:noFill/>
        </p:spPr>
        <p:txBody>
          <a:bodyPr wrap="square">
            <a:spAutoFit/>
          </a:bodyPr>
          <a:lstStyle/>
          <a:p>
            <a:pPr algn="ctr"/>
            <a:r>
              <a:rPr sz="1000" b="1" i="0">
                <a:solidFill>
                  <a:srgbClr val="78828E"/>
                </a:solidFill>
                <a:latin typeface="Calibri"/>
              </a:rPr>
              <a:t>period</a:t>
            </a:r>
          </a:p>
        </p:txBody>
      </p:sp>
      <p:sp>
        <p:nvSpPr>
          <p:cNvPr id="43" name="Rounded Rectangle 42"/>
          <p:cNvSpPr/>
          <p:nvPr/>
        </p:nvSpPr>
        <p:spPr>
          <a:xfrm>
            <a:off x="1280160" y="4791456"/>
            <a:ext cx="10104120" cy="47548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508760" y="4882896"/>
            <a:ext cx="9692640" cy="347472"/>
          </a:xfrm>
          <a:prstGeom prst="rect">
            <a:avLst/>
          </a:prstGeom>
          <a:noFill/>
        </p:spPr>
        <p:txBody>
          <a:bodyPr wrap="square">
            <a:spAutoFit/>
          </a:bodyPr>
          <a:lstStyle/>
          <a:p>
            <a:pPr algn="l"/>
            <a:r>
              <a:rPr sz="1200" b="0" i="0">
                <a:solidFill>
                  <a:srgbClr val="78828E"/>
                </a:solidFill>
                <a:latin typeface="Calibri"/>
              </a:rPr>
              <a:t>Now write it correctly:  ____________________________________________________________</a:t>
            </a:r>
          </a:p>
        </p:txBody>
      </p:sp>
      <p:sp>
        <p:nvSpPr>
          <p:cNvPr id="45" name="Rounded Rectangle 44"/>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7" name="TextBox 46"/>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A list of three things needs commas between them.</a:t>
            </a:r>
          </a:p>
        </p:txBody>
      </p:sp>
    </p:spTree>
  </p:cSld>
  <p:clrMapOvr>
    <a:masterClrMapping/>
  </p:clrMapOvr>
  <p:transition spd="med"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CREATE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84–88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Final Game: Be the Reporter</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0392920"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  |  84–88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52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D08A0C"/>
                </a:solidFill>
                <a:latin typeface="Calibri"/>
              </a:rPr>
              <a:t>Fill in five boxes. That is a complete news report.</a:t>
            </a:r>
          </a:p>
        </p:txBody>
      </p:sp>
      <p:sp>
        <p:nvSpPr>
          <p:cNvPr id="15" name="Rounded Rectangle 14"/>
          <p:cNvSpPr/>
          <p:nvPr/>
        </p:nvSpPr>
        <p:spPr>
          <a:xfrm>
            <a:off x="457200" y="1691640"/>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1837944"/>
            <a:ext cx="548640" cy="457200"/>
          </a:xfrm>
          <a:prstGeom prst="rect">
            <a:avLst/>
          </a:prstGeom>
          <a:noFill/>
        </p:spPr>
        <p:txBody>
          <a:bodyPr wrap="square">
            <a:spAutoFit/>
          </a:bodyPr>
          <a:lstStyle/>
          <a:p>
            <a:pPr algn="ctr"/>
            <a:r>
              <a:rPr sz="1700" b="0" i="0">
                <a:solidFill>
                  <a:srgbClr val="2A2F36"/>
                </a:solidFill>
                <a:latin typeface="Calibri"/>
              </a:rPr>
              <a:t>🗞️</a:t>
            </a:r>
          </a:p>
        </p:txBody>
      </p:sp>
      <p:sp>
        <p:nvSpPr>
          <p:cNvPr id="17" name="Rounded Rectangle 16"/>
          <p:cNvSpPr/>
          <p:nvPr/>
        </p:nvSpPr>
        <p:spPr>
          <a:xfrm>
            <a:off x="1463040" y="1828800"/>
            <a:ext cx="2377440" cy="45720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1911096"/>
            <a:ext cx="2377440" cy="329184"/>
          </a:xfrm>
          <a:prstGeom prst="rect">
            <a:avLst/>
          </a:prstGeom>
          <a:noFill/>
        </p:spPr>
        <p:txBody>
          <a:bodyPr wrap="square">
            <a:spAutoFit/>
          </a:bodyPr>
          <a:lstStyle/>
          <a:p>
            <a:pPr algn="ctr"/>
            <a:r>
              <a:rPr sz="1300" b="1" i="0">
                <a:solidFill>
                  <a:srgbClr val="D08A0C"/>
                </a:solidFill>
                <a:latin typeface="Calibri"/>
              </a:rPr>
              <a:t>HEADLINE</a:t>
            </a:r>
          </a:p>
        </p:txBody>
      </p:sp>
      <p:sp>
        <p:nvSpPr>
          <p:cNvPr id="19" name="TextBox 18"/>
          <p:cNvSpPr txBox="1"/>
          <p:nvPr/>
        </p:nvSpPr>
        <p:spPr>
          <a:xfrm>
            <a:off x="4069080" y="1920240"/>
            <a:ext cx="2377440" cy="329184"/>
          </a:xfrm>
          <a:prstGeom prst="rect">
            <a:avLst/>
          </a:prstGeom>
          <a:noFill/>
        </p:spPr>
        <p:txBody>
          <a:bodyPr wrap="square">
            <a:spAutoFit/>
          </a:bodyPr>
          <a:lstStyle/>
          <a:p>
            <a:pPr algn="l"/>
            <a:r>
              <a:rPr sz="1100" b="0" i="0">
                <a:solidFill>
                  <a:srgbClr val="78828E"/>
                </a:solidFill>
                <a:latin typeface="Calibri"/>
              </a:rPr>
              <a:t>Five words or fewer.</a:t>
            </a:r>
          </a:p>
        </p:txBody>
      </p:sp>
      <p:sp>
        <p:nvSpPr>
          <p:cNvPr id="20" name="Rounded Rectangle 19"/>
          <p:cNvSpPr/>
          <p:nvPr/>
        </p:nvSpPr>
        <p:spPr>
          <a:xfrm>
            <a:off x="6675120" y="1828800"/>
            <a:ext cx="4754880" cy="4572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1911096"/>
            <a:ext cx="4389120" cy="329184"/>
          </a:xfrm>
          <a:prstGeom prst="rect">
            <a:avLst/>
          </a:prstGeom>
          <a:noFill/>
        </p:spPr>
        <p:txBody>
          <a:bodyPr wrap="square">
            <a:spAutoFit/>
          </a:bodyPr>
          <a:lstStyle/>
          <a:p>
            <a:pPr algn="l"/>
            <a:r>
              <a:rPr sz="1200" b="0" i="0">
                <a:solidFill>
                  <a:srgbClr val="78828E"/>
                </a:solidFill>
                <a:latin typeface="Calibri"/>
              </a:rPr>
              <a:t>____________________________________</a:t>
            </a:r>
          </a:p>
        </p:txBody>
      </p:sp>
      <p:sp>
        <p:nvSpPr>
          <p:cNvPr id="22" name="Rounded Rectangle 21"/>
          <p:cNvSpPr/>
          <p:nvPr/>
        </p:nvSpPr>
        <p:spPr>
          <a:xfrm>
            <a:off x="457200" y="2551176"/>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2697480"/>
            <a:ext cx="548640" cy="457200"/>
          </a:xfrm>
          <a:prstGeom prst="rect">
            <a:avLst/>
          </a:prstGeom>
          <a:noFill/>
        </p:spPr>
        <p:txBody>
          <a:bodyPr wrap="square">
            <a:spAutoFit/>
          </a:bodyPr>
          <a:lstStyle/>
          <a:p>
            <a:pPr algn="ctr"/>
            <a:r>
              <a:rPr sz="1700" b="0" i="0">
                <a:solidFill>
                  <a:srgbClr val="2A2F36"/>
                </a:solidFill>
                <a:latin typeface="Calibri"/>
              </a:rPr>
              <a:t>👤</a:t>
            </a:r>
          </a:p>
        </p:txBody>
      </p:sp>
      <p:sp>
        <p:nvSpPr>
          <p:cNvPr id="24" name="Rounded Rectangle 23"/>
          <p:cNvSpPr/>
          <p:nvPr/>
        </p:nvSpPr>
        <p:spPr>
          <a:xfrm>
            <a:off x="1463040" y="2688336"/>
            <a:ext cx="2377440" cy="45720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63040" y="2770632"/>
            <a:ext cx="2377440" cy="329184"/>
          </a:xfrm>
          <a:prstGeom prst="rect">
            <a:avLst/>
          </a:prstGeom>
          <a:noFill/>
        </p:spPr>
        <p:txBody>
          <a:bodyPr wrap="square">
            <a:spAutoFit/>
          </a:bodyPr>
          <a:lstStyle/>
          <a:p>
            <a:pPr algn="ctr"/>
            <a:r>
              <a:rPr sz="1300" b="1" i="0">
                <a:solidFill>
                  <a:srgbClr val="D08A0C"/>
                </a:solidFill>
                <a:latin typeface="Calibri"/>
              </a:rPr>
              <a:t>WHO</a:t>
            </a:r>
          </a:p>
        </p:txBody>
      </p:sp>
      <p:sp>
        <p:nvSpPr>
          <p:cNvPr id="26" name="TextBox 25"/>
          <p:cNvSpPr txBox="1"/>
          <p:nvPr/>
        </p:nvSpPr>
        <p:spPr>
          <a:xfrm>
            <a:off x="4069080" y="2779776"/>
            <a:ext cx="2377440" cy="329184"/>
          </a:xfrm>
          <a:prstGeom prst="rect">
            <a:avLst/>
          </a:prstGeom>
          <a:noFill/>
        </p:spPr>
        <p:txBody>
          <a:bodyPr wrap="square">
            <a:spAutoFit/>
          </a:bodyPr>
          <a:lstStyle/>
          <a:p>
            <a:pPr algn="l"/>
            <a:r>
              <a:rPr sz="1100" b="0" i="0">
                <a:solidFill>
                  <a:srgbClr val="78828E"/>
                </a:solidFill>
                <a:latin typeface="Calibri"/>
              </a:rPr>
              <a:t>Who is in the story?</a:t>
            </a:r>
          </a:p>
        </p:txBody>
      </p:sp>
      <p:sp>
        <p:nvSpPr>
          <p:cNvPr id="27" name="Rounded Rectangle 26"/>
          <p:cNvSpPr/>
          <p:nvPr/>
        </p:nvSpPr>
        <p:spPr>
          <a:xfrm>
            <a:off x="6675120" y="2688336"/>
            <a:ext cx="4754880" cy="4572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2770632"/>
            <a:ext cx="4389120" cy="329184"/>
          </a:xfrm>
          <a:prstGeom prst="rect">
            <a:avLst/>
          </a:prstGeom>
          <a:noFill/>
        </p:spPr>
        <p:txBody>
          <a:bodyPr wrap="square">
            <a:spAutoFit/>
          </a:bodyPr>
          <a:lstStyle/>
          <a:p>
            <a:pPr algn="l"/>
            <a:r>
              <a:rPr sz="1200" b="0" i="0">
                <a:solidFill>
                  <a:srgbClr val="78828E"/>
                </a:solidFill>
                <a:latin typeface="Calibri"/>
              </a:rPr>
              <a:t>____________________________________</a:t>
            </a:r>
          </a:p>
        </p:txBody>
      </p:sp>
      <p:sp>
        <p:nvSpPr>
          <p:cNvPr id="29" name="Rounded Rectangle 28"/>
          <p:cNvSpPr/>
          <p:nvPr/>
        </p:nvSpPr>
        <p:spPr>
          <a:xfrm>
            <a:off x="457200" y="3410712"/>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557016"/>
            <a:ext cx="548640" cy="457200"/>
          </a:xfrm>
          <a:prstGeom prst="rect">
            <a:avLst/>
          </a:prstGeom>
          <a:noFill/>
        </p:spPr>
        <p:txBody>
          <a:bodyPr wrap="square">
            <a:spAutoFit/>
          </a:bodyPr>
          <a:lstStyle/>
          <a:p>
            <a:pPr algn="ctr"/>
            <a:r>
              <a:rPr sz="1700" b="0" i="0">
                <a:solidFill>
                  <a:srgbClr val="2A2F36"/>
                </a:solidFill>
                <a:latin typeface="Calibri"/>
              </a:rPr>
              <a:t>⚡</a:t>
            </a:r>
          </a:p>
        </p:txBody>
      </p:sp>
      <p:sp>
        <p:nvSpPr>
          <p:cNvPr id="31" name="Rounded Rectangle 30"/>
          <p:cNvSpPr/>
          <p:nvPr/>
        </p:nvSpPr>
        <p:spPr>
          <a:xfrm>
            <a:off x="1463040" y="3547872"/>
            <a:ext cx="2377440" cy="45720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3630168"/>
            <a:ext cx="2377440" cy="329184"/>
          </a:xfrm>
          <a:prstGeom prst="rect">
            <a:avLst/>
          </a:prstGeom>
          <a:noFill/>
        </p:spPr>
        <p:txBody>
          <a:bodyPr wrap="square">
            <a:spAutoFit/>
          </a:bodyPr>
          <a:lstStyle/>
          <a:p>
            <a:pPr algn="ctr"/>
            <a:r>
              <a:rPr sz="1300" b="1" i="0">
                <a:solidFill>
                  <a:srgbClr val="D08A0C"/>
                </a:solidFill>
                <a:latin typeface="Calibri"/>
              </a:rPr>
              <a:t>WHAT HAPPENED</a:t>
            </a:r>
          </a:p>
        </p:txBody>
      </p:sp>
      <p:sp>
        <p:nvSpPr>
          <p:cNvPr id="33" name="TextBox 32"/>
          <p:cNvSpPr txBox="1"/>
          <p:nvPr/>
        </p:nvSpPr>
        <p:spPr>
          <a:xfrm>
            <a:off x="4069080" y="3639312"/>
            <a:ext cx="2377440" cy="329184"/>
          </a:xfrm>
          <a:prstGeom prst="rect">
            <a:avLst/>
          </a:prstGeom>
          <a:noFill/>
        </p:spPr>
        <p:txBody>
          <a:bodyPr wrap="square">
            <a:spAutoFit/>
          </a:bodyPr>
          <a:lstStyle/>
          <a:p>
            <a:pPr algn="l"/>
            <a:r>
              <a:rPr sz="1100" b="0" i="0">
                <a:solidFill>
                  <a:srgbClr val="78828E"/>
                </a:solidFill>
                <a:latin typeface="Calibri"/>
              </a:rPr>
              <a:t>One clear action.</a:t>
            </a:r>
          </a:p>
        </p:txBody>
      </p:sp>
      <p:sp>
        <p:nvSpPr>
          <p:cNvPr id="34" name="Rounded Rectangle 33"/>
          <p:cNvSpPr/>
          <p:nvPr/>
        </p:nvSpPr>
        <p:spPr>
          <a:xfrm>
            <a:off x="6675120" y="3547872"/>
            <a:ext cx="4754880" cy="4572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03720" y="3630168"/>
            <a:ext cx="4389120" cy="329184"/>
          </a:xfrm>
          <a:prstGeom prst="rect">
            <a:avLst/>
          </a:prstGeom>
          <a:noFill/>
        </p:spPr>
        <p:txBody>
          <a:bodyPr wrap="square">
            <a:spAutoFit/>
          </a:bodyPr>
          <a:lstStyle/>
          <a:p>
            <a:pPr algn="l"/>
            <a:r>
              <a:rPr sz="1200" b="0" i="0">
                <a:solidFill>
                  <a:srgbClr val="78828E"/>
                </a:solidFill>
                <a:latin typeface="Calibri"/>
              </a:rPr>
              <a:t>____________________________________</a:t>
            </a:r>
          </a:p>
        </p:txBody>
      </p:sp>
      <p:sp>
        <p:nvSpPr>
          <p:cNvPr id="36" name="Rounded Rectangle 35"/>
          <p:cNvSpPr/>
          <p:nvPr/>
        </p:nvSpPr>
        <p:spPr>
          <a:xfrm>
            <a:off x="457200" y="4270248"/>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4416552"/>
            <a:ext cx="548640" cy="457200"/>
          </a:xfrm>
          <a:prstGeom prst="rect">
            <a:avLst/>
          </a:prstGeom>
          <a:noFill/>
        </p:spPr>
        <p:txBody>
          <a:bodyPr wrap="square">
            <a:spAutoFit/>
          </a:bodyPr>
          <a:lstStyle/>
          <a:p>
            <a:pPr algn="ctr"/>
            <a:r>
              <a:rPr sz="1700" b="0" i="0">
                <a:solidFill>
                  <a:srgbClr val="2A2F36"/>
                </a:solidFill>
                <a:latin typeface="Calibri"/>
              </a:rPr>
              <a:t>📍</a:t>
            </a:r>
          </a:p>
        </p:txBody>
      </p:sp>
      <p:sp>
        <p:nvSpPr>
          <p:cNvPr id="38" name="Rounded Rectangle 37"/>
          <p:cNvSpPr/>
          <p:nvPr/>
        </p:nvSpPr>
        <p:spPr>
          <a:xfrm>
            <a:off x="1463040" y="4407408"/>
            <a:ext cx="2377440" cy="45720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63040" y="4489704"/>
            <a:ext cx="2377440" cy="329184"/>
          </a:xfrm>
          <a:prstGeom prst="rect">
            <a:avLst/>
          </a:prstGeom>
          <a:noFill/>
        </p:spPr>
        <p:txBody>
          <a:bodyPr wrap="square">
            <a:spAutoFit/>
          </a:bodyPr>
          <a:lstStyle/>
          <a:p>
            <a:pPr algn="ctr"/>
            <a:r>
              <a:rPr sz="1300" b="1" i="0">
                <a:solidFill>
                  <a:srgbClr val="D08A0C"/>
                </a:solidFill>
                <a:latin typeface="Calibri"/>
              </a:rPr>
              <a:t>WHERE</a:t>
            </a:r>
          </a:p>
        </p:txBody>
      </p:sp>
      <p:sp>
        <p:nvSpPr>
          <p:cNvPr id="40" name="TextBox 39"/>
          <p:cNvSpPr txBox="1"/>
          <p:nvPr/>
        </p:nvSpPr>
        <p:spPr>
          <a:xfrm>
            <a:off x="4069080" y="4498848"/>
            <a:ext cx="2377440" cy="329184"/>
          </a:xfrm>
          <a:prstGeom prst="rect">
            <a:avLst/>
          </a:prstGeom>
          <a:noFill/>
        </p:spPr>
        <p:txBody>
          <a:bodyPr wrap="square">
            <a:spAutoFit/>
          </a:bodyPr>
          <a:lstStyle/>
          <a:p>
            <a:pPr algn="l"/>
            <a:r>
              <a:rPr sz="1100" b="0" i="0">
                <a:solidFill>
                  <a:srgbClr val="78828E"/>
                </a:solidFill>
                <a:latin typeface="Calibri"/>
              </a:rPr>
              <a:t>Name the place.</a:t>
            </a:r>
          </a:p>
        </p:txBody>
      </p:sp>
      <p:sp>
        <p:nvSpPr>
          <p:cNvPr id="41" name="Rounded Rectangle 40"/>
          <p:cNvSpPr/>
          <p:nvPr/>
        </p:nvSpPr>
        <p:spPr>
          <a:xfrm>
            <a:off x="6675120" y="4407408"/>
            <a:ext cx="4754880" cy="4572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03720" y="4489704"/>
            <a:ext cx="4389120" cy="329184"/>
          </a:xfrm>
          <a:prstGeom prst="rect">
            <a:avLst/>
          </a:prstGeom>
          <a:noFill/>
        </p:spPr>
        <p:txBody>
          <a:bodyPr wrap="square">
            <a:spAutoFit/>
          </a:bodyPr>
          <a:lstStyle/>
          <a:p>
            <a:pPr algn="l"/>
            <a:r>
              <a:rPr sz="1200" b="0" i="0">
                <a:solidFill>
                  <a:srgbClr val="78828E"/>
                </a:solidFill>
                <a:latin typeface="Calibri"/>
              </a:rPr>
              <a:t>____________________________________</a:t>
            </a:r>
          </a:p>
        </p:txBody>
      </p:sp>
      <p:sp>
        <p:nvSpPr>
          <p:cNvPr id="43" name="Rounded Rectangle 42"/>
          <p:cNvSpPr/>
          <p:nvPr/>
        </p:nvSpPr>
        <p:spPr>
          <a:xfrm>
            <a:off x="457200" y="5129783"/>
            <a:ext cx="112928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276087"/>
            <a:ext cx="548640" cy="457200"/>
          </a:xfrm>
          <a:prstGeom prst="rect">
            <a:avLst/>
          </a:prstGeom>
          <a:noFill/>
        </p:spPr>
        <p:txBody>
          <a:bodyPr wrap="square">
            <a:spAutoFit/>
          </a:bodyPr>
          <a:lstStyle/>
          <a:p>
            <a:pPr algn="ctr"/>
            <a:r>
              <a:rPr sz="1700" b="0" i="0">
                <a:solidFill>
                  <a:srgbClr val="2A2F36"/>
                </a:solidFill>
                <a:latin typeface="Calibri"/>
              </a:rPr>
              <a:t>🔍</a:t>
            </a:r>
          </a:p>
        </p:txBody>
      </p:sp>
      <p:sp>
        <p:nvSpPr>
          <p:cNvPr id="45" name="Rounded Rectangle 44"/>
          <p:cNvSpPr/>
          <p:nvPr/>
        </p:nvSpPr>
        <p:spPr>
          <a:xfrm>
            <a:off x="1463040" y="5266943"/>
            <a:ext cx="2377440" cy="45720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63040" y="5349239"/>
            <a:ext cx="2377440" cy="329184"/>
          </a:xfrm>
          <a:prstGeom prst="rect">
            <a:avLst/>
          </a:prstGeom>
          <a:noFill/>
        </p:spPr>
        <p:txBody>
          <a:bodyPr wrap="square">
            <a:spAutoFit/>
          </a:bodyPr>
          <a:lstStyle/>
          <a:p>
            <a:pPr algn="ctr"/>
            <a:r>
              <a:rPr sz="1300" b="1" i="0">
                <a:solidFill>
                  <a:srgbClr val="D08A0C"/>
                </a:solidFill>
                <a:latin typeface="Calibri"/>
              </a:rPr>
              <a:t>ONE DETAIL</a:t>
            </a:r>
          </a:p>
        </p:txBody>
      </p:sp>
      <p:sp>
        <p:nvSpPr>
          <p:cNvPr id="47" name="TextBox 46"/>
          <p:cNvSpPr txBox="1"/>
          <p:nvPr/>
        </p:nvSpPr>
        <p:spPr>
          <a:xfrm>
            <a:off x="4069080" y="5358383"/>
            <a:ext cx="2377440" cy="329184"/>
          </a:xfrm>
          <a:prstGeom prst="rect">
            <a:avLst/>
          </a:prstGeom>
          <a:noFill/>
        </p:spPr>
        <p:txBody>
          <a:bodyPr wrap="square">
            <a:spAutoFit/>
          </a:bodyPr>
          <a:lstStyle/>
          <a:p>
            <a:pPr algn="l"/>
            <a:r>
              <a:rPr sz="1100" b="0" i="0">
                <a:solidFill>
                  <a:srgbClr val="78828E"/>
                </a:solidFill>
                <a:latin typeface="Calibri"/>
              </a:rPr>
              <a:t>Something only you noticed.</a:t>
            </a:r>
          </a:p>
        </p:txBody>
      </p:sp>
      <p:sp>
        <p:nvSpPr>
          <p:cNvPr id="48" name="Rounded Rectangle 47"/>
          <p:cNvSpPr/>
          <p:nvPr/>
        </p:nvSpPr>
        <p:spPr>
          <a:xfrm>
            <a:off x="6675120" y="5266943"/>
            <a:ext cx="4754880" cy="45720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03720" y="5349239"/>
            <a:ext cx="4389120" cy="329184"/>
          </a:xfrm>
          <a:prstGeom prst="rect">
            <a:avLst/>
          </a:prstGeom>
          <a:noFill/>
        </p:spPr>
        <p:txBody>
          <a:bodyPr wrap="square">
            <a:spAutoFit/>
          </a:bodyPr>
          <a:lstStyle/>
          <a:p>
            <a:pPr algn="l"/>
            <a:r>
              <a:rPr sz="1200" b="0" i="0">
                <a:solidFill>
                  <a:srgbClr val="78828E"/>
                </a:solidFill>
                <a:latin typeface="Calibri"/>
              </a:rPr>
              <a:t>____________________________________</a:t>
            </a:r>
          </a:p>
        </p:txBody>
      </p:sp>
      <p:sp>
        <p:nvSpPr>
          <p:cNvPr id="50" name="Rounded Rectangle 49"/>
          <p:cNvSpPr/>
          <p:nvPr/>
        </p:nvSpPr>
        <p:spPr>
          <a:xfrm>
            <a:off x="457200" y="603504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6089903"/>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52" name="TextBox 51"/>
          <p:cNvSpPr txBox="1"/>
          <p:nvPr/>
        </p:nvSpPr>
        <p:spPr>
          <a:xfrm>
            <a:off x="3108960" y="6080759"/>
            <a:ext cx="8412480" cy="329184"/>
          </a:xfrm>
          <a:prstGeom prst="rect">
            <a:avLst/>
          </a:prstGeom>
          <a:noFill/>
        </p:spPr>
        <p:txBody>
          <a:bodyPr wrap="square">
            <a:spAutoFit/>
          </a:bodyPr>
          <a:lstStyle/>
          <a:p>
            <a:pPr algn="l"/>
            <a:r>
              <a:rPr sz="1300" b="1" i="0">
                <a:solidFill>
                  <a:srgbClr val="111418"/>
                </a:solidFill>
                <a:latin typeface="Calibri"/>
              </a:rPr>
              <a:t>Do the HEADLINE box last. It is easier once the facts are down.</a:t>
            </a:r>
          </a:p>
        </p:txBody>
      </p:sp>
    </p:spTree>
  </p:cSld>
  <p:clrMapOvr>
    <a:masterClrMapping/>
  </p:clrMapOvr>
  <p:transition spd="med"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CREATE</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84–88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Your Picture — Now Report It</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0592784"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  |  84–88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53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D08A0C"/>
                </a:solidFill>
                <a:latin typeface="Calibri"/>
              </a:rPr>
              <a:t>Two to four sentences. Say them, then write them.</a:t>
            </a:r>
          </a:p>
        </p:txBody>
      </p:sp>
      <p:sp>
        <p:nvSpPr>
          <p:cNvPr id="15" name="Rounded Rectangle 14"/>
          <p:cNvSpPr/>
          <p:nvPr/>
        </p:nvSpPr>
        <p:spPr>
          <a:xfrm>
            <a:off x="457200" y="1645920"/>
            <a:ext cx="4846320" cy="406908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331720"/>
            <a:ext cx="4846320" cy="1645920"/>
          </a:xfrm>
          <a:prstGeom prst="rect">
            <a:avLst/>
          </a:prstGeom>
          <a:noFill/>
        </p:spPr>
        <p:txBody>
          <a:bodyPr wrap="square">
            <a:spAutoFit/>
          </a:bodyPr>
          <a:lstStyle/>
          <a:p>
            <a:pPr algn="ctr"/>
            <a:r>
              <a:rPr sz="9000" b="0" i="0">
                <a:solidFill>
                  <a:srgbClr val="2A2F36"/>
                </a:solidFill>
                <a:latin typeface="Calibri"/>
              </a:rPr>
              <a:t>🌻</a:t>
            </a:r>
          </a:p>
        </p:txBody>
      </p:sp>
      <p:sp>
        <p:nvSpPr>
          <p:cNvPr id="17" name="TextBox 16"/>
          <p:cNvSpPr txBox="1"/>
          <p:nvPr/>
        </p:nvSpPr>
        <p:spPr>
          <a:xfrm>
            <a:off x="731520" y="4206240"/>
            <a:ext cx="4297680" cy="914400"/>
          </a:xfrm>
          <a:prstGeom prst="rect">
            <a:avLst/>
          </a:prstGeom>
          <a:noFill/>
        </p:spPr>
        <p:txBody>
          <a:bodyPr wrap="square">
            <a:spAutoFit/>
          </a:bodyPr>
          <a:lstStyle/>
          <a:p>
            <a:pPr algn="ctr"/>
            <a:r>
              <a:rPr sz="1500" b="1" i="0">
                <a:solidFill>
                  <a:srgbClr val="111418"/>
                </a:solidFill>
                <a:latin typeface="Calibri"/>
              </a:rPr>
              <a:t>Students planting and watering at the new school garden.</a:t>
            </a:r>
          </a:p>
        </p:txBody>
      </p:sp>
      <p:sp>
        <p:nvSpPr>
          <p:cNvPr id="18" name="TextBox 17"/>
          <p:cNvSpPr txBox="1"/>
          <p:nvPr/>
        </p:nvSpPr>
        <p:spPr>
          <a:xfrm>
            <a:off x="5623560" y="1645920"/>
            <a:ext cx="6126480" cy="329184"/>
          </a:xfrm>
          <a:prstGeom prst="rect">
            <a:avLst/>
          </a:prstGeom>
          <a:noFill/>
        </p:spPr>
        <p:txBody>
          <a:bodyPr wrap="square">
            <a:spAutoFit/>
          </a:bodyPr>
          <a:lstStyle/>
          <a:p>
            <a:pPr algn="l"/>
            <a:r>
              <a:rPr sz="1200" b="1" i="0">
                <a:solidFill>
                  <a:srgbClr val="78828E"/>
                </a:solidFill>
                <a:latin typeface="Calibri"/>
              </a:rPr>
              <a:t>SENTENCE STARTERS — use them only if you need them</a:t>
            </a:r>
          </a:p>
        </p:txBody>
      </p:sp>
      <p:sp>
        <p:nvSpPr>
          <p:cNvPr id="19" name="Rounded Rectangle 18"/>
          <p:cNvSpPr/>
          <p:nvPr/>
        </p:nvSpPr>
        <p:spPr>
          <a:xfrm>
            <a:off x="5623560" y="2029968"/>
            <a:ext cx="61264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0" y="2157984"/>
            <a:ext cx="5486400" cy="457200"/>
          </a:xfrm>
          <a:prstGeom prst="rect">
            <a:avLst/>
          </a:prstGeom>
          <a:noFill/>
        </p:spPr>
        <p:txBody>
          <a:bodyPr wrap="square">
            <a:spAutoFit/>
          </a:bodyPr>
          <a:lstStyle/>
          <a:p>
            <a:pPr algn="l"/>
            <a:r>
              <a:rPr sz="2000" b="1" i="0">
                <a:solidFill>
                  <a:srgbClr val="D08A0C"/>
                </a:solidFill>
                <a:latin typeface="Calibri"/>
              </a:rPr>
              <a:t>The students ______.</a:t>
            </a:r>
          </a:p>
        </p:txBody>
      </p:sp>
      <p:sp>
        <p:nvSpPr>
          <p:cNvPr id="21" name="Rounded Rectangle 20"/>
          <p:cNvSpPr/>
          <p:nvPr/>
        </p:nvSpPr>
        <p:spPr>
          <a:xfrm>
            <a:off x="5623560" y="2816352"/>
            <a:ext cx="61264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0" y="2944368"/>
            <a:ext cx="5486400" cy="457200"/>
          </a:xfrm>
          <a:prstGeom prst="rect">
            <a:avLst/>
          </a:prstGeom>
          <a:noFill/>
        </p:spPr>
        <p:txBody>
          <a:bodyPr wrap="square">
            <a:spAutoFit/>
          </a:bodyPr>
          <a:lstStyle/>
          <a:p>
            <a:pPr algn="l"/>
            <a:r>
              <a:rPr sz="2000" b="1" i="0">
                <a:solidFill>
                  <a:srgbClr val="D08A0C"/>
                </a:solidFill>
                <a:latin typeface="Calibri"/>
              </a:rPr>
              <a:t>They are ______.</a:t>
            </a:r>
          </a:p>
        </p:txBody>
      </p:sp>
      <p:sp>
        <p:nvSpPr>
          <p:cNvPr id="23" name="Rounded Rectangle 22"/>
          <p:cNvSpPr/>
          <p:nvPr/>
        </p:nvSpPr>
        <p:spPr>
          <a:xfrm>
            <a:off x="5623560" y="3602736"/>
            <a:ext cx="61264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0" y="3730752"/>
            <a:ext cx="5486400" cy="457200"/>
          </a:xfrm>
          <a:prstGeom prst="rect">
            <a:avLst/>
          </a:prstGeom>
          <a:noFill/>
        </p:spPr>
        <p:txBody>
          <a:bodyPr wrap="square">
            <a:spAutoFit/>
          </a:bodyPr>
          <a:lstStyle/>
          <a:p>
            <a:pPr algn="l"/>
            <a:r>
              <a:rPr sz="2000" b="1" i="0">
                <a:solidFill>
                  <a:srgbClr val="D08A0C"/>
                </a:solidFill>
                <a:latin typeface="Calibri"/>
              </a:rPr>
              <a:t>They worked ______.</a:t>
            </a:r>
          </a:p>
        </p:txBody>
      </p:sp>
      <p:sp>
        <p:nvSpPr>
          <p:cNvPr id="25" name="Rounded Rectangle 24"/>
          <p:cNvSpPr/>
          <p:nvPr/>
        </p:nvSpPr>
        <p:spPr>
          <a:xfrm>
            <a:off x="5623560" y="4389120"/>
            <a:ext cx="61264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0" y="4517136"/>
            <a:ext cx="5486400" cy="457200"/>
          </a:xfrm>
          <a:prstGeom prst="rect">
            <a:avLst/>
          </a:prstGeom>
          <a:noFill/>
        </p:spPr>
        <p:txBody>
          <a:bodyPr wrap="square">
            <a:spAutoFit/>
          </a:bodyPr>
          <a:lstStyle/>
          <a:p>
            <a:pPr algn="l"/>
            <a:r>
              <a:rPr sz="2000" b="1" i="0">
                <a:solidFill>
                  <a:srgbClr val="D08A0C"/>
                </a:solidFill>
                <a:latin typeface="Calibri"/>
              </a:rPr>
              <a:t>I think ______.</a:t>
            </a:r>
          </a:p>
        </p:txBody>
      </p:sp>
      <p:sp>
        <p:nvSpPr>
          <p:cNvPr id="27" name="Rounded Rectangle 26"/>
          <p:cNvSpPr/>
          <p:nvPr/>
        </p:nvSpPr>
        <p:spPr>
          <a:xfrm>
            <a:off x="5623560" y="5212080"/>
            <a:ext cx="6126480" cy="50292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52160" y="5303520"/>
            <a:ext cx="5669280" cy="365760"/>
          </a:xfrm>
          <a:prstGeom prst="rect">
            <a:avLst/>
          </a:prstGeom>
          <a:noFill/>
        </p:spPr>
        <p:txBody>
          <a:bodyPr wrap="square">
            <a:spAutoFit/>
          </a:bodyPr>
          <a:lstStyle/>
          <a:p>
            <a:pPr algn="l"/>
            <a:r>
              <a:rPr sz="1200" b="1" i="0">
                <a:solidFill>
                  <a:srgbClr val="6A4A9E"/>
                </a:solidFill>
                <a:latin typeface="Calibri"/>
              </a:rPr>
              <a:t>⭐ EDITOR CHALLENGE: use one word from the vocabulary list.</a:t>
            </a:r>
          </a:p>
        </p:txBody>
      </p:sp>
      <p:sp>
        <p:nvSpPr>
          <p:cNvPr id="29" name="Rounded Rectangle 28"/>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1" name="TextBox 30"/>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Write down exactly what she says, then read it back to her.</a:t>
            </a:r>
          </a:p>
        </p:txBody>
      </p:sp>
    </p:spTree>
  </p:cSld>
  <p:clrMapOvr>
    <a:masterClrMapping/>
  </p:clrMapOvr>
  <p:transition spd="med"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FINAL</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88–90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Final Newsroom Challenge — 1 to 3</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0792648"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  |  88–90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54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C8322B"/>
                </a:solidFill>
                <a:latin typeface="Calibri"/>
              </a:rPr>
              <a:t>No hints unless you ask. You have done all of this already.</a:t>
            </a:r>
          </a:p>
        </p:txBody>
      </p:sp>
      <p:sp>
        <p:nvSpPr>
          <p:cNvPr id="15" name="Rounded Rectangle 14"/>
          <p:cNvSpPr/>
          <p:nvPr/>
        </p:nvSpPr>
        <p:spPr>
          <a:xfrm>
            <a:off x="457200" y="1719072"/>
            <a:ext cx="11292840" cy="126187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2130552"/>
            <a:ext cx="512064" cy="512064"/>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194560"/>
            <a:ext cx="512064" cy="384048"/>
          </a:xfrm>
          <a:prstGeom prst="rect">
            <a:avLst/>
          </a:prstGeom>
          <a:noFill/>
        </p:spPr>
        <p:txBody>
          <a:bodyPr wrap="square">
            <a:spAutoFit/>
          </a:bodyPr>
          <a:lstStyle/>
          <a:p>
            <a:pPr algn="ctr"/>
            <a:r>
              <a:rPr sz="1400" b="1" i="0">
                <a:solidFill>
                  <a:srgbClr val="FFFFFF"/>
                </a:solidFill>
                <a:latin typeface="Calibri"/>
              </a:rPr>
              <a:t>1</a:t>
            </a:r>
          </a:p>
        </p:txBody>
      </p:sp>
      <p:sp>
        <p:nvSpPr>
          <p:cNvPr id="18" name="TextBox 17"/>
          <p:cNvSpPr txBox="1"/>
          <p:nvPr/>
        </p:nvSpPr>
        <p:spPr>
          <a:xfrm>
            <a:off x="1554480" y="2103120"/>
            <a:ext cx="822960" cy="566928"/>
          </a:xfrm>
          <a:prstGeom prst="rect">
            <a:avLst/>
          </a:prstGeom>
          <a:noFill/>
        </p:spPr>
        <p:txBody>
          <a:bodyPr wrap="square">
            <a:spAutoFit/>
          </a:bodyPr>
          <a:lstStyle/>
          <a:p>
            <a:pPr algn="ctr"/>
            <a:r>
              <a:rPr sz="2400" b="0" i="0">
                <a:solidFill>
                  <a:srgbClr val="2A2F36"/>
                </a:solidFill>
                <a:latin typeface="Calibri"/>
              </a:rPr>
              <a:t>📖</a:t>
            </a:r>
          </a:p>
        </p:txBody>
      </p:sp>
      <p:sp>
        <p:nvSpPr>
          <p:cNvPr id="19" name="TextBox 18"/>
          <p:cNvSpPr txBox="1"/>
          <p:nvPr/>
        </p:nvSpPr>
        <p:spPr>
          <a:xfrm>
            <a:off x="2560320" y="1993392"/>
            <a:ext cx="3291840" cy="402336"/>
          </a:xfrm>
          <a:prstGeom prst="rect">
            <a:avLst/>
          </a:prstGeom>
          <a:noFill/>
        </p:spPr>
        <p:txBody>
          <a:bodyPr wrap="square">
            <a:spAutoFit/>
          </a:bodyPr>
          <a:lstStyle/>
          <a:p>
            <a:pPr algn="l"/>
            <a:r>
              <a:rPr sz="1400" b="1" i="0">
                <a:solidFill>
                  <a:srgbClr val="C8322B"/>
                </a:solidFill>
                <a:latin typeface="Calibri"/>
              </a:rPr>
              <a:t>READ</a:t>
            </a:r>
          </a:p>
        </p:txBody>
      </p:sp>
      <p:sp>
        <p:nvSpPr>
          <p:cNvPr id="20" name="TextBox 19"/>
          <p:cNvSpPr txBox="1"/>
          <p:nvPr/>
        </p:nvSpPr>
        <p:spPr>
          <a:xfrm>
            <a:off x="2560320" y="2414016"/>
            <a:ext cx="3291840" cy="365760"/>
          </a:xfrm>
          <a:prstGeom prst="rect">
            <a:avLst/>
          </a:prstGeom>
          <a:noFill/>
        </p:spPr>
        <p:txBody>
          <a:bodyPr wrap="square">
            <a:spAutoFit/>
          </a:bodyPr>
          <a:lstStyle/>
          <a:p>
            <a:pPr algn="l"/>
            <a:r>
              <a:rPr sz="1200" b="0" i="0">
                <a:solidFill>
                  <a:srgbClr val="78828E"/>
                </a:solidFill>
                <a:latin typeface="Calibri"/>
              </a:rPr>
              <a:t>Read this word out loud:</a:t>
            </a:r>
          </a:p>
        </p:txBody>
      </p:sp>
      <p:sp>
        <p:nvSpPr>
          <p:cNvPr id="21" name="Rounded Rectangle 20"/>
          <p:cNvSpPr/>
          <p:nvPr/>
        </p:nvSpPr>
        <p:spPr>
          <a:xfrm>
            <a:off x="6126480" y="1993392"/>
            <a:ext cx="53492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148840"/>
            <a:ext cx="4983480" cy="457200"/>
          </a:xfrm>
          <a:prstGeom prst="rect">
            <a:avLst/>
          </a:prstGeom>
          <a:noFill/>
        </p:spPr>
        <p:txBody>
          <a:bodyPr wrap="square">
            <a:spAutoFit/>
          </a:bodyPr>
          <a:lstStyle/>
          <a:p>
            <a:pPr algn="ctr"/>
            <a:r>
              <a:rPr sz="2200" b="1" i="0">
                <a:solidFill>
                  <a:srgbClr val="C8322B"/>
                </a:solidFill>
                <a:latin typeface="Calibri"/>
              </a:rPr>
              <a:t>INTERVIEW</a:t>
            </a:r>
          </a:p>
        </p:txBody>
      </p:sp>
      <p:sp>
        <p:nvSpPr>
          <p:cNvPr id="23" name="Rounded Rectangle 22"/>
          <p:cNvSpPr/>
          <p:nvPr/>
        </p:nvSpPr>
        <p:spPr>
          <a:xfrm>
            <a:off x="457200" y="3136391"/>
            <a:ext cx="11292840" cy="1261872"/>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7240" y="3547871"/>
            <a:ext cx="512064" cy="512064"/>
          </a:xfrm>
          <a:prstGeom prst="ellipse">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611879"/>
            <a:ext cx="512064" cy="384048"/>
          </a:xfrm>
          <a:prstGeom prst="rect">
            <a:avLst/>
          </a:prstGeom>
          <a:noFill/>
        </p:spPr>
        <p:txBody>
          <a:bodyPr wrap="square">
            <a:spAutoFit/>
          </a:bodyPr>
          <a:lstStyle/>
          <a:p>
            <a:pPr algn="ctr"/>
            <a:r>
              <a:rPr sz="1400" b="1" i="0">
                <a:solidFill>
                  <a:srgbClr val="FFFFFF"/>
                </a:solidFill>
                <a:latin typeface="Calibri"/>
              </a:rPr>
              <a:t>2</a:t>
            </a:r>
          </a:p>
        </p:txBody>
      </p:sp>
      <p:sp>
        <p:nvSpPr>
          <p:cNvPr id="26" name="TextBox 25"/>
          <p:cNvSpPr txBox="1"/>
          <p:nvPr/>
        </p:nvSpPr>
        <p:spPr>
          <a:xfrm>
            <a:off x="1554480" y="3520439"/>
            <a:ext cx="822960" cy="566928"/>
          </a:xfrm>
          <a:prstGeom prst="rect">
            <a:avLst/>
          </a:prstGeom>
          <a:noFill/>
        </p:spPr>
        <p:txBody>
          <a:bodyPr wrap="square">
            <a:spAutoFit/>
          </a:bodyPr>
          <a:lstStyle/>
          <a:p>
            <a:pPr algn="ctr"/>
            <a:r>
              <a:rPr sz="2400" b="0" i="0">
                <a:solidFill>
                  <a:srgbClr val="2A2F36"/>
                </a:solidFill>
                <a:latin typeface="Calibri"/>
              </a:rPr>
              <a:t>🟢</a:t>
            </a:r>
          </a:p>
        </p:txBody>
      </p:sp>
      <p:sp>
        <p:nvSpPr>
          <p:cNvPr id="27" name="TextBox 26"/>
          <p:cNvSpPr txBox="1"/>
          <p:nvPr/>
        </p:nvSpPr>
        <p:spPr>
          <a:xfrm>
            <a:off x="2560320" y="3410711"/>
            <a:ext cx="3291840" cy="402336"/>
          </a:xfrm>
          <a:prstGeom prst="rect">
            <a:avLst/>
          </a:prstGeom>
          <a:noFill/>
        </p:spPr>
        <p:txBody>
          <a:bodyPr wrap="square">
            <a:spAutoFit/>
          </a:bodyPr>
          <a:lstStyle/>
          <a:p>
            <a:pPr algn="l"/>
            <a:r>
              <a:rPr sz="1400" b="1" i="0">
                <a:solidFill>
                  <a:srgbClr val="1E7A52"/>
                </a:solidFill>
                <a:latin typeface="Calibri"/>
              </a:rPr>
              <a:t>GRAMMAR</a:t>
            </a:r>
          </a:p>
        </p:txBody>
      </p:sp>
      <p:sp>
        <p:nvSpPr>
          <p:cNvPr id="28" name="TextBox 27"/>
          <p:cNvSpPr txBox="1"/>
          <p:nvPr/>
        </p:nvSpPr>
        <p:spPr>
          <a:xfrm>
            <a:off x="2560320" y="3831335"/>
            <a:ext cx="3291840" cy="365760"/>
          </a:xfrm>
          <a:prstGeom prst="rect">
            <a:avLst/>
          </a:prstGeom>
          <a:noFill/>
        </p:spPr>
        <p:txBody>
          <a:bodyPr wrap="square">
            <a:spAutoFit/>
          </a:bodyPr>
          <a:lstStyle/>
          <a:p>
            <a:pPr algn="l"/>
            <a:r>
              <a:rPr sz="1200" b="0" i="0">
                <a:solidFill>
                  <a:srgbClr val="78828E"/>
                </a:solidFill>
                <a:latin typeface="Calibri"/>
              </a:rPr>
              <a:t>Find the verb:</a:t>
            </a:r>
          </a:p>
        </p:txBody>
      </p:sp>
      <p:sp>
        <p:nvSpPr>
          <p:cNvPr id="29" name="Rounded Rectangle 28"/>
          <p:cNvSpPr/>
          <p:nvPr/>
        </p:nvSpPr>
        <p:spPr>
          <a:xfrm>
            <a:off x="6126480" y="3410711"/>
            <a:ext cx="53492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3566159"/>
            <a:ext cx="4983480" cy="457200"/>
          </a:xfrm>
          <a:prstGeom prst="rect">
            <a:avLst/>
          </a:prstGeom>
          <a:noFill/>
        </p:spPr>
        <p:txBody>
          <a:bodyPr wrap="square">
            <a:spAutoFit/>
          </a:bodyPr>
          <a:lstStyle/>
          <a:p>
            <a:pPr algn="ctr"/>
            <a:r>
              <a:rPr sz="2200" b="1" i="0">
                <a:solidFill>
                  <a:srgbClr val="1E7A52"/>
                </a:solidFill>
                <a:latin typeface="Calibri"/>
              </a:rPr>
              <a:t>The excited reporter wrote the story.</a:t>
            </a:r>
          </a:p>
        </p:txBody>
      </p:sp>
      <p:sp>
        <p:nvSpPr>
          <p:cNvPr id="31" name="Rounded Rectangle 30"/>
          <p:cNvSpPr/>
          <p:nvPr/>
        </p:nvSpPr>
        <p:spPr>
          <a:xfrm>
            <a:off x="457200" y="4553712"/>
            <a:ext cx="11292840" cy="1261872"/>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77240" y="4965192"/>
            <a:ext cx="512064" cy="512064"/>
          </a:xfrm>
          <a:prstGeom prst="ellipse">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029200"/>
            <a:ext cx="512064" cy="384048"/>
          </a:xfrm>
          <a:prstGeom prst="rect">
            <a:avLst/>
          </a:prstGeom>
          <a:noFill/>
        </p:spPr>
        <p:txBody>
          <a:bodyPr wrap="square">
            <a:spAutoFit/>
          </a:bodyPr>
          <a:lstStyle/>
          <a:p>
            <a:pPr algn="ctr"/>
            <a:r>
              <a:rPr sz="1400" b="1" i="0">
                <a:solidFill>
                  <a:srgbClr val="FFFFFF"/>
                </a:solidFill>
                <a:latin typeface="Calibri"/>
              </a:rPr>
              <a:t>3</a:t>
            </a:r>
          </a:p>
        </p:txBody>
      </p:sp>
      <p:sp>
        <p:nvSpPr>
          <p:cNvPr id="34" name="TextBox 33"/>
          <p:cNvSpPr txBox="1"/>
          <p:nvPr/>
        </p:nvSpPr>
        <p:spPr>
          <a:xfrm>
            <a:off x="1554480" y="4937760"/>
            <a:ext cx="822960" cy="566928"/>
          </a:xfrm>
          <a:prstGeom prst="rect">
            <a:avLst/>
          </a:prstGeom>
          <a:noFill/>
        </p:spPr>
        <p:txBody>
          <a:bodyPr wrap="square">
            <a:spAutoFit/>
          </a:bodyPr>
          <a:lstStyle/>
          <a:p>
            <a:pPr algn="ctr"/>
            <a:r>
              <a:rPr sz="2400" b="0" i="0">
                <a:solidFill>
                  <a:srgbClr val="2A2F36"/>
                </a:solidFill>
                <a:latin typeface="Calibri"/>
              </a:rPr>
              <a:t>⏰</a:t>
            </a:r>
          </a:p>
        </p:txBody>
      </p:sp>
      <p:sp>
        <p:nvSpPr>
          <p:cNvPr id="35" name="TextBox 34"/>
          <p:cNvSpPr txBox="1"/>
          <p:nvPr/>
        </p:nvSpPr>
        <p:spPr>
          <a:xfrm>
            <a:off x="2560320" y="4828032"/>
            <a:ext cx="3291840" cy="402336"/>
          </a:xfrm>
          <a:prstGeom prst="rect">
            <a:avLst/>
          </a:prstGeom>
          <a:noFill/>
        </p:spPr>
        <p:txBody>
          <a:bodyPr wrap="square">
            <a:spAutoFit/>
          </a:bodyPr>
          <a:lstStyle/>
          <a:p>
            <a:pPr algn="l"/>
            <a:r>
              <a:rPr sz="1400" b="1" i="0">
                <a:solidFill>
                  <a:srgbClr val="1B5E9E"/>
                </a:solidFill>
                <a:latin typeface="Calibri"/>
              </a:rPr>
              <a:t>TENSE</a:t>
            </a:r>
          </a:p>
        </p:txBody>
      </p:sp>
      <p:sp>
        <p:nvSpPr>
          <p:cNvPr id="36" name="TextBox 35"/>
          <p:cNvSpPr txBox="1"/>
          <p:nvPr/>
        </p:nvSpPr>
        <p:spPr>
          <a:xfrm>
            <a:off x="2560320" y="5248656"/>
            <a:ext cx="3291840" cy="365760"/>
          </a:xfrm>
          <a:prstGeom prst="rect">
            <a:avLst/>
          </a:prstGeom>
          <a:noFill/>
        </p:spPr>
        <p:txBody>
          <a:bodyPr wrap="square">
            <a:spAutoFit/>
          </a:bodyPr>
          <a:lstStyle/>
          <a:p>
            <a:pPr algn="l"/>
            <a:r>
              <a:rPr sz="1200" b="0" i="0">
                <a:solidFill>
                  <a:srgbClr val="78828E"/>
                </a:solidFill>
                <a:latin typeface="Calibri"/>
              </a:rPr>
              <a:t>Change this to past tense:</a:t>
            </a:r>
          </a:p>
        </p:txBody>
      </p:sp>
      <p:sp>
        <p:nvSpPr>
          <p:cNvPr id="37" name="Rounded Rectangle 36"/>
          <p:cNvSpPr/>
          <p:nvPr/>
        </p:nvSpPr>
        <p:spPr>
          <a:xfrm>
            <a:off x="6126480" y="4828032"/>
            <a:ext cx="53492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4983480"/>
            <a:ext cx="4983480" cy="457200"/>
          </a:xfrm>
          <a:prstGeom prst="rect">
            <a:avLst/>
          </a:prstGeom>
          <a:noFill/>
        </p:spPr>
        <p:txBody>
          <a:bodyPr wrap="square">
            <a:spAutoFit/>
          </a:bodyPr>
          <a:lstStyle/>
          <a:p>
            <a:pPr algn="ctr"/>
            <a:r>
              <a:rPr sz="2200" b="1" i="0">
                <a:solidFill>
                  <a:srgbClr val="1B5E9E"/>
                </a:solidFill>
                <a:latin typeface="Calibri"/>
              </a:rPr>
              <a:t>The team wins.</a:t>
            </a:r>
          </a:p>
        </p:txBody>
      </p:sp>
      <p:sp>
        <p:nvSpPr>
          <p:cNvPr id="39" name="Rounded Rectangle 38"/>
          <p:cNvSpPr/>
          <p:nvPr/>
        </p:nvSpPr>
        <p:spPr>
          <a:xfrm>
            <a:off x="457200" y="5897880"/>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52744"/>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41" name="TextBox 40"/>
          <p:cNvSpPr txBox="1"/>
          <p:nvPr/>
        </p:nvSpPr>
        <p:spPr>
          <a:xfrm>
            <a:off x="3108960" y="5943600"/>
            <a:ext cx="8412480" cy="329184"/>
          </a:xfrm>
          <a:prstGeom prst="rect">
            <a:avLst/>
          </a:prstGeom>
          <a:noFill/>
        </p:spPr>
        <p:txBody>
          <a:bodyPr wrap="square">
            <a:spAutoFit/>
          </a:bodyPr>
          <a:lstStyle/>
          <a:p>
            <a:pPr algn="l"/>
            <a:r>
              <a:rPr sz="1300" b="1" i="0">
                <a:solidFill>
                  <a:srgbClr val="111418"/>
                </a:solidFill>
                <a:latin typeface="Calibri"/>
              </a:rPr>
              <a:t>Wait ten full seconds before offering anything. Silence helps.</a:t>
            </a:r>
          </a:p>
        </p:txBody>
      </p:sp>
    </p:spTree>
  </p:cSld>
  <p:clrMapOvr>
    <a:masterClrMapping/>
  </p:clrMapOvr>
  <p:transition spd="med"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FINAL</a:t>
            </a:r>
          </a:p>
        </p:txBody>
      </p:sp>
      <p:sp>
        <p:nvSpPr>
          <p:cNvPr id="6" name="Rounded Rectangle 5"/>
          <p:cNvSpPr/>
          <p:nvPr/>
        </p:nvSpPr>
        <p:spPr>
          <a:xfrm>
            <a:off x="9418320" y="237744"/>
            <a:ext cx="2423160" cy="384048"/>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i="0">
                <a:solidFill>
                  <a:srgbClr val="FFFFFF"/>
                </a:solidFill>
                <a:latin typeface="Calibri"/>
              </a:rPr>
              <a:t>88–90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Final Newsroom Challenge — 4 and 5</a:t>
            </a:r>
          </a:p>
        </p:txBody>
      </p:sp>
      <p:sp>
        <p:nvSpPr>
          <p:cNvPr id="9" name="Rectangle 8"/>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0992511"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  |  88–90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55 / 61</a:t>
            </a:r>
          </a:p>
        </p:txBody>
      </p:sp>
      <p:sp>
        <p:nvSpPr>
          <p:cNvPr id="14" name="TextBox 13"/>
          <p:cNvSpPr txBox="1"/>
          <p:nvPr/>
        </p:nvSpPr>
        <p:spPr>
          <a:xfrm>
            <a:off x="411480" y="1207008"/>
            <a:ext cx="10515600" cy="365760"/>
          </a:xfrm>
          <a:prstGeom prst="rect">
            <a:avLst/>
          </a:prstGeom>
          <a:noFill/>
        </p:spPr>
        <p:txBody>
          <a:bodyPr wrap="square">
            <a:spAutoFit/>
          </a:bodyPr>
          <a:lstStyle/>
          <a:p>
            <a:pPr algn="l"/>
            <a:r>
              <a:rPr sz="1500" b="1" i="0">
                <a:solidFill>
                  <a:srgbClr val="D08A0C"/>
                </a:solidFill>
                <a:latin typeface="Calibri"/>
              </a:rPr>
              <a:t>The last two. Then the edition goes to print.</a:t>
            </a:r>
          </a:p>
        </p:txBody>
      </p:sp>
      <p:sp>
        <p:nvSpPr>
          <p:cNvPr id="15" name="Rounded Rectangle 14"/>
          <p:cNvSpPr/>
          <p:nvPr/>
        </p:nvSpPr>
        <p:spPr>
          <a:xfrm>
            <a:off x="457200" y="1783080"/>
            <a:ext cx="11292840" cy="169164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2350008"/>
            <a:ext cx="566928" cy="566928"/>
          </a:xfrm>
          <a:prstGeom prst="ellipse">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23160"/>
            <a:ext cx="566928" cy="420624"/>
          </a:xfrm>
          <a:prstGeom prst="rect">
            <a:avLst/>
          </a:prstGeom>
          <a:noFill/>
        </p:spPr>
        <p:txBody>
          <a:bodyPr wrap="square">
            <a:spAutoFit/>
          </a:bodyPr>
          <a:lstStyle/>
          <a:p>
            <a:pPr algn="ctr"/>
            <a:r>
              <a:rPr sz="1600" b="1" i="0">
                <a:solidFill>
                  <a:srgbClr val="FFFFFF"/>
                </a:solidFill>
                <a:latin typeface="Calibri"/>
              </a:rPr>
              <a:t>4</a:t>
            </a:r>
          </a:p>
        </p:txBody>
      </p:sp>
      <p:sp>
        <p:nvSpPr>
          <p:cNvPr id="18" name="TextBox 17"/>
          <p:cNvSpPr txBox="1"/>
          <p:nvPr/>
        </p:nvSpPr>
        <p:spPr>
          <a:xfrm>
            <a:off x="1600200" y="2313432"/>
            <a:ext cx="914400" cy="658368"/>
          </a:xfrm>
          <a:prstGeom prst="rect">
            <a:avLst/>
          </a:prstGeom>
          <a:noFill/>
        </p:spPr>
        <p:txBody>
          <a:bodyPr wrap="square">
            <a:spAutoFit/>
          </a:bodyPr>
          <a:lstStyle/>
          <a:p>
            <a:pPr algn="ctr"/>
            <a:r>
              <a:rPr sz="3000" b="0" i="0">
                <a:solidFill>
                  <a:srgbClr val="2A2F36"/>
                </a:solidFill>
                <a:latin typeface="Calibri"/>
              </a:rPr>
              <a:t>🔎</a:t>
            </a:r>
          </a:p>
        </p:txBody>
      </p:sp>
      <p:sp>
        <p:nvSpPr>
          <p:cNvPr id="19" name="TextBox 18"/>
          <p:cNvSpPr txBox="1"/>
          <p:nvPr/>
        </p:nvSpPr>
        <p:spPr>
          <a:xfrm>
            <a:off x="2743200" y="2194560"/>
            <a:ext cx="3108960" cy="457200"/>
          </a:xfrm>
          <a:prstGeom prst="rect">
            <a:avLst/>
          </a:prstGeom>
          <a:noFill/>
        </p:spPr>
        <p:txBody>
          <a:bodyPr wrap="square">
            <a:spAutoFit/>
          </a:bodyPr>
          <a:lstStyle/>
          <a:p>
            <a:pPr algn="l"/>
            <a:r>
              <a:rPr sz="1600" b="1" i="0">
                <a:solidFill>
                  <a:srgbClr val="6A4A9E"/>
                </a:solidFill>
                <a:latin typeface="Calibri"/>
              </a:rPr>
              <a:t>READING</a:t>
            </a:r>
          </a:p>
        </p:txBody>
      </p:sp>
      <p:sp>
        <p:nvSpPr>
          <p:cNvPr id="20" name="TextBox 19"/>
          <p:cNvSpPr txBox="1"/>
          <p:nvPr/>
        </p:nvSpPr>
        <p:spPr>
          <a:xfrm>
            <a:off x="2743200" y="2679192"/>
            <a:ext cx="3108960" cy="411480"/>
          </a:xfrm>
          <a:prstGeom prst="rect">
            <a:avLst/>
          </a:prstGeom>
          <a:noFill/>
        </p:spPr>
        <p:txBody>
          <a:bodyPr wrap="square">
            <a:spAutoFit/>
          </a:bodyPr>
          <a:lstStyle/>
          <a:p>
            <a:pPr algn="l"/>
            <a:r>
              <a:rPr sz="1300" b="0" i="0">
                <a:solidFill>
                  <a:srgbClr val="78828E"/>
                </a:solidFill>
                <a:latin typeface="Calibri"/>
              </a:rPr>
              <a:t>From the story:</a:t>
            </a:r>
          </a:p>
        </p:txBody>
      </p:sp>
      <p:sp>
        <p:nvSpPr>
          <p:cNvPr id="21" name="Rounded Rectangle 20"/>
          <p:cNvSpPr/>
          <p:nvPr/>
        </p:nvSpPr>
        <p:spPr>
          <a:xfrm>
            <a:off x="6126480" y="2194560"/>
            <a:ext cx="53492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350008"/>
            <a:ext cx="4983480" cy="566928"/>
          </a:xfrm>
          <a:prstGeom prst="rect">
            <a:avLst/>
          </a:prstGeom>
          <a:noFill/>
        </p:spPr>
        <p:txBody>
          <a:bodyPr wrap="square">
            <a:spAutoFit/>
          </a:bodyPr>
          <a:lstStyle/>
          <a:p>
            <a:pPr algn="ctr"/>
            <a:r>
              <a:rPr sz="2000" b="1" i="0">
                <a:solidFill>
                  <a:srgbClr val="6A4A9E"/>
                </a:solidFill>
                <a:latin typeface="Calibri"/>
              </a:rPr>
              <a:t>What animals came to the garden?</a:t>
            </a:r>
          </a:p>
        </p:txBody>
      </p:sp>
      <p:sp>
        <p:nvSpPr>
          <p:cNvPr id="23" name="Rounded Rectangle 22"/>
          <p:cNvSpPr/>
          <p:nvPr/>
        </p:nvSpPr>
        <p:spPr>
          <a:xfrm>
            <a:off x="457200" y="3703320"/>
            <a:ext cx="11292840" cy="169164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7240" y="4270248"/>
            <a:ext cx="566928" cy="566928"/>
          </a:xfrm>
          <a:prstGeom prst="ellipse">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343400"/>
            <a:ext cx="566928" cy="420624"/>
          </a:xfrm>
          <a:prstGeom prst="rect">
            <a:avLst/>
          </a:prstGeom>
          <a:noFill/>
        </p:spPr>
        <p:txBody>
          <a:bodyPr wrap="square">
            <a:spAutoFit/>
          </a:bodyPr>
          <a:lstStyle/>
          <a:p>
            <a:pPr algn="ctr"/>
            <a:r>
              <a:rPr sz="1600" b="1" i="0">
                <a:solidFill>
                  <a:srgbClr val="FFFFFF"/>
                </a:solidFill>
                <a:latin typeface="Calibri"/>
              </a:rPr>
              <a:t>5</a:t>
            </a:r>
          </a:p>
        </p:txBody>
      </p:sp>
      <p:sp>
        <p:nvSpPr>
          <p:cNvPr id="26" name="TextBox 25"/>
          <p:cNvSpPr txBox="1"/>
          <p:nvPr/>
        </p:nvSpPr>
        <p:spPr>
          <a:xfrm>
            <a:off x="1600200" y="4233672"/>
            <a:ext cx="914400" cy="658368"/>
          </a:xfrm>
          <a:prstGeom prst="rect">
            <a:avLst/>
          </a:prstGeom>
          <a:noFill/>
        </p:spPr>
        <p:txBody>
          <a:bodyPr wrap="square">
            <a:spAutoFit/>
          </a:bodyPr>
          <a:lstStyle/>
          <a:p>
            <a:pPr algn="ctr"/>
            <a:r>
              <a:rPr sz="3000" b="0" i="0">
                <a:solidFill>
                  <a:srgbClr val="2A2F36"/>
                </a:solidFill>
                <a:latin typeface="Calibri"/>
              </a:rPr>
              <a:t>🎤</a:t>
            </a:r>
          </a:p>
        </p:txBody>
      </p:sp>
      <p:sp>
        <p:nvSpPr>
          <p:cNvPr id="27" name="TextBox 26"/>
          <p:cNvSpPr txBox="1"/>
          <p:nvPr/>
        </p:nvSpPr>
        <p:spPr>
          <a:xfrm>
            <a:off x="2743200" y="4114800"/>
            <a:ext cx="3108960" cy="457200"/>
          </a:xfrm>
          <a:prstGeom prst="rect">
            <a:avLst/>
          </a:prstGeom>
          <a:noFill/>
        </p:spPr>
        <p:txBody>
          <a:bodyPr wrap="square">
            <a:spAutoFit/>
          </a:bodyPr>
          <a:lstStyle/>
          <a:p>
            <a:pPr algn="l"/>
            <a:r>
              <a:rPr sz="1600" b="1" i="0">
                <a:solidFill>
                  <a:srgbClr val="D08A0C"/>
                </a:solidFill>
                <a:latin typeface="Calibri"/>
              </a:rPr>
              <a:t>SPEAK</a:t>
            </a:r>
          </a:p>
        </p:txBody>
      </p:sp>
      <p:sp>
        <p:nvSpPr>
          <p:cNvPr id="28" name="TextBox 27"/>
          <p:cNvSpPr txBox="1"/>
          <p:nvPr/>
        </p:nvSpPr>
        <p:spPr>
          <a:xfrm>
            <a:off x="2743200" y="4599432"/>
            <a:ext cx="3108960" cy="411480"/>
          </a:xfrm>
          <a:prstGeom prst="rect">
            <a:avLst/>
          </a:prstGeom>
          <a:noFill/>
        </p:spPr>
        <p:txBody>
          <a:bodyPr wrap="square">
            <a:spAutoFit/>
          </a:bodyPr>
          <a:lstStyle/>
          <a:p>
            <a:pPr algn="l"/>
            <a:r>
              <a:rPr sz="1300" b="0" i="0">
                <a:solidFill>
                  <a:srgbClr val="78828E"/>
                </a:solidFill>
                <a:latin typeface="Calibri"/>
              </a:rPr>
              <a:t>Make one sentence using:</a:t>
            </a:r>
          </a:p>
        </p:txBody>
      </p:sp>
      <p:sp>
        <p:nvSpPr>
          <p:cNvPr id="29" name="Rounded Rectangle 28"/>
          <p:cNvSpPr/>
          <p:nvPr/>
        </p:nvSpPr>
        <p:spPr>
          <a:xfrm>
            <a:off x="6126480" y="4114800"/>
            <a:ext cx="53492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4270248"/>
            <a:ext cx="4983480" cy="566928"/>
          </a:xfrm>
          <a:prstGeom prst="rect">
            <a:avLst/>
          </a:prstGeom>
          <a:noFill/>
        </p:spPr>
        <p:txBody>
          <a:bodyPr wrap="square">
            <a:spAutoFit/>
          </a:bodyPr>
          <a:lstStyle/>
          <a:p>
            <a:pPr algn="ctr"/>
            <a:r>
              <a:rPr sz="2000" b="1" i="0">
                <a:solidFill>
                  <a:srgbClr val="D08A0C"/>
                </a:solidFill>
                <a:latin typeface="Calibri"/>
              </a:rPr>
              <a:t>DISCOVER</a:t>
            </a:r>
          </a:p>
        </p:txBody>
      </p:sp>
      <p:sp>
        <p:nvSpPr>
          <p:cNvPr id="31" name="Rounded Rectangle 30"/>
          <p:cNvSpPr/>
          <p:nvPr/>
        </p:nvSpPr>
        <p:spPr>
          <a:xfrm>
            <a:off x="457200" y="5870448"/>
            <a:ext cx="1129284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925312"/>
            <a:ext cx="2286000" cy="310896"/>
          </a:xfrm>
          <a:prstGeom prst="rect">
            <a:avLst/>
          </a:prstGeom>
          <a:noFill/>
        </p:spPr>
        <p:txBody>
          <a:bodyPr wrap="square">
            <a:spAutoFit/>
          </a:bodyPr>
          <a:lstStyle/>
          <a:p>
            <a:pPr algn="l"/>
            <a:r>
              <a:rPr sz="1200" b="1" i="0">
                <a:solidFill>
                  <a:srgbClr val="D08A0C"/>
                </a:solidFill>
                <a:latin typeface="Calibri"/>
              </a:rPr>
              <a:t>🟡 REPORTER HINT</a:t>
            </a:r>
          </a:p>
        </p:txBody>
      </p:sp>
      <p:sp>
        <p:nvSpPr>
          <p:cNvPr id="33" name="TextBox 32"/>
          <p:cNvSpPr txBox="1"/>
          <p:nvPr/>
        </p:nvSpPr>
        <p:spPr>
          <a:xfrm>
            <a:off x="3108960" y="5916168"/>
            <a:ext cx="8412480" cy="329184"/>
          </a:xfrm>
          <a:prstGeom prst="rect">
            <a:avLst/>
          </a:prstGeom>
          <a:noFill/>
        </p:spPr>
        <p:txBody>
          <a:bodyPr wrap="square">
            <a:spAutoFit/>
          </a:bodyPr>
          <a:lstStyle/>
          <a:p>
            <a:pPr algn="l"/>
            <a:r>
              <a:rPr sz="1300" b="1" i="0">
                <a:solidFill>
                  <a:srgbClr val="111418"/>
                </a:solidFill>
                <a:latin typeface="Calibri"/>
              </a:rPr>
              <a:t>For number 5 any correct sentence counts. Praise it and move on.</a:t>
            </a:r>
          </a:p>
        </p:txBody>
      </p:sp>
    </p:spTree>
  </p:cSld>
  <p:clrMapOvr>
    <a:masterClrMapping/>
  </p:clrMapOvr>
  <p:transition spd="med"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977639" y="548640"/>
            <a:ext cx="4251960" cy="457200"/>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977639" y="621792"/>
            <a:ext cx="4251960" cy="329184"/>
          </a:xfrm>
          <a:prstGeom prst="rect">
            <a:avLst/>
          </a:prstGeom>
          <a:noFill/>
        </p:spPr>
        <p:txBody>
          <a:bodyPr wrap="square">
            <a:spAutoFit/>
          </a:bodyPr>
          <a:lstStyle/>
          <a:p>
            <a:pPr algn="ctr"/>
            <a:r>
              <a:rPr sz="1300" b="1" i="0">
                <a:solidFill>
                  <a:srgbClr val="FFFFFF"/>
                </a:solidFill>
                <a:latin typeface="Calibri"/>
              </a:rPr>
              <a:t>🚨  SPECIAL EDITION COMPLETE  🚨</a:t>
            </a:r>
          </a:p>
        </p:txBody>
      </p:sp>
      <p:sp>
        <p:nvSpPr>
          <p:cNvPr id="6" name="TextBox 5"/>
          <p:cNvSpPr txBox="1"/>
          <p:nvPr/>
        </p:nvSpPr>
        <p:spPr>
          <a:xfrm>
            <a:off x="640080" y="1234440"/>
            <a:ext cx="10972800" cy="822960"/>
          </a:xfrm>
          <a:prstGeom prst="rect">
            <a:avLst/>
          </a:prstGeom>
          <a:noFill/>
        </p:spPr>
        <p:txBody>
          <a:bodyPr wrap="square">
            <a:spAutoFit/>
          </a:bodyPr>
          <a:lstStyle/>
          <a:p>
            <a:pPr algn="ctr"/>
            <a:r>
              <a:rPr sz="3600" b="1" i="0">
                <a:solidFill>
                  <a:srgbClr val="FFFFFF"/>
                </a:solidFill>
                <a:latin typeface="Georgia"/>
              </a:rPr>
              <a:t>YOU ARE OFFICIALLY A YOUNG REPORTER!</a:t>
            </a:r>
          </a:p>
        </p:txBody>
      </p:sp>
      <p:sp>
        <p:nvSpPr>
          <p:cNvPr id="7" name="Oval 6"/>
          <p:cNvSpPr/>
          <p:nvPr/>
        </p:nvSpPr>
        <p:spPr>
          <a:xfrm>
            <a:off x="5184648" y="2194560"/>
            <a:ext cx="1828800" cy="1828800"/>
          </a:xfrm>
          <a:prstGeom prst="ellipse">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84648" y="2578608"/>
            <a:ext cx="1828800" cy="1097280"/>
          </a:xfrm>
          <a:prstGeom prst="rect">
            <a:avLst/>
          </a:prstGeom>
          <a:noFill/>
        </p:spPr>
        <p:txBody>
          <a:bodyPr wrap="square">
            <a:spAutoFit/>
          </a:bodyPr>
          <a:lstStyle/>
          <a:p>
            <a:pPr algn="ctr"/>
            <a:r>
              <a:rPr sz="4400" b="0" i="0">
                <a:solidFill>
                  <a:srgbClr val="2A2F36"/>
                </a:solidFill>
                <a:latin typeface="Calibri"/>
              </a:rPr>
              <a:t>🎤</a:t>
            </a:r>
          </a:p>
        </p:txBody>
      </p:sp>
      <p:sp>
        <p:nvSpPr>
          <p:cNvPr id="9" name="TextBox 8"/>
          <p:cNvSpPr txBox="1"/>
          <p:nvPr/>
        </p:nvSpPr>
        <p:spPr>
          <a:xfrm>
            <a:off x="640080" y="4206240"/>
            <a:ext cx="10972800" cy="548640"/>
          </a:xfrm>
          <a:prstGeom prst="rect">
            <a:avLst/>
          </a:prstGeom>
          <a:noFill/>
        </p:spPr>
        <p:txBody>
          <a:bodyPr wrap="square">
            <a:spAutoFit/>
          </a:bodyPr>
          <a:lstStyle/>
          <a:p>
            <a:pPr algn="ctr"/>
            <a:r>
              <a:rPr sz="2400" b="1" i="0">
                <a:solidFill>
                  <a:srgbClr val="E8C97A"/>
                </a:solidFill>
                <a:latin typeface="Georgia"/>
              </a:rPr>
              <a:t>🎤  "I can read it, fix it, and report it!"  📰</a:t>
            </a:r>
          </a:p>
        </p:txBody>
      </p:sp>
      <p:sp>
        <p:nvSpPr>
          <p:cNvPr id="10" name="Rounded Rectangle 9"/>
          <p:cNvSpPr/>
          <p:nvPr/>
        </p:nvSpPr>
        <p:spPr>
          <a:xfrm>
            <a:off x="960120" y="5029200"/>
            <a:ext cx="1965960" cy="960120"/>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175504"/>
            <a:ext cx="1965960" cy="365760"/>
          </a:xfrm>
          <a:prstGeom prst="rect">
            <a:avLst/>
          </a:prstGeom>
          <a:noFill/>
        </p:spPr>
        <p:txBody>
          <a:bodyPr wrap="square">
            <a:spAutoFit/>
          </a:bodyPr>
          <a:lstStyle/>
          <a:p>
            <a:pPr algn="ctr"/>
            <a:r>
              <a:rPr sz="1500" b="0" i="0">
                <a:solidFill>
                  <a:srgbClr val="2A2F36"/>
                </a:solidFill>
                <a:latin typeface="Calibri"/>
              </a:rPr>
              <a:t>🗞️</a:t>
            </a:r>
          </a:p>
        </p:txBody>
      </p:sp>
      <p:sp>
        <p:nvSpPr>
          <p:cNvPr id="12" name="TextBox 11"/>
          <p:cNvSpPr txBox="1"/>
          <p:nvPr/>
        </p:nvSpPr>
        <p:spPr>
          <a:xfrm>
            <a:off x="1051560" y="5541264"/>
            <a:ext cx="1783080" cy="347472"/>
          </a:xfrm>
          <a:prstGeom prst="rect">
            <a:avLst/>
          </a:prstGeom>
          <a:noFill/>
        </p:spPr>
        <p:txBody>
          <a:bodyPr wrap="square">
            <a:spAutoFit/>
          </a:bodyPr>
          <a:lstStyle/>
          <a:p>
            <a:pPr algn="ctr"/>
            <a:r>
              <a:rPr sz="1000" b="1" i="0">
                <a:solidFill>
                  <a:srgbClr val="FFFFFF"/>
                </a:solidFill>
                <a:latin typeface="Calibri"/>
              </a:rPr>
              <a:t>Headline Hunter</a:t>
            </a:r>
          </a:p>
        </p:txBody>
      </p:sp>
      <p:sp>
        <p:nvSpPr>
          <p:cNvPr id="13" name="Rounded Rectangle 12"/>
          <p:cNvSpPr/>
          <p:nvPr/>
        </p:nvSpPr>
        <p:spPr>
          <a:xfrm>
            <a:off x="3108960" y="5029200"/>
            <a:ext cx="1965960" cy="960120"/>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5175504"/>
            <a:ext cx="1965960" cy="365760"/>
          </a:xfrm>
          <a:prstGeom prst="rect">
            <a:avLst/>
          </a:prstGeom>
          <a:noFill/>
        </p:spPr>
        <p:txBody>
          <a:bodyPr wrap="square">
            <a:spAutoFit/>
          </a:bodyPr>
          <a:lstStyle/>
          <a:p>
            <a:pPr algn="ctr"/>
            <a:r>
              <a:rPr sz="1500" b="0" i="0">
                <a:solidFill>
                  <a:srgbClr val="2A2F36"/>
                </a:solidFill>
                <a:latin typeface="Calibri"/>
              </a:rPr>
              <a:t>🔎</a:t>
            </a:r>
          </a:p>
        </p:txBody>
      </p:sp>
      <p:sp>
        <p:nvSpPr>
          <p:cNvPr id="15" name="TextBox 14"/>
          <p:cNvSpPr txBox="1"/>
          <p:nvPr/>
        </p:nvSpPr>
        <p:spPr>
          <a:xfrm>
            <a:off x="3200400" y="5541264"/>
            <a:ext cx="1783080" cy="347472"/>
          </a:xfrm>
          <a:prstGeom prst="rect">
            <a:avLst/>
          </a:prstGeom>
          <a:noFill/>
        </p:spPr>
        <p:txBody>
          <a:bodyPr wrap="square">
            <a:spAutoFit/>
          </a:bodyPr>
          <a:lstStyle/>
          <a:p>
            <a:pPr algn="ctr"/>
            <a:r>
              <a:rPr sz="1000" b="1" i="0">
                <a:solidFill>
                  <a:srgbClr val="FFFFFF"/>
                </a:solidFill>
                <a:latin typeface="Calibri"/>
              </a:rPr>
              <a:t>Word Detective</a:t>
            </a:r>
          </a:p>
        </p:txBody>
      </p:sp>
      <p:sp>
        <p:nvSpPr>
          <p:cNvPr id="16" name="Rounded Rectangle 15"/>
          <p:cNvSpPr/>
          <p:nvPr/>
        </p:nvSpPr>
        <p:spPr>
          <a:xfrm>
            <a:off x="5257800" y="5029200"/>
            <a:ext cx="1965960" cy="960120"/>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7800" y="5175504"/>
            <a:ext cx="1965960" cy="365760"/>
          </a:xfrm>
          <a:prstGeom prst="rect">
            <a:avLst/>
          </a:prstGeom>
          <a:noFill/>
        </p:spPr>
        <p:txBody>
          <a:bodyPr wrap="square">
            <a:spAutoFit/>
          </a:bodyPr>
          <a:lstStyle/>
          <a:p>
            <a:pPr algn="ctr"/>
            <a:r>
              <a:rPr sz="1500" b="0" i="0">
                <a:solidFill>
                  <a:srgbClr val="2A2F36"/>
                </a:solidFill>
                <a:latin typeface="Calibri"/>
              </a:rPr>
              <a:t>✏️</a:t>
            </a:r>
          </a:p>
        </p:txBody>
      </p:sp>
      <p:sp>
        <p:nvSpPr>
          <p:cNvPr id="18" name="TextBox 17"/>
          <p:cNvSpPr txBox="1"/>
          <p:nvPr/>
        </p:nvSpPr>
        <p:spPr>
          <a:xfrm>
            <a:off x="5349240" y="5541264"/>
            <a:ext cx="1783080" cy="347472"/>
          </a:xfrm>
          <a:prstGeom prst="rect">
            <a:avLst/>
          </a:prstGeom>
          <a:noFill/>
        </p:spPr>
        <p:txBody>
          <a:bodyPr wrap="square">
            <a:spAutoFit/>
          </a:bodyPr>
          <a:lstStyle/>
          <a:p>
            <a:pPr algn="ctr"/>
            <a:r>
              <a:rPr sz="1000" b="1" i="0">
                <a:solidFill>
                  <a:srgbClr val="FFFFFF"/>
                </a:solidFill>
                <a:latin typeface="Calibri"/>
              </a:rPr>
              <a:t>Grammar Editor</a:t>
            </a:r>
          </a:p>
        </p:txBody>
      </p:sp>
      <p:sp>
        <p:nvSpPr>
          <p:cNvPr id="19" name="Rounded Rectangle 18"/>
          <p:cNvSpPr/>
          <p:nvPr/>
        </p:nvSpPr>
        <p:spPr>
          <a:xfrm>
            <a:off x="7406640" y="5029200"/>
            <a:ext cx="1965960" cy="960120"/>
          </a:xfrm>
          <a:prstGeom prst="roundRect">
            <a:avLst/>
          </a:prstGeom>
          <a:solidFill>
            <a:srgbClr val="1B5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5175504"/>
            <a:ext cx="1965960" cy="365760"/>
          </a:xfrm>
          <a:prstGeom prst="rect">
            <a:avLst/>
          </a:prstGeom>
          <a:noFill/>
        </p:spPr>
        <p:txBody>
          <a:bodyPr wrap="square">
            <a:spAutoFit/>
          </a:bodyPr>
          <a:lstStyle/>
          <a:p>
            <a:pPr algn="ctr"/>
            <a:r>
              <a:rPr sz="1500" b="0" i="0">
                <a:solidFill>
                  <a:srgbClr val="2A2F36"/>
                </a:solidFill>
                <a:latin typeface="Calibri"/>
              </a:rPr>
              <a:t>📖</a:t>
            </a:r>
          </a:p>
        </p:txBody>
      </p:sp>
      <p:sp>
        <p:nvSpPr>
          <p:cNvPr id="21" name="TextBox 20"/>
          <p:cNvSpPr txBox="1"/>
          <p:nvPr/>
        </p:nvSpPr>
        <p:spPr>
          <a:xfrm>
            <a:off x="7498080" y="5541264"/>
            <a:ext cx="1783080" cy="347472"/>
          </a:xfrm>
          <a:prstGeom prst="rect">
            <a:avLst/>
          </a:prstGeom>
          <a:noFill/>
        </p:spPr>
        <p:txBody>
          <a:bodyPr wrap="square">
            <a:spAutoFit/>
          </a:bodyPr>
          <a:lstStyle/>
          <a:p>
            <a:pPr algn="ctr"/>
            <a:r>
              <a:rPr sz="1000" b="1" i="0">
                <a:solidFill>
                  <a:srgbClr val="FFFFFF"/>
                </a:solidFill>
                <a:latin typeface="Calibri"/>
              </a:rPr>
              <a:t>Story Reporter</a:t>
            </a:r>
          </a:p>
        </p:txBody>
      </p:sp>
      <p:sp>
        <p:nvSpPr>
          <p:cNvPr id="22" name="Rounded Rectangle 21"/>
          <p:cNvSpPr/>
          <p:nvPr/>
        </p:nvSpPr>
        <p:spPr>
          <a:xfrm>
            <a:off x="9555480" y="5029200"/>
            <a:ext cx="1965960" cy="960120"/>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55480" y="5175504"/>
            <a:ext cx="1965960" cy="365760"/>
          </a:xfrm>
          <a:prstGeom prst="rect">
            <a:avLst/>
          </a:prstGeom>
          <a:noFill/>
        </p:spPr>
        <p:txBody>
          <a:bodyPr wrap="square">
            <a:spAutoFit/>
          </a:bodyPr>
          <a:lstStyle/>
          <a:p>
            <a:pPr algn="ctr"/>
            <a:r>
              <a:rPr sz="1500" b="0" i="0">
                <a:solidFill>
                  <a:srgbClr val="2A2F36"/>
                </a:solidFill>
                <a:latin typeface="Calibri"/>
              </a:rPr>
              <a:t>🏆</a:t>
            </a:r>
          </a:p>
        </p:txBody>
      </p:sp>
      <p:sp>
        <p:nvSpPr>
          <p:cNvPr id="24" name="TextBox 23"/>
          <p:cNvSpPr txBox="1"/>
          <p:nvPr/>
        </p:nvSpPr>
        <p:spPr>
          <a:xfrm>
            <a:off x="9646920" y="5541264"/>
            <a:ext cx="1783080" cy="347472"/>
          </a:xfrm>
          <a:prstGeom prst="rect">
            <a:avLst/>
          </a:prstGeom>
          <a:noFill/>
        </p:spPr>
        <p:txBody>
          <a:bodyPr wrap="square">
            <a:spAutoFit/>
          </a:bodyPr>
          <a:lstStyle/>
          <a:p>
            <a:pPr algn="ctr"/>
            <a:r>
              <a:rPr sz="1000" b="1" i="0">
                <a:solidFill>
                  <a:srgbClr val="FFFFFF"/>
                </a:solidFill>
                <a:latin typeface="Calibri"/>
              </a:rPr>
              <a:t>Final News Challenge</a:t>
            </a:r>
          </a:p>
        </p:txBody>
      </p:sp>
      <p:sp>
        <p:nvSpPr>
          <p:cNvPr id="25" name="Rectangle 24"/>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419088"/>
            <a:ext cx="11192375"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  |  88–90 min</a:t>
            </a:r>
          </a:p>
        </p:txBody>
      </p:sp>
      <p:sp>
        <p:nvSpPr>
          <p:cNvPr id="29" name="TextBox 28"/>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56 / 61</a:t>
            </a:r>
          </a:p>
        </p:txBody>
      </p:sp>
    </p:spTree>
  </p:cSld>
  <p:clrMapOvr>
    <a:masterClrMapping/>
  </p:clrMapOvr>
  <p:transition spd="med"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EXTRA</a:t>
            </a:r>
          </a:p>
        </p:txBody>
      </p:sp>
      <p:sp>
        <p:nvSpPr>
          <p:cNvPr id="6" name="TextBox 5"/>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Bonus Game Bank — If Time Remains</a:t>
            </a:r>
          </a:p>
        </p:txBody>
      </p:sp>
      <p:sp>
        <p:nvSpPr>
          <p:cNvPr id="7" name="Rectangle 6"/>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19088"/>
            <a:ext cx="11392239"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Press Room</a:t>
            </a:r>
          </a:p>
        </p:txBody>
      </p:sp>
      <p:sp>
        <p:nvSpPr>
          <p:cNvPr id="11" name="TextBox 10"/>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57 / 61</a:t>
            </a:r>
          </a:p>
        </p:txBody>
      </p:sp>
      <p:sp>
        <p:nvSpPr>
          <p:cNvPr id="12" name="TextBox 11"/>
          <p:cNvSpPr txBox="1"/>
          <p:nvPr/>
        </p:nvSpPr>
        <p:spPr>
          <a:xfrm>
            <a:off x="411480" y="1207008"/>
            <a:ext cx="10515600" cy="365760"/>
          </a:xfrm>
          <a:prstGeom prst="rect">
            <a:avLst/>
          </a:prstGeom>
          <a:noFill/>
        </p:spPr>
        <p:txBody>
          <a:bodyPr wrap="square">
            <a:spAutoFit/>
          </a:bodyPr>
          <a:lstStyle/>
          <a:p>
            <a:pPr algn="l"/>
            <a:r>
              <a:rPr sz="1500" b="1" i="0">
                <a:solidFill>
                  <a:srgbClr val="6A4A9E"/>
                </a:solidFill>
                <a:latin typeface="Calibri"/>
              </a:rPr>
              <a:t>Seven spare games. Any one of them runs in three minutes.</a:t>
            </a:r>
          </a:p>
        </p:txBody>
      </p:sp>
      <p:sp>
        <p:nvSpPr>
          <p:cNvPr id="13" name="Rounded Rectangle 12"/>
          <p:cNvSpPr/>
          <p:nvPr/>
        </p:nvSpPr>
        <p:spPr>
          <a:xfrm>
            <a:off x="457200" y="1691640"/>
            <a:ext cx="3566160" cy="16916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984248"/>
            <a:ext cx="685800" cy="603504"/>
          </a:xfrm>
          <a:prstGeom prst="rect">
            <a:avLst/>
          </a:prstGeom>
          <a:noFill/>
        </p:spPr>
        <p:txBody>
          <a:bodyPr wrap="square">
            <a:spAutoFit/>
          </a:bodyPr>
          <a:lstStyle/>
          <a:p>
            <a:pPr algn="ctr"/>
            <a:r>
              <a:rPr sz="2400" b="0" i="0">
                <a:solidFill>
                  <a:srgbClr val="2A2F36"/>
                </a:solidFill>
                <a:latin typeface="Calibri"/>
              </a:rPr>
              <a:t>📰</a:t>
            </a:r>
          </a:p>
        </p:txBody>
      </p:sp>
      <p:sp>
        <p:nvSpPr>
          <p:cNvPr id="15" name="TextBox 14"/>
          <p:cNvSpPr txBox="1"/>
          <p:nvPr/>
        </p:nvSpPr>
        <p:spPr>
          <a:xfrm>
            <a:off x="1554480" y="1947672"/>
            <a:ext cx="2286000" cy="402336"/>
          </a:xfrm>
          <a:prstGeom prst="rect">
            <a:avLst/>
          </a:prstGeom>
          <a:noFill/>
        </p:spPr>
        <p:txBody>
          <a:bodyPr wrap="square">
            <a:spAutoFit/>
          </a:bodyPr>
          <a:lstStyle/>
          <a:p>
            <a:pPr algn="l"/>
            <a:r>
              <a:rPr sz="1400" b="1" i="0">
                <a:solidFill>
                  <a:srgbClr val="C8322B"/>
                </a:solidFill>
                <a:latin typeface="Calibri"/>
              </a:rPr>
              <a:t>HEADLINE MIX-UP</a:t>
            </a:r>
          </a:p>
        </p:txBody>
      </p:sp>
      <p:sp>
        <p:nvSpPr>
          <p:cNvPr id="16" name="TextBox 15"/>
          <p:cNvSpPr txBox="1"/>
          <p:nvPr/>
        </p:nvSpPr>
        <p:spPr>
          <a:xfrm>
            <a:off x="1554480" y="2404872"/>
            <a:ext cx="2286000" cy="685800"/>
          </a:xfrm>
          <a:prstGeom prst="rect">
            <a:avLst/>
          </a:prstGeom>
          <a:noFill/>
        </p:spPr>
        <p:txBody>
          <a:bodyPr wrap="square">
            <a:spAutoFit/>
          </a:bodyPr>
          <a:lstStyle/>
          <a:p>
            <a:pPr algn="l"/>
            <a:r>
              <a:rPr sz="1100" b="0" i="0">
                <a:solidFill>
                  <a:srgbClr val="2A2F36"/>
                </a:solidFill>
                <a:latin typeface="Calibri"/>
              </a:rPr>
              <a:t>Rearrange words into a headline.</a:t>
            </a:r>
          </a:p>
        </p:txBody>
      </p:sp>
      <p:sp>
        <p:nvSpPr>
          <p:cNvPr id="17" name="Rounded Rectangle 16"/>
          <p:cNvSpPr/>
          <p:nvPr/>
        </p:nvSpPr>
        <p:spPr>
          <a:xfrm>
            <a:off x="4251960" y="1691640"/>
            <a:ext cx="3566160" cy="16916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1984248"/>
            <a:ext cx="685800" cy="603504"/>
          </a:xfrm>
          <a:prstGeom prst="rect">
            <a:avLst/>
          </a:prstGeom>
          <a:noFill/>
        </p:spPr>
        <p:txBody>
          <a:bodyPr wrap="square">
            <a:spAutoFit/>
          </a:bodyPr>
          <a:lstStyle/>
          <a:p>
            <a:pPr algn="ctr"/>
            <a:r>
              <a:rPr sz="2400" b="0" i="0">
                <a:solidFill>
                  <a:srgbClr val="2A2F36"/>
                </a:solidFill>
                <a:latin typeface="Calibri"/>
              </a:rPr>
              <a:t>🔎</a:t>
            </a:r>
          </a:p>
        </p:txBody>
      </p:sp>
      <p:sp>
        <p:nvSpPr>
          <p:cNvPr id="19" name="TextBox 18"/>
          <p:cNvSpPr txBox="1"/>
          <p:nvPr/>
        </p:nvSpPr>
        <p:spPr>
          <a:xfrm>
            <a:off x="5349240" y="1947672"/>
            <a:ext cx="2286000" cy="402336"/>
          </a:xfrm>
          <a:prstGeom prst="rect">
            <a:avLst/>
          </a:prstGeom>
          <a:noFill/>
        </p:spPr>
        <p:txBody>
          <a:bodyPr wrap="square">
            <a:spAutoFit/>
          </a:bodyPr>
          <a:lstStyle/>
          <a:p>
            <a:pPr algn="l"/>
            <a:r>
              <a:rPr sz="1400" b="1" i="0">
                <a:solidFill>
                  <a:srgbClr val="6A4A9E"/>
                </a:solidFill>
                <a:latin typeface="Calibri"/>
              </a:rPr>
              <a:t>WORD DETECTIVE</a:t>
            </a:r>
          </a:p>
        </p:txBody>
      </p:sp>
      <p:sp>
        <p:nvSpPr>
          <p:cNvPr id="20" name="TextBox 19"/>
          <p:cNvSpPr txBox="1"/>
          <p:nvPr/>
        </p:nvSpPr>
        <p:spPr>
          <a:xfrm>
            <a:off x="5349240" y="2404872"/>
            <a:ext cx="2286000" cy="685800"/>
          </a:xfrm>
          <a:prstGeom prst="rect">
            <a:avLst/>
          </a:prstGeom>
          <a:noFill/>
        </p:spPr>
        <p:txBody>
          <a:bodyPr wrap="square">
            <a:spAutoFit/>
          </a:bodyPr>
          <a:lstStyle/>
          <a:p>
            <a:pPr algn="l"/>
            <a:r>
              <a:rPr sz="1100" b="0" i="0">
                <a:solidFill>
                  <a:srgbClr val="2A2F36"/>
                </a:solidFill>
                <a:latin typeface="Calibri"/>
              </a:rPr>
              <a:t>Find one word inside a paragraph.</a:t>
            </a:r>
          </a:p>
        </p:txBody>
      </p:sp>
      <p:sp>
        <p:nvSpPr>
          <p:cNvPr id="21" name="Rounded Rectangle 20"/>
          <p:cNvSpPr/>
          <p:nvPr/>
        </p:nvSpPr>
        <p:spPr>
          <a:xfrm>
            <a:off x="8046720" y="1691640"/>
            <a:ext cx="3566160" cy="16916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1984248"/>
            <a:ext cx="685800" cy="603504"/>
          </a:xfrm>
          <a:prstGeom prst="rect">
            <a:avLst/>
          </a:prstGeom>
          <a:noFill/>
        </p:spPr>
        <p:txBody>
          <a:bodyPr wrap="square">
            <a:spAutoFit/>
          </a:bodyPr>
          <a:lstStyle/>
          <a:p>
            <a:pPr algn="ctr"/>
            <a:r>
              <a:rPr sz="2400" b="0" i="0">
                <a:solidFill>
                  <a:srgbClr val="2A2F36"/>
                </a:solidFill>
                <a:latin typeface="Calibri"/>
              </a:rPr>
              <a:t>🎤</a:t>
            </a:r>
          </a:p>
        </p:txBody>
      </p:sp>
      <p:sp>
        <p:nvSpPr>
          <p:cNvPr id="23" name="TextBox 22"/>
          <p:cNvSpPr txBox="1"/>
          <p:nvPr/>
        </p:nvSpPr>
        <p:spPr>
          <a:xfrm>
            <a:off x="9144000" y="1947672"/>
            <a:ext cx="2286000" cy="402336"/>
          </a:xfrm>
          <a:prstGeom prst="rect">
            <a:avLst/>
          </a:prstGeom>
          <a:noFill/>
        </p:spPr>
        <p:txBody>
          <a:bodyPr wrap="square">
            <a:spAutoFit/>
          </a:bodyPr>
          <a:lstStyle/>
          <a:p>
            <a:pPr algn="l"/>
            <a:r>
              <a:rPr sz="1400" b="1" i="0">
                <a:solidFill>
                  <a:srgbClr val="D08A0C"/>
                </a:solidFill>
                <a:latin typeface="Calibri"/>
              </a:rPr>
              <a:t>WHO AM I?</a:t>
            </a:r>
          </a:p>
        </p:txBody>
      </p:sp>
      <p:sp>
        <p:nvSpPr>
          <p:cNvPr id="24" name="TextBox 23"/>
          <p:cNvSpPr txBox="1"/>
          <p:nvPr/>
        </p:nvSpPr>
        <p:spPr>
          <a:xfrm>
            <a:off x="9144000" y="2404872"/>
            <a:ext cx="2286000" cy="685800"/>
          </a:xfrm>
          <a:prstGeom prst="rect">
            <a:avLst/>
          </a:prstGeom>
          <a:noFill/>
        </p:spPr>
        <p:txBody>
          <a:bodyPr wrap="square">
            <a:spAutoFit/>
          </a:bodyPr>
          <a:lstStyle/>
          <a:p>
            <a:pPr algn="l"/>
            <a:r>
              <a:rPr sz="1100" b="0" i="0">
                <a:solidFill>
                  <a:srgbClr val="2A2F36"/>
                </a:solidFill>
                <a:latin typeface="Calibri"/>
              </a:rPr>
              <a:t>Clues about a newsroom word.</a:t>
            </a:r>
          </a:p>
        </p:txBody>
      </p:sp>
      <p:sp>
        <p:nvSpPr>
          <p:cNvPr id="25" name="Rounded Rectangle 24"/>
          <p:cNvSpPr/>
          <p:nvPr/>
        </p:nvSpPr>
        <p:spPr>
          <a:xfrm>
            <a:off x="457200" y="3566160"/>
            <a:ext cx="3566160" cy="16916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58768"/>
            <a:ext cx="685800" cy="603504"/>
          </a:xfrm>
          <a:prstGeom prst="rect">
            <a:avLst/>
          </a:prstGeom>
          <a:noFill/>
        </p:spPr>
        <p:txBody>
          <a:bodyPr wrap="square">
            <a:spAutoFit/>
          </a:bodyPr>
          <a:lstStyle/>
          <a:p>
            <a:pPr algn="ctr"/>
            <a:r>
              <a:rPr sz="2400" b="0" i="0">
                <a:solidFill>
                  <a:srgbClr val="2A2F36"/>
                </a:solidFill>
                <a:latin typeface="Calibri"/>
              </a:rPr>
              <a:t>✏️</a:t>
            </a:r>
          </a:p>
        </p:txBody>
      </p:sp>
      <p:sp>
        <p:nvSpPr>
          <p:cNvPr id="27" name="TextBox 26"/>
          <p:cNvSpPr txBox="1"/>
          <p:nvPr/>
        </p:nvSpPr>
        <p:spPr>
          <a:xfrm>
            <a:off x="1554480" y="3822192"/>
            <a:ext cx="2286000" cy="402336"/>
          </a:xfrm>
          <a:prstGeom prst="rect">
            <a:avLst/>
          </a:prstGeom>
          <a:noFill/>
        </p:spPr>
        <p:txBody>
          <a:bodyPr wrap="square">
            <a:spAutoFit/>
          </a:bodyPr>
          <a:lstStyle/>
          <a:p>
            <a:pPr algn="l"/>
            <a:r>
              <a:rPr sz="1400" b="1" i="0">
                <a:solidFill>
                  <a:srgbClr val="1E7A52"/>
                </a:solidFill>
                <a:latin typeface="Calibri"/>
              </a:rPr>
              <a:t>EDITOR'S CHOICE</a:t>
            </a:r>
          </a:p>
        </p:txBody>
      </p:sp>
      <p:sp>
        <p:nvSpPr>
          <p:cNvPr id="28" name="TextBox 27"/>
          <p:cNvSpPr txBox="1"/>
          <p:nvPr/>
        </p:nvSpPr>
        <p:spPr>
          <a:xfrm>
            <a:off x="1554480" y="4279392"/>
            <a:ext cx="2286000" cy="685800"/>
          </a:xfrm>
          <a:prstGeom prst="rect">
            <a:avLst/>
          </a:prstGeom>
          <a:noFill/>
        </p:spPr>
        <p:txBody>
          <a:bodyPr wrap="square">
            <a:spAutoFit/>
          </a:bodyPr>
          <a:lstStyle/>
          <a:p>
            <a:pPr algn="l"/>
            <a:r>
              <a:rPr sz="1100" b="0" i="0">
                <a:solidFill>
                  <a:srgbClr val="2A2F36"/>
                </a:solidFill>
                <a:latin typeface="Calibri"/>
              </a:rPr>
              <a:t>Pick the correct sentence of two.</a:t>
            </a:r>
          </a:p>
        </p:txBody>
      </p:sp>
      <p:sp>
        <p:nvSpPr>
          <p:cNvPr id="29" name="Rounded Rectangle 28"/>
          <p:cNvSpPr/>
          <p:nvPr/>
        </p:nvSpPr>
        <p:spPr>
          <a:xfrm>
            <a:off x="4251960" y="3566160"/>
            <a:ext cx="3566160" cy="16916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3858768"/>
            <a:ext cx="685800" cy="603504"/>
          </a:xfrm>
          <a:prstGeom prst="rect">
            <a:avLst/>
          </a:prstGeom>
          <a:noFill/>
        </p:spPr>
        <p:txBody>
          <a:bodyPr wrap="square">
            <a:spAutoFit/>
          </a:bodyPr>
          <a:lstStyle/>
          <a:p>
            <a:pPr algn="ctr"/>
            <a:r>
              <a:rPr sz="2400" b="0" i="0">
                <a:solidFill>
                  <a:srgbClr val="2A2F36"/>
                </a:solidFill>
                <a:latin typeface="Calibri"/>
              </a:rPr>
              <a:t>⏰</a:t>
            </a:r>
          </a:p>
        </p:txBody>
      </p:sp>
      <p:sp>
        <p:nvSpPr>
          <p:cNvPr id="31" name="TextBox 30"/>
          <p:cNvSpPr txBox="1"/>
          <p:nvPr/>
        </p:nvSpPr>
        <p:spPr>
          <a:xfrm>
            <a:off x="5349240" y="3822192"/>
            <a:ext cx="2286000" cy="402336"/>
          </a:xfrm>
          <a:prstGeom prst="rect">
            <a:avLst/>
          </a:prstGeom>
          <a:noFill/>
        </p:spPr>
        <p:txBody>
          <a:bodyPr wrap="square">
            <a:spAutoFit/>
          </a:bodyPr>
          <a:lstStyle/>
          <a:p>
            <a:pPr algn="l"/>
            <a:r>
              <a:rPr sz="1400" b="1" i="0">
                <a:solidFill>
                  <a:srgbClr val="1B5E9E"/>
                </a:solidFill>
                <a:latin typeface="Calibri"/>
              </a:rPr>
              <a:t>TIME TRAVEL</a:t>
            </a:r>
          </a:p>
        </p:txBody>
      </p:sp>
      <p:sp>
        <p:nvSpPr>
          <p:cNvPr id="32" name="TextBox 31"/>
          <p:cNvSpPr txBox="1"/>
          <p:nvPr/>
        </p:nvSpPr>
        <p:spPr>
          <a:xfrm>
            <a:off x="5349240" y="4279392"/>
            <a:ext cx="2286000" cy="685800"/>
          </a:xfrm>
          <a:prstGeom prst="rect">
            <a:avLst/>
          </a:prstGeom>
          <a:noFill/>
        </p:spPr>
        <p:txBody>
          <a:bodyPr wrap="square">
            <a:spAutoFit/>
          </a:bodyPr>
          <a:lstStyle/>
          <a:p>
            <a:pPr algn="l"/>
            <a:r>
              <a:rPr sz="1100" b="0" i="0">
                <a:solidFill>
                  <a:srgbClr val="2A2F36"/>
                </a:solidFill>
                <a:latin typeface="Calibri"/>
              </a:rPr>
              <a:t>Present → past → future.</a:t>
            </a:r>
          </a:p>
        </p:txBody>
      </p:sp>
      <p:sp>
        <p:nvSpPr>
          <p:cNvPr id="33" name="Rounded Rectangle 32"/>
          <p:cNvSpPr/>
          <p:nvPr/>
        </p:nvSpPr>
        <p:spPr>
          <a:xfrm>
            <a:off x="8046720" y="3566160"/>
            <a:ext cx="3566160" cy="1691640"/>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320" y="3858768"/>
            <a:ext cx="685800" cy="603504"/>
          </a:xfrm>
          <a:prstGeom prst="rect">
            <a:avLst/>
          </a:prstGeom>
          <a:noFill/>
        </p:spPr>
        <p:txBody>
          <a:bodyPr wrap="square">
            <a:spAutoFit/>
          </a:bodyPr>
          <a:lstStyle/>
          <a:p>
            <a:pPr algn="ctr"/>
            <a:r>
              <a:rPr sz="2400" b="0" i="0">
                <a:solidFill>
                  <a:srgbClr val="2A2F36"/>
                </a:solidFill>
                <a:latin typeface="Calibri"/>
              </a:rPr>
              <a:t>🧩</a:t>
            </a:r>
          </a:p>
        </p:txBody>
      </p:sp>
      <p:sp>
        <p:nvSpPr>
          <p:cNvPr id="35" name="TextBox 34"/>
          <p:cNvSpPr txBox="1"/>
          <p:nvPr/>
        </p:nvSpPr>
        <p:spPr>
          <a:xfrm>
            <a:off x="9144000" y="3822192"/>
            <a:ext cx="2286000" cy="402336"/>
          </a:xfrm>
          <a:prstGeom prst="rect">
            <a:avLst/>
          </a:prstGeom>
          <a:noFill/>
        </p:spPr>
        <p:txBody>
          <a:bodyPr wrap="square">
            <a:spAutoFit/>
          </a:bodyPr>
          <a:lstStyle/>
          <a:p>
            <a:pPr algn="l"/>
            <a:r>
              <a:rPr sz="1400" b="1" i="0">
                <a:solidFill>
                  <a:srgbClr val="15807C"/>
                </a:solidFill>
                <a:latin typeface="Calibri"/>
              </a:rPr>
              <a:t>SENTENCE PUZZLE</a:t>
            </a:r>
          </a:p>
        </p:txBody>
      </p:sp>
      <p:sp>
        <p:nvSpPr>
          <p:cNvPr id="36" name="TextBox 35"/>
          <p:cNvSpPr txBox="1"/>
          <p:nvPr/>
        </p:nvSpPr>
        <p:spPr>
          <a:xfrm>
            <a:off x="9144000" y="4279392"/>
            <a:ext cx="2286000" cy="685800"/>
          </a:xfrm>
          <a:prstGeom prst="rect">
            <a:avLst/>
          </a:prstGeom>
          <a:noFill/>
        </p:spPr>
        <p:txBody>
          <a:bodyPr wrap="square">
            <a:spAutoFit/>
          </a:bodyPr>
          <a:lstStyle/>
          <a:p>
            <a:pPr algn="l"/>
            <a:r>
              <a:rPr sz="1100" b="0" i="0">
                <a:solidFill>
                  <a:srgbClr val="2A2F36"/>
                </a:solidFill>
                <a:latin typeface="Calibri"/>
              </a:rPr>
              <a:t>Arrange words into a sentence.</a:t>
            </a:r>
          </a:p>
        </p:txBody>
      </p:sp>
      <p:sp>
        <p:nvSpPr>
          <p:cNvPr id="37" name="Rounded Rectangle 36"/>
          <p:cNvSpPr/>
          <p:nvPr/>
        </p:nvSpPr>
        <p:spPr>
          <a:xfrm>
            <a:off x="457200" y="5440680"/>
            <a:ext cx="11292840" cy="658368"/>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559552"/>
            <a:ext cx="548640" cy="457200"/>
          </a:xfrm>
          <a:prstGeom prst="rect">
            <a:avLst/>
          </a:prstGeom>
          <a:noFill/>
        </p:spPr>
        <p:txBody>
          <a:bodyPr wrap="square">
            <a:spAutoFit/>
          </a:bodyPr>
          <a:lstStyle/>
          <a:p>
            <a:pPr algn="ctr"/>
            <a:r>
              <a:rPr sz="1700" b="0" i="0">
                <a:solidFill>
                  <a:srgbClr val="2A2F36"/>
                </a:solidFill>
                <a:latin typeface="Calibri"/>
              </a:rPr>
              <a:t>🚨</a:t>
            </a:r>
          </a:p>
        </p:txBody>
      </p:sp>
      <p:sp>
        <p:nvSpPr>
          <p:cNvPr id="39" name="TextBox 38"/>
          <p:cNvSpPr txBox="1"/>
          <p:nvPr/>
        </p:nvSpPr>
        <p:spPr>
          <a:xfrm>
            <a:off x="1463040" y="5577840"/>
            <a:ext cx="2743200" cy="402336"/>
          </a:xfrm>
          <a:prstGeom prst="rect">
            <a:avLst/>
          </a:prstGeom>
          <a:noFill/>
        </p:spPr>
        <p:txBody>
          <a:bodyPr wrap="square">
            <a:spAutoFit/>
          </a:bodyPr>
          <a:lstStyle/>
          <a:p>
            <a:pPr algn="l"/>
            <a:r>
              <a:rPr sz="1400" b="1" i="0">
                <a:solidFill>
                  <a:srgbClr val="46586B"/>
                </a:solidFill>
                <a:latin typeface="Calibri"/>
              </a:rPr>
              <a:t>BREAKING NEWS</a:t>
            </a:r>
          </a:p>
        </p:txBody>
      </p:sp>
      <p:sp>
        <p:nvSpPr>
          <p:cNvPr id="40" name="TextBox 39"/>
          <p:cNvSpPr txBox="1"/>
          <p:nvPr/>
        </p:nvSpPr>
        <p:spPr>
          <a:xfrm>
            <a:off x="4389120" y="5596128"/>
            <a:ext cx="6949440" cy="384048"/>
          </a:xfrm>
          <a:prstGeom prst="rect">
            <a:avLst/>
          </a:prstGeom>
          <a:noFill/>
        </p:spPr>
        <p:txBody>
          <a:bodyPr wrap="square">
            <a:spAutoFit/>
          </a:bodyPr>
          <a:lstStyle/>
          <a:p>
            <a:pPr algn="l"/>
            <a:r>
              <a:rPr sz="1200" b="0" i="0">
                <a:solidFill>
                  <a:srgbClr val="2A2F36"/>
                </a:solidFill>
                <a:latin typeface="Calibri"/>
              </a:rPr>
              <a:t>Build a sentence from a picture.</a:t>
            </a:r>
          </a:p>
        </p:txBody>
      </p:sp>
    </p:spTree>
  </p:cSld>
  <p:clrMapOvr>
    <a:masterClrMapping/>
  </p:clrMapOvr>
  <p:transition spd="med"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2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2A2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TEACHER ONLY</a:t>
            </a:r>
          </a:p>
        </p:txBody>
      </p:sp>
      <p:sp>
        <p:nvSpPr>
          <p:cNvPr id="6" name="TextBox 5"/>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TEACHER ONLY — Support System</a:t>
            </a:r>
          </a:p>
        </p:txBody>
      </p:sp>
      <p:sp>
        <p:nvSpPr>
          <p:cNvPr id="7" name="Rectangle 6"/>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19088"/>
            <a:ext cx="11592103"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Support</a:t>
            </a:r>
          </a:p>
        </p:txBody>
      </p:sp>
      <p:sp>
        <p:nvSpPr>
          <p:cNvPr id="11" name="TextBox 10"/>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58 / 61</a:t>
            </a:r>
          </a:p>
        </p:txBody>
      </p:sp>
      <p:sp>
        <p:nvSpPr>
          <p:cNvPr id="12" name="TextBox 11"/>
          <p:cNvSpPr txBox="1"/>
          <p:nvPr/>
        </p:nvSpPr>
        <p:spPr>
          <a:xfrm>
            <a:off x="411480" y="1188720"/>
            <a:ext cx="11338560" cy="310896"/>
          </a:xfrm>
          <a:prstGeom prst="rect">
            <a:avLst/>
          </a:prstGeom>
          <a:noFill/>
        </p:spPr>
        <p:txBody>
          <a:bodyPr wrap="square">
            <a:spAutoFit/>
          </a:bodyPr>
          <a:lstStyle/>
          <a:p>
            <a:pPr algn="l"/>
            <a:r>
              <a:rPr sz="1200" b="1" i="0">
                <a:solidFill>
                  <a:srgbClr val="C8322B"/>
                </a:solidFill>
                <a:latin typeface="Calibri"/>
              </a:rPr>
              <a:t>Move between levels freely inside one activity. Never name the level out loud.</a:t>
            </a:r>
          </a:p>
        </p:txBody>
      </p:sp>
      <p:sp>
        <p:nvSpPr>
          <p:cNvPr id="13" name="Rounded Rectangle 12"/>
          <p:cNvSpPr/>
          <p:nvPr/>
        </p:nvSpPr>
        <p:spPr>
          <a:xfrm>
            <a:off x="411480" y="1572768"/>
            <a:ext cx="3611880" cy="210312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1700784"/>
            <a:ext cx="3611880" cy="420624"/>
          </a:xfrm>
          <a:prstGeom prst="rect">
            <a:avLst/>
          </a:prstGeom>
          <a:noFill/>
        </p:spPr>
        <p:txBody>
          <a:bodyPr wrap="square">
            <a:spAutoFit/>
          </a:bodyPr>
          <a:lstStyle/>
          <a:p>
            <a:pPr algn="ctr"/>
            <a:r>
              <a:rPr sz="1600" b="0" i="0">
                <a:solidFill>
                  <a:srgbClr val="2A2F36"/>
                </a:solidFill>
                <a:latin typeface="Calibri"/>
              </a:rPr>
              <a:t>🟢</a:t>
            </a:r>
          </a:p>
        </p:txBody>
      </p:sp>
      <p:sp>
        <p:nvSpPr>
          <p:cNvPr id="15" name="TextBox 14"/>
          <p:cNvSpPr txBox="1"/>
          <p:nvPr/>
        </p:nvSpPr>
        <p:spPr>
          <a:xfrm>
            <a:off x="548640" y="2157984"/>
            <a:ext cx="3337560" cy="420624"/>
          </a:xfrm>
          <a:prstGeom prst="rect">
            <a:avLst/>
          </a:prstGeom>
          <a:noFill/>
        </p:spPr>
        <p:txBody>
          <a:bodyPr wrap="square">
            <a:spAutoFit/>
          </a:bodyPr>
          <a:lstStyle/>
          <a:p>
            <a:pPr algn="ctr"/>
            <a:r>
              <a:rPr sz="1600" b="1" i="0">
                <a:solidFill>
                  <a:srgbClr val="1E7A52"/>
                </a:solidFill>
                <a:latin typeface="Georgia"/>
              </a:rPr>
              <a:t>REPORTER HINT</a:t>
            </a:r>
          </a:p>
        </p:txBody>
      </p:sp>
      <p:sp>
        <p:nvSpPr>
          <p:cNvPr id="16" name="TextBox 15"/>
          <p:cNvSpPr txBox="1"/>
          <p:nvPr/>
        </p:nvSpPr>
        <p:spPr>
          <a:xfrm>
            <a:off x="640080" y="2606040"/>
            <a:ext cx="3154680" cy="384048"/>
          </a:xfrm>
          <a:prstGeom prst="rect">
            <a:avLst/>
          </a:prstGeom>
          <a:noFill/>
        </p:spPr>
        <p:txBody>
          <a:bodyPr wrap="square">
            <a:spAutoFit/>
          </a:bodyPr>
          <a:lstStyle/>
          <a:p>
            <a:pPr algn="ctr"/>
            <a:r>
              <a:rPr sz="1100" b="0" i="0">
                <a:solidFill>
                  <a:srgbClr val="2A2F36"/>
                </a:solidFill>
                <a:latin typeface="Calibri"/>
              </a:rPr>
              <a:t>A picture or a clue is given</a:t>
            </a:r>
          </a:p>
        </p:txBody>
      </p:sp>
      <p:sp>
        <p:nvSpPr>
          <p:cNvPr id="17" name="Rounded Rectangle 16"/>
          <p:cNvSpPr/>
          <p:nvPr/>
        </p:nvSpPr>
        <p:spPr>
          <a:xfrm>
            <a:off x="594360" y="3017520"/>
            <a:ext cx="324612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118104"/>
            <a:ext cx="3063240" cy="347472"/>
          </a:xfrm>
          <a:prstGeom prst="rect">
            <a:avLst/>
          </a:prstGeom>
          <a:noFill/>
        </p:spPr>
        <p:txBody>
          <a:bodyPr wrap="square">
            <a:spAutoFit/>
          </a:bodyPr>
          <a:lstStyle/>
          <a:p>
            <a:pPr algn="ctr"/>
            <a:r>
              <a:rPr sz="1000" b="0" i="1">
                <a:solidFill>
                  <a:srgbClr val="78828E"/>
                </a:solidFill>
                <a:latin typeface="Calibri"/>
              </a:rPr>
              <a:t>Point to the half of the sentence that matters.</a:t>
            </a:r>
          </a:p>
        </p:txBody>
      </p:sp>
      <p:sp>
        <p:nvSpPr>
          <p:cNvPr id="19" name="Rounded Rectangle 18"/>
          <p:cNvSpPr/>
          <p:nvPr/>
        </p:nvSpPr>
        <p:spPr>
          <a:xfrm>
            <a:off x="4233672" y="1572768"/>
            <a:ext cx="3611880" cy="210312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33672" y="1700784"/>
            <a:ext cx="3611880" cy="420624"/>
          </a:xfrm>
          <a:prstGeom prst="rect">
            <a:avLst/>
          </a:prstGeom>
          <a:noFill/>
        </p:spPr>
        <p:txBody>
          <a:bodyPr wrap="square">
            <a:spAutoFit/>
          </a:bodyPr>
          <a:lstStyle/>
          <a:p>
            <a:pPr algn="ctr"/>
            <a:r>
              <a:rPr sz="1600" b="0" i="0">
                <a:solidFill>
                  <a:srgbClr val="2A2F36"/>
                </a:solidFill>
                <a:latin typeface="Calibri"/>
              </a:rPr>
              <a:t>🟡</a:t>
            </a:r>
          </a:p>
        </p:txBody>
      </p:sp>
      <p:sp>
        <p:nvSpPr>
          <p:cNvPr id="21" name="TextBox 20"/>
          <p:cNvSpPr txBox="1"/>
          <p:nvPr/>
        </p:nvSpPr>
        <p:spPr>
          <a:xfrm>
            <a:off x="4370832" y="2157984"/>
            <a:ext cx="3337560" cy="420624"/>
          </a:xfrm>
          <a:prstGeom prst="rect">
            <a:avLst/>
          </a:prstGeom>
          <a:noFill/>
        </p:spPr>
        <p:txBody>
          <a:bodyPr wrap="square">
            <a:spAutoFit/>
          </a:bodyPr>
          <a:lstStyle/>
          <a:p>
            <a:pPr algn="ctr"/>
            <a:r>
              <a:rPr sz="1600" b="1" i="0">
                <a:solidFill>
                  <a:srgbClr val="D08A0C"/>
                </a:solidFill>
                <a:latin typeface="Georgia"/>
              </a:rPr>
              <a:t>REPORTER MISSION</a:t>
            </a:r>
          </a:p>
        </p:txBody>
      </p:sp>
      <p:sp>
        <p:nvSpPr>
          <p:cNvPr id="22" name="TextBox 21"/>
          <p:cNvSpPr txBox="1"/>
          <p:nvPr/>
        </p:nvSpPr>
        <p:spPr>
          <a:xfrm>
            <a:off x="4462272" y="2606040"/>
            <a:ext cx="3154680" cy="384048"/>
          </a:xfrm>
          <a:prstGeom prst="rect">
            <a:avLst/>
          </a:prstGeom>
          <a:noFill/>
        </p:spPr>
        <p:txBody>
          <a:bodyPr wrap="square">
            <a:spAutoFit/>
          </a:bodyPr>
          <a:lstStyle/>
          <a:p>
            <a:pPr algn="ctr"/>
            <a:r>
              <a:rPr sz="1100" b="0" i="0">
                <a:solidFill>
                  <a:srgbClr val="2A2F36"/>
                </a:solidFill>
                <a:latin typeface="Calibri"/>
              </a:rPr>
              <a:t>She solves it with light support</a:t>
            </a:r>
          </a:p>
        </p:txBody>
      </p:sp>
      <p:sp>
        <p:nvSpPr>
          <p:cNvPr id="23" name="Rounded Rectangle 22"/>
          <p:cNvSpPr/>
          <p:nvPr/>
        </p:nvSpPr>
        <p:spPr>
          <a:xfrm>
            <a:off x="4416552" y="3017520"/>
            <a:ext cx="324612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7992" y="3118104"/>
            <a:ext cx="3063240" cy="347472"/>
          </a:xfrm>
          <a:prstGeom prst="rect">
            <a:avLst/>
          </a:prstGeom>
          <a:noFill/>
        </p:spPr>
        <p:txBody>
          <a:bodyPr wrap="square">
            <a:spAutoFit/>
          </a:bodyPr>
          <a:lstStyle/>
          <a:p>
            <a:pPr algn="ctr"/>
            <a:r>
              <a:rPr sz="1000" b="0" i="1">
                <a:solidFill>
                  <a:srgbClr val="78828E"/>
                </a:solidFill>
                <a:latin typeface="Calibri"/>
              </a:rPr>
              <a:t>Ask the question once, then stay quiet.</a:t>
            </a:r>
          </a:p>
        </p:txBody>
      </p:sp>
      <p:sp>
        <p:nvSpPr>
          <p:cNvPr id="25" name="Rounded Rectangle 24"/>
          <p:cNvSpPr/>
          <p:nvPr/>
        </p:nvSpPr>
        <p:spPr>
          <a:xfrm>
            <a:off x="8055863" y="1572768"/>
            <a:ext cx="3611880" cy="2103120"/>
          </a:xfrm>
          <a:prstGeom prst="roundRect">
            <a:avLst/>
          </a:prstGeom>
          <a:solidFill>
            <a:srgbClr val="EE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55863" y="1700784"/>
            <a:ext cx="3611880" cy="420624"/>
          </a:xfrm>
          <a:prstGeom prst="rect">
            <a:avLst/>
          </a:prstGeom>
          <a:noFill/>
        </p:spPr>
        <p:txBody>
          <a:bodyPr wrap="square">
            <a:spAutoFit/>
          </a:bodyPr>
          <a:lstStyle/>
          <a:p>
            <a:pPr algn="ctr"/>
            <a:r>
              <a:rPr sz="1600" b="0" i="0">
                <a:solidFill>
                  <a:srgbClr val="2A2F36"/>
                </a:solidFill>
                <a:latin typeface="Calibri"/>
              </a:rPr>
              <a:t>⭐</a:t>
            </a:r>
          </a:p>
        </p:txBody>
      </p:sp>
      <p:sp>
        <p:nvSpPr>
          <p:cNvPr id="27" name="TextBox 26"/>
          <p:cNvSpPr txBox="1"/>
          <p:nvPr/>
        </p:nvSpPr>
        <p:spPr>
          <a:xfrm>
            <a:off x="8193023" y="2157984"/>
            <a:ext cx="3337560" cy="420624"/>
          </a:xfrm>
          <a:prstGeom prst="rect">
            <a:avLst/>
          </a:prstGeom>
          <a:noFill/>
        </p:spPr>
        <p:txBody>
          <a:bodyPr wrap="square">
            <a:spAutoFit/>
          </a:bodyPr>
          <a:lstStyle/>
          <a:p>
            <a:pPr algn="ctr"/>
            <a:r>
              <a:rPr sz="1600" b="1" i="0">
                <a:solidFill>
                  <a:srgbClr val="6A4A9E"/>
                </a:solidFill>
                <a:latin typeface="Georgia"/>
              </a:rPr>
              <a:t>EDITOR CHALLENGE</a:t>
            </a:r>
          </a:p>
        </p:txBody>
      </p:sp>
      <p:sp>
        <p:nvSpPr>
          <p:cNvPr id="28" name="TextBox 27"/>
          <p:cNvSpPr txBox="1"/>
          <p:nvPr/>
        </p:nvSpPr>
        <p:spPr>
          <a:xfrm>
            <a:off x="8284463" y="2606040"/>
            <a:ext cx="3154680" cy="384048"/>
          </a:xfrm>
          <a:prstGeom prst="rect">
            <a:avLst/>
          </a:prstGeom>
          <a:noFill/>
        </p:spPr>
        <p:txBody>
          <a:bodyPr wrap="square">
            <a:spAutoFit/>
          </a:bodyPr>
          <a:lstStyle/>
          <a:p>
            <a:pPr algn="ctr"/>
            <a:r>
              <a:rPr sz="1100" b="0" i="0">
                <a:solidFill>
                  <a:srgbClr val="2A2F36"/>
                </a:solidFill>
                <a:latin typeface="Calibri"/>
              </a:rPr>
              <a:t>She explains it or writes her own</a:t>
            </a:r>
          </a:p>
        </p:txBody>
      </p:sp>
      <p:sp>
        <p:nvSpPr>
          <p:cNvPr id="29" name="Rounded Rectangle 28"/>
          <p:cNvSpPr/>
          <p:nvPr/>
        </p:nvSpPr>
        <p:spPr>
          <a:xfrm>
            <a:off x="8238743" y="3017520"/>
            <a:ext cx="324612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0183" y="3118104"/>
            <a:ext cx="3063240" cy="347472"/>
          </a:xfrm>
          <a:prstGeom prst="rect">
            <a:avLst/>
          </a:prstGeom>
          <a:noFill/>
        </p:spPr>
        <p:txBody>
          <a:bodyPr wrap="square">
            <a:spAutoFit/>
          </a:bodyPr>
          <a:lstStyle/>
          <a:p>
            <a:pPr algn="ctr"/>
            <a:r>
              <a:rPr sz="1000" b="0" i="1">
                <a:solidFill>
                  <a:srgbClr val="78828E"/>
                </a:solidFill>
                <a:latin typeface="Calibri"/>
              </a:rPr>
              <a:t>Ask: how do you know that?</a:t>
            </a:r>
          </a:p>
        </p:txBody>
      </p:sp>
      <p:sp>
        <p:nvSpPr>
          <p:cNvPr id="31" name="Rounded Rectangle 30"/>
          <p:cNvSpPr/>
          <p:nvPr/>
        </p:nvSpPr>
        <p:spPr>
          <a:xfrm>
            <a:off x="411480" y="3803904"/>
            <a:ext cx="11338560" cy="420624"/>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867912"/>
            <a:ext cx="10881360" cy="310896"/>
          </a:xfrm>
          <a:prstGeom prst="rect">
            <a:avLst/>
          </a:prstGeom>
          <a:noFill/>
        </p:spPr>
        <p:txBody>
          <a:bodyPr wrap="square">
            <a:spAutoFit/>
          </a:bodyPr>
          <a:lstStyle/>
          <a:p>
            <a:pPr algn="l"/>
            <a:r>
              <a:rPr sz="1200" b="1" i="0">
                <a:solidFill>
                  <a:srgbClr val="D08A0C"/>
                </a:solidFill>
                <a:latin typeface="Calibri"/>
              </a:rPr>
              <a:t>POSITIVE LABELS ONLY:   🟢 Reporter Hint   ·   🟡 Reporter Mission   ·   ⭐ Editor Challenge</a:t>
            </a:r>
          </a:p>
        </p:txBody>
      </p:sp>
      <p:sp>
        <p:nvSpPr>
          <p:cNvPr id="33" name="TextBox 32"/>
          <p:cNvSpPr txBox="1"/>
          <p:nvPr/>
        </p:nvSpPr>
        <p:spPr>
          <a:xfrm>
            <a:off x="411480" y="4352544"/>
            <a:ext cx="5577840" cy="292608"/>
          </a:xfrm>
          <a:prstGeom prst="rect">
            <a:avLst/>
          </a:prstGeom>
          <a:noFill/>
        </p:spPr>
        <p:txBody>
          <a:bodyPr wrap="square">
            <a:spAutoFit/>
          </a:bodyPr>
          <a:lstStyle/>
          <a:p>
            <a:pPr algn="l"/>
            <a:r>
              <a:rPr sz="1200" b="1" i="0">
                <a:solidFill>
                  <a:srgbClr val="111418"/>
                </a:solidFill>
                <a:latin typeface="Calibri"/>
              </a:rPr>
              <a:t>THE HINT LADDER — never reveal the answer first</a:t>
            </a:r>
          </a:p>
        </p:txBody>
      </p:sp>
      <p:sp>
        <p:nvSpPr>
          <p:cNvPr id="34" name="Rounded Rectangle 33"/>
          <p:cNvSpPr/>
          <p:nvPr/>
        </p:nvSpPr>
        <p:spPr>
          <a:xfrm>
            <a:off x="411480" y="4700016"/>
            <a:ext cx="5577840" cy="34747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8640" y="4745736"/>
            <a:ext cx="914400" cy="256032"/>
          </a:xfrm>
          <a:prstGeom prst="round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754880"/>
            <a:ext cx="914400" cy="237744"/>
          </a:xfrm>
          <a:prstGeom prst="rect">
            <a:avLst/>
          </a:prstGeom>
          <a:noFill/>
        </p:spPr>
        <p:txBody>
          <a:bodyPr wrap="square">
            <a:spAutoFit/>
          </a:bodyPr>
          <a:lstStyle/>
          <a:p>
            <a:pPr algn="ctr"/>
            <a:r>
              <a:rPr sz="900" b="1" i="0">
                <a:solidFill>
                  <a:srgbClr val="FFFFFF"/>
                </a:solidFill>
                <a:latin typeface="Calibri"/>
              </a:rPr>
              <a:t>HINT 1</a:t>
            </a:r>
          </a:p>
        </p:txBody>
      </p:sp>
      <p:sp>
        <p:nvSpPr>
          <p:cNvPr id="37" name="TextBox 36"/>
          <p:cNvSpPr txBox="1"/>
          <p:nvPr/>
        </p:nvSpPr>
        <p:spPr>
          <a:xfrm>
            <a:off x="1600200" y="4736592"/>
            <a:ext cx="4206240" cy="274320"/>
          </a:xfrm>
          <a:prstGeom prst="rect">
            <a:avLst/>
          </a:prstGeom>
          <a:noFill/>
        </p:spPr>
        <p:txBody>
          <a:bodyPr wrap="square">
            <a:spAutoFit/>
          </a:bodyPr>
          <a:lstStyle/>
          <a:p>
            <a:pPr algn="l"/>
            <a:r>
              <a:rPr sz="1100" b="1" i="0">
                <a:solidFill>
                  <a:srgbClr val="111418"/>
                </a:solidFill>
                <a:latin typeface="Calibri"/>
              </a:rPr>
              <a:t>Give a small clue.</a:t>
            </a:r>
          </a:p>
        </p:txBody>
      </p:sp>
      <p:sp>
        <p:nvSpPr>
          <p:cNvPr id="38" name="Rounded Rectangle 37"/>
          <p:cNvSpPr/>
          <p:nvPr/>
        </p:nvSpPr>
        <p:spPr>
          <a:xfrm>
            <a:off x="411480" y="5102352"/>
            <a:ext cx="5577840" cy="34747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48640" y="5148072"/>
            <a:ext cx="914400" cy="256032"/>
          </a:xfrm>
          <a:prstGeom prst="roundRect">
            <a:avLst/>
          </a:prstGeom>
          <a:solidFill>
            <a:srgbClr val="D08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157216"/>
            <a:ext cx="914400" cy="237744"/>
          </a:xfrm>
          <a:prstGeom prst="rect">
            <a:avLst/>
          </a:prstGeom>
          <a:noFill/>
        </p:spPr>
        <p:txBody>
          <a:bodyPr wrap="square">
            <a:spAutoFit/>
          </a:bodyPr>
          <a:lstStyle/>
          <a:p>
            <a:pPr algn="ctr"/>
            <a:r>
              <a:rPr sz="900" b="1" i="0">
                <a:solidFill>
                  <a:srgbClr val="FFFFFF"/>
                </a:solidFill>
                <a:latin typeface="Calibri"/>
              </a:rPr>
              <a:t>HINT 2</a:t>
            </a:r>
          </a:p>
        </p:txBody>
      </p:sp>
      <p:sp>
        <p:nvSpPr>
          <p:cNvPr id="41" name="TextBox 40"/>
          <p:cNvSpPr txBox="1"/>
          <p:nvPr/>
        </p:nvSpPr>
        <p:spPr>
          <a:xfrm>
            <a:off x="1600200" y="5138928"/>
            <a:ext cx="4206240" cy="274320"/>
          </a:xfrm>
          <a:prstGeom prst="rect">
            <a:avLst/>
          </a:prstGeom>
          <a:noFill/>
        </p:spPr>
        <p:txBody>
          <a:bodyPr wrap="square">
            <a:spAutoFit/>
          </a:bodyPr>
          <a:lstStyle/>
          <a:p>
            <a:pPr algn="l"/>
            <a:r>
              <a:rPr sz="1100" b="1" i="0">
                <a:solidFill>
                  <a:srgbClr val="111418"/>
                </a:solidFill>
                <a:latin typeface="Calibri"/>
              </a:rPr>
              <a:t>Point to the part that matters.</a:t>
            </a:r>
          </a:p>
        </p:txBody>
      </p:sp>
      <p:sp>
        <p:nvSpPr>
          <p:cNvPr id="42" name="Rounded Rectangle 41"/>
          <p:cNvSpPr/>
          <p:nvPr/>
        </p:nvSpPr>
        <p:spPr>
          <a:xfrm>
            <a:off x="411480" y="5504688"/>
            <a:ext cx="5577840" cy="347472"/>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48640" y="5550408"/>
            <a:ext cx="914400" cy="256032"/>
          </a:xfrm>
          <a:prstGeom prst="roundRect">
            <a:avLst/>
          </a:prstGeom>
          <a:solidFill>
            <a:srgbClr val="1E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559552"/>
            <a:ext cx="914400" cy="237744"/>
          </a:xfrm>
          <a:prstGeom prst="rect">
            <a:avLst/>
          </a:prstGeom>
          <a:noFill/>
        </p:spPr>
        <p:txBody>
          <a:bodyPr wrap="square">
            <a:spAutoFit/>
          </a:bodyPr>
          <a:lstStyle/>
          <a:p>
            <a:pPr algn="ctr"/>
            <a:r>
              <a:rPr sz="900" b="1" i="0">
                <a:solidFill>
                  <a:srgbClr val="FFFFFF"/>
                </a:solidFill>
                <a:latin typeface="Calibri"/>
              </a:rPr>
              <a:t>HINT 3</a:t>
            </a:r>
          </a:p>
        </p:txBody>
      </p:sp>
      <p:sp>
        <p:nvSpPr>
          <p:cNvPr id="45" name="TextBox 44"/>
          <p:cNvSpPr txBox="1"/>
          <p:nvPr/>
        </p:nvSpPr>
        <p:spPr>
          <a:xfrm>
            <a:off x="1600200" y="5541264"/>
            <a:ext cx="4206240" cy="274320"/>
          </a:xfrm>
          <a:prstGeom prst="rect">
            <a:avLst/>
          </a:prstGeom>
          <a:noFill/>
        </p:spPr>
        <p:txBody>
          <a:bodyPr wrap="square">
            <a:spAutoFit/>
          </a:bodyPr>
          <a:lstStyle/>
          <a:p>
            <a:pPr algn="l"/>
            <a:r>
              <a:rPr sz="1100" b="1" i="0">
                <a:solidFill>
                  <a:srgbClr val="111418"/>
                </a:solidFill>
                <a:latin typeface="Calibri"/>
              </a:rPr>
              <a:t>Solve it together, then she answers.</a:t>
            </a:r>
          </a:p>
        </p:txBody>
      </p:sp>
      <p:sp>
        <p:nvSpPr>
          <p:cNvPr id="46" name="Rounded Rectangle 45"/>
          <p:cNvSpPr/>
          <p:nvPr/>
        </p:nvSpPr>
        <p:spPr>
          <a:xfrm>
            <a:off x="411480" y="5907024"/>
            <a:ext cx="5577840" cy="347472"/>
          </a:xfrm>
          <a:prstGeom prst="roundRect">
            <a:avLst/>
          </a:prstGeom>
          <a:solidFill>
            <a:srgbClr val="E6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952744"/>
            <a:ext cx="5120640" cy="274320"/>
          </a:xfrm>
          <a:prstGeom prst="rect">
            <a:avLst/>
          </a:prstGeom>
          <a:noFill/>
        </p:spPr>
        <p:txBody>
          <a:bodyPr wrap="square">
            <a:spAutoFit/>
          </a:bodyPr>
          <a:lstStyle/>
          <a:p>
            <a:pPr algn="l"/>
            <a:r>
              <a:rPr sz="1100" b="1" i="0">
                <a:solidFill>
                  <a:srgbClr val="1B5E9E"/>
                </a:solidFill>
                <a:latin typeface="Calibri"/>
              </a:rPr>
              <a:t>Then stop talking and let her answer.</a:t>
            </a:r>
          </a:p>
        </p:txBody>
      </p:sp>
      <p:sp>
        <p:nvSpPr>
          <p:cNvPr id="48" name="Rounded Rectangle 47"/>
          <p:cNvSpPr/>
          <p:nvPr/>
        </p:nvSpPr>
        <p:spPr>
          <a:xfrm>
            <a:off x="6172200" y="4352544"/>
            <a:ext cx="5577840" cy="914400"/>
          </a:xfrm>
          <a:prstGeom prst="roundRect">
            <a:avLst/>
          </a:prstGeom>
          <a:solidFill>
            <a:srgbClr val="E4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4425696"/>
            <a:ext cx="5120640" cy="274320"/>
          </a:xfrm>
          <a:prstGeom prst="rect">
            <a:avLst/>
          </a:prstGeom>
          <a:noFill/>
        </p:spPr>
        <p:txBody>
          <a:bodyPr wrap="square">
            <a:spAutoFit/>
          </a:bodyPr>
          <a:lstStyle/>
          <a:p>
            <a:pPr algn="l"/>
            <a:r>
              <a:rPr sz="1100" b="1" i="0">
                <a:solidFill>
                  <a:srgbClr val="1E7A52"/>
                </a:solidFill>
                <a:latin typeface="Calibri"/>
              </a:rPr>
              <a:t>🟡 REPORTER HINT BANK</a:t>
            </a:r>
          </a:p>
        </p:txBody>
      </p:sp>
      <p:sp>
        <p:nvSpPr>
          <p:cNvPr id="50" name="TextBox 49"/>
          <p:cNvSpPr txBox="1"/>
          <p:nvPr/>
        </p:nvSpPr>
        <p:spPr>
          <a:xfrm>
            <a:off x="6400800" y="4700016"/>
            <a:ext cx="2606040" cy="530352"/>
          </a:xfrm>
          <a:prstGeom prst="rect">
            <a:avLst/>
          </a:prstGeom>
          <a:noFill/>
        </p:spPr>
        <p:txBody>
          <a:bodyPr wrap="square">
            <a:spAutoFit/>
          </a:bodyPr>
          <a:lstStyle/>
          <a:p>
            <a:pPr>
              <a:spcAft>
                <a:spcPts val="100"/>
              </a:spcAft>
            </a:pPr>
            <a:r>
              <a:rPr sz="900" b="0">
                <a:solidFill>
                  <a:srgbClr val="2A2F36"/>
                </a:solidFill>
                <a:latin typeface="Calibri"/>
              </a:rPr>
              <a:t>•  Read the sentence again.</a:t>
            </a:r>
          </a:p>
          <a:p>
            <a:pPr>
              <a:spcAft>
                <a:spcPts val="100"/>
              </a:spcAft>
            </a:pPr>
            <a:r>
              <a:rPr sz="900" b="0">
                <a:solidFill>
                  <a:srgbClr val="2A2F36"/>
                </a:solidFill>
                <a:latin typeface="Calibri"/>
              </a:rPr>
              <a:t>•  Look for who is doing the action.</a:t>
            </a:r>
          </a:p>
          <a:p>
            <a:pPr>
              <a:spcAft>
                <a:spcPts val="100"/>
              </a:spcAft>
            </a:pPr>
            <a:r>
              <a:rPr sz="900" b="0">
                <a:solidFill>
                  <a:srgbClr val="2A2F36"/>
                </a:solidFill>
                <a:latin typeface="Calibri"/>
              </a:rPr>
              <a:t>•  Look for the action word.</a:t>
            </a:r>
          </a:p>
        </p:txBody>
      </p:sp>
      <p:sp>
        <p:nvSpPr>
          <p:cNvPr id="51" name="TextBox 50"/>
          <p:cNvSpPr txBox="1"/>
          <p:nvPr/>
        </p:nvSpPr>
        <p:spPr>
          <a:xfrm>
            <a:off x="9052560" y="4700016"/>
            <a:ext cx="2651760" cy="530352"/>
          </a:xfrm>
          <a:prstGeom prst="rect">
            <a:avLst/>
          </a:prstGeom>
          <a:noFill/>
        </p:spPr>
        <p:txBody>
          <a:bodyPr wrap="square">
            <a:spAutoFit/>
          </a:bodyPr>
          <a:lstStyle/>
          <a:p>
            <a:pPr>
              <a:spcAft>
                <a:spcPts val="100"/>
              </a:spcAft>
            </a:pPr>
            <a:r>
              <a:rPr sz="900" b="0">
                <a:solidFill>
                  <a:srgbClr val="2A2F36"/>
                </a:solidFill>
                <a:latin typeface="Calibri"/>
              </a:rPr>
              <a:t>•  Which word tells you more about the noun?</a:t>
            </a:r>
          </a:p>
          <a:p>
            <a:pPr>
              <a:spcAft>
                <a:spcPts val="100"/>
              </a:spcAft>
            </a:pPr>
            <a:r>
              <a:rPr sz="900" b="0">
                <a:solidFill>
                  <a:srgbClr val="2A2F36"/>
                </a:solidFill>
                <a:latin typeface="Calibri"/>
              </a:rPr>
              <a:t>•  Look back at paragraph 2.</a:t>
            </a:r>
          </a:p>
          <a:p>
            <a:pPr>
              <a:spcAft>
                <a:spcPts val="100"/>
              </a:spcAft>
            </a:pPr>
            <a:r>
              <a:rPr sz="900" b="0">
                <a:solidFill>
                  <a:srgbClr val="2A2F36"/>
                </a:solidFill>
                <a:latin typeface="Calibri"/>
              </a:rPr>
              <a:t>•  Find the sentence that proves it.</a:t>
            </a:r>
          </a:p>
        </p:txBody>
      </p:sp>
      <p:sp>
        <p:nvSpPr>
          <p:cNvPr id="52" name="Rounded Rectangle 51"/>
          <p:cNvSpPr/>
          <p:nvPr/>
        </p:nvSpPr>
        <p:spPr>
          <a:xfrm>
            <a:off x="6172200" y="5358384"/>
            <a:ext cx="5577840" cy="896112"/>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0" y="5422392"/>
            <a:ext cx="5120640" cy="274320"/>
          </a:xfrm>
          <a:prstGeom prst="rect">
            <a:avLst/>
          </a:prstGeom>
          <a:noFill/>
        </p:spPr>
        <p:txBody>
          <a:bodyPr wrap="square">
            <a:spAutoFit/>
          </a:bodyPr>
          <a:lstStyle/>
          <a:p>
            <a:pPr algn="l"/>
            <a:r>
              <a:rPr sz="1100" b="1" i="0">
                <a:solidFill>
                  <a:srgbClr val="C8322B"/>
                </a:solidFill>
                <a:latin typeface="Calibri"/>
              </a:rPr>
              <a:t>🗣️ SAY THIS INSTEAD OF "WRONG"</a:t>
            </a:r>
          </a:p>
        </p:txBody>
      </p:sp>
      <p:sp>
        <p:nvSpPr>
          <p:cNvPr id="54" name="TextBox 53"/>
          <p:cNvSpPr txBox="1"/>
          <p:nvPr/>
        </p:nvSpPr>
        <p:spPr>
          <a:xfrm>
            <a:off x="6400800" y="5687568"/>
            <a:ext cx="2606040" cy="530352"/>
          </a:xfrm>
          <a:prstGeom prst="rect">
            <a:avLst/>
          </a:prstGeom>
          <a:noFill/>
        </p:spPr>
        <p:txBody>
          <a:bodyPr wrap="square">
            <a:spAutoFit/>
          </a:bodyPr>
          <a:lstStyle/>
          <a:p>
            <a:pPr>
              <a:spcAft>
                <a:spcPts val="100"/>
              </a:spcAft>
            </a:pPr>
            <a:r>
              <a:rPr sz="900" b="0">
                <a:solidFill>
                  <a:srgbClr val="2A2F36"/>
                </a:solidFill>
                <a:latin typeface="Calibri"/>
              </a:rPr>
              <a:t>•  "Good try."</a:t>
            </a:r>
          </a:p>
          <a:p>
            <a:pPr>
              <a:spcAft>
                <a:spcPts val="100"/>
              </a:spcAft>
            </a:pPr>
            <a:r>
              <a:rPr sz="900" b="0">
                <a:solidFill>
                  <a:srgbClr val="2A2F36"/>
                </a:solidFill>
                <a:latin typeface="Calibri"/>
              </a:rPr>
              <a:t>•  "Let's look at that word again."</a:t>
            </a:r>
          </a:p>
          <a:p>
            <a:pPr>
              <a:spcAft>
                <a:spcPts val="100"/>
              </a:spcAft>
            </a:pPr>
            <a:r>
              <a:rPr sz="900" b="0">
                <a:solidFill>
                  <a:srgbClr val="2A2F36"/>
                </a:solidFill>
                <a:latin typeface="Calibri"/>
              </a:rPr>
              <a:t>•  "You found an important clue."</a:t>
            </a:r>
          </a:p>
        </p:txBody>
      </p:sp>
      <p:sp>
        <p:nvSpPr>
          <p:cNvPr id="55" name="TextBox 54"/>
          <p:cNvSpPr txBox="1"/>
          <p:nvPr/>
        </p:nvSpPr>
        <p:spPr>
          <a:xfrm>
            <a:off x="9052560" y="5687568"/>
            <a:ext cx="2651760" cy="530352"/>
          </a:xfrm>
          <a:prstGeom prst="rect">
            <a:avLst/>
          </a:prstGeom>
          <a:noFill/>
        </p:spPr>
        <p:txBody>
          <a:bodyPr wrap="square">
            <a:spAutoFit/>
          </a:bodyPr>
          <a:lstStyle/>
          <a:p>
            <a:pPr>
              <a:spcAft>
                <a:spcPts val="100"/>
              </a:spcAft>
            </a:pPr>
            <a:r>
              <a:rPr sz="900" b="0">
                <a:solidFill>
                  <a:srgbClr val="2A2F36"/>
                </a:solidFill>
                <a:latin typeface="Calibri"/>
              </a:rPr>
              <a:t>•  "Let's solve it together."</a:t>
            </a:r>
          </a:p>
          <a:p>
            <a:pPr>
              <a:spcAft>
                <a:spcPts val="100"/>
              </a:spcAft>
            </a:pPr>
            <a:r>
              <a:rPr sz="900" b="0">
                <a:solidFill>
                  <a:srgbClr val="2A2F36"/>
                </a:solidFill>
                <a:latin typeface="Calibri"/>
              </a:rPr>
              <a:t>•  "Great evidence!"</a:t>
            </a:r>
          </a:p>
          <a:p>
            <a:pPr>
              <a:spcAft>
                <a:spcPts val="100"/>
              </a:spcAft>
            </a:pPr>
            <a:r>
              <a:rPr sz="900" b="0">
                <a:solidFill>
                  <a:srgbClr val="2A2F36"/>
                </a:solidFill>
                <a:latin typeface="Calibri"/>
              </a:rPr>
              <a:t>•  "Your reading is getting stronger."</a:t>
            </a:r>
          </a:p>
        </p:txBody>
      </p:sp>
    </p:spTree>
  </p:cSld>
  <p:clrMapOvr>
    <a:masterClrMapping/>
  </p:clrMapOvr>
  <p:transition spd="med"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2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2A2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TEACHER ONLY</a:t>
            </a:r>
          </a:p>
        </p:txBody>
      </p:sp>
      <p:sp>
        <p:nvSpPr>
          <p:cNvPr id="6" name="TextBox 5"/>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TEACHER ONLY — Final Assessment</a:t>
            </a:r>
          </a:p>
        </p:txBody>
      </p:sp>
      <p:sp>
        <p:nvSpPr>
          <p:cNvPr id="7" name="Rectangle 6"/>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19088"/>
            <a:ext cx="11791967"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Assessment</a:t>
            </a:r>
          </a:p>
        </p:txBody>
      </p:sp>
      <p:sp>
        <p:nvSpPr>
          <p:cNvPr id="11" name="TextBox 10"/>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59 / 61</a:t>
            </a:r>
          </a:p>
        </p:txBody>
      </p:sp>
      <p:sp>
        <p:nvSpPr>
          <p:cNvPr id="12" name="TextBox 11"/>
          <p:cNvSpPr txBox="1"/>
          <p:nvPr/>
        </p:nvSpPr>
        <p:spPr>
          <a:xfrm>
            <a:off x="411480" y="1170432"/>
            <a:ext cx="11338560" cy="292608"/>
          </a:xfrm>
          <a:prstGeom prst="rect">
            <a:avLst/>
          </a:prstGeom>
          <a:noFill/>
        </p:spPr>
        <p:txBody>
          <a:bodyPr wrap="square">
            <a:spAutoFit/>
          </a:bodyPr>
          <a:lstStyle/>
          <a:p>
            <a:pPr algn="l"/>
            <a:r>
              <a:rPr sz="1200" b="1" i="0">
                <a:solidFill>
                  <a:srgbClr val="C8322B"/>
                </a:solidFill>
                <a:latin typeface="Calibri"/>
              </a:rPr>
              <a:t>Record what she did today, not what you hoped for. Fill this in right after class.</a:t>
            </a:r>
          </a:p>
        </p:txBody>
      </p:sp>
      <p:sp>
        <p:nvSpPr>
          <p:cNvPr id="13" name="Rounded Rectangle 12"/>
          <p:cNvSpPr/>
          <p:nvPr/>
        </p:nvSpPr>
        <p:spPr>
          <a:xfrm>
            <a:off x="411480" y="1499616"/>
            <a:ext cx="3931920" cy="347472"/>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1545336"/>
            <a:ext cx="3931920" cy="274320"/>
          </a:xfrm>
          <a:prstGeom prst="rect">
            <a:avLst/>
          </a:prstGeom>
          <a:noFill/>
        </p:spPr>
        <p:txBody>
          <a:bodyPr wrap="square">
            <a:spAutoFit/>
          </a:bodyPr>
          <a:lstStyle/>
          <a:p>
            <a:pPr algn="ctr"/>
            <a:r>
              <a:rPr sz="1100" b="1" i="0">
                <a:solidFill>
                  <a:srgbClr val="FFFFFF"/>
                </a:solidFill>
                <a:latin typeface="Calibri"/>
              </a:rPr>
              <a:t>SKILL</a:t>
            </a:r>
          </a:p>
        </p:txBody>
      </p:sp>
      <p:sp>
        <p:nvSpPr>
          <p:cNvPr id="15" name="Rounded Rectangle 14"/>
          <p:cNvSpPr/>
          <p:nvPr/>
        </p:nvSpPr>
        <p:spPr>
          <a:xfrm>
            <a:off x="4526280" y="1499616"/>
            <a:ext cx="2377440" cy="347472"/>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545336"/>
            <a:ext cx="2377440" cy="274320"/>
          </a:xfrm>
          <a:prstGeom prst="rect">
            <a:avLst/>
          </a:prstGeom>
          <a:noFill/>
        </p:spPr>
        <p:txBody>
          <a:bodyPr wrap="square">
            <a:spAutoFit/>
          </a:bodyPr>
          <a:lstStyle/>
          <a:p>
            <a:pPr algn="ctr"/>
            <a:r>
              <a:rPr sz="1100" b="1" i="0">
                <a:solidFill>
                  <a:srgbClr val="FFFFFF"/>
                </a:solidFill>
                <a:latin typeface="Calibri"/>
              </a:rPr>
              <a:t>Independent</a:t>
            </a:r>
          </a:p>
        </p:txBody>
      </p:sp>
      <p:sp>
        <p:nvSpPr>
          <p:cNvPr id="17" name="Rounded Rectangle 16"/>
          <p:cNvSpPr/>
          <p:nvPr/>
        </p:nvSpPr>
        <p:spPr>
          <a:xfrm>
            <a:off x="7086600" y="1499616"/>
            <a:ext cx="2194560" cy="347472"/>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1545336"/>
            <a:ext cx="2194560" cy="274320"/>
          </a:xfrm>
          <a:prstGeom prst="rect">
            <a:avLst/>
          </a:prstGeom>
          <a:noFill/>
        </p:spPr>
        <p:txBody>
          <a:bodyPr wrap="square">
            <a:spAutoFit/>
          </a:bodyPr>
          <a:lstStyle/>
          <a:p>
            <a:pPr algn="ctr"/>
            <a:r>
              <a:rPr sz="1100" b="1" i="0">
                <a:solidFill>
                  <a:srgbClr val="FFFFFF"/>
                </a:solidFill>
                <a:latin typeface="Calibri"/>
              </a:rPr>
              <a:t>With Support</a:t>
            </a:r>
          </a:p>
        </p:txBody>
      </p:sp>
      <p:sp>
        <p:nvSpPr>
          <p:cNvPr id="19" name="Rounded Rectangle 18"/>
          <p:cNvSpPr/>
          <p:nvPr/>
        </p:nvSpPr>
        <p:spPr>
          <a:xfrm>
            <a:off x="9464040" y="1499616"/>
            <a:ext cx="2286000" cy="347472"/>
          </a:xfrm>
          <a:prstGeom prst="round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4040" y="1545336"/>
            <a:ext cx="2286000" cy="274320"/>
          </a:xfrm>
          <a:prstGeom prst="rect">
            <a:avLst/>
          </a:prstGeom>
          <a:noFill/>
        </p:spPr>
        <p:txBody>
          <a:bodyPr wrap="square">
            <a:spAutoFit/>
          </a:bodyPr>
          <a:lstStyle/>
          <a:p>
            <a:pPr algn="ctr"/>
            <a:r>
              <a:rPr sz="1100" b="1" i="0">
                <a:solidFill>
                  <a:srgbClr val="FFFFFF"/>
                </a:solidFill>
                <a:latin typeface="Calibri"/>
              </a:rPr>
              <a:t>Needs More Practice</a:t>
            </a:r>
          </a:p>
        </p:txBody>
      </p:sp>
      <p:sp>
        <p:nvSpPr>
          <p:cNvPr id="21" name="Rounded Rectangle 20"/>
          <p:cNvSpPr/>
          <p:nvPr/>
        </p:nvSpPr>
        <p:spPr>
          <a:xfrm>
            <a:off x="411480" y="1901952"/>
            <a:ext cx="393192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1920240"/>
            <a:ext cx="3566160" cy="246888"/>
          </a:xfrm>
          <a:prstGeom prst="rect">
            <a:avLst/>
          </a:prstGeom>
          <a:noFill/>
        </p:spPr>
        <p:txBody>
          <a:bodyPr wrap="square">
            <a:spAutoFit/>
          </a:bodyPr>
          <a:lstStyle/>
          <a:p>
            <a:pPr algn="l"/>
            <a:r>
              <a:rPr sz="1100" b="1" i="0">
                <a:solidFill>
                  <a:srgbClr val="111418"/>
                </a:solidFill>
                <a:latin typeface="Calibri"/>
              </a:rPr>
              <a:t>Reading fluency</a:t>
            </a:r>
          </a:p>
        </p:txBody>
      </p:sp>
      <p:sp>
        <p:nvSpPr>
          <p:cNvPr id="23" name="Rounded Rectangle 22"/>
          <p:cNvSpPr/>
          <p:nvPr/>
        </p:nvSpPr>
        <p:spPr>
          <a:xfrm>
            <a:off x="4526280" y="1901952"/>
            <a:ext cx="237744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1892808"/>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25" name="Rounded Rectangle 24"/>
          <p:cNvSpPr/>
          <p:nvPr/>
        </p:nvSpPr>
        <p:spPr>
          <a:xfrm>
            <a:off x="7086600" y="1901952"/>
            <a:ext cx="219456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86600" y="1892808"/>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27" name="Rounded Rectangle 26"/>
          <p:cNvSpPr/>
          <p:nvPr/>
        </p:nvSpPr>
        <p:spPr>
          <a:xfrm>
            <a:off x="9464040" y="1901952"/>
            <a:ext cx="228600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64040" y="1892808"/>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29" name="Rounded Rectangle 28"/>
          <p:cNvSpPr/>
          <p:nvPr/>
        </p:nvSpPr>
        <p:spPr>
          <a:xfrm>
            <a:off x="411480" y="2203704"/>
            <a:ext cx="393192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2221992"/>
            <a:ext cx="3566160" cy="246888"/>
          </a:xfrm>
          <a:prstGeom prst="rect">
            <a:avLst/>
          </a:prstGeom>
          <a:noFill/>
        </p:spPr>
        <p:txBody>
          <a:bodyPr wrap="square">
            <a:spAutoFit/>
          </a:bodyPr>
          <a:lstStyle/>
          <a:p>
            <a:pPr algn="l"/>
            <a:r>
              <a:rPr sz="1100" b="1" i="0">
                <a:solidFill>
                  <a:srgbClr val="111418"/>
                </a:solidFill>
                <a:latin typeface="Calibri"/>
              </a:rPr>
              <a:t>Vocabulary</a:t>
            </a:r>
          </a:p>
        </p:txBody>
      </p:sp>
      <p:sp>
        <p:nvSpPr>
          <p:cNvPr id="31" name="Rounded Rectangle 30"/>
          <p:cNvSpPr/>
          <p:nvPr/>
        </p:nvSpPr>
        <p:spPr>
          <a:xfrm>
            <a:off x="4526280" y="2203704"/>
            <a:ext cx="237744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80" y="2194560"/>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33" name="Rounded Rectangle 32"/>
          <p:cNvSpPr/>
          <p:nvPr/>
        </p:nvSpPr>
        <p:spPr>
          <a:xfrm>
            <a:off x="7086600" y="2203704"/>
            <a:ext cx="219456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86600" y="2194560"/>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35" name="Rounded Rectangle 34"/>
          <p:cNvSpPr/>
          <p:nvPr/>
        </p:nvSpPr>
        <p:spPr>
          <a:xfrm>
            <a:off x="9464040" y="2203704"/>
            <a:ext cx="228600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64040" y="2194560"/>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37" name="Rounded Rectangle 36"/>
          <p:cNvSpPr/>
          <p:nvPr/>
        </p:nvSpPr>
        <p:spPr>
          <a:xfrm>
            <a:off x="411480" y="2505456"/>
            <a:ext cx="393192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2523744"/>
            <a:ext cx="3566160" cy="246888"/>
          </a:xfrm>
          <a:prstGeom prst="rect">
            <a:avLst/>
          </a:prstGeom>
          <a:noFill/>
        </p:spPr>
        <p:txBody>
          <a:bodyPr wrap="square">
            <a:spAutoFit/>
          </a:bodyPr>
          <a:lstStyle/>
          <a:p>
            <a:pPr algn="l"/>
            <a:r>
              <a:rPr sz="1100" b="1" i="0">
                <a:solidFill>
                  <a:srgbClr val="111418"/>
                </a:solidFill>
                <a:latin typeface="Calibri"/>
              </a:rPr>
              <a:t>Main idea</a:t>
            </a:r>
          </a:p>
        </p:txBody>
      </p:sp>
      <p:sp>
        <p:nvSpPr>
          <p:cNvPr id="39" name="Rounded Rectangle 38"/>
          <p:cNvSpPr/>
          <p:nvPr/>
        </p:nvSpPr>
        <p:spPr>
          <a:xfrm>
            <a:off x="4526280" y="2505456"/>
            <a:ext cx="237744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26280" y="2496312"/>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41" name="Rounded Rectangle 40"/>
          <p:cNvSpPr/>
          <p:nvPr/>
        </p:nvSpPr>
        <p:spPr>
          <a:xfrm>
            <a:off x="7086600" y="2505456"/>
            <a:ext cx="219456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86600" y="2496312"/>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43" name="Rounded Rectangle 42"/>
          <p:cNvSpPr/>
          <p:nvPr/>
        </p:nvSpPr>
        <p:spPr>
          <a:xfrm>
            <a:off x="9464040" y="2505456"/>
            <a:ext cx="228600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64040" y="2496312"/>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45" name="Rounded Rectangle 44"/>
          <p:cNvSpPr/>
          <p:nvPr/>
        </p:nvSpPr>
        <p:spPr>
          <a:xfrm>
            <a:off x="411480" y="2807208"/>
            <a:ext cx="393192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2825496"/>
            <a:ext cx="3566160" cy="246888"/>
          </a:xfrm>
          <a:prstGeom prst="rect">
            <a:avLst/>
          </a:prstGeom>
          <a:noFill/>
        </p:spPr>
        <p:txBody>
          <a:bodyPr wrap="square">
            <a:spAutoFit/>
          </a:bodyPr>
          <a:lstStyle/>
          <a:p>
            <a:pPr algn="l"/>
            <a:r>
              <a:rPr sz="1100" b="1" i="0">
                <a:solidFill>
                  <a:srgbClr val="111418"/>
                </a:solidFill>
                <a:latin typeface="Calibri"/>
              </a:rPr>
              <a:t>Details</a:t>
            </a:r>
          </a:p>
        </p:txBody>
      </p:sp>
      <p:sp>
        <p:nvSpPr>
          <p:cNvPr id="47" name="Rounded Rectangle 46"/>
          <p:cNvSpPr/>
          <p:nvPr/>
        </p:nvSpPr>
        <p:spPr>
          <a:xfrm>
            <a:off x="4526280" y="2807208"/>
            <a:ext cx="237744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26280" y="2798064"/>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49" name="Rounded Rectangle 48"/>
          <p:cNvSpPr/>
          <p:nvPr/>
        </p:nvSpPr>
        <p:spPr>
          <a:xfrm>
            <a:off x="7086600" y="2807208"/>
            <a:ext cx="219456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86600" y="2798064"/>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51" name="Rounded Rectangle 50"/>
          <p:cNvSpPr/>
          <p:nvPr/>
        </p:nvSpPr>
        <p:spPr>
          <a:xfrm>
            <a:off x="9464040" y="2807208"/>
            <a:ext cx="228600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464040" y="2798064"/>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53" name="Rounded Rectangle 52"/>
          <p:cNvSpPr/>
          <p:nvPr/>
        </p:nvSpPr>
        <p:spPr>
          <a:xfrm>
            <a:off x="411480" y="3108960"/>
            <a:ext cx="393192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3127248"/>
            <a:ext cx="3566160" cy="246888"/>
          </a:xfrm>
          <a:prstGeom prst="rect">
            <a:avLst/>
          </a:prstGeom>
          <a:noFill/>
        </p:spPr>
        <p:txBody>
          <a:bodyPr wrap="square">
            <a:spAutoFit/>
          </a:bodyPr>
          <a:lstStyle/>
          <a:p>
            <a:pPr algn="l"/>
            <a:r>
              <a:rPr sz="1100" b="1" i="0">
                <a:solidFill>
                  <a:srgbClr val="111418"/>
                </a:solidFill>
                <a:latin typeface="Calibri"/>
              </a:rPr>
              <a:t>Evidence</a:t>
            </a:r>
          </a:p>
        </p:txBody>
      </p:sp>
      <p:sp>
        <p:nvSpPr>
          <p:cNvPr id="55" name="Rounded Rectangle 54"/>
          <p:cNvSpPr/>
          <p:nvPr/>
        </p:nvSpPr>
        <p:spPr>
          <a:xfrm>
            <a:off x="4526280" y="3108960"/>
            <a:ext cx="237744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26280" y="3099816"/>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57" name="Rounded Rectangle 56"/>
          <p:cNvSpPr/>
          <p:nvPr/>
        </p:nvSpPr>
        <p:spPr>
          <a:xfrm>
            <a:off x="7086600" y="3108960"/>
            <a:ext cx="219456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86600" y="3099816"/>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59" name="Rounded Rectangle 58"/>
          <p:cNvSpPr/>
          <p:nvPr/>
        </p:nvSpPr>
        <p:spPr>
          <a:xfrm>
            <a:off x="9464040" y="3108960"/>
            <a:ext cx="228600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464040" y="3099816"/>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61" name="Rounded Rectangle 60"/>
          <p:cNvSpPr/>
          <p:nvPr/>
        </p:nvSpPr>
        <p:spPr>
          <a:xfrm>
            <a:off x="411480" y="3410712"/>
            <a:ext cx="393192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 y="3429000"/>
            <a:ext cx="3566160" cy="246888"/>
          </a:xfrm>
          <a:prstGeom prst="rect">
            <a:avLst/>
          </a:prstGeom>
          <a:noFill/>
        </p:spPr>
        <p:txBody>
          <a:bodyPr wrap="square">
            <a:spAutoFit/>
          </a:bodyPr>
          <a:lstStyle/>
          <a:p>
            <a:pPr algn="l"/>
            <a:r>
              <a:rPr sz="1100" b="1" i="0">
                <a:solidFill>
                  <a:srgbClr val="111418"/>
                </a:solidFill>
                <a:latin typeface="Calibri"/>
              </a:rPr>
              <a:t>Parts of speech</a:t>
            </a:r>
          </a:p>
        </p:txBody>
      </p:sp>
      <p:sp>
        <p:nvSpPr>
          <p:cNvPr id="63" name="Rounded Rectangle 62"/>
          <p:cNvSpPr/>
          <p:nvPr/>
        </p:nvSpPr>
        <p:spPr>
          <a:xfrm>
            <a:off x="4526280" y="3410712"/>
            <a:ext cx="237744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26280" y="3401568"/>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65" name="Rounded Rectangle 64"/>
          <p:cNvSpPr/>
          <p:nvPr/>
        </p:nvSpPr>
        <p:spPr>
          <a:xfrm>
            <a:off x="7086600" y="3410712"/>
            <a:ext cx="219456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086600" y="3401568"/>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67" name="Rounded Rectangle 66"/>
          <p:cNvSpPr/>
          <p:nvPr/>
        </p:nvSpPr>
        <p:spPr>
          <a:xfrm>
            <a:off x="9464040" y="3410712"/>
            <a:ext cx="228600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464040" y="3401568"/>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69" name="Rounded Rectangle 68"/>
          <p:cNvSpPr/>
          <p:nvPr/>
        </p:nvSpPr>
        <p:spPr>
          <a:xfrm>
            <a:off x="411480" y="3712464"/>
            <a:ext cx="393192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94360" y="3730752"/>
            <a:ext cx="3566160" cy="246888"/>
          </a:xfrm>
          <a:prstGeom prst="rect">
            <a:avLst/>
          </a:prstGeom>
          <a:noFill/>
        </p:spPr>
        <p:txBody>
          <a:bodyPr wrap="square">
            <a:spAutoFit/>
          </a:bodyPr>
          <a:lstStyle/>
          <a:p>
            <a:pPr algn="l"/>
            <a:r>
              <a:rPr sz="1100" b="1" i="0">
                <a:solidFill>
                  <a:srgbClr val="111418"/>
                </a:solidFill>
                <a:latin typeface="Calibri"/>
              </a:rPr>
              <a:t>Subject-verb agreement</a:t>
            </a:r>
          </a:p>
        </p:txBody>
      </p:sp>
      <p:sp>
        <p:nvSpPr>
          <p:cNvPr id="71" name="Rounded Rectangle 70"/>
          <p:cNvSpPr/>
          <p:nvPr/>
        </p:nvSpPr>
        <p:spPr>
          <a:xfrm>
            <a:off x="4526280" y="3712464"/>
            <a:ext cx="237744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526280" y="3703320"/>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73" name="Rounded Rectangle 72"/>
          <p:cNvSpPr/>
          <p:nvPr/>
        </p:nvSpPr>
        <p:spPr>
          <a:xfrm>
            <a:off x="7086600" y="3712464"/>
            <a:ext cx="219456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086600" y="3703320"/>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75" name="Rounded Rectangle 74"/>
          <p:cNvSpPr/>
          <p:nvPr/>
        </p:nvSpPr>
        <p:spPr>
          <a:xfrm>
            <a:off x="9464040" y="3712464"/>
            <a:ext cx="228600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64040" y="3703320"/>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77" name="Rounded Rectangle 76"/>
          <p:cNvSpPr/>
          <p:nvPr/>
        </p:nvSpPr>
        <p:spPr>
          <a:xfrm>
            <a:off x="411480" y="4014216"/>
            <a:ext cx="393192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94360" y="4032504"/>
            <a:ext cx="3566160" cy="246888"/>
          </a:xfrm>
          <a:prstGeom prst="rect">
            <a:avLst/>
          </a:prstGeom>
          <a:noFill/>
        </p:spPr>
        <p:txBody>
          <a:bodyPr wrap="square">
            <a:spAutoFit/>
          </a:bodyPr>
          <a:lstStyle/>
          <a:p>
            <a:pPr algn="l"/>
            <a:r>
              <a:rPr sz="1100" b="1" i="0">
                <a:solidFill>
                  <a:srgbClr val="111418"/>
                </a:solidFill>
                <a:latin typeface="Calibri"/>
              </a:rPr>
              <a:t>Verb tenses</a:t>
            </a:r>
          </a:p>
        </p:txBody>
      </p:sp>
      <p:sp>
        <p:nvSpPr>
          <p:cNvPr id="79" name="Rounded Rectangle 78"/>
          <p:cNvSpPr/>
          <p:nvPr/>
        </p:nvSpPr>
        <p:spPr>
          <a:xfrm>
            <a:off x="4526280" y="4014216"/>
            <a:ext cx="237744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526280" y="4005072"/>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81" name="Rounded Rectangle 80"/>
          <p:cNvSpPr/>
          <p:nvPr/>
        </p:nvSpPr>
        <p:spPr>
          <a:xfrm>
            <a:off x="7086600" y="4014216"/>
            <a:ext cx="219456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086600" y="4005072"/>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83" name="Rounded Rectangle 82"/>
          <p:cNvSpPr/>
          <p:nvPr/>
        </p:nvSpPr>
        <p:spPr>
          <a:xfrm>
            <a:off x="9464040" y="4014216"/>
            <a:ext cx="228600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464040" y="4005072"/>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85" name="Rounded Rectangle 84"/>
          <p:cNvSpPr/>
          <p:nvPr/>
        </p:nvSpPr>
        <p:spPr>
          <a:xfrm>
            <a:off x="411480" y="4315968"/>
            <a:ext cx="393192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94360" y="4334256"/>
            <a:ext cx="3566160" cy="246888"/>
          </a:xfrm>
          <a:prstGeom prst="rect">
            <a:avLst/>
          </a:prstGeom>
          <a:noFill/>
        </p:spPr>
        <p:txBody>
          <a:bodyPr wrap="square">
            <a:spAutoFit/>
          </a:bodyPr>
          <a:lstStyle/>
          <a:p>
            <a:pPr algn="l"/>
            <a:r>
              <a:rPr sz="1100" b="1" i="0">
                <a:solidFill>
                  <a:srgbClr val="111418"/>
                </a:solidFill>
                <a:latin typeface="Calibri"/>
              </a:rPr>
              <a:t>Sentence editing</a:t>
            </a:r>
          </a:p>
        </p:txBody>
      </p:sp>
      <p:sp>
        <p:nvSpPr>
          <p:cNvPr id="87" name="Rounded Rectangle 86"/>
          <p:cNvSpPr/>
          <p:nvPr/>
        </p:nvSpPr>
        <p:spPr>
          <a:xfrm>
            <a:off x="4526280" y="4315968"/>
            <a:ext cx="237744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526280" y="4306824"/>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89" name="Rounded Rectangle 88"/>
          <p:cNvSpPr/>
          <p:nvPr/>
        </p:nvSpPr>
        <p:spPr>
          <a:xfrm>
            <a:off x="7086600" y="4315968"/>
            <a:ext cx="219456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086600" y="4306824"/>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91" name="Rounded Rectangle 90"/>
          <p:cNvSpPr/>
          <p:nvPr/>
        </p:nvSpPr>
        <p:spPr>
          <a:xfrm>
            <a:off x="9464040" y="4315968"/>
            <a:ext cx="228600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464040" y="4306824"/>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93" name="Rounded Rectangle 92"/>
          <p:cNvSpPr/>
          <p:nvPr/>
        </p:nvSpPr>
        <p:spPr>
          <a:xfrm>
            <a:off x="411480" y="4617720"/>
            <a:ext cx="393192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94360" y="4636008"/>
            <a:ext cx="3566160" cy="246888"/>
          </a:xfrm>
          <a:prstGeom prst="rect">
            <a:avLst/>
          </a:prstGeom>
          <a:noFill/>
        </p:spPr>
        <p:txBody>
          <a:bodyPr wrap="square">
            <a:spAutoFit/>
          </a:bodyPr>
          <a:lstStyle/>
          <a:p>
            <a:pPr algn="l"/>
            <a:r>
              <a:rPr sz="1100" b="1" i="0">
                <a:solidFill>
                  <a:srgbClr val="111418"/>
                </a:solidFill>
                <a:latin typeface="Calibri"/>
              </a:rPr>
              <a:t>Speaking</a:t>
            </a:r>
          </a:p>
        </p:txBody>
      </p:sp>
      <p:sp>
        <p:nvSpPr>
          <p:cNvPr id="95" name="Rounded Rectangle 94"/>
          <p:cNvSpPr/>
          <p:nvPr/>
        </p:nvSpPr>
        <p:spPr>
          <a:xfrm>
            <a:off x="4526280" y="4617720"/>
            <a:ext cx="237744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526280" y="4608576"/>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97" name="Rounded Rectangle 96"/>
          <p:cNvSpPr/>
          <p:nvPr/>
        </p:nvSpPr>
        <p:spPr>
          <a:xfrm>
            <a:off x="7086600" y="4617720"/>
            <a:ext cx="219456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086600" y="4608576"/>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99" name="Rounded Rectangle 98"/>
          <p:cNvSpPr/>
          <p:nvPr/>
        </p:nvSpPr>
        <p:spPr>
          <a:xfrm>
            <a:off x="9464040" y="4617720"/>
            <a:ext cx="2286000" cy="283464"/>
          </a:xfrm>
          <a:prstGeom prst="round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464040" y="4608576"/>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101" name="Rounded Rectangle 100"/>
          <p:cNvSpPr/>
          <p:nvPr/>
        </p:nvSpPr>
        <p:spPr>
          <a:xfrm>
            <a:off x="411480" y="4919472"/>
            <a:ext cx="393192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94360" y="4937760"/>
            <a:ext cx="3566160" cy="246888"/>
          </a:xfrm>
          <a:prstGeom prst="rect">
            <a:avLst/>
          </a:prstGeom>
          <a:noFill/>
        </p:spPr>
        <p:txBody>
          <a:bodyPr wrap="square">
            <a:spAutoFit/>
          </a:bodyPr>
          <a:lstStyle/>
          <a:p>
            <a:pPr algn="l"/>
            <a:r>
              <a:rPr sz="1100" b="1" i="0">
                <a:solidFill>
                  <a:srgbClr val="111418"/>
                </a:solidFill>
                <a:latin typeface="Calibri"/>
              </a:rPr>
              <a:t>Sentence writing</a:t>
            </a:r>
          </a:p>
        </p:txBody>
      </p:sp>
      <p:sp>
        <p:nvSpPr>
          <p:cNvPr id="103" name="Rounded Rectangle 102"/>
          <p:cNvSpPr/>
          <p:nvPr/>
        </p:nvSpPr>
        <p:spPr>
          <a:xfrm>
            <a:off x="4526280" y="4919472"/>
            <a:ext cx="237744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526280" y="4910328"/>
            <a:ext cx="2377440" cy="274320"/>
          </a:xfrm>
          <a:prstGeom prst="rect">
            <a:avLst/>
          </a:prstGeom>
          <a:noFill/>
        </p:spPr>
        <p:txBody>
          <a:bodyPr wrap="square">
            <a:spAutoFit/>
          </a:bodyPr>
          <a:lstStyle/>
          <a:p>
            <a:pPr algn="ctr"/>
            <a:r>
              <a:rPr sz="1200" b="0" i="0">
                <a:solidFill>
                  <a:srgbClr val="78828E"/>
                </a:solidFill>
                <a:latin typeface="Calibri"/>
              </a:rPr>
              <a:t>☐</a:t>
            </a:r>
          </a:p>
        </p:txBody>
      </p:sp>
      <p:sp>
        <p:nvSpPr>
          <p:cNvPr id="105" name="Rounded Rectangle 104"/>
          <p:cNvSpPr/>
          <p:nvPr/>
        </p:nvSpPr>
        <p:spPr>
          <a:xfrm>
            <a:off x="7086600" y="4919472"/>
            <a:ext cx="219456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7086600" y="4910328"/>
            <a:ext cx="2194560" cy="274320"/>
          </a:xfrm>
          <a:prstGeom prst="rect">
            <a:avLst/>
          </a:prstGeom>
          <a:noFill/>
        </p:spPr>
        <p:txBody>
          <a:bodyPr wrap="square">
            <a:spAutoFit/>
          </a:bodyPr>
          <a:lstStyle/>
          <a:p>
            <a:pPr algn="ctr"/>
            <a:r>
              <a:rPr sz="1200" b="0" i="0">
                <a:solidFill>
                  <a:srgbClr val="78828E"/>
                </a:solidFill>
                <a:latin typeface="Calibri"/>
              </a:rPr>
              <a:t>☐</a:t>
            </a:r>
          </a:p>
        </p:txBody>
      </p:sp>
      <p:sp>
        <p:nvSpPr>
          <p:cNvPr id="107" name="Rounded Rectangle 106"/>
          <p:cNvSpPr/>
          <p:nvPr/>
        </p:nvSpPr>
        <p:spPr>
          <a:xfrm>
            <a:off x="9464040" y="4919472"/>
            <a:ext cx="2286000" cy="2834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464040" y="4910328"/>
            <a:ext cx="2286000" cy="274320"/>
          </a:xfrm>
          <a:prstGeom prst="rect">
            <a:avLst/>
          </a:prstGeom>
          <a:noFill/>
        </p:spPr>
        <p:txBody>
          <a:bodyPr wrap="square">
            <a:spAutoFit/>
          </a:bodyPr>
          <a:lstStyle/>
          <a:p>
            <a:pPr algn="ctr"/>
            <a:r>
              <a:rPr sz="1200" b="0" i="0">
                <a:solidFill>
                  <a:srgbClr val="78828E"/>
                </a:solidFill>
                <a:latin typeface="Calibri"/>
              </a:rPr>
              <a:t>☐</a:t>
            </a:r>
          </a:p>
        </p:txBody>
      </p:sp>
      <p:sp>
        <p:nvSpPr>
          <p:cNvPr id="109" name="Rounded Rectangle 108"/>
          <p:cNvSpPr/>
          <p:nvPr/>
        </p:nvSpPr>
        <p:spPr>
          <a:xfrm>
            <a:off x="411480" y="5285232"/>
            <a:ext cx="11338560" cy="960120"/>
          </a:xfrm>
          <a:prstGeom prst="roundRect">
            <a:avLst/>
          </a:prstGeom>
          <a:solidFill>
            <a:srgbClr val="FC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40080" y="5367528"/>
            <a:ext cx="10881360" cy="310896"/>
          </a:xfrm>
          <a:prstGeom prst="rect">
            <a:avLst/>
          </a:prstGeom>
          <a:noFill/>
        </p:spPr>
        <p:txBody>
          <a:bodyPr wrap="square">
            <a:spAutoFit/>
          </a:bodyPr>
          <a:lstStyle/>
          <a:p>
            <a:pPr algn="l"/>
            <a:r>
              <a:rPr sz="1200" b="1" i="0">
                <a:solidFill>
                  <a:srgbClr val="D08A0C"/>
                </a:solidFill>
                <a:latin typeface="Calibri"/>
              </a:rPr>
              <a:t>NEXT LESSON FOCUS — pick the three weakest rows above</a:t>
            </a:r>
          </a:p>
        </p:txBody>
      </p:sp>
      <p:sp>
        <p:nvSpPr>
          <p:cNvPr id="111" name="Rounded Rectangle 110"/>
          <p:cNvSpPr/>
          <p:nvPr/>
        </p:nvSpPr>
        <p:spPr>
          <a:xfrm>
            <a:off x="640080" y="5715000"/>
            <a:ext cx="352044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77240" y="5788152"/>
            <a:ext cx="3246120" cy="310896"/>
          </a:xfrm>
          <a:prstGeom prst="rect">
            <a:avLst/>
          </a:prstGeom>
          <a:noFill/>
        </p:spPr>
        <p:txBody>
          <a:bodyPr wrap="square">
            <a:spAutoFit/>
          </a:bodyPr>
          <a:lstStyle/>
          <a:p>
            <a:pPr algn="l"/>
            <a:r>
              <a:rPr sz="1100" b="0" i="0">
                <a:solidFill>
                  <a:srgbClr val="78828E"/>
                </a:solidFill>
                <a:latin typeface="Calibri"/>
              </a:rPr>
              <a:t>1.  ____________________________</a:t>
            </a:r>
          </a:p>
        </p:txBody>
      </p:sp>
      <p:sp>
        <p:nvSpPr>
          <p:cNvPr id="113" name="Rounded Rectangle 112"/>
          <p:cNvSpPr/>
          <p:nvPr/>
        </p:nvSpPr>
        <p:spPr>
          <a:xfrm>
            <a:off x="4343400" y="5715000"/>
            <a:ext cx="352044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480560" y="5788152"/>
            <a:ext cx="3246120" cy="310896"/>
          </a:xfrm>
          <a:prstGeom prst="rect">
            <a:avLst/>
          </a:prstGeom>
          <a:noFill/>
        </p:spPr>
        <p:txBody>
          <a:bodyPr wrap="square">
            <a:spAutoFit/>
          </a:bodyPr>
          <a:lstStyle/>
          <a:p>
            <a:pPr algn="l"/>
            <a:r>
              <a:rPr sz="1100" b="0" i="0">
                <a:solidFill>
                  <a:srgbClr val="78828E"/>
                </a:solidFill>
                <a:latin typeface="Calibri"/>
              </a:rPr>
              <a:t>2.  ____________________________</a:t>
            </a:r>
          </a:p>
        </p:txBody>
      </p:sp>
      <p:sp>
        <p:nvSpPr>
          <p:cNvPr id="115" name="Rounded Rectangle 114"/>
          <p:cNvSpPr/>
          <p:nvPr/>
        </p:nvSpPr>
        <p:spPr>
          <a:xfrm>
            <a:off x="8046719" y="5715000"/>
            <a:ext cx="352044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183879" y="5788152"/>
            <a:ext cx="3246120" cy="310896"/>
          </a:xfrm>
          <a:prstGeom prst="rect">
            <a:avLst/>
          </a:prstGeom>
          <a:noFill/>
        </p:spPr>
        <p:txBody>
          <a:bodyPr wrap="square">
            <a:spAutoFit/>
          </a:bodyPr>
          <a:lstStyle/>
          <a:p>
            <a:pPr algn="l"/>
            <a:r>
              <a:rPr sz="1100" b="0" i="0">
                <a:solidFill>
                  <a:srgbClr val="78828E"/>
                </a:solidFill>
                <a:latin typeface="Calibri"/>
              </a:rPr>
              <a:t>3.  ____________________________</a:t>
            </a:r>
          </a:p>
        </p:txBody>
      </p:sp>
    </p:spTree>
  </p:cSld>
  <p:clrMapOvr>
    <a:masterClrMapping/>
  </p:clrMapOvr>
  <p:transition spd="med"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2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2A2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TEACHER ONLY</a:t>
            </a:r>
          </a:p>
        </p:txBody>
      </p:sp>
      <p:sp>
        <p:nvSpPr>
          <p:cNvPr id="6" name="TextBox 5"/>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TEACHER ONLY — Answer Key (1 of 2)</a:t>
            </a:r>
          </a:p>
        </p:txBody>
      </p:sp>
      <p:sp>
        <p:nvSpPr>
          <p:cNvPr id="7" name="Rectangle 6"/>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19088"/>
            <a:ext cx="11991831"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Answer key</a:t>
            </a:r>
          </a:p>
        </p:txBody>
      </p:sp>
      <p:sp>
        <p:nvSpPr>
          <p:cNvPr id="11" name="TextBox 10"/>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60 / 61</a:t>
            </a:r>
          </a:p>
        </p:txBody>
      </p:sp>
      <p:sp>
        <p:nvSpPr>
          <p:cNvPr id="12" name="TextBox 11"/>
          <p:cNvSpPr txBox="1"/>
          <p:nvPr/>
        </p:nvSpPr>
        <p:spPr>
          <a:xfrm>
            <a:off x="411480" y="1188720"/>
            <a:ext cx="11338560" cy="292608"/>
          </a:xfrm>
          <a:prstGeom prst="rect">
            <a:avLst/>
          </a:prstGeom>
          <a:noFill/>
        </p:spPr>
        <p:txBody>
          <a:bodyPr wrap="square">
            <a:spAutoFit/>
          </a:bodyPr>
          <a:lstStyle/>
          <a:p>
            <a:pPr algn="l"/>
            <a:r>
              <a:rPr sz="1200" b="1" i="0">
                <a:solidFill>
                  <a:srgbClr val="C8322B"/>
                </a:solidFill>
                <a:latin typeface="Calibri"/>
              </a:rPr>
              <a:t>Hide these two slides before presenting, or keep them on a second screen.</a:t>
            </a:r>
          </a:p>
        </p:txBody>
      </p:sp>
      <p:sp>
        <p:nvSpPr>
          <p:cNvPr id="13" name="Rounded Rectangle 12"/>
          <p:cNvSpPr/>
          <p:nvPr/>
        </p:nvSpPr>
        <p:spPr>
          <a:xfrm>
            <a:off x="411480" y="1572768"/>
            <a:ext cx="557784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00784"/>
            <a:ext cx="5120640" cy="329184"/>
          </a:xfrm>
          <a:prstGeom prst="rect">
            <a:avLst/>
          </a:prstGeom>
          <a:noFill/>
        </p:spPr>
        <p:txBody>
          <a:bodyPr wrap="square">
            <a:spAutoFit/>
          </a:bodyPr>
          <a:lstStyle/>
          <a:p>
            <a:pPr algn="l"/>
            <a:r>
              <a:rPr sz="1300" b="1" i="0">
                <a:solidFill>
                  <a:srgbClr val="C8322B"/>
                </a:solidFill>
                <a:latin typeface="Calibri"/>
              </a:rPr>
              <a:t>🗞️ Headlines  ·  🔎 Vocabulary</a:t>
            </a:r>
          </a:p>
        </p:txBody>
      </p:sp>
      <p:sp>
        <p:nvSpPr>
          <p:cNvPr id="15" name="TextBox 14"/>
          <p:cNvSpPr txBox="1"/>
          <p:nvPr/>
        </p:nvSpPr>
        <p:spPr>
          <a:xfrm>
            <a:off x="640080" y="2084831"/>
            <a:ext cx="5120640" cy="3931920"/>
          </a:xfrm>
          <a:prstGeom prst="rect">
            <a:avLst/>
          </a:prstGeom>
          <a:noFill/>
        </p:spPr>
        <p:txBody>
          <a:bodyPr wrap="square">
            <a:spAutoFit/>
          </a:bodyPr>
          <a:lstStyle/>
          <a:p>
            <a:pPr>
              <a:spcAft>
                <a:spcPts val="400"/>
              </a:spcAft>
            </a:pPr>
            <a:r>
              <a:rPr sz="1100" b="0">
                <a:solidFill>
                  <a:srgbClr val="2A2F36"/>
                </a:solidFill>
                <a:latin typeface="Calibri"/>
              </a:rPr>
              <a:t>•  Good news story: D — all of the above</a:t>
            </a:r>
          </a:p>
          <a:p>
            <a:pPr>
              <a:spcAft>
                <a:spcPts val="400"/>
              </a:spcAft>
            </a:pPr>
            <a:r>
              <a:rPr sz="1100" b="0">
                <a:solidFill>
                  <a:srgbClr val="2A2F36"/>
                </a:solidFill>
                <a:latin typeface="Calibri"/>
              </a:rPr>
              <a:t>•  Match 1–3: garden, puppy, science fair</a:t>
            </a:r>
          </a:p>
          <a:p>
            <a:pPr>
              <a:spcAft>
                <a:spcPts val="400"/>
              </a:spcAft>
            </a:pPr>
            <a:r>
              <a:rPr sz="1100" b="0">
                <a:solidFill>
                  <a:srgbClr val="2A2F36"/>
                </a:solidFill>
                <a:latin typeface="Calibri"/>
              </a:rPr>
              <a:t>•  Match 4–6: book club, pizza, art show</a:t>
            </a:r>
          </a:p>
          <a:p>
            <a:pPr>
              <a:spcAft>
                <a:spcPts val="400"/>
              </a:spcAft>
            </a:pPr>
            <a:r>
              <a:rPr sz="1100" b="0">
                <a:solidFill>
                  <a:srgbClr val="2A2F36"/>
                </a:solidFill>
                <a:latin typeface="Calibri"/>
              </a:rPr>
              <a:t>•  Mix-Up 1: SCHOOL GARDEN GROWS GIANT PUMPKIN</a:t>
            </a:r>
          </a:p>
          <a:p>
            <a:pPr>
              <a:spcAft>
                <a:spcPts val="400"/>
              </a:spcAft>
            </a:pPr>
            <a:r>
              <a:rPr sz="1100" b="0">
                <a:solidFill>
                  <a:srgbClr val="2A2F36"/>
                </a:solidFill>
                <a:latin typeface="Calibri"/>
              </a:rPr>
              <a:t>•  Mix-Up 2: STUDENTS WIN SCIENCE FAIR</a:t>
            </a:r>
          </a:p>
          <a:p>
            <a:pPr>
              <a:spcAft>
                <a:spcPts val="400"/>
              </a:spcAft>
            </a:pPr>
            <a:r>
              <a:rPr sz="1100" b="0">
                <a:solidFill>
                  <a:srgbClr val="2A2F36"/>
                </a:solidFill>
                <a:latin typeface="Calibri"/>
              </a:rPr>
              <a:t>•  Mix-Up 3: NEW BOOK CLUB STARTS</a:t>
            </a:r>
          </a:p>
          <a:p>
            <a:pPr>
              <a:spcAft>
                <a:spcPts val="400"/>
              </a:spcAft>
            </a:pPr>
            <a:r>
              <a:rPr sz="1100" b="0">
                <a:solidFill>
                  <a:srgbClr val="2A2F36"/>
                </a:solidFill>
                <a:latin typeface="Calibri"/>
              </a:rPr>
              <a:t>•  Word or Not — YES: reporter, headline, garden,</a:t>
            </a:r>
          </a:p>
          <a:p>
            <a:pPr>
              <a:spcAft>
                <a:spcPts val="400"/>
              </a:spcAft>
            </a:pPr>
            <a:r>
              <a:rPr sz="1100" b="0">
                <a:solidFill>
                  <a:srgbClr val="2A2F36"/>
                </a:solidFill>
                <a:latin typeface="Calibri"/>
              </a:rPr>
              <a:t>      interview, editor</a:t>
            </a:r>
          </a:p>
          <a:p>
            <a:pPr>
              <a:spcAft>
                <a:spcPts val="400"/>
              </a:spcAft>
            </a:pPr>
            <a:r>
              <a:rPr sz="1100" b="0">
                <a:solidFill>
                  <a:srgbClr val="2A2F36"/>
                </a:solidFill>
                <a:latin typeface="Calibri"/>
              </a:rPr>
              <a:t>•  Word or Not — NO: banana, rocket, penguin</a:t>
            </a:r>
          </a:p>
          <a:p>
            <a:pPr>
              <a:spcAft>
                <a:spcPts val="400"/>
              </a:spcAft>
            </a:pPr>
            <a:r>
              <a:rPr sz="1100" b="0">
                <a:solidFill>
                  <a:srgbClr val="2A2F36"/>
                </a:solidFill>
                <a:latin typeface="Calibri"/>
              </a:rPr>
              <a:t>•  Who Am I: headline, reporter, discover</a:t>
            </a:r>
          </a:p>
          <a:p>
            <a:pPr>
              <a:spcAft>
                <a:spcPts val="400"/>
              </a:spcAft>
            </a:pPr>
            <a:r>
              <a:rPr sz="1100" b="0">
                <a:solidFill>
                  <a:srgbClr val="2A2F36"/>
                </a:solidFill>
                <a:latin typeface="Calibri"/>
              </a:rPr>
              <a:t>•  Which Word Fits: interview, carefully, celebrate</a:t>
            </a:r>
          </a:p>
        </p:txBody>
      </p:sp>
      <p:sp>
        <p:nvSpPr>
          <p:cNvPr id="16" name="Rounded Rectangle 15"/>
          <p:cNvSpPr/>
          <p:nvPr/>
        </p:nvSpPr>
        <p:spPr>
          <a:xfrm>
            <a:off x="6172200" y="1572768"/>
            <a:ext cx="557784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700784"/>
            <a:ext cx="5120640" cy="329184"/>
          </a:xfrm>
          <a:prstGeom prst="rect">
            <a:avLst/>
          </a:prstGeom>
          <a:noFill/>
        </p:spPr>
        <p:txBody>
          <a:bodyPr wrap="square">
            <a:spAutoFit/>
          </a:bodyPr>
          <a:lstStyle/>
          <a:p>
            <a:pPr algn="l"/>
            <a:r>
              <a:rPr sz="1300" b="1" i="0">
                <a:solidFill>
                  <a:srgbClr val="1E7A52"/>
                </a:solidFill>
                <a:latin typeface="Calibri"/>
              </a:rPr>
              <a:t>✏️ Grammar  ·  ⏰ Tenses</a:t>
            </a:r>
          </a:p>
        </p:txBody>
      </p:sp>
      <p:sp>
        <p:nvSpPr>
          <p:cNvPr id="18" name="TextBox 17"/>
          <p:cNvSpPr txBox="1"/>
          <p:nvPr/>
        </p:nvSpPr>
        <p:spPr>
          <a:xfrm>
            <a:off x="6400800" y="2084831"/>
            <a:ext cx="5120640" cy="3931920"/>
          </a:xfrm>
          <a:prstGeom prst="rect">
            <a:avLst/>
          </a:prstGeom>
          <a:noFill/>
        </p:spPr>
        <p:txBody>
          <a:bodyPr wrap="square">
            <a:spAutoFit/>
          </a:bodyPr>
          <a:lstStyle/>
          <a:p>
            <a:pPr>
              <a:spcAft>
                <a:spcPts val="300"/>
              </a:spcAft>
            </a:pPr>
            <a:r>
              <a:rPr sz="1100" b="0">
                <a:solidFill>
                  <a:srgbClr val="2A2F36"/>
                </a:solidFill>
                <a:latin typeface="Calibri"/>
              </a:rPr>
              <a:t>•  Right verb: helps, come, plants, build, checks</a:t>
            </a:r>
          </a:p>
          <a:p>
            <a:pPr>
              <a:spcAft>
                <a:spcPts val="300"/>
              </a:spcAft>
            </a:pPr>
            <a:r>
              <a:rPr sz="1100" b="0">
                <a:solidFill>
                  <a:srgbClr val="2A2F36"/>
                </a:solidFill>
                <a:latin typeface="Calibri"/>
              </a:rPr>
              <a:t>•  Red Pen 1–3: students write, reporter asks,</a:t>
            </a:r>
          </a:p>
          <a:p>
            <a:pPr>
              <a:spcAft>
                <a:spcPts val="300"/>
              </a:spcAft>
            </a:pPr>
            <a:r>
              <a:rPr sz="1100" b="0">
                <a:solidFill>
                  <a:srgbClr val="2A2F36"/>
                </a:solidFill>
                <a:latin typeface="Calibri"/>
              </a:rPr>
              <a:t>      friend reads</a:t>
            </a:r>
          </a:p>
          <a:p>
            <a:pPr>
              <a:spcAft>
                <a:spcPts val="300"/>
              </a:spcAft>
            </a:pPr>
            <a:r>
              <a:rPr sz="1100" b="0">
                <a:solidFill>
                  <a:srgbClr val="2A2F36"/>
                </a:solidFill>
                <a:latin typeface="Calibri"/>
              </a:rPr>
              <a:t>•  Red Pen 4–5: teachers help, Priya and Sam plant</a:t>
            </a:r>
          </a:p>
          <a:p>
            <a:pPr>
              <a:spcAft>
                <a:spcPts val="300"/>
              </a:spcAft>
            </a:pPr>
            <a:r>
              <a:rPr sz="1100" b="0">
                <a:solidFill>
                  <a:srgbClr val="2A2F36"/>
                </a:solidFill>
                <a:latin typeface="Calibri"/>
              </a:rPr>
              <a:t>•  Spin 1 — noun: reporter, story · verb: wrote ·</a:t>
            </a:r>
          </a:p>
          <a:p>
            <a:pPr>
              <a:spcAft>
                <a:spcPts val="300"/>
              </a:spcAft>
            </a:pPr>
            <a:r>
              <a:rPr sz="1100" b="0">
                <a:solidFill>
                  <a:srgbClr val="2A2F36"/>
                </a:solidFill>
                <a:latin typeface="Calibri"/>
              </a:rPr>
              <a:t>      adj: excited · adv: quickly</a:t>
            </a:r>
          </a:p>
          <a:p>
            <a:pPr>
              <a:spcAft>
                <a:spcPts val="300"/>
              </a:spcAft>
            </a:pPr>
            <a:r>
              <a:rPr sz="1100" b="0">
                <a:solidFill>
                  <a:srgbClr val="2A2F36"/>
                </a:solidFill>
                <a:latin typeface="Calibri"/>
              </a:rPr>
              <a:t>•  Spin 2 — noun: students, seeds · verb: planted ·</a:t>
            </a:r>
          </a:p>
          <a:p>
            <a:pPr>
              <a:spcAft>
                <a:spcPts val="300"/>
              </a:spcAft>
            </a:pPr>
            <a:r>
              <a:rPr sz="1100" b="0">
                <a:solidFill>
                  <a:srgbClr val="2A2F36"/>
                </a:solidFill>
                <a:latin typeface="Calibri"/>
              </a:rPr>
              <a:t>      adj: busy, small · adv: carefully</a:t>
            </a:r>
          </a:p>
          <a:p>
            <a:pPr>
              <a:spcAft>
                <a:spcPts val="300"/>
              </a:spcAft>
            </a:pPr>
            <a:r>
              <a:rPr sz="1100" b="0">
                <a:solidFill>
                  <a:srgbClr val="2A2F36"/>
                </a:solidFill>
                <a:latin typeface="Calibri"/>
              </a:rPr>
              <a:t>•  Spin fix: The garden grows fast. / Priya writes</a:t>
            </a:r>
          </a:p>
          <a:p>
            <a:pPr>
              <a:spcAft>
                <a:spcPts val="300"/>
              </a:spcAft>
            </a:pPr>
            <a:r>
              <a:rPr sz="1100" b="0">
                <a:solidFill>
                  <a:srgbClr val="2A2F36"/>
                </a:solidFill>
                <a:latin typeface="Calibri"/>
              </a:rPr>
              <a:t>      three headlines. / The birds build a nest.</a:t>
            </a:r>
          </a:p>
          <a:p>
            <a:pPr>
              <a:spcAft>
                <a:spcPts val="300"/>
              </a:spcAft>
            </a:pPr>
            <a:r>
              <a:rPr sz="1100" b="0">
                <a:solidFill>
                  <a:srgbClr val="2A2F36"/>
                </a:solidFill>
                <a:latin typeface="Calibri"/>
              </a:rPr>
              <a:t>•  Joining words: and, but, so, because</a:t>
            </a:r>
          </a:p>
          <a:p>
            <a:pPr>
              <a:spcAft>
                <a:spcPts val="300"/>
              </a:spcAft>
            </a:pPr>
            <a:r>
              <a:rPr sz="1100" b="0">
                <a:solidFill>
                  <a:srgbClr val="2A2F36"/>
                </a:solidFill>
                <a:latin typeface="Calibri"/>
              </a:rPr>
              <a:t>•  Name the tense: present, past, future, past, present</a:t>
            </a:r>
          </a:p>
          <a:p>
            <a:pPr>
              <a:spcAft>
                <a:spcPts val="300"/>
              </a:spcAft>
            </a:pPr>
            <a:r>
              <a:rPr sz="1100" b="0">
                <a:solidFill>
                  <a:srgbClr val="2A2F36"/>
                </a:solidFill>
                <a:latin typeface="Calibri"/>
              </a:rPr>
              <a:t>•  Irregulars: grew, took, wrote</a:t>
            </a:r>
          </a:p>
        </p:txBody>
      </p:sp>
    </p:spTree>
  </p:cSld>
  <p:clrMapOvr>
    <a:masterClrMapping/>
  </p:clrMapOvr>
  <p:transition spd="med"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2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3200400" cy="384048"/>
          </a:xfrm>
          <a:prstGeom prst="roundRect">
            <a:avLst/>
          </a:prstGeom>
          <a:solidFill>
            <a:srgbClr val="2A2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3200400" cy="310896"/>
          </a:xfrm>
          <a:prstGeom prst="rect">
            <a:avLst/>
          </a:prstGeom>
          <a:noFill/>
        </p:spPr>
        <p:txBody>
          <a:bodyPr wrap="square">
            <a:spAutoFit/>
          </a:bodyPr>
          <a:lstStyle/>
          <a:p>
            <a:pPr algn="ctr"/>
            <a:r>
              <a:rPr sz="1200" b="1" i="0">
                <a:solidFill>
                  <a:srgbClr val="FFFFFF"/>
                </a:solidFill>
                <a:latin typeface="Calibri"/>
              </a:rPr>
              <a:t>TEACHER ONLY</a:t>
            </a:r>
          </a:p>
        </p:txBody>
      </p:sp>
      <p:sp>
        <p:nvSpPr>
          <p:cNvPr id="6" name="TextBox 5"/>
          <p:cNvSpPr txBox="1"/>
          <p:nvPr/>
        </p:nvSpPr>
        <p:spPr>
          <a:xfrm>
            <a:off x="365760" y="731520"/>
            <a:ext cx="11338560" cy="457200"/>
          </a:xfrm>
          <a:prstGeom prst="rect">
            <a:avLst/>
          </a:prstGeom>
          <a:noFill/>
        </p:spPr>
        <p:txBody>
          <a:bodyPr wrap="square">
            <a:spAutoFit/>
          </a:bodyPr>
          <a:lstStyle/>
          <a:p>
            <a:pPr algn="l"/>
            <a:r>
              <a:rPr sz="2700" b="1" i="0">
                <a:solidFill>
                  <a:srgbClr val="111418"/>
                </a:solidFill>
                <a:latin typeface="Georgia"/>
              </a:rPr>
              <a:t>🔒 TEACHER ONLY — Answer Key (2 of 2)</a:t>
            </a:r>
          </a:p>
        </p:txBody>
      </p:sp>
      <p:sp>
        <p:nvSpPr>
          <p:cNvPr id="7" name="Rectangle 6"/>
          <p:cNvSpPr/>
          <p:nvPr/>
        </p:nvSpPr>
        <p:spPr>
          <a:xfrm>
            <a:off x="0" y="6419088"/>
            <a:ext cx="12191695" cy="73152"/>
          </a:xfrm>
          <a:prstGeom prst="rect">
            <a:avLst/>
          </a:prstGeom>
          <a:solidFill>
            <a:srgbClr val="E2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19088"/>
            <a:ext cx="12191695" cy="73152"/>
          </a:xfrm>
          <a:prstGeom prst="rect">
            <a:avLst/>
          </a:prstGeom>
          <a:solidFill>
            <a:srgbClr val="C83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2240"/>
            <a:ext cx="12191695" cy="365760"/>
          </a:xfrm>
          <a:prstGeom prst="rect">
            <a:avLst/>
          </a:prstGeom>
          <a:solidFill>
            <a:srgbClr val="11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28816"/>
            <a:ext cx="10332720" cy="292608"/>
          </a:xfrm>
          <a:prstGeom prst="rect">
            <a:avLst/>
          </a:prstGeom>
          <a:noFill/>
        </p:spPr>
        <p:txBody>
          <a:bodyPr wrap="square">
            <a:spAutoFit/>
          </a:bodyPr>
          <a:lstStyle/>
          <a:p>
            <a:pPr algn="l"/>
            <a:r>
              <a:rPr sz="1000" b="0" i="0">
                <a:solidFill>
                  <a:srgbClr val="FFFFFF"/>
                </a:solidFill>
                <a:latin typeface="Calibri"/>
              </a:rPr>
              <a:t>📰 The School Newsroom  |  Grade 5  |  90 min  |  Answer key</a:t>
            </a:r>
          </a:p>
        </p:txBody>
      </p:sp>
      <p:sp>
        <p:nvSpPr>
          <p:cNvPr id="11" name="TextBox 10"/>
          <p:cNvSpPr txBox="1"/>
          <p:nvPr/>
        </p:nvSpPr>
        <p:spPr>
          <a:xfrm>
            <a:off x="10835640" y="6528816"/>
            <a:ext cx="1097280" cy="292608"/>
          </a:xfrm>
          <a:prstGeom prst="rect">
            <a:avLst/>
          </a:prstGeom>
          <a:noFill/>
        </p:spPr>
        <p:txBody>
          <a:bodyPr wrap="square">
            <a:spAutoFit/>
          </a:bodyPr>
          <a:lstStyle/>
          <a:p>
            <a:pPr algn="r"/>
            <a:r>
              <a:rPr sz="1000" b="0" i="0">
                <a:solidFill>
                  <a:srgbClr val="FFFFFF"/>
                </a:solidFill>
                <a:latin typeface="Calibri"/>
              </a:rPr>
              <a:t>61 / 61</a:t>
            </a:r>
          </a:p>
        </p:txBody>
      </p:sp>
      <p:sp>
        <p:nvSpPr>
          <p:cNvPr id="12" name="TextBox 11"/>
          <p:cNvSpPr txBox="1"/>
          <p:nvPr/>
        </p:nvSpPr>
        <p:spPr>
          <a:xfrm>
            <a:off x="411480" y="1188720"/>
            <a:ext cx="11338560" cy="292608"/>
          </a:xfrm>
          <a:prstGeom prst="rect">
            <a:avLst/>
          </a:prstGeom>
          <a:noFill/>
        </p:spPr>
        <p:txBody>
          <a:bodyPr wrap="square">
            <a:spAutoFit/>
          </a:bodyPr>
          <a:lstStyle/>
          <a:p>
            <a:pPr algn="l"/>
            <a:r>
              <a:rPr sz="1200" b="1" i="0">
                <a:solidFill>
                  <a:srgbClr val="C8322B"/>
                </a:solidFill>
                <a:latin typeface="Calibri"/>
              </a:rPr>
              <a:t>Reading, evidence, editing and the final challenge.</a:t>
            </a:r>
          </a:p>
        </p:txBody>
      </p:sp>
      <p:sp>
        <p:nvSpPr>
          <p:cNvPr id="13" name="Rounded Rectangle 12"/>
          <p:cNvSpPr/>
          <p:nvPr/>
        </p:nvSpPr>
        <p:spPr>
          <a:xfrm>
            <a:off x="411480" y="1572768"/>
            <a:ext cx="557784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00784"/>
            <a:ext cx="5120640" cy="329184"/>
          </a:xfrm>
          <a:prstGeom prst="rect">
            <a:avLst/>
          </a:prstGeom>
          <a:noFill/>
        </p:spPr>
        <p:txBody>
          <a:bodyPr wrap="square">
            <a:spAutoFit/>
          </a:bodyPr>
          <a:lstStyle/>
          <a:p>
            <a:pPr algn="l"/>
            <a:r>
              <a:rPr sz="1300" b="1" i="0">
                <a:solidFill>
                  <a:srgbClr val="1B5E9E"/>
                </a:solidFill>
                <a:latin typeface="Calibri"/>
              </a:rPr>
              <a:t>📖 Reading  ·  🔍 Evidence</a:t>
            </a:r>
          </a:p>
        </p:txBody>
      </p:sp>
      <p:sp>
        <p:nvSpPr>
          <p:cNvPr id="15" name="TextBox 14"/>
          <p:cNvSpPr txBox="1"/>
          <p:nvPr/>
        </p:nvSpPr>
        <p:spPr>
          <a:xfrm>
            <a:off x="640080" y="2084831"/>
            <a:ext cx="5120640" cy="3931920"/>
          </a:xfrm>
          <a:prstGeom prst="rect">
            <a:avLst/>
          </a:prstGeom>
          <a:noFill/>
        </p:spPr>
        <p:txBody>
          <a:bodyPr wrap="square">
            <a:spAutoFit/>
          </a:bodyPr>
          <a:lstStyle/>
          <a:p>
            <a:pPr>
              <a:spcAft>
                <a:spcPts val="300"/>
              </a:spcAft>
            </a:pPr>
            <a:r>
              <a:rPr sz="1100" b="0">
                <a:solidFill>
                  <a:srgbClr val="2A2F36"/>
                </a:solidFill>
                <a:latin typeface="Calibri"/>
              </a:rPr>
              <a:t>•  Main idea: B — students turned an unused space</a:t>
            </a:r>
          </a:p>
          <a:p>
            <a:pPr>
              <a:spcAft>
                <a:spcPts val="300"/>
              </a:spcAft>
            </a:pPr>
            <a:r>
              <a:rPr sz="1100" b="0">
                <a:solidFill>
                  <a:srgbClr val="2A2F36"/>
                </a:solidFill>
                <a:latin typeface="Calibri"/>
              </a:rPr>
              <a:t>      into a garden that brought wildlife</a:t>
            </a:r>
          </a:p>
          <a:p>
            <a:pPr>
              <a:spcAft>
                <a:spcPts val="300"/>
              </a:spcAft>
            </a:pPr>
            <a:r>
              <a:rPr sz="1100" b="0">
                <a:solidFill>
                  <a:srgbClr val="2A2F36"/>
                </a:solidFill>
                <a:latin typeface="Calibri"/>
              </a:rPr>
              <a:t>•  Sequence: idea → plan → clear and plant → animals</a:t>
            </a:r>
          </a:p>
          <a:p>
            <a:pPr>
              <a:spcAft>
                <a:spcPts val="300"/>
              </a:spcAft>
            </a:pPr>
            <a:r>
              <a:rPr sz="1100" b="0">
                <a:solidFill>
                  <a:srgbClr val="2A2F36"/>
                </a:solidFill>
                <a:latin typeface="Calibri"/>
              </a:rPr>
              <a:t>•  Q1 Priya saw the empty space and had an idea</a:t>
            </a:r>
          </a:p>
          <a:p>
            <a:pPr>
              <a:spcAft>
                <a:spcPts val="300"/>
              </a:spcAft>
            </a:pPr>
            <a:r>
              <a:rPr sz="1100" b="0">
                <a:solidFill>
                  <a:srgbClr val="2A2F36"/>
                </a:solidFill>
                <a:latin typeface="Calibri"/>
              </a:rPr>
              <a:t>      (Part 1)</a:t>
            </a:r>
          </a:p>
          <a:p>
            <a:pPr>
              <a:spcAft>
                <a:spcPts val="300"/>
              </a:spcAft>
            </a:pPr>
            <a:r>
              <a:rPr sz="1100" b="0">
                <a:solidFill>
                  <a:srgbClr val="2A2F36"/>
                </a:solidFill>
                <a:latin typeface="Calibri"/>
              </a:rPr>
              <a:t>•  Q2 sunflowers, tomatoes, beans, carrots (Part 3)</a:t>
            </a:r>
          </a:p>
          <a:p>
            <a:pPr>
              <a:spcAft>
                <a:spcPts val="300"/>
              </a:spcAft>
            </a:pPr>
            <a:r>
              <a:rPr sz="1100" b="0">
                <a:solidFill>
                  <a:srgbClr val="2A2F36"/>
                </a:solidFill>
                <a:latin typeface="Calibri"/>
              </a:rPr>
              <a:t>•  Q3 butterflies, bees and two brown birds (Part 4)</a:t>
            </a:r>
          </a:p>
          <a:p>
            <a:pPr>
              <a:spcAft>
                <a:spcPts val="300"/>
              </a:spcAft>
            </a:pPr>
            <a:r>
              <a:rPr sz="1100" b="0">
                <a:solidFill>
                  <a:srgbClr val="2A2F36"/>
                </a:solidFill>
                <a:latin typeface="Calibri"/>
              </a:rPr>
              <a:t>•  Q4 they were really building a home for animals</a:t>
            </a:r>
          </a:p>
          <a:p>
            <a:pPr>
              <a:spcAft>
                <a:spcPts val="300"/>
              </a:spcAft>
            </a:pPr>
            <a:r>
              <a:rPr sz="1100" b="0">
                <a:solidFill>
                  <a:srgbClr val="2A2F36"/>
                </a:solidFill>
                <a:latin typeface="Calibri"/>
              </a:rPr>
              <a:t>      (Part 4)</a:t>
            </a:r>
          </a:p>
          <a:p>
            <a:pPr>
              <a:spcAft>
                <a:spcPts val="300"/>
              </a:spcAft>
            </a:pPr>
            <a:r>
              <a:rPr sz="1100" b="0">
                <a:solidFill>
                  <a:srgbClr val="2A2F36"/>
                </a:solidFill>
                <a:latin typeface="Calibri"/>
              </a:rPr>
              <a:t>•  Q5 it is now the busiest corner of the school</a:t>
            </a:r>
          </a:p>
          <a:p>
            <a:pPr>
              <a:spcAft>
                <a:spcPts val="300"/>
              </a:spcAft>
            </a:pPr>
            <a:r>
              <a:rPr sz="1100" b="0">
                <a:solidFill>
                  <a:srgbClr val="2A2F36"/>
                </a:solidFill>
                <a:latin typeface="Calibri"/>
              </a:rPr>
              <a:t>•  Inference: she keeps going even when it is hard</a:t>
            </a:r>
          </a:p>
          <a:p>
            <a:pPr>
              <a:spcAft>
                <a:spcPts val="300"/>
              </a:spcAft>
            </a:pPr>
            <a:r>
              <a:rPr sz="1100" b="0">
                <a:solidFill>
                  <a:srgbClr val="2A2F36"/>
                </a:solidFill>
                <a:latin typeface="Calibri"/>
              </a:rPr>
              <a:t>•  Word meanings: brought closer · a plan of who does</a:t>
            </a:r>
          </a:p>
          <a:p>
            <a:pPr>
              <a:spcAft>
                <a:spcPts val="300"/>
              </a:spcAft>
            </a:pPr>
            <a:r>
              <a:rPr sz="1100" b="0">
                <a:solidFill>
                  <a:srgbClr val="2A2F36"/>
                </a:solidFill>
                <a:latin typeface="Calibri"/>
              </a:rPr>
              <a:t>      what and when · removed things from</a:t>
            </a:r>
          </a:p>
        </p:txBody>
      </p:sp>
      <p:sp>
        <p:nvSpPr>
          <p:cNvPr id="16" name="Rounded Rectangle 15"/>
          <p:cNvSpPr/>
          <p:nvPr/>
        </p:nvSpPr>
        <p:spPr>
          <a:xfrm>
            <a:off x="6172200" y="1572768"/>
            <a:ext cx="557784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700784"/>
            <a:ext cx="5120640" cy="329184"/>
          </a:xfrm>
          <a:prstGeom prst="rect">
            <a:avLst/>
          </a:prstGeom>
          <a:noFill/>
        </p:spPr>
        <p:txBody>
          <a:bodyPr wrap="square">
            <a:spAutoFit/>
          </a:bodyPr>
          <a:lstStyle/>
          <a:p>
            <a:pPr algn="l"/>
            <a:r>
              <a:rPr sz="1300" b="1" i="0">
                <a:solidFill>
                  <a:srgbClr val="D08A0C"/>
                </a:solidFill>
                <a:latin typeface="Calibri"/>
              </a:rPr>
              <a:t>🖊️ Fix the News  ·  🏆 Final</a:t>
            </a:r>
          </a:p>
        </p:txBody>
      </p:sp>
      <p:sp>
        <p:nvSpPr>
          <p:cNvPr id="18" name="TextBox 17"/>
          <p:cNvSpPr txBox="1"/>
          <p:nvPr/>
        </p:nvSpPr>
        <p:spPr>
          <a:xfrm>
            <a:off x="6400800" y="2084831"/>
            <a:ext cx="5120640" cy="3931920"/>
          </a:xfrm>
          <a:prstGeom prst="rect">
            <a:avLst/>
          </a:prstGeom>
          <a:noFill/>
        </p:spPr>
        <p:txBody>
          <a:bodyPr wrap="square">
            <a:spAutoFit/>
          </a:bodyPr>
          <a:lstStyle/>
          <a:p>
            <a:pPr>
              <a:spcAft>
                <a:spcPts val="400"/>
              </a:spcAft>
            </a:pPr>
            <a:r>
              <a:rPr sz="1100" b="0">
                <a:solidFill>
                  <a:srgbClr val="2A2F36"/>
                </a:solidFill>
                <a:latin typeface="Calibri"/>
              </a:rPr>
              <a:t>•  1. The students plant flowers in the garden.</a:t>
            </a:r>
          </a:p>
          <a:p>
            <a:pPr>
              <a:spcAft>
                <a:spcPts val="400"/>
              </a:spcAft>
            </a:pPr>
            <a:r>
              <a:rPr sz="1100" b="0">
                <a:solidFill>
                  <a:srgbClr val="2A2F36"/>
                </a:solidFill>
                <a:latin typeface="Calibri"/>
              </a:rPr>
              <a:t>•  2. The reporter wrote a story yesterday.</a:t>
            </a:r>
          </a:p>
          <a:p>
            <a:pPr>
              <a:spcAft>
                <a:spcPts val="400"/>
              </a:spcAft>
            </a:pPr>
            <a:r>
              <a:rPr sz="1100" b="0">
                <a:solidFill>
                  <a:srgbClr val="2A2F36"/>
                </a:solidFill>
                <a:latin typeface="Calibri"/>
              </a:rPr>
              <a:t>•  3. Priya and her team work very hard.</a:t>
            </a:r>
          </a:p>
          <a:p>
            <a:pPr>
              <a:spcAft>
                <a:spcPts val="400"/>
              </a:spcAft>
            </a:pPr>
            <a:r>
              <a:rPr sz="1100" b="0">
                <a:solidFill>
                  <a:srgbClr val="2A2F36"/>
                </a:solidFill>
                <a:latin typeface="Calibri"/>
              </a:rPr>
              <a:t>•  4. The birds build a nest quickly.</a:t>
            </a:r>
          </a:p>
          <a:p>
            <a:pPr>
              <a:spcAft>
                <a:spcPts val="400"/>
              </a:spcAft>
            </a:pPr>
            <a:r>
              <a:rPr sz="1100" b="0">
                <a:solidFill>
                  <a:srgbClr val="2A2F36"/>
                </a:solidFill>
                <a:latin typeface="Calibri"/>
              </a:rPr>
              <a:t>•  5. We planted sunflowers, tomatoes, and beans.</a:t>
            </a:r>
          </a:p>
          <a:p>
            <a:pPr>
              <a:spcAft>
                <a:spcPts val="400"/>
              </a:spcAft>
            </a:pPr>
            <a:r>
              <a:rPr sz="1100" b="0">
                <a:solidFill>
                  <a:srgbClr val="2A2F36"/>
                </a:solidFill>
                <a:latin typeface="Calibri"/>
              </a:rPr>
              <a:t>•  6. Mr. Ellis asked a hard question.</a:t>
            </a:r>
          </a:p>
          <a:p>
            <a:pPr>
              <a:spcAft>
                <a:spcPts val="400"/>
              </a:spcAft>
            </a:pPr>
            <a:r>
              <a:rPr sz="1100" b="0">
                <a:solidFill>
                  <a:srgbClr val="2A2F36"/>
                </a:solidFill>
                <a:latin typeface="Calibri"/>
              </a:rPr>
              <a:t>•  Final 1: she reads INTERVIEW out loud</a:t>
            </a:r>
          </a:p>
          <a:p>
            <a:pPr>
              <a:spcAft>
                <a:spcPts val="400"/>
              </a:spcAft>
            </a:pPr>
            <a:r>
              <a:rPr sz="1100" b="0">
                <a:solidFill>
                  <a:srgbClr val="2A2F36"/>
                </a:solidFill>
                <a:latin typeface="Calibri"/>
              </a:rPr>
              <a:t>•  Final 2: the verb is WROTE</a:t>
            </a:r>
          </a:p>
          <a:p>
            <a:pPr>
              <a:spcAft>
                <a:spcPts val="400"/>
              </a:spcAft>
            </a:pPr>
            <a:r>
              <a:rPr sz="1100" b="0">
                <a:solidFill>
                  <a:srgbClr val="2A2F36"/>
                </a:solidFill>
                <a:latin typeface="Calibri"/>
              </a:rPr>
              <a:t>•  Final 3: The team won.</a:t>
            </a:r>
          </a:p>
          <a:p>
            <a:pPr>
              <a:spcAft>
                <a:spcPts val="400"/>
              </a:spcAft>
            </a:pPr>
            <a:r>
              <a:rPr sz="1100" b="0">
                <a:solidFill>
                  <a:srgbClr val="2A2F36"/>
                </a:solidFill>
                <a:latin typeface="Calibri"/>
              </a:rPr>
              <a:t>•  Final 4: butterflies, bees and birds</a:t>
            </a:r>
          </a:p>
          <a:p>
            <a:pPr>
              <a:spcAft>
                <a:spcPts val="400"/>
              </a:spcAft>
            </a:pPr>
            <a:r>
              <a:rPr sz="1100" b="0">
                <a:solidFill>
                  <a:srgbClr val="2A2F36"/>
                </a:solidFill>
                <a:latin typeface="Calibri"/>
              </a:rPr>
              <a:t>•  Final 5: any correct sentence using DISCOVER</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