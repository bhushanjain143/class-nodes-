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120640"/>
            <a:ext cx="777240" cy="77724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18520" y="5074920"/>
            <a:ext cx="777240" cy="77724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Dinosaur Discovery Reading 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ED6B4"/>
                </a:solidFill>
                <a:latin typeface="Calibri"/>
              </a:rPr>
              <a:t>Dig Into Reading!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246120"/>
            <a:ext cx="1508760" cy="1234440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D8C4"/>
                </a:solidFill>
                <a:latin typeface="Calibri"/>
              </a:rPr>
              <a:t>dinosaur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246120"/>
            <a:ext cx="1508760" cy="1234440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D8C4"/>
                </a:solidFill>
                <a:latin typeface="Calibri"/>
              </a:rPr>
              <a:t>egg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46120"/>
            <a:ext cx="1508760" cy="1234440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D8C4"/>
                </a:solidFill>
                <a:latin typeface="Calibri"/>
              </a:rPr>
              <a:t>rock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46120"/>
            <a:ext cx="1508760" cy="1234440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D8C4"/>
                </a:solidFill>
                <a:latin typeface="Calibri"/>
              </a:rPr>
              <a:t>volcano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3246120"/>
            <a:ext cx="1508760" cy="1234440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D8C4"/>
                </a:solidFill>
                <a:latin typeface="Calibri"/>
              </a:rPr>
              <a:t>jungle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3246120"/>
            <a:ext cx="1508760" cy="1234440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3410712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AD8C4"/>
                </a:solidFill>
                <a:latin typeface="Calibri"/>
              </a:rPr>
              <a:t>footprint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754880"/>
            <a:ext cx="6126480" cy="1051560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98348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Grade 2  •  90 Minutes  •  Reading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19088"/>
            <a:ext cx="19664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0–7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62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🦕 You Are the Dinosaur Reading Explorer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328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Today you are a Dinosaur Reading Explorer!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4937760" cy="41148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THAT'S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4857C"/>
                </a:solidFill>
                <a:latin typeface="Calibri"/>
              </a:rPr>
              <a:t>An explorer who reads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737360"/>
            <a:ext cx="6035040" cy="93268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0" y="1938528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99339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9339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We travel to five places today.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816352"/>
            <a:ext cx="6035040" cy="93268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301752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3072384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07238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Each place has one reading mission.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895344"/>
            <a:ext cx="6035040" cy="93268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40965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1513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5137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Every mission you finish earns a dino egg.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974336"/>
            <a:ext cx="6035040" cy="93268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43600" y="517550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230368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303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At the end you become a Dino Reading Champion.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🗺️ Our Dinosaur Mission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992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Five stops. One reading mission at each stop.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2103120" cy="320040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Dinosaur Valley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Sounds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4857C"/>
                </a:solidFill>
                <a:latin typeface="Calibri"/>
              </a:rPr>
              <a:t>0–17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34056" y="1783080"/>
            <a:ext cx="2103120" cy="320040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34056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5496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4FA8"/>
                </a:solidFill>
                <a:latin typeface="Calibri"/>
              </a:rPr>
              <a:t>Egg Cave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1216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Short vowels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08376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08376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4857C"/>
                </a:solidFill>
                <a:latin typeface="Calibri"/>
              </a:rPr>
              <a:t>17–27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0912" y="1783080"/>
            <a:ext cx="2103120" cy="320040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9A18"/>
                </a:solidFill>
                <a:latin typeface="Calibri"/>
              </a:rPr>
              <a:t>Dino Camp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Blending &amp; matching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85232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85232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4857C"/>
                </a:solidFill>
                <a:latin typeface="Calibri"/>
              </a:rPr>
              <a:t>27–49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7768" y="1783080"/>
            <a:ext cx="2103120" cy="32004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7768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9208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7A4B"/>
                </a:solidFill>
                <a:latin typeface="Calibri"/>
              </a:rPr>
              <a:t>Jungle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8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Words &amp; sentences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62088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62088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4857C"/>
                </a:solidFill>
                <a:latin typeface="Calibri"/>
              </a:rPr>
              <a:t>49–75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64624" y="1783080"/>
            <a:ext cx="2103120" cy="320040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64624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🏛️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2834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B"/>
                </a:solidFill>
                <a:latin typeface="Calibri"/>
              </a:rPr>
              <a:t>Fossil Museum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Story &amp; questions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38944" y="4251960"/>
            <a:ext cx="155448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38944" y="428853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4857C"/>
                </a:solidFill>
                <a:latin typeface="Calibri"/>
              </a:rPr>
              <a:t>75–90 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66360"/>
            <a:ext cx="11292840" cy="82296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39496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🌋  →  🥚  →  🦖  →  🌿  →  🏛️   Finish all five and you are a DINO READING CHAMPION!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🤝 How I Help You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656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377"/>
                </a:solidFill>
                <a:latin typeface="Calibri"/>
              </a:rPr>
              <a:t>You never read alone. Here is how it 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5440680" cy="178308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23774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4688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194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377"/>
                </a:solidFill>
                <a:latin typeface="Calibri"/>
              </a:rPr>
              <a:t>Dino Hint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743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302A"/>
                </a:solidFill>
                <a:latin typeface="Calibri"/>
              </a:rPr>
              <a:t>A hint is always waiting when a word looks hard.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440680" cy="178308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4808" y="237744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302A"/>
                </a:solidFill>
                <a:latin typeface="Calibri"/>
              </a:rPr>
              <a:t>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1945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377"/>
                </a:solidFill>
                <a:latin typeface="Calibri"/>
              </a:rPr>
              <a:t>Dino Help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4320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302A"/>
                </a:solidFill>
                <a:latin typeface="Calibri"/>
              </a:rPr>
              <a:t>We start together. You are never reading alone.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5440680" cy="178308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389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805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302A"/>
                </a:solidFill>
                <a:latin typeface="Calibri"/>
              </a:rPr>
              <a:t>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206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377"/>
                </a:solidFill>
                <a:latin typeface="Calibri"/>
              </a:rPr>
              <a:t>Dino 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302A"/>
                </a:solidFill>
                <a:latin typeface="Calibri"/>
              </a:rPr>
              <a:t>Then you try it, and I go quiet.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840480"/>
            <a:ext cx="5440680" cy="178308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4808" y="4389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4805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302A"/>
                </a:solidFill>
                <a:latin typeface="Calibri"/>
              </a:rPr>
              <a:t>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2062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377"/>
                </a:solidFill>
                <a:latin typeface="Calibri"/>
              </a:rPr>
              <a:t>Dino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75488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302A"/>
                </a:solidFill>
                <a:latin typeface="Calibri"/>
              </a:rPr>
              <a:t>Finished early? There is always one more.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all four out loud. Knowing help is coming makes him braver.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WARM-UP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🌋 Picture Talk — Dinosaur Valley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320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Just look and talk. No reading yet!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dinosaur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egg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938528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62656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0632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rock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40479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302A"/>
                </a:solidFill>
                <a:latin typeface="Calibri"/>
              </a:rPr>
              <a:t>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8016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volcano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840479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302A"/>
                </a:solidFill>
                <a:latin typeface="Calibri"/>
              </a:rPr>
              <a:t>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jungle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840479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4041647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5065775"/>
            <a:ext cx="192024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5166359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footprint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532C"/>
                </a:solidFill>
                <a:latin typeface="Calibri"/>
              </a:rPr>
              <a:t>🗣️ SPEAKING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Point at whatever he names. Pointing back shows you are listening.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0–7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🗣️ Talk About the Valley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7984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0–7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Answer out loud. Try a whole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0515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391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0939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🗣️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0848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261C"/>
                </a:solidFill>
                <a:latin typeface="Calibri"/>
              </a:rPr>
              <a:t>What do you see?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0515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3911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09397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08483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261C"/>
                </a:solidFill>
                <a:latin typeface="Calibri"/>
              </a:rPr>
              <a:t>Is the dinosaur big or small?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17520"/>
            <a:ext cx="5440680" cy="10515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2735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2841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31927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261C"/>
                </a:solidFill>
                <a:latin typeface="Calibri"/>
              </a:rPr>
              <a:t>What color is the egg?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17520"/>
            <a:ext cx="5440680" cy="10515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27355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328416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319272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261C"/>
                </a:solidFill>
                <a:latin typeface="Calibri"/>
              </a:rPr>
              <a:t>Can you find the rock?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43400"/>
            <a:ext cx="5440680" cy="10058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590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I see a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343400"/>
            <a:ext cx="5440680" cy="10058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5902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The dino is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If he answers with one word, say it back as a full sentence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🔊 Beginning Sounds — Listen and Say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37648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I say the sound. You say it back to 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1C"/>
                </a:solidFill>
                <a:latin typeface="Arial Black"/>
              </a:rPr>
              <a:t>DINOSAUR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532C"/>
                </a:solidFill>
                <a:latin typeface="Calibri"/>
              </a:rPr>
              <a:t>D  says  /d/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178308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1C"/>
                </a:solidFill>
                <a:latin typeface="Arial Black"/>
              </a:rPr>
              <a:t>EGG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532C"/>
                </a:solidFill>
                <a:latin typeface="Calibri"/>
              </a:rPr>
              <a:t>E  says  /e/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78308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1911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55117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1C"/>
                </a:solidFill>
                <a:latin typeface="Arial Black"/>
              </a:rPr>
              <a:t>FOOTPRINT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02666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11810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532C"/>
                </a:solidFill>
                <a:latin typeface="Calibri"/>
              </a:rPr>
              <a:t>F  says  /f/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88620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1C"/>
                </a:solidFill>
                <a:latin typeface="Arial Black"/>
              </a:rPr>
              <a:t>ROCK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532C"/>
                </a:solidFill>
                <a:latin typeface="Calibri"/>
              </a:rPr>
              <a:t>R  says  /r/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60" y="388620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1C"/>
                </a:solidFill>
                <a:latin typeface="Arial Black"/>
              </a:rPr>
              <a:t>TAIL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532C"/>
                </a:solidFill>
                <a:latin typeface="Calibri"/>
              </a:rPr>
              <a:t>T  says  /t/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886200"/>
            <a:ext cx="3566160" cy="192024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401421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65429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261C"/>
                </a:solidFill>
                <a:latin typeface="Arial Black"/>
              </a:rPr>
              <a:t>BONE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23960" y="5129784"/>
            <a:ext cx="201168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52212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532C"/>
                </a:solidFill>
                <a:latin typeface="Calibri"/>
              </a:rPr>
              <a:t>B  says  /b/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Say the sound, not the letter name. Stretch it: ddddd.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Game: Follow the First Sound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57312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Which picture STARTS with the letter on the footprint?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fish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dino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bone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48097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48828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69080" y="46268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🦎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tail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6268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6268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dino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Say each picture name out loud first. Stretch the first sound.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Follow the First Sound — Steps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76976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Three more steps. The dino moves with every right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bone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footprint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tail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48097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48828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F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69080" y="46268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90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dino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46268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footprint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8280" y="46268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828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9828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bone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Too many choices? Cover one with your hand and leave only two.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First Sound Challenge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96640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Two last steps. Then the dino reaches the valley edge!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0665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1396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mud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bone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8836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sun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3438144"/>
            <a:ext cx="15544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3511296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690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sun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98280" y="3255264"/>
            <a:ext cx="228600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526280"/>
            <a:ext cx="11292840" cy="1170432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4515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A4B"/>
                </a:solidFill>
                <a:latin typeface="Calibri"/>
              </a:rPr>
              <a:t>⭐ DINO CHALLENGE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2261C"/>
                </a:solidFill>
                <a:latin typeface="Calibri"/>
              </a:rPr>
              <a:t>Can you think of one more word that starts with /d/?  How about /b/?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Any real word counts, even one with nothing to do with dinosaurs.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🔚 Ending Sounds — What Do You Hear Last?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16304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377"/>
                </a:solidFill>
                <a:latin typeface="Calibri"/>
              </a:rPr>
              <a:t>Say the word. Now listen only to the LAST sound.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0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61488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85616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14216"/>
            <a:ext cx="457200" cy="457200"/>
          </a:xfrm>
          <a:prstGeom prst="ellipse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038344"/>
            <a:ext cx="457200" cy="457200"/>
          </a:xfrm>
          <a:prstGeom prst="ellipse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93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901952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Arial Black"/>
              </a:rPr>
              <a:t>BAG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1911096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1984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/g/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7728" y="1911096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1984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/t/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1911096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98424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/p/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926080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294436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Arial Black"/>
              </a:rPr>
              <a:t>HAT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935224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008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/p/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67728" y="2935224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3008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/t/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63456" y="2935224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6" y="300837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/n/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3950208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396849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Arial Black"/>
              </a:rPr>
              <a:t>SUN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0" y="3959352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0325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/m/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67728" y="3959352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40325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/n/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63456" y="3959352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3456" y="40325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/g/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4974336"/>
            <a:ext cx="822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99262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Arial Black"/>
              </a:rPr>
              <a:t>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4983480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0" y="5056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/g/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67728" y="4983480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67728" y="5056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/d/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63456" y="4983480"/>
            <a:ext cx="2194560" cy="56692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3456" y="5056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8377"/>
                </a:solidFill>
                <a:latin typeface="Arial Black"/>
              </a:rPr>
              <a:t>/k/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Whisper the word, then say the last sound loudly: ba-G!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7–17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🌋 Sound Check — Dinosaur Valley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35968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Dinosaur Valley  |  7–17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Read all six sounds with me,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737360" cy="23774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651760"/>
            <a:ext cx="1188720" cy="65836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/d/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1C"/>
                </a:solidFill>
                <a:latin typeface="Calibri"/>
              </a:rPr>
              <a:t>DINOSAUR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59152" y="1828800"/>
            <a:ext cx="1737360" cy="23774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33472" y="2651760"/>
            <a:ext cx="1188720" cy="65836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33472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1828800"/>
            <a:ext cx="1737360" cy="23774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1104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5424" y="2651760"/>
            <a:ext cx="1188720" cy="65836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/f/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6824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1C"/>
                </a:solidFill>
                <a:latin typeface="Calibri"/>
              </a:rPr>
              <a:t>FOOTPRINT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1828800"/>
            <a:ext cx="1737360" cy="23774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2651760"/>
            <a:ext cx="1188720" cy="65836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/r/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8776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1828800"/>
            <a:ext cx="1737360" cy="23774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🦎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9328" y="2651760"/>
            <a:ext cx="1188720" cy="65836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8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/t/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8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1C"/>
                </a:solidFill>
                <a:latin typeface="Calibri"/>
              </a:rPr>
              <a:t>TAIL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1828800"/>
            <a:ext cx="1737360" cy="23774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01168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41280" y="2651760"/>
            <a:ext cx="1188720" cy="65836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276148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/b/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345643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61C"/>
                </a:solidFill>
                <a:latin typeface="Calibri"/>
              </a:rPr>
              <a:t>BONE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480560"/>
            <a:ext cx="11292840" cy="12344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803A"/>
                </a:solidFill>
                <a:latin typeface="Calibri"/>
              </a:rPr>
              <a:t>🥚 DINO EGG EARNED — Dinosaur Valley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2261C"/>
                </a:solidFill>
                <a:latin typeface="Calibri"/>
              </a:rPr>
              <a:t>You can hear the first and last sound in a word. Next stop: Egg Cave, where words hide inside eggs.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Go left to right, two seconds per sound. Keep it quick and fun.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🥚 Short Vowels — Four Dino Eggs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55632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Egg Cave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FA8"/>
                </a:solidFill>
                <a:latin typeface="Calibri"/>
              </a:rPr>
              <a:t>Every word has a sound hiding in the middle.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2514600" cy="3749039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651760"/>
            <a:ext cx="1234440" cy="1051560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9532C"/>
                </a:solidFill>
                <a:latin typeface="Calibri"/>
              </a:rPr>
              <a:t>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783080"/>
            <a:ext cx="2514600" cy="374903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651760"/>
            <a:ext cx="1234440" cy="1051560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🛏️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7A4B"/>
                </a:solidFill>
                <a:latin typeface="Calibri"/>
              </a:rPr>
              <a:t>bed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1783080"/>
            <a:ext cx="2514600" cy="3749039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651760"/>
            <a:ext cx="1234440" cy="1051560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28377"/>
                </a:solidFill>
                <a:latin typeface="Calibri"/>
              </a:rPr>
              <a:t>sit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783080"/>
            <a:ext cx="2514600" cy="3749039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96596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2651760"/>
            <a:ext cx="1234440" cy="1051560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2788920"/>
            <a:ext cx="1234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840480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4572000"/>
            <a:ext cx="160020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09760" y="467258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B4FA8"/>
                </a:solidFill>
                <a:latin typeface="Calibri"/>
              </a:rPr>
              <a:t>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Stretch the middle: m-aaa-p. That is the sound he is listening for.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🥚 Game: What's Inside the Egg?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75296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Egg Cave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FA8"/>
                </a:solidFill>
                <a:latin typeface="Calibri"/>
              </a:rPr>
              <a:t>Read the word. Then crack it open — which picture is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019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/b/ /e/ /d/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🛏️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7728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73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/m/ /a/ /p/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hat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67728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8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map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3456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6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6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451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SIT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/s/ /i/ /t/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46268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6634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1937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sun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67728" y="46268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67728" y="46634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51937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63456" y="46268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3456" y="46634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3456" y="51937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sit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Sound out every letter before he looks at the pictures.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🥚 What's Inside the Egg? — Eggs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294960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Egg Cave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FA8"/>
                </a:solidFill>
                <a:latin typeface="Calibri"/>
              </a:rPr>
              <a:t>Three more eggs to crack.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19019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/l/ /o/ /g/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67728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7728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🛏️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63456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63456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6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cat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3273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/r/ /e/ /d/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red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67728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7728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green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3456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6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6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mud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46451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HOT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230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/h/ /o/ /t/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0" y="46268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6634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1937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wet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67728" y="46268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67728" y="46634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7728" y="51937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hot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63456" y="46268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3456" y="46634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3456" y="51937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Cover the pictures with your hand until he has read the word.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⭐ Egg Cave Bonus — Two Golden Eggs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14624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Egg Cave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Bonus round! These two eggs are golden.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0116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019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BIG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4871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/b/ /i/ /g/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small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67728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67728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63456" y="18836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456" y="19202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3456" y="24505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print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38328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273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B4FA8"/>
                </a:solidFill>
                <a:latin typeface="Arial Black"/>
              </a:rPr>
              <a:t>CAT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858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4857C"/>
                </a:solidFill>
                <a:latin typeface="Calibri"/>
              </a:rPr>
              <a:t>/k/ /a/ /t/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cat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67728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67728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63456" y="3255264"/>
            <a:ext cx="219456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3291840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6" y="382219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hat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Skip this if he is tired. It is a bonus, not a requirement.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🦖 Dino Words We Will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34288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Egg Cave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377"/>
                </a:solidFill>
                <a:latin typeface="Calibri"/>
              </a:rPr>
              <a:t>Every word today comes from this list. Nothing new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dino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59152" y="182880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6312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egg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1104" y="182880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1104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8264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dig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82880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3056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0216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182880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02168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02168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hot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182880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193852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248716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25603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15468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mud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59152" y="315468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96312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96312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sun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61104" y="315468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61104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98264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8264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run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3056" y="315468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63056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0216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0216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65008" y="315468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5008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02168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02168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wet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66960" y="315468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66960" y="326440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⬆️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04120" y="381304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04120" y="38862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top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48056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map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59152" y="448056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59152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🎒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496312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96312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bag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61104" y="448056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61104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398264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8264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hat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63056" y="448056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63056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🪑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300216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00216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sit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65008" y="448056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065008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02168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02168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fin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966960" y="4480560"/>
            <a:ext cx="1737360" cy="120700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966960" y="45902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🐸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04120" y="5138928"/>
            <a:ext cx="146304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104120" y="521208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hop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them across in a rhythm. He joins in wherever he can.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17–27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🥚 Egg Cave 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53952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Egg Cave  |  17–27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Look what was hiding inside those eggs.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1783080"/>
            <a:ext cx="2514600" cy="22860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542032"/>
            <a:ext cx="1234440" cy="731520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65176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3401568"/>
            <a:ext cx="1600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4930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7A4B"/>
                </a:solidFill>
                <a:latin typeface="Calibri"/>
              </a:rPr>
              <a:t>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1783080"/>
            <a:ext cx="2514600" cy="22860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1920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2542032"/>
            <a:ext cx="1234440" cy="731520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265176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3401568"/>
            <a:ext cx="1600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4930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7A4B"/>
                </a:solidFill>
                <a:latin typeface="Calibri"/>
              </a:rPr>
              <a:t>bed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783080"/>
            <a:ext cx="2514600" cy="22860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920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542032"/>
            <a:ext cx="1234440" cy="731520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65176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3401568"/>
            <a:ext cx="1600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4930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7A4B"/>
                </a:solidFill>
                <a:latin typeface="Calibri"/>
              </a:rPr>
              <a:t>sit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1783080"/>
            <a:ext cx="2514600" cy="22860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192024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2542032"/>
            <a:ext cx="1234440" cy="731520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2651760"/>
            <a:ext cx="1234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 Black"/>
              </a:rPr>
              <a:t>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3401568"/>
            <a:ext cx="160020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49300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7A4B"/>
                </a:solidFill>
                <a:latin typeface="Calibri"/>
              </a:rPr>
              <a:t>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343400"/>
            <a:ext cx="11292840" cy="12801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803A"/>
                </a:solidFill>
                <a:latin typeface="Calibri"/>
              </a:rPr>
              <a:t>🥚 DINO EGG EARNED — Egg Cave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892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2261C"/>
                </a:solidFill>
                <a:latin typeface="Calibri"/>
              </a:rPr>
              <a:t>You read whole words by yourself. Next stop: Dino Camp, where we build words out of footprints.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Say all four words once more, quickly, before moving 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🦖 Our Six Steps for a Hard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73616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When a word looks hard, we always do these six steps.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1874519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002536"/>
            <a:ext cx="566928" cy="566928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84832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0208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532C"/>
                </a:solidFill>
                <a:latin typeface="Arial Black"/>
              </a:rPr>
              <a:t>I SAY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Teacher says the sound.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44952"/>
            <a:ext cx="30175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45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Calibri"/>
              </a:rPr>
              <a:t>/d/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783080"/>
            <a:ext cx="3566160" cy="1874519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80560" y="2002536"/>
            <a:ext cx="566928" cy="566928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2084832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0208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99A18"/>
                </a:solidFill>
                <a:latin typeface="Arial Black"/>
              </a:rPr>
              <a:t>YOU 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You say it back to 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044952"/>
            <a:ext cx="30175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145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9A18"/>
                </a:solidFill>
                <a:latin typeface="Calibri"/>
              </a:rPr>
              <a:t>/d/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783080"/>
            <a:ext cx="3566160" cy="1874519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75320" y="2002536"/>
            <a:ext cx="566928" cy="566928"/>
          </a:xfrm>
          <a:prstGeom prst="ellipse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084832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0208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8377"/>
                </a:solidFill>
                <a:latin typeface="Arial Black"/>
              </a:rPr>
              <a:t>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651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Point to each letter.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044952"/>
            <a:ext cx="30175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1455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8377"/>
                </a:solidFill>
                <a:latin typeface="Calibri"/>
              </a:rPr>
              <a:t>D  I  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40480"/>
            <a:ext cx="3566160" cy="1874519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4059936"/>
            <a:ext cx="566928" cy="566928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142232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40782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7B4FA8"/>
                </a:solidFill>
                <a:latin typeface="Arial Black"/>
              </a:rPr>
              <a:t>BLEND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09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Push the sounds together.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102352"/>
            <a:ext cx="30175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2029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B4FA8"/>
                </a:solidFill>
                <a:latin typeface="Calibri"/>
              </a:rPr>
              <a:t>d-i-g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3840480"/>
            <a:ext cx="356616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80560" y="4059936"/>
            <a:ext cx="566928" cy="566928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142232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40782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7A4B"/>
                </a:solidFill>
                <a:latin typeface="Arial Black"/>
              </a:rPr>
              <a:t>READ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709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Read the whole word.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0" y="5102352"/>
            <a:ext cx="30175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0" y="52029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7A4B"/>
                </a:solidFill>
                <a:latin typeface="Calibri"/>
              </a:rPr>
              <a:t>DIG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3840480"/>
            <a:ext cx="3566160" cy="1874519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75320" y="4059936"/>
            <a:ext cx="566928" cy="56692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4142232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40782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A5A6B"/>
                </a:solidFill>
                <a:latin typeface="Arial Black"/>
              </a:rPr>
              <a:t>USE 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709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Use it in a sentence.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5102352"/>
            <a:ext cx="30175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0" y="520293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B"/>
                </a:solidFill>
                <a:latin typeface="Calibri"/>
              </a:rPr>
              <a:t>I can dig.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Never skip step 6. Using the word is what makes it stick.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Game: Dino Footprint Blend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393280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Say each sound. Then say the whole word fast.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/k/  /a/  /t/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532C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CAT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/m/  /a/  /p/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9A18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377"/>
                </a:solidFill>
                <a:latin typeface="Arial Black"/>
              </a:rPr>
              <a:t>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377"/>
                </a:solidFill>
                <a:latin typeface="Arial Black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377"/>
                </a:solidFill>
                <a:latin typeface="Arial Black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/d/  /i/  /g/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28377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377"/>
                </a:solidFill>
                <a:latin typeface="Arial Black"/>
              </a:rPr>
              <a:t>DIG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Cover the last letter so he blends only two sounds first.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Footprint Blend — Three More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129445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The dino moves one step for every word you blend.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4B"/>
                </a:solidFill>
                <a:latin typeface="Arial Black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4B"/>
                </a:solidFill>
                <a:latin typeface="Arial Black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4B"/>
                </a:solidFill>
                <a:latin typeface="Arial Black"/>
              </a:rPr>
              <a:t>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/b/  /i/  /g/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7A4B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4B"/>
                </a:solidFill>
                <a:latin typeface="Arial Black"/>
              </a:rPr>
              <a:t>BIG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/h/  /o/  /t/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532C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HOT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03A"/>
                </a:solidFill>
                <a:latin typeface="Arial Black"/>
              </a:rPr>
              <a:t>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03A"/>
                </a:solidFill>
                <a:latin typeface="Arial Black"/>
              </a:rPr>
              <a:t>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03A"/>
                </a:solidFill>
                <a:latin typeface="Arial Black"/>
              </a:rPr>
              <a:t>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/l/  /o/  /g/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8803A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03A"/>
                </a:solidFill>
                <a:latin typeface="Arial Black"/>
              </a:rPr>
              <a:t>LOG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Slide your finger under the letters, then sweep it fast.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Footprint Blend — The Last Three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326085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Three left. Then the dino is across the camp!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29968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FA8"/>
                </a:solidFill>
                <a:latin typeface="Arial Black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FA8"/>
                </a:solidFill>
                <a:latin typeface="Arial Black"/>
              </a:rPr>
              <a:t>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176272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65960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2048256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FA8"/>
                </a:solidFill>
                <a:latin typeface="Arial Black"/>
              </a:rPr>
              <a:t>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15798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/r/  /u/  /n/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B4FA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1965960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0482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FA8"/>
                </a:solidFill>
                <a:latin typeface="Arial Black"/>
              </a:rPr>
              <a:t>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27248"/>
            <a:ext cx="11292840" cy="122529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419856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3566160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355848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438144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478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/s/  /u/  /n/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9A18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355848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438144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SUN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517136"/>
            <a:ext cx="11292840" cy="1225296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809744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⬆️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2880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5A6B"/>
                </a:solidFill>
                <a:latin typeface="Arial Black"/>
              </a:rPr>
              <a:t>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36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4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6324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5A6B"/>
                </a:solidFill>
                <a:latin typeface="Arial Black"/>
              </a:rPr>
              <a:t>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4956048"/>
            <a:ext cx="164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745736"/>
            <a:ext cx="10515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4828032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5A6B"/>
                </a:solidFill>
                <a:latin typeface="Arial Black"/>
              </a:rPr>
              <a:t>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37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4857C"/>
                </a:solidFill>
                <a:latin typeface="Calibri"/>
              </a:rPr>
              <a:t>/t/  /o/  /p/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901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5A6B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745736"/>
            <a:ext cx="2834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482803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5A6B"/>
                </a:solidFill>
                <a:latin typeface="Arial Black"/>
              </a:rPr>
              <a:t>TOP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4360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99846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8920" y="598932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These all have the U and O sounds. Stretch the middle.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🦖 Game: Which Word Is Right?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522725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Only ONE word matches the picture. Read all three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20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61488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2990088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44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85616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014216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112928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5038344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93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1883664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1911096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197510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CAT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911096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197510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CAG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1911096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197510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CAB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2907792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2935224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9992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DIP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2935224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29992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DIG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2935224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9992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DIB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3931920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34640" y="3959352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40233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SUN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3959352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40233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SUM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86800" y="3959352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40233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SUP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95604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34640" y="4983480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50474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LOD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4983480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0" y="50474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86800" y="4983480"/>
            <a:ext cx="2697480" cy="56692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50474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261C"/>
                </a:solidFill>
                <a:latin typeface="Arial Black"/>
              </a:rPr>
              <a:t>LOP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The words look almost the same. Check the last letter carefully.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27–37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🦕 No Footprints — Just Read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719365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27–37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This time there are no letter cards. You can do it!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352044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DIG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783080"/>
            <a:ext cx="352044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5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5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BIG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1783080"/>
            <a:ext cx="352044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9" y="1947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799" y="26974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9" y="28072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HOT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40480"/>
            <a:ext cx="352044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840480"/>
            <a:ext cx="352044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5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5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840480"/>
            <a:ext cx="3520440" cy="1874519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40050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799" y="4754880"/>
            <a:ext cx="22402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799" y="486460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7A4B"/>
                </a:solidFill>
                <a:latin typeface="Arial Black"/>
              </a:rPr>
              <a:t>SUN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If he stalls, put your finger under the first letter. Say nothing.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🦴 Fossil Word Match — 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4916006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803A"/>
                </a:solidFill>
                <a:latin typeface="Calibri"/>
              </a:rPr>
              <a:t>A fossil holds a word. Find the picture that goes with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3017520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74520" y="2011680"/>
            <a:ext cx="731520" cy="731520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20" y="2139696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532C"/>
                </a:solidFill>
                <a:latin typeface="Arial Black"/>
              </a:rPr>
              <a:t>READ THE FOSSIL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965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Sound out the word on the bone.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3017520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69280" y="2011680"/>
            <a:ext cx="731520" cy="73152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2139696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880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584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99A18"/>
                </a:solidFill>
                <a:latin typeface="Arial Black"/>
              </a:rPr>
              <a:t>LOOK AT THE PICTURES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0965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Three pictures are waiting.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3017520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64040" y="2011680"/>
            <a:ext cx="731520" cy="73152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2139696"/>
            <a:ext cx="731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8803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584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7A4B"/>
                </a:solidFill>
                <a:latin typeface="Arial Black"/>
              </a:rPr>
              <a:t>MAKE THE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0965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302A"/>
                </a:solidFill>
                <a:latin typeface="Calibri"/>
              </a:rPr>
              <a:t>Point to the one that fits.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83480"/>
            <a:ext cx="11292840" cy="74980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17550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Reading the word FIRST is the whole game. The picture is the reward, not the clue.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the fossil word yourself once, then hand it over to him.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🦴 Game: Find the Fossil Match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112646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803A"/>
                </a:solidFill>
                <a:latin typeface="Calibri"/>
              </a:rPr>
              <a:t>Read the fossil. Point to the picture that matches.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2011680"/>
            <a:ext cx="1691640" cy="676656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2112264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DIG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18836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sun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18836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dig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18836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3383280"/>
            <a:ext cx="1691640" cy="676656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483864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BIG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32552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01968" y="32552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small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89136" y="32552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9136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9136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03120" y="4754880"/>
            <a:ext cx="1691640" cy="676656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4855464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SUN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0" y="46268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mud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01968" y="46268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8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rock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89136" y="46268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89136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☀️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89136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sun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the word, then say it again while looking at the pictures.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🦴 Find the Fossil Match — Fossils 4 to 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309286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8803A"/>
                </a:solidFill>
                <a:latin typeface="Calibri"/>
              </a:rPr>
              <a:t>Three more fossils for the museum.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121408"/>
            <a:ext cx="457200" cy="457200"/>
          </a:xfrm>
          <a:prstGeom prst="ellipse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78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92840" cy="12252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4864608"/>
            <a:ext cx="457200" cy="457200"/>
          </a:xfrm>
          <a:prstGeom prst="ellipse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20116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2011680"/>
            <a:ext cx="1691640" cy="676656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2112264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EGG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18836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egg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1968" y="18836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89136" y="18836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19202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4505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bag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33832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3120" y="3383280"/>
            <a:ext cx="1691640" cy="676656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483864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32552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hat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01968" y="32552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1968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1968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log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89136" y="32552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89136" y="32918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9136" y="38221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hop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754880"/>
            <a:ext cx="731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03120" y="4754880"/>
            <a:ext cx="1691640" cy="676656"/>
          </a:xfrm>
          <a:prstGeom prst="roundRect">
            <a:avLst/>
          </a:prstGeom>
          <a:solidFill>
            <a:srgbClr val="B88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4855464"/>
            <a:ext cx="1691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MUD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0" y="46268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0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mud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01968" y="46268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8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red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89136" y="4626864"/>
            <a:ext cx="2286000" cy="932688"/>
          </a:xfrm>
          <a:prstGeom prst="roundRect">
            <a:avLst/>
          </a:prstGeom>
          <a:solidFill>
            <a:srgbClr val="F7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89136" y="466344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89136" y="5193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2261C"/>
                </a:solidFill>
                <a:latin typeface="Calibri"/>
              </a:rPr>
              <a:t>map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Wrong pick? Say "nearly" and ask him to read the word once more.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37–44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⭐ Fossil Challenge — Name the Dino Parts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505926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37–44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FA8"/>
                </a:solidFill>
                <a:latin typeface="Calibri"/>
              </a:rPr>
              <a:t>Four museum fossils. Read each one out 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828800"/>
            <a:ext cx="2651760" cy="29260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08960"/>
            <a:ext cx="22860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18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Arial Black"/>
              </a:rPr>
              <a:t>BONE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69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4857C"/>
                </a:solidFill>
                <a:latin typeface="Calibri"/>
              </a:rPr>
              <a:t>say it · use 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828800"/>
            <a:ext cx="2651760" cy="29260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84448" y="3108960"/>
            <a:ext cx="22860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4448" y="3218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Arial Black"/>
              </a:rPr>
              <a:t>FOOTPRINT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67328" y="3977639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8" y="4069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4857C"/>
                </a:solidFill>
                <a:latin typeface="Calibri"/>
              </a:rPr>
              <a:t>say it · use 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1828800"/>
            <a:ext cx="2651760" cy="29260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7376" y="3108960"/>
            <a:ext cx="22860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3218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Arial Black"/>
              </a:rPr>
              <a:t>TAIL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0256" y="3977639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0256" y="4069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4857C"/>
                </a:solidFill>
                <a:latin typeface="Calibri"/>
              </a:rPr>
              <a:t>say it · use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07424" y="1828800"/>
            <a:ext cx="2651760" cy="29260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7424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0304" y="3108960"/>
            <a:ext cx="228600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4" y="32186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Arial Black"/>
              </a:rPr>
              <a:t>CLAW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73184" y="3977639"/>
            <a:ext cx="19202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73184" y="4069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4857C"/>
                </a:solidFill>
                <a:latin typeface="Calibri"/>
              </a:rPr>
              <a:t>say it · use 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983480"/>
            <a:ext cx="11292840" cy="74980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17550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⭐ DINO CHALLENGE:  Use one of these words in a sentence about your dino.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FOOTPRINT is long. Cover half: foot + print. Then join them.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🧠 Brain Break — Dino Says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702567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377"/>
                </a:solidFill>
                <a:latin typeface="Calibri"/>
              </a:rPr>
              <a:t>Stay in your seat. Only move when Dino says!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120640" cy="402336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28377"/>
                </a:solidFill>
                <a:latin typeface="Arial Black"/>
              </a:rPr>
              <a:t>DINO SAYS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4857C"/>
                </a:solidFill>
                <a:latin typeface="Calibri"/>
              </a:rPr>
              <a:t>5 minutes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1737360"/>
            <a:ext cx="5852160" cy="8778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19202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75104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975104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1C"/>
                </a:solidFill>
                <a:latin typeface="Calibri"/>
              </a:rPr>
              <a:t>"Dino says clap" → you clap.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2761488"/>
            <a:ext cx="5852160" cy="8778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80" y="294436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999232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999232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1C"/>
                </a:solidFill>
                <a:latin typeface="Calibri"/>
              </a:rPr>
              <a:t>Just "clap" → you do nothing.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3785616"/>
            <a:ext cx="5852160" cy="8778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0" y="396849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023360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2336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1C"/>
                </a:solidFill>
                <a:latin typeface="Calibri"/>
              </a:rPr>
              <a:t>Stay beside your chair the whole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4809744"/>
            <a:ext cx="5852160" cy="8778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126480" y="499262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047488"/>
            <a:ext cx="5120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22302A"/>
                </a:solidFill>
                <a:latin typeface="Calibri"/>
              </a:rPr>
              <a:t>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04748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261C"/>
                </a:solidFill>
                <a:latin typeface="Calibri"/>
              </a:rPr>
              <a:t>Some commands are reading commands too.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Let him be the caller for the last two rounds. He will love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44–49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🦖 Dino Says — Six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5899207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Dino Camp  |  44–49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377"/>
                </a:solidFill>
                <a:latin typeface="Calibri"/>
              </a:rPr>
              <a:t>Listen carefully. Did Dino really say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0939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6712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2302A"/>
                </a:solidFill>
                <a:latin typeface="Calibri"/>
              </a:rPr>
              <a:t>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148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Dino says clap two times.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0939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16712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2302A"/>
                </a:solidFill>
                <a:latin typeface="Calibri"/>
              </a:rPr>
              <a:t>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1488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Dino says tap your desk.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4655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3872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2302A"/>
                </a:solidFill>
                <a:latin typeface="Calibri"/>
              </a:rPr>
              <a:t>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5204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Dino says point to the word BIG.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4655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3872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2302A"/>
                </a:solidFill>
                <a:latin typeface="Calibri"/>
              </a:rPr>
              <a:t>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5204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Dino says say the /d/ sound.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8371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1032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2302A"/>
                </a:solidFill>
                <a:latin typeface="Calibri"/>
              </a:rPr>
              <a:t>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8920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Dino says read the word CAT.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837176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1032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8920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261C"/>
                </a:solidFill>
                <a:latin typeface="Calibri"/>
              </a:rPr>
              <a:t>Dino says make a dinosaur roar!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Mix in one command WITHOUT "Dino says" to keep him listening.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👨‍👩‍👧 Dino Word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095847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Same ending sound = word family friends.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51760" cy="35661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2011680"/>
            <a:ext cx="1737360" cy="731520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2907792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532C"/>
                </a:solidFill>
                <a:latin typeface="Calibri"/>
              </a:rPr>
              <a:t>cat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493008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57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532C"/>
                </a:solidFill>
                <a:latin typeface="Calibri"/>
              </a:rPr>
              <a:t>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078224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42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532C"/>
                </a:solidFill>
                <a:latin typeface="Calibri"/>
              </a:rPr>
              <a:t>bat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663440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274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532C"/>
                </a:solidFill>
                <a:latin typeface="Calibri"/>
              </a:rPr>
              <a:t>sat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1783080"/>
            <a:ext cx="2651760" cy="356616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58768" y="2011680"/>
            <a:ext cx="1737360" cy="731520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3048" y="2907792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13048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377"/>
                </a:solidFill>
                <a:latin typeface="Calibri"/>
              </a:rPr>
              <a:t>big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3048" y="3493008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13048" y="3557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377"/>
                </a:solidFill>
                <a:latin typeface="Calibri"/>
              </a:rPr>
              <a:t>dig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13048" y="4078224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13048" y="4142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28377"/>
                </a:solidFill>
                <a:latin typeface="Calibri"/>
              </a:rPr>
              <a:t>pig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54496" y="1783080"/>
            <a:ext cx="2651760" cy="35661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11696" y="2011680"/>
            <a:ext cx="1737360" cy="731520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65976" y="2907792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5976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9A18"/>
                </a:solidFill>
                <a:latin typeface="Calibri"/>
              </a:rPr>
              <a:t>sun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5976" y="3493008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5976" y="3557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9A18"/>
                </a:solidFill>
                <a:latin typeface="Calibri"/>
              </a:rPr>
              <a:t>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5976" y="4078224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65976" y="4142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D99A18"/>
                </a:solidFill>
                <a:latin typeface="Calibri"/>
              </a:rPr>
              <a:t>fun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07424" y="1783080"/>
            <a:ext cx="2651760" cy="356616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64624" y="2011680"/>
            <a:ext cx="1737360" cy="731520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4624" y="2130552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18904" y="2907792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18904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Calibri"/>
              </a:rPr>
              <a:t>hop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18904" y="3493008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18904" y="3557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Calibri"/>
              </a:rPr>
              <a:t>top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18904" y="4078224"/>
            <a:ext cx="1828800" cy="493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18904" y="4142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7B4FA8"/>
                </a:solidFill>
                <a:latin typeface="Calibri"/>
              </a:rPr>
              <a:t>mop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down each column. The ending never changes — only the first sound does.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🦕 Game: Who Is in the Dino Family?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292487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Three of these four belong. Which one does not?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CAT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BAT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SUN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BIG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HOP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DIG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PIG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Cover the first letter. Now only the ending is showing.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🦕 Who Is in the Dino Family? — Rounds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489127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Two more families. Read every word out loud first.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77440"/>
            <a:ext cx="1737360" cy="640080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780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331720"/>
            <a:ext cx="1691640" cy="7315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SUN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2331720"/>
            <a:ext cx="1691640" cy="7315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RUN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2331720"/>
            <a:ext cx="1691640" cy="7315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2331720"/>
            <a:ext cx="1691640" cy="7315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244144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FUN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312724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2519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0" y="4343400"/>
            <a:ext cx="1737360" cy="640080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444398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-OP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51960" y="4297680"/>
            <a:ext cx="1691640" cy="73152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80760" y="4297680"/>
            <a:ext cx="1691640" cy="73152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HOP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09560" y="4297680"/>
            <a:ext cx="1691640" cy="73152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BAT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297680"/>
            <a:ext cx="1691640" cy="73152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407408"/>
            <a:ext cx="1691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261C"/>
                </a:solidFill>
                <a:latin typeface="Arial Black"/>
              </a:rPr>
              <a:t>MOP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0" y="5093208"/>
            <a:ext cx="7223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Circle every word that belongs to this family.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the family ending out loud before each round: -un, -op.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49–59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🧩 Make a Brand New Dino Word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685768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49–59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Add one letter to the front. What word appears?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11292840" cy="93268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1920240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99339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532C"/>
                </a:solidFill>
                <a:latin typeface="Arial Black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1920240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199339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9532C"/>
                </a:solidFill>
                <a:latin typeface="Arial Black"/>
              </a:rPr>
              <a:t>-AT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19751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532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1920240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993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532C"/>
                </a:solidFill>
                <a:latin typeface="Arial Black"/>
              </a:rPr>
              <a:t>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938528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029968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it · then use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779776"/>
            <a:ext cx="11292840" cy="93268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2962656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03580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28377"/>
                </a:solidFill>
                <a:latin typeface="Arial Black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05409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2962656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03580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28377"/>
                </a:solidFill>
                <a:latin typeface="Arial Black"/>
              </a:rPr>
              <a:t>-IG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017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377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2962656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0358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28377"/>
                </a:solidFill>
                <a:latin typeface="Arial Black"/>
              </a:rPr>
              <a:t>PIG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2980944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072384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it · then use 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822191"/>
            <a:ext cx="11292840" cy="93268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4400" y="4005071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078223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9A18"/>
                </a:solidFill>
                <a:latin typeface="Arial Black"/>
              </a:rP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4096511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97480" y="4005071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97480" y="4078223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99A18"/>
                </a:solidFill>
                <a:latin typeface="Arial Black"/>
              </a:rPr>
              <a:t>-UN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059935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9A18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4005071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4078223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9A18"/>
                </a:solidFill>
                <a:latin typeface="Arial Black"/>
              </a:rPr>
              <a:t>FUN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023359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4114799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it · then use it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864608"/>
            <a:ext cx="11292840" cy="93268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4400" y="5047488"/>
            <a:ext cx="11887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120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FA8"/>
                </a:solidFill>
                <a:latin typeface="Arial Black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51389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4857C"/>
                </a:solidFill>
                <a:latin typeface="Calibri"/>
              </a:rPr>
              <a:t>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97480" y="5047488"/>
            <a:ext cx="155448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80" y="5120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B4FA8"/>
                </a:solidFill>
                <a:latin typeface="Arial Black"/>
              </a:rPr>
              <a:t>-OP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102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4FA8"/>
                </a:solidFill>
                <a:latin typeface="Calibri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120640" y="5047488"/>
            <a:ext cx="23774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B4FA8"/>
                </a:solidFill>
                <a:latin typeface="Arial Black"/>
              </a:rPr>
              <a:t>MOP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5065776"/>
            <a:ext cx="822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2302A"/>
                </a:solidFill>
                <a:latin typeface="Calibri"/>
              </a:rPr>
              <a:t>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5157216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it · then use it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He does not need to know the word first. Blending will find it.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🗺️ Sight Words — Group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6882408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59–67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These three words we do NOT sound out. We just know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2057400"/>
            <a:ext cx="2468880" cy="1097280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5A6B"/>
                </a:solidFill>
                <a:latin typeface="Calibri"/>
              </a:rPr>
              <a:t>the dino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83080"/>
            <a:ext cx="3474720" cy="356616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92040" y="2057400"/>
            <a:ext cx="2468880" cy="1097280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5A6B"/>
                </a:solidFill>
                <a:latin typeface="Calibri"/>
              </a:rPr>
              <a:t>a big egg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783080"/>
            <a:ext cx="3474720" cy="356616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79" y="2057400"/>
            <a:ext cx="2468880" cy="1097280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9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9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5A6B"/>
                </a:solidFill>
                <a:latin typeface="Calibri"/>
              </a:rPr>
              <a:t>It is red.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Say the word, he repeats, then he finds it in the phrase below.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🗺️ Sight Words — Group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079048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59–67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Three more. Only three at a time — never a long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2057400"/>
            <a:ext cx="2468880" cy="1097280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5A6B"/>
                </a:solidFill>
                <a:latin typeface="Calibri"/>
              </a:rPr>
              <a:t>in the mud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1783080"/>
            <a:ext cx="3474720" cy="356616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92040" y="2057400"/>
            <a:ext cx="2468880" cy="1097280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5A6B"/>
                </a:solidFill>
                <a:latin typeface="Calibri"/>
              </a:rPr>
              <a:t>my dino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59" y="1783080"/>
            <a:ext cx="3474720" cy="356616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41079" y="2057400"/>
            <a:ext cx="2468880" cy="1097280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79" y="225856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9" y="4206240"/>
            <a:ext cx="29260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9" y="4370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A5A6B"/>
                </a:solidFill>
                <a:latin typeface="Calibri"/>
              </a:rPr>
              <a:t>I can dig.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Go back to Group 1 for ten seconds before you start Group 2.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Game: Dino Sight-Word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275688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59–67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37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Read the word to move the dino one footprint forward.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the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911096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79" y="1911096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7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the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11096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2935224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can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79" y="2935224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7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59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2935224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my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3959352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456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79" y="3959352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7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59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in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20" y="3959352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my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in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34840" y="4983480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4456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my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12279" y="4983480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22007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59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4983480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944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980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the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all three footprints out loud. Listening beats looking.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👣 Sight-Word Path — Footprints 5 to 8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472329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59–67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38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Four more footprints and the dino reaches the jungle.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1984248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039112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029968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1720" y="1965960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48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my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911096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my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79" y="1911096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7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can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20" y="1911096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2020824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00253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07208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3008376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3063240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054096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2990088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307238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can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2935224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456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79" y="2935224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7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59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can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9720" y="2935224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99448" y="3044952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3026664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31336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3232" y="4032504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408736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78224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331720" y="4014216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31720" y="40965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see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34840" y="3959352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4456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492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see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12279" y="3959352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7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59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the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20" y="3959352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4069080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05079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my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855464"/>
            <a:ext cx="11292840" cy="896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13232" y="5056632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" y="5111496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102352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4857C"/>
                </a:solidFill>
                <a:latin typeface="Calibri"/>
              </a:rPr>
              <a:t>FIND: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31720" y="5038344"/>
            <a:ext cx="1737360" cy="530352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31720" y="51206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 Black"/>
              </a:rPr>
              <a:t>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34840" y="4983480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4456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12279" y="4983480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22007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59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go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4983480"/>
            <a:ext cx="2194560" cy="64008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9448" y="50932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29800" y="5074920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2261C"/>
                </a:solidFill>
                <a:latin typeface="Arial Black"/>
              </a:rPr>
              <a:t>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Seen this word already today? Say so. Repetition is the point.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59–67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🔗 Two and Three Words Together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668969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59–67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39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Not a whole sentence yet. Just a few words joined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756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the dino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0574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756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a big dino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472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the red egg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34472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my dino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188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can run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4818888"/>
            <a:ext cx="3840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in the mud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08990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608075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Sweep your finger under the whole phrase so it sounds like talking.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📖 How We Read Every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7865609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67–75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40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Three turns for every sentence. You are always third.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3566160" cy="31089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7320" y="2011680"/>
            <a:ext cx="164592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1031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88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I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Teacher reads it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43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🧑‍🏫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783080"/>
            <a:ext cx="3566160" cy="31089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12080" y="2011680"/>
            <a:ext cx="1645920" cy="56692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21031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788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9A18"/>
                </a:solidFill>
                <a:latin typeface="Arial Black"/>
              </a:rPr>
              <a:t>We 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11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Teacher and child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343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🧑‍🏫 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783080"/>
            <a:ext cx="3566160" cy="310896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06840" y="2011680"/>
            <a:ext cx="1645920" cy="56692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103120"/>
            <a:ext cx="1645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88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7A4B"/>
                </a:solidFill>
                <a:latin typeface="Arial Black"/>
              </a:rPr>
              <a:t>You 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61188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2302A"/>
                </a:solidFill>
                <a:latin typeface="Calibri"/>
              </a:rPr>
              <a:t>Child reads it alone — if ready.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343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302A"/>
                </a:solidFill>
                <a:latin typeface="Calibri"/>
              </a:rPr>
              <a:t>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11292840" cy="65836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3036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2261C"/>
                </a:solidFill>
                <a:latin typeface="Calibri"/>
              </a:rPr>
              <a:t>If step 3 is hard, go back to step 2. Going back is allowed, always.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Never let him attempt a sentence cold. Model it every single time.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📕 Our First Dino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062249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67–75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41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Four words. Point to each word as you read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1343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3171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261C"/>
                </a:solidFill>
                <a:latin typeface="Calibri"/>
              </a:rPr>
              <a:t>The dino is big.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44144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532C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79392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79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2261C"/>
                </a:solidFill>
                <a:latin typeface="Calibri"/>
              </a:rPr>
              <a:t>The egg is 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4407407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4FA8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📕 Three More Dino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25889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67–75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42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28377"/>
                </a:solidFill>
                <a:latin typeface="Calibri"/>
              </a:rPr>
              <a:t>Same words, new order. You already know every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225296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1168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i="0">
                <a:solidFill>
                  <a:srgbClr val="22302A"/>
                </a:solidFill>
                <a:latin typeface="Calibri"/>
              </a:rPr>
              <a:t>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02996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261C"/>
                </a:solidFill>
                <a:latin typeface="Calibri"/>
              </a:rPr>
              <a:t>I see a dino.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213969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8377"/>
                </a:solidFill>
                <a:latin typeface="Calibri"/>
              </a:rPr>
              <a:t>I · WE ·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54680"/>
            <a:ext cx="11292840" cy="1225296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i="0">
                <a:solidFill>
                  <a:srgbClr val="22302A"/>
                </a:solidFill>
                <a:latin typeface="Calibri"/>
              </a:rPr>
              <a:t>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40156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261C"/>
                </a:solidFill>
                <a:latin typeface="Calibri"/>
              </a:rPr>
              <a:t>The dino can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51129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9A18"/>
                </a:solidFill>
                <a:latin typeface="Calibri"/>
              </a:rPr>
              <a:t>I · WE · YOU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26280"/>
            <a:ext cx="11292840" cy="1225296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5488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77316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2261C"/>
                </a:solidFill>
                <a:latin typeface="Calibri"/>
              </a:rPr>
              <a:t>The dino can dig.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4882896"/>
            <a:ext cx="2011680" cy="5120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0" y="4956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7A4B"/>
                </a:solidFill>
                <a:latin typeface="Calibri"/>
              </a:rPr>
              <a:t>I · WE · YOU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🧩 Game: Build the Dino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45553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67–75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43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The words got mixed up. Put them back in order!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532C"/>
                </a:solidFill>
                <a:latin typeface="Calibri"/>
              </a:rPr>
              <a:t>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532C"/>
                </a:solidFill>
                <a:latin typeface="Calibri"/>
              </a:rPr>
              <a:t>dino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532C"/>
                </a:solidFill>
                <a:latin typeface="Calibri"/>
              </a:rPr>
              <a:t>The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84832"/>
            <a:ext cx="1783080" cy="658368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532C"/>
                </a:solidFill>
                <a:latin typeface="Calibri"/>
              </a:rPr>
              <a:t>big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4FA8"/>
                </a:solidFill>
                <a:latin typeface="Calibri"/>
              </a:rPr>
              <a:t>egg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4FA8"/>
                </a:solidFill>
                <a:latin typeface="Calibri"/>
              </a:rPr>
              <a:t>The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4FA8"/>
                </a:solidFill>
                <a:latin typeface="Calibri"/>
              </a:rPr>
              <a:t>red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4FA8"/>
                </a:solidFill>
                <a:latin typeface="Calibri"/>
              </a:rPr>
              <a:t>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Hint: the first word always wears a CAPITAL letter.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🧩 Build the Dino Sentence — Puzzles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65217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67–75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44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Two more puzzles. Read it out loud to check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11292840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28600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2084832"/>
            <a:ext cx="1783080" cy="65836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377"/>
                </a:solidFill>
                <a:latin typeface="Calibri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084832"/>
            <a:ext cx="1783080" cy="65836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377"/>
                </a:solidFill>
                <a:latin typeface="Calibri"/>
              </a:rPr>
              <a:t>see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2084832"/>
            <a:ext cx="1783080" cy="65836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377"/>
                </a:solidFill>
                <a:latin typeface="Calibri"/>
              </a:rPr>
              <a:t>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084832"/>
            <a:ext cx="1783080" cy="658368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17627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28377"/>
                </a:solidFill>
                <a:latin typeface="Calibri"/>
              </a:rPr>
              <a:t>dino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285292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96265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251960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⛏️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4050792"/>
            <a:ext cx="1783080" cy="658368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7A4B"/>
                </a:solidFill>
                <a:latin typeface="Calibri"/>
              </a:rPr>
              <a:t>can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050792"/>
            <a:ext cx="1783080" cy="658368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7A4B"/>
                </a:solidFill>
                <a:latin typeface="Calibri"/>
              </a:rPr>
              <a:t>dino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4050792"/>
            <a:ext cx="1783080" cy="658368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7A4B"/>
                </a:solidFill>
                <a:latin typeface="Calibri"/>
              </a:rPr>
              <a:t>The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50792"/>
            <a:ext cx="1783080" cy="658368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4142232"/>
            <a:ext cx="1783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7A4B"/>
                </a:solidFill>
                <a:latin typeface="Calibri"/>
              </a:rPr>
              <a:t>dig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4818888"/>
            <a:ext cx="918972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14600" y="4928616"/>
            <a:ext cx="8778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Put them in order, then read it out loud:  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Wrong order? Read it aloud. His ear will catch what his eye missed.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BONUS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67–75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⭐ Make Your Own Dino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8848810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Jungle Trail  |  67–75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45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4FA8"/>
                </a:solidFill>
                <a:latin typeface="Calibri"/>
              </a:rPr>
              <a:t>Pick a picture. Now say a sentence about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83080"/>
            <a:ext cx="2651760" cy="22402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063240"/>
            <a:ext cx="17373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6382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B4FA8"/>
                </a:solidFill>
                <a:latin typeface="Calibri"/>
              </a:rPr>
              <a:t>dino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01568" y="1783080"/>
            <a:ext cx="2651760" cy="22402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01568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58768" y="3063240"/>
            <a:ext cx="17373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8768" y="316382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B4FA8"/>
                </a:solidFill>
                <a:latin typeface="Calibri"/>
              </a:rPr>
              <a:t>egg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1783080"/>
            <a:ext cx="2651760" cy="22402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11696" y="3063240"/>
            <a:ext cx="17373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16382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B4FA8"/>
                </a:solidFill>
                <a:latin typeface="Calibri"/>
              </a:rPr>
              <a:t>rock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7424" y="1783080"/>
            <a:ext cx="2651760" cy="224028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11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64624" y="3063240"/>
            <a:ext cx="173736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3163824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B4FA8"/>
                </a:solidFill>
                <a:latin typeface="Calibri"/>
              </a:rPr>
              <a:t>mud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97680"/>
            <a:ext cx="5532120" cy="10515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455371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I see a ______.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79" y="4297680"/>
            <a:ext cx="5532120" cy="10515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59" y="455371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2261C"/>
                </a:solidFill>
                <a:latin typeface="Calibri"/>
              </a:rPr>
              <a:t>The dino can ______.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Write his sentence down and read it back to him. That is powerful.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📖 Story Time — Six Words to Watch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04545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46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You already read all six of these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3566160" cy="164592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148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24028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2350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A6B"/>
                </a:solidFill>
                <a:latin typeface="Calibri"/>
              </a:rPr>
              <a:t>dino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737360"/>
            <a:ext cx="3566160" cy="164592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148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224028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5000" y="2350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A6B"/>
                </a:solidFill>
                <a:latin typeface="Calibri"/>
              </a:rPr>
              <a:t>egg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737360"/>
            <a:ext cx="3566160" cy="164592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24028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350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A6B"/>
                </a:solidFill>
                <a:latin typeface="Calibri"/>
              </a:rPr>
              <a:t>mud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66160"/>
            <a:ext cx="3566160" cy="164592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776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406908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4178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A6B"/>
                </a:solidFill>
                <a:latin typeface="Calibri"/>
              </a:rPr>
              <a:t>rock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566160"/>
            <a:ext cx="3566160" cy="164592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39776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406908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15000" y="4178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A6B"/>
                </a:solidFill>
                <a:latin typeface="Calibri"/>
              </a:rPr>
              <a:t>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566160"/>
            <a:ext cx="3566160" cy="164592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97764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069080"/>
            <a:ext cx="1828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178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5A6B"/>
                </a:solidFill>
                <a:latin typeface="Calibri"/>
              </a:rPr>
              <a:t>bone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413248"/>
            <a:ext cx="11292840" cy="384048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5896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261C"/>
                </a:solidFill>
                <a:latin typeface="Calibri"/>
              </a:rPr>
              <a:t>"THE LITTLE DINO"  ·  four short parts  ·  we read each part three times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Read the six words together before page one. No cold surprises.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📖 The Little Dino — Part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24209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47 / 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is on a big hill.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 sun is hot.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can see a rock.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A little dino sits on the rock.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 dino is green.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It is not big.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📖 The Little Dino — Part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43873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48 / 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sees a red egg.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 egg is in the mud.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can see the egg.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 little dino looks at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It can dig in the mud.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Dig, dig, dig!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📖 The Little Dino — Part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635371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49 / 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2302A"/>
                </a:solidFill>
                <a:latin typeface="Calibri"/>
              </a:rPr>
              <a:t>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 dino can run fast.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and the dino run to the jungle.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They see a big 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A bug is on the log.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 dino can hop on the log.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can hop too.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📖 The Little Dino — Part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983201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50 / 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931920" cy="4343400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280160"/>
            <a:ext cx="7086600" cy="4343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481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digs in the mud.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1671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He finds a small bone.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8529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It is a dino fossil!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387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They walk back to the hill.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2245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Ben and the dino are happy.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910328"/>
            <a:ext cx="6492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2261C"/>
                </a:solidFill>
                <a:latin typeface="Calibri"/>
              </a:rPr>
              <a:t>"You are my pal," says Ben.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70448"/>
            <a:ext cx="3566160" cy="420624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 READ  ·  Teacher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870448"/>
            <a:ext cx="3566160" cy="420624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 READ  ·  Together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5870448"/>
            <a:ext cx="3566160" cy="420624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9161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 READ  ·  You!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75–83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🔁 Read These Six Lines Again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02865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75–83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51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The six easiest lines of the story. All yours this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1305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261C"/>
                </a:solidFill>
                <a:latin typeface="Calibri"/>
              </a:rPr>
              <a:t>The sun is hot.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7830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2037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1305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261C"/>
                </a:solidFill>
                <a:latin typeface="Calibri"/>
              </a:rPr>
              <a:t>The dino is green.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546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5021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261C"/>
                </a:solidFill>
                <a:latin typeface="Calibri"/>
              </a:rPr>
              <a:t>It is not big.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546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35204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575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021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261C"/>
                </a:solidFill>
                <a:latin typeface="Calibri"/>
              </a:rPr>
              <a:t>Dig, dig, dig!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262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737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261C"/>
                </a:solidFill>
                <a:latin typeface="Calibri"/>
              </a:rPr>
              <a:t>Ben can hop too.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526280"/>
            <a:ext cx="5440680" cy="11887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892040"/>
            <a:ext cx="457200" cy="4572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469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873752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2261C"/>
                </a:solidFill>
                <a:latin typeface="Calibri"/>
              </a:rPr>
              <a:t>He finds a small bone.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603504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089903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6080759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Time him gently the second time. Faster reading feels like winning.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83–87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🔎 Game: Dino Story Detective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22529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83–87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52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Think about the story. Which answer is right?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219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261C"/>
                </a:solidFill>
                <a:latin typeface="Calibri"/>
              </a:rPr>
              <a:t>Who sees the dino?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8036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show me this in Part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Ben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Sam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Mia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1970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261C"/>
                </a:solidFill>
                <a:latin typeface="Calibri"/>
              </a:rPr>
              <a:t>What color is the dino?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55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show me this in Part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🟢 Green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🔴 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🔵 Blue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Cannot remember? Go back a slide and read it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83–87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🔎 Story Detective — Questions 3 and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421932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83–87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53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Two more. Then show me where you found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219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261C"/>
                </a:solidFill>
                <a:latin typeface="Calibri"/>
              </a:rPr>
              <a:t>What does Ben see in the mud?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8036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show me this in Part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A red egg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A hat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A bag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1970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261C"/>
                </a:solidFill>
                <a:latin typeface="Calibri"/>
              </a:rPr>
              <a:t>What can the dino do?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55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show me this in Part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Run and dig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Swim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Fly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Answer first, proof second. Both count as reading.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83–87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🔎 Story Detective — The Last Two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61857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83–87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54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6B"/>
                </a:solidFill>
                <a:latin typeface="Calibri"/>
              </a:rPr>
              <a:t>Last two questions of the whole mission.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83080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423160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78024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331720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22199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261C"/>
                </a:solidFill>
                <a:latin typeface="Calibri"/>
              </a:rPr>
              <a:t>What do they find at the end?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880360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show me this in Part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A bone fossil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A 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240280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40487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A cap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758184"/>
            <a:ext cx="11292840" cy="17556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398264"/>
            <a:ext cx="475488" cy="475488"/>
          </a:xfrm>
          <a:prstGeom prst="ellipse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53128"/>
            <a:ext cx="475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06824"/>
            <a:ext cx="914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2302A"/>
                </a:solidFill>
                <a:latin typeface="Calibri"/>
              </a:rPr>
              <a:t>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197096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2261C"/>
                </a:solidFill>
                <a:latin typeface="Calibri"/>
              </a:rPr>
              <a:t>Where do Ben and the dino run?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55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4857C"/>
                </a:solidFill>
                <a:latin typeface="Calibri"/>
              </a:rPr>
              <a:t>show me this in Part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To the jungle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To school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4215384"/>
            <a:ext cx="1828800" cy="841248"/>
          </a:xfrm>
          <a:prstGeom prst="roundRect">
            <a:avLst/>
          </a:prstGeom>
          <a:solidFill>
            <a:srgbClr val="E9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37997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2261C"/>
                </a:solidFill>
                <a:latin typeface="Calibri"/>
              </a:rPr>
              <a:t>To the sea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Going back to the page is not cheating. It is what good readers do.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🏛️ You Reached the Fossil Museum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081521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55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Five fossils left. Then you are a champion.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5120640" cy="402336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22302A"/>
                </a:solidFill>
                <a:latin typeface="Calibri"/>
              </a:rPr>
              <a:t>🏛️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8803A"/>
                </a:solidFill>
                <a:latin typeface="Arial Black"/>
              </a:rPr>
              <a:t>FOSSIL MUSEUM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1737360"/>
            <a:ext cx="5852160" cy="877824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9385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302A"/>
                </a:solidFill>
                <a:latin typeface="Calibri"/>
              </a:rPr>
              <a:t>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8470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Dinosaur Valley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2128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first and last sounds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2761488"/>
            <a:ext cx="5852160" cy="877824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9626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87121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Egg Cave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23697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short vowels and whole words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3785616"/>
            <a:ext cx="5852160" cy="877824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98678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302A"/>
                </a:solidFill>
                <a:latin typeface="Calibri"/>
              </a:rPr>
              <a:t>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89534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Dino Camp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2611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blending and fossil matching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4809744"/>
            <a:ext cx="5852160" cy="877824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50109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302A"/>
                </a:solidFill>
                <a:latin typeface="Calibri"/>
              </a:rPr>
              <a:t>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91947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Jungle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28523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302A"/>
                </a:solidFill>
                <a:latin typeface="Calibri"/>
              </a:rPr>
              <a:t>families, sight words, sentences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Say the four places out loud with him. He will be surprised by the list.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🦴 Final Challenge — Fossils 1 to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01185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56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532C"/>
                </a:solidFill>
                <a:latin typeface="Calibri"/>
              </a:rPr>
              <a:t>No hints unless you ask for one. You've got this.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19072"/>
            <a:ext cx="11292840" cy="1261872"/>
          </a:xfrm>
          <a:prstGeom prst="roundRect">
            <a:avLst/>
          </a:prstGeom>
          <a:solidFill>
            <a:srgbClr val="FB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121408"/>
            <a:ext cx="530352" cy="530352"/>
          </a:xfrm>
          <a:prstGeom prst="ellipse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17627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084832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19933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532C"/>
                </a:solidFill>
                <a:latin typeface="Calibri"/>
              </a:rPr>
              <a:t>READ A 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4323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this word: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993392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0312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9532C"/>
                </a:solidFill>
                <a:latin typeface="Arial Black"/>
              </a:rPr>
              <a:t>BIG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136391"/>
            <a:ext cx="11292840" cy="1261872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3538727"/>
            <a:ext cx="530352" cy="530352"/>
          </a:xfrm>
          <a:prstGeom prst="ellipse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593591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502151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410711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28377"/>
                </a:solidFill>
                <a:latin typeface="Calibri"/>
              </a:rPr>
              <a:t>BLEND A WORD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84962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Blend these sounds: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3410711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39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28377"/>
                </a:solidFill>
                <a:latin typeface="Arial Black"/>
              </a:rPr>
              <a:t>/d/  /i/  /g/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553712"/>
            <a:ext cx="11292840" cy="1261872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4956048"/>
            <a:ext cx="530352" cy="530352"/>
          </a:xfrm>
          <a:prstGeom prst="ellipse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10912"/>
            <a:ext cx="530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919472"/>
            <a:ext cx="822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8280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4FA8"/>
                </a:solidFill>
                <a:latin typeface="Calibri"/>
              </a:rPr>
              <a:t>READ A SIGHT 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2669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this word: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828032"/>
            <a:ext cx="489204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60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B4FA8"/>
                </a:solidFill>
                <a:latin typeface="Arial Black"/>
              </a:rPr>
              <a:t>THE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97880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52744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943600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Wait a full ten seconds before offering anything. Silence helps.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🦴 Final Challenge — Fossils 4 and 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208493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57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The last two fossils in the whole museum.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828800"/>
            <a:ext cx="11292840" cy="16916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2414016"/>
            <a:ext cx="566928" cy="566928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87168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359152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240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READ A SENTENCE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7249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Read this out loud: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240280"/>
            <a:ext cx="5349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39572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7A4B"/>
                </a:solidFill>
                <a:latin typeface="Calibri"/>
              </a:rPr>
              <a:t>The dino can run.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49039"/>
            <a:ext cx="11292840" cy="169164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334255"/>
            <a:ext cx="566928" cy="566928"/>
          </a:xfrm>
          <a:prstGeom prst="ellipse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07407"/>
            <a:ext cx="5669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279391"/>
            <a:ext cx="91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2302A"/>
                </a:solidFill>
                <a:latin typeface="Calibri"/>
              </a:rP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60519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9A18"/>
                </a:solidFill>
                <a:latin typeface="Calibri"/>
              </a:rPr>
              <a:t>ANSWER A QUESTION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64515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4857C"/>
                </a:solidFill>
                <a:latin typeface="Calibri"/>
              </a:rPr>
              <a:t>From the story: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160519"/>
            <a:ext cx="5349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315967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9A18"/>
                </a:solidFill>
                <a:latin typeface="Calibri"/>
              </a:rPr>
              <a:t>What can the dino do?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870448"/>
            <a:ext cx="1129284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🦖 DINO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916168"/>
            <a:ext cx="8686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61C"/>
                </a:solidFill>
                <a:latin typeface="Calibri"/>
              </a:rPr>
              <a:t>For fossil 5 any true answer counts: run, dig, hop.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99A18"/>
                </a:solidFill>
                <a:latin typeface="Georgia"/>
              </a:rPr>
              <a:t>🏆 DINO READING CHAMPION! 🏆</a:t>
            </a:r>
          </a:p>
        </p:txBody>
      </p:sp>
      <p:sp>
        <p:nvSpPr>
          <p:cNvPr id="5" name="Oval 4"/>
          <p:cNvSpPr/>
          <p:nvPr/>
        </p:nvSpPr>
        <p:spPr>
          <a:xfrm>
            <a:off x="4956048" y="1463040"/>
            <a:ext cx="2286000" cy="2286000"/>
          </a:xfrm>
          <a:prstGeom prst="ellipse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6048" y="1965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22302A"/>
                </a:solidFill>
                <a:latin typeface="Calibri"/>
              </a:rPr>
              <a:t>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🎉 YOU DID IT!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54880"/>
            <a:ext cx="2606040" cy="566928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855464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8C4"/>
                </a:solidFill>
                <a:latin typeface="Calibri"/>
              </a:rPr>
              <a:t>You read words!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754880"/>
            <a:ext cx="2606040" cy="566928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855464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8C4"/>
                </a:solidFill>
                <a:latin typeface="Calibri"/>
              </a:rPr>
              <a:t>You built sentences!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754880"/>
            <a:ext cx="2606040" cy="566928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855464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8C4"/>
                </a:solidFill>
                <a:latin typeface="Calibri"/>
              </a:rPr>
              <a:t>You read a story!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4754880"/>
            <a:ext cx="2606040" cy="566928"/>
          </a:xfrm>
          <a:prstGeom prst="roundRect">
            <a:avLst/>
          </a:prstGeom>
          <a:solidFill>
            <a:srgbClr val="1C3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4855464"/>
            <a:ext cx="2606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AD8C4"/>
                </a:solidFill>
                <a:latin typeface="Calibri"/>
              </a:rPr>
              <a:t>You solved the dinosaur mystery!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5532120"/>
            <a:ext cx="1783080" cy="566928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63270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🌋 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5532120"/>
            <a:ext cx="1783080" cy="566928"/>
          </a:xfrm>
          <a:prstGeom prst="roundRect">
            <a:avLst/>
          </a:prstGeom>
          <a:solidFill>
            <a:srgbClr val="7B4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563270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🥚 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5532120"/>
            <a:ext cx="1783080" cy="566928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563270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🦖 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19" y="5532120"/>
            <a:ext cx="1783080" cy="56692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563270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🌿 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5532120"/>
            <a:ext cx="1783080" cy="566928"/>
          </a:xfrm>
          <a:prstGeom prst="roundRect">
            <a:avLst/>
          </a:prstGeom>
          <a:solidFill>
            <a:srgbClr val="4A5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5632704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🏛️ 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419088"/>
            <a:ext cx="1140513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87–90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58 / 62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37744"/>
            <a:ext cx="2423160" cy="384048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283464"/>
            <a:ext cx="2423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87–90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✅ What I Can Read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419088"/>
            <a:ext cx="1160177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Fossil Museum  |  87–90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59 / 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2252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7A4B"/>
                </a:solidFill>
                <a:latin typeface="Calibri"/>
              </a:rPr>
              <a:t>Look at everything you did in 90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737360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6656" y="19019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Beginning sounds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16712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d  e  f  r  t  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37360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190195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195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Ending sounds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167128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bag  hat  sun 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624328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2843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2715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Short vowels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054096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a  e  i  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624328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91656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28437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7157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Blending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054096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/d/ /i/ /g/ → DIG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511296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6656" y="3675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36027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CVC words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94106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cat  map  dig  big  hot  log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3511296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91656" y="3675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👨‍👩‍👧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60273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Word families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941064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-at  -ig  -un  -op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398264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6656" y="45628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🗺️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4489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Sight words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482803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the  a  is  in  my  can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398264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91656" y="456285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1656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44897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Short phrases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828032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a big dino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85231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6656" y="5449823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55046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37667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Sentences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" y="5714999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The dino can dig.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5285231"/>
            <a:ext cx="5440680" cy="77724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91656" y="5449823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1656" y="55046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302A"/>
                </a:solidFill>
                <a:latin typeface="Calibri"/>
              </a:rPr>
              <a:t>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5160" y="5376671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7A4B"/>
                </a:solidFill>
                <a:latin typeface="Calibri"/>
              </a:rPr>
              <a:t>A whole story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95160" y="5714999"/>
            <a:ext cx="4389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302A"/>
                </a:solidFill>
                <a:latin typeface="Calibri"/>
              </a:rPr>
              <a:t>The Little Dino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🔒 TEACHER ONLY — Support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79841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60 / 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532C"/>
                </a:solidFill>
                <a:latin typeface="Calibri"/>
              </a:rPr>
              <a:t>Move between levels freely inside one activity. Never name the level out 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3611880" cy="2103120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700784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57984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B7A4B"/>
                </a:solidFill>
                <a:latin typeface="Arial Black"/>
              </a:rPr>
              <a:t>DINO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302A"/>
                </a:solidFill>
                <a:latin typeface="Calibri"/>
              </a:rPr>
              <a:t>Picture + sound + teacher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017520"/>
            <a:ext cx="32461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1810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4857C"/>
                </a:solidFill>
                <a:latin typeface="Calibri"/>
              </a:rPr>
              <a:t>Say the word first, then let him repeat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3672" y="1572768"/>
            <a:ext cx="3611880" cy="21031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1700784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2157984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99A18"/>
                </a:solidFill>
                <a:latin typeface="Arial Black"/>
              </a:rPr>
              <a:t>DINO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6060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302A"/>
                </a:solidFill>
                <a:latin typeface="Calibri"/>
              </a:rPr>
              <a:t>He reads with limited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017520"/>
            <a:ext cx="32461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311810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4857C"/>
                </a:solidFill>
                <a:latin typeface="Calibri"/>
              </a:rPr>
              <a:t>Give the first sound only, then go quiet.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3" y="1572768"/>
            <a:ext cx="3611880" cy="2103120"/>
          </a:xfrm>
          <a:prstGeom prst="roundRect">
            <a:avLst/>
          </a:prstGeom>
          <a:solidFill>
            <a:srgbClr val="F0E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3" y="1700784"/>
            <a:ext cx="36118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2302A"/>
                </a:solidFill>
                <a:latin typeface="Calibri"/>
              </a:rPr>
              <a:t>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3" y="2157984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B4FA8"/>
                </a:solidFill>
                <a:latin typeface="Arial Black"/>
              </a:rPr>
              <a:t>DINO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260604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302A"/>
                </a:solidFill>
                <a:latin typeface="Calibri"/>
              </a:rPr>
              <a:t>He reads alone or makes a sentence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8743" y="3017520"/>
            <a:ext cx="324612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3" y="311810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4857C"/>
                </a:solidFill>
                <a:latin typeface="Calibri"/>
              </a:rPr>
              <a:t>Ask for a sentence using the word.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803904"/>
            <a:ext cx="11338560" cy="420624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67912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POSITIVE LABELS ONLY:   🟢 Dino Help   ·   🟡 Dino Mission   ·   ⭐ Dino Challenge   ·   🦖 Dino Hint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35254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GRADUATED SUPPORT — never reveal the answer 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4700016"/>
            <a:ext cx="5577840" cy="34747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4745736"/>
            <a:ext cx="914400" cy="256032"/>
          </a:xfrm>
          <a:prstGeom prst="roundRect">
            <a:avLst/>
          </a:prstGeom>
          <a:solidFill>
            <a:srgbClr val="D95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5488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73659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Look at the first sound.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5102352"/>
            <a:ext cx="5577840" cy="34747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5148072"/>
            <a:ext cx="914400" cy="256032"/>
          </a:xfrm>
          <a:prstGeom prst="roundRect">
            <a:avLst/>
          </a:prstGeom>
          <a:solidFill>
            <a:srgbClr val="D99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57216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1389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Let's sound it together.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5504688"/>
            <a:ext cx="5577840" cy="34747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5550408"/>
            <a:ext cx="914400" cy="256032"/>
          </a:xfrm>
          <a:prstGeom prst="roundRect">
            <a:avLst/>
          </a:prstGeom>
          <a:solidFill>
            <a:srgbClr val="128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559552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54126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Let's blend it together.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907024"/>
            <a:ext cx="5577840" cy="34747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640" y="5952744"/>
            <a:ext cx="914400" cy="256032"/>
          </a:xfrm>
          <a:prstGeom prst="round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96188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HINT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59436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I read it, then you repeat.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352544"/>
            <a:ext cx="5577840" cy="914400"/>
          </a:xfrm>
          <a:prstGeom prst="roundRect">
            <a:avLst/>
          </a:prstGeom>
          <a:solidFill>
            <a:srgbClr val="E0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425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8377"/>
                </a:solidFill>
                <a:latin typeface="Calibri"/>
              </a:rPr>
              <a:t>🦖 DINO HINT BANK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700016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Look at the first letter.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Say each sound.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Put the sounds together.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70001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Look at the picture.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Try it slowly.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Read it one more time.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5358384"/>
            <a:ext cx="5577840" cy="877824"/>
          </a:xfrm>
          <a:prstGeom prst="roundRect">
            <a:avLst/>
          </a:prstGeom>
          <a:solidFill>
            <a:srgbClr val="E3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54223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A4B"/>
                </a:solidFill>
                <a:latin typeface="Calibri"/>
              </a:rPr>
              <a:t>🗣️ SAY THIS INSTEAD OF "WRONG"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6875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"Good listening!"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"You found the first sound!"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"Let's try that one together."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6875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"You are getting closer!"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"Nice blending!"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2302A"/>
                </a:solidFill>
                <a:latin typeface="Calibri"/>
              </a:rPr>
              <a:t>•  "You read that all by yourself."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🔒 TEACHER ONLY — End-of-Class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1995054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61 / 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7043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532C"/>
                </a:solidFill>
                <a:latin typeface="Calibri"/>
              </a:rPr>
              <a:t>Record what he did today, not what you hoped for. Fill this in right after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17904"/>
            <a:ext cx="3931920" cy="365760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572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READING 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517904"/>
            <a:ext cx="2377440" cy="365760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572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Independent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517904"/>
            <a:ext cx="2194560" cy="365760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1572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With Help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1517904"/>
            <a:ext cx="2286000" cy="365760"/>
          </a:xfrm>
          <a:prstGeom prst="round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Needs More Practice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1938528"/>
            <a:ext cx="39319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96596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Beginning sounds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1938528"/>
            <a:ext cx="23774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9385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1938528"/>
            <a:ext cx="219456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1938528"/>
            <a:ext cx="22860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938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258568"/>
            <a:ext cx="393192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28600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Short vowels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2258568"/>
            <a:ext cx="237744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22585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2258568"/>
            <a:ext cx="219456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2258568"/>
            <a:ext cx="228600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2585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578608"/>
            <a:ext cx="39319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60604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CVC words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2578608"/>
            <a:ext cx="23774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86600" y="2578608"/>
            <a:ext cx="219456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2578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64040" y="2578608"/>
            <a:ext cx="22860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2898647"/>
            <a:ext cx="393192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926079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Blending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2898647"/>
            <a:ext cx="237744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26280" y="289864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86600" y="2898647"/>
            <a:ext cx="219456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289864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64040" y="2898647"/>
            <a:ext cx="228600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89864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3218688"/>
            <a:ext cx="39319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324612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Word families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26280" y="3218688"/>
            <a:ext cx="23774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32186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86600" y="3218688"/>
            <a:ext cx="219456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464040" y="3218688"/>
            <a:ext cx="22860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64040" y="3218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1480" y="3538728"/>
            <a:ext cx="393192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356616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Sight words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26280" y="3538728"/>
            <a:ext cx="237744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26280" y="353872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3538728"/>
            <a:ext cx="219456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86600" y="3538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64040" y="3538728"/>
            <a:ext cx="228600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64040" y="3538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3858767"/>
            <a:ext cx="39319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886199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Phrase reading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26280" y="3858767"/>
            <a:ext cx="23774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26280" y="385876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86600" y="3858767"/>
            <a:ext cx="219456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385876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64040" y="3858767"/>
            <a:ext cx="22860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385876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11480" y="4178807"/>
            <a:ext cx="393192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94360" y="4206239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Sentence reading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526280" y="4178807"/>
            <a:ext cx="237744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26280" y="41788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86600" y="4178807"/>
            <a:ext cx="219456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86600" y="41788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464040" y="4178807"/>
            <a:ext cx="228600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64040" y="41788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498848"/>
            <a:ext cx="393192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452628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Story reading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26280" y="4498848"/>
            <a:ext cx="237744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26280" y="44988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86600" y="4498848"/>
            <a:ext cx="219456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86600" y="44988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464040" y="4498848"/>
            <a:ext cx="2286000" cy="301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6404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1480" y="4818888"/>
            <a:ext cx="393192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94360" y="4846320"/>
            <a:ext cx="3566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61C"/>
                </a:solidFill>
                <a:latin typeface="Calibri"/>
              </a:rPr>
              <a:t>Comprehension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26280" y="4818888"/>
            <a:ext cx="237744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26280" y="4818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086600" y="4818888"/>
            <a:ext cx="219456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86600" y="4818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464040" y="4818888"/>
            <a:ext cx="2286000" cy="301752"/>
          </a:xfrm>
          <a:prstGeom prst="roundRect">
            <a:avLst/>
          </a:prstGeom>
          <a:solidFill>
            <a:srgbClr val="F1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64040" y="4818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4857C"/>
                </a:solidFill>
                <a:latin typeface="Calibri"/>
              </a:rPr>
              <a:t>☐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11480" y="5285232"/>
            <a:ext cx="11338560" cy="960120"/>
          </a:xfrm>
          <a:prstGeom prst="roundRect">
            <a:avLst/>
          </a:prstGeom>
          <a:solidFill>
            <a:srgbClr val="FCF2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0080" y="5367528"/>
            <a:ext cx="10881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03A"/>
                </a:solidFill>
                <a:latin typeface="Calibri"/>
              </a:rPr>
              <a:t>TODAY I CAN...   (read these out loud with him before he leaves)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40080" y="5715000"/>
            <a:ext cx="260604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7240" y="578815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☐  Read some new words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3429000" y="5715000"/>
            <a:ext cx="260604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566160" y="578815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☐  Blend sounds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217920" y="5715000"/>
            <a:ext cx="260604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355080" y="578815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☐  Read a sentence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06839" y="5715000"/>
            <a:ext cx="2606040" cy="420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43999" y="5788152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261C"/>
                </a:solidFill>
                <a:latin typeface="Calibri"/>
              </a:rPr>
              <a:t>☐  Understand a short story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37744"/>
            <a:ext cx="3200400" cy="384048"/>
          </a:xfrm>
          <a:prstGeom prst="roundRect">
            <a:avLst/>
          </a:prstGeom>
          <a:solidFill>
            <a:srgbClr val="223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3464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TEACHER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261C"/>
                </a:solidFill>
                <a:latin typeface="Georgia"/>
              </a:rPr>
              <a:t>🔒 TEACHER ONLY — Answer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DEE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1B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28816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🦖 Dinosaur Discovery Reading Mission  |  Grade 2  |  90 min  |  Answer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52881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62 / 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532C"/>
                </a:solidFill>
                <a:latin typeface="Calibri"/>
              </a:rPr>
              <a:t>Hide this slide before presenting, or keep it on a second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572768"/>
            <a:ext cx="55778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532C"/>
                </a:solidFill>
                <a:latin typeface="Calibri"/>
              </a:rPr>
              <a:t>🔊 Sounds  ·  🥚 Eggs  ·  👣 Blending  ·  🦴 Fossils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84831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First Sound 1–3: dino, egg, rock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First Sound 4–6: bone, tail, footprint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First Sound 7–8: mud, sun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Ending sounds: /g/, /t/, /n/, /g/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Eggs 1–3: bed, map, sit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Eggs 4–6: log, red, hot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Eggs 7–8: big, cat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Footprint Blend: CAT, MAP, DIG, BIG, HOT,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      LOG, RUN, SUN, TOP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Which Word Is Right: CAT, DIG, SUN, LOG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Fossil Match 1–3: dig, big, sun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Fossil Match 4–6: egg, log, mud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72768"/>
            <a:ext cx="557784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007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7A4B"/>
                </a:solidFill>
                <a:latin typeface="Calibri"/>
              </a:rPr>
              <a:t>👨‍👩‍👧 Families  ·  🗺️ Sight words  ·  🧩 Sentences  ·  📖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84831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Dino Family -AT: cat, bat, hat  (sun does not)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Dino Family -IG: big, dig, pig  (hop does not)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Dino Family -UN: sun, run, fun  (map does not)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Dino Family -OP: top, hop, mop  (bat does not)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New words: SAT, PIG, FUN, MOP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Sight-Word Path 1–4: the, a, is, in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Sight-Word Path 5–8: my, can, see, 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Sentence puzzles: The dino is big. / The egg is red. /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      I see a dino. / The dino can dig.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Story Q1–6: Ben · green · a red egg · run and dig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      a bone fossil · to the jungle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•  Final: BIG · DIG · THE · "The dino can run." 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22302A"/>
                </a:solidFill>
                <a:latin typeface="Calibri"/>
              </a:rPr>
              <a:t>      run / dig / hop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