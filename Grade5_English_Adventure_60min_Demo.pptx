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548640"/>
            <a:ext cx="777240" cy="77724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0" y="594360"/>
            <a:ext cx="777240" cy="77724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5440680"/>
            <a:ext cx="777240" cy="77724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27080" y="5349240"/>
            <a:ext cx="777240" cy="77724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10972800" cy="685800"/>
          </a:xfrm>
          <a:prstGeom prst="rect">
            <a:avLst/>
          </a:prstGeom>
          <a:noFill/>
        </p:spPr>
        <p:txBody>
          <a:bodyPr wrap="square">
            <a:spAutoFit/>
          </a:bodyPr>
          <a:lstStyle/>
          <a:p>
            <a:pPr algn="ctr"/>
            <a:r>
              <a:rPr sz="3800" b="1">
                <a:solidFill>
                  <a:srgbClr val="FFFFFF"/>
                </a:solidFill>
                <a:latin typeface="Georgia"/>
              </a:rPr>
              <a:t>🌟 Welcome to Your English Adventure! 🌟</a:t>
            </a:r>
          </a:p>
        </p:txBody>
      </p:sp>
      <p:sp>
        <p:nvSpPr>
          <p:cNvPr id="9" name="TextBox 8"/>
          <p:cNvSpPr txBox="1"/>
          <p:nvPr/>
        </p:nvSpPr>
        <p:spPr>
          <a:xfrm>
            <a:off x="640080" y="2560320"/>
            <a:ext cx="10972800" cy="411480"/>
          </a:xfrm>
          <a:prstGeom prst="rect">
            <a:avLst/>
          </a:prstGeom>
          <a:noFill/>
        </p:spPr>
        <p:txBody>
          <a:bodyPr wrap="square">
            <a:spAutoFit/>
          </a:bodyPr>
          <a:lstStyle/>
          <a:p>
            <a:pPr algn="ctr"/>
            <a:r>
              <a:rPr sz="1800" b="0">
                <a:solidFill>
                  <a:srgbClr val="E1F5FE"/>
                </a:solidFill>
                <a:latin typeface="Calibri"/>
              </a:rPr>
              <a:t>Grade 5  •  United States  •  60-Minute Live Demo Class</a:t>
            </a:r>
          </a:p>
        </p:txBody>
      </p:sp>
      <p:sp>
        <p:nvSpPr>
          <p:cNvPr id="10" name="Rounded Rectangle 9"/>
          <p:cNvSpPr/>
          <p:nvPr/>
        </p:nvSpPr>
        <p:spPr>
          <a:xfrm>
            <a:off x="3017520" y="3291840"/>
            <a:ext cx="6126480" cy="12344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3520440"/>
            <a:ext cx="5760720" cy="822960"/>
          </a:xfrm>
          <a:prstGeom prst="rect">
            <a:avLst/>
          </a:prstGeom>
          <a:noFill/>
        </p:spPr>
        <p:txBody>
          <a:bodyPr wrap="square">
            <a:spAutoFit/>
          </a:bodyPr>
          <a:lstStyle/>
          <a:p>
            <a:pPr algn="ctr"/>
            <a:r>
              <a:rPr sz="1700" b="1">
                <a:solidFill>
                  <a:srgbClr val="FFFFFF"/>
                </a:solidFill>
                <a:latin typeface="Calibri"/>
              </a:rPr>
              <a:t>Today we PLAY, READ, and become
TENSE DETECTIVES 🕵️
(This is NOT a test!)</a:t>
            </a:r>
          </a:p>
        </p:txBody>
      </p:sp>
      <p:sp>
        <p:nvSpPr>
          <p:cNvPr id="12" name="TextBox 11"/>
          <p:cNvSpPr txBox="1"/>
          <p:nvPr/>
        </p:nvSpPr>
        <p:spPr>
          <a:xfrm>
            <a:off x="640080" y="4892040"/>
            <a:ext cx="10972800" cy="411480"/>
          </a:xfrm>
          <a:prstGeom prst="rect">
            <a:avLst/>
          </a:prstGeom>
          <a:noFill/>
        </p:spPr>
        <p:txBody>
          <a:bodyPr wrap="square">
            <a:spAutoFit/>
          </a:bodyPr>
          <a:lstStyle/>
          <a:p>
            <a:pPr algn="ctr"/>
            <a:r>
              <a:rPr sz="2200" b="0">
                <a:solidFill>
                  <a:srgbClr val="FFD54F"/>
                </a:solidFill>
                <a:latin typeface="Calibri"/>
              </a:rPr>
              <a:t>📖  🎮  🗣️  🧩  ⏰  🎯  —  Ready? Let's go!</a:t>
            </a:r>
          </a:p>
        </p:txBody>
      </p:sp>
      <p:sp>
        <p:nvSpPr>
          <p:cNvPr id="13" name="Rectangle 12"/>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437376"/>
            <a:ext cx="329505"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Welcome  |  0–5 min</a:t>
            </a:r>
          </a:p>
        </p:txBody>
      </p:sp>
      <p:sp>
        <p:nvSpPr>
          <p:cNvPr id="17" name="TextBox 16"/>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 / 37</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AGENDA</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0–5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Today's Mission</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659010"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Mission  |  0–5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 / 37</a:t>
            </a:r>
          </a:p>
        </p:txBody>
      </p:sp>
      <p:sp>
        <p:nvSpPr>
          <p:cNvPr id="14" name="Rounded Rectangle 13"/>
          <p:cNvSpPr/>
          <p:nvPr/>
        </p:nvSpPr>
        <p:spPr>
          <a:xfrm>
            <a:off x="384048" y="141732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35608" y="1600200"/>
            <a:ext cx="640080" cy="6400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5608" y="170992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17" name="TextBox 16"/>
          <p:cNvSpPr txBox="1"/>
          <p:nvPr/>
        </p:nvSpPr>
        <p:spPr>
          <a:xfrm>
            <a:off x="493776" y="2377440"/>
            <a:ext cx="2523744" cy="640080"/>
          </a:xfrm>
          <a:prstGeom prst="rect">
            <a:avLst/>
          </a:prstGeom>
          <a:noFill/>
        </p:spPr>
        <p:txBody>
          <a:bodyPr wrap="square">
            <a:spAutoFit/>
          </a:bodyPr>
          <a:lstStyle/>
          <a:p>
            <a:pPr algn="ctr"/>
            <a:r>
              <a:rPr sz="1500" b="1">
                <a:solidFill>
                  <a:srgbClr val="0A2A6E"/>
                </a:solidFill>
                <a:latin typeface="Calibri"/>
              </a:rPr>
              <a:t>Vocabulary Games</a:t>
            </a:r>
          </a:p>
        </p:txBody>
      </p:sp>
      <p:sp>
        <p:nvSpPr>
          <p:cNvPr id="18" name="TextBox 17"/>
          <p:cNvSpPr txBox="1"/>
          <p:nvPr/>
        </p:nvSpPr>
        <p:spPr>
          <a:xfrm>
            <a:off x="493776" y="2953512"/>
            <a:ext cx="2523744" cy="320040"/>
          </a:xfrm>
          <a:prstGeom prst="rect">
            <a:avLst/>
          </a:prstGeom>
          <a:noFill/>
        </p:spPr>
        <p:txBody>
          <a:bodyPr wrap="square">
            <a:spAutoFit/>
          </a:bodyPr>
          <a:lstStyle/>
          <a:p>
            <a:pPr algn="ctr"/>
            <a:r>
              <a:rPr sz="1200" b="0">
                <a:solidFill>
                  <a:srgbClr val="64748B"/>
                </a:solidFill>
                <a:latin typeface="Calibri"/>
              </a:rPr>
              <a:t>5–10 min</a:t>
            </a:r>
          </a:p>
        </p:txBody>
      </p:sp>
      <p:sp>
        <p:nvSpPr>
          <p:cNvPr id="19" name="Rounded Rectangle 18"/>
          <p:cNvSpPr/>
          <p:nvPr/>
        </p:nvSpPr>
        <p:spPr>
          <a:xfrm>
            <a:off x="3291840" y="141732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343400" y="1600200"/>
            <a:ext cx="640080" cy="64008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70992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22" name="TextBox 21"/>
          <p:cNvSpPr txBox="1"/>
          <p:nvPr/>
        </p:nvSpPr>
        <p:spPr>
          <a:xfrm>
            <a:off x="3401568" y="2377440"/>
            <a:ext cx="2523744" cy="640080"/>
          </a:xfrm>
          <a:prstGeom prst="rect">
            <a:avLst/>
          </a:prstGeom>
          <a:noFill/>
        </p:spPr>
        <p:txBody>
          <a:bodyPr wrap="square">
            <a:spAutoFit/>
          </a:bodyPr>
          <a:lstStyle/>
          <a:p>
            <a:pPr algn="ctr"/>
            <a:r>
              <a:rPr sz="1500" b="1">
                <a:solidFill>
                  <a:srgbClr val="0A2A6E"/>
                </a:solidFill>
                <a:latin typeface="Calibri"/>
              </a:rPr>
              <a:t>Reading Adventure</a:t>
            </a:r>
          </a:p>
        </p:txBody>
      </p:sp>
      <p:sp>
        <p:nvSpPr>
          <p:cNvPr id="23" name="TextBox 22"/>
          <p:cNvSpPr txBox="1"/>
          <p:nvPr/>
        </p:nvSpPr>
        <p:spPr>
          <a:xfrm>
            <a:off x="3401568" y="2953512"/>
            <a:ext cx="2523744" cy="320040"/>
          </a:xfrm>
          <a:prstGeom prst="rect">
            <a:avLst/>
          </a:prstGeom>
          <a:noFill/>
        </p:spPr>
        <p:txBody>
          <a:bodyPr wrap="square">
            <a:spAutoFit/>
          </a:bodyPr>
          <a:lstStyle/>
          <a:p>
            <a:pPr algn="ctr"/>
            <a:r>
              <a:rPr sz="1200" b="0">
                <a:solidFill>
                  <a:srgbClr val="64748B"/>
                </a:solidFill>
                <a:latin typeface="Calibri"/>
              </a:rPr>
              <a:t>10–20 min</a:t>
            </a:r>
          </a:p>
        </p:txBody>
      </p:sp>
      <p:sp>
        <p:nvSpPr>
          <p:cNvPr id="24" name="Rounded Rectangle 23"/>
          <p:cNvSpPr/>
          <p:nvPr/>
        </p:nvSpPr>
        <p:spPr>
          <a:xfrm>
            <a:off x="6199632" y="141732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51192" y="1600200"/>
            <a:ext cx="640080" cy="640080"/>
          </a:xfrm>
          <a:prstGeom prst="ellipse">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51192" y="170992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27" name="TextBox 26"/>
          <p:cNvSpPr txBox="1"/>
          <p:nvPr/>
        </p:nvSpPr>
        <p:spPr>
          <a:xfrm>
            <a:off x="6309360" y="2377440"/>
            <a:ext cx="2523744" cy="640080"/>
          </a:xfrm>
          <a:prstGeom prst="rect">
            <a:avLst/>
          </a:prstGeom>
          <a:noFill/>
        </p:spPr>
        <p:txBody>
          <a:bodyPr wrap="square">
            <a:spAutoFit/>
          </a:bodyPr>
          <a:lstStyle/>
          <a:p>
            <a:pPr algn="ctr"/>
            <a:r>
              <a:rPr sz="1500" b="1">
                <a:solidFill>
                  <a:srgbClr val="0A2A6E"/>
                </a:solidFill>
                <a:latin typeface="Calibri"/>
              </a:rPr>
              <a:t>Reading Games</a:t>
            </a:r>
          </a:p>
        </p:txBody>
      </p:sp>
      <p:sp>
        <p:nvSpPr>
          <p:cNvPr id="28" name="TextBox 27"/>
          <p:cNvSpPr txBox="1"/>
          <p:nvPr/>
        </p:nvSpPr>
        <p:spPr>
          <a:xfrm>
            <a:off x="6309360" y="2953512"/>
            <a:ext cx="2523744" cy="320040"/>
          </a:xfrm>
          <a:prstGeom prst="rect">
            <a:avLst/>
          </a:prstGeom>
          <a:noFill/>
        </p:spPr>
        <p:txBody>
          <a:bodyPr wrap="square">
            <a:spAutoFit/>
          </a:bodyPr>
          <a:lstStyle/>
          <a:p>
            <a:pPr algn="ctr"/>
            <a:r>
              <a:rPr sz="1200" b="0">
                <a:solidFill>
                  <a:srgbClr val="64748B"/>
                </a:solidFill>
                <a:latin typeface="Calibri"/>
              </a:rPr>
              <a:t>20–25 min</a:t>
            </a:r>
          </a:p>
        </p:txBody>
      </p:sp>
      <p:sp>
        <p:nvSpPr>
          <p:cNvPr id="29" name="Rounded Rectangle 28"/>
          <p:cNvSpPr/>
          <p:nvPr/>
        </p:nvSpPr>
        <p:spPr>
          <a:xfrm>
            <a:off x="9107424" y="141732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58984" y="1600200"/>
            <a:ext cx="640080" cy="640080"/>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58984" y="170992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32" name="TextBox 31"/>
          <p:cNvSpPr txBox="1"/>
          <p:nvPr/>
        </p:nvSpPr>
        <p:spPr>
          <a:xfrm>
            <a:off x="9217152" y="2377440"/>
            <a:ext cx="2523744" cy="640080"/>
          </a:xfrm>
          <a:prstGeom prst="rect">
            <a:avLst/>
          </a:prstGeom>
          <a:noFill/>
        </p:spPr>
        <p:txBody>
          <a:bodyPr wrap="square">
            <a:spAutoFit/>
          </a:bodyPr>
          <a:lstStyle/>
          <a:p>
            <a:pPr algn="ctr"/>
            <a:r>
              <a:rPr sz="1500" b="1">
                <a:solidFill>
                  <a:srgbClr val="0A2A6E"/>
                </a:solidFill>
                <a:latin typeface="Calibri"/>
              </a:rPr>
              <a:t>Tenses Lesson</a:t>
            </a:r>
          </a:p>
        </p:txBody>
      </p:sp>
      <p:sp>
        <p:nvSpPr>
          <p:cNvPr id="33" name="TextBox 32"/>
          <p:cNvSpPr txBox="1"/>
          <p:nvPr/>
        </p:nvSpPr>
        <p:spPr>
          <a:xfrm>
            <a:off x="9217152" y="2953512"/>
            <a:ext cx="2523744" cy="320040"/>
          </a:xfrm>
          <a:prstGeom prst="rect">
            <a:avLst/>
          </a:prstGeom>
          <a:noFill/>
        </p:spPr>
        <p:txBody>
          <a:bodyPr wrap="square">
            <a:spAutoFit/>
          </a:bodyPr>
          <a:lstStyle/>
          <a:p>
            <a:pPr algn="ctr"/>
            <a:r>
              <a:rPr sz="1200" b="0">
                <a:solidFill>
                  <a:srgbClr val="64748B"/>
                </a:solidFill>
                <a:latin typeface="Calibri"/>
              </a:rPr>
              <a:t>25–35 min</a:t>
            </a:r>
          </a:p>
        </p:txBody>
      </p:sp>
      <p:sp>
        <p:nvSpPr>
          <p:cNvPr id="34" name="Rounded Rectangle 33"/>
          <p:cNvSpPr/>
          <p:nvPr/>
        </p:nvSpPr>
        <p:spPr>
          <a:xfrm>
            <a:off x="384048" y="365760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435608" y="3840480"/>
            <a:ext cx="640080" cy="64008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35608" y="395020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37" name="TextBox 36"/>
          <p:cNvSpPr txBox="1"/>
          <p:nvPr/>
        </p:nvSpPr>
        <p:spPr>
          <a:xfrm>
            <a:off x="493776" y="4617720"/>
            <a:ext cx="2523744" cy="640080"/>
          </a:xfrm>
          <a:prstGeom prst="rect">
            <a:avLst/>
          </a:prstGeom>
          <a:noFill/>
        </p:spPr>
        <p:txBody>
          <a:bodyPr wrap="square">
            <a:spAutoFit/>
          </a:bodyPr>
          <a:lstStyle/>
          <a:p>
            <a:pPr algn="ctr"/>
            <a:r>
              <a:rPr sz="1500" b="1">
                <a:solidFill>
                  <a:srgbClr val="0A2A6E"/>
                </a:solidFill>
                <a:latin typeface="Calibri"/>
              </a:rPr>
              <a:t>Tense Detective</a:t>
            </a:r>
          </a:p>
        </p:txBody>
      </p:sp>
      <p:sp>
        <p:nvSpPr>
          <p:cNvPr id="38" name="TextBox 37"/>
          <p:cNvSpPr txBox="1"/>
          <p:nvPr/>
        </p:nvSpPr>
        <p:spPr>
          <a:xfrm>
            <a:off x="493776" y="5193792"/>
            <a:ext cx="2523744" cy="320040"/>
          </a:xfrm>
          <a:prstGeom prst="rect">
            <a:avLst/>
          </a:prstGeom>
          <a:noFill/>
        </p:spPr>
        <p:txBody>
          <a:bodyPr wrap="square">
            <a:spAutoFit/>
          </a:bodyPr>
          <a:lstStyle/>
          <a:p>
            <a:pPr algn="ctr"/>
            <a:r>
              <a:rPr sz="1200" b="0">
                <a:solidFill>
                  <a:srgbClr val="64748B"/>
                </a:solidFill>
                <a:latin typeface="Calibri"/>
              </a:rPr>
              <a:t>35–47 min</a:t>
            </a:r>
          </a:p>
        </p:txBody>
      </p:sp>
      <p:sp>
        <p:nvSpPr>
          <p:cNvPr id="39" name="Rounded Rectangle 38"/>
          <p:cNvSpPr/>
          <p:nvPr/>
        </p:nvSpPr>
        <p:spPr>
          <a:xfrm>
            <a:off x="3291840" y="365760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343400" y="384048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395020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42" name="TextBox 41"/>
          <p:cNvSpPr txBox="1"/>
          <p:nvPr/>
        </p:nvSpPr>
        <p:spPr>
          <a:xfrm>
            <a:off x="3401568" y="4617720"/>
            <a:ext cx="2523744" cy="640080"/>
          </a:xfrm>
          <a:prstGeom prst="rect">
            <a:avLst/>
          </a:prstGeom>
          <a:noFill/>
        </p:spPr>
        <p:txBody>
          <a:bodyPr wrap="square">
            <a:spAutoFit/>
          </a:bodyPr>
          <a:lstStyle/>
          <a:p>
            <a:pPr algn="ctr"/>
            <a:r>
              <a:rPr sz="1500" b="1">
                <a:solidFill>
                  <a:srgbClr val="0A2A6E"/>
                </a:solidFill>
                <a:latin typeface="Calibri"/>
              </a:rPr>
              <a:t>Story + Speaking</a:t>
            </a:r>
          </a:p>
        </p:txBody>
      </p:sp>
      <p:sp>
        <p:nvSpPr>
          <p:cNvPr id="43" name="TextBox 42"/>
          <p:cNvSpPr txBox="1"/>
          <p:nvPr/>
        </p:nvSpPr>
        <p:spPr>
          <a:xfrm>
            <a:off x="3401568" y="5193792"/>
            <a:ext cx="2523744" cy="320040"/>
          </a:xfrm>
          <a:prstGeom prst="rect">
            <a:avLst/>
          </a:prstGeom>
          <a:noFill/>
        </p:spPr>
        <p:txBody>
          <a:bodyPr wrap="square">
            <a:spAutoFit/>
          </a:bodyPr>
          <a:lstStyle/>
          <a:p>
            <a:pPr algn="ctr"/>
            <a:r>
              <a:rPr sz="1200" b="0">
                <a:solidFill>
                  <a:srgbClr val="64748B"/>
                </a:solidFill>
                <a:latin typeface="Calibri"/>
              </a:rPr>
              <a:t>47–55 min</a:t>
            </a:r>
          </a:p>
        </p:txBody>
      </p:sp>
      <p:sp>
        <p:nvSpPr>
          <p:cNvPr id="44" name="Rounded Rectangle 43"/>
          <p:cNvSpPr/>
          <p:nvPr/>
        </p:nvSpPr>
        <p:spPr>
          <a:xfrm>
            <a:off x="6199632" y="365760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51192" y="3840480"/>
            <a:ext cx="640080" cy="64008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51192" y="395020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47" name="TextBox 46"/>
          <p:cNvSpPr txBox="1"/>
          <p:nvPr/>
        </p:nvSpPr>
        <p:spPr>
          <a:xfrm>
            <a:off x="6309360" y="4617720"/>
            <a:ext cx="2523744" cy="640080"/>
          </a:xfrm>
          <a:prstGeom prst="rect">
            <a:avLst/>
          </a:prstGeom>
          <a:noFill/>
        </p:spPr>
        <p:txBody>
          <a:bodyPr wrap="square">
            <a:spAutoFit/>
          </a:bodyPr>
          <a:lstStyle/>
          <a:p>
            <a:pPr algn="ctr"/>
            <a:r>
              <a:rPr sz="1500" b="1">
                <a:solidFill>
                  <a:srgbClr val="0A2A6E"/>
                </a:solidFill>
                <a:latin typeface="Calibri"/>
              </a:rPr>
              <a:t>Quick Challenge</a:t>
            </a:r>
          </a:p>
        </p:txBody>
      </p:sp>
      <p:sp>
        <p:nvSpPr>
          <p:cNvPr id="48" name="TextBox 47"/>
          <p:cNvSpPr txBox="1"/>
          <p:nvPr/>
        </p:nvSpPr>
        <p:spPr>
          <a:xfrm>
            <a:off x="6309360" y="5193792"/>
            <a:ext cx="2523744" cy="320040"/>
          </a:xfrm>
          <a:prstGeom prst="rect">
            <a:avLst/>
          </a:prstGeom>
          <a:noFill/>
        </p:spPr>
        <p:txBody>
          <a:bodyPr wrap="square">
            <a:spAutoFit/>
          </a:bodyPr>
          <a:lstStyle/>
          <a:p>
            <a:pPr algn="ctr"/>
            <a:r>
              <a:rPr sz="1200" b="0">
                <a:solidFill>
                  <a:srgbClr val="64748B"/>
                </a:solidFill>
                <a:latin typeface="Calibri"/>
              </a:rPr>
              <a:t>55–58 min</a:t>
            </a:r>
          </a:p>
        </p:txBody>
      </p:sp>
      <p:sp>
        <p:nvSpPr>
          <p:cNvPr id="49" name="Rounded Rectangle 48"/>
          <p:cNvSpPr/>
          <p:nvPr/>
        </p:nvSpPr>
        <p:spPr>
          <a:xfrm>
            <a:off x="9107424" y="3657600"/>
            <a:ext cx="27432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58984" y="3840480"/>
            <a:ext cx="640080" cy="64008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58984" y="3950208"/>
            <a:ext cx="640080" cy="457200"/>
          </a:xfrm>
          <a:prstGeom prst="rect">
            <a:avLst/>
          </a:prstGeom>
          <a:noFill/>
        </p:spPr>
        <p:txBody>
          <a:bodyPr wrap="square">
            <a:spAutoFit/>
          </a:bodyPr>
          <a:lstStyle/>
          <a:p>
            <a:pPr algn="ctr"/>
            <a:r>
              <a:rPr sz="2200" b="0">
                <a:solidFill>
                  <a:srgbClr val="1F2937"/>
                </a:solidFill>
                <a:latin typeface="Calibri"/>
              </a:rPr>
              <a:t>⭐</a:t>
            </a:r>
          </a:p>
        </p:txBody>
      </p:sp>
      <p:sp>
        <p:nvSpPr>
          <p:cNvPr id="52" name="TextBox 51"/>
          <p:cNvSpPr txBox="1"/>
          <p:nvPr/>
        </p:nvSpPr>
        <p:spPr>
          <a:xfrm>
            <a:off x="9217152" y="4617720"/>
            <a:ext cx="2523744" cy="640080"/>
          </a:xfrm>
          <a:prstGeom prst="rect">
            <a:avLst/>
          </a:prstGeom>
          <a:noFill/>
        </p:spPr>
        <p:txBody>
          <a:bodyPr wrap="square">
            <a:spAutoFit/>
          </a:bodyPr>
          <a:lstStyle/>
          <a:p>
            <a:pPr algn="ctr"/>
            <a:r>
              <a:rPr sz="1500" b="1">
                <a:solidFill>
                  <a:srgbClr val="0A2A6E"/>
                </a:solidFill>
                <a:latin typeface="Calibri"/>
              </a:rPr>
              <a:t>Recap + Reward</a:t>
            </a:r>
          </a:p>
        </p:txBody>
      </p:sp>
      <p:sp>
        <p:nvSpPr>
          <p:cNvPr id="53" name="TextBox 52"/>
          <p:cNvSpPr txBox="1"/>
          <p:nvPr/>
        </p:nvSpPr>
        <p:spPr>
          <a:xfrm>
            <a:off x="9217152" y="5193792"/>
            <a:ext cx="2523744" cy="320040"/>
          </a:xfrm>
          <a:prstGeom prst="rect">
            <a:avLst/>
          </a:prstGeom>
          <a:noFill/>
        </p:spPr>
        <p:txBody>
          <a:bodyPr wrap="square">
            <a:spAutoFit/>
          </a:bodyPr>
          <a:lstStyle/>
          <a:p>
            <a:pPr algn="ctr"/>
            <a:r>
              <a:rPr sz="1200" b="0">
                <a:solidFill>
                  <a:srgbClr val="64748B"/>
                </a:solidFill>
                <a:latin typeface="Calibri"/>
              </a:rPr>
              <a:t>58–60 min</a:t>
            </a:r>
          </a:p>
        </p:txBody>
      </p:sp>
      <p:sp>
        <p:nvSpPr>
          <p:cNvPr id="54" name="TextBox 53"/>
          <p:cNvSpPr txBox="1"/>
          <p:nvPr/>
        </p:nvSpPr>
        <p:spPr>
          <a:xfrm>
            <a:off x="384048" y="5943600"/>
            <a:ext cx="8686800" cy="365760"/>
          </a:xfrm>
          <a:prstGeom prst="rect">
            <a:avLst/>
          </a:prstGeom>
          <a:noFill/>
        </p:spPr>
        <p:txBody>
          <a:bodyPr wrap="square">
            <a:spAutoFit/>
          </a:bodyPr>
          <a:lstStyle/>
          <a:p>
            <a:pPr algn="l"/>
            <a:r>
              <a:rPr sz="1500" b="1">
                <a:solidFill>
                  <a:srgbClr val="FF6F61"/>
                </a:solidFill>
                <a:latin typeface="Calibri"/>
              </a:rPr>
              <a:t>Collect ⭐ stars at every stop. Can you get all 8?</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0–5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Icebreaker: Would You Rather?</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988515"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Icebreaker  |  0–5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 / 37</a:t>
            </a:r>
          </a:p>
        </p:txBody>
      </p:sp>
      <p:sp>
        <p:nvSpPr>
          <p:cNvPr id="14" name="Rounded Rectangle 13"/>
          <p:cNvSpPr/>
          <p:nvPr/>
        </p:nvSpPr>
        <p:spPr>
          <a:xfrm>
            <a:off x="411480" y="1417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600200"/>
            <a:ext cx="3337560" cy="566928"/>
          </a:xfrm>
          <a:prstGeom prst="rect">
            <a:avLst/>
          </a:prstGeom>
          <a:noFill/>
        </p:spPr>
        <p:txBody>
          <a:bodyPr wrap="square">
            <a:spAutoFit/>
          </a:bodyPr>
          <a:lstStyle/>
          <a:p>
            <a:pPr algn="ctr"/>
            <a:r>
              <a:rPr sz="1400" b="1">
                <a:solidFill>
                  <a:srgbClr val="009688"/>
                </a:solidFill>
                <a:latin typeface="Calibri"/>
              </a:rPr>
              <a:t>Swim with sea turtles</a:t>
            </a:r>
          </a:p>
        </p:txBody>
      </p:sp>
      <p:sp>
        <p:nvSpPr>
          <p:cNvPr id="16" name="TextBox 15"/>
          <p:cNvSpPr txBox="1"/>
          <p:nvPr/>
        </p:nvSpPr>
        <p:spPr>
          <a:xfrm>
            <a:off x="548640" y="2267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17" name="TextBox 16"/>
          <p:cNvSpPr txBox="1"/>
          <p:nvPr/>
        </p:nvSpPr>
        <p:spPr>
          <a:xfrm>
            <a:off x="548640" y="2670048"/>
            <a:ext cx="3337560" cy="566928"/>
          </a:xfrm>
          <a:prstGeom prst="rect">
            <a:avLst/>
          </a:prstGeom>
          <a:noFill/>
        </p:spPr>
        <p:txBody>
          <a:bodyPr wrap="square">
            <a:spAutoFit/>
          </a:bodyPr>
          <a:lstStyle/>
          <a:p>
            <a:pPr algn="ctr"/>
            <a:r>
              <a:rPr sz="1400" b="1">
                <a:solidFill>
                  <a:srgbClr val="FF6F61"/>
                </a:solidFill>
                <a:latin typeface="Calibri"/>
              </a:rPr>
              <a:t>Fly with eagles</a:t>
            </a:r>
          </a:p>
        </p:txBody>
      </p:sp>
      <p:sp>
        <p:nvSpPr>
          <p:cNvPr id="18" name="Rounded Rectangle 17"/>
          <p:cNvSpPr/>
          <p:nvPr/>
        </p:nvSpPr>
        <p:spPr>
          <a:xfrm>
            <a:off x="4251960" y="1417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1600200"/>
            <a:ext cx="3337560" cy="566928"/>
          </a:xfrm>
          <a:prstGeom prst="rect">
            <a:avLst/>
          </a:prstGeom>
          <a:noFill/>
        </p:spPr>
        <p:txBody>
          <a:bodyPr wrap="square">
            <a:spAutoFit/>
          </a:bodyPr>
          <a:lstStyle/>
          <a:p>
            <a:pPr algn="ctr"/>
            <a:r>
              <a:rPr sz="1400" b="1">
                <a:solidFill>
                  <a:srgbClr val="009688"/>
                </a:solidFill>
                <a:latin typeface="Calibri"/>
              </a:rPr>
              <a:t>Explore a dark cave</a:t>
            </a:r>
          </a:p>
        </p:txBody>
      </p:sp>
      <p:sp>
        <p:nvSpPr>
          <p:cNvPr id="20" name="TextBox 19"/>
          <p:cNvSpPr txBox="1"/>
          <p:nvPr/>
        </p:nvSpPr>
        <p:spPr>
          <a:xfrm>
            <a:off x="4389120" y="2267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21" name="TextBox 20"/>
          <p:cNvSpPr txBox="1"/>
          <p:nvPr/>
        </p:nvSpPr>
        <p:spPr>
          <a:xfrm>
            <a:off x="4389120" y="2670048"/>
            <a:ext cx="3337560" cy="566928"/>
          </a:xfrm>
          <a:prstGeom prst="rect">
            <a:avLst/>
          </a:prstGeom>
          <a:noFill/>
        </p:spPr>
        <p:txBody>
          <a:bodyPr wrap="square">
            <a:spAutoFit/>
          </a:bodyPr>
          <a:lstStyle/>
          <a:p>
            <a:pPr algn="ctr"/>
            <a:r>
              <a:rPr sz="1400" b="1">
                <a:solidFill>
                  <a:srgbClr val="FF6F61"/>
                </a:solidFill>
                <a:latin typeface="Calibri"/>
              </a:rPr>
              <a:t>Explore outer space</a:t>
            </a:r>
          </a:p>
        </p:txBody>
      </p:sp>
      <p:sp>
        <p:nvSpPr>
          <p:cNvPr id="22" name="Rounded Rectangle 21"/>
          <p:cNvSpPr/>
          <p:nvPr/>
        </p:nvSpPr>
        <p:spPr>
          <a:xfrm>
            <a:off x="8092440" y="1417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1600200"/>
            <a:ext cx="3337560" cy="566928"/>
          </a:xfrm>
          <a:prstGeom prst="rect">
            <a:avLst/>
          </a:prstGeom>
          <a:noFill/>
        </p:spPr>
        <p:txBody>
          <a:bodyPr wrap="square">
            <a:spAutoFit/>
          </a:bodyPr>
          <a:lstStyle/>
          <a:p>
            <a:pPr algn="ctr"/>
            <a:r>
              <a:rPr sz="1400" b="1">
                <a:solidFill>
                  <a:srgbClr val="009688"/>
                </a:solidFill>
                <a:latin typeface="Calibri"/>
              </a:rPr>
              <a:t>Have a pet dragon</a:t>
            </a:r>
          </a:p>
        </p:txBody>
      </p:sp>
      <p:sp>
        <p:nvSpPr>
          <p:cNvPr id="24" name="TextBox 23"/>
          <p:cNvSpPr txBox="1"/>
          <p:nvPr/>
        </p:nvSpPr>
        <p:spPr>
          <a:xfrm>
            <a:off x="8229600" y="2267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25" name="TextBox 24"/>
          <p:cNvSpPr txBox="1"/>
          <p:nvPr/>
        </p:nvSpPr>
        <p:spPr>
          <a:xfrm>
            <a:off x="8229600" y="2670048"/>
            <a:ext cx="3337560" cy="566928"/>
          </a:xfrm>
          <a:prstGeom prst="rect">
            <a:avLst/>
          </a:prstGeom>
          <a:noFill/>
        </p:spPr>
        <p:txBody>
          <a:bodyPr wrap="square">
            <a:spAutoFit/>
          </a:bodyPr>
          <a:lstStyle/>
          <a:p>
            <a:pPr algn="ctr"/>
            <a:r>
              <a:rPr sz="1400" b="1">
                <a:solidFill>
                  <a:srgbClr val="FF6F61"/>
                </a:solidFill>
                <a:latin typeface="Calibri"/>
              </a:rPr>
              <a:t>Have a robot helper</a:t>
            </a:r>
          </a:p>
        </p:txBody>
      </p:sp>
      <p:sp>
        <p:nvSpPr>
          <p:cNvPr id="26" name="Rounded Rectangle 25"/>
          <p:cNvSpPr/>
          <p:nvPr/>
        </p:nvSpPr>
        <p:spPr>
          <a:xfrm>
            <a:off x="411480" y="3703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886200"/>
            <a:ext cx="3337560" cy="566928"/>
          </a:xfrm>
          <a:prstGeom prst="rect">
            <a:avLst/>
          </a:prstGeom>
          <a:noFill/>
        </p:spPr>
        <p:txBody>
          <a:bodyPr wrap="square">
            <a:spAutoFit/>
          </a:bodyPr>
          <a:lstStyle/>
          <a:p>
            <a:pPr algn="ctr"/>
            <a:r>
              <a:rPr sz="1400" b="1">
                <a:solidFill>
                  <a:srgbClr val="009688"/>
                </a:solidFill>
                <a:latin typeface="Calibri"/>
              </a:rPr>
              <a:t>Be super fast</a:t>
            </a:r>
          </a:p>
        </p:txBody>
      </p:sp>
      <p:sp>
        <p:nvSpPr>
          <p:cNvPr id="28" name="TextBox 27"/>
          <p:cNvSpPr txBox="1"/>
          <p:nvPr/>
        </p:nvSpPr>
        <p:spPr>
          <a:xfrm>
            <a:off x="548640" y="4553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29" name="TextBox 28"/>
          <p:cNvSpPr txBox="1"/>
          <p:nvPr/>
        </p:nvSpPr>
        <p:spPr>
          <a:xfrm>
            <a:off x="548640" y="4956048"/>
            <a:ext cx="3337560" cy="566928"/>
          </a:xfrm>
          <a:prstGeom prst="rect">
            <a:avLst/>
          </a:prstGeom>
          <a:noFill/>
        </p:spPr>
        <p:txBody>
          <a:bodyPr wrap="square">
            <a:spAutoFit/>
          </a:bodyPr>
          <a:lstStyle/>
          <a:p>
            <a:pPr algn="ctr"/>
            <a:r>
              <a:rPr sz="1400" b="1">
                <a:solidFill>
                  <a:srgbClr val="FF6F61"/>
                </a:solidFill>
                <a:latin typeface="Calibri"/>
              </a:rPr>
              <a:t>Be super strong</a:t>
            </a:r>
          </a:p>
        </p:txBody>
      </p:sp>
      <p:sp>
        <p:nvSpPr>
          <p:cNvPr id="30" name="Rounded Rectangle 29"/>
          <p:cNvSpPr/>
          <p:nvPr/>
        </p:nvSpPr>
        <p:spPr>
          <a:xfrm>
            <a:off x="4251960" y="3703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0" y="3886200"/>
            <a:ext cx="3337560" cy="566928"/>
          </a:xfrm>
          <a:prstGeom prst="rect">
            <a:avLst/>
          </a:prstGeom>
          <a:noFill/>
        </p:spPr>
        <p:txBody>
          <a:bodyPr wrap="square">
            <a:spAutoFit/>
          </a:bodyPr>
          <a:lstStyle/>
          <a:p>
            <a:pPr algn="ctr"/>
            <a:r>
              <a:rPr sz="1400" b="1">
                <a:solidFill>
                  <a:srgbClr val="009688"/>
                </a:solidFill>
                <a:latin typeface="Calibri"/>
              </a:rPr>
              <a:t>Always summer</a:t>
            </a:r>
          </a:p>
        </p:txBody>
      </p:sp>
      <p:sp>
        <p:nvSpPr>
          <p:cNvPr id="32" name="TextBox 31"/>
          <p:cNvSpPr txBox="1"/>
          <p:nvPr/>
        </p:nvSpPr>
        <p:spPr>
          <a:xfrm>
            <a:off x="4389120" y="4553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33" name="TextBox 32"/>
          <p:cNvSpPr txBox="1"/>
          <p:nvPr/>
        </p:nvSpPr>
        <p:spPr>
          <a:xfrm>
            <a:off x="4389120" y="4956048"/>
            <a:ext cx="3337560" cy="566928"/>
          </a:xfrm>
          <a:prstGeom prst="rect">
            <a:avLst/>
          </a:prstGeom>
          <a:noFill/>
        </p:spPr>
        <p:txBody>
          <a:bodyPr wrap="square">
            <a:spAutoFit/>
          </a:bodyPr>
          <a:lstStyle/>
          <a:p>
            <a:pPr algn="ctr"/>
            <a:r>
              <a:rPr sz="1400" b="1">
                <a:solidFill>
                  <a:srgbClr val="FF6F61"/>
                </a:solidFill>
                <a:latin typeface="Calibri"/>
              </a:rPr>
              <a:t>Always snow</a:t>
            </a:r>
          </a:p>
        </p:txBody>
      </p:sp>
      <p:sp>
        <p:nvSpPr>
          <p:cNvPr id="34" name="Rounded Rectangle 33"/>
          <p:cNvSpPr/>
          <p:nvPr/>
        </p:nvSpPr>
        <p:spPr>
          <a:xfrm>
            <a:off x="8092440" y="370332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3886200"/>
            <a:ext cx="3337560" cy="566928"/>
          </a:xfrm>
          <a:prstGeom prst="rect">
            <a:avLst/>
          </a:prstGeom>
          <a:noFill/>
        </p:spPr>
        <p:txBody>
          <a:bodyPr wrap="square">
            <a:spAutoFit/>
          </a:bodyPr>
          <a:lstStyle/>
          <a:p>
            <a:pPr algn="ctr"/>
            <a:r>
              <a:rPr sz="1400" b="1">
                <a:solidFill>
                  <a:srgbClr val="009688"/>
                </a:solidFill>
                <a:latin typeface="Calibri"/>
              </a:rPr>
              <a:t>Talk to animals</a:t>
            </a:r>
          </a:p>
        </p:txBody>
      </p:sp>
      <p:sp>
        <p:nvSpPr>
          <p:cNvPr id="36" name="TextBox 35"/>
          <p:cNvSpPr txBox="1"/>
          <p:nvPr/>
        </p:nvSpPr>
        <p:spPr>
          <a:xfrm>
            <a:off x="8229600" y="4553712"/>
            <a:ext cx="3337560" cy="310896"/>
          </a:xfrm>
          <a:prstGeom prst="rect">
            <a:avLst/>
          </a:prstGeom>
          <a:noFill/>
        </p:spPr>
        <p:txBody>
          <a:bodyPr wrap="square">
            <a:spAutoFit/>
          </a:bodyPr>
          <a:lstStyle/>
          <a:p>
            <a:pPr algn="ctr"/>
            <a:r>
              <a:rPr sz="1200" b="1">
                <a:solidFill>
                  <a:srgbClr val="64748B"/>
                </a:solidFill>
                <a:latin typeface="Calibri"/>
              </a:rPr>
              <a:t>— OR —</a:t>
            </a:r>
          </a:p>
        </p:txBody>
      </p:sp>
      <p:sp>
        <p:nvSpPr>
          <p:cNvPr id="37" name="TextBox 36"/>
          <p:cNvSpPr txBox="1"/>
          <p:nvPr/>
        </p:nvSpPr>
        <p:spPr>
          <a:xfrm>
            <a:off x="8229600" y="4956048"/>
            <a:ext cx="3337560" cy="566928"/>
          </a:xfrm>
          <a:prstGeom prst="rect">
            <a:avLst/>
          </a:prstGeom>
          <a:noFill/>
        </p:spPr>
        <p:txBody>
          <a:bodyPr wrap="square">
            <a:spAutoFit/>
          </a:bodyPr>
          <a:lstStyle/>
          <a:p>
            <a:pPr algn="ctr"/>
            <a:r>
              <a:rPr sz="1400" b="1">
                <a:solidFill>
                  <a:srgbClr val="FF6F61"/>
                </a:solidFill>
                <a:latin typeface="Calibri"/>
              </a:rPr>
              <a:t>Speak every language</a:t>
            </a:r>
          </a:p>
        </p:txBody>
      </p:sp>
      <p:sp>
        <p:nvSpPr>
          <p:cNvPr id="38" name="Rounded Rectangle 37"/>
          <p:cNvSpPr/>
          <p:nvPr/>
        </p:nvSpPr>
        <p:spPr>
          <a:xfrm>
            <a:off x="411480" y="5852160"/>
            <a:ext cx="8595360" cy="4572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925312"/>
            <a:ext cx="8321040" cy="329184"/>
          </a:xfrm>
          <a:prstGeom prst="rect">
            <a:avLst/>
          </a:prstGeom>
          <a:noFill/>
        </p:spPr>
        <p:txBody>
          <a:bodyPr wrap="square">
            <a:spAutoFit/>
          </a:bodyPr>
          <a:lstStyle/>
          <a:p>
            <a:pPr algn="l"/>
            <a:r>
              <a:rPr sz="1400" b="1">
                <a:solidFill>
                  <a:srgbClr val="0A2A6E"/>
                </a:solidFill>
                <a:latin typeface="Calibri"/>
              </a:rPr>
              <a:t>💬 Say the full sentence:  "I would rather ______ because ______."</a:t>
            </a:r>
          </a:p>
        </p:txBody>
      </p:sp>
      <p:sp>
        <p:nvSpPr>
          <p:cNvPr id="40" name="Rounded Rectangle 39"/>
          <p:cNvSpPr/>
          <p:nvPr/>
        </p:nvSpPr>
        <p:spPr>
          <a:xfrm>
            <a:off x="9646920" y="5897880"/>
            <a:ext cx="2194560" cy="41148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46920" y="5943600"/>
            <a:ext cx="2194560" cy="365760"/>
          </a:xfrm>
          <a:prstGeom prst="rect">
            <a:avLst/>
          </a:prstGeom>
          <a:noFill/>
        </p:spPr>
        <p:txBody>
          <a:bodyPr wrap="square">
            <a:spAutoFit/>
          </a:bodyPr>
          <a:lstStyle/>
          <a:p>
            <a:pPr algn="ctr"/>
            <a:r>
              <a:rPr sz="1300" b="1">
                <a:solidFill>
                  <a:srgbClr val="0A2A6E"/>
                </a:solidFill>
                <a:latin typeface="Calibri"/>
              </a:rPr>
              <a:t>+1 Star ⭐</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VOCAB</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5–10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Vocabulary Warm-Up — Part 1</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318021"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  5–10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4 / 37</a:t>
            </a:r>
          </a:p>
        </p:txBody>
      </p:sp>
      <p:sp>
        <p:nvSpPr>
          <p:cNvPr id="14" name="Rounded Rectangle 13"/>
          <p:cNvSpPr/>
          <p:nvPr/>
        </p:nvSpPr>
        <p:spPr>
          <a:xfrm>
            <a:off x="38404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035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17" name="TextBox 16"/>
          <p:cNvSpPr txBox="1"/>
          <p:nvPr/>
        </p:nvSpPr>
        <p:spPr>
          <a:xfrm>
            <a:off x="1389888" y="1536192"/>
            <a:ext cx="2514600" cy="365760"/>
          </a:xfrm>
          <a:prstGeom prst="rect">
            <a:avLst/>
          </a:prstGeom>
          <a:noFill/>
        </p:spPr>
        <p:txBody>
          <a:bodyPr wrap="square">
            <a:spAutoFit/>
          </a:bodyPr>
          <a:lstStyle/>
          <a:p>
            <a:pPr algn="l"/>
            <a:r>
              <a:rPr sz="1800" b="1">
                <a:solidFill>
                  <a:srgbClr val="0A2A6E"/>
                </a:solidFill>
                <a:latin typeface="Calibri"/>
              </a:rPr>
              <a:t>hatched</a:t>
            </a:r>
          </a:p>
        </p:txBody>
      </p:sp>
      <p:sp>
        <p:nvSpPr>
          <p:cNvPr id="18" name="TextBox 17"/>
          <p:cNvSpPr txBox="1"/>
          <p:nvPr/>
        </p:nvSpPr>
        <p:spPr>
          <a:xfrm>
            <a:off x="1389888" y="1901952"/>
            <a:ext cx="2514600" cy="292608"/>
          </a:xfrm>
          <a:prstGeom prst="rect">
            <a:avLst/>
          </a:prstGeom>
          <a:noFill/>
        </p:spPr>
        <p:txBody>
          <a:bodyPr wrap="square">
            <a:spAutoFit/>
          </a:bodyPr>
          <a:lstStyle/>
          <a:p>
            <a:pPr algn="l"/>
            <a:r>
              <a:rPr sz="1100" b="0">
                <a:solidFill>
                  <a:srgbClr val="64748B"/>
                </a:solidFill>
                <a:latin typeface="Calibri"/>
              </a:rPr>
              <a:t>/HACHT/</a:t>
            </a:r>
          </a:p>
        </p:txBody>
      </p:sp>
      <p:sp>
        <p:nvSpPr>
          <p:cNvPr id="19" name="TextBox 18"/>
          <p:cNvSpPr txBox="1"/>
          <p:nvPr/>
        </p:nvSpPr>
        <p:spPr>
          <a:xfrm>
            <a:off x="530352" y="2359152"/>
            <a:ext cx="3364992" cy="530352"/>
          </a:xfrm>
          <a:prstGeom prst="rect">
            <a:avLst/>
          </a:prstGeom>
          <a:noFill/>
        </p:spPr>
        <p:txBody>
          <a:bodyPr wrap="square">
            <a:spAutoFit/>
          </a:bodyPr>
          <a:lstStyle/>
          <a:p>
            <a:pPr algn="l"/>
            <a:r>
              <a:rPr sz="1300" b="0">
                <a:solidFill>
                  <a:srgbClr val="1F2937"/>
                </a:solidFill>
                <a:latin typeface="Calibri"/>
              </a:rPr>
              <a:t>came out of an egg</a:t>
            </a:r>
          </a:p>
        </p:txBody>
      </p:sp>
      <p:sp>
        <p:nvSpPr>
          <p:cNvPr id="20" name="TextBox 19"/>
          <p:cNvSpPr txBox="1"/>
          <p:nvPr/>
        </p:nvSpPr>
        <p:spPr>
          <a:xfrm>
            <a:off x="530352" y="2889504"/>
            <a:ext cx="3364992" cy="274320"/>
          </a:xfrm>
          <a:prstGeom prst="rect">
            <a:avLst/>
          </a:prstGeom>
          <a:noFill/>
        </p:spPr>
        <p:txBody>
          <a:bodyPr wrap="square">
            <a:spAutoFit/>
          </a:bodyPr>
          <a:lstStyle/>
          <a:p>
            <a:pPr algn="l"/>
            <a:r>
              <a:rPr sz="1100" b="1">
                <a:solidFill>
                  <a:srgbClr val="009688"/>
                </a:solidFill>
                <a:latin typeface="Calibri"/>
              </a:rPr>
              <a:t>≈ same as: emerged</a:t>
            </a:r>
          </a:p>
        </p:txBody>
      </p:sp>
      <p:sp>
        <p:nvSpPr>
          <p:cNvPr id="21" name="Rounded Rectangle 20"/>
          <p:cNvSpPr/>
          <p:nvPr/>
        </p:nvSpPr>
        <p:spPr>
          <a:xfrm>
            <a:off x="422452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37083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083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24" name="TextBox 23"/>
          <p:cNvSpPr txBox="1"/>
          <p:nvPr/>
        </p:nvSpPr>
        <p:spPr>
          <a:xfrm>
            <a:off x="5230368" y="1536192"/>
            <a:ext cx="2514600" cy="365760"/>
          </a:xfrm>
          <a:prstGeom prst="rect">
            <a:avLst/>
          </a:prstGeom>
          <a:noFill/>
        </p:spPr>
        <p:txBody>
          <a:bodyPr wrap="square">
            <a:spAutoFit/>
          </a:bodyPr>
          <a:lstStyle/>
          <a:p>
            <a:pPr algn="l"/>
            <a:r>
              <a:rPr sz="1800" b="1">
                <a:solidFill>
                  <a:srgbClr val="0A2A6E"/>
                </a:solidFill>
                <a:latin typeface="Calibri"/>
              </a:rPr>
              <a:t>volunteer</a:t>
            </a:r>
          </a:p>
        </p:txBody>
      </p:sp>
      <p:sp>
        <p:nvSpPr>
          <p:cNvPr id="25" name="TextBox 24"/>
          <p:cNvSpPr txBox="1"/>
          <p:nvPr/>
        </p:nvSpPr>
        <p:spPr>
          <a:xfrm>
            <a:off x="5230368" y="1901952"/>
            <a:ext cx="2514600" cy="292608"/>
          </a:xfrm>
          <a:prstGeom prst="rect">
            <a:avLst/>
          </a:prstGeom>
          <a:noFill/>
        </p:spPr>
        <p:txBody>
          <a:bodyPr wrap="square">
            <a:spAutoFit/>
          </a:bodyPr>
          <a:lstStyle/>
          <a:p>
            <a:pPr algn="l"/>
            <a:r>
              <a:rPr sz="1100" b="0">
                <a:solidFill>
                  <a:srgbClr val="64748B"/>
                </a:solidFill>
                <a:latin typeface="Calibri"/>
              </a:rPr>
              <a:t>/VOL-un-teer/</a:t>
            </a:r>
          </a:p>
        </p:txBody>
      </p:sp>
      <p:sp>
        <p:nvSpPr>
          <p:cNvPr id="26" name="TextBox 25"/>
          <p:cNvSpPr txBox="1"/>
          <p:nvPr/>
        </p:nvSpPr>
        <p:spPr>
          <a:xfrm>
            <a:off x="4370832" y="2359152"/>
            <a:ext cx="3364992" cy="530352"/>
          </a:xfrm>
          <a:prstGeom prst="rect">
            <a:avLst/>
          </a:prstGeom>
          <a:noFill/>
        </p:spPr>
        <p:txBody>
          <a:bodyPr wrap="square">
            <a:spAutoFit/>
          </a:bodyPr>
          <a:lstStyle/>
          <a:p>
            <a:pPr algn="l"/>
            <a:r>
              <a:rPr sz="1300" b="0">
                <a:solidFill>
                  <a:srgbClr val="1F2937"/>
                </a:solidFill>
                <a:latin typeface="Calibri"/>
              </a:rPr>
              <a:t>someone who helps without being paid</a:t>
            </a:r>
          </a:p>
        </p:txBody>
      </p:sp>
      <p:sp>
        <p:nvSpPr>
          <p:cNvPr id="27" name="TextBox 26"/>
          <p:cNvSpPr txBox="1"/>
          <p:nvPr/>
        </p:nvSpPr>
        <p:spPr>
          <a:xfrm>
            <a:off x="4370832" y="2889504"/>
            <a:ext cx="3364992" cy="274320"/>
          </a:xfrm>
          <a:prstGeom prst="rect">
            <a:avLst/>
          </a:prstGeom>
          <a:noFill/>
        </p:spPr>
        <p:txBody>
          <a:bodyPr wrap="square">
            <a:spAutoFit/>
          </a:bodyPr>
          <a:lstStyle/>
          <a:p>
            <a:pPr algn="l"/>
            <a:r>
              <a:rPr sz="1100" b="1">
                <a:solidFill>
                  <a:srgbClr val="009688"/>
                </a:solidFill>
                <a:latin typeface="Calibri"/>
              </a:rPr>
              <a:t>≈ same as: helper</a:t>
            </a:r>
          </a:p>
        </p:txBody>
      </p:sp>
      <p:sp>
        <p:nvSpPr>
          <p:cNvPr id="28" name="Rounded Rectangle 27"/>
          <p:cNvSpPr/>
          <p:nvPr/>
        </p:nvSpPr>
        <p:spPr>
          <a:xfrm>
            <a:off x="806500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1131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1131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31" name="TextBox 30"/>
          <p:cNvSpPr txBox="1"/>
          <p:nvPr/>
        </p:nvSpPr>
        <p:spPr>
          <a:xfrm>
            <a:off x="9070848" y="1536192"/>
            <a:ext cx="2514600" cy="365760"/>
          </a:xfrm>
          <a:prstGeom prst="rect">
            <a:avLst/>
          </a:prstGeom>
          <a:noFill/>
        </p:spPr>
        <p:txBody>
          <a:bodyPr wrap="square">
            <a:spAutoFit/>
          </a:bodyPr>
          <a:lstStyle/>
          <a:p>
            <a:pPr algn="l"/>
            <a:r>
              <a:rPr sz="1800" b="1">
                <a:solidFill>
                  <a:srgbClr val="0A2A6E"/>
                </a:solidFill>
                <a:latin typeface="Calibri"/>
              </a:rPr>
              <a:t>confuse</a:t>
            </a:r>
          </a:p>
        </p:txBody>
      </p:sp>
      <p:sp>
        <p:nvSpPr>
          <p:cNvPr id="32" name="TextBox 31"/>
          <p:cNvSpPr txBox="1"/>
          <p:nvPr/>
        </p:nvSpPr>
        <p:spPr>
          <a:xfrm>
            <a:off x="9070848" y="1901952"/>
            <a:ext cx="2514600" cy="292608"/>
          </a:xfrm>
          <a:prstGeom prst="rect">
            <a:avLst/>
          </a:prstGeom>
          <a:noFill/>
        </p:spPr>
        <p:txBody>
          <a:bodyPr wrap="square">
            <a:spAutoFit/>
          </a:bodyPr>
          <a:lstStyle/>
          <a:p>
            <a:pPr algn="l"/>
            <a:r>
              <a:rPr sz="1100" b="0">
                <a:solidFill>
                  <a:srgbClr val="64748B"/>
                </a:solidFill>
                <a:latin typeface="Calibri"/>
              </a:rPr>
              <a:t>/kun-FYOOZ/</a:t>
            </a:r>
          </a:p>
        </p:txBody>
      </p:sp>
      <p:sp>
        <p:nvSpPr>
          <p:cNvPr id="33" name="TextBox 32"/>
          <p:cNvSpPr txBox="1"/>
          <p:nvPr/>
        </p:nvSpPr>
        <p:spPr>
          <a:xfrm>
            <a:off x="8211312" y="2359152"/>
            <a:ext cx="3364992" cy="530352"/>
          </a:xfrm>
          <a:prstGeom prst="rect">
            <a:avLst/>
          </a:prstGeom>
          <a:noFill/>
        </p:spPr>
        <p:txBody>
          <a:bodyPr wrap="square">
            <a:spAutoFit/>
          </a:bodyPr>
          <a:lstStyle/>
          <a:p>
            <a:pPr algn="l"/>
            <a:r>
              <a:rPr sz="1300" b="0">
                <a:solidFill>
                  <a:srgbClr val="1F2937"/>
                </a:solidFill>
                <a:latin typeface="Calibri"/>
              </a:rPr>
              <a:t>to mix up someone's thinking</a:t>
            </a:r>
          </a:p>
        </p:txBody>
      </p:sp>
      <p:sp>
        <p:nvSpPr>
          <p:cNvPr id="34" name="TextBox 33"/>
          <p:cNvSpPr txBox="1"/>
          <p:nvPr/>
        </p:nvSpPr>
        <p:spPr>
          <a:xfrm>
            <a:off x="8211312" y="2889504"/>
            <a:ext cx="3364992" cy="274320"/>
          </a:xfrm>
          <a:prstGeom prst="rect">
            <a:avLst/>
          </a:prstGeom>
          <a:noFill/>
        </p:spPr>
        <p:txBody>
          <a:bodyPr wrap="square">
            <a:spAutoFit/>
          </a:bodyPr>
          <a:lstStyle/>
          <a:p>
            <a:pPr algn="l"/>
            <a:r>
              <a:rPr sz="1100" b="1">
                <a:solidFill>
                  <a:srgbClr val="009688"/>
                </a:solidFill>
                <a:latin typeface="Calibri"/>
              </a:rPr>
              <a:t>≈ same as: puzzle</a:t>
            </a:r>
          </a:p>
        </p:txBody>
      </p:sp>
      <p:sp>
        <p:nvSpPr>
          <p:cNvPr id="35" name="Rounded Rectangle 34"/>
          <p:cNvSpPr/>
          <p:nvPr/>
        </p:nvSpPr>
        <p:spPr>
          <a:xfrm>
            <a:off x="38404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035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38" name="TextBox 37"/>
          <p:cNvSpPr txBox="1"/>
          <p:nvPr/>
        </p:nvSpPr>
        <p:spPr>
          <a:xfrm>
            <a:off x="1389888" y="3621024"/>
            <a:ext cx="2514600" cy="365760"/>
          </a:xfrm>
          <a:prstGeom prst="rect">
            <a:avLst/>
          </a:prstGeom>
          <a:noFill/>
        </p:spPr>
        <p:txBody>
          <a:bodyPr wrap="square">
            <a:spAutoFit/>
          </a:bodyPr>
          <a:lstStyle/>
          <a:p>
            <a:pPr algn="l"/>
            <a:r>
              <a:rPr sz="1800" b="1">
                <a:solidFill>
                  <a:srgbClr val="0A2A6E"/>
                </a:solidFill>
                <a:latin typeface="Calibri"/>
              </a:rPr>
              <a:t>hatchling</a:t>
            </a:r>
          </a:p>
        </p:txBody>
      </p:sp>
      <p:sp>
        <p:nvSpPr>
          <p:cNvPr id="39" name="TextBox 38"/>
          <p:cNvSpPr txBox="1"/>
          <p:nvPr/>
        </p:nvSpPr>
        <p:spPr>
          <a:xfrm>
            <a:off x="1389888" y="3986784"/>
            <a:ext cx="2514600" cy="292608"/>
          </a:xfrm>
          <a:prstGeom prst="rect">
            <a:avLst/>
          </a:prstGeom>
          <a:noFill/>
        </p:spPr>
        <p:txBody>
          <a:bodyPr wrap="square">
            <a:spAutoFit/>
          </a:bodyPr>
          <a:lstStyle/>
          <a:p>
            <a:pPr algn="l"/>
            <a:r>
              <a:rPr sz="1100" b="0">
                <a:solidFill>
                  <a:srgbClr val="64748B"/>
                </a:solidFill>
                <a:latin typeface="Calibri"/>
              </a:rPr>
              <a:t>/HACH-ling/</a:t>
            </a:r>
          </a:p>
        </p:txBody>
      </p:sp>
      <p:sp>
        <p:nvSpPr>
          <p:cNvPr id="40" name="TextBox 39"/>
          <p:cNvSpPr txBox="1"/>
          <p:nvPr/>
        </p:nvSpPr>
        <p:spPr>
          <a:xfrm>
            <a:off x="530352" y="4443984"/>
            <a:ext cx="3364992" cy="530352"/>
          </a:xfrm>
          <a:prstGeom prst="rect">
            <a:avLst/>
          </a:prstGeom>
          <a:noFill/>
        </p:spPr>
        <p:txBody>
          <a:bodyPr wrap="square">
            <a:spAutoFit/>
          </a:bodyPr>
          <a:lstStyle/>
          <a:p>
            <a:pPr algn="l"/>
            <a:r>
              <a:rPr sz="1300" b="0">
                <a:solidFill>
                  <a:srgbClr val="1F2937"/>
                </a:solidFill>
                <a:latin typeface="Calibri"/>
              </a:rPr>
              <a:t>a baby animal just out of its egg</a:t>
            </a:r>
          </a:p>
        </p:txBody>
      </p:sp>
      <p:sp>
        <p:nvSpPr>
          <p:cNvPr id="41" name="TextBox 40"/>
          <p:cNvSpPr txBox="1"/>
          <p:nvPr/>
        </p:nvSpPr>
        <p:spPr>
          <a:xfrm>
            <a:off x="530352" y="4974336"/>
            <a:ext cx="3364992" cy="274320"/>
          </a:xfrm>
          <a:prstGeom prst="rect">
            <a:avLst/>
          </a:prstGeom>
          <a:noFill/>
        </p:spPr>
        <p:txBody>
          <a:bodyPr wrap="square">
            <a:spAutoFit/>
          </a:bodyPr>
          <a:lstStyle/>
          <a:p>
            <a:pPr algn="l"/>
            <a:r>
              <a:rPr sz="1100" b="1">
                <a:solidFill>
                  <a:srgbClr val="009688"/>
                </a:solidFill>
                <a:latin typeface="Calibri"/>
              </a:rPr>
              <a:t>≈ same as: newborn</a:t>
            </a:r>
          </a:p>
        </p:txBody>
      </p:sp>
      <p:sp>
        <p:nvSpPr>
          <p:cNvPr id="42" name="Rounded Rectangle 41"/>
          <p:cNvSpPr/>
          <p:nvPr/>
        </p:nvSpPr>
        <p:spPr>
          <a:xfrm>
            <a:off x="422452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37083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7083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45" name="TextBox 44"/>
          <p:cNvSpPr txBox="1"/>
          <p:nvPr/>
        </p:nvSpPr>
        <p:spPr>
          <a:xfrm>
            <a:off x="5230368" y="3621024"/>
            <a:ext cx="2514600" cy="365760"/>
          </a:xfrm>
          <a:prstGeom prst="rect">
            <a:avLst/>
          </a:prstGeom>
          <a:noFill/>
        </p:spPr>
        <p:txBody>
          <a:bodyPr wrap="square">
            <a:spAutoFit/>
          </a:bodyPr>
          <a:lstStyle/>
          <a:p>
            <a:pPr algn="l"/>
            <a:r>
              <a:rPr sz="1800" b="1">
                <a:solidFill>
                  <a:srgbClr val="0A2A6E"/>
                </a:solidFill>
                <a:latin typeface="Calibri"/>
              </a:rPr>
              <a:t>scramble</a:t>
            </a:r>
          </a:p>
        </p:txBody>
      </p:sp>
      <p:sp>
        <p:nvSpPr>
          <p:cNvPr id="46" name="TextBox 45"/>
          <p:cNvSpPr txBox="1"/>
          <p:nvPr/>
        </p:nvSpPr>
        <p:spPr>
          <a:xfrm>
            <a:off x="5230368" y="3986784"/>
            <a:ext cx="2514600" cy="292608"/>
          </a:xfrm>
          <a:prstGeom prst="rect">
            <a:avLst/>
          </a:prstGeom>
          <a:noFill/>
        </p:spPr>
        <p:txBody>
          <a:bodyPr wrap="square">
            <a:spAutoFit/>
          </a:bodyPr>
          <a:lstStyle/>
          <a:p>
            <a:pPr algn="l"/>
            <a:r>
              <a:rPr sz="1100" b="0">
                <a:solidFill>
                  <a:srgbClr val="64748B"/>
                </a:solidFill>
                <a:latin typeface="Calibri"/>
              </a:rPr>
              <a:t>/SKRAM-bul/</a:t>
            </a:r>
          </a:p>
        </p:txBody>
      </p:sp>
      <p:sp>
        <p:nvSpPr>
          <p:cNvPr id="47" name="TextBox 46"/>
          <p:cNvSpPr txBox="1"/>
          <p:nvPr/>
        </p:nvSpPr>
        <p:spPr>
          <a:xfrm>
            <a:off x="4370832" y="4443984"/>
            <a:ext cx="3364992" cy="530352"/>
          </a:xfrm>
          <a:prstGeom prst="rect">
            <a:avLst/>
          </a:prstGeom>
          <a:noFill/>
        </p:spPr>
        <p:txBody>
          <a:bodyPr wrap="square">
            <a:spAutoFit/>
          </a:bodyPr>
          <a:lstStyle/>
          <a:p>
            <a:pPr algn="l"/>
            <a:r>
              <a:rPr sz="1300" b="0">
                <a:solidFill>
                  <a:srgbClr val="1F2937"/>
                </a:solidFill>
                <a:latin typeface="Calibri"/>
              </a:rPr>
              <a:t>to move fast using hands and feet</a:t>
            </a:r>
          </a:p>
        </p:txBody>
      </p:sp>
      <p:sp>
        <p:nvSpPr>
          <p:cNvPr id="48" name="TextBox 47"/>
          <p:cNvSpPr txBox="1"/>
          <p:nvPr/>
        </p:nvSpPr>
        <p:spPr>
          <a:xfrm>
            <a:off x="4370832" y="4974336"/>
            <a:ext cx="3364992" cy="274320"/>
          </a:xfrm>
          <a:prstGeom prst="rect">
            <a:avLst/>
          </a:prstGeom>
          <a:noFill/>
        </p:spPr>
        <p:txBody>
          <a:bodyPr wrap="square">
            <a:spAutoFit/>
          </a:bodyPr>
          <a:lstStyle/>
          <a:p>
            <a:pPr algn="l"/>
            <a:r>
              <a:rPr sz="1100" b="1">
                <a:solidFill>
                  <a:srgbClr val="009688"/>
                </a:solidFill>
                <a:latin typeface="Calibri"/>
              </a:rPr>
              <a:t>≈ same as: clamber</a:t>
            </a:r>
          </a:p>
        </p:txBody>
      </p:sp>
      <p:sp>
        <p:nvSpPr>
          <p:cNvPr id="49" name="Rounded Rectangle 48"/>
          <p:cNvSpPr/>
          <p:nvPr/>
        </p:nvSpPr>
        <p:spPr>
          <a:xfrm>
            <a:off x="806500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21131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1131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52" name="TextBox 51"/>
          <p:cNvSpPr txBox="1"/>
          <p:nvPr/>
        </p:nvSpPr>
        <p:spPr>
          <a:xfrm>
            <a:off x="9070848" y="3621024"/>
            <a:ext cx="2514600" cy="365760"/>
          </a:xfrm>
          <a:prstGeom prst="rect">
            <a:avLst/>
          </a:prstGeom>
          <a:noFill/>
        </p:spPr>
        <p:txBody>
          <a:bodyPr wrap="square">
            <a:spAutoFit/>
          </a:bodyPr>
          <a:lstStyle/>
          <a:p>
            <a:pPr algn="l"/>
            <a:r>
              <a:rPr sz="1800" b="1">
                <a:solidFill>
                  <a:srgbClr val="0A2A6E"/>
                </a:solidFill>
                <a:latin typeface="Calibri"/>
              </a:rPr>
              <a:t>exhausted</a:t>
            </a:r>
          </a:p>
        </p:txBody>
      </p:sp>
      <p:sp>
        <p:nvSpPr>
          <p:cNvPr id="53" name="TextBox 52"/>
          <p:cNvSpPr txBox="1"/>
          <p:nvPr/>
        </p:nvSpPr>
        <p:spPr>
          <a:xfrm>
            <a:off x="9070848" y="3986784"/>
            <a:ext cx="2514600" cy="292608"/>
          </a:xfrm>
          <a:prstGeom prst="rect">
            <a:avLst/>
          </a:prstGeom>
          <a:noFill/>
        </p:spPr>
        <p:txBody>
          <a:bodyPr wrap="square">
            <a:spAutoFit/>
          </a:bodyPr>
          <a:lstStyle/>
          <a:p>
            <a:pPr algn="l"/>
            <a:r>
              <a:rPr sz="1100" b="0">
                <a:solidFill>
                  <a:srgbClr val="64748B"/>
                </a:solidFill>
                <a:latin typeface="Calibri"/>
              </a:rPr>
              <a:t>/eg-ZAWS-ted/</a:t>
            </a:r>
          </a:p>
        </p:txBody>
      </p:sp>
      <p:sp>
        <p:nvSpPr>
          <p:cNvPr id="54" name="TextBox 53"/>
          <p:cNvSpPr txBox="1"/>
          <p:nvPr/>
        </p:nvSpPr>
        <p:spPr>
          <a:xfrm>
            <a:off x="8211312" y="4443984"/>
            <a:ext cx="3364992" cy="530352"/>
          </a:xfrm>
          <a:prstGeom prst="rect">
            <a:avLst/>
          </a:prstGeom>
          <a:noFill/>
        </p:spPr>
        <p:txBody>
          <a:bodyPr wrap="square">
            <a:spAutoFit/>
          </a:bodyPr>
          <a:lstStyle/>
          <a:p>
            <a:pPr algn="l"/>
            <a:r>
              <a:rPr sz="1300" b="0">
                <a:solidFill>
                  <a:srgbClr val="1F2937"/>
                </a:solidFill>
                <a:latin typeface="Calibri"/>
              </a:rPr>
              <a:t>very, very tired</a:t>
            </a:r>
          </a:p>
        </p:txBody>
      </p:sp>
      <p:sp>
        <p:nvSpPr>
          <p:cNvPr id="55" name="TextBox 54"/>
          <p:cNvSpPr txBox="1"/>
          <p:nvPr/>
        </p:nvSpPr>
        <p:spPr>
          <a:xfrm>
            <a:off x="8211312" y="4974336"/>
            <a:ext cx="3364992" cy="274320"/>
          </a:xfrm>
          <a:prstGeom prst="rect">
            <a:avLst/>
          </a:prstGeom>
          <a:noFill/>
        </p:spPr>
        <p:txBody>
          <a:bodyPr wrap="square">
            <a:spAutoFit/>
          </a:bodyPr>
          <a:lstStyle/>
          <a:p>
            <a:pPr algn="l"/>
            <a:r>
              <a:rPr sz="1100" b="1">
                <a:solidFill>
                  <a:srgbClr val="009688"/>
                </a:solidFill>
                <a:latin typeface="Calibri"/>
              </a:rPr>
              <a:t>≈ same as: worn out</a:t>
            </a:r>
          </a:p>
        </p:txBody>
      </p:sp>
      <p:sp>
        <p:nvSpPr>
          <p:cNvPr id="56" name="TextBox 55"/>
          <p:cNvSpPr txBox="1"/>
          <p:nvPr/>
        </p:nvSpPr>
        <p:spPr>
          <a:xfrm>
            <a:off x="384048" y="5806440"/>
            <a:ext cx="8778240" cy="365760"/>
          </a:xfrm>
          <a:prstGeom prst="rect">
            <a:avLst/>
          </a:prstGeom>
          <a:noFill/>
        </p:spPr>
        <p:txBody>
          <a:bodyPr wrap="square">
            <a:spAutoFit/>
          </a:bodyPr>
          <a:lstStyle/>
          <a:p>
            <a:pPr algn="l"/>
            <a:r>
              <a:rPr sz="1400" b="1">
                <a:solidFill>
                  <a:srgbClr val="FF6F61"/>
                </a:solidFill>
                <a:latin typeface="Calibri"/>
              </a:rPr>
              <a:t>🔊 Say each word after me — then use ONE of them in your own sentence.</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VOCAB</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5–10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Vocabulary Warm-Up — Part 2</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647526"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  5–10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5 / 37</a:t>
            </a:r>
          </a:p>
        </p:txBody>
      </p:sp>
      <p:sp>
        <p:nvSpPr>
          <p:cNvPr id="14" name="Rounded Rectangle 13"/>
          <p:cNvSpPr/>
          <p:nvPr/>
        </p:nvSpPr>
        <p:spPr>
          <a:xfrm>
            <a:off x="38404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035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17" name="TextBox 16"/>
          <p:cNvSpPr txBox="1"/>
          <p:nvPr/>
        </p:nvSpPr>
        <p:spPr>
          <a:xfrm>
            <a:off x="1389888" y="1536192"/>
            <a:ext cx="2514600" cy="365760"/>
          </a:xfrm>
          <a:prstGeom prst="rect">
            <a:avLst/>
          </a:prstGeom>
          <a:noFill/>
        </p:spPr>
        <p:txBody>
          <a:bodyPr wrap="square">
            <a:spAutoFit/>
          </a:bodyPr>
          <a:lstStyle/>
          <a:p>
            <a:pPr algn="l"/>
            <a:r>
              <a:rPr sz="1800" b="1">
                <a:solidFill>
                  <a:srgbClr val="0A2A6E"/>
                </a:solidFill>
                <a:latin typeface="Calibri"/>
              </a:rPr>
              <a:t>biologist</a:t>
            </a:r>
          </a:p>
        </p:txBody>
      </p:sp>
      <p:sp>
        <p:nvSpPr>
          <p:cNvPr id="18" name="TextBox 17"/>
          <p:cNvSpPr txBox="1"/>
          <p:nvPr/>
        </p:nvSpPr>
        <p:spPr>
          <a:xfrm>
            <a:off x="1389888" y="1901952"/>
            <a:ext cx="2514600" cy="292608"/>
          </a:xfrm>
          <a:prstGeom prst="rect">
            <a:avLst/>
          </a:prstGeom>
          <a:noFill/>
        </p:spPr>
        <p:txBody>
          <a:bodyPr wrap="square">
            <a:spAutoFit/>
          </a:bodyPr>
          <a:lstStyle/>
          <a:p>
            <a:pPr algn="l"/>
            <a:r>
              <a:rPr sz="1100" b="0">
                <a:solidFill>
                  <a:srgbClr val="64748B"/>
                </a:solidFill>
                <a:latin typeface="Calibri"/>
              </a:rPr>
              <a:t>/by-OL-uh-jist/</a:t>
            </a:r>
          </a:p>
        </p:txBody>
      </p:sp>
      <p:sp>
        <p:nvSpPr>
          <p:cNvPr id="19" name="TextBox 18"/>
          <p:cNvSpPr txBox="1"/>
          <p:nvPr/>
        </p:nvSpPr>
        <p:spPr>
          <a:xfrm>
            <a:off x="530352" y="2359152"/>
            <a:ext cx="3364992" cy="530352"/>
          </a:xfrm>
          <a:prstGeom prst="rect">
            <a:avLst/>
          </a:prstGeom>
          <a:noFill/>
        </p:spPr>
        <p:txBody>
          <a:bodyPr wrap="square">
            <a:spAutoFit/>
          </a:bodyPr>
          <a:lstStyle/>
          <a:p>
            <a:pPr algn="l"/>
            <a:r>
              <a:rPr sz="1300" b="0">
                <a:solidFill>
                  <a:srgbClr val="1F2937"/>
                </a:solidFill>
                <a:latin typeface="Calibri"/>
              </a:rPr>
              <a:t>a scientist who studies living things</a:t>
            </a:r>
          </a:p>
        </p:txBody>
      </p:sp>
      <p:sp>
        <p:nvSpPr>
          <p:cNvPr id="20" name="TextBox 19"/>
          <p:cNvSpPr txBox="1"/>
          <p:nvPr/>
        </p:nvSpPr>
        <p:spPr>
          <a:xfrm>
            <a:off x="530352" y="2889504"/>
            <a:ext cx="3364992" cy="274320"/>
          </a:xfrm>
          <a:prstGeom prst="rect">
            <a:avLst/>
          </a:prstGeom>
          <a:noFill/>
        </p:spPr>
        <p:txBody>
          <a:bodyPr wrap="square">
            <a:spAutoFit/>
          </a:bodyPr>
          <a:lstStyle/>
          <a:p>
            <a:pPr algn="l"/>
            <a:r>
              <a:rPr sz="1100" b="1">
                <a:solidFill>
                  <a:srgbClr val="009688"/>
                </a:solidFill>
                <a:latin typeface="Calibri"/>
              </a:rPr>
              <a:t>≈ same as: scientist</a:t>
            </a:r>
          </a:p>
        </p:txBody>
      </p:sp>
      <p:sp>
        <p:nvSpPr>
          <p:cNvPr id="21" name="Rounded Rectangle 20"/>
          <p:cNvSpPr/>
          <p:nvPr/>
        </p:nvSpPr>
        <p:spPr>
          <a:xfrm>
            <a:off x="422452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37083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083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24" name="TextBox 23"/>
          <p:cNvSpPr txBox="1"/>
          <p:nvPr/>
        </p:nvSpPr>
        <p:spPr>
          <a:xfrm>
            <a:off x="5230368" y="1536192"/>
            <a:ext cx="2514600" cy="365760"/>
          </a:xfrm>
          <a:prstGeom prst="rect">
            <a:avLst/>
          </a:prstGeom>
          <a:noFill/>
        </p:spPr>
        <p:txBody>
          <a:bodyPr wrap="square">
            <a:spAutoFit/>
          </a:bodyPr>
          <a:lstStyle/>
          <a:p>
            <a:pPr algn="l"/>
            <a:r>
              <a:rPr sz="1800" b="1">
                <a:solidFill>
                  <a:srgbClr val="0A2A6E"/>
                </a:solidFill>
                <a:latin typeface="Calibri"/>
              </a:rPr>
              <a:t>survive</a:t>
            </a:r>
          </a:p>
        </p:txBody>
      </p:sp>
      <p:sp>
        <p:nvSpPr>
          <p:cNvPr id="25" name="TextBox 24"/>
          <p:cNvSpPr txBox="1"/>
          <p:nvPr/>
        </p:nvSpPr>
        <p:spPr>
          <a:xfrm>
            <a:off x="5230368" y="1901952"/>
            <a:ext cx="2514600" cy="292608"/>
          </a:xfrm>
          <a:prstGeom prst="rect">
            <a:avLst/>
          </a:prstGeom>
          <a:noFill/>
        </p:spPr>
        <p:txBody>
          <a:bodyPr wrap="square">
            <a:spAutoFit/>
          </a:bodyPr>
          <a:lstStyle/>
          <a:p>
            <a:pPr algn="l"/>
            <a:r>
              <a:rPr sz="1100" b="0">
                <a:solidFill>
                  <a:srgbClr val="64748B"/>
                </a:solidFill>
                <a:latin typeface="Calibri"/>
              </a:rPr>
              <a:t>/sur-VYVE/</a:t>
            </a:r>
          </a:p>
        </p:txBody>
      </p:sp>
      <p:sp>
        <p:nvSpPr>
          <p:cNvPr id="26" name="TextBox 25"/>
          <p:cNvSpPr txBox="1"/>
          <p:nvPr/>
        </p:nvSpPr>
        <p:spPr>
          <a:xfrm>
            <a:off x="4370832" y="2359152"/>
            <a:ext cx="3364992" cy="530352"/>
          </a:xfrm>
          <a:prstGeom prst="rect">
            <a:avLst/>
          </a:prstGeom>
          <a:noFill/>
        </p:spPr>
        <p:txBody>
          <a:bodyPr wrap="square">
            <a:spAutoFit/>
          </a:bodyPr>
          <a:lstStyle/>
          <a:p>
            <a:pPr algn="l"/>
            <a:r>
              <a:rPr sz="1300" b="0">
                <a:solidFill>
                  <a:srgbClr val="1F2937"/>
                </a:solidFill>
                <a:latin typeface="Calibri"/>
              </a:rPr>
              <a:t>to stay alive</a:t>
            </a:r>
          </a:p>
        </p:txBody>
      </p:sp>
      <p:sp>
        <p:nvSpPr>
          <p:cNvPr id="27" name="TextBox 26"/>
          <p:cNvSpPr txBox="1"/>
          <p:nvPr/>
        </p:nvSpPr>
        <p:spPr>
          <a:xfrm>
            <a:off x="4370832" y="2889504"/>
            <a:ext cx="3364992" cy="274320"/>
          </a:xfrm>
          <a:prstGeom prst="rect">
            <a:avLst/>
          </a:prstGeom>
          <a:noFill/>
        </p:spPr>
        <p:txBody>
          <a:bodyPr wrap="square">
            <a:spAutoFit/>
          </a:bodyPr>
          <a:lstStyle/>
          <a:p>
            <a:pPr algn="l"/>
            <a:r>
              <a:rPr sz="1100" b="1">
                <a:solidFill>
                  <a:srgbClr val="009688"/>
                </a:solidFill>
                <a:latin typeface="Calibri"/>
              </a:rPr>
              <a:t>≈ same as: live on</a:t>
            </a:r>
          </a:p>
        </p:txBody>
      </p:sp>
      <p:sp>
        <p:nvSpPr>
          <p:cNvPr id="28" name="Rounded Rectangle 27"/>
          <p:cNvSpPr/>
          <p:nvPr/>
        </p:nvSpPr>
        <p:spPr>
          <a:xfrm>
            <a:off x="8065008" y="1371600"/>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11312" y="1536192"/>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11312" y="1682496"/>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31" name="TextBox 30"/>
          <p:cNvSpPr txBox="1"/>
          <p:nvPr/>
        </p:nvSpPr>
        <p:spPr>
          <a:xfrm>
            <a:off x="9070848" y="1536192"/>
            <a:ext cx="2514600" cy="365760"/>
          </a:xfrm>
          <a:prstGeom prst="rect">
            <a:avLst/>
          </a:prstGeom>
          <a:noFill/>
        </p:spPr>
        <p:txBody>
          <a:bodyPr wrap="square">
            <a:spAutoFit/>
          </a:bodyPr>
          <a:lstStyle/>
          <a:p>
            <a:pPr algn="l"/>
            <a:r>
              <a:rPr sz="1800" b="1">
                <a:solidFill>
                  <a:srgbClr val="0A2A6E"/>
                </a:solidFill>
                <a:latin typeface="Calibri"/>
              </a:rPr>
              <a:t>journey</a:t>
            </a:r>
          </a:p>
        </p:txBody>
      </p:sp>
      <p:sp>
        <p:nvSpPr>
          <p:cNvPr id="32" name="TextBox 31"/>
          <p:cNvSpPr txBox="1"/>
          <p:nvPr/>
        </p:nvSpPr>
        <p:spPr>
          <a:xfrm>
            <a:off x="9070848" y="1901952"/>
            <a:ext cx="2514600" cy="292608"/>
          </a:xfrm>
          <a:prstGeom prst="rect">
            <a:avLst/>
          </a:prstGeom>
          <a:noFill/>
        </p:spPr>
        <p:txBody>
          <a:bodyPr wrap="square">
            <a:spAutoFit/>
          </a:bodyPr>
          <a:lstStyle/>
          <a:p>
            <a:pPr algn="l"/>
            <a:r>
              <a:rPr sz="1100" b="0">
                <a:solidFill>
                  <a:srgbClr val="64748B"/>
                </a:solidFill>
                <a:latin typeface="Calibri"/>
              </a:rPr>
              <a:t>/JUR-nee/</a:t>
            </a:r>
          </a:p>
        </p:txBody>
      </p:sp>
      <p:sp>
        <p:nvSpPr>
          <p:cNvPr id="33" name="TextBox 32"/>
          <p:cNvSpPr txBox="1"/>
          <p:nvPr/>
        </p:nvSpPr>
        <p:spPr>
          <a:xfrm>
            <a:off x="8211312" y="2359152"/>
            <a:ext cx="3364992" cy="530352"/>
          </a:xfrm>
          <a:prstGeom prst="rect">
            <a:avLst/>
          </a:prstGeom>
          <a:noFill/>
        </p:spPr>
        <p:txBody>
          <a:bodyPr wrap="square">
            <a:spAutoFit/>
          </a:bodyPr>
          <a:lstStyle/>
          <a:p>
            <a:pPr algn="l"/>
            <a:r>
              <a:rPr sz="1300" b="0">
                <a:solidFill>
                  <a:srgbClr val="1F2937"/>
                </a:solidFill>
                <a:latin typeface="Calibri"/>
              </a:rPr>
              <a:t>a long trip from one place to another</a:t>
            </a:r>
          </a:p>
        </p:txBody>
      </p:sp>
      <p:sp>
        <p:nvSpPr>
          <p:cNvPr id="34" name="TextBox 33"/>
          <p:cNvSpPr txBox="1"/>
          <p:nvPr/>
        </p:nvSpPr>
        <p:spPr>
          <a:xfrm>
            <a:off x="8211312" y="2889504"/>
            <a:ext cx="3364992" cy="274320"/>
          </a:xfrm>
          <a:prstGeom prst="rect">
            <a:avLst/>
          </a:prstGeom>
          <a:noFill/>
        </p:spPr>
        <p:txBody>
          <a:bodyPr wrap="square">
            <a:spAutoFit/>
          </a:bodyPr>
          <a:lstStyle/>
          <a:p>
            <a:pPr algn="l"/>
            <a:r>
              <a:rPr sz="1100" b="1">
                <a:solidFill>
                  <a:srgbClr val="009688"/>
                </a:solidFill>
                <a:latin typeface="Calibri"/>
              </a:rPr>
              <a:t>≈ same as: voyage</a:t>
            </a:r>
          </a:p>
        </p:txBody>
      </p:sp>
      <p:sp>
        <p:nvSpPr>
          <p:cNvPr id="35" name="Rounded Rectangle 34"/>
          <p:cNvSpPr/>
          <p:nvPr/>
        </p:nvSpPr>
        <p:spPr>
          <a:xfrm>
            <a:off x="38404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035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035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38" name="TextBox 37"/>
          <p:cNvSpPr txBox="1"/>
          <p:nvPr/>
        </p:nvSpPr>
        <p:spPr>
          <a:xfrm>
            <a:off x="1389888" y="3621024"/>
            <a:ext cx="2514600" cy="365760"/>
          </a:xfrm>
          <a:prstGeom prst="rect">
            <a:avLst/>
          </a:prstGeom>
          <a:noFill/>
        </p:spPr>
        <p:txBody>
          <a:bodyPr wrap="square">
            <a:spAutoFit/>
          </a:bodyPr>
          <a:lstStyle/>
          <a:p>
            <a:pPr algn="l"/>
            <a:r>
              <a:rPr sz="1800" b="1">
                <a:solidFill>
                  <a:srgbClr val="0A2A6E"/>
                </a:solidFill>
                <a:latin typeface="Calibri"/>
              </a:rPr>
              <a:t>gently</a:t>
            </a:r>
          </a:p>
        </p:txBody>
      </p:sp>
      <p:sp>
        <p:nvSpPr>
          <p:cNvPr id="39" name="TextBox 38"/>
          <p:cNvSpPr txBox="1"/>
          <p:nvPr/>
        </p:nvSpPr>
        <p:spPr>
          <a:xfrm>
            <a:off x="1389888" y="3986784"/>
            <a:ext cx="2514600" cy="292608"/>
          </a:xfrm>
          <a:prstGeom prst="rect">
            <a:avLst/>
          </a:prstGeom>
          <a:noFill/>
        </p:spPr>
        <p:txBody>
          <a:bodyPr wrap="square">
            <a:spAutoFit/>
          </a:bodyPr>
          <a:lstStyle/>
          <a:p>
            <a:pPr algn="l"/>
            <a:r>
              <a:rPr sz="1100" b="0">
                <a:solidFill>
                  <a:srgbClr val="64748B"/>
                </a:solidFill>
                <a:latin typeface="Calibri"/>
              </a:rPr>
              <a:t>/JENT-lee/</a:t>
            </a:r>
          </a:p>
        </p:txBody>
      </p:sp>
      <p:sp>
        <p:nvSpPr>
          <p:cNvPr id="40" name="TextBox 39"/>
          <p:cNvSpPr txBox="1"/>
          <p:nvPr/>
        </p:nvSpPr>
        <p:spPr>
          <a:xfrm>
            <a:off x="530352" y="4443984"/>
            <a:ext cx="3364992" cy="530352"/>
          </a:xfrm>
          <a:prstGeom prst="rect">
            <a:avLst/>
          </a:prstGeom>
          <a:noFill/>
        </p:spPr>
        <p:txBody>
          <a:bodyPr wrap="square">
            <a:spAutoFit/>
          </a:bodyPr>
          <a:lstStyle/>
          <a:p>
            <a:pPr algn="l"/>
            <a:r>
              <a:rPr sz="1300" b="0">
                <a:solidFill>
                  <a:srgbClr val="1F2937"/>
                </a:solidFill>
                <a:latin typeface="Calibri"/>
              </a:rPr>
              <a:t>softly and carefully</a:t>
            </a:r>
          </a:p>
        </p:txBody>
      </p:sp>
      <p:sp>
        <p:nvSpPr>
          <p:cNvPr id="41" name="TextBox 40"/>
          <p:cNvSpPr txBox="1"/>
          <p:nvPr/>
        </p:nvSpPr>
        <p:spPr>
          <a:xfrm>
            <a:off x="530352" y="4974336"/>
            <a:ext cx="3364992" cy="274320"/>
          </a:xfrm>
          <a:prstGeom prst="rect">
            <a:avLst/>
          </a:prstGeom>
          <a:noFill/>
        </p:spPr>
        <p:txBody>
          <a:bodyPr wrap="square">
            <a:spAutoFit/>
          </a:bodyPr>
          <a:lstStyle/>
          <a:p>
            <a:pPr algn="l"/>
            <a:r>
              <a:rPr sz="1100" b="1">
                <a:solidFill>
                  <a:srgbClr val="009688"/>
                </a:solidFill>
                <a:latin typeface="Calibri"/>
              </a:rPr>
              <a:t>≈ same as: carefully</a:t>
            </a:r>
          </a:p>
        </p:txBody>
      </p:sp>
      <p:sp>
        <p:nvSpPr>
          <p:cNvPr id="42" name="Rounded Rectangle 41"/>
          <p:cNvSpPr/>
          <p:nvPr/>
        </p:nvSpPr>
        <p:spPr>
          <a:xfrm>
            <a:off x="422452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37083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7083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45" name="TextBox 44"/>
          <p:cNvSpPr txBox="1"/>
          <p:nvPr/>
        </p:nvSpPr>
        <p:spPr>
          <a:xfrm>
            <a:off x="5230368" y="3621024"/>
            <a:ext cx="2514600" cy="365760"/>
          </a:xfrm>
          <a:prstGeom prst="rect">
            <a:avLst/>
          </a:prstGeom>
          <a:noFill/>
        </p:spPr>
        <p:txBody>
          <a:bodyPr wrap="square">
            <a:spAutoFit/>
          </a:bodyPr>
          <a:lstStyle/>
          <a:p>
            <a:pPr algn="l"/>
            <a:r>
              <a:rPr sz="1800" b="1">
                <a:solidFill>
                  <a:srgbClr val="0A2A6E"/>
                </a:solidFill>
                <a:latin typeface="Calibri"/>
              </a:rPr>
              <a:t>canyon</a:t>
            </a:r>
          </a:p>
        </p:txBody>
      </p:sp>
      <p:sp>
        <p:nvSpPr>
          <p:cNvPr id="46" name="TextBox 45"/>
          <p:cNvSpPr txBox="1"/>
          <p:nvPr/>
        </p:nvSpPr>
        <p:spPr>
          <a:xfrm>
            <a:off x="5230368" y="3986784"/>
            <a:ext cx="2514600" cy="292608"/>
          </a:xfrm>
          <a:prstGeom prst="rect">
            <a:avLst/>
          </a:prstGeom>
          <a:noFill/>
        </p:spPr>
        <p:txBody>
          <a:bodyPr wrap="square">
            <a:spAutoFit/>
          </a:bodyPr>
          <a:lstStyle/>
          <a:p>
            <a:pPr algn="l"/>
            <a:r>
              <a:rPr sz="1100" b="0">
                <a:solidFill>
                  <a:srgbClr val="64748B"/>
                </a:solidFill>
                <a:latin typeface="Calibri"/>
              </a:rPr>
              <a:t>/KAN-yun/</a:t>
            </a:r>
          </a:p>
        </p:txBody>
      </p:sp>
      <p:sp>
        <p:nvSpPr>
          <p:cNvPr id="47" name="TextBox 46"/>
          <p:cNvSpPr txBox="1"/>
          <p:nvPr/>
        </p:nvSpPr>
        <p:spPr>
          <a:xfrm>
            <a:off x="4370832" y="4443984"/>
            <a:ext cx="3364992" cy="530352"/>
          </a:xfrm>
          <a:prstGeom prst="rect">
            <a:avLst/>
          </a:prstGeom>
          <a:noFill/>
        </p:spPr>
        <p:txBody>
          <a:bodyPr wrap="square">
            <a:spAutoFit/>
          </a:bodyPr>
          <a:lstStyle/>
          <a:p>
            <a:pPr algn="l"/>
            <a:r>
              <a:rPr sz="1300" b="0">
                <a:solidFill>
                  <a:srgbClr val="1F2937"/>
                </a:solidFill>
                <a:latin typeface="Calibri"/>
              </a:rPr>
              <a:t>a deep, narrow valley</a:t>
            </a:r>
          </a:p>
        </p:txBody>
      </p:sp>
      <p:sp>
        <p:nvSpPr>
          <p:cNvPr id="48" name="TextBox 47"/>
          <p:cNvSpPr txBox="1"/>
          <p:nvPr/>
        </p:nvSpPr>
        <p:spPr>
          <a:xfrm>
            <a:off x="4370832" y="4974336"/>
            <a:ext cx="3364992" cy="274320"/>
          </a:xfrm>
          <a:prstGeom prst="rect">
            <a:avLst/>
          </a:prstGeom>
          <a:noFill/>
        </p:spPr>
        <p:txBody>
          <a:bodyPr wrap="square">
            <a:spAutoFit/>
          </a:bodyPr>
          <a:lstStyle/>
          <a:p>
            <a:pPr algn="l"/>
            <a:r>
              <a:rPr sz="1100" b="1">
                <a:solidFill>
                  <a:srgbClr val="009688"/>
                </a:solidFill>
                <a:latin typeface="Calibri"/>
              </a:rPr>
              <a:t>≈ same as: gorge</a:t>
            </a:r>
          </a:p>
        </p:txBody>
      </p:sp>
      <p:sp>
        <p:nvSpPr>
          <p:cNvPr id="49" name="Rounded Rectangle 48"/>
          <p:cNvSpPr/>
          <p:nvPr/>
        </p:nvSpPr>
        <p:spPr>
          <a:xfrm>
            <a:off x="8065008" y="3456432"/>
            <a:ext cx="3657600" cy="1874519"/>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211312" y="3621024"/>
            <a:ext cx="749808" cy="749808"/>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11312" y="3767328"/>
            <a:ext cx="749808" cy="502920"/>
          </a:xfrm>
          <a:prstGeom prst="rect">
            <a:avLst/>
          </a:prstGeom>
          <a:noFill/>
        </p:spPr>
        <p:txBody>
          <a:bodyPr wrap="square">
            <a:spAutoFit/>
          </a:bodyPr>
          <a:lstStyle/>
          <a:p>
            <a:pPr algn="ctr"/>
            <a:r>
              <a:rPr sz="2400" b="0">
                <a:solidFill>
                  <a:srgbClr val="1F2937"/>
                </a:solidFill>
                <a:latin typeface="Calibri"/>
              </a:rPr>
              <a:t>🚩</a:t>
            </a:r>
          </a:p>
        </p:txBody>
      </p:sp>
      <p:sp>
        <p:nvSpPr>
          <p:cNvPr id="52" name="TextBox 51"/>
          <p:cNvSpPr txBox="1"/>
          <p:nvPr/>
        </p:nvSpPr>
        <p:spPr>
          <a:xfrm>
            <a:off x="9070848" y="3621024"/>
            <a:ext cx="2514600" cy="365760"/>
          </a:xfrm>
          <a:prstGeom prst="rect">
            <a:avLst/>
          </a:prstGeom>
          <a:noFill/>
        </p:spPr>
        <p:txBody>
          <a:bodyPr wrap="square">
            <a:spAutoFit/>
          </a:bodyPr>
          <a:lstStyle/>
          <a:p>
            <a:pPr algn="l"/>
            <a:r>
              <a:rPr sz="1800" b="1">
                <a:solidFill>
                  <a:srgbClr val="0A2A6E"/>
                </a:solidFill>
                <a:latin typeface="Calibri"/>
              </a:rPr>
              <a:t>marked</a:t>
            </a:r>
          </a:p>
        </p:txBody>
      </p:sp>
      <p:sp>
        <p:nvSpPr>
          <p:cNvPr id="53" name="TextBox 52"/>
          <p:cNvSpPr txBox="1"/>
          <p:nvPr/>
        </p:nvSpPr>
        <p:spPr>
          <a:xfrm>
            <a:off x="9070848" y="3986784"/>
            <a:ext cx="2514600" cy="292608"/>
          </a:xfrm>
          <a:prstGeom prst="rect">
            <a:avLst/>
          </a:prstGeom>
          <a:noFill/>
        </p:spPr>
        <p:txBody>
          <a:bodyPr wrap="square">
            <a:spAutoFit/>
          </a:bodyPr>
          <a:lstStyle/>
          <a:p>
            <a:pPr algn="l"/>
            <a:r>
              <a:rPr sz="1100" b="0">
                <a:solidFill>
                  <a:srgbClr val="64748B"/>
                </a:solidFill>
                <a:latin typeface="Calibri"/>
              </a:rPr>
              <a:t>/MARKT/</a:t>
            </a:r>
          </a:p>
        </p:txBody>
      </p:sp>
      <p:sp>
        <p:nvSpPr>
          <p:cNvPr id="54" name="TextBox 53"/>
          <p:cNvSpPr txBox="1"/>
          <p:nvPr/>
        </p:nvSpPr>
        <p:spPr>
          <a:xfrm>
            <a:off x="8211312" y="4443984"/>
            <a:ext cx="3364992" cy="530352"/>
          </a:xfrm>
          <a:prstGeom prst="rect">
            <a:avLst/>
          </a:prstGeom>
          <a:noFill/>
        </p:spPr>
        <p:txBody>
          <a:bodyPr wrap="square">
            <a:spAutoFit/>
          </a:bodyPr>
          <a:lstStyle/>
          <a:p>
            <a:pPr algn="l"/>
            <a:r>
              <a:rPr sz="1300" b="0">
                <a:solidFill>
                  <a:srgbClr val="1F2937"/>
                </a:solidFill>
                <a:latin typeface="Calibri"/>
              </a:rPr>
              <a:t>showed with a sign so people know</a:t>
            </a:r>
          </a:p>
        </p:txBody>
      </p:sp>
      <p:sp>
        <p:nvSpPr>
          <p:cNvPr id="55" name="TextBox 54"/>
          <p:cNvSpPr txBox="1"/>
          <p:nvPr/>
        </p:nvSpPr>
        <p:spPr>
          <a:xfrm>
            <a:off x="8211312" y="4974336"/>
            <a:ext cx="3364992" cy="274320"/>
          </a:xfrm>
          <a:prstGeom prst="rect">
            <a:avLst/>
          </a:prstGeom>
          <a:noFill/>
        </p:spPr>
        <p:txBody>
          <a:bodyPr wrap="square">
            <a:spAutoFit/>
          </a:bodyPr>
          <a:lstStyle/>
          <a:p>
            <a:pPr algn="l"/>
            <a:r>
              <a:rPr sz="1100" b="1">
                <a:solidFill>
                  <a:srgbClr val="009688"/>
                </a:solidFill>
                <a:latin typeface="Calibri"/>
              </a:rPr>
              <a:t>≈ same as: labeled</a:t>
            </a:r>
          </a:p>
        </p:txBody>
      </p:sp>
      <p:sp>
        <p:nvSpPr>
          <p:cNvPr id="56" name="TextBox 55"/>
          <p:cNvSpPr txBox="1"/>
          <p:nvPr/>
        </p:nvSpPr>
        <p:spPr>
          <a:xfrm>
            <a:off x="384048" y="5806440"/>
            <a:ext cx="8778240" cy="365760"/>
          </a:xfrm>
          <a:prstGeom prst="rect">
            <a:avLst/>
          </a:prstGeom>
          <a:noFill/>
        </p:spPr>
        <p:txBody>
          <a:bodyPr wrap="square">
            <a:spAutoFit/>
          </a:bodyPr>
          <a:lstStyle/>
          <a:p>
            <a:pPr algn="l"/>
            <a:r>
              <a:rPr sz="1400" b="1">
                <a:solidFill>
                  <a:srgbClr val="FF6F61"/>
                </a:solidFill>
                <a:latin typeface="Calibri"/>
              </a:rPr>
              <a:t>🔊 Which word is your favorite? Say it three times, loud and proud!</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5–10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Game 1: Guess the Word!</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977031"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game  |  5–10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6 / 37</a:t>
            </a:r>
          </a:p>
        </p:txBody>
      </p:sp>
      <p:sp>
        <p:nvSpPr>
          <p:cNvPr id="14" name="Rounded Rectangle 13"/>
          <p:cNvSpPr/>
          <p:nvPr/>
        </p:nvSpPr>
        <p:spPr>
          <a:xfrm>
            <a:off x="457200" y="1371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1554480"/>
            <a:ext cx="2011680" cy="169164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029968"/>
            <a:ext cx="2011680" cy="640080"/>
          </a:xfrm>
          <a:prstGeom prst="rect">
            <a:avLst/>
          </a:prstGeom>
          <a:noFill/>
        </p:spPr>
        <p:txBody>
          <a:bodyPr wrap="square">
            <a:spAutoFit/>
          </a:bodyPr>
          <a:lstStyle/>
          <a:p>
            <a:pPr algn="ctr"/>
            <a:r>
              <a:rPr sz="2600" b="0">
                <a:solidFill>
                  <a:srgbClr val="1F2937"/>
                </a:solidFill>
                <a:latin typeface="Calibri"/>
              </a:rPr>
              <a:t>🥚➡️🐢</a:t>
            </a:r>
          </a:p>
        </p:txBody>
      </p:sp>
      <p:sp>
        <p:nvSpPr>
          <p:cNvPr id="17" name="TextBox 16"/>
          <p:cNvSpPr txBox="1"/>
          <p:nvPr/>
        </p:nvSpPr>
        <p:spPr>
          <a:xfrm>
            <a:off x="2788920" y="1755648"/>
            <a:ext cx="3017520" cy="822960"/>
          </a:xfrm>
          <a:prstGeom prst="rect">
            <a:avLst/>
          </a:prstGeom>
          <a:noFill/>
        </p:spPr>
        <p:txBody>
          <a:bodyPr wrap="square">
            <a:spAutoFit/>
          </a:bodyPr>
          <a:lstStyle/>
          <a:p>
            <a:pPr algn="l"/>
            <a:r>
              <a:rPr sz="1500" b="1">
                <a:solidFill>
                  <a:srgbClr val="0A2A6E"/>
                </a:solidFill>
                <a:latin typeface="Calibri"/>
              </a:rPr>
              <a:t>It just came out of an egg.</a:t>
            </a:r>
          </a:p>
        </p:txBody>
      </p:sp>
      <p:sp>
        <p:nvSpPr>
          <p:cNvPr id="18" name="TextBox 17"/>
          <p:cNvSpPr txBox="1"/>
          <p:nvPr/>
        </p:nvSpPr>
        <p:spPr>
          <a:xfrm>
            <a:off x="2788920" y="2697480"/>
            <a:ext cx="3017520" cy="411480"/>
          </a:xfrm>
          <a:prstGeom prst="rect">
            <a:avLst/>
          </a:prstGeom>
          <a:noFill/>
        </p:spPr>
        <p:txBody>
          <a:bodyPr wrap="square">
            <a:spAutoFit/>
          </a:bodyPr>
          <a:lstStyle/>
          <a:p>
            <a:pPr algn="l"/>
            <a:r>
              <a:rPr sz="1300" b="0">
                <a:solidFill>
                  <a:srgbClr val="64748B"/>
                </a:solidFill>
                <a:latin typeface="Calibri"/>
              </a:rPr>
              <a:t>Your word:  _____________</a:t>
            </a:r>
          </a:p>
        </p:txBody>
      </p:sp>
      <p:sp>
        <p:nvSpPr>
          <p:cNvPr id="19" name="Rounded Rectangle 18"/>
          <p:cNvSpPr/>
          <p:nvPr/>
        </p:nvSpPr>
        <p:spPr>
          <a:xfrm>
            <a:off x="6217920" y="1371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2512" y="1554480"/>
            <a:ext cx="2011680" cy="169164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029968"/>
            <a:ext cx="2011680" cy="640080"/>
          </a:xfrm>
          <a:prstGeom prst="rect">
            <a:avLst/>
          </a:prstGeom>
          <a:noFill/>
        </p:spPr>
        <p:txBody>
          <a:bodyPr wrap="square">
            <a:spAutoFit/>
          </a:bodyPr>
          <a:lstStyle/>
          <a:p>
            <a:pPr algn="ctr"/>
            <a:r>
              <a:rPr sz="2600" b="0">
                <a:solidFill>
                  <a:srgbClr val="1F2937"/>
                </a:solidFill>
                <a:latin typeface="Calibri"/>
              </a:rPr>
              <a:t>😴💤</a:t>
            </a:r>
          </a:p>
        </p:txBody>
      </p:sp>
      <p:sp>
        <p:nvSpPr>
          <p:cNvPr id="22" name="TextBox 21"/>
          <p:cNvSpPr txBox="1"/>
          <p:nvPr/>
        </p:nvSpPr>
        <p:spPr>
          <a:xfrm>
            <a:off x="8549640" y="1755648"/>
            <a:ext cx="3017520" cy="822960"/>
          </a:xfrm>
          <a:prstGeom prst="rect">
            <a:avLst/>
          </a:prstGeom>
          <a:noFill/>
        </p:spPr>
        <p:txBody>
          <a:bodyPr wrap="square">
            <a:spAutoFit/>
          </a:bodyPr>
          <a:lstStyle/>
          <a:p>
            <a:pPr algn="l"/>
            <a:r>
              <a:rPr sz="1500" b="1">
                <a:solidFill>
                  <a:srgbClr val="0A2A6E"/>
                </a:solidFill>
                <a:latin typeface="Calibri"/>
              </a:rPr>
              <a:t>You feel this after a very long day.</a:t>
            </a:r>
          </a:p>
        </p:txBody>
      </p:sp>
      <p:sp>
        <p:nvSpPr>
          <p:cNvPr id="23" name="TextBox 22"/>
          <p:cNvSpPr txBox="1"/>
          <p:nvPr/>
        </p:nvSpPr>
        <p:spPr>
          <a:xfrm>
            <a:off x="8549640" y="2697480"/>
            <a:ext cx="3017520" cy="411480"/>
          </a:xfrm>
          <a:prstGeom prst="rect">
            <a:avLst/>
          </a:prstGeom>
          <a:noFill/>
        </p:spPr>
        <p:txBody>
          <a:bodyPr wrap="square">
            <a:spAutoFit/>
          </a:bodyPr>
          <a:lstStyle/>
          <a:p>
            <a:pPr algn="l"/>
            <a:r>
              <a:rPr sz="1300" b="0">
                <a:solidFill>
                  <a:srgbClr val="64748B"/>
                </a:solidFill>
                <a:latin typeface="Calibri"/>
              </a:rPr>
              <a:t>Your word:  _____________</a:t>
            </a:r>
          </a:p>
        </p:txBody>
      </p:sp>
      <p:sp>
        <p:nvSpPr>
          <p:cNvPr id="24" name="Rounded Rectangle 23"/>
          <p:cNvSpPr/>
          <p:nvPr/>
        </p:nvSpPr>
        <p:spPr>
          <a:xfrm>
            <a:off x="457200" y="3657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1792" y="3840480"/>
            <a:ext cx="2011680" cy="169164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315968"/>
            <a:ext cx="2011680" cy="640080"/>
          </a:xfrm>
          <a:prstGeom prst="rect">
            <a:avLst/>
          </a:prstGeom>
          <a:noFill/>
        </p:spPr>
        <p:txBody>
          <a:bodyPr wrap="square">
            <a:spAutoFit/>
          </a:bodyPr>
          <a:lstStyle/>
          <a:p>
            <a:pPr algn="ctr"/>
            <a:r>
              <a:rPr sz="2600" b="0">
                <a:solidFill>
                  <a:srgbClr val="1F2937"/>
                </a:solidFill>
                <a:latin typeface="Calibri"/>
              </a:rPr>
              <a:t>🙋❤️</a:t>
            </a:r>
          </a:p>
        </p:txBody>
      </p:sp>
      <p:sp>
        <p:nvSpPr>
          <p:cNvPr id="27" name="TextBox 26"/>
          <p:cNvSpPr txBox="1"/>
          <p:nvPr/>
        </p:nvSpPr>
        <p:spPr>
          <a:xfrm>
            <a:off x="2788920" y="4041648"/>
            <a:ext cx="3017520" cy="822960"/>
          </a:xfrm>
          <a:prstGeom prst="rect">
            <a:avLst/>
          </a:prstGeom>
          <a:noFill/>
        </p:spPr>
        <p:txBody>
          <a:bodyPr wrap="square">
            <a:spAutoFit/>
          </a:bodyPr>
          <a:lstStyle/>
          <a:p>
            <a:pPr algn="l"/>
            <a:r>
              <a:rPr sz="1500" b="1">
                <a:solidFill>
                  <a:srgbClr val="0A2A6E"/>
                </a:solidFill>
                <a:latin typeface="Calibri"/>
              </a:rPr>
              <a:t>This person helps but gets no money.</a:t>
            </a:r>
          </a:p>
        </p:txBody>
      </p:sp>
      <p:sp>
        <p:nvSpPr>
          <p:cNvPr id="28" name="TextBox 27"/>
          <p:cNvSpPr txBox="1"/>
          <p:nvPr/>
        </p:nvSpPr>
        <p:spPr>
          <a:xfrm>
            <a:off x="2788920" y="4983480"/>
            <a:ext cx="3017520" cy="411480"/>
          </a:xfrm>
          <a:prstGeom prst="rect">
            <a:avLst/>
          </a:prstGeom>
          <a:noFill/>
        </p:spPr>
        <p:txBody>
          <a:bodyPr wrap="square">
            <a:spAutoFit/>
          </a:bodyPr>
          <a:lstStyle/>
          <a:p>
            <a:pPr algn="l"/>
            <a:r>
              <a:rPr sz="1300" b="0">
                <a:solidFill>
                  <a:srgbClr val="64748B"/>
                </a:solidFill>
                <a:latin typeface="Calibri"/>
              </a:rPr>
              <a:t>Your word:  _____________</a:t>
            </a:r>
          </a:p>
        </p:txBody>
      </p:sp>
      <p:sp>
        <p:nvSpPr>
          <p:cNvPr id="29" name="Rounded Rectangle 28"/>
          <p:cNvSpPr/>
          <p:nvPr/>
        </p:nvSpPr>
        <p:spPr>
          <a:xfrm>
            <a:off x="6217920" y="3657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82512" y="3840480"/>
            <a:ext cx="2011680" cy="169164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315968"/>
            <a:ext cx="2011680" cy="640080"/>
          </a:xfrm>
          <a:prstGeom prst="rect">
            <a:avLst/>
          </a:prstGeom>
          <a:noFill/>
        </p:spPr>
        <p:txBody>
          <a:bodyPr wrap="square">
            <a:spAutoFit/>
          </a:bodyPr>
          <a:lstStyle/>
          <a:p>
            <a:pPr algn="ctr"/>
            <a:r>
              <a:rPr sz="2600" b="0">
                <a:solidFill>
                  <a:srgbClr val="1F2937"/>
                </a:solidFill>
                <a:latin typeface="Calibri"/>
              </a:rPr>
              <a:t>🗺️➡️🌊</a:t>
            </a:r>
          </a:p>
        </p:txBody>
      </p:sp>
      <p:sp>
        <p:nvSpPr>
          <p:cNvPr id="32" name="TextBox 31"/>
          <p:cNvSpPr txBox="1"/>
          <p:nvPr/>
        </p:nvSpPr>
        <p:spPr>
          <a:xfrm>
            <a:off x="8549640" y="4041648"/>
            <a:ext cx="3017520" cy="822960"/>
          </a:xfrm>
          <a:prstGeom prst="rect">
            <a:avLst/>
          </a:prstGeom>
          <a:noFill/>
        </p:spPr>
        <p:txBody>
          <a:bodyPr wrap="square">
            <a:spAutoFit/>
          </a:bodyPr>
          <a:lstStyle/>
          <a:p>
            <a:pPr algn="l"/>
            <a:r>
              <a:rPr sz="1500" b="1">
                <a:solidFill>
                  <a:srgbClr val="0A2A6E"/>
                </a:solidFill>
                <a:latin typeface="Calibri"/>
              </a:rPr>
              <a:t>A long trip to somewhere far away.</a:t>
            </a:r>
          </a:p>
        </p:txBody>
      </p:sp>
      <p:sp>
        <p:nvSpPr>
          <p:cNvPr id="33" name="TextBox 32"/>
          <p:cNvSpPr txBox="1"/>
          <p:nvPr/>
        </p:nvSpPr>
        <p:spPr>
          <a:xfrm>
            <a:off x="8549640" y="4983480"/>
            <a:ext cx="3017520" cy="411480"/>
          </a:xfrm>
          <a:prstGeom prst="rect">
            <a:avLst/>
          </a:prstGeom>
          <a:noFill/>
        </p:spPr>
        <p:txBody>
          <a:bodyPr wrap="square">
            <a:spAutoFit/>
          </a:bodyPr>
          <a:lstStyle/>
          <a:p>
            <a:pPr algn="l"/>
            <a:r>
              <a:rPr sz="1300" b="0">
                <a:solidFill>
                  <a:srgbClr val="64748B"/>
                </a:solidFill>
                <a:latin typeface="Calibri"/>
              </a:rPr>
              <a:t>Your word:  _____________</a:t>
            </a:r>
          </a:p>
        </p:txBody>
      </p:sp>
      <p:sp>
        <p:nvSpPr>
          <p:cNvPr id="34" name="Rounded Rectangle 33"/>
          <p:cNvSpPr/>
          <p:nvPr/>
        </p:nvSpPr>
        <p:spPr>
          <a:xfrm>
            <a:off x="9646920" y="5897880"/>
            <a:ext cx="2194560" cy="41148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46920" y="5943600"/>
            <a:ext cx="2194560" cy="365760"/>
          </a:xfrm>
          <a:prstGeom prst="rect">
            <a:avLst/>
          </a:prstGeom>
          <a:noFill/>
        </p:spPr>
        <p:txBody>
          <a:bodyPr wrap="square">
            <a:spAutoFit/>
          </a:bodyPr>
          <a:lstStyle/>
          <a:p>
            <a:pPr algn="ctr"/>
            <a:r>
              <a:rPr sz="1300" b="1">
                <a:solidFill>
                  <a:srgbClr val="0A2A6E"/>
                </a:solidFill>
                <a:latin typeface="Calibri"/>
              </a:rPr>
              <a:t>+1 Star each ⭐</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5–10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Game 2: Word Detective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2306536"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game  |  5–10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7 / 37</a:t>
            </a:r>
          </a:p>
        </p:txBody>
      </p:sp>
      <p:sp>
        <p:nvSpPr>
          <p:cNvPr id="14" name="Rounded Rectangle 13"/>
          <p:cNvSpPr/>
          <p:nvPr/>
        </p:nvSpPr>
        <p:spPr>
          <a:xfrm>
            <a:off x="411480" y="1371600"/>
            <a:ext cx="1133856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72768"/>
            <a:ext cx="4206240" cy="914400"/>
          </a:xfrm>
          <a:prstGeom prst="rect">
            <a:avLst/>
          </a:prstGeom>
          <a:noFill/>
        </p:spPr>
        <p:txBody>
          <a:bodyPr wrap="square">
            <a:spAutoFit/>
          </a:bodyPr>
          <a:lstStyle/>
          <a:p>
            <a:pPr algn="l"/>
            <a:r>
              <a:rPr sz="1500" b="1">
                <a:solidFill>
                  <a:srgbClr val="0A2A6E"/>
                </a:solidFill>
                <a:latin typeface="Calibri"/>
              </a:rPr>
              <a:t>Which word means VERY TIRED?</a:t>
            </a:r>
          </a:p>
        </p:txBody>
      </p:sp>
      <p:sp>
        <p:nvSpPr>
          <p:cNvPr id="16" name="Rounded Rectangle 15"/>
          <p:cNvSpPr/>
          <p:nvPr/>
        </p:nvSpPr>
        <p:spPr>
          <a:xfrm>
            <a:off x="5029200" y="1755648"/>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1883664"/>
            <a:ext cx="2057400" cy="365760"/>
          </a:xfrm>
          <a:prstGeom prst="rect">
            <a:avLst/>
          </a:prstGeom>
          <a:noFill/>
        </p:spPr>
        <p:txBody>
          <a:bodyPr wrap="square">
            <a:spAutoFit/>
          </a:bodyPr>
          <a:lstStyle/>
          <a:p>
            <a:pPr algn="ctr"/>
            <a:r>
              <a:rPr sz="1400" b="1">
                <a:solidFill>
                  <a:srgbClr val="1F2937"/>
                </a:solidFill>
                <a:latin typeface="Calibri"/>
              </a:rPr>
              <a:t>excited</a:t>
            </a:r>
          </a:p>
        </p:txBody>
      </p:sp>
      <p:sp>
        <p:nvSpPr>
          <p:cNvPr id="18" name="Rounded Rectangle 17"/>
          <p:cNvSpPr/>
          <p:nvPr/>
        </p:nvSpPr>
        <p:spPr>
          <a:xfrm>
            <a:off x="7269480" y="1755648"/>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9480" y="1883664"/>
            <a:ext cx="2057400" cy="365760"/>
          </a:xfrm>
          <a:prstGeom prst="rect">
            <a:avLst/>
          </a:prstGeom>
          <a:noFill/>
        </p:spPr>
        <p:txBody>
          <a:bodyPr wrap="square">
            <a:spAutoFit/>
          </a:bodyPr>
          <a:lstStyle/>
          <a:p>
            <a:pPr algn="ctr"/>
            <a:r>
              <a:rPr sz="1400" b="1">
                <a:solidFill>
                  <a:srgbClr val="1F2937"/>
                </a:solidFill>
                <a:latin typeface="Calibri"/>
              </a:rPr>
              <a:t>exhausted</a:t>
            </a:r>
          </a:p>
        </p:txBody>
      </p:sp>
      <p:sp>
        <p:nvSpPr>
          <p:cNvPr id="20" name="Rounded Rectangle 19"/>
          <p:cNvSpPr/>
          <p:nvPr/>
        </p:nvSpPr>
        <p:spPr>
          <a:xfrm>
            <a:off x="9509760" y="1755648"/>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1883664"/>
            <a:ext cx="2057400" cy="365760"/>
          </a:xfrm>
          <a:prstGeom prst="rect">
            <a:avLst/>
          </a:prstGeom>
          <a:noFill/>
        </p:spPr>
        <p:txBody>
          <a:bodyPr wrap="square">
            <a:spAutoFit/>
          </a:bodyPr>
          <a:lstStyle/>
          <a:p>
            <a:pPr algn="ctr"/>
            <a:r>
              <a:rPr sz="1400" b="1">
                <a:solidFill>
                  <a:srgbClr val="1F2937"/>
                </a:solidFill>
                <a:latin typeface="Calibri"/>
              </a:rPr>
              <a:t>expensive</a:t>
            </a:r>
          </a:p>
        </p:txBody>
      </p:sp>
      <p:sp>
        <p:nvSpPr>
          <p:cNvPr id="22" name="Rounded Rectangle 21"/>
          <p:cNvSpPr/>
          <p:nvPr/>
        </p:nvSpPr>
        <p:spPr>
          <a:xfrm>
            <a:off x="411480" y="2944368"/>
            <a:ext cx="1133856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145536"/>
            <a:ext cx="4206240" cy="914400"/>
          </a:xfrm>
          <a:prstGeom prst="rect">
            <a:avLst/>
          </a:prstGeom>
          <a:noFill/>
        </p:spPr>
        <p:txBody>
          <a:bodyPr wrap="square">
            <a:spAutoFit/>
          </a:bodyPr>
          <a:lstStyle/>
          <a:p>
            <a:pPr algn="l"/>
            <a:r>
              <a:rPr sz="1500" b="1">
                <a:solidFill>
                  <a:srgbClr val="0A2A6E"/>
                </a:solidFill>
                <a:latin typeface="Calibri"/>
              </a:rPr>
              <a:t>Which word means A LONG TRIP?</a:t>
            </a:r>
          </a:p>
        </p:txBody>
      </p:sp>
      <p:sp>
        <p:nvSpPr>
          <p:cNvPr id="24" name="Rounded Rectangle 23"/>
          <p:cNvSpPr/>
          <p:nvPr/>
        </p:nvSpPr>
        <p:spPr>
          <a:xfrm>
            <a:off x="5029200" y="3328416"/>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3456432"/>
            <a:ext cx="2057400" cy="365760"/>
          </a:xfrm>
          <a:prstGeom prst="rect">
            <a:avLst/>
          </a:prstGeom>
          <a:noFill/>
        </p:spPr>
        <p:txBody>
          <a:bodyPr wrap="square">
            <a:spAutoFit/>
          </a:bodyPr>
          <a:lstStyle/>
          <a:p>
            <a:pPr algn="ctr"/>
            <a:r>
              <a:rPr sz="1400" b="1">
                <a:solidFill>
                  <a:srgbClr val="1F2937"/>
                </a:solidFill>
                <a:latin typeface="Calibri"/>
              </a:rPr>
              <a:t>journey</a:t>
            </a:r>
          </a:p>
        </p:txBody>
      </p:sp>
      <p:sp>
        <p:nvSpPr>
          <p:cNvPr id="26" name="Rounded Rectangle 25"/>
          <p:cNvSpPr/>
          <p:nvPr/>
        </p:nvSpPr>
        <p:spPr>
          <a:xfrm>
            <a:off x="7269480" y="3328416"/>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69480" y="3456432"/>
            <a:ext cx="2057400" cy="365760"/>
          </a:xfrm>
          <a:prstGeom prst="rect">
            <a:avLst/>
          </a:prstGeom>
          <a:noFill/>
        </p:spPr>
        <p:txBody>
          <a:bodyPr wrap="square">
            <a:spAutoFit/>
          </a:bodyPr>
          <a:lstStyle/>
          <a:p>
            <a:pPr algn="ctr"/>
            <a:r>
              <a:rPr sz="1400" b="1">
                <a:solidFill>
                  <a:srgbClr val="1F2937"/>
                </a:solidFill>
                <a:latin typeface="Calibri"/>
              </a:rPr>
              <a:t>jungle</a:t>
            </a:r>
          </a:p>
        </p:txBody>
      </p:sp>
      <p:sp>
        <p:nvSpPr>
          <p:cNvPr id="28" name="Rounded Rectangle 27"/>
          <p:cNvSpPr/>
          <p:nvPr/>
        </p:nvSpPr>
        <p:spPr>
          <a:xfrm>
            <a:off x="9509760" y="3328416"/>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0" y="3456432"/>
            <a:ext cx="2057400" cy="365760"/>
          </a:xfrm>
          <a:prstGeom prst="rect">
            <a:avLst/>
          </a:prstGeom>
          <a:noFill/>
        </p:spPr>
        <p:txBody>
          <a:bodyPr wrap="square">
            <a:spAutoFit/>
          </a:bodyPr>
          <a:lstStyle/>
          <a:p>
            <a:pPr algn="ctr"/>
            <a:r>
              <a:rPr sz="1400" b="1">
                <a:solidFill>
                  <a:srgbClr val="1F2937"/>
                </a:solidFill>
                <a:latin typeface="Calibri"/>
              </a:rPr>
              <a:t>juggle</a:t>
            </a:r>
          </a:p>
        </p:txBody>
      </p:sp>
      <p:sp>
        <p:nvSpPr>
          <p:cNvPr id="30" name="Rounded Rectangle 29"/>
          <p:cNvSpPr/>
          <p:nvPr/>
        </p:nvSpPr>
        <p:spPr>
          <a:xfrm>
            <a:off x="411480" y="4517136"/>
            <a:ext cx="1133856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18304"/>
            <a:ext cx="4206240" cy="914400"/>
          </a:xfrm>
          <a:prstGeom prst="rect">
            <a:avLst/>
          </a:prstGeom>
          <a:noFill/>
        </p:spPr>
        <p:txBody>
          <a:bodyPr wrap="square">
            <a:spAutoFit/>
          </a:bodyPr>
          <a:lstStyle/>
          <a:p>
            <a:pPr algn="l"/>
            <a:r>
              <a:rPr sz="1500" b="1">
                <a:solidFill>
                  <a:srgbClr val="0A2A6E"/>
                </a:solidFill>
                <a:latin typeface="Calibri"/>
              </a:rPr>
              <a:t>Which word means A DEEP VALLEY?</a:t>
            </a:r>
          </a:p>
        </p:txBody>
      </p:sp>
      <p:sp>
        <p:nvSpPr>
          <p:cNvPr id="32" name="Rounded Rectangle 31"/>
          <p:cNvSpPr/>
          <p:nvPr/>
        </p:nvSpPr>
        <p:spPr>
          <a:xfrm>
            <a:off x="5029200" y="4901184"/>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5029200"/>
            <a:ext cx="2057400" cy="365760"/>
          </a:xfrm>
          <a:prstGeom prst="rect">
            <a:avLst/>
          </a:prstGeom>
          <a:noFill/>
        </p:spPr>
        <p:txBody>
          <a:bodyPr wrap="square">
            <a:spAutoFit/>
          </a:bodyPr>
          <a:lstStyle/>
          <a:p>
            <a:pPr algn="ctr"/>
            <a:r>
              <a:rPr sz="1400" b="1">
                <a:solidFill>
                  <a:srgbClr val="1F2937"/>
                </a:solidFill>
                <a:latin typeface="Calibri"/>
              </a:rPr>
              <a:t>cannon</a:t>
            </a:r>
          </a:p>
        </p:txBody>
      </p:sp>
      <p:sp>
        <p:nvSpPr>
          <p:cNvPr id="34" name="Rounded Rectangle 33"/>
          <p:cNvSpPr/>
          <p:nvPr/>
        </p:nvSpPr>
        <p:spPr>
          <a:xfrm>
            <a:off x="7269480" y="4901184"/>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69480" y="5029200"/>
            <a:ext cx="2057400" cy="365760"/>
          </a:xfrm>
          <a:prstGeom prst="rect">
            <a:avLst/>
          </a:prstGeom>
          <a:noFill/>
        </p:spPr>
        <p:txBody>
          <a:bodyPr wrap="square">
            <a:spAutoFit/>
          </a:bodyPr>
          <a:lstStyle/>
          <a:p>
            <a:pPr algn="ctr"/>
            <a:r>
              <a:rPr sz="1400" b="1">
                <a:solidFill>
                  <a:srgbClr val="1F2937"/>
                </a:solidFill>
                <a:latin typeface="Calibri"/>
              </a:rPr>
              <a:t>canyon</a:t>
            </a:r>
          </a:p>
        </p:txBody>
      </p:sp>
      <p:sp>
        <p:nvSpPr>
          <p:cNvPr id="36" name="Rounded Rectangle 35"/>
          <p:cNvSpPr/>
          <p:nvPr/>
        </p:nvSpPr>
        <p:spPr>
          <a:xfrm>
            <a:off x="9509760" y="4901184"/>
            <a:ext cx="2057400" cy="603504"/>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09760" y="5029200"/>
            <a:ext cx="2057400" cy="365760"/>
          </a:xfrm>
          <a:prstGeom prst="rect">
            <a:avLst/>
          </a:prstGeom>
          <a:noFill/>
        </p:spPr>
        <p:txBody>
          <a:bodyPr wrap="square">
            <a:spAutoFit/>
          </a:bodyPr>
          <a:lstStyle/>
          <a:p>
            <a:pPr algn="ctr"/>
            <a:r>
              <a:rPr sz="1400" b="1">
                <a:solidFill>
                  <a:srgbClr val="1F2937"/>
                </a:solidFill>
                <a:latin typeface="Calibri"/>
              </a:rPr>
              <a:t>candle</a:t>
            </a:r>
          </a:p>
        </p:txBody>
      </p:sp>
      <p:sp>
        <p:nvSpPr>
          <p:cNvPr id="38" name="TextBox 37"/>
          <p:cNvSpPr txBox="1"/>
          <p:nvPr/>
        </p:nvSpPr>
        <p:spPr>
          <a:xfrm>
            <a:off x="411480" y="6144768"/>
            <a:ext cx="8686800" cy="292608"/>
          </a:xfrm>
          <a:prstGeom prst="rect">
            <a:avLst/>
          </a:prstGeom>
          <a:noFill/>
        </p:spPr>
        <p:txBody>
          <a:bodyPr wrap="square">
            <a:spAutoFit/>
          </a:bodyPr>
          <a:lstStyle/>
          <a:p>
            <a:pPr algn="l"/>
            <a:r>
              <a:rPr sz="1300" b="1">
                <a:solidFill>
                  <a:srgbClr val="FF6F61"/>
                </a:solidFill>
                <a:latin typeface="Calibri"/>
              </a:rPr>
              <a:t>🔍 Careful — the wrong answers LOOK similar. Read all three first!</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10–20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Reading Adventure: Let's Predict!</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2636042"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Reading  |  10–20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8 / 37</a:t>
            </a:r>
          </a:p>
        </p:txBody>
      </p:sp>
      <p:sp>
        <p:nvSpPr>
          <p:cNvPr id="14" name="Rounded Rectangle 13"/>
          <p:cNvSpPr/>
          <p:nvPr/>
        </p:nvSpPr>
        <p:spPr>
          <a:xfrm>
            <a:off x="411480" y="1325880"/>
            <a:ext cx="5577840" cy="475488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5029200" cy="411480"/>
          </a:xfrm>
          <a:prstGeom prst="rect">
            <a:avLst/>
          </a:prstGeom>
          <a:noFill/>
        </p:spPr>
        <p:txBody>
          <a:bodyPr wrap="square">
            <a:spAutoFit/>
          </a:bodyPr>
          <a:lstStyle/>
          <a:p>
            <a:pPr algn="l"/>
            <a:r>
              <a:rPr sz="1800" b="1">
                <a:solidFill>
                  <a:srgbClr val="0A2A6E"/>
                </a:solidFill>
                <a:latin typeface="Calibri"/>
              </a:rPr>
              <a:t>Our Story Today</a:t>
            </a:r>
          </a:p>
        </p:txBody>
      </p:sp>
      <p:sp>
        <p:nvSpPr>
          <p:cNvPr id="16" name="TextBox 15"/>
          <p:cNvSpPr txBox="1"/>
          <p:nvPr/>
        </p:nvSpPr>
        <p:spPr>
          <a:xfrm>
            <a:off x="685800" y="2103120"/>
            <a:ext cx="5029200" cy="822960"/>
          </a:xfrm>
          <a:prstGeom prst="rect">
            <a:avLst/>
          </a:prstGeom>
          <a:noFill/>
        </p:spPr>
        <p:txBody>
          <a:bodyPr wrap="square">
            <a:spAutoFit/>
          </a:bodyPr>
          <a:lstStyle/>
          <a:p>
            <a:pPr algn="l"/>
            <a:r>
              <a:rPr sz="2500" b="1">
                <a:solidFill>
                  <a:srgbClr val="009688"/>
                </a:solidFill>
                <a:latin typeface="Georgia"/>
              </a:rPr>
              <a:t>"The Midnight Turtle Rescue"</a:t>
            </a:r>
          </a:p>
        </p:txBody>
      </p:sp>
      <p:sp>
        <p:nvSpPr>
          <p:cNvPr id="17" name="TextBox 16"/>
          <p:cNvSpPr txBox="1"/>
          <p:nvPr/>
        </p:nvSpPr>
        <p:spPr>
          <a:xfrm>
            <a:off x="685800" y="3108960"/>
            <a:ext cx="5029200" cy="1097280"/>
          </a:xfrm>
          <a:prstGeom prst="rect">
            <a:avLst/>
          </a:prstGeom>
          <a:noFill/>
        </p:spPr>
        <p:txBody>
          <a:bodyPr wrap="square">
            <a:spAutoFit/>
          </a:bodyPr>
          <a:lstStyle/>
          <a:p>
            <a:pPr algn="ctr"/>
            <a:r>
              <a:rPr sz="4200" b="0">
                <a:solidFill>
                  <a:srgbClr val="1F2937"/>
                </a:solidFill>
                <a:latin typeface="Calibri"/>
              </a:rPr>
              <a:t>🐢  🌊  🔦  🌙</a:t>
            </a:r>
          </a:p>
        </p:txBody>
      </p:sp>
      <p:sp>
        <p:nvSpPr>
          <p:cNvPr id="18" name="TextBox 17"/>
          <p:cNvSpPr txBox="1"/>
          <p:nvPr/>
        </p:nvSpPr>
        <p:spPr>
          <a:xfrm>
            <a:off x="685800" y="4572000"/>
            <a:ext cx="5029200" cy="1097280"/>
          </a:xfrm>
          <a:prstGeom prst="rect">
            <a:avLst/>
          </a:prstGeom>
          <a:noFill/>
        </p:spPr>
        <p:txBody>
          <a:bodyPr wrap="square">
            <a:spAutoFit/>
          </a:bodyPr>
          <a:lstStyle/>
          <a:p>
            <a:pPr algn="l"/>
            <a:r>
              <a:rPr sz="1500" b="0">
                <a:solidFill>
                  <a:srgbClr val="1F2937"/>
                </a:solidFill>
                <a:latin typeface="Calibri"/>
              </a:rPr>
              <a:t>A true-to-life adventure about a girl,
a dark beach, and 92 baby turtles.</a:t>
            </a:r>
          </a:p>
        </p:txBody>
      </p:sp>
      <p:sp>
        <p:nvSpPr>
          <p:cNvPr id="19" name="Rounded Rectangle 18"/>
          <p:cNvSpPr/>
          <p:nvPr/>
        </p:nvSpPr>
        <p:spPr>
          <a:xfrm>
            <a:off x="6217920" y="1325880"/>
            <a:ext cx="553212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600200"/>
            <a:ext cx="4983480" cy="411480"/>
          </a:xfrm>
          <a:prstGeom prst="rect">
            <a:avLst/>
          </a:prstGeom>
          <a:noFill/>
        </p:spPr>
        <p:txBody>
          <a:bodyPr wrap="square">
            <a:spAutoFit/>
          </a:bodyPr>
          <a:lstStyle/>
          <a:p>
            <a:pPr algn="l"/>
            <a:r>
              <a:rPr sz="1800" b="1">
                <a:solidFill>
                  <a:srgbClr val="FF6F61"/>
                </a:solidFill>
                <a:latin typeface="Calibri"/>
              </a:rPr>
              <a:t>🤔 Before we read — guess!</a:t>
            </a:r>
          </a:p>
        </p:txBody>
      </p:sp>
      <p:sp>
        <p:nvSpPr>
          <p:cNvPr id="21" name="TextBox 20"/>
          <p:cNvSpPr txBox="1"/>
          <p:nvPr/>
        </p:nvSpPr>
        <p:spPr>
          <a:xfrm>
            <a:off x="6492240" y="2148840"/>
            <a:ext cx="4983480" cy="3291840"/>
          </a:xfrm>
          <a:prstGeom prst="rect">
            <a:avLst/>
          </a:prstGeom>
          <a:noFill/>
        </p:spPr>
        <p:txBody>
          <a:bodyPr wrap="square">
            <a:spAutoFit/>
          </a:bodyPr>
          <a:lstStyle/>
          <a:p>
            <a:pPr>
              <a:spcAft>
                <a:spcPts val="1800"/>
              </a:spcAft>
            </a:pPr>
            <a:r>
              <a:rPr sz="1600" b="0">
                <a:solidFill>
                  <a:srgbClr val="1F2937"/>
                </a:solidFill>
                <a:latin typeface="Calibri"/>
              </a:rPr>
              <a:t>•  Who do you think Maya is?</a:t>
            </a:r>
          </a:p>
          <a:p>
            <a:pPr>
              <a:spcAft>
                <a:spcPts val="1800"/>
              </a:spcAft>
            </a:pPr>
            <a:r>
              <a:rPr sz="1600" b="0">
                <a:solidFill>
                  <a:srgbClr val="1F2937"/>
                </a:solidFill>
                <a:latin typeface="Calibri"/>
              </a:rPr>
              <a:t>•  Why would turtles need rescuing?</a:t>
            </a:r>
          </a:p>
          <a:p>
            <a:pPr>
              <a:spcAft>
                <a:spcPts val="1800"/>
              </a:spcAft>
            </a:pPr>
            <a:r>
              <a:rPr sz="1600" b="0">
                <a:solidFill>
                  <a:srgbClr val="1F2937"/>
                </a:solidFill>
                <a:latin typeface="Calibri"/>
              </a:rPr>
              <a:t>•  Why is it happening at MIDNIGHT?</a:t>
            </a:r>
          </a:p>
          <a:p>
            <a:pPr>
              <a:spcAft>
                <a:spcPts val="1800"/>
              </a:spcAft>
            </a:pPr>
            <a:r>
              <a:rPr sz="1600" b="0">
                <a:solidFill>
                  <a:srgbClr val="1F2937"/>
                </a:solidFill>
                <a:latin typeface="Calibri"/>
              </a:rPr>
              <a:t>•  Do you think the story ends happy or sad?</a:t>
            </a:r>
          </a:p>
        </p:txBody>
      </p:sp>
      <p:sp>
        <p:nvSpPr>
          <p:cNvPr id="22" name="TextBox 21"/>
          <p:cNvSpPr txBox="1"/>
          <p:nvPr/>
        </p:nvSpPr>
        <p:spPr>
          <a:xfrm>
            <a:off x="6492240" y="5440680"/>
            <a:ext cx="4983480" cy="457200"/>
          </a:xfrm>
          <a:prstGeom prst="rect">
            <a:avLst/>
          </a:prstGeom>
          <a:noFill/>
        </p:spPr>
        <p:txBody>
          <a:bodyPr wrap="square">
            <a:spAutoFit/>
          </a:bodyPr>
          <a:lstStyle/>
          <a:p>
            <a:pPr algn="l"/>
            <a:r>
              <a:rPr sz="1400" b="1">
                <a:solidFill>
                  <a:srgbClr val="009688"/>
                </a:solidFill>
                <a:latin typeface="Calibri"/>
              </a:rPr>
              <a:t>There are no wrong guesses here! 💛</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10–20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Part 1 — A Night on the Beach</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2965547"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Reading Part 1  |  10–20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9 / 37</a:t>
            </a:r>
          </a:p>
        </p:txBody>
      </p:sp>
      <p:sp>
        <p:nvSpPr>
          <p:cNvPr id="14" name="Rounded Rectangle 13"/>
          <p:cNvSpPr/>
          <p:nvPr/>
        </p:nvSpPr>
        <p:spPr>
          <a:xfrm>
            <a:off x="411480" y="1325880"/>
            <a:ext cx="777240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7223760" cy="4297680"/>
          </a:xfrm>
          <a:prstGeom prst="rect">
            <a:avLst/>
          </a:prstGeom>
          <a:noFill/>
        </p:spPr>
        <p:txBody>
          <a:bodyPr wrap="square">
            <a:spAutoFit/>
          </a:bodyPr>
          <a:lstStyle/>
          <a:p>
            <a:pPr algn="l"/>
            <a:r>
              <a:rPr sz="1500" b="0">
                <a:solidFill>
                  <a:srgbClr val="1F2937"/>
                </a:solidFill>
                <a:latin typeface="Calibri"/>
              </a:rPr>
              <a:t>Maya lived in a small beach town in Florida. Every August, something amazing happened there. Baby sea turtles hatched in the warm sand and raced toward the ocean.
One quiet night, Maya and her older brother Diego walked along the shore with a red flashlight. Volunteers always used red light, because bright white light confuses baby turtles and sends them the wrong way.
"Look!" Diego whispered. The sand above a marked nest was moving. Tiny flippers pushed up through the surface.</a:t>
            </a:r>
          </a:p>
        </p:txBody>
      </p:sp>
      <p:sp>
        <p:nvSpPr>
          <p:cNvPr id="16" name="Rounded Rectangle 15"/>
          <p:cNvSpPr/>
          <p:nvPr/>
        </p:nvSpPr>
        <p:spPr>
          <a:xfrm>
            <a:off x="8412480" y="1325880"/>
            <a:ext cx="3337560" cy="214884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13648" y="1508760"/>
            <a:ext cx="2926080" cy="365760"/>
          </a:xfrm>
          <a:prstGeom prst="rect">
            <a:avLst/>
          </a:prstGeom>
          <a:noFill/>
        </p:spPr>
        <p:txBody>
          <a:bodyPr wrap="square">
            <a:spAutoFit/>
          </a:bodyPr>
          <a:lstStyle/>
          <a:p>
            <a:pPr algn="l"/>
            <a:r>
              <a:rPr sz="1400" b="1">
                <a:solidFill>
                  <a:srgbClr val="0A2A6E"/>
                </a:solidFill>
                <a:latin typeface="Calibri"/>
              </a:rPr>
              <a:t>How we read this</a:t>
            </a:r>
          </a:p>
        </p:txBody>
      </p:sp>
      <p:sp>
        <p:nvSpPr>
          <p:cNvPr id="18" name="TextBox 17"/>
          <p:cNvSpPr txBox="1"/>
          <p:nvPr/>
        </p:nvSpPr>
        <p:spPr>
          <a:xfrm>
            <a:off x="8613648" y="1938528"/>
            <a:ext cx="2926080" cy="1371600"/>
          </a:xfrm>
          <a:prstGeom prst="rect">
            <a:avLst/>
          </a:prstGeom>
          <a:noFill/>
        </p:spPr>
        <p:txBody>
          <a:bodyPr wrap="square">
            <a:spAutoFit/>
          </a:bodyPr>
          <a:lstStyle/>
          <a:p>
            <a:pPr algn="l"/>
            <a:r>
              <a:rPr sz="1400" b="1">
                <a:solidFill>
                  <a:srgbClr val="29B6F6"/>
                </a:solidFill>
                <a:latin typeface="Calibri"/>
              </a:rPr>
              <a:t>👩‍🏫 TEACHER reads first.
You follow along with
your finger.</a:t>
            </a:r>
          </a:p>
        </p:txBody>
      </p:sp>
      <p:sp>
        <p:nvSpPr>
          <p:cNvPr id="19" name="Rounded Rectangle 18"/>
          <p:cNvSpPr/>
          <p:nvPr/>
        </p:nvSpPr>
        <p:spPr>
          <a:xfrm>
            <a:off x="8412480" y="3611880"/>
            <a:ext cx="3337560" cy="24688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3794760"/>
            <a:ext cx="2926080" cy="365760"/>
          </a:xfrm>
          <a:prstGeom prst="rect">
            <a:avLst/>
          </a:prstGeom>
          <a:noFill/>
        </p:spPr>
        <p:txBody>
          <a:bodyPr wrap="square">
            <a:spAutoFit/>
          </a:bodyPr>
          <a:lstStyle/>
          <a:p>
            <a:pPr algn="l"/>
            <a:r>
              <a:rPr sz="1400" b="1">
                <a:solidFill>
                  <a:srgbClr val="0A2A6E"/>
                </a:solidFill>
                <a:latin typeface="Calibri"/>
              </a:rPr>
              <a:t>💡 Word help</a:t>
            </a:r>
          </a:p>
        </p:txBody>
      </p:sp>
      <p:sp>
        <p:nvSpPr>
          <p:cNvPr id="21" name="TextBox 20"/>
          <p:cNvSpPr txBox="1"/>
          <p:nvPr/>
        </p:nvSpPr>
        <p:spPr>
          <a:xfrm>
            <a:off x="8613648" y="4224528"/>
            <a:ext cx="2926080" cy="1737360"/>
          </a:xfrm>
          <a:prstGeom prst="rect">
            <a:avLst/>
          </a:prstGeom>
          <a:noFill/>
        </p:spPr>
        <p:txBody>
          <a:bodyPr wrap="square">
            <a:spAutoFit/>
          </a:bodyPr>
          <a:lstStyle/>
          <a:p>
            <a:pPr algn="l"/>
            <a:r>
              <a:rPr sz="1300" b="0">
                <a:solidFill>
                  <a:srgbClr val="1F2937"/>
                </a:solidFill>
                <a:latin typeface="Calibri"/>
              </a:rPr>
              <a:t>hatched = came out of an egg
confuses = mixes up
marked = has a sign on it</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10–20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Part 2 — A Problem in the Sand</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3295052"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Reading Part 2  |  10–20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10 / 37</a:t>
            </a:r>
          </a:p>
        </p:txBody>
      </p:sp>
      <p:sp>
        <p:nvSpPr>
          <p:cNvPr id="14" name="Rounded Rectangle 13"/>
          <p:cNvSpPr/>
          <p:nvPr/>
        </p:nvSpPr>
        <p:spPr>
          <a:xfrm>
            <a:off x="411480" y="1325880"/>
            <a:ext cx="777240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7223760" cy="4297680"/>
          </a:xfrm>
          <a:prstGeom prst="rect">
            <a:avLst/>
          </a:prstGeom>
          <a:noFill/>
        </p:spPr>
        <p:txBody>
          <a:bodyPr wrap="square">
            <a:spAutoFit/>
          </a:bodyPr>
          <a:lstStyle/>
          <a:p>
            <a:pPr algn="l"/>
            <a:r>
              <a:rPr sz="1500" b="0">
                <a:solidFill>
                  <a:srgbClr val="1F2937"/>
                </a:solidFill>
                <a:latin typeface="Calibri"/>
              </a:rPr>
              <a:t>Suddenly, Maya noticed a problem. A deep tire track crossed the beach like a canyon. Three hatchlings had tumbled in and could not climb out. Their flippers kept slipping on the loose sand.
Maya remembered her training. Volunteers were never allowed to pick up the turtles and carry them to the water. So instead, she knelt down and gently smoothed the sand into a small ramp.
"Come on, little ones," she whispered. "You can do it."
One by one, the hatchlings scrambled up the ramp and continued their journey.</a:t>
            </a:r>
          </a:p>
        </p:txBody>
      </p:sp>
      <p:sp>
        <p:nvSpPr>
          <p:cNvPr id="16" name="Rounded Rectangle 15"/>
          <p:cNvSpPr/>
          <p:nvPr/>
        </p:nvSpPr>
        <p:spPr>
          <a:xfrm>
            <a:off x="8412480" y="1325880"/>
            <a:ext cx="3337560" cy="214884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13648" y="1508760"/>
            <a:ext cx="2926080" cy="365760"/>
          </a:xfrm>
          <a:prstGeom prst="rect">
            <a:avLst/>
          </a:prstGeom>
          <a:noFill/>
        </p:spPr>
        <p:txBody>
          <a:bodyPr wrap="square">
            <a:spAutoFit/>
          </a:bodyPr>
          <a:lstStyle/>
          <a:p>
            <a:pPr algn="l"/>
            <a:r>
              <a:rPr sz="1400" b="1">
                <a:solidFill>
                  <a:srgbClr val="0A2A6E"/>
                </a:solidFill>
                <a:latin typeface="Calibri"/>
              </a:rPr>
              <a:t>How we read this</a:t>
            </a:r>
          </a:p>
        </p:txBody>
      </p:sp>
      <p:sp>
        <p:nvSpPr>
          <p:cNvPr id="18" name="TextBox 17"/>
          <p:cNvSpPr txBox="1"/>
          <p:nvPr/>
        </p:nvSpPr>
        <p:spPr>
          <a:xfrm>
            <a:off x="8613648" y="1938528"/>
            <a:ext cx="2926080" cy="1371600"/>
          </a:xfrm>
          <a:prstGeom prst="rect">
            <a:avLst/>
          </a:prstGeom>
          <a:noFill/>
        </p:spPr>
        <p:txBody>
          <a:bodyPr wrap="square">
            <a:spAutoFit/>
          </a:bodyPr>
          <a:lstStyle/>
          <a:p>
            <a:pPr algn="l"/>
            <a:r>
              <a:rPr sz="1400" b="1">
                <a:solidFill>
                  <a:srgbClr val="009688"/>
                </a:solidFill>
                <a:latin typeface="Calibri"/>
              </a:rPr>
              <a:t>🤝 WE read together.
Same speed, same time —
like a team!</a:t>
            </a:r>
          </a:p>
        </p:txBody>
      </p:sp>
      <p:sp>
        <p:nvSpPr>
          <p:cNvPr id="19" name="Rounded Rectangle 18"/>
          <p:cNvSpPr/>
          <p:nvPr/>
        </p:nvSpPr>
        <p:spPr>
          <a:xfrm>
            <a:off x="8412480" y="3611880"/>
            <a:ext cx="3337560" cy="24688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3794760"/>
            <a:ext cx="2926080" cy="365760"/>
          </a:xfrm>
          <a:prstGeom prst="rect">
            <a:avLst/>
          </a:prstGeom>
          <a:noFill/>
        </p:spPr>
        <p:txBody>
          <a:bodyPr wrap="square">
            <a:spAutoFit/>
          </a:bodyPr>
          <a:lstStyle/>
          <a:p>
            <a:pPr algn="l"/>
            <a:r>
              <a:rPr sz="1400" b="1">
                <a:solidFill>
                  <a:srgbClr val="0A2A6E"/>
                </a:solidFill>
                <a:latin typeface="Calibri"/>
              </a:rPr>
              <a:t>💡 Word help</a:t>
            </a:r>
          </a:p>
        </p:txBody>
      </p:sp>
      <p:sp>
        <p:nvSpPr>
          <p:cNvPr id="21" name="TextBox 20"/>
          <p:cNvSpPr txBox="1"/>
          <p:nvPr/>
        </p:nvSpPr>
        <p:spPr>
          <a:xfrm>
            <a:off x="8613648" y="4224528"/>
            <a:ext cx="2926080" cy="1737360"/>
          </a:xfrm>
          <a:prstGeom prst="rect">
            <a:avLst/>
          </a:prstGeom>
          <a:noFill/>
        </p:spPr>
        <p:txBody>
          <a:bodyPr wrap="square">
            <a:spAutoFit/>
          </a:bodyPr>
          <a:lstStyle/>
          <a:p>
            <a:pPr algn="l"/>
            <a:r>
              <a:rPr sz="1300" b="0">
                <a:solidFill>
                  <a:srgbClr val="1F2937"/>
                </a:solidFill>
                <a:latin typeface="Calibri"/>
              </a:rPr>
              <a:t>canyon = deep, narrow valley
scrambled = climbed fast
gently = softly, carefully</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READING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10–20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Part 3 — Ninety-Two Chances</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3624557"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Reading Part 3  |  10–20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11 / 37</a:t>
            </a:r>
          </a:p>
        </p:txBody>
      </p:sp>
      <p:sp>
        <p:nvSpPr>
          <p:cNvPr id="14" name="Rounded Rectangle 13"/>
          <p:cNvSpPr/>
          <p:nvPr/>
        </p:nvSpPr>
        <p:spPr>
          <a:xfrm>
            <a:off x="411480" y="1325880"/>
            <a:ext cx="7772400" cy="4754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7223760" cy="4297680"/>
          </a:xfrm>
          <a:prstGeom prst="rect">
            <a:avLst/>
          </a:prstGeom>
          <a:noFill/>
        </p:spPr>
        <p:txBody>
          <a:bodyPr wrap="square">
            <a:spAutoFit/>
          </a:bodyPr>
          <a:lstStyle/>
          <a:p>
            <a:pPr algn="l"/>
            <a:r>
              <a:rPr sz="1500" b="0">
                <a:solidFill>
                  <a:srgbClr val="1F2937"/>
                </a:solidFill>
                <a:latin typeface="Calibri"/>
              </a:rPr>
              <a:t>By midnight, ninety-two turtles had reached the waves. Maya was exhausted, but she could not stop smiling.
Dr. Reyes, the biologist, wrote the number in her notebook. "Only about one in a thousand will survive to become an adult," she said. "But tonight, you gave these ninety-two a real chance."
Maya looked out at the dark water. Somewhere out there, a tiny turtle was swimming toward a life she would never see.
"Next August," Maya said, "I'm coming back."
Diego grinned. "I knew you'd say that."</a:t>
            </a:r>
          </a:p>
        </p:txBody>
      </p:sp>
      <p:sp>
        <p:nvSpPr>
          <p:cNvPr id="16" name="Rounded Rectangle 15"/>
          <p:cNvSpPr/>
          <p:nvPr/>
        </p:nvSpPr>
        <p:spPr>
          <a:xfrm>
            <a:off x="8412480" y="1325880"/>
            <a:ext cx="3337560" cy="21488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13648" y="1508760"/>
            <a:ext cx="2926080" cy="365760"/>
          </a:xfrm>
          <a:prstGeom prst="rect">
            <a:avLst/>
          </a:prstGeom>
          <a:noFill/>
        </p:spPr>
        <p:txBody>
          <a:bodyPr wrap="square">
            <a:spAutoFit/>
          </a:bodyPr>
          <a:lstStyle/>
          <a:p>
            <a:pPr algn="l"/>
            <a:r>
              <a:rPr sz="1400" b="1">
                <a:solidFill>
                  <a:srgbClr val="0A2A6E"/>
                </a:solidFill>
                <a:latin typeface="Calibri"/>
              </a:rPr>
              <a:t>How we read this</a:t>
            </a:r>
          </a:p>
        </p:txBody>
      </p:sp>
      <p:sp>
        <p:nvSpPr>
          <p:cNvPr id="18" name="TextBox 17"/>
          <p:cNvSpPr txBox="1"/>
          <p:nvPr/>
        </p:nvSpPr>
        <p:spPr>
          <a:xfrm>
            <a:off x="8613648" y="1938528"/>
            <a:ext cx="2926080" cy="1371600"/>
          </a:xfrm>
          <a:prstGeom prst="rect">
            <a:avLst/>
          </a:prstGeom>
          <a:noFill/>
        </p:spPr>
        <p:txBody>
          <a:bodyPr wrap="square">
            <a:spAutoFit/>
          </a:bodyPr>
          <a:lstStyle/>
          <a:p>
            <a:pPr algn="l"/>
            <a:r>
              <a:rPr sz="1400" b="1">
                <a:solidFill>
                  <a:srgbClr val="FF6F61"/>
                </a:solidFill>
                <a:latin typeface="Calibri"/>
              </a:rPr>
              <a:t>🌟 YOU read this part
by yourself.
I'm right here if you
need a word.</a:t>
            </a:r>
          </a:p>
        </p:txBody>
      </p:sp>
      <p:sp>
        <p:nvSpPr>
          <p:cNvPr id="19" name="Rounded Rectangle 18"/>
          <p:cNvSpPr/>
          <p:nvPr/>
        </p:nvSpPr>
        <p:spPr>
          <a:xfrm>
            <a:off x="8412480" y="3611880"/>
            <a:ext cx="3337560" cy="246888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3794760"/>
            <a:ext cx="2926080" cy="365760"/>
          </a:xfrm>
          <a:prstGeom prst="rect">
            <a:avLst/>
          </a:prstGeom>
          <a:noFill/>
        </p:spPr>
        <p:txBody>
          <a:bodyPr wrap="square">
            <a:spAutoFit/>
          </a:bodyPr>
          <a:lstStyle/>
          <a:p>
            <a:pPr algn="l"/>
            <a:r>
              <a:rPr sz="1400" b="1">
                <a:solidFill>
                  <a:srgbClr val="0A2A6E"/>
                </a:solidFill>
                <a:latin typeface="Calibri"/>
              </a:rPr>
              <a:t>💡 Word help</a:t>
            </a:r>
          </a:p>
        </p:txBody>
      </p:sp>
      <p:sp>
        <p:nvSpPr>
          <p:cNvPr id="21" name="TextBox 20"/>
          <p:cNvSpPr txBox="1"/>
          <p:nvPr/>
        </p:nvSpPr>
        <p:spPr>
          <a:xfrm>
            <a:off x="8613648" y="4224528"/>
            <a:ext cx="2926080" cy="1737360"/>
          </a:xfrm>
          <a:prstGeom prst="rect">
            <a:avLst/>
          </a:prstGeom>
          <a:noFill/>
        </p:spPr>
        <p:txBody>
          <a:bodyPr wrap="square">
            <a:spAutoFit/>
          </a:bodyPr>
          <a:lstStyle/>
          <a:p>
            <a:pPr algn="l"/>
            <a:r>
              <a:rPr sz="1300" b="0">
                <a:solidFill>
                  <a:srgbClr val="1F2937"/>
                </a:solidFill>
                <a:latin typeface="Calibri"/>
              </a:rPr>
              <a:t>exhausted = very tired
biologist = living-things
scientist
survive = stay alive</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CHALLENGE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20–25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Reading Challenge: Beat the Clock!</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3954063"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Reading game  |  20–25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12 / 37</a:t>
            </a:r>
          </a:p>
        </p:txBody>
      </p:sp>
      <p:sp>
        <p:nvSpPr>
          <p:cNvPr id="14" name="Rounded Rectangle 13"/>
          <p:cNvSpPr/>
          <p:nvPr/>
        </p:nvSpPr>
        <p:spPr>
          <a:xfrm>
            <a:off x="411480" y="1325880"/>
            <a:ext cx="6949440" cy="2834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554480"/>
            <a:ext cx="6400800" cy="365760"/>
          </a:xfrm>
          <a:prstGeom prst="rect">
            <a:avLst/>
          </a:prstGeom>
          <a:noFill/>
        </p:spPr>
        <p:txBody>
          <a:bodyPr wrap="square">
            <a:spAutoFit/>
          </a:bodyPr>
          <a:lstStyle/>
          <a:p>
            <a:pPr algn="l"/>
            <a:r>
              <a:rPr sz="1600" b="1">
                <a:solidFill>
                  <a:srgbClr val="0A2A6E"/>
                </a:solidFill>
                <a:latin typeface="Calibri"/>
              </a:rPr>
              <a:t>Read this out loud — smoothly!</a:t>
            </a:r>
          </a:p>
        </p:txBody>
      </p:sp>
      <p:sp>
        <p:nvSpPr>
          <p:cNvPr id="16" name="TextBox 15"/>
          <p:cNvSpPr txBox="1"/>
          <p:nvPr/>
        </p:nvSpPr>
        <p:spPr>
          <a:xfrm>
            <a:off x="685800" y="2057400"/>
            <a:ext cx="6400800" cy="1920240"/>
          </a:xfrm>
          <a:prstGeom prst="rect">
            <a:avLst/>
          </a:prstGeom>
          <a:noFill/>
        </p:spPr>
        <p:txBody>
          <a:bodyPr wrap="square">
            <a:spAutoFit/>
          </a:bodyPr>
          <a:lstStyle/>
          <a:p>
            <a:pPr algn="l"/>
            <a:r>
              <a:rPr sz="1900" b="1">
                <a:solidFill>
                  <a:srgbClr val="009688"/>
                </a:solidFill>
                <a:latin typeface="Georgia"/>
              </a:rPr>
              <a:t>"By midnight, ninety-two turtles had reached the waves.
Maya was exhausted, but she could not stop smiling."</a:t>
            </a:r>
          </a:p>
        </p:txBody>
      </p:sp>
      <p:sp>
        <p:nvSpPr>
          <p:cNvPr id="17" name="Rounded Rectangle 16"/>
          <p:cNvSpPr/>
          <p:nvPr/>
        </p:nvSpPr>
        <p:spPr>
          <a:xfrm>
            <a:off x="7635240" y="1325880"/>
            <a:ext cx="4114800" cy="283464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1554480"/>
            <a:ext cx="3657600" cy="365760"/>
          </a:xfrm>
          <a:prstGeom prst="rect">
            <a:avLst/>
          </a:prstGeom>
          <a:noFill/>
        </p:spPr>
        <p:txBody>
          <a:bodyPr wrap="square">
            <a:spAutoFit/>
          </a:bodyPr>
          <a:lstStyle/>
          <a:p>
            <a:pPr algn="l"/>
            <a:r>
              <a:rPr sz="1500" b="1">
                <a:solidFill>
                  <a:srgbClr val="0A2A6E"/>
                </a:solidFill>
                <a:latin typeface="Calibri"/>
              </a:rPr>
              <a:t>⏱️ Your score</a:t>
            </a:r>
          </a:p>
        </p:txBody>
      </p:sp>
      <p:sp>
        <p:nvSpPr>
          <p:cNvPr id="19" name="TextBox 18"/>
          <p:cNvSpPr txBox="1"/>
          <p:nvPr/>
        </p:nvSpPr>
        <p:spPr>
          <a:xfrm>
            <a:off x="7863840" y="2011680"/>
            <a:ext cx="3657600" cy="2011680"/>
          </a:xfrm>
          <a:prstGeom prst="rect">
            <a:avLst/>
          </a:prstGeom>
          <a:noFill/>
        </p:spPr>
        <p:txBody>
          <a:bodyPr wrap="square">
            <a:spAutoFit/>
          </a:bodyPr>
          <a:lstStyle/>
          <a:p>
            <a:pPr>
              <a:spcAft>
                <a:spcPts val="1400"/>
              </a:spcAft>
            </a:pPr>
            <a:r>
              <a:rPr sz="1500" b="0">
                <a:solidFill>
                  <a:srgbClr val="1F2937"/>
                </a:solidFill>
                <a:latin typeface="Calibri"/>
              </a:rPr>
              <a:t>•  Try 1:  ______ seconds</a:t>
            </a:r>
          </a:p>
          <a:p>
            <a:pPr>
              <a:spcAft>
                <a:spcPts val="1400"/>
              </a:spcAft>
            </a:pPr>
            <a:r>
              <a:rPr sz="1500" b="0">
                <a:solidFill>
                  <a:srgbClr val="1F2937"/>
                </a:solidFill>
                <a:latin typeface="Calibri"/>
              </a:rPr>
              <a:t>•  Try 2:  ______ seconds</a:t>
            </a:r>
          </a:p>
          <a:p>
            <a:pPr>
              <a:spcAft>
                <a:spcPts val="1400"/>
              </a:spcAft>
            </a:pPr>
            <a:r>
              <a:rPr sz="1500" b="0">
                <a:solidFill>
                  <a:srgbClr val="1F2937"/>
                </a:solidFill>
                <a:latin typeface="Calibri"/>
              </a:rPr>
              <a:t>•  Beat your own record! 🔥</a:t>
            </a:r>
          </a:p>
        </p:txBody>
      </p:sp>
      <p:sp>
        <p:nvSpPr>
          <p:cNvPr id="20" name="Rounded Rectangle 19"/>
          <p:cNvSpPr/>
          <p:nvPr/>
        </p:nvSpPr>
        <p:spPr>
          <a:xfrm>
            <a:off x="411480" y="4343400"/>
            <a:ext cx="11338560" cy="169164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553712"/>
            <a:ext cx="10789920" cy="365760"/>
          </a:xfrm>
          <a:prstGeom prst="rect">
            <a:avLst/>
          </a:prstGeom>
          <a:noFill/>
        </p:spPr>
        <p:txBody>
          <a:bodyPr wrap="square">
            <a:spAutoFit/>
          </a:bodyPr>
          <a:lstStyle/>
          <a:p>
            <a:pPr algn="l"/>
            <a:r>
              <a:rPr sz="1500" b="1">
                <a:solidFill>
                  <a:srgbClr val="0A2A6E"/>
                </a:solidFill>
                <a:latin typeface="Calibri"/>
              </a:rPr>
              <a:t>🎯 Fluency Goals — check them off:</a:t>
            </a:r>
          </a:p>
        </p:txBody>
      </p:sp>
      <p:sp>
        <p:nvSpPr>
          <p:cNvPr id="22" name="Rounded Rectangle 21"/>
          <p:cNvSpPr/>
          <p:nvPr/>
        </p:nvSpPr>
        <p:spPr>
          <a:xfrm>
            <a:off x="685800" y="5029200"/>
            <a:ext cx="2560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193792"/>
            <a:ext cx="2560320" cy="365760"/>
          </a:xfrm>
          <a:prstGeom prst="rect">
            <a:avLst/>
          </a:prstGeom>
          <a:noFill/>
        </p:spPr>
        <p:txBody>
          <a:bodyPr wrap="square">
            <a:spAutoFit/>
          </a:bodyPr>
          <a:lstStyle/>
          <a:p>
            <a:pPr algn="ctr"/>
            <a:r>
              <a:rPr sz="1300" b="1">
                <a:solidFill>
                  <a:srgbClr val="1F2937"/>
                </a:solidFill>
                <a:latin typeface="Calibri"/>
              </a:rPr>
              <a:t>👀 Look up once</a:t>
            </a:r>
          </a:p>
        </p:txBody>
      </p:sp>
      <p:sp>
        <p:nvSpPr>
          <p:cNvPr id="24" name="Rounded Rectangle 23"/>
          <p:cNvSpPr/>
          <p:nvPr/>
        </p:nvSpPr>
        <p:spPr>
          <a:xfrm>
            <a:off x="3429000" y="5029200"/>
            <a:ext cx="2560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9000" y="5193792"/>
            <a:ext cx="2560320" cy="365760"/>
          </a:xfrm>
          <a:prstGeom prst="rect">
            <a:avLst/>
          </a:prstGeom>
          <a:noFill/>
        </p:spPr>
        <p:txBody>
          <a:bodyPr wrap="square">
            <a:spAutoFit/>
          </a:bodyPr>
          <a:lstStyle/>
          <a:p>
            <a:pPr algn="ctr"/>
            <a:r>
              <a:rPr sz="1300" b="1">
                <a:solidFill>
                  <a:srgbClr val="1F2937"/>
                </a:solidFill>
                <a:latin typeface="Calibri"/>
              </a:rPr>
              <a:t>🛑 Stop at periods</a:t>
            </a:r>
          </a:p>
        </p:txBody>
      </p:sp>
      <p:sp>
        <p:nvSpPr>
          <p:cNvPr id="26" name="Rounded Rectangle 25"/>
          <p:cNvSpPr/>
          <p:nvPr/>
        </p:nvSpPr>
        <p:spPr>
          <a:xfrm>
            <a:off x="6172200" y="5029200"/>
            <a:ext cx="2560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5193792"/>
            <a:ext cx="2560320" cy="365760"/>
          </a:xfrm>
          <a:prstGeom prst="rect">
            <a:avLst/>
          </a:prstGeom>
          <a:noFill/>
        </p:spPr>
        <p:txBody>
          <a:bodyPr wrap="square">
            <a:spAutoFit/>
          </a:bodyPr>
          <a:lstStyle/>
          <a:p>
            <a:pPr algn="ctr"/>
            <a:r>
              <a:rPr sz="1300" b="1">
                <a:solidFill>
                  <a:srgbClr val="1F2937"/>
                </a:solidFill>
                <a:latin typeface="Calibri"/>
              </a:rPr>
              <a:t>🔊 Big clear voice</a:t>
            </a:r>
          </a:p>
        </p:txBody>
      </p:sp>
      <p:sp>
        <p:nvSpPr>
          <p:cNvPr id="28" name="Rounded Rectangle 27"/>
          <p:cNvSpPr/>
          <p:nvPr/>
        </p:nvSpPr>
        <p:spPr>
          <a:xfrm>
            <a:off x="8915400" y="5029200"/>
            <a:ext cx="2560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5193792"/>
            <a:ext cx="2560320" cy="365760"/>
          </a:xfrm>
          <a:prstGeom prst="rect">
            <a:avLst/>
          </a:prstGeom>
          <a:noFill/>
        </p:spPr>
        <p:txBody>
          <a:bodyPr wrap="square">
            <a:spAutoFit/>
          </a:bodyPr>
          <a:lstStyle/>
          <a:p>
            <a:pPr algn="ctr"/>
            <a:r>
              <a:rPr sz="1300" b="1">
                <a:solidFill>
                  <a:srgbClr val="1F2937"/>
                </a:solidFill>
                <a:latin typeface="Calibri"/>
              </a:rPr>
              <a:t>😀 Add feeling</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20–25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Story Detective — Round 1</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4283568"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Comprehension  |  20–25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13 / 37</a:t>
            </a:r>
          </a:p>
        </p:txBody>
      </p:sp>
      <p:sp>
        <p:nvSpPr>
          <p:cNvPr id="14" name="Rounded Rectangle 13"/>
          <p:cNvSpPr/>
          <p:nvPr/>
        </p:nvSpPr>
        <p:spPr>
          <a:xfrm>
            <a:off x="411480" y="132588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1453896"/>
            <a:ext cx="1371600" cy="292608"/>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472184"/>
            <a:ext cx="1371600" cy="274320"/>
          </a:xfrm>
          <a:prstGeom prst="rect">
            <a:avLst/>
          </a:prstGeom>
          <a:noFill/>
        </p:spPr>
        <p:txBody>
          <a:bodyPr wrap="square">
            <a:spAutoFit/>
          </a:bodyPr>
          <a:lstStyle/>
          <a:p>
            <a:pPr algn="ctr"/>
            <a:r>
              <a:rPr sz="1000" b="1">
                <a:solidFill>
                  <a:srgbClr val="FFFFFF"/>
                </a:solidFill>
                <a:latin typeface="Calibri"/>
              </a:rPr>
              <a:t>MULTIPLE CHOICE</a:t>
            </a:r>
          </a:p>
        </p:txBody>
      </p:sp>
      <p:sp>
        <p:nvSpPr>
          <p:cNvPr id="17" name="TextBox 16"/>
          <p:cNvSpPr txBox="1"/>
          <p:nvPr/>
        </p:nvSpPr>
        <p:spPr>
          <a:xfrm>
            <a:off x="548640" y="1856232"/>
            <a:ext cx="5303520" cy="1371600"/>
          </a:xfrm>
          <a:prstGeom prst="rect">
            <a:avLst/>
          </a:prstGeom>
          <a:noFill/>
        </p:spPr>
        <p:txBody>
          <a:bodyPr wrap="square">
            <a:spAutoFit/>
          </a:bodyPr>
          <a:lstStyle/>
          <a:p>
            <a:pPr algn="l"/>
            <a:r>
              <a:rPr sz="1400" b="0">
                <a:solidFill>
                  <a:srgbClr val="1F2937"/>
                </a:solidFill>
                <a:latin typeface="Calibri"/>
              </a:rPr>
              <a:t>Why do the volunteers use a RED flashlight?
a)  Red is prettier at night
b)  White light confuses baby turtles
c)  Red flashlights are cheaper</a:t>
            </a:r>
          </a:p>
        </p:txBody>
      </p:sp>
      <p:sp>
        <p:nvSpPr>
          <p:cNvPr id="18" name="TextBox 17"/>
          <p:cNvSpPr txBox="1"/>
          <p:nvPr/>
        </p:nvSpPr>
        <p:spPr>
          <a:xfrm>
            <a:off x="548640" y="3136392"/>
            <a:ext cx="5303520" cy="292608"/>
          </a:xfrm>
          <a:prstGeom prst="rect">
            <a:avLst/>
          </a:prstGeom>
          <a:noFill/>
        </p:spPr>
        <p:txBody>
          <a:bodyPr wrap="square">
            <a:spAutoFit/>
          </a:bodyPr>
          <a:lstStyle/>
          <a:p>
            <a:pPr algn="l"/>
            <a:r>
              <a:rPr sz="1100" b="1">
                <a:solidFill>
                  <a:srgbClr val="009688"/>
                </a:solidFill>
                <a:latin typeface="Calibri"/>
              </a:rPr>
              <a:t>Point to your answer!</a:t>
            </a:r>
          </a:p>
        </p:txBody>
      </p:sp>
      <p:sp>
        <p:nvSpPr>
          <p:cNvPr id="19" name="Rounded Rectangle 18"/>
          <p:cNvSpPr/>
          <p:nvPr/>
        </p:nvSpPr>
        <p:spPr>
          <a:xfrm>
            <a:off x="6172200" y="132588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0" y="1453896"/>
            <a:ext cx="1371600" cy="292608"/>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472184"/>
            <a:ext cx="1371600" cy="274320"/>
          </a:xfrm>
          <a:prstGeom prst="rect">
            <a:avLst/>
          </a:prstGeom>
          <a:noFill/>
        </p:spPr>
        <p:txBody>
          <a:bodyPr wrap="square">
            <a:spAutoFit/>
          </a:bodyPr>
          <a:lstStyle/>
          <a:p>
            <a:pPr algn="ctr"/>
            <a:r>
              <a:rPr sz="1000" b="1">
                <a:solidFill>
                  <a:srgbClr val="FFFFFF"/>
                </a:solidFill>
                <a:latin typeface="Calibri"/>
              </a:rPr>
              <a:t>TRUE OR FALSE</a:t>
            </a:r>
          </a:p>
        </p:txBody>
      </p:sp>
      <p:sp>
        <p:nvSpPr>
          <p:cNvPr id="22" name="TextBox 21"/>
          <p:cNvSpPr txBox="1"/>
          <p:nvPr/>
        </p:nvSpPr>
        <p:spPr>
          <a:xfrm>
            <a:off x="6309360" y="1856232"/>
            <a:ext cx="5303520" cy="1371600"/>
          </a:xfrm>
          <a:prstGeom prst="rect">
            <a:avLst/>
          </a:prstGeom>
          <a:noFill/>
        </p:spPr>
        <p:txBody>
          <a:bodyPr wrap="square">
            <a:spAutoFit/>
          </a:bodyPr>
          <a:lstStyle/>
          <a:p>
            <a:pPr algn="l"/>
            <a:r>
              <a:rPr sz="1400" b="0">
                <a:solidFill>
                  <a:srgbClr val="1F2937"/>
                </a:solidFill>
                <a:latin typeface="Calibri"/>
              </a:rPr>
              <a:t>"Maya picked up the turtles and
carried them to the ocean."
👍 TRUE          👎 FALSE</a:t>
            </a:r>
          </a:p>
        </p:txBody>
      </p:sp>
      <p:sp>
        <p:nvSpPr>
          <p:cNvPr id="23" name="TextBox 22"/>
          <p:cNvSpPr txBox="1"/>
          <p:nvPr/>
        </p:nvSpPr>
        <p:spPr>
          <a:xfrm>
            <a:off x="6309360" y="3136392"/>
            <a:ext cx="5303520" cy="292608"/>
          </a:xfrm>
          <a:prstGeom prst="rect">
            <a:avLst/>
          </a:prstGeom>
          <a:noFill/>
        </p:spPr>
        <p:txBody>
          <a:bodyPr wrap="square">
            <a:spAutoFit/>
          </a:bodyPr>
          <a:lstStyle/>
          <a:p>
            <a:pPr algn="l"/>
            <a:r>
              <a:rPr sz="1100" b="1">
                <a:solidFill>
                  <a:srgbClr val="009688"/>
                </a:solidFill>
                <a:latin typeface="Calibri"/>
              </a:rPr>
              <a:t>Prove it — find the line in Part 2!</a:t>
            </a:r>
          </a:p>
        </p:txBody>
      </p:sp>
      <p:sp>
        <p:nvSpPr>
          <p:cNvPr id="24" name="Rounded Rectangle 23"/>
          <p:cNvSpPr/>
          <p:nvPr/>
        </p:nvSpPr>
        <p:spPr>
          <a:xfrm>
            <a:off x="411480" y="370332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831336"/>
            <a:ext cx="1371600" cy="29260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49624"/>
            <a:ext cx="1371600" cy="274320"/>
          </a:xfrm>
          <a:prstGeom prst="rect">
            <a:avLst/>
          </a:prstGeom>
          <a:noFill/>
        </p:spPr>
        <p:txBody>
          <a:bodyPr wrap="square">
            <a:spAutoFit/>
          </a:bodyPr>
          <a:lstStyle/>
          <a:p>
            <a:pPr algn="ctr"/>
            <a:r>
              <a:rPr sz="1000" b="1">
                <a:solidFill>
                  <a:srgbClr val="FFFFFF"/>
                </a:solidFill>
                <a:latin typeface="Calibri"/>
              </a:rPr>
              <a:t>FILL THE BLANK</a:t>
            </a:r>
          </a:p>
        </p:txBody>
      </p:sp>
      <p:sp>
        <p:nvSpPr>
          <p:cNvPr id="27" name="TextBox 26"/>
          <p:cNvSpPr txBox="1"/>
          <p:nvPr/>
        </p:nvSpPr>
        <p:spPr>
          <a:xfrm>
            <a:off x="548640" y="4233672"/>
            <a:ext cx="5303520" cy="1371600"/>
          </a:xfrm>
          <a:prstGeom prst="rect">
            <a:avLst/>
          </a:prstGeom>
          <a:noFill/>
        </p:spPr>
        <p:txBody>
          <a:bodyPr wrap="square">
            <a:spAutoFit/>
          </a:bodyPr>
          <a:lstStyle/>
          <a:p>
            <a:pPr algn="l"/>
            <a:r>
              <a:rPr sz="1400" b="0">
                <a:solidFill>
                  <a:srgbClr val="1F2937"/>
                </a:solidFill>
                <a:latin typeface="Calibri"/>
              </a:rPr>
              <a:t>"By midnight, ______________ turtles
had reached the waves."
Hint: it is a number 🔢</a:t>
            </a:r>
          </a:p>
        </p:txBody>
      </p:sp>
      <p:sp>
        <p:nvSpPr>
          <p:cNvPr id="28" name="TextBox 27"/>
          <p:cNvSpPr txBox="1"/>
          <p:nvPr/>
        </p:nvSpPr>
        <p:spPr>
          <a:xfrm>
            <a:off x="548640" y="5513832"/>
            <a:ext cx="5303520" cy="292608"/>
          </a:xfrm>
          <a:prstGeom prst="rect">
            <a:avLst/>
          </a:prstGeom>
          <a:noFill/>
        </p:spPr>
        <p:txBody>
          <a:bodyPr wrap="square">
            <a:spAutoFit/>
          </a:bodyPr>
          <a:lstStyle/>
          <a:p>
            <a:pPr algn="l"/>
            <a:r>
              <a:rPr sz="1100" b="1">
                <a:solidFill>
                  <a:srgbClr val="009688"/>
                </a:solidFill>
                <a:latin typeface="Calibri"/>
              </a:rPr>
              <a:t>Look back at Part 3 if you need to.</a:t>
            </a:r>
          </a:p>
        </p:txBody>
      </p:sp>
      <p:sp>
        <p:nvSpPr>
          <p:cNvPr id="29" name="Rounded Rectangle 28"/>
          <p:cNvSpPr/>
          <p:nvPr/>
        </p:nvSpPr>
        <p:spPr>
          <a:xfrm>
            <a:off x="6172200" y="370332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09360" y="3831336"/>
            <a:ext cx="1371600" cy="292608"/>
          </a:xfrm>
          <a:prstGeom prst="round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849624"/>
            <a:ext cx="1371600" cy="274320"/>
          </a:xfrm>
          <a:prstGeom prst="rect">
            <a:avLst/>
          </a:prstGeom>
          <a:noFill/>
        </p:spPr>
        <p:txBody>
          <a:bodyPr wrap="square">
            <a:spAutoFit/>
          </a:bodyPr>
          <a:lstStyle/>
          <a:p>
            <a:pPr algn="ctr"/>
            <a:r>
              <a:rPr sz="1000" b="1">
                <a:solidFill>
                  <a:srgbClr val="FFFFFF"/>
                </a:solidFill>
                <a:latin typeface="Calibri"/>
              </a:rPr>
              <a:t>PUT IT IN ORDER</a:t>
            </a:r>
          </a:p>
        </p:txBody>
      </p:sp>
      <p:sp>
        <p:nvSpPr>
          <p:cNvPr id="32" name="TextBox 31"/>
          <p:cNvSpPr txBox="1"/>
          <p:nvPr/>
        </p:nvSpPr>
        <p:spPr>
          <a:xfrm>
            <a:off x="6309360" y="4233672"/>
            <a:ext cx="5303520" cy="1371600"/>
          </a:xfrm>
          <a:prstGeom prst="rect">
            <a:avLst/>
          </a:prstGeom>
          <a:noFill/>
        </p:spPr>
        <p:txBody>
          <a:bodyPr wrap="square">
            <a:spAutoFit/>
          </a:bodyPr>
          <a:lstStyle/>
          <a:p>
            <a:pPr algn="l"/>
            <a:r>
              <a:rPr sz="1400" b="0">
                <a:solidFill>
                  <a:srgbClr val="1F2937"/>
                </a:solidFill>
                <a:latin typeface="Calibri"/>
              </a:rPr>
              <a:t>Number these 1–4:
___  Maya smoothed a sand ramp
___  Diego saw the sand moving
___  Dr. Reyes wrote in her notebook
___  Three hatchlings fell in a track</a:t>
            </a:r>
          </a:p>
        </p:txBody>
      </p:sp>
      <p:sp>
        <p:nvSpPr>
          <p:cNvPr id="33" name="TextBox 32"/>
          <p:cNvSpPr txBox="1"/>
          <p:nvPr/>
        </p:nvSpPr>
        <p:spPr>
          <a:xfrm>
            <a:off x="6309360" y="5513832"/>
            <a:ext cx="5303520" cy="292608"/>
          </a:xfrm>
          <a:prstGeom prst="rect">
            <a:avLst/>
          </a:prstGeom>
          <a:noFill/>
        </p:spPr>
        <p:txBody>
          <a:bodyPr wrap="square">
            <a:spAutoFit/>
          </a:bodyPr>
          <a:lstStyle/>
          <a:p>
            <a:pPr algn="l"/>
            <a:r>
              <a:rPr sz="1100" b="1">
                <a:solidFill>
                  <a:srgbClr val="009688"/>
                </a:solidFill>
                <a:latin typeface="Calibri"/>
              </a:rPr>
              <a:t>Which happened FIRST?</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20–25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Story Detective — Round 2</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4613073"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Comprehension  |  20–25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14 / 37</a:t>
            </a:r>
          </a:p>
        </p:txBody>
      </p:sp>
      <p:sp>
        <p:nvSpPr>
          <p:cNvPr id="14" name="Rounded Rectangle 13"/>
          <p:cNvSpPr/>
          <p:nvPr/>
        </p:nvSpPr>
        <p:spPr>
          <a:xfrm>
            <a:off x="411480" y="132588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1453896"/>
            <a:ext cx="1371600" cy="292608"/>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472184"/>
            <a:ext cx="1371600" cy="274320"/>
          </a:xfrm>
          <a:prstGeom prst="rect">
            <a:avLst/>
          </a:prstGeom>
          <a:noFill/>
        </p:spPr>
        <p:txBody>
          <a:bodyPr wrap="square">
            <a:spAutoFit/>
          </a:bodyPr>
          <a:lstStyle/>
          <a:p>
            <a:pPr algn="ctr"/>
            <a:r>
              <a:rPr sz="1000" b="1">
                <a:solidFill>
                  <a:srgbClr val="FFFFFF"/>
                </a:solidFill>
                <a:latin typeface="Calibri"/>
              </a:rPr>
              <a:t>SHORT ANSWER</a:t>
            </a:r>
          </a:p>
        </p:txBody>
      </p:sp>
      <p:sp>
        <p:nvSpPr>
          <p:cNvPr id="17" name="TextBox 16"/>
          <p:cNvSpPr txBox="1"/>
          <p:nvPr/>
        </p:nvSpPr>
        <p:spPr>
          <a:xfrm>
            <a:off x="548640" y="1856232"/>
            <a:ext cx="5303520" cy="1371600"/>
          </a:xfrm>
          <a:prstGeom prst="rect">
            <a:avLst/>
          </a:prstGeom>
          <a:noFill/>
        </p:spPr>
        <p:txBody>
          <a:bodyPr wrap="square">
            <a:spAutoFit/>
          </a:bodyPr>
          <a:lstStyle/>
          <a:p>
            <a:pPr algn="l"/>
            <a:r>
              <a:rPr sz="1400" b="0">
                <a:solidFill>
                  <a:srgbClr val="1F2937"/>
                </a:solidFill>
                <a:latin typeface="Calibri"/>
              </a:rPr>
              <a:t>What problem did Maya find
on the beach?
Answer in ONE full sentence.</a:t>
            </a:r>
          </a:p>
        </p:txBody>
      </p:sp>
      <p:sp>
        <p:nvSpPr>
          <p:cNvPr id="18" name="TextBox 17"/>
          <p:cNvSpPr txBox="1"/>
          <p:nvPr/>
        </p:nvSpPr>
        <p:spPr>
          <a:xfrm>
            <a:off x="548640" y="3136392"/>
            <a:ext cx="5303520" cy="292608"/>
          </a:xfrm>
          <a:prstGeom prst="rect">
            <a:avLst/>
          </a:prstGeom>
          <a:noFill/>
        </p:spPr>
        <p:txBody>
          <a:bodyPr wrap="square">
            <a:spAutoFit/>
          </a:bodyPr>
          <a:lstStyle/>
          <a:p>
            <a:pPr algn="l"/>
            <a:r>
              <a:rPr sz="1100" b="1">
                <a:solidFill>
                  <a:srgbClr val="009688"/>
                </a:solidFill>
                <a:latin typeface="Calibri"/>
              </a:rPr>
              <a:t>Start with: "The problem was..."</a:t>
            </a:r>
          </a:p>
        </p:txBody>
      </p:sp>
      <p:sp>
        <p:nvSpPr>
          <p:cNvPr id="19" name="Rounded Rectangle 18"/>
          <p:cNvSpPr/>
          <p:nvPr/>
        </p:nvSpPr>
        <p:spPr>
          <a:xfrm>
            <a:off x="6172200" y="132588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0" y="1453896"/>
            <a:ext cx="1371600" cy="29260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472184"/>
            <a:ext cx="1371600" cy="274320"/>
          </a:xfrm>
          <a:prstGeom prst="rect">
            <a:avLst/>
          </a:prstGeom>
          <a:noFill/>
        </p:spPr>
        <p:txBody>
          <a:bodyPr wrap="square">
            <a:spAutoFit/>
          </a:bodyPr>
          <a:lstStyle/>
          <a:p>
            <a:pPr algn="ctr"/>
            <a:r>
              <a:rPr sz="1000" b="1">
                <a:solidFill>
                  <a:srgbClr val="FFFFFF"/>
                </a:solidFill>
                <a:latin typeface="Calibri"/>
              </a:rPr>
              <a:t>MAIN IDEA</a:t>
            </a:r>
          </a:p>
        </p:txBody>
      </p:sp>
      <p:sp>
        <p:nvSpPr>
          <p:cNvPr id="22" name="TextBox 21"/>
          <p:cNvSpPr txBox="1"/>
          <p:nvPr/>
        </p:nvSpPr>
        <p:spPr>
          <a:xfrm>
            <a:off x="6309360" y="1856232"/>
            <a:ext cx="5303520" cy="1371600"/>
          </a:xfrm>
          <a:prstGeom prst="rect">
            <a:avLst/>
          </a:prstGeom>
          <a:noFill/>
        </p:spPr>
        <p:txBody>
          <a:bodyPr wrap="square">
            <a:spAutoFit/>
          </a:bodyPr>
          <a:lstStyle/>
          <a:p>
            <a:pPr algn="l"/>
            <a:r>
              <a:rPr sz="1400" b="0">
                <a:solidFill>
                  <a:srgbClr val="1F2937"/>
                </a:solidFill>
                <a:latin typeface="Calibri"/>
              </a:rPr>
              <a:t>What is this story MOSTLY about?
a)  How to use a flashlight
b)  A girl who helps turtles reach the sea
c)  A scientist writing a notebook</a:t>
            </a:r>
          </a:p>
        </p:txBody>
      </p:sp>
      <p:sp>
        <p:nvSpPr>
          <p:cNvPr id="23" name="TextBox 22"/>
          <p:cNvSpPr txBox="1"/>
          <p:nvPr/>
        </p:nvSpPr>
        <p:spPr>
          <a:xfrm>
            <a:off x="6309360" y="3136392"/>
            <a:ext cx="5303520" cy="292608"/>
          </a:xfrm>
          <a:prstGeom prst="rect">
            <a:avLst/>
          </a:prstGeom>
          <a:noFill/>
        </p:spPr>
        <p:txBody>
          <a:bodyPr wrap="square">
            <a:spAutoFit/>
          </a:bodyPr>
          <a:lstStyle/>
          <a:p>
            <a:pPr algn="l"/>
            <a:r>
              <a:rPr sz="1100" b="1">
                <a:solidFill>
                  <a:srgbClr val="009688"/>
                </a:solidFill>
                <a:latin typeface="Calibri"/>
              </a:rPr>
              <a:t>The main idea covers the WHOLE story.</a:t>
            </a:r>
          </a:p>
        </p:txBody>
      </p:sp>
      <p:sp>
        <p:nvSpPr>
          <p:cNvPr id="24" name="Rounded Rectangle 23"/>
          <p:cNvSpPr/>
          <p:nvPr/>
        </p:nvSpPr>
        <p:spPr>
          <a:xfrm>
            <a:off x="411480" y="370332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831336"/>
            <a:ext cx="1371600" cy="292608"/>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49624"/>
            <a:ext cx="1371600" cy="274320"/>
          </a:xfrm>
          <a:prstGeom prst="rect">
            <a:avLst/>
          </a:prstGeom>
          <a:noFill/>
        </p:spPr>
        <p:txBody>
          <a:bodyPr wrap="square">
            <a:spAutoFit/>
          </a:bodyPr>
          <a:lstStyle/>
          <a:p>
            <a:pPr algn="ctr"/>
            <a:r>
              <a:rPr sz="1000" b="1">
                <a:solidFill>
                  <a:srgbClr val="FFFFFF"/>
                </a:solidFill>
                <a:latin typeface="Calibri"/>
              </a:rPr>
              <a:t>INFERENCE 🔍</a:t>
            </a:r>
          </a:p>
        </p:txBody>
      </p:sp>
      <p:sp>
        <p:nvSpPr>
          <p:cNvPr id="27" name="TextBox 26"/>
          <p:cNvSpPr txBox="1"/>
          <p:nvPr/>
        </p:nvSpPr>
        <p:spPr>
          <a:xfrm>
            <a:off x="548640" y="4233672"/>
            <a:ext cx="5303520" cy="1371600"/>
          </a:xfrm>
          <a:prstGeom prst="rect">
            <a:avLst/>
          </a:prstGeom>
          <a:noFill/>
        </p:spPr>
        <p:txBody>
          <a:bodyPr wrap="square">
            <a:spAutoFit/>
          </a:bodyPr>
          <a:lstStyle/>
          <a:p>
            <a:pPr algn="l"/>
            <a:r>
              <a:rPr sz="1400" b="0">
                <a:solidFill>
                  <a:srgbClr val="1F2937"/>
                </a:solidFill>
                <a:latin typeface="Calibri"/>
              </a:rPr>
              <a:t>Diego said, "I knew you'd say that."
What does that tell us about Maya?</a:t>
            </a:r>
          </a:p>
        </p:txBody>
      </p:sp>
      <p:sp>
        <p:nvSpPr>
          <p:cNvPr id="28" name="TextBox 27"/>
          <p:cNvSpPr txBox="1"/>
          <p:nvPr/>
        </p:nvSpPr>
        <p:spPr>
          <a:xfrm>
            <a:off x="548640" y="5513832"/>
            <a:ext cx="5303520" cy="292608"/>
          </a:xfrm>
          <a:prstGeom prst="rect">
            <a:avLst/>
          </a:prstGeom>
          <a:noFill/>
        </p:spPr>
        <p:txBody>
          <a:bodyPr wrap="square">
            <a:spAutoFit/>
          </a:bodyPr>
          <a:lstStyle/>
          <a:p>
            <a:pPr algn="l"/>
            <a:r>
              <a:rPr sz="1100" b="1">
                <a:solidFill>
                  <a:srgbClr val="009688"/>
                </a:solidFill>
                <a:latin typeface="Calibri"/>
              </a:rPr>
              <a:t>The answer is NOT written — you infer it!</a:t>
            </a:r>
          </a:p>
        </p:txBody>
      </p:sp>
      <p:sp>
        <p:nvSpPr>
          <p:cNvPr id="29" name="Rounded Rectangle 28"/>
          <p:cNvSpPr/>
          <p:nvPr/>
        </p:nvSpPr>
        <p:spPr>
          <a:xfrm>
            <a:off x="6172200" y="3703320"/>
            <a:ext cx="557784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09360" y="3831336"/>
            <a:ext cx="1371600" cy="292608"/>
          </a:xfrm>
          <a:prstGeom prst="round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849624"/>
            <a:ext cx="1371600" cy="274320"/>
          </a:xfrm>
          <a:prstGeom prst="rect">
            <a:avLst/>
          </a:prstGeom>
          <a:noFill/>
        </p:spPr>
        <p:txBody>
          <a:bodyPr wrap="square">
            <a:spAutoFit/>
          </a:bodyPr>
          <a:lstStyle/>
          <a:p>
            <a:pPr algn="ctr"/>
            <a:r>
              <a:rPr sz="1000" b="1">
                <a:solidFill>
                  <a:srgbClr val="FFFFFF"/>
                </a:solidFill>
                <a:latin typeface="Calibri"/>
              </a:rPr>
              <a:t>YOUR OPINION 💭</a:t>
            </a:r>
          </a:p>
        </p:txBody>
      </p:sp>
      <p:sp>
        <p:nvSpPr>
          <p:cNvPr id="32" name="TextBox 31"/>
          <p:cNvSpPr txBox="1"/>
          <p:nvPr/>
        </p:nvSpPr>
        <p:spPr>
          <a:xfrm>
            <a:off x="6309360" y="4233672"/>
            <a:ext cx="5303520" cy="1371600"/>
          </a:xfrm>
          <a:prstGeom prst="rect">
            <a:avLst/>
          </a:prstGeom>
          <a:noFill/>
        </p:spPr>
        <p:txBody>
          <a:bodyPr wrap="square">
            <a:spAutoFit/>
          </a:bodyPr>
          <a:lstStyle/>
          <a:p>
            <a:pPr algn="l"/>
            <a:r>
              <a:rPr sz="1400" b="0">
                <a:solidFill>
                  <a:srgbClr val="1F2937"/>
                </a:solidFill>
                <a:latin typeface="Calibri"/>
              </a:rPr>
              <a:t>Would YOU volunteer on a dark beach
at midnight?
Why or why not?</a:t>
            </a:r>
          </a:p>
        </p:txBody>
      </p:sp>
      <p:sp>
        <p:nvSpPr>
          <p:cNvPr id="33" name="TextBox 32"/>
          <p:cNvSpPr txBox="1"/>
          <p:nvPr/>
        </p:nvSpPr>
        <p:spPr>
          <a:xfrm>
            <a:off x="6309360" y="5513832"/>
            <a:ext cx="5303520" cy="292608"/>
          </a:xfrm>
          <a:prstGeom prst="rect">
            <a:avLst/>
          </a:prstGeom>
          <a:noFill/>
        </p:spPr>
        <p:txBody>
          <a:bodyPr wrap="square">
            <a:spAutoFit/>
          </a:bodyPr>
          <a:lstStyle/>
          <a:p>
            <a:pPr algn="l"/>
            <a:r>
              <a:rPr sz="1100" b="1">
                <a:solidFill>
                  <a:srgbClr val="009688"/>
                </a:solidFill>
                <a:latin typeface="Calibri"/>
              </a:rPr>
              <a:t>There is no wrong answer here!</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20–25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Game 3: Match It — Word ➡️ Meaning</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4942579"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game  |  20–25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15 / 37</a:t>
            </a:r>
          </a:p>
        </p:txBody>
      </p:sp>
      <p:sp>
        <p:nvSpPr>
          <p:cNvPr id="14" name="TextBox 13"/>
          <p:cNvSpPr txBox="1"/>
          <p:nvPr/>
        </p:nvSpPr>
        <p:spPr>
          <a:xfrm>
            <a:off x="640080" y="1280160"/>
            <a:ext cx="4754880" cy="365760"/>
          </a:xfrm>
          <a:prstGeom prst="rect">
            <a:avLst/>
          </a:prstGeom>
          <a:noFill/>
        </p:spPr>
        <p:txBody>
          <a:bodyPr wrap="square">
            <a:spAutoFit/>
          </a:bodyPr>
          <a:lstStyle/>
          <a:p>
            <a:pPr algn="l"/>
            <a:r>
              <a:rPr sz="1500" b="1">
                <a:solidFill>
                  <a:srgbClr val="0A2A6E"/>
                </a:solidFill>
                <a:latin typeface="Calibri"/>
              </a:rPr>
              <a:t>WORDS</a:t>
            </a:r>
          </a:p>
        </p:txBody>
      </p:sp>
      <p:sp>
        <p:nvSpPr>
          <p:cNvPr id="15" name="TextBox 14"/>
          <p:cNvSpPr txBox="1"/>
          <p:nvPr/>
        </p:nvSpPr>
        <p:spPr>
          <a:xfrm>
            <a:off x="6583680" y="1280160"/>
            <a:ext cx="5029200" cy="365760"/>
          </a:xfrm>
          <a:prstGeom prst="rect">
            <a:avLst/>
          </a:prstGeom>
          <a:noFill/>
        </p:spPr>
        <p:txBody>
          <a:bodyPr wrap="square">
            <a:spAutoFit/>
          </a:bodyPr>
          <a:lstStyle/>
          <a:p>
            <a:pPr algn="l"/>
            <a:r>
              <a:rPr sz="1500" b="1">
                <a:solidFill>
                  <a:srgbClr val="0A2A6E"/>
                </a:solidFill>
                <a:latin typeface="Calibri"/>
              </a:rPr>
              <a:t>MEANINGS</a:t>
            </a:r>
          </a:p>
        </p:txBody>
      </p:sp>
      <p:sp>
        <p:nvSpPr>
          <p:cNvPr id="16" name="Rounded Rectangle 15"/>
          <p:cNvSpPr/>
          <p:nvPr/>
        </p:nvSpPr>
        <p:spPr>
          <a:xfrm>
            <a:off x="640080" y="1719072"/>
            <a:ext cx="420624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1901952"/>
            <a:ext cx="3840480" cy="384048"/>
          </a:xfrm>
          <a:prstGeom prst="rect">
            <a:avLst/>
          </a:prstGeom>
          <a:noFill/>
        </p:spPr>
        <p:txBody>
          <a:bodyPr wrap="square">
            <a:spAutoFit/>
          </a:bodyPr>
          <a:lstStyle/>
          <a:p>
            <a:pPr algn="l"/>
            <a:r>
              <a:rPr sz="1600" b="1">
                <a:solidFill>
                  <a:srgbClr val="0A2A6E"/>
                </a:solidFill>
                <a:latin typeface="Calibri"/>
              </a:rPr>
              <a:t>1.  exhausted</a:t>
            </a:r>
          </a:p>
        </p:txBody>
      </p:sp>
      <p:sp>
        <p:nvSpPr>
          <p:cNvPr id="18" name="Rounded Rectangle 17"/>
          <p:cNvSpPr/>
          <p:nvPr/>
        </p:nvSpPr>
        <p:spPr>
          <a:xfrm>
            <a:off x="640080" y="2633472"/>
            <a:ext cx="420624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816352"/>
            <a:ext cx="3840480" cy="384048"/>
          </a:xfrm>
          <a:prstGeom prst="rect">
            <a:avLst/>
          </a:prstGeom>
          <a:noFill/>
        </p:spPr>
        <p:txBody>
          <a:bodyPr wrap="square">
            <a:spAutoFit/>
          </a:bodyPr>
          <a:lstStyle/>
          <a:p>
            <a:pPr algn="l"/>
            <a:r>
              <a:rPr sz="1600" b="1">
                <a:solidFill>
                  <a:srgbClr val="0A2A6E"/>
                </a:solidFill>
                <a:latin typeface="Calibri"/>
              </a:rPr>
              <a:t>2.  biologist</a:t>
            </a:r>
          </a:p>
        </p:txBody>
      </p:sp>
      <p:sp>
        <p:nvSpPr>
          <p:cNvPr id="20" name="Rounded Rectangle 19"/>
          <p:cNvSpPr/>
          <p:nvPr/>
        </p:nvSpPr>
        <p:spPr>
          <a:xfrm>
            <a:off x="640080" y="3547872"/>
            <a:ext cx="420624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730752"/>
            <a:ext cx="3840480" cy="384048"/>
          </a:xfrm>
          <a:prstGeom prst="rect">
            <a:avLst/>
          </a:prstGeom>
          <a:noFill/>
        </p:spPr>
        <p:txBody>
          <a:bodyPr wrap="square">
            <a:spAutoFit/>
          </a:bodyPr>
          <a:lstStyle/>
          <a:p>
            <a:pPr algn="l"/>
            <a:r>
              <a:rPr sz="1600" b="1">
                <a:solidFill>
                  <a:srgbClr val="0A2A6E"/>
                </a:solidFill>
                <a:latin typeface="Calibri"/>
              </a:rPr>
              <a:t>3.  survive</a:t>
            </a:r>
          </a:p>
        </p:txBody>
      </p:sp>
      <p:sp>
        <p:nvSpPr>
          <p:cNvPr id="22" name="Rounded Rectangle 21"/>
          <p:cNvSpPr/>
          <p:nvPr/>
        </p:nvSpPr>
        <p:spPr>
          <a:xfrm>
            <a:off x="640080" y="4462272"/>
            <a:ext cx="420624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645152"/>
            <a:ext cx="3840480" cy="384048"/>
          </a:xfrm>
          <a:prstGeom prst="rect">
            <a:avLst/>
          </a:prstGeom>
          <a:noFill/>
        </p:spPr>
        <p:txBody>
          <a:bodyPr wrap="square">
            <a:spAutoFit/>
          </a:bodyPr>
          <a:lstStyle/>
          <a:p>
            <a:pPr algn="l"/>
            <a:r>
              <a:rPr sz="1600" b="1">
                <a:solidFill>
                  <a:srgbClr val="0A2A6E"/>
                </a:solidFill>
                <a:latin typeface="Calibri"/>
              </a:rPr>
              <a:t>4.  gently</a:t>
            </a:r>
          </a:p>
        </p:txBody>
      </p:sp>
      <p:sp>
        <p:nvSpPr>
          <p:cNvPr id="24" name="Rounded Rectangle 23"/>
          <p:cNvSpPr/>
          <p:nvPr/>
        </p:nvSpPr>
        <p:spPr>
          <a:xfrm>
            <a:off x="640080" y="5376672"/>
            <a:ext cx="4206240" cy="7315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559552"/>
            <a:ext cx="3840480" cy="384048"/>
          </a:xfrm>
          <a:prstGeom prst="rect">
            <a:avLst/>
          </a:prstGeom>
          <a:noFill/>
        </p:spPr>
        <p:txBody>
          <a:bodyPr wrap="square">
            <a:spAutoFit/>
          </a:bodyPr>
          <a:lstStyle/>
          <a:p>
            <a:pPr algn="l"/>
            <a:r>
              <a:rPr sz="1600" b="1">
                <a:solidFill>
                  <a:srgbClr val="0A2A6E"/>
                </a:solidFill>
                <a:latin typeface="Calibri"/>
              </a:rPr>
              <a:t>5.  scramble</a:t>
            </a:r>
          </a:p>
        </p:txBody>
      </p:sp>
      <p:sp>
        <p:nvSpPr>
          <p:cNvPr id="26" name="Rounded Rectangle 25"/>
          <p:cNvSpPr/>
          <p:nvPr/>
        </p:nvSpPr>
        <p:spPr>
          <a:xfrm>
            <a:off x="6583680" y="1719072"/>
            <a:ext cx="51206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1901952"/>
            <a:ext cx="4754880" cy="384048"/>
          </a:xfrm>
          <a:prstGeom prst="rect">
            <a:avLst/>
          </a:prstGeom>
          <a:noFill/>
        </p:spPr>
        <p:txBody>
          <a:bodyPr wrap="square">
            <a:spAutoFit/>
          </a:bodyPr>
          <a:lstStyle/>
          <a:p>
            <a:pPr algn="l"/>
            <a:r>
              <a:rPr sz="1400" b="0">
                <a:solidFill>
                  <a:srgbClr val="1F2937"/>
                </a:solidFill>
                <a:latin typeface="Calibri"/>
              </a:rPr>
              <a:t>A.  to stay alive</a:t>
            </a:r>
          </a:p>
        </p:txBody>
      </p:sp>
      <p:sp>
        <p:nvSpPr>
          <p:cNvPr id="28" name="Rounded Rectangle 27"/>
          <p:cNvSpPr/>
          <p:nvPr/>
        </p:nvSpPr>
        <p:spPr>
          <a:xfrm>
            <a:off x="6583680" y="2633472"/>
            <a:ext cx="51206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2816352"/>
            <a:ext cx="4754880" cy="384048"/>
          </a:xfrm>
          <a:prstGeom prst="rect">
            <a:avLst/>
          </a:prstGeom>
          <a:noFill/>
        </p:spPr>
        <p:txBody>
          <a:bodyPr wrap="square">
            <a:spAutoFit/>
          </a:bodyPr>
          <a:lstStyle/>
          <a:p>
            <a:pPr algn="l"/>
            <a:r>
              <a:rPr sz="1400" b="0">
                <a:solidFill>
                  <a:srgbClr val="1F2937"/>
                </a:solidFill>
                <a:latin typeface="Calibri"/>
              </a:rPr>
              <a:t>B.  softly and carefully</a:t>
            </a:r>
          </a:p>
        </p:txBody>
      </p:sp>
      <p:sp>
        <p:nvSpPr>
          <p:cNvPr id="30" name="Rounded Rectangle 29"/>
          <p:cNvSpPr/>
          <p:nvPr/>
        </p:nvSpPr>
        <p:spPr>
          <a:xfrm>
            <a:off x="6583680" y="3547872"/>
            <a:ext cx="51206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3730752"/>
            <a:ext cx="4754880" cy="384048"/>
          </a:xfrm>
          <a:prstGeom prst="rect">
            <a:avLst/>
          </a:prstGeom>
          <a:noFill/>
        </p:spPr>
        <p:txBody>
          <a:bodyPr wrap="square">
            <a:spAutoFit/>
          </a:bodyPr>
          <a:lstStyle/>
          <a:p>
            <a:pPr algn="l"/>
            <a:r>
              <a:rPr sz="1400" b="0">
                <a:solidFill>
                  <a:srgbClr val="1F2937"/>
                </a:solidFill>
                <a:latin typeface="Calibri"/>
              </a:rPr>
              <a:t>C.  very, very tired</a:t>
            </a:r>
          </a:p>
        </p:txBody>
      </p:sp>
      <p:sp>
        <p:nvSpPr>
          <p:cNvPr id="32" name="Rounded Rectangle 31"/>
          <p:cNvSpPr/>
          <p:nvPr/>
        </p:nvSpPr>
        <p:spPr>
          <a:xfrm>
            <a:off x="6583680" y="4462272"/>
            <a:ext cx="51206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0" y="4645152"/>
            <a:ext cx="4754880" cy="384048"/>
          </a:xfrm>
          <a:prstGeom prst="rect">
            <a:avLst/>
          </a:prstGeom>
          <a:noFill/>
        </p:spPr>
        <p:txBody>
          <a:bodyPr wrap="square">
            <a:spAutoFit/>
          </a:bodyPr>
          <a:lstStyle/>
          <a:p>
            <a:pPr algn="l"/>
            <a:r>
              <a:rPr sz="1400" b="0">
                <a:solidFill>
                  <a:srgbClr val="1F2937"/>
                </a:solidFill>
                <a:latin typeface="Calibri"/>
              </a:rPr>
              <a:t>D.  to climb fast with hands and feet</a:t>
            </a:r>
          </a:p>
        </p:txBody>
      </p:sp>
      <p:sp>
        <p:nvSpPr>
          <p:cNvPr id="34" name="Rounded Rectangle 33"/>
          <p:cNvSpPr/>
          <p:nvPr/>
        </p:nvSpPr>
        <p:spPr>
          <a:xfrm>
            <a:off x="6583680" y="5376672"/>
            <a:ext cx="5120640" cy="7315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5559552"/>
            <a:ext cx="4754880" cy="384048"/>
          </a:xfrm>
          <a:prstGeom prst="rect">
            <a:avLst/>
          </a:prstGeom>
          <a:noFill/>
        </p:spPr>
        <p:txBody>
          <a:bodyPr wrap="square">
            <a:spAutoFit/>
          </a:bodyPr>
          <a:lstStyle/>
          <a:p>
            <a:pPr algn="l"/>
            <a:r>
              <a:rPr sz="1400" b="0">
                <a:solidFill>
                  <a:srgbClr val="1F2937"/>
                </a:solidFill>
                <a:latin typeface="Calibri"/>
              </a:rPr>
              <a:t>E.  a scientist of living things</a:t>
            </a:r>
          </a:p>
        </p:txBody>
      </p:sp>
      <p:sp>
        <p:nvSpPr>
          <p:cNvPr id="36" name="TextBox 35"/>
          <p:cNvSpPr txBox="1"/>
          <p:nvPr/>
        </p:nvSpPr>
        <p:spPr>
          <a:xfrm>
            <a:off x="4983480" y="1947672"/>
            <a:ext cx="1463040" cy="365760"/>
          </a:xfrm>
          <a:prstGeom prst="rect">
            <a:avLst/>
          </a:prstGeom>
          <a:noFill/>
        </p:spPr>
        <p:txBody>
          <a:bodyPr wrap="square">
            <a:spAutoFit/>
          </a:bodyPr>
          <a:lstStyle/>
          <a:p>
            <a:pPr algn="ctr"/>
            <a:r>
              <a:rPr sz="1600" b="1">
                <a:solidFill>
                  <a:srgbClr val="FF6F61"/>
                </a:solidFill>
                <a:latin typeface="Calibri"/>
              </a:rPr>
              <a:t>____</a:t>
            </a:r>
          </a:p>
        </p:txBody>
      </p:sp>
      <p:sp>
        <p:nvSpPr>
          <p:cNvPr id="37" name="TextBox 36"/>
          <p:cNvSpPr txBox="1"/>
          <p:nvPr/>
        </p:nvSpPr>
        <p:spPr>
          <a:xfrm>
            <a:off x="4983480" y="2862072"/>
            <a:ext cx="1463040" cy="365760"/>
          </a:xfrm>
          <a:prstGeom prst="rect">
            <a:avLst/>
          </a:prstGeom>
          <a:noFill/>
        </p:spPr>
        <p:txBody>
          <a:bodyPr wrap="square">
            <a:spAutoFit/>
          </a:bodyPr>
          <a:lstStyle/>
          <a:p>
            <a:pPr algn="ctr"/>
            <a:r>
              <a:rPr sz="1600" b="1">
                <a:solidFill>
                  <a:srgbClr val="FF6F61"/>
                </a:solidFill>
                <a:latin typeface="Calibri"/>
              </a:rPr>
              <a:t>____</a:t>
            </a:r>
          </a:p>
        </p:txBody>
      </p:sp>
      <p:sp>
        <p:nvSpPr>
          <p:cNvPr id="38" name="TextBox 37"/>
          <p:cNvSpPr txBox="1"/>
          <p:nvPr/>
        </p:nvSpPr>
        <p:spPr>
          <a:xfrm>
            <a:off x="4983480" y="3776472"/>
            <a:ext cx="1463040" cy="365760"/>
          </a:xfrm>
          <a:prstGeom prst="rect">
            <a:avLst/>
          </a:prstGeom>
          <a:noFill/>
        </p:spPr>
        <p:txBody>
          <a:bodyPr wrap="square">
            <a:spAutoFit/>
          </a:bodyPr>
          <a:lstStyle/>
          <a:p>
            <a:pPr algn="ctr"/>
            <a:r>
              <a:rPr sz="1600" b="1">
                <a:solidFill>
                  <a:srgbClr val="FF6F61"/>
                </a:solidFill>
                <a:latin typeface="Calibri"/>
              </a:rPr>
              <a:t>____</a:t>
            </a:r>
          </a:p>
        </p:txBody>
      </p:sp>
      <p:sp>
        <p:nvSpPr>
          <p:cNvPr id="39" name="TextBox 38"/>
          <p:cNvSpPr txBox="1"/>
          <p:nvPr/>
        </p:nvSpPr>
        <p:spPr>
          <a:xfrm>
            <a:off x="4983480" y="4690872"/>
            <a:ext cx="1463040" cy="365760"/>
          </a:xfrm>
          <a:prstGeom prst="rect">
            <a:avLst/>
          </a:prstGeom>
          <a:noFill/>
        </p:spPr>
        <p:txBody>
          <a:bodyPr wrap="square">
            <a:spAutoFit/>
          </a:bodyPr>
          <a:lstStyle/>
          <a:p>
            <a:pPr algn="ctr"/>
            <a:r>
              <a:rPr sz="1600" b="1">
                <a:solidFill>
                  <a:srgbClr val="FF6F61"/>
                </a:solidFill>
                <a:latin typeface="Calibri"/>
              </a:rPr>
              <a:t>____</a:t>
            </a:r>
          </a:p>
        </p:txBody>
      </p:sp>
      <p:sp>
        <p:nvSpPr>
          <p:cNvPr id="40" name="TextBox 39"/>
          <p:cNvSpPr txBox="1"/>
          <p:nvPr/>
        </p:nvSpPr>
        <p:spPr>
          <a:xfrm>
            <a:off x="4983480" y="5605272"/>
            <a:ext cx="1463040" cy="365760"/>
          </a:xfrm>
          <a:prstGeom prst="rect">
            <a:avLst/>
          </a:prstGeom>
          <a:noFill/>
        </p:spPr>
        <p:txBody>
          <a:bodyPr wrap="square">
            <a:spAutoFit/>
          </a:bodyPr>
          <a:lstStyle/>
          <a:p>
            <a:pPr algn="ctr"/>
            <a:r>
              <a:rPr sz="1600" b="1">
                <a:solidFill>
                  <a:srgbClr val="FF6F61"/>
                </a:solidFill>
                <a:latin typeface="Calibri"/>
              </a:rPr>
              <a:t>____</a:t>
            </a:r>
          </a:p>
        </p:txBody>
      </p:sp>
      <p:sp>
        <p:nvSpPr>
          <p:cNvPr id="41" name="Rounded Rectangle 40"/>
          <p:cNvSpPr/>
          <p:nvPr/>
        </p:nvSpPr>
        <p:spPr>
          <a:xfrm>
            <a:off x="9646920" y="5897880"/>
            <a:ext cx="2194560" cy="41148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46920" y="5943600"/>
            <a:ext cx="2194560" cy="365760"/>
          </a:xfrm>
          <a:prstGeom prst="rect">
            <a:avLst/>
          </a:prstGeom>
          <a:noFill/>
        </p:spPr>
        <p:txBody>
          <a:bodyPr wrap="square">
            <a:spAutoFit/>
          </a:bodyPr>
          <a:lstStyle/>
          <a:p>
            <a:pPr algn="ctr"/>
            <a:r>
              <a:rPr sz="1300" b="1">
                <a:solidFill>
                  <a:srgbClr val="0A2A6E"/>
                </a:solidFill>
                <a:latin typeface="Calibri"/>
              </a:rPr>
              <a:t>+1 Star ⭐</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20–25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Game 4: Use the Word!</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5272084"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Vocab game  |  20–25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16 / 37</a:t>
            </a:r>
          </a:p>
        </p:txBody>
      </p:sp>
      <p:sp>
        <p:nvSpPr>
          <p:cNvPr id="14" name="Rounded Rectangle 13"/>
          <p:cNvSpPr/>
          <p:nvPr/>
        </p:nvSpPr>
        <p:spPr>
          <a:xfrm>
            <a:off x="457200" y="1371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1920240"/>
            <a:ext cx="914400" cy="914400"/>
          </a:xfrm>
          <a:prstGeom prst="ellipse">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03120"/>
            <a:ext cx="914400" cy="548640"/>
          </a:xfrm>
          <a:prstGeom prst="rect">
            <a:avLst/>
          </a:prstGeom>
          <a:noFill/>
        </p:spPr>
        <p:txBody>
          <a:bodyPr wrap="square">
            <a:spAutoFit/>
          </a:bodyPr>
          <a:lstStyle/>
          <a:p>
            <a:pPr algn="ctr"/>
            <a:r>
              <a:rPr sz="2600" b="0">
                <a:solidFill>
                  <a:srgbClr val="1F2937"/>
                </a:solidFill>
                <a:latin typeface="Calibri"/>
              </a:rPr>
              <a:t>😴</a:t>
            </a:r>
          </a:p>
        </p:txBody>
      </p:sp>
      <p:sp>
        <p:nvSpPr>
          <p:cNvPr id="17" name="TextBox 16"/>
          <p:cNvSpPr txBox="1"/>
          <p:nvPr/>
        </p:nvSpPr>
        <p:spPr>
          <a:xfrm>
            <a:off x="1828800" y="1691640"/>
            <a:ext cx="3931920" cy="411480"/>
          </a:xfrm>
          <a:prstGeom prst="rect">
            <a:avLst/>
          </a:prstGeom>
          <a:noFill/>
        </p:spPr>
        <p:txBody>
          <a:bodyPr wrap="square">
            <a:spAutoFit/>
          </a:bodyPr>
          <a:lstStyle/>
          <a:p>
            <a:pPr algn="l"/>
            <a:r>
              <a:rPr sz="1900" b="1">
                <a:solidFill>
                  <a:srgbClr val="2E7D32"/>
                </a:solidFill>
                <a:latin typeface="Calibri"/>
              </a:rPr>
              <a:t>exhausted</a:t>
            </a:r>
          </a:p>
        </p:txBody>
      </p:sp>
      <p:sp>
        <p:nvSpPr>
          <p:cNvPr id="18" name="TextBox 17"/>
          <p:cNvSpPr txBox="1"/>
          <p:nvPr/>
        </p:nvSpPr>
        <p:spPr>
          <a:xfrm>
            <a:off x="1828800" y="2240280"/>
            <a:ext cx="3931920" cy="1005840"/>
          </a:xfrm>
          <a:prstGeom prst="rect">
            <a:avLst/>
          </a:prstGeom>
          <a:noFill/>
        </p:spPr>
        <p:txBody>
          <a:bodyPr wrap="square">
            <a:spAutoFit/>
          </a:bodyPr>
          <a:lstStyle/>
          <a:p>
            <a:pPr algn="l"/>
            <a:r>
              <a:rPr sz="1400" b="0">
                <a:solidFill>
                  <a:srgbClr val="1F2937"/>
                </a:solidFill>
                <a:latin typeface="Calibri"/>
              </a:rPr>
              <a:t>Tell me about a day YOU felt exhausted.</a:t>
            </a:r>
          </a:p>
        </p:txBody>
      </p:sp>
      <p:sp>
        <p:nvSpPr>
          <p:cNvPr id="19" name="Rounded Rectangle 18"/>
          <p:cNvSpPr/>
          <p:nvPr/>
        </p:nvSpPr>
        <p:spPr>
          <a:xfrm>
            <a:off x="6217920" y="1371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1920240"/>
            <a:ext cx="914400" cy="914400"/>
          </a:xfrm>
          <a:prstGeom prst="ellipse">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103120"/>
            <a:ext cx="914400" cy="548640"/>
          </a:xfrm>
          <a:prstGeom prst="rect">
            <a:avLst/>
          </a:prstGeom>
          <a:noFill/>
        </p:spPr>
        <p:txBody>
          <a:bodyPr wrap="square">
            <a:spAutoFit/>
          </a:bodyPr>
          <a:lstStyle/>
          <a:p>
            <a:pPr algn="ctr"/>
            <a:r>
              <a:rPr sz="2600" b="0">
                <a:solidFill>
                  <a:srgbClr val="1F2937"/>
                </a:solidFill>
                <a:latin typeface="Calibri"/>
              </a:rPr>
              <a:t>🗺️</a:t>
            </a:r>
          </a:p>
        </p:txBody>
      </p:sp>
      <p:sp>
        <p:nvSpPr>
          <p:cNvPr id="22" name="TextBox 21"/>
          <p:cNvSpPr txBox="1"/>
          <p:nvPr/>
        </p:nvSpPr>
        <p:spPr>
          <a:xfrm>
            <a:off x="7589520" y="1691640"/>
            <a:ext cx="3931920" cy="411480"/>
          </a:xfrm>
          <a:prstGeom prst="rect">
            <a:avLst/>
          </a:prstGeom>
          <a:noFill/>
        </p:spPr>
        <p:txBody>
          <a:bodyPr wrap="square">
            <a:spAutoFit/>
          </a:bodyPr>
          <a:lstStyle/>
          <a:p>
            <a:pPr algn="l"/>
            <a:r>
              <a:rPr sz="1900" b="1">
                <a:solidFill>
                  <a:srgbClr val="2E7D32"/>
                </a:solidFill>
                <a:latin typeface="Calibri"/>
              </a:rPr>
              <a:t>journey</a:t>
            </a:r>
          </a:p>
        </p:txBody>
      </p:sp>
      <p:sp>
        <p:nvSpPr>
          <p:cNvPr id="23" name="TextBox 22"/>
          <p:cNvSpPr txBox="1"/>
          <p:nvPr/>
        </p:nvSpPr>
        <p:spPr>
          <a:xfrm>
            <a:off x="7589520" y="2240280"/>
            <a:ext cx="3931920" cy="1005840"/>
          </a:xfrm>
          <a:prstGeom prst="rect">
            <a:avLst/>
          </a:prstGeom>
          <a:noFill/>
        </p:spPr>
        <p:txBody>
          <a:bodyPr wrap="square">
            <a:spAutoFit/>
          </a:bodyPr>
          <a:lstStyle/>
          <a:p>
            <a:pPr algn="l"/>
            <a:r>
              <a:rPr sz="1400" b="0">
                <a:solidFill>
                  <a:srgbClr val="1F2937"/>
                </a:solidFill>
                <a:latin typeface="Calibri"/>
              </a:rPr>
              <a:t>Describe a journey you have taken.</a:t>
            </a:r>
          </a:p>
        </p:txBody>
      </p:sp>
      <p:sp>
        <p:nvSpPr>
          <p:cNvPr id="24" name="Rounded Rectangle 23"/>
          <p:cNvSpPr/>
          <p:nvPr/>
        </p:nvSpPr>
        <p:spPr>
          <a:xfrm>
            <a:off x="457200" y="3657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4206240"/>
            <a:ext cx="914400" cy="914400"/>
          </a:xfrm>
          <a:prstGeom prst="ellipse">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389120"/>
            <a:ext cx="914400" cy="548640"/>
          </a:xfrm>
          <a:prstGeom prst="rect">
            <a:avLst/>
          </a:prstGeom>
          <a:noFill/>
        </p:spPr>
        <p:txBody>
          <a:bodyPr wrap="square">
            <a:spAutoFit/>
          </a:bodyPr>
          <a:lstStyle/>
          <a:p>
            <a:pPr algn="ctr"/>
            <a:r>
              <a:rPr sz="2600" b="0">
                <a:solidFill>
                  <a:srgbClr val="1F2937"/>
                </a:solidFill>
                <a:latin typeface="Calibri"/>
              </a:rPr>
              <a:t>🤲</a:t>
            </a:r>
          </a:p>
        </p:txBody>
      </p:sp>
      <p:sp>
        <p:nvSpPr>
          <p:cNvPr id="27" name="TextBox 26"/>
          <p:cNvSpPr txBox="1"/>
          <p:nvPr/>
        </p:nvSpPr>
        <p:spPr>
          <a:xfrm>
            <a:off x="1828800" y="3977640"/>
            <a:ext cx="3931920" cy="411480"/>
          </a:xfrm>
          <a:prstGeom prst="rect">
            <a:avLst/>
          </a:prstGeom>
          <a:noFill/>
        </p:spPr>
        <p:txBody>
          <a:bodyPr wrap="square">
            <a:spAutoFit/>
          </a:bodyPr>
          <a:lstStyle/>
          <a:p>
            <a:pPr algn="l"/>
            <a:r>
              <a:rPr sz="1900" b="1">
                <a:solidFill>
                  <a:srgbClr val="2E7D32"/>
                </a:solidFill>
                <a:latin typeface="Calibri"/>
              </a:rPr>
              <a:t>gently</a:t>
            </a:r>
          </a:p>
        </p:txBody>
      </p:sp>
      <p:sp>
        <p:nvSpPr>
          <p:cNvPr id="28" name="TextBox 27"/>
          <p:cNvSpPr txBox="1"/>
          <p:nvPr/>
        </p:nvSpPr>
        <p:spPr>
          <a:xfrm>
            <a:off x="1828800" y="4526280"/>
            <a:ext cx="3931920" cy="1005840"/>
          </a:xfrm>
          <a:prstGeom prst="rect">
            <a:avLst/>
          </a:prstGeom>
          <a:noFill/>
        </p:spPr>
        <p:txBody>
          <a:bodyPr wrap="square">
            <a:spAutoFit/>
          </a:bodyPr>
          <a:lstStyle/>
          <a:p>
            <a:pPr algn="l"/>
            <a:r>
              <a:rPr sz="1400" b="0">
                <a:solidFill>
                  <a:srgbClr val="1F2937"/>
                </a:solidFill>
                <a:latin typeface="Calibri"/>
              </a:rPr>
              <a:t>What do you hold gently?</a:t>
            </a:r>
          </a:p>
        </p:txBody>
      </p:sp>
      <p:sp>
        <p:nvSpPr>
          <p:cNvPr id="29" name="Rounded Rectangle 28"/>
          <p:cNvSpPr/>
          <p:nvPr/>
        </p:nvSpPr>
        <p:spPr>
          <a:xfrm>
            <a:off x="6217920" y="3657600"/>
            <a:ext cx="548640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46520" y="4206240"/>
            <a:ext cx="914400" cy="914400"/>
          </a:xfrm>
          <a:prstGeom prst="ellipse">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389120"/>
            <a:ext cx="914400" cy="548640"/>
          </a:xfrm>
          <a:prstGeom prst="rect">
            <a:avLst/>
          </a:prstGeom>
          <a:noFill/>
        </p:spPr>
        <p:txBody>
          <a:bodyPr wrap="square">
            <a:spAutoFit/>
          </a:bodyPr>
          <a:lstStyle/>
          <a:p>
            <a:pPr algn="ctr"/>
            <a:r>
              <a:rPr sz="2600" b="0">
                <a:solidFill>
                  <a:srgbClr val="1F2937"/>
                </a:solidFill>
                <a:latin typeface="Calibri"/>
              </a:rPr>
              <a:t>🙋</a:t>
            </a:r>
          </a:p>
        </p:txBody>
      </p:sp>
      <p:sp>
        <p:nvSpPr>
          <p:cNvPr id="32" name="TextBox 31"/>
          <p:cNvSpPr txBox="1"/>
          <p:nvPr/>
        </p:nvSpPr>
        <p:spPr>
          <a:xfrm>
            <a:off x="7589520" y="3977640"/>
            <a:ext cx="3931920" cy="411480"/>
          </a:xfrm>
          <a:prstGeom prst="rect">
            <a:avLst/>
          </a:prstGeom>
          <a:noFill/>
        </p:spPr>
        <p:txBody>
          <a:bodyPr wrap="square">
            <a:spAutoFit/>
          </a:bodyPr>
          <a:lstStyle/>
          <a:p>
            <a:pPr algn="l"/>
            <a:r>
              <a:rPr sz="1900" b="1">
                <a:solidFill>
                  <a:srgbClr val="2E7D32"/>
                </a:solidFill>
                <a:latin typeface="Calibri"/>
              </a:rPr>
              <a:t>volunteer</a:t>
            </a:r>
          </a:p>
        </p:txBody>
      </p:sp>
      <p:sp>
        <p:nvSpPr>
          <p:cNvPr id="33" name="TextBox 32"/>
          <p:cNvSpPr txBox="1"/>
          <p:nvPr/>
        </p:nvSpPr>
        <p:spPr>
          <a:xfrm>
            <a:off x="7589520" y="4526280"/>
            <a:ext cx="3931920" cy="1005840"/>
          </a:xfrm>
          <a:prstGeom prst="rect">
            <a:avLst/>
          </a:prstGeom>
          <a:noFill/>
        </p:spPr>
        <p:txBody>
          <a:bodyPr wrap="square">
            <a:spAutoFit/>
          </a:bodyPr>
          <a:lstStyle/>
          <a:p>
            <a:pPr algn="l"/>
            <a:r>
              <a:rPr sz="1400" b="0">
                <a:solidFill>
                  <a:srgbClr val="1F2937"/>
                </a:solidFill>
                <a:latin typeface="Calibri"/>
              </a:rPr>
              <a:t>How could you volunteer at your school?</a:t>
            </a:r>
          </a:p>
        </p:txBody>
      </p:sp>
      <p:sp>
        <p:nvSpPr>
          <p:cNvPr id="34" name="TextBox 33"/>
          <p:cNvSpPr txBox="1"/>
          <p:nvPr/>
        </p:nvSpPr>
        <p:spPr>
          <a:xfrm>
            <a:off x="457200" y="6035040"/>
            <a:ext cx="8778240" cy="320040"/>
          </a:xfrm>
          <a:prstGeom prst="rect">
            <a:avLst/>
          </a:prstGeom>
          <a:noFill/>
        </p:spPr>
        <p:txBody>
          <a:bodyPr wrap="square">
            <a:spAutoFit/>
          </a:bodyPr>
          <a:lstStyle/>
          <a:p>
            <a:pPr algn="l"/>
            <a:r>
              <a:rPr sz="1400" b="1">
                <a:solidFill>
                  <a:srgbClr val="FF6F61"/>
                </a:solidFill>
                <a:latin typeface="Calibri"/>
              </a:rPr>
              <a:t>🌟 Full sentences only — I want to hear that word doing its job!</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Tenses: Your Time Machine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5601589"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17 / 37</a:t>
            </a:r>
          </a:p>
        </p:txBody>
      </p:sp>
      <p:sp>
        <p:nvSpPr>
          <p:cNvPr id="14" name="TextBox 13"/>
          <p:cNvSpPr txBox="1"/>
          <p:nvPr/>
        </p:nvSpPr>
        <p:spPr>
          <a:xfrm>
            <a:off x="411480" y="1234440"/>
            <a:ext cx="11338560" cy="411480"/>
          </a:xfrm>
          <a:prstGeom prst="rect">
            <a:avLst/>
          </a:prstGeom>
          <a:noFill/>
        </p:spPr>
        <p:txBody>
          <a:bodyPr wrap="square">
            <a:spAutoFit/>
          </a:bodyPr>
          <a:lstStyle/>
          <a:p>
            <a:pPr algn="l"/>
            <a:r>
              <a:rPr sz="1700" b="1">
                <a:solidFill>
                  <a:srgbClr val="0A2A6E"/>
                </a:solidFill>
                <a:latin typeface="Calibri"/>
              </a:rPr>
              <a:t>Every sentence tells us WHEN something happens. That's a tense!</a:t>
            </a:r>
          </a:p>
        </p:txBody>
      </p:sp>
      <p:sp>
        <p:nvSpPr>
          <p:cNvPr id="15" name="Rectangle 14"/>
          <p:cNvSpPr/>
          <p:nvPr/>
        </p:nvSpPr>
        <p:spPr>
          <a:xfrm>
            <a:off x="1188720" y="2139695"/>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88720" y="2002535"/>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532887"/>
            <a:ext cx="1554480" cy="274320"/>
          </a:xfrm>
          <a:prstGeom prst="rect">
            <a:avLst/>
          </a:prstGeom>
          <a:noFill/>
        </p:spPr>
        <p:txBody>
          <a:bodyPr wrap="square">
            <a:spAutoFit/>
          </a:bodyPr>
          <a:lstStyle/>
          <a:p>
            <a:pPr algn="ctr"/>
            <a:r>
              <a:rPr sz="1200" b="1">
                <a:solidFill>
                  <a:srgbClr val="64748B"/>
                </a:solidFill>
                <a:latin typeface="Calibri"/>
              </a:rPr>
              <a:t>PAST</a:t>
            </a:r>
          </a:p>
        </p:txBody>
      </p:sp>
      <p:sp>
        <p:nvSpPr>
          <p:cNvPr id="18" name="Oval 17"/>
          <p:cNvSpPr/>
          <p:nvPr/>
        </p:nvSpPr>
        <p:spPr>
          <a:xfrm>
            <a:off x="5733288" y="1856231"/>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2532887"/>
            <a:ext cx="1554480" cy="274320"/>
          </a:xfrm>
          <a:prstGeom prst="rect">
            <a:avLst/>
          </a:prstGeom>
          <a:noFill/>
        </p:spPr>
        <p:txBody>
          <a:bodyPr wrap="square">
            <a:spAutoFit/>
          </a:bodyPr>
          <a:lstStyle/>
          <a:p>
            <a:pPr algn="ctr"/>
            <a:r>
              <a:rPr sz="1200" b="1">
                <a:solidFill>
                  <a:srgbClr val="0A2A6E"/>
                </a:solidFill>
                <a:latin typeface="Calibri"/>
              </a:rPr>
              <a:t>NOW</a:t>
            </a:r>
          </a:p>
        </p:txBody>
      </p:sp>
      <p:sp>
        <p:nvSpPr>
          <p:cNvPr id="20" name="Oval 19"/>
          <p:cNvSpPr/>
          <p:nvPr/>
        </p:nvSpPr>
        <p:spPr>
          <a:xfrm>
            <a:off x="10332720" y="2002535"/>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0" y="2532887"/>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2" name="Rounded Rectangle 21"/>
          <p:cNvSpPr/>
          <p:nvPr/>
        </p:nvSpPr>
        <p:spPr>
          <a:xfrm>
            <a:off x="502920" y="3200400"/>
            <a:ext cx="3611880" cy="265176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874520" y="3383280"/>
            <a:ext cx="868680" cy="868680"/>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74520" y="3529584"/>
            <a:ext cx="868680" cy="548640"/>
          </a:xfrm>
          <a:prstGeom prst="rect">
            <a:avLst/>
          </a:prstGeom>
          <a:noFill/>
        </p:spPr>
        <p:txBody>
          <a:bodyPr wrap="square">
            <a:spAutoFit/>
          </a:bodyPr>
          <a:lstStyle/>
          <a:p>
            <a:pPr algn="ctr"/>
            <a:r>
              <a:rPr sz="2400" b="0">
                <a:solidFill>
                  <a:srgbClr val="1F2937"/>
                </a:solidFill>
                <a:latin typeface="Calibri"/>
              </a:rPr>
              <a:t>⏪</a:t>
            </a:r>
          </a:p>
        </p:txBody>
      </p:sp>
      <p:sp>
        <p:nvSpPr>
          <p:cNvPr id="25" name="TextBox 24"/>
          <p:cNvSpPr txBox="1"/>
          <p:nvPr/>
        </p:nvSpPr>
        <p:spPr>
          <a:xfrm>
            <a:off x="640080" y="4343400"/>
            <a:ext cx="3337560" cy="365760"/>
          </a:xfrm>
          <a:prstGeom prst="rect">
            <a:avLst/>
          </a:prstGeom>
          <a:noFill/>
        </p:spPr>
        <p:txBody>
          <a:bodyPr wrap="square">
            <a:spAutoFit/>
          </a:bodyPr>
          <a:lstStyle/>
          <a:p>
            <a:pPr algn="ctr"/>
            <a:r>
              <a:rPr sz="1700" b="1">
                <a:solidFill>
                  <a:srgbClr val="FF6F61"/>
                </a:solidFill>
                <a:latin typeface="Calibri"/>
              </a:rPr>
              <a:t>PAST</a:t>
            </a:r>
          </a:p>
        </p:txBody>
      </p:sp>
      <p:sp>
        <p:nvSpPr>
          <p:cNvPr id="26" name="TextBox 25"/>
          <p:cNvSpPr txBox="1"/>
          <p:nvPr/>
        </p:nvSpPr>
        <p:spPr>
          <a:xfrm>
            <a:off x="640080" y="4754880"/>
            <a:ext cx="3337560" cy="548640"/>
          </a:xfrm>
          <a:prstGeom prst="rect">
            <a:avLst/>
          </a:prstGeom>
          <a:noFill/>
        </p:spPr>
        <p:txBody>
          <a:bodyPr wrap="square">
            <a:spAutoFit/>
          </a:bodyPr>
          <a:lstStyle/>
          <a:p>
            <a:pPr algn="ctr"/>
            <a:r>
              <a:rPr sz="1300" b="0">
                <a:solidFill>
                  <a:srgbClr val="1F2937"/>
                </a:solidFill>
                <a:latin typeface="Calibri"/>
              </a:rPr>
              <a:t>It already
happened.</a:t>
            </a:r>
          </a:p>
        </p:txBody>
      </p:sp>
      <p:sp>
        <p:nvSpPr>
          <p:cNvPr id="27" name="TextBox 26"/>
          <p:cNvSpPr txBox="1"/>
          <p:nvPr/>
        </p:nvSpPr>
        <p:spPr>
          <a:xfrm>
            <a:off x="640080" y="5303520"/>
            <a:ext cx="3337560" cy="457200"/>
          </a:xfrm>
          <a:prstGeom prst="rect">
            <a:avLst/>
          </a:prstGeom>
          <a:noFill/>
        </p:spPr>
        <p:txBody>
          <a:bodyPr wrap="square">
            <a:spAutoFit/>
          </a:bodyPr>
          <a:lstStyle/>
          <a:p>
            <a:pPr algn="ctr"/>
            <a:r>
              <a:rPr sz="1300" b="1">
                <a:solidFill>
                  <a:srgbClr val="0A2A6E"/>
                </a:solidFill>
                <a:latin typeface="Calibri"/>
              </a:rPr>
              <a:t>"I played soccer
yesterday."</a:t>
            </a:r>
          </a:p>
        </p:txBody>
      </p:sp>
      <p:sp>
        <p:nvSpPr>
          <p:cNvPr id="28" name="Rounded Rectangle 27"/>
          <p:cNvSpPr/>
          <p:nvPr/>
        </p:nvSpPr>
        <p:spPr>
          <a:xfrm>
            <a:off x="4297680" y="3200400"/>
            <a:ext cx="3611880" cy="265176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69280" y="3383280"/>
            <a:ext cx="868680" cy="8686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3529584"/>
            <a:ext cx="868680" cy="548640"/>
          </a:xfrm>
          <a:prstGeom prst="rect">
            <a:avLst/>
          </a:prstGeom>
          <a:noFill/>
        </p:spPr>
        <p:txBody>
          <a:bodyPr wrap="square">
            <a:spAutoFit/>
          </a:bodyPr>
          <a:lstStyle/>
          <a:p>
            <a:pPr algn="ctr"/>
            <a:r>
              <a:rPr sz="2400" b="0">
                <a:solidFill>
                  <a:srgbClr val="1F2937"/>
                </a:solidFill>
                <a:latin typeface="Calibri"/>
              </a:rPr>
              <a:t>⏺️</a:t>
            </a:r>
          </a:p>
        </p:txBody>
      </p:sp>
      <p:sp>
        <p:nvSpPr>
          <p:cNvPr id="31" name="TextBox 30"/>
          <p:cNvSpPr txBox="1"/>
          <p:nvPr/>
        </p:nvSpPr>
        <p:spPr>
          <a:xfrm>
            <a:off x="4434840" y="4343400"/>
            <a:ext cx="3337560" cy="365760"/>
          </a:xfrm>
          <a:prstGeom prst="rect">
            <a:avLst/>
          </a:prstGeom>
          <a:noFill/>
        </p:spPr>
        <p:txBody>
          <a:bodyPr wrap="square">
            <a:spAutoFit/>
          </a:bodyPr>
          <a:lstStyle/>
          <a:p>
            <a:pPr algn="ctr"/>
            <a:r>
              <a:rPr sz="1700" b="1">
                <a:solidFill>
                  <a:srgbClr val="009688"/>
                </a:solidFill>
                <a:latin typeface="Calibri"/>
              </a:rPr>
              <a:t>NOW</a:t>
            </a:r>
          </a:p>
        </p:txBody>
      </p:sp>
      <p:sp>
        <p:nvSpPr>
          <p:cNvPr id="32" name="TextBox 31"/>
          <p:cNvSpPr txBox="1"/>
          <p:nvPr/>
        </p:nvSpPr>
        <p:spPr>
          <a:xfrm>
            <a:off x="4434840" y="4754880"/>
            <a:ext cx="3337560" cy="548640"/>
          </a:xfrm>
          <a:prstGeom prst="rect">
            <a:avLst/>
          </a:prstGeom>
          <a:noFill/>
        </p:spPr>
        <p:txBody>
          <a:bodyPr wrap="square">
            <a:spAutoFit/>
          </a:bodyPr>
          <a:lstStyle/>
          <a:p>
            <a:pPr algn="ctr"/>
            <a:r>
              <a:rPr sz="1300" b="0">
                <a:solidFill>
                  <a:srgbClr val="1F2937"/>
                </a:solidFill>
                <a:latin typeface="Calibri"/>
              </a:rPr>
              <a:t>It is happening
right now.</a:t>
            </a:r>
          </a:p>
        </p:txBody>
      </p:sp>
      <p:sp>
        <p:nvSpPr>
          <p:cNvPr id="33" name="TextBox 32"/>
          <p:cNvSpPr txBox="1"/>
          <p:nvPr/>
        </p:nvSpPr>
        <p:spPr>
          <a:xfrm>
            <a:off x="4434840" y="5303520"/>
            <a:ext cx="3337560" cy="457200"/>
          </a:xfrm>
          <a:prstGeom prst="rect">
            <a:avLst/>
          </a:prstGeom>
          <a:noFill/>
        </p:spPr>
        <p:txBody>
          <a:bodyPr wrap="square">
            <a:spAutoFit/>
          </a:bodyPr>
          <a:lstStyle/>
          <a:p>
            <a:pPr algn="ctr"/>
            <a:r>
              <a:rPr sz="1300" b="1">
                <a:solidFill>
                  <a:srgbClr val="0A2A6E"/>
                </a:solidFill>
                <a:latin typeface="Calibri"/>
              </a:rPr>
              <a:t>"I am playing
soccer."</a:t>
            </a:r>
          </a:p>
        </p:txBody>
      </p:sp>
      <p:sp>
        <p:nvSpPr>
          <p:cNvPr id="34" name="Rounded Rectangle 33"/>
          <p:cNvSpPr/>
          <p:nvPr/>
        </p:nvSpPr>
        <p:spPr>
          <a:xfrm>
            <a:off x="8092440" y="3200400"/>
            <a:ext cx="3611880" cy="2651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464040" y="3383280"/>
            <a:ext cx="868680" cy="86868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64040" y="3529584"/>
            <a:ext cx="868680" cy="548640"/>
          </a:xfrm>
          <a:prstGeom prst="rect">
            <a:avLst/>
          </a:prstGeom>
          <a:noFill/>
        </p:spPr>
        <p:txBody>
          <a:bodyPr wrap="square">
            <a:spAutoFit/>
          </a:bodyPr>
          <a:lstStyle/>
          <a:p>
            <a:pPr algn="ctr"/>
            <a:r>
              <a:rPr sz="2400" b="0">
                <a:solidFill>
                  <a:srgbClr val="1F2937"/>
                </a:solidFill>
                <a:latin typeface="Calibri"/>
              </a:rPr>
              <a:t>⏩</a:t>
            </a:r>
          </a:p>
        </p:txBody>
      </p:sp>
      <p:sp>
        <p:nvSpPr>
          <p:cNvPr id="37" name="TextBox 36"/>
          <p:cNvSpPr txBox="1"/>
          <p:nvPr/>
        </p:nvSpPr>
        <p:spPr>
          <a:xfrm>
            <a:off x="8229600" y="4343400"/>
            <a:ext cx="3337560" cy="365760"/>
          </a:xfrm>
          <a:prstGeom prst="rect">
            <a:avLst/>
          </a:prstGeom>
          <a:noFill/>
        </p:spPr>
        <p:txBody>
          <a:bodyPr wrap="square">
            <a:spAutoFit/>
          </a:bodyPr>
          <a:lstStyle/>
          <a:p>
            <a:pPr algn="ctr"/>
            <a:r>
              <a:rPr sz="1700" b="1">
                <a:solidFill>
                  <a:srgbClr val="FFB300"/>
                </a:solidFill>
                <a:latin typeface="Calibri"/>
              </a:rPr>
              <a:t>FUTURE</a:t>
            </a:r>
          </a:p>
        </p:txBody>
      </p:sp>
      <p:sp>
        <p:nvSpPr>
          <p:cNvPr id="38" name="TextBox 37"/>
          <p:cNvSpPr txBox="1"/>
          <p:nvPr/>
        </p:nvSpPr>
        <p:spPr>
          <a:xfrm>
            <a:off x="8229600" y="4754880"/>
            <a:ext cx="3337560" cy="548640"/>
          </a:xfrm>
          <a:prstGeom prst="rect">
            <a:avLst/>
          </a:prstGeom>
          <a:noFill/>
        </p:spPr>
        <p:txBody>
          <a:bodyPr wrap="square">
            <a:spAutoFit/>
          </a:bodyPr>
          <a:lstStyle/>
          <a:p>
            <a:pPr algn="ctr"/>
            <a:r>
              <a:rPr sz="1300" b="0">
                <a:solidFill>
                  <a:srgbClr val="1F2937"/>
                </a:solidFill>
                <a:latin typeface="Calibri"/>
              </a:rPr>
              <a:t>It has not
happened yet.</a:t>
            </a:r>
          </a:p>
        </p:txBody>
      </p:sp>
      <p:sp>
        <p:nvSpPr>
          <p:cNvPr id="39" name="TextBox 38"/>
          <p:cNvSpPr txBox="1"/>
          <p:nvPr/>
        </p:nvSpPr>
        <p:spPr>
          <a:xfrm>
            <a:off x="8229600" y="5303520"/>
            <a:ext cx="3337560" cy="457200"/>
          </a:xfrm>
          <a:prstGeom prst="rect">
            <a:avLst/>
          </a:prstGeom>
          <a:noFill/>
        </p:spPr>
        <p:txBody>
          <a:bodyPr wrap="square">
            <a:spAutoFit/>
          </a:bodyPr>
          <a:lstStyle/>
          <a:p>
            <a:pPr algn="ctr"/>
            <a:r>
              <a:rPr sz="1300" b="1">
                <a:solidFill>
                  <a:srgbClr val="0A2A6E"/>
                </a:solidFill>
                <a:latin typeface="Calibri"/>
              </a:rPr>
              <a:t>"I will play soccer
tomorrow."</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Simple Present</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5931094"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18 / 37</a:t>
            </a:r>
          </a:p>
        </p:txBody>
      </p:sp>
      <p:sp>
        <p:nvSpPr>
          <p:cNvPr id="14" name="Rectangle 13"/>
          <p:cNvSpPr/>
          <p:nvPr/>
        </p:nvSpPr>
        <p:spPr>
          <a:xfrm>
            <a:off x="1188720" y="1435608"/>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28800"/>
            <a:ext cx="1554480" cy="274320"/>
          </a:xfrm>
          <a:prstGeom prst="rect">
            <a:avLst/>
          </a:prstGeom>
          <a:noFill/>
        </p:spPr>
        <p:txBody>
          <a:bodyPr wrap="square">
            <a:spAutoFit/>
          </a:bodyPr>
          <a:lstStyle/>
          <a:p>
            <a:pPr algn="ctr"/>
            <a:r>
              <a:rPr sz="1200" b="1">
                <a:solidFill>
                  <a:srgbClr val="64748B"/>
                </a:solidFill>
                <a:latin typeface="Calibri"/>
              </a:rPr>
              <a:t>PAST</a:t>
            </a:r>
          </a:p>
        </p:txBody>
      </p:sp>
      <p:sp>
        <p:nvSpPr>
          <p:cNvPr id="17" name="Oval 16"/>
          <p:cNvSpPr/>
          <p:nvPr/>
        </p:nvSpPr>
        <p:spPr>
          <a:xfrm>
            <a:off x="5733288" y="1152144"/>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28800"/>
            <a:ext cx="1554480" cy="274320"/>
          </a:xfrm>
          <a:prstGeom prst="rect">
            <a:avLst/>
          </a:prstGeom>
          <a:noFill/>
        </p:spPr>
        <p:txBody>
          <a:bodyPr wrap="square">
            <a:spAutoFit/>
          </a:bodyPr>
          <a:lstStyle/>
          <a:p>
            <a:pPr algn="ctr"/>
            <a:r>
              <a:rPr sz="1200" b="1">
                <a:solidFill>
                  <a:srgbClr val="0A2A6E"/>
                </a:solidFill>
                <a:latin typeface="Calibri"/>
              </a:rPr>
              <a:t>NOW</a:t>
            </a:r>
          </a:p>
        </p:txBody>
      </p:sp>
      <p:sp>
        <p:nvSpPr>
          <p:cNvPr id="19" name="Oval 18"/>
          <p:cNvSpPr/>
          <p:nvPr/>
        </p:nvSpPr>
        <p:spPr>
          <a:xfrm>
            <a:off x="10332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1" name="Rounded Rectangle 20"/>
          <p:cNvSpPr/>
          <p:nvPr/>
        </p:nvSpPr>
        <p:spPr>
          <a:xfrm>
            <a:off x="411480" y="2286000"/>
            <a:ext cx="5577840" cy="379476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468880"/>
            <a:ext cx="5120640" cy="320040"/>
          </a:xfrm>
          <a:prstGeom prst="rect">
            <a:avLst/>
          </a:prstGeom>
          <a:noFill/>
        </p:spPr>
        <p:txBody>
          <a:bodyPr wrap="square">
            <a:spAutoFit/>
          </a:bodyPr>
          <a:lstStyle/>
          <a:p>
            <a:pPr algn="l"/>
            <a:r>
              <a:rPr sz="1300" b="1">
                <a:solidFill>
                  <a:srgbClr val="009688"/>
                </a:solidFill>
                <a:latin typeface="Calibri"/>
              </a:rPr>
              <a:t>WHEN DO WE USE IT?</a:t>
            </a:r>
          </a:p>
        </p:txBody>
      </p:sp>
      <p:sp>
        <p:nvSpPr>
          <p:cNvPr id="23" name="TextBox 22"/>
          <p:cNvSpPr txBox="1"/>
          <p:nvPr/>
        </p:nvSpPr>
        <p:spPr>
          <a:xfrm>
            <a:off x="658368" y="2834640"/>
            <a:ext cx="5120640" cy="777240"/>
          </a:xfrm>
          <a:prstGeom prst="rect">
            <a:avLst/>
          </a:prstGeom>
          <a:noFill/>
        </p:spPr>
        <p:txBody>
          <a:bodyPr wrap="square">
            <a:spAutoFit/>
          </a:bodyPr>
          <a:lstStyle/>
          <a:p>
            <a:pPr algn="l"/>
            <a:r>
              <a:rPr sz="1500" b="0">
                <a:solidFill>
                  <a:srgbClr val="1F2937"/>
                </a:solidFill>
                <a:latin typeface="Calibri"/>
              </a:rPr>
              <a:t>Things that happen again and again, and facts that are always true.</a:t>
            </a:r>
          </a:p>
        </p:txBody>
      </p:sp>
      <p:sp>
        <p:nvSpPr>
          <p:cNvPr id="24" name="TextBox 23"/>
          <p:cNvSpPr txBox="1"/>
          <p:nvPr/>
        </p:nvSpPr>
        <p:spPr>
          <a:xfrm>
            <a:off x="658368" y="3703320"/>
            <a:ext cx="5120640" cy="320040"/>
          </a:xfrm>
          <a:prstGeom prst="rect">
            <a:avLst/>
          </a:prstGeom>
          <a:noFill/>
        </p:spPr>
        <p:txBody>
          <a:bodyPr wrap="square">
            <a:spAutoFit/>
          </a:bodyPr>
          <a:lstStyle/>
          <a:p>
            <a:pPr algn="l"/>
            <a:r>
              <a:rPr sz="1300" b="1">
                <a:solidFill>
                  <a:srgbClr val="009688"/>
                </a:solidFill>
                <a:latin typeface="Calibri"/>
              </a:rPr>
              <a:t>SENTENCE BUILDER</a:t>
            </a:r>
          </a:p>
        </p:txBody>
      </p:sp>
      <p:sp>
        <p:nvSpPr>
          <p:cNvPr id="25" name="Rounded Rectangle 24"/>
          <p:cNvSpPr/>
          <p:nvPr/>
        </p:nvSpPr>
        <p:spPr>
          <a:xfrm>
            <a:off x="658368" y="4069080"/>
            <a:ext cx="507492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06240"/>
            <a:ext cx="4846320" cy="365760"/>
          </a:xfrm>
          <a:prstGeom prst="rect">
            <a:avLst/>
          </a:prstGeom>
          <a:noFill/>
        </p:spPr>
        <p:txBody>
          <a:bodyPr wrap="square">
            <a:spAutoFit/>
          </a:bodyPr>
          <a:lstStyle/>
          <a:p>
            <a:pPr algn="l"/>
            <a:r>
              <a:rPr sz="1400" b="1">
                <a:solidFill>
                  <a:srgbClr val="0A2A6E"/>
                </a:solidFill>
                <a:latin typeface="Calibri"/>
              </a:rPr>
              <a:t>Subject  +  verb  (+ s for he / she / it)</a:t>
            </a:r>
          </a:p>
        </p:txBody>
      </p:sp>
      <p:sp>
        <p:nvSpPr>
          <p:cNvPr id="27" name="TextBox 26"/>
          <p:cNvSpPr txBox="1"/>
          <p:nvPr/>
        </p:nvSpPr>
        <p:spPr>
          <a:xfrm>
            <a:off x="658368" y="4846320"/>
            <a:ext cx="5120640" cy="320040"/>
          </a:xfrm>
          <a:prstGeom prst="rect">
            <a:avLst/>
          </a:prstGeom>
          <a:noFill/>
        </p:spPr>
        <p:txBody>
          <a:bodyPr wrap="square">
            <a:spAutoFit/>
          </a:bodyPr>
          <a:lstStyle/>
          <a:p>
            <a:pPr algn="l"/>
            <a:r>
              <a:rPr sz="1300" b="1">
                <a:solidFill>
                  <a:srgbClr val="009688"/>
                </a:solidFill>
                <a:latin typeface="Calibri"/>
              </a:rPr>
              <a:t>SIGNAL WORDS 🚦</a:t>
            </a:r>
          </a:p>
        </p:txBody>
      </p:sp>
      <p:sp>
        <p:nvSpPr>
          <p:cNvPr id="28" name="TextBox 27"/>
          <p:cNvSpPr txBox="1"/>
          <p:nvPr/>
        </p:nvSpPr>
        <p:spPr>
          <a:xfrm>
            <a:off x="658368" y="5212080"/>
            <a:ext cx="5120640" cy="685800"/>
          </a:xfrm>
          <a:prstGeom prst="rect">
            <a:avLst/>
          </a:prstGeom>
          <a:noFill/>
        </p:spPr>
        <p:txBody>
          <a:bodyPr wrap="square">
            <a:spAutoFit/>
          </a:bodyPr>
          <a:lstStyle/>
          <a:p>
            <a:pPr algn="l"/>
            <a:r>
              <a:rPr sz="1300" b="0">
                <a:solidFill>
                  <a:srgbClr val="1F2937"/>
                </a:solidFill>
                <a:latin typeface="Calibri"/>
              </a:rPr>
              <a:t>every day  •  always  •  usually  •  often  •  never  •  on Mondays</a:t>
            </a:r>
          </a:p>
        </p:txBody>
      </p:sp>
      <p:sp>
        <p:nvSpPr>
          <p:cNvPr id="29" name="Rounded Rectangle 28"/>
          <p:cNvSpPr/>
          <p:nvPr/>
        </p:nvSpPr>
        <p:spPr>
          <a:xfrm>
            <a:off x="6172200" y="2286000"/>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377440"/>
            <a:ext cx="1828800" cy="292608"/>
          </a:xfrm>
          <a:prstGeom prst="rect">
            <a:avLst/>
          </a:prstGeom>
          <a:noFill/>
        </p:spPr>
        <p:txBody>
          <a:bodyPr wrap="square">
            <a:spAutoFit/>
          </a:bodyPr>
          <a:lstStyle/>
          <a:p>
            <a:pPr algn="l"/>
            <a:r>
              <a:rPr sz="1100" b="1">
                <a:solidFill>
                  <a:srgbClr val="2E7D32"/>
                </a:solidFill>
                <a:latin typeface="Calibri"/>
              </a:rPr>
              <a:t>✅  POSITIVE</a:t>
            </a:r>
          </a:p>
        </p:txBody>
      </p:sp>
      <p:sp>
        <p:nvSpPr>
          <p:cNvPr id="31" name="TextBox 30"/>
          <p:cNvSpPr txBox="1"/>
          <p:nvPr/>
        </p:nvSpPr>
        <p:spPr>
          <a:xfrm>
            <a:off x="6355080" y="2706624"/>
            <a:ext cx="5212080" cy="384048"/>
          </a:xfrm>
          <a:prstGeom prst="rect">
            <a:avLst/>
          </a:prstGeom>
          <a:noFill/>
        </p:spPr>
        <p:txBody>
          <a:bodyPr wrap="square">
            <a:spAutoFit/>
          </a:bodyPr>
          <a:lstStyle/>
          <a:p>
            <a:pPr algn="l"/>
            <a:r>
              <a:rPr sz="1500" b="1">
                <a:solidFill>
                  <a:srgbClr val="0A2A6E"/>
                </a:solidFill>
                <a:latin typeface="Calibri"/>
              </a:rPr>
              <a:t>Maya helps the turtles every August.</a:t>
            </a:r>
          </a:p>
        </p:txBody>
      </p:sp>
      <p:sp>
        <p:nvSpPr>
          <p:cNvPr id="32" name="Rounded Rectangle 31"/>
          <p:cNvSpPr/>
          <p:nvPr/>
        </p:nvSpPr>
        <p:spPr>
          <a:xfrm>
            <a:off x="6172200" y="3310128"/>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401568"/>
            <a:ext cx="1828800" cy="292608"/>
          </a:xfrm>
          <a:prstGeom prst="rect">
            <a:avLst/>
          </a:prstGeom>
          <a:noFill/>
        </p:spPr>
        <p:txBody>
          <a:bodyPr wrap="square">
            <a:spAutoFit/>
          </a:bodyPr>
          <a:lstStyle/>
          <a:p>
            <a:pPr algn="l"/>
            <a:r>
              <a:rPr sz="1100" b="1">
                <a:solidFill>
                  <a:srgbClr val="FF6F61"/>
                </a:solidFill>
                <a:latin typeface="Calibri"/>
              </a:rPr>
              <a:t>❌  NEGATIVE</a:t>
            </a:r>
          </a:p>
        </p:txBody>
      </p:sp>
      <p:sp>
        <p:nvSpPr>
          <p:cNvPr id="34" name="TextBox 33"/>
          <p:cNvSpPr txBox="1"/>
          <p:nvPr/>
        </p:nvSpPr>
        <p:spPr>
          <a:xfrm>
            <a:off x="6355080" y="3730752"/>
            <a:ext cx="5212080" cy="384048"/>
          </a:xfrm>
          <a:prstGeom prst="rect">
            <a:avLst/>
          </a:prstGeom>
          <a:noFill/>
        </p:spPr>
        <p:txBody>
          <a:bodyPr wrap="square">
            <a:spAutoFit/>
          </a:bodyPr>
          <a:lstStyle/>
          <a:p>
            <a:pPr algn="l"/>
            <a:r>
              <a:rPr sz="1500" b="1">
                <a:solidFill>
                  <a:srgbClr val="0A2A6E"/>
                </a:solidFill>
                <a:latin typeface="Calibri"/>
              </a:rPr>
              <a:t>Maya does not help on rainy nights.</a:t>
            </a:r>
          </a:p>
        </p:txBody>
      </p:sp>
      <p:sp>
        <p:nvSpPr>
          <p:cNvPr id="35" name="Rounded Rectangle 34"/>
          <p:cNvSpPr/>
          <p:nvPr/>
        </p:nvSpPr>
        <p:spPr>
          <a:xfrm>
            <a:off x="6172200" y="4334256"/>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4425696"/>
            <a:ext cx="1828800" cy="292608"/>
          </a:xfrm>
          <a:prstGeom prst="rect">
            <a:avLst/>
          </a:prstGeom>
          <a:noFill/>
        </p:spPr>
        <p:txBody>
          <a:bodyPr wrap="square">
            <a:spAutoFit/>
          </a:bodyPr>
          <a:lstStyle/>
          <a:p>
            <a:pPr algn="l"/>
            <a:r>
              <a:rPr sz="1100" b="1">
                <a:solidFill>
                  <a:srgbClr val="7E57C2"/>
                </a:solidFill>
                <a:latin typeface="Calibri"/>
              </a:rPr>
              <a:t>❓  QUESTION</a:t>
            </a:r>
          </a:p>
        </p:txBody>
      </p:sp>
      <p:sp>
        <p:nvSpPr>
          <p:cNvPr id="37" name="TextBox 36"/>
          <p:cNvSpPr txBox="1"/>
          <p:nvPr/>
        </p:nvSpPr>
        <p:spPr>
          <a:xfrm>
            <a:off x="6355080" y="4754880"/>
            <a:ext cx="5212080" cy="384048"/>
          </a:xfrm>
          <a:prstGeom prst="rect">
            <a:avLst/>
          </a:prstGeom>
          <a:noFill/>
        </p:spPr>
        <p:txBody>
          <a:bodyPr wrap="square">
            <a:spAutoFit/>
          </a:bodyPr>
          <a:lstStyle/>
          <a:p>
            <a:pPr algn="l"/>
            <a:r>
              <a:rPr sz="1500" b="1">
                <a:solidFill>
                  <a:srgbClr val="0A2A6E"/>
                </a:solidFill>
                <a:latin typeface="Calibri"/>
              </a:rPr>
              <a:t>Does Maya help the turtles?</a:t>
            </a:r>
          </a:p>
        </p:txBody>
      </p:sp>
      <p:sp>
        <p:nvSpPr>
          <p:cNvPr id="38" name="Rounded Rectangle 37"/>
          <p:cNvSpPr/>
          <p:nvPr/>
        </p:nvSpPr>
        <p:spPr>
          <a:xfrm>
            <a:off x="6172200" y="5394960"/>
            <a:ext cx="5577840" cy="6858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5486400"/>
            <a:ext cx="5212080" cy="274320"/>
          </a:xfrm>
          <a:prstGeom prst="rect">
            <a:avLst/>
          </a:prstGeom>
          <a:noFill/>
        </p:spPr>
        <p:txBody>
          <a:bodyPr wrap="square">
            <a:spAutoFit/>
          </a:bodyPr>
          <a:lstStyle/>
          <a:p>
            <a:pPr algn="l"/>
            <a:r>
              <a:rPr sz="1100" b="1">
                <a:solidFill>
                  <a:srgbClr val="FFB300"/>
                </a:solidFill>
                <a:latin typeface="Calibri"/>
              </a:rPr>
              <a:t>🏠 REAL LIFE</a:t>
            </a:r>
          </a:p>
        </p:txBody>
      </p:sp>
      <p:sp>
        <p:nvSpPr>
          <p:cNvPr id="40" name="TextBox 39"/>
          <p:cNvSpPr txBox="1"/>
          <p:nvPr/>
        </p:nvSpPr>
        <p:spPr>
          <a:xfrm>
            <a:off x="6355080" y="5760720"/>
            <a:ext cx="5212080" cy="320040"/>
          </a:xfrm>
          <a:prstGeom prst="rect">
            <a:avLst/>
          </a:prstGeom>
          <a:noFill/>
        </p:spPr>
        <p:txBody>
          <a:bodyPr wrap="square">
            <a:spAutoFit/>
          </a:bodyPr>
          <a:lstStyle/>
          <a:p>
            <a:pPr algn="l"/>
            <a:r>
              <a:rPr sz="1400" b="1">
                <a:solidFill>
                  <a:srgbClr val="1F2937"/>
                </a:solidFill>
                <a:latin typeface="Calibri"/>
              </a:rPr>
              <a:t>I brush my teeth every morning.</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Present Continuous</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6260600"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19 / 37</a:t>
            </a:r>
          </a:p>
        </p:txBody>
      </p:sp>
      <p:sp>
        <p:nvSpPr>
          <p:cNvPr id="14" name="Rectangle 13"/>
          <p:cNvSpPr/>
          <p:nvPr/>
        </p:nvSpPr>
        <p:spPr>
          <a:xfrm>
            <a:off x="1188720" y="1435608"/>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28800"/>
            <a:ext cx="1554480" cy="274320"/>
          </a:xfrm>
          <a:prstGeom prst="rect">
            <a:avLst/>
          </a:prstGeom>
          <a:noFill/>
        </p:spPr>
        <p:txBody>
          <a:bodyPr wrap="square">
            <a:spAutoFit/>
          </a:bodyPr>
          <a:lstStyle/>
          <a:p>
            <a:pPr algn="ctr"/>
            <a:r>
              <a:rPr sz="1200" b="1">
                <a:solidFill>
                  <a:srgbClr val="64748B"/>
                </a:solidFill>
                <a:latin typeface="Calibri"/>
              </a:rPr>
              <a:t>PAST</a:t>
            </a:r>
          </a:p>
        </p:txBody>
      </p:sp>
      <p:sp>
        <p:nvSpPr>
          <p:cNvPr id="17" name="Oval 16"/>
          <p:cNvSpPr/>
          <p:nvPr/>
        </p:nvSpPr>
        <p:spPr>
          <a:xfrm>
            <a:off x="5733288" y="1152144"/>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28800"/>
            <a:ext cx="1554480" cy="274320"/>
          </a:xfrm>
          <a:prstGeom prst="rect">
            <a:avLst/>
          </a:prstGeom>
          <a:noFill/>
        </p:spPr>
        <p:txBody>
          <a:bodyPr wrap="square">
            <a:spAutoFit/>
          </a:bodyPr>
          <a:lstStyle/>
          <a:p>
            <a:pPr algn="ctr"/>
            <a:r>
              <a:rPr sz="1200" b="1">
                <a:solidFill>
                  <a:srgbClr val="0A2A6E"/>
                </a:solidFill>
                <a:latin typeface="Calibri"/>
              </a:rPr>
              <a:t>NOW</a:t>
            </a:r>
          </a:p>
        </p:txBody>
      </p:sp>
      <p:sp>
        <p:nvSpPr>
          <p:cNvPr id="19" name="Oval 18"/>
          <p:cNvSpPr/>
          <p:nvPr/>
        </p:nvSpPr>
        <p:spPr>
          <a:xfrm>
            <a:off x="10332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1" name="Rounded Rectangle 20"/>
          <p:cNvSpPr/>
          <p:nvPr/>
        </p:nvSpPr>
        <p:spPr>
          <a:xfrm>
            <a:off x="411480" y="2286000"/>
            <a:ext cx="5577840" cy="379476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468880"/>
            <a:ext cx="5120640" cy="320040"/>
          </a:xfrm>
          <a:prstGeom prst="rect">
            <a:avLst/>
          </a:prstGeom>
          <a:noFill/>
        </p:spPr>
        <p:txBody>
          <a:bodyPr wrap="square">
            <a:spAutoFit/>
          </a:bodyPr>
          <a:lstStyle/>
          <a:p>
            <a:pPr algn="l"/>
            <a:r>
              <a:rPr sz="1300" b="1">
                <a:solidFill>
                  <a:srgbClr val="29B6F6"/>
                </a:solidFill>
                <a:latin typeface="Calibri"/>
              </a:rPr>
              <a:t>WHEN DO WE USE IT?</a:t>
            </a:r>
          </a:p>
        </p:txBody>
      </p:sp>
      <p:sp>
        <p:nvSpPr>
          <p:cNvPr id="23" name="TextBox 22"/>
          <p:cNvSpPr txBox="1"/>
          <p:nvPr/>
        </p:nvSpPr>
        <p:spPr>
          <a:xfrm>
            <a:off x="658368" y="2834640"/>
            <a:ext cx="5120640" cy="777240"/>
          </a:xfrm>
          <a:prstGeom prst="rect">
            <a:avLst/>
          </a:prstGeom>
          <a:noFill/>
        </p:spPr>
        <p:txBody>
          <a:bodyPr wrap="square">
            <a:spAutoFit/>
          </a:bodyPr>
          <a:lstStyle/>
          <a:p>
            <a:pPr algn="l"/>
            <a:r>
              <a:rPr sz="1500" b="0">
                <a:solidFill>
                  <a:srgbClr val="1F2937"/>
                </a:solidFill>
                <a:latin typeface="Calibri"/>
              </a:rPr>
              <a:t>Something that is happening right now, while we speak.</a:t>
            </a:r>
          </a:p>
        </p:txBody>
      </p:sp>
      <p:sp>
        <p:nvSpPr>
          <p:cNvPr id="24" name="TextBox 23"/>
          <p:cNvSpPr txBox="1"/>
          <p:nvPr/>
        </p:nvSpPr>
        <p:spPr>
          <a:xfrm>
            <a:off x="658368" y="3703320"/>
            <a:ext cx="5120640" cy="320040"/>
          </a:xfrm>
          <a:prstGeom prst="rect">
            <a:avLst/>
          </a:prstGeom>
          <a:noFill/>
        </p:spPr>
        <p:txBody>
          <a:bodyPr wrap="square">
            <a:spAutoFit/>
          </a:bodyPr>
          <a:lstStyle/>
          <a:p>
            <a:pPr algn="l"/>
            <a:r>
              <a:rPr sz="1300" b="1">
                <a:solidFill>
                  <a:srgbClr val="29B6F6"/>
                </a:solidFill>
                <a:latin typeface="Calibri"/>
              </a:rPr>
              <a:t>SENTENCE BUILDER</a:t>
            </a:r>
          </a:p>
        </p:txBody>
      </p:sp>
      <p:sp>
        <p:nvSpPr>
          <p:cNvPr id="25" name="Rounded Rectangle 24"/>
          <p:cNvSpPr/>
          <p:nvPr/>
        </p:nvSpPr>
        <p:spPr>
          <a:xfrm>
            <a:off x="658368" y="4069080"/>
            <a:ext cx="507492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06240"/>
            <a:ext cx="4846320" cy="365760"/>
          </a:xfrm>
          <a:prstGeom prst="rect">
            <a:avLst/>
          </a:prstGeom>
          <a:noFill/>
        </p:spPr>
        <p:txBody>
          <a:bodyPr wrap="square">
            <a:spAutoFit/>
          </a:bodyPr>
          <a:lstStyle/>
          <a:p>
            <a:pPr algn="l"/>
            <a:r>
              <a:rPr sz="1400" b="1">
                <a:solidFill>
                  <a:srgbClr val="0A2A6E"/>
                </a:solidFill>
                <a:latin typeface="Calibri"/>
              </a:rPr>
              <a:t>Subject  +  am / is / are  +  verb-ing</a:t>
            </a:r>
          </a:p>
        </p:txBody>
      </p:sp>
      <p:sp>
        <p:nvSpPr>
          <p:cNvPr id="27" name="TextBox 26"/>
          <p:cNvSpPr txBox="1"/>
          <p:nvPr/>
        </p:nvSpPr>
        <p:spPr>
          <a:xfrm>
            <a:off x="658368" y="4846320"/>
            <a:ext cx="5120640" cy="320040"/>
          </a:xfrm>
          <a:prstGeom prst="rect">
            <a:avLst/>
          </a:prstGeom>
          <a:noFill/>
        </p:spPr>
        <p:txBody>
          <a:bodyPr wrap="square">
            <a:spAutoFit/>
          </a:bodyPr>
          <a:lstStyle/>
          <a:p>
            <a:pPr algn="l"/>
            <a:r>
              <a:rPr sz="1300" b="1">
                <a:solidFill>
                  <a:srgbClr val="29B6F6"/>
                </a:solidFill>
                <a:latin typeface="Calibri"/>
              </a:rPr>
              <a:t>SIGNAL WORDS 🚦</a:t>
            </a:r>
          </a:p>
        </p:txBody>
      </p:sp>
      <p:sp>
        <p:nvSpPr>
          <p:cNvPr id="28" name="TextBox 27"/>
          <p:cNvSpPr txBox="1"/>
          <p:nvPr/>
        </p:nvSpPr>
        <p:spPr>
          <a:xfrm>
            <a:off x="658368" y="5212080"/>
            <a:ext cx="5120640" cy="685800"/>
          </a:xfrm>
          <a:prstGeom prst="rect">
            <a:avLst/>
          </a:prstGeom>
          <a:noFill/>
        </p:spPr>
        <p:txBody>
          <a:bodyPr wrap="square">
            <a:spAutoFit/>
          </a:bodyPr>
          <a:lstStyle/>
          <a:p>
            <a:pPr algn="l"/>
            <a:r>
              <a:rPr sz="1300" b="0">
                <a:solidFill>
                  <a:srgbClr val="1F2937"/>
                </a:solidFill>
                <a:latin typeface="Calibri"/>
              </a:rPr>
              <a:t>now  •  right now  •  at the moment  •  Look!  •  Listen!</a:t>
            </a:r>
          </a:p>
        </p:txBody>
      </p:sp>
      <p:sp>
        <p:nvSpPr>
          <p:cNvPr id="29" name="Rounded Rectangle 28"/>
          <p:cNvSpPr/>
          <p:nvPr/>
        </p:nvSpPr>
        <p:spPr>
          <a:xfrm>
            <a:off x="6172200" y="2286000"/>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377440"/>
            <a:ext cx="1828800" cy="292608"/>
          </a:xfrm>
          <a:prstGeom prst="rect">
            <a:avLst/>
          </a:prstGeom>
          <a:noFill/>
        </p:spPr>
        <p:txBody>
          <a:bodyPr wrap="square">
            <a:spAutoFit/>
          </a:bodyPr>
          <a:lstStyle/>
          <a:p>
            <a:pPr algn="l"/>
            <a:r>
              <a:rPr sz="1100" b="1">
                <a:solidFill>
                  <a:srgbClr val="2E7D32"/>
                </a:solidFill>
                <a:latin typeface="Calibri"/>
              </a:rPr>
              <a:t>✅  POSITIVE</a:t>
            </a:r>
          </a:p>
        </p:txBody>
      </p:sp>
      <p:sp>
        <p:nvSpPr>
          <p:cNvPr id="31" name="TextBox 30"/>
          <p:cNvSpPr txBox="1"/>
          <p:nvPr/>
        </p:nvSpPr>
        <p:spPr>
          <a:xfrm>
            <a:off x="6355080" y="2706624"/>
            <a:ext cx="5212080" cy="384048"/>
          </a:xfrm>
          <a:prstGeom prst="rect">
            <a:avLst/>
          </a:prstGeom>
          <a:noFill/>
        </p:spPr>
        <p:txBody>
          <a:bodyPr wrap="square">
            <a:spAutoFit/>
          </a:bodyPr>
          <a:lstStyle/>
          <a:p>
            <a:pPr algn="l"/>
            <a:r>
              <a:rPr sz="1500" b="1">
                <a:solidFill>
                  <a:srgbClr val="0A2A6E"/>
                </a:solidFill>
                <a:latin typeface="Calibri"/>
              </a:rPr>
              <a:t>The hatchlings are crawling to the sea.</a:t>
            </a:r>
          </a:p>
        </p:txBody>
      </p:sp>
      <p:sp>
        <p:nvSpPr>
          <p:cNvPr id="32" name="Rounded Rectangle 31"/>
          <p:cNvSpPr/>
          <p:nvPr/>
        </p:nvSpPr>
        <p:spPr>
          <a:xfrm>
            <a:off x="6172200" y="3310128"/>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401568"/>
            <a:ext cx="1828800" cy="292608"/>
          </a:xfrm>
          <a:prstGeom prst="rect">
            <a:avLst/>
          </a:prstGeom>
          <a:noFill/>
        </p:spPr>
        <p:txBody>
          <a:bodyPr wrap="square">
            <a:spAutoFit/>
          </a:bodyPr>
          <a:lstStyle/>
          <a:p>
            <a:pPr algn="l"/>
            <a:r>
              <a:rPr sz="1100" b="1">
                <a:solidFill>
                  <a:srgbClr val="FF6F61"/>
                </a:solidFill>
                <a:latin typeface="Calibri"/>
              </a:rPr>
              <a:t>❌  NEGATIVE</a:t>
            </a:r>
          </a:p>
        </p:txBody>
      </p:sp>
      <p:sp>
        <p:nvSpPr>
          <p:cNvPr id="34" name="TextBox 33"/>
          <p:cNvSpPr txBox="1"/>
          <p:nvPr/>
        </p:nvSpPr>
        <p:spPr>
          <a:xfrm>
            <a:off x="6355080" y="3730752"/>
            <a:ext cx="5212080" cy="384048"/>
          </a:xfrm>
          <a:prstGeom prst="rect">
            <a:avLst/>
          </a:prstGeom>
          <a:noFill/>
        </p:spPr>
        <p:txBody>
          <a:bodyPr wrap="square">
            <a:spAutoFit/>
          </a:bodyPr>
          <a:lstStyle/>
          <a:p>
            <a:pPr algn="l"/>
            <a:r>
              <a:rPr sz="1500" b="1">
                <a:solidFill>
                  <a:srgbClr val="0A2A6E"/>
                </a:solidFill>
                <a:latin typeface="Calibri"/>
              </a:rPr>
              <a:t>They are not stopping to rest.</a:t>
            </a:r>
          </a:p>
        </p:txBody>
      </p:sp>
      <p:sp>
        <p:nvSpPr>
          <p:cNvPr id="35" name="Rounded Rectangle 34"/>
          <p:cNvSpPr/>
          <p:nvPr/>
        </p:nvSpPr>
        <p:spPr>
          <a:xfrm>
            <a:off x="6172200" y="4334256"/>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4425696"/>
            <a:ext cx="1828800" cy="292608"/>
          </a:xfrm>
          <a:prstGeom prst="rect">
            <a:avLst/>
          </a:prstGeom>
          <a:noFill/>
        </p:spPr>
        <p:txBody>
          <a:bodyPr wrap="square">
            <a:spAutoFit/>
          </a:bodyPr>
          <a:lstStyle/>
          <a:p>
            <a:pPr algn="l"/>
            <a:r>
              <a:rPr sz="1100" b="1">
                <a:solidFill>
                  <a:srgbClr val="7E57C2"/>
                </a:solidFill>
                <a:latin typeface="Calibri"/>
              </a:rPr>
              <a:t>❓  QUESTION</a:t>
            </a:r>
          </a:p>
        </p:txBody>
      </p:sp>
      <p:sp>
        <p:nvSpPr>
          <p:cNvPr id="37" name="TextBox 36"/>
          <p:cNvSpPr txBox="1"/>
          <p:nvPr/>
        </p:nvSpPr>
        <p:spPr>
          <a:xfrm>
            <a:off x="6355080" y="4754880"/>
            <a:ext cx="5212080" cy="384048"/>
          </a:xfrm>
          <a:prstGeom prst="rect">
            <a:avLst/>
          </a:prstGeom>
          <a:noFill/>
        </p:spPr>
        <p:txBody>
          <a:bodyPr wrap="square">
            <a:spAutoFit/>
          </a:bodyPr>
          <a:lstStyle/>
          <a:p>
            <a:pPr algn="l"/>
            <a:r>
              <a:rPr sz="1500" b="1">
                <a:solidFill>
                  <a:srgbClr val="0A2A6E"/>
                </a:solidFill>
                <a:latin typeface="Calibri"/>
              </a:rPr>
              <a:t>Are the hatchlings crawling to the sea?</a:t>
            </a:r>
          </a:p>
        </p:txBody>
      </p:sp>
      <p:sp>
        <p:nvSpPr>
          <p:cNvPr id="38" name="Rounded Rectangle 37"/>
          <p:cNvSpPr/>
          <p:nvPr/>
        </p:nvSpPr>
        <p:spPr>
          <a:xfrm>
            <a:off x="6172200" y="5394960"/>
            <a:ext cx="5577840" cy="6858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5486400"/>
            <a:ext cx="5212080" cy="274320"/>
          </a:xfrm>
          <a:prstGeom prst="rect">
            <a:avLst/>
          </a:prstGeom>
          <a:noFill/>
        </p:spPr>
        <p:txBody>
          <a:bodyPr wrap="square">
            <a:spAutoFit/>
          </a:bodyPr>
          <a:lstStyle/>
          <a:p>
            <a:pPr algn="l"/>
            <a:r>
              <a:rPr sz="1100" b="1">
                <a:solidFill>
                  <a:srgbClr val="FFB300"/>
                </a:solidFill>
                <a:latin typeface="Calibri"/>
              </a:rPr>
              <a:t>🏠 REAL LIFE</a:t>
            </a:r>
          </a:p>
        </p:txBody>
      </p:sp>
      <p:sp>
        <p:nvSpPr>
          <p:cNvPr id="40" name="TextBox 39"/>
          <p:cNvSpPr txBox="1"/>
          <p:nvPr/>
        </p:nvSpPr>
        <p:spPr>
          <a:xfrm>
            <a:off x="6355080" y="5760720"/>
            <a:ext cx="5212080" cy="320040"/>
          </a:xfrm>
          <a:prstGeom prst="rect">
            <a:avLst/>
          </a:prstGeom>
          <a:noFill/>
        </p:spPr>
        <p:txBody>
          <a:bodyPr wrap="square">
            <a:spAutoFit/>
          </a:bodyPr>
          <a:lstStyle/>
          <a:p>
            <a:pPr algn="l"/>
            <a:r>
              <a:rPr sz="1400" b="1">
                <a:solidFill>
                  <a:srgbClr val="1F2937"/>
                </a:solidFill>
                <a:latin typeface="Calibri"/>
              </a:rPr>
              <a:t>I am learning English right now.</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Simple Past</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6590105"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20 / 37</a:t>
            </a:r>
          </a:p>
        </p:txBody>
      </p:sp>
      <p:sp>
        <p:nvSpPr>
          <p:cNvPr id="14" name="Rectangle 13"/>
          <p:cNvSpPr/>
          <p:nvPr/>
        </p:nvSpPr>
        <p:spPr>
          <a:xfrm>
            <a:off x="1188720" y="1435608"/>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5568" y="1152144"/>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28800"/>
            <a:ext cx="1554480" cy="274320"/>
          </a:xfrm>
          <a:prstGeom prst="rect">
            <a:avLst/>
          </a:prstGeom>
          <a:noFill/>
        </p:spPr>
        <p:txBody>
          <a:bodyPr wrap="square">
            <a:spAutoFit/>
          </a:bodyPr>
          <a:lstStyle/>
          <a:p>
            <a:pPr algn="ctr"/>
            <a:r>
              <a:rPr sz="1200" b="1">
                <a:solidFill>
                  <a:srgbClr val="0A2A6E"/>
                </a:solidFill>
                <a:latin typeface="Calibri"/>
              </a:rPr>
              <a:t>PAST</a:t>
            </a:r>
          </a:p>
        </p:txBody>
      </p:sp>
      <p:sp>
        <p:nvSpPr>
          <p:cNvPr id="17" name="Oval 16"/>
          <p:cNvSpPr/>
          <p:nvPr/>
        </p:nvSpPr>
        <p:spPr>
          <a:xfrm>
            <a:off x="580644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28800"/>
            <a:ext cx="1554480" cy="274320"/>
          </a:xfrm>
          <a:prstGeom prst="rect">
            <a:avLst/>
          </a:prstGeom>
          <a:noFill/>
        </p:spPr>
        <p:txBody>
          <a:bodyPr wrap="square">
            <a:spAutoFit/>
          </a:bodyPr>
          <a:lstStyle/>
          <a:p>
            <a:pPr algn="ctr"/>
            <a:r>
              <a:rPr sz="1200" b="1">
                <a:solidFill>
                  <a:srgbClr val="64748B"/>
                </a:solidFill>
                <a:latin typeface="Calibri"/>
              </a:rPr>
              <a:t>NOW</a:t>
            </a:r>
          </a:p>
        </p:txBody>
      </p:sp>
      <p:sp>
        <p:nvSpPr>
          <p:cNvPr id="19" name="Oval 18"/>
          <p:cNvSpPr/>
          <p:nvPr/>
        </p:nvSpPr>
        <p:spPr>
          <a:xfrm>
            <a:off x="10332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1" name="Rounded Rectangle 20"/>
          <p:cNvSpPr/>
          <p:nvPr/>
        </p:nvSpPr>
        <p:spPr>
          <a:xfrm>
            <a:off x="411480" y="2286000"/>
            <a:ext cx="5577840" cy="379476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468880"/>
            <a:ext cx="5120640" cy="320040"/>
          </a:xfrm>
          <a:prstGeom prst="rect">
            <a:avLst/>
          </a:prstGeom>
          <a:noFill/>
        </p:spPr>
        <p:txBody>
          <a:bodyPr wrap="square">
            <a:spAutoFit/>
          </a:bodyPr>
          <a:lstStyle/>
          <a:p>
            <a:pPr algn="l"/>
            <a:r>
              <a:rPr sz="1300" b="1">
                <a:solidFill>
                  <a:srgbClr val="FF6F61"/>
                </a:solidFill>
                <a:latin typeface="Calibri"/>
              </a:rPr>
              <a:t>WHEN DO WE USE IT?</a:t>
            </a:r>
          </a:p>
        </p:txBody>
      </p:sp>
      <p:sp>
        <p:nvSpPr>
          <p:cNvPr id="23" name="TextBox 22"/>
          <p:cNvSpPr txBox="1"/>
          <p:nvPr/>
        </p:nvSpPr>
        <p:spPr>
          <a:xfrm>
            <a:off x="658368" y="2834640"/>
            <a:ext cx="5120640" cy="777240"/>
          </a:xfrm>
          <a:prstGeom prst="rect">
            <a:avLst/>
          </a:prstGeom>
          <a:noFill/>
        </p:spPr>
        <p:txBody>
          <a:bodyPr wrap="square">
            <a:spAutoFit/>
          </a:bodyPr>
          <a:lstStyle/>
          <a:p>
            <a:pPr algn="l"/>
            <a:r>
              <a:rPr sz="1500" b="0">
                <a:solidFill>
                  <a:srgbClr val="1F2937"/>
                </a:solidFill>
                <a:latin typeface="Calibri"/>
              </a:rPr>
              <a:t>Something that started AND finished in the past.</a:t>
            </a:r>
          </a:p>
        </p:txBody>
      </p:sp>
      <p:sp>
        <p:nvSpPr>
          <p:cNvPr id="24" name="TextBox 23"/>
          <p:cNvSpPr txBox="1"/>
          <p:nvPr/>
        </p:nvSpPr>
        <p:spPr>
          <a:xfrm>
            <a:off x="658368" y="3703320"/>
            <a:ext cx="5120640" cy="320040"/>
          </a:xfrm>
          <a:prstGeom prst="rect">
            <a:avLst/>
          </a:prstGeom>
          <a:noFill/>
        </p:spPr>
        <p:txBody>
          <a:bodyPr wrap="square">
            <a:spAutoFit/>
          </a:bodyPr>
          <a:lstStyle/>
          <a:p>
            <a:pPr algn="l"/>
            <a:r>
              <a:rPr sz="1300" b="1">
                <a:solidFill>
                  <a:srgbClr val="FF6F61"/>
                </a:solidFill>
                <a:latin typeface="Calibri"/>
              </a:rPr>
              <a:t>SENTENCE BUILDER</a:t>
            </a:r>
          </a:p>
        </p:txBody>
      </p:sp>
      <p:sp>
        <p:nvSpPr>
          <p:cNvPr id="25" name="Rounded Rectangle 24"/>
          <p:cNvSpPr/>
          <p:nvPr/>
        </p:nvSpPr>
        <p:spPr>
          <a:xfrm>
            <a:off x="658368" y="4069080"/>
            <a:ext cx="507492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06240"/>
            <a:ext cx="4846320" cy="365760"/>
          </a:xfrm>
          <a:prstGeom prst="rect">
            <a:avLst/>
          </a:prstGeom>
          <a:noFill/>
        </p:spPr>
        <p:txBody>
          <a:bodyPr wrap="square">
            <a:spAutoFit/>
          </a:bodyPr>
          <a:lstStyle/>
          <a:p>
            <a:pPr algn="l"/>
            <a:r>
              <a:rPr sz="1400" b="1">
                <a:solidFill>
                  <a:srgbClr val="0A2A6E"/>
                </a:solidFill>
                <a:latin typeface="Calibri"/>
              </a:rPr>
              <a:t>Subject  +  past verb  (walked, went, saw)</a:t>
            </a:r>
          </a:p>
        </p:txBody>
      </p:sp>
      <p:sp>
        <p:nvSpPr>
          <p:cNvPr id="27" name="TextBox 26"/>
          <p:cNvSpPr txBox="1"/>
          <p:nvPr/>
        </p:nvSpPr>
        <p:spPr>
          <a:xfrm>
            <a:off x="658368" y="4846320"/>
            <a:ext cx="5120640" cy="320040"/>
          </a:xfrm>
          <a:prstGeom prst="rect">
            <a:avLst/>
          </a:prstGeom>
          <a:noFill/>
        </p:spPr>
        <p:txBody>
          <a:bodyPr wrap="square">
            <a:spAutoFit/>
          </a:bodyPr>
          <a:lstStyle/>
          <a:p>
            <a:pPr algn="l"/>
            <a:r>
              <a:rPr sz="1300" b="1">
                <a:solidFill>
                  <a:srgbClr val="FF6F61"/>
                </a:solidFill>
                <a:latin typeface="Calibri"/>
              </a:rPr>
              <a:t>SIGNAL WORDS 🚦</a:t>
            </a:r>
          </a:p>
        </p:txBody>
      </p:sp>
      <p:sp>
        <p:nvSpPr>
          <p:cNvPr id="28" name="TextBox 27"/>
          <p:cNvSpPr txBox="1"/>
          <p:nvPr/>
        </p:nvSpPr>
        <p:spPr>
          <a:xfrm>
            <a:off x="658368" y="5212080"/>
            <a:ext cx="5120640" cy="685800"/>
          </a:xfrm>
          <a:prstGeom prst="rect">
            <a:avLst/>
          </a:prstGeom>
          <a:noFill/>
        </p:spPr>
        <p:txBody>
          <a:bodyPr wrap="square">
            <a:spAutoFit/>
          </a:bodyPr>
          <a:lstStyle/>
          <a:p>
            <a:pPr algn="l"/>
            <a:r>
              <a:rPr sz="1300" b="0">
                <a:solidFill>
                  <a:srgbClr val="1F2937"/>
                </a:solidFill>
                <a:latin typeface="Calibri"/>
              </a:rPr>
              <a:t>yesterday  •  last night  •  ago  •  in 2019  •  when I was little</a:t>
            </a:r>
          </a:p>
        </p:txBody>
      </p:sp>
      <p:sp>
        <p:nvSpPr>
          <p:cNvPr id="29" name="Rounded Rectangle 28"/>
          <p:cNvSpPr/>
          <p:nvPr/>
        </p:nvSpPr>
        <p:spPr>
          <a:xfrm>
            <a:off x="6172200" y="2286000"/>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377440"/>
            <a:ext cx="1828800" cy="292608"/>
          </a:xfrm>
          <a:prstGeom prst="rect">
            <a:avLst/>
          </a:prstGeom>
          <a:noFill/>
        </p:spPr>
        <p:txBody>
          <a:bodyPr wrap="square">
            <a:spAutoFit/>
          </a:bodyPr>
          <a:lstStyle/>
          <a:p>
            <a:pPr algn="l"/>
            <a:r>
              <a:rPr sz="1100" b="1">
                <a:solidFill>
                  <a:srgbClr val="2E7D32"/>
                </a:solidFill>
                <a:latin typeface="Calibri"/>
              </a:rPr>
              <a:t>✅  POSITIVE</a:t>
            </a:r>
          </a:p>
        </p:txBody>
      </p:sp>
      <p:sp>
        <p:nvSpPr>
          <p:cNvPr id="31" name="TextBox 30"/>
          <p:cNvSpPr txBox="1"/>
          <p:nvPr/>
        </p:nvSpPr>
        <p:spPr>
          <a:xfrm>
            <a:off x="6355080" y="2706624"/>
            <a:ext cx="5212080" cy="384048"/>
          </a:xfrm>
          <a:prstGeom prst="rect">
            <a:avLst/>
          </a:prstGeom>
          <a:noFill/>
        </p:spPr>
        <p:txBody>
          <a:bodyPr wrap="square">
            <a:spAutoFit/>
          </a:bodyPr>
          <a:lstStyle/>
          <a:p>
            <a:pPr algn="l"/>
            <a:r>
              <a:rPr sz="1500" b="1">
                <a:solidFill>
                  <a:srgbClr val="0A2A6E"/>
                </a:solidFill>
                <a:latin typeface="Calibri"/>
              </a:rPr>
              <a:t>Maya built a sand ramp last night.</a:t>
            </a:r>
          </a:p>
        </p:txBody>
      </p:sp>
      <p:sp>
        <p:nvSpPr>
          <p:cNvPr id="32" name="Rounded Rectangle 31"/>
          <p:cNvSpPr/>
          <p:nvPr/>
        </p:nvSpPr>
        <p:spPr>
          <a:xfrm>
            <a:off x="6172200" y="3310128"/>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401568"/>
            <a:ext cx="1828800" cy="292608"/>
          </a:xfrm>
          <a:prstGeom prst="rect">
            <a:avLst/>
          </a:prstGeom>
          <a:noFill/>
        </p:spPr>
        <p:txBody>
          <a:bodyPr wrap="square">
            <a:spAutoFit/>
          </a:bodyPr>
          <a:lstStyle/>
          <a:p>
            <a:pPr algn="l"/>
            <a:r>
              <a:rPr sz="1100" b="1">
                <a:solidFill>
                  <a:srgbClr val="FF6F61"/>
                </a:solidFill>
                <a:latin typeface="Calibri"/>
              </a:rPr>
              <a:t>❌  NEGATIVE</a:t>
            </a:r>
          </a:p>
        </p:txBody>
      </p:sp>
      <p:sp>
        <p:nvSpPr>
          <p:cNvPr id="34" name="TextBox 33"/>
          <p:cNvSpPr txBox="1"/>
          <p:nvPr/>
        </p:nvSpPr>
        <p:spPr>
          <a:xfrm>
            <a:off x="6355080" y="3730752"/>
            <a:ext cx="5212080" cy="384048"/>
          </a:xfrm>
          <a:prstGeom prst="rect">
            <a:avLst/>
          </a:prstGeom>
          <a:noFill/>
        </p:spPr>
        <p:txBody>
          <a:bodyPr wrap="square">
            <a:spAutoFit/>
          </a:bodyPr>
          <a:lstStyle/>
          <a:p>
            <a:pPr algn="l"/>
            <a:r>
              <a:rPr sz="1500" b="1">
                <a:solidFill>
                  <a:srgbClr val="0A2A6E"/>
                </a:solidFill>
                <a:latin typeface="Calibri"/>
              </a:rPr>
              <a:t>Maya did not carry the turtles.</a:t>
            </a:r>
          </a:p>
        </p:txBody>
      </p:sp>
      <p:sp>
        <p:nvSpPr>
          <p:cNvPr id="35" name="Rounded Rectangle 34"/>
          <p:cNvSpPr/>
          <p:nvPr/>
        </p:nvSpPr>
        <p:spPr>
          <a:xfrm>
            <a:off x="6172200" y="4334256"/>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4425696"/>
            <a:ext cx="1828800" cy="292608"/>
          </a:xfrm>
          <a:prstGeom prst="rect">
            <a:avLst/>
          </a:prstGeom>
          <a:noFill/>
        </p:spPr>
        <p:txBody>
          <a:bodyPr wrap="square">
            <a:spAutoFit/>
          </a:bodyPr>
          <a:lstStyle/>
          <a:p>
            <a:pPr algn="l"/>
            <a:r>
              <a:rPr sz="1100" b="1">
                <a:solidFill>
                  <a:srgbClr val="7E57C2"/>
                </a:solidFill>
                <a:latin typeface="Calibri"/>
              </a:rPr>
              <a:t>❓  QUESTION</a:t>
            </a:r>
          </a:p>
        </p:txBody>
      </p:sp>
      <p:sp>
        <p:nvSpPr>
          <p:cNvPr id="37" name="TextBox 36"/>
          <p:cNvSpPr txBox="1"/>
          <p:nvPr/>
        </p:nvSpPr>
        <p:spPr>
          <a:xfrm>
            <a:off x="6355080" y="4754880"/>
            <a:ext cx="5212080" cy="384048"/>
          </a:xfrm>
          <a:prstGeom prst="rect">
            <a:avLst/>
          </a:prstGeom>
          <a:noFill/>
        </p:spPr>
        <p:txBody>
          <a:bodyPr wrap="square">
            <a:spAutoFit/>
          </a:bodyPr>
          <a:lstStyle/>
          <a:p>
            <a:pPr algn="l"/>
            <a:r>
              <a:rPr sz="1500" b="1">
                <a:solidFill>
                  <a:srgbClr val="0A2A6E"/>
                </a:solidFill>
                <a:latin typeface="Calibri"/>
              </a:rPr>
              <a:t>Did Maya build a sand ramp?</a:t>
            </a:r>
          </a:p>
        </p:txBody>
      </p:sp>
      <p:sp>
        <p:nvSpPr>
          <p:cNvPr id="38" name="Rounded Rectangle 37"/>
          <p:cNvSpPr/>
          <p:nvPr/>
        </p:nvSpPr>
        <p:spPr>
          <a:xfrm>
            <a:off x="6172200" y="5394960"/>
            <a:ext cx="5577840" cy="6858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5486400"/>
            <a:ext cx="5212080" cy="274320"/>
          </a:xfrm>
          <a:prstGeom prst="rect">
            <a:avLst/>
          </a:prstGeom>
          <a:noFill/>
        </p:spPr>
        <p:txBody>
          <a:bodyPr wrap="square">
            <a:spAutoFit/>
          </a:bodyPr>
          <a:lstStyle/>
          <a:p>
            <a:pPr algn="l"/>
            <a:r>
              <a:rPr sz="1100" b="1">
                <a:solidFill>
                  <a:srgbClr val="FFB300"/>
                </a:solidFill>
                <a:latin typeface="Calibri"/>
              </a:rPr>
              <a:t>🏠 REAL LIFE</a:t>
            </a:r>
          </a:p>
        </p:txBody>
      </p:sp>
      <p:sp>
        <p:nvSpPr>
          <p:cNvPr id="40" name="TextBox 39"/>
          <p:cNvSpPr txBox="1"/>
          <p:nvPr/>
        </p:nvSpPr>
        <p:spPr>
          <a:xfrm>
            <a:off x="6355080" y="5760720"/>
            <a:ext cx="5212080" cy="320040"/>
          </a:xfrm>
          <a:prstGeom prst="rect">
            <a:avLst/>
          </a:prstGeom>
          <a:noFill/>
        </p:spPr>
        <p:txBody>
          <a:bodyPr wrap="square">
            <a:spAutoFit/>
          </a:bodyPr>
          <a:lstStyle/>
          <a:p>
            <a:pPr algn="l"/>
            <a:r>
              <a:rPr sz="1400" b="1">
                <a:solidFill>
                  <a:srgbClr val="1F2937"/>
                </a:solidFill>
                <a:latin typeface="Calibri"/>
              </a:rPr>
              <a:t>I watched a movie last night.</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Past Continuous</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6919610"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21 / 37</a:t>
            </a:r>
          </a:p>
        </p:txBody>
      </p:sp>
      <p:sp>
        <p:nvSpPr>
          <p:cNvPr id="14" name="Rectangle 13"/>
          <p:cNvSpPr/>
          <p:nvPr/>
        </p:nvSpPr>
        <p:spPr>
          <a:xfrm>
            <a:off x="1188720" y="1435608"/>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5568" y="1152144"/>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28800"/>
            <a:ext cx="1554480" cy="274320"/>
          </a:xfrm>
          <a:prstGeom prst="rect">
            <a:avLst/>
          </a:prstGeom>
          <a:noFill/>
        </p:spPr>
        <p:txBody>
          <a:bodyPr wrap="square">
            <a:spAutoFit/>
          </a:bodyPr>
          <a:lstStyle/>
          <a:p>
            <a:pPr algn="ctr"/>
            <a:r>
              <a:rPr sz="1200" b="1">
                <a:solidFill>
                  <a:srgbClr val="0A2A6E"/>
                </a:solidFill>
                <a:latin typeface="Calibri"/>
              </a:rPr>
              <a:t>PAST</a:t>
            </a:r>
          </a:p>
        </p:txBody>
      </p:sp>
      <p:sp>
        <p:nvSpPr>
          <p:cNvPr id="17" name="Oval 16"/>
          <p:cNvSpPr/>
          <p:nvPr/>
        </p:nvSpPr>
        <p:spPr>
          <a:xfrm>
            <a:off x="580644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28800"/>
            <a:ext cx="1554480" cy="274320"/>
          </a:xfrm>
          <a:prstGeom prst="rect">
            <a:avLst/>
          </a:prstGeom>
          <a:noFill/>
        </p:spPr>
        <p:txBody>
          <a:bodyPr wrap="square">
            <a:spAutoFit/>
          </a:bodyPr>
          <a:lstStyle/>
          <a:p>
            <a:pPr algn="ctr"/>
            <a:r>
              <a:rPr sz="1200" b="1">
                <a:solidFill>
                  <a:srgbClr val="64748B"/>
                </a:solidFill>
                <a:latin typeface="Calibri"/>
              </a:rPr>
              <a:t>NOW</a:t>
            </a:r>
          </a:p>
        </p:txBody>
      </p:sp>
      <p:sp>
        <p:nvSpPr>
          <p:cNvPr id="19" name="Oval 18"/>
          <p:cNvSpPr/>
          <p:nvPr/>
        </p:nvSpPr>
        <p:spPr>
          <a:xfrm>
            <a:off x="10332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1" name="Rounded Rectangle 20"/>
          <p:cNvSpPr/>
          <p:nvPr/>
        </p:nvSpPr>
        <p:spPr>
          <a:xfrm>
            <a:off x="411480" y="2286000"/>
            <a:ext cx="5577840" cy="379476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468880"/>
            <a:ext cx="5120640" cy="320040"/>
          </a:xfrm>
          <a:prstGeom prst="rect">
            <a:avLst/>
          </a:prstGeom>
          <a:noFill/>
        </p:spPr>
        <p:txBody>
          <a:bodyPr wrap="square">
            <a:spAutoFit/>
          </a:bodyPr>
          <a:lstStyle/>
          <a:p>
            <a:pPr algn="l"/>
            <a:r>
              <a:rPr sz="1300" b="1">
                <a:solidFill>
                  <a:srgbClr val="7E57C2"/>
                </a:solidFill>
                <a:latin typeface="Calibri"/>
              </a:rPr>
              <a:t>WHEN DO WE USE IT?</a:t>
            </a:r>
          </a:p>
        </p:txBody>
      </p:sp>
      <p:sp>
        <p:nvSpPr>
          <p:cNvPr id="23" name="TextBox 22"/>
          <p:cNvSpPr txBox="1"/>
          <p:nvPr/>
        </p:nvSpPr>
        <p:spPr>
          <a:xfrm>
            <a:off x="658368" y="2834640"/>
            <a:ext cx="5120640" cy="777240"/>
          </a:xfrm>
          <a:prstGeom prst="rect">
            <a:avLst/>
          </a:prstGeom>
          <a:noFill/>
        </p:spPr>
        <p:txBody>
          <a:bodyPr wrap="square">
            <a:spAutoFit/>
          </a:bodyPr>
          <a:lstStyle/>
          <a:p>
            <a:pPr algn="l"/>
            <a:r>
              <a:rPr sz="1500" b="0">
                <a:solidFill>
                  <a:srgbClr val="1F2937"/>
                </a:solidFill>
                <a:latin typeface="Calibri"/>
              </a:rPr>
              <a:t>Something that was already happening at a moment in the past.</a:t>
            </a:r>
          </a:p>
        </p:txBody>
      </p:sp>
      <p:sp>
        <p:nvSpPr>
          <p:cNvPr id="24" name="TextBox 23"/>
          <p:cNvSpPr txBox="1"/>
          <p:nvPr/>
        </p:nvSpPr>
        <p:spPr>
          <a:xfrm>
            <a:off x="658368" y="3703320"/>
            <a:ext cx="5120640" cy="320040"/>
          </a:xfrm>
          <a:prstGeom prst="rect">
            <a:avLst/>
          </a:prstGeom>
          <a:noFill/>
        </p:spPr>
        <p:txBody>
          <a:bodyPr wrap="square">
            <a:spAutoFit/>
          </a:bodyPr>
          <a:lstStyle/>
          <a:p>
            <a:pPr algn="l"/>
            <a:r>
              <a:rPr sz="1300" b="1">
                <a:solidFill>
                  <a:srgbClr val="7E57C2"/>
                </a:solidFill>
                <a:latin typeface="Calibri"/>
              </a:rPr>
              <a:t>SENTENCE BUILDER</a:t>
            </a:r>
          </a:p>
        </p:txBody>
      </p:sp>
      <p:sp>
        <p:nvSpPr>
          <p:cNvPr id="25" name="Rounded Rectangle 24"/>
          <p:cNvSpPr/>
          <p:nvPr/>
        </p:nvSpPr>
        <p:spPr>
          <a:xfrm>
            <a:off x="658368" y="4069080"/>
            <a:ext cx="507492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06240"/>
            <a:ext cx="4846320" cy="365760"/>
          </a:xfrm>
          <a:prstGeom prst="rect">
            <a:avLst/>
          </a:prstGeom>
          <a:noFill/>
        </p:spPr>
        <p:txBody>
          <a:bodyPr wrap="square">
            <a:spAutoFit/>
          </a:bodyPr>
          <a:lstStyle/>
          <a:p>
            <a:pPr algn="l"/>
            <a:r>
              <a:rPr sz="1400" b="1">
                <a:solidFill>
                  <a:srgbClr val="0A2A6E"/>
                </a:solidFill>
                <a:latin typeface="Calibri"/>
              </a:rPr>
              <a:t>Subject  +  was / were  +  verb-ing</a:t>
            </a:r>
          </a:p>
        </p:txBody>
      </p:sp>
      <p:sp>
        <p:nvSpPr>
          <p:cNvPr id="27" name="TextBox 26"/>
          <p:cNvSpPr txBox="1"/>
          <p:nvPr/>
        </p:nvSpPr>
        <p:spPr>
          <a:xfrm>
            <a:off x="658368" y="4846320"/>
            <a:ext cx="5120640" cy="320040"/>
          </a:xfrm>
          <a:prstGeom prst="rect">
            <a:avLst/>
          </a:prstGeom>
          <a:noFill/>
        </p:spPr>
        <p:txBody>
          <a:bodyPr wrap="square">
            <a:spAutoFit/>
          </a:bodyPr>
          <a:lstStyle/>
          <a:p>
            <a:pPr algn="l"/>
            <a:r>
              <a:rPr sz="1300" b="1">
                <a:solidFill>
                  <a:srgbClr val="7E57C2"/>
                </a:solidFill>
                <a:latin typeface="Calibri"/>
              </a:rPr>
              <a:t>SIGNAL WORDS 🚦</a:t>
            </a:r>
          </a:p>
        </p:txBody>
      </p:sp>
      <p:sp>
        <p:nvSpPr>
          <p:cNvPr id="28" name="TextBox 27"/>
          <p:cNvSpPr txBox="1"/>
          <p:nvPr/>
        </p:nvSpPr>
        <p:spPr>
          <a:xfrm>
            <a:off x="658368" y="5212080"/>
            <a:ext cx="5120640" cy="685800"/>
          </a:xfrm>
          <a:prstGeom prst="rect">
            <a:avLst/>
          </a:prstGeom>
          <a:noFill/>
        </p:spPr>
        <p:txBody>
          <a:bodyPr wrap="square">
            <a:spAutoFit/>
          </a:bodyPr>
          <a:lstStyle/>
          <a:p>
            <a:pPr algn="l"/>
            <a:r>
              <a:rPr sz="1300" b="0">
                <a:solidFill>
                  <a:srgbClr val="1F2937"/>
                </a:solidFill>
                <a:latin typeface="Calibri"/>
              </a:rPr>
              <a:t>while  •  when  •  at 8 o'clock last night  •  all evening</a:t>
            </a:r>
          </a:p>
        </p:txBody>
      </p:sp>
      <p:sp>
        <p:nvSpPr>
          <p:cNvPr id="29" name="Rounded Rectangle 28"/>
          <p:cNvSpPr/>
          <p:nvPr/>
        </p:nvSpPr>
        <p:spPr>
          <a:xfrm>
            <a:off x="6172200" y="2286000"/>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377440"/>
            <a:ext cx="1828800" cy="292608"/>
          </a:xfrm>
          <a:prstGeom prst="rect">
            <a:avLst/>
          </a:prstGeom>
          <a:noFill/>
        </p:spPr>
        <p:txBody>
          <a:bodyPr wrap="square">
            <a:spAutoFit/>
          </a:bodyPr>
          <a:lstStyle/>
          <a:p>
            <a:pPr algn="l"/>
            <a:r>
              <a:rPr sz="1100" b="1">
                <a:solidFill>
                  <a:srgbClr val="2E7D32"/>
                </a:solidFill>
                <a:latin typeface="Calibri"/>
              </a:rPr>
              <a:t>✅  POSITIVE</a:t>
            </a:r>
          </a:p>
        </p:txBody>
      </p:sp>
      <p:sp>
        <p:nvSpPr>
          <p:cNvPr id="31" name="TextBox 30"/>
          <p:cNvSpPr txBox="1"/>
          <p:nvPr/>
        </p:nvSpPr>
        <p:spPr>
          <a:xfrm>
            <a:off x="6355080" y="2706624"/>
            <a:ext cx="5212080" cy="384048"/>
          </a:xfrm>
          <a:prstGeom prst="rect">
            <a:avLst/>
          </a:prstGeom>
          <a:noFill/>
        </p:spPr>
        <p:txBody>
          <a:bodyPr wrap="square">
            <a:spAutoFit/>
          </a:bodyPr>
          <a:lstStyle/>
          <a:p>
            <a:pPr algn="l"/>
            <a:r>
              <a:rPr sz="1500" b="1">
                <a:solidFill>
                  <a:srgbClr val="0A2A6E"/>
                </a:solidFill>
                <a:latin typeface="Calibri"/>
              </a:rPr>
              <a:t>At midnight, Maya was counting turtles.</a:t>
            </a:r>
          </a:p>
        </p:txBody>
      </p:sp>
      <p:sp>
        <p:nvSpPr>
          <p:cNvPr id="32" name="Rounded Rectangle 31"/>
          <p:cNvSpPr/>
          <p:nvPr/>
        </p:nvSpPr>
        <p:spPr>
          <a:xfrm>
            <a:off x="6172200" y="3310128"/>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401568"/>
            <a:ext cx="1828800" cy="292608"/>
          </a:xfrm>
          <a:prstGeom prst="rect">
            <a:avLst/>
          </a:prstGeom>
          <a:noFill/>
        </p:spPr>
        <p:txBody>
          <a:bodyPr wrap="square">
            <a:spAutoFit/>
          </a:bodyPr>
          <a:lstStyle/>
          <a:p>
            <a:pPr algn="l"/>
            <a:r>
              <a:rPr sz="1100" b="1">
                <a:solidFill>
                  <a:srgbClr val="FF6F61"/>
                </a:solidFill>
                <a:latin typeface="Calibri"/>
              </a:rPr>
              <a:t>❌  NEGATIVE</a:t>
            </a:r>
          </a:p>
        </p:txBody>
      </p:sp>
      <p:sp>
        <p:nvSpPr>
          <p:cNvPr id="34" name="TextBox 33"/>
          <p:cNvSpPr txBox="1"/>
          <p:nvPr/>
        </p:nvSpPr>
        <p:spPr>
          <a:xfrm>
            <a:off x="6355080" y="3730752"/>
            <a:ext cx="5212080" cy="384048"/>
          </a:xfrm>
          <a:prstGeom prst="rect">
            <a:avLst/>
          </a:prstGeom>
          <a:noFill/>
        </p:spPr>
        <p:txBody>
          <a:bodyPr wrap="square">
            <a:spAutoFit/>
          </a:bodyPr>
          <a:lstStyle/>
          <a:p>
            <a:pPr algn="l"/>
            <a:r>
              <a:rPr sz="1500" b="1">
                <a:solidFill>
                  <a:srgbClr val="0A2A6E"/>
                </a:solidFill>
                <a:latin typeface="Calibri"/>
              </a:rPr>
              <a:t>Diego was not sleeping.</a:t>
            </a:r>
          </a:p>
        </p:txBody>
      </p:sp>
      <p:sp>
        <p:nvSpPr>
          <p:cNvPr id="35" name="Rounded Rectangle 34"/>
          <p:cNvSpPr/>
          <p:nvPr/>
        </p:nvSpPr>
        <p:spPr>
          <a:xfrm>
            <a:off x="6172200" y="4334256"/>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4425696"/>
            <a:ext cx="1828800" cy="292608"/>
          </a:xfrm>
          <a:prstGeom prst="rect">
            <a:avLst/>
          </a:prstGeom>
          <a:noFill/>
        </p:spPr>
        <p:txBody>
          <a:bodyPr wrap="square">
            <a:spAutoFit/>
          </a:bodyPr>
          <a:lstStyle/>
          <a:p>
            <a:pPr algn="l"/>
            <a:r>
              <a:rPr sz="1100" b="1">
                <a:solidFill>
                  <a:srgbClr val="7E57C2"/>
                </a:solidFill>
                <a:latin typeface="Calibri"/>
              </a:rPr>
              <a:t>❓  QUESTION</a:t>
            </a:r>
          </a:p>
        </p:txBody>
      </p:sp>
      <p:sp>
        <p:nvSpPr>
          <p:cNvPr id="37" name="TextBox 36"/>
          <p:cNvSpPr txBox="1"/>
          <p:nvPr/>
        </p:nvSpPr>
        <p:spPr>
          <a:xfrm>
            <a:off x="6355080" y="4754880"/>
            <a:ext cx="5212080" cy="384048"/>
          </a:xfrm>
          <a:prstGeom prst="rect">
            <a:avLst/>
          </a:prstGeom>
          <a:noFill/>
        </p:spPr>
        <p:txBody>
          <a:bodyPr wrap="square">
            <a:spAutoFit/>
          </a:bodyPr>
          <a:lstStyle/>
          <a:p>
            <a:pPr algn="l"/>
            <a:r>
              <a:rPr sz="1500" b="1">
                <a:solidFill>
                  <a:srgbClr val="0A2A6E"/>
                </a:solidFill>
                <a:latin typeface="Calibri"/>
              </a:rPr>
              <a:t>Was Maya counting turtles at midnight?</a:t>
            </a:r>
          </a:p>
        </p:txBody>
      </p:sp>
      <p:sp>
        <p:nvSpPr>
          <p:cNvPr id="38" name="Rounded Rectangle 37"/>
          <p:cNvSpPr/>
          <p:nvPr/>
        </p:nvSpPr>
        <p:spPr>
          <a:xfrm>
            <a:off x="6172200" y="5394960"/>
            <a:ext cx="5577840" cy="6858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5486400"/>
            <a:ext cx="5212080" cy="274320"/>
          </a:xfrm>
          <a:prstGeom prst="rect">
            <a:avLst/>
          </a:prstGeom>
          <a:noFill/>
        </p:spPr>
        <p:txBody>
          <a:bodyPr wrap="square">
            <a:spAutoFit/>
          </a:bodyPr>
          <a:lstStyle/>
          <a:p>
            <a:pPr algn="l"/>
            <a:r>
              <a:rPr sz="1100" b="1">
                <a:solidFill>
                  <a:srgbClr val="FFB300"/>
                </a:solidFill>
                <a:latin typeface="Calibri"/>
              </a:rPr>
              <a:t>🏠 REAL LIFE</a:t>
            </a:r>
          </a:p>
        </p:txBody>
      </p:sp>
      <p:sp>
        <p:nvSpPr>
          <p:cNvPr id="40" name="TextBox 39"/>
          <p:cNvSpPr txBox="1"/>
          <p:nvPr/>
        </p:nvSpPr>
        <p:spPr>
          <a:xfrm>
            <a:off x="6355080" y="5760720"/>
            <a:ext cx="5212080" cy="320040"/>
          </a:xfrm>
          <a:prstGeom prst="rect">
            <a:avLst/>
          </a:prstGeom>
          <a:noFill/>
        </p:spPr>
        <p:txBody>
          <a:bodyPr wrap="square">
            <a:spAutoFit/>
          </a:bodyPr>
          <a:lstStyle/>
          <a:p>
            <a:pPr algn="l"/>
            <a:r>
              <a:rPr sz="1400" b="1">
                <a:solidFill>
                  <a:srgbClr val="1F2937"/>
                </a:solidFill>
                <a:latin typeface="Calibri"/>
              </a:rPr>
              <a:t>I was sleeping when the phone rang.</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Simple Future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7249115"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22 / 37</a:t>
            </a:r>
          </a:p>
        </p:txBody>
      </p:sp>
      <p:sp>
        <p:nvSpPr>
          <p:cNvPr id="14" name="Rectangle 13"/>
          <p:cNvSpPr/>
          <p:nvPr/>
        </p:nvSpPr>
        <p:spPr>
          <a:xfrm>
            <a:off x="1188720" y="1435608"/>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28800"/>
            <a:ext cx="1554480" cy="274320"/>
          </a:xfrm>
          <a:prstGeom prst="rect">
            <a:avLst/>
          </a:prstGeom>
          <a:noFill/>
        </p:spPr>
        <p:txBody>
          <a:bodyPr wrap="square">
            <a:spAutoFit/>
          </a:bodyPr>
          <a:lstStyle/>
          <a:p>
            <a:pPr algn="ctr"/>
            <a:r>
              <a:rPr sz="1200" b="1">
                <a:solidFill>
                  <a:srgbClr val="64748B"/>
                </a:solidFill>
                <a:latin typeface="Calibri"/>
              </a:rPr>
              <a:t>PAST</a:t>
            </a:r>
          </a:p>
        </p:txBody>
      </p:sp>
      <p:sp>
        <p:nvSpPr>
          <p:cNvPr id="17" name="Oval 16"/>
          <p:cNvSpPr/>
          <p:nvPr/>
        </p:nvSpPr>
        <p:spPr>
          <a:xfrm>
            <a:off x="5806440" y="1298448"/>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28800"/>
            <a:ext cx="1554480" cy="274320"/>
          </a:xfrm>
          <a:prstGeom prst="rect">
            <a:avLst/>
          </a:prstGeom>
          <a:noFill/>
        </p:spPr>
        <p:txBody>
          <a:bodyPr wrap="square">
            <a:spAutoFit/>
          </a:bodyPr>
          <a:lstStyle/>
          <a:p>
            <a:pPr algn="ctr"/>
            <a:r>
              <a:rPr sz="1200" b="1">
                <a:solidFill>
                  <a:srgbClr val="64748B"/>
                </a:solidFill>
                <a:latin typeface="Calibri"/>
              </a:rPr>
              <a:t>NOW</a:t>
            </a:r>
          </a:p>
        </p:txBody>
      </p:sp>
      <p:sp>
        <p:nvSpPr>
          <p:cNvPr id="19" name="Oval 18"/>
          <p:cNvSpPr/>
          <p:nvPr/>
        </p:nvSpPr>
        <p:spPr>
          <a:xfrm>
            <a:off x="10259568" y="1152144"/>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554480" cy="274320"/>
          </a:xfrm>
          <a:prstGeom prst="rect">
            <a:avLst/>
          </a:prstGeom>
          <a:noFill/>
        </p:spPr>
        <p:txBody>
          <a:bodyPr wrap="square">
            <a:spAutoFit/>
          </a:bodyPr>
          <a:lstStyle/>
          <a:p>
            <a:pPr algn="ctr"/>
            <a:r>
              <a:rPr sz="1200" b="1">
                <a:solidFill>
                  <a:srgbClr val="0A2A6E"/>
                </a:solidFill>
                <a:latin typeface="Calibri"/>
              </a:rPr>
              <a:t>FUTURE</a:t>
            </a:r>
          </a:p>
        </p:txBody>
      </p:sp>
      <p:sp>
        <p:nvSpPr>
          <p:cNvPr id="21" name="Rounded Rectangle 20"/>
          <p:cNvSpPr/>
          <p:nvPr/>
        </p:nvSpPr>
        <p:spPr>
          <a:xfrm>
            <a:off x="411480" y="2286000"/>
            <a:ext cx="5577840" cy="3794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468880"/>
            <a:ext cx="5120640" cy="320040"/>
          </a:xfrm>
          <a:prstGeom prst="rect">
            <a:avLst/>
          </a:prstGeom>
          <a:noFill/>
        </p:spPr>
        <p:txBody>
          <a:bodyPr wrap="square">
            <a:spAutoFit/>
          </a:bodyPr>
          <a:lstStyle/>
          <a:p>
            <a:pPr algn="l"/>
            <a:r>
              <a:rPr sz="1300" b="1">
                <a:solidFill>
                  <a:srgbClr val="FFB300"/>
                </a:solidFill>
                <a:latin typeface="Calibri"/>
              </a:rPr>
              <a:t>WHEN DO WE USE IT?</a:t>
            </a:r>
          </a:p>
        </p:txBody>
      </p:sp>
      <p:sp>
        <p:nvSpPr>
          <p:cNvPr id="23" name="TextBox 22"/>
          <p:cNvSpPr txBox="1"/>
          <p:nvPr/>
        </p:nvSpPr>
        <p:spPr>
          <a:xfrm>
            <a:off x="658368" y="2834640"/>
            <a:ext cx="5120640" cy="777240"/>
          </a:xfrm>
          <a:prstGeom prst="rect">
            <a:avLst/>
          </a:prstGeom>
          <a:noFill/>
        </p:spPr>
        <p:txBody>
          <a:bodyPr wrap="square">
            <a:spAutoFit/>
          </a:bodyPr>
          <a:lstStyle/>
          <a:p>
            <a:pPr algn="l"/>
            <a:r>
              <a:rPr sz="1500" b="0">
                <a:solidFill>
                  <a:srgbClr val="1F2937"/>
                </a:solidFill>
                <a:latin typeface="Calibri"/>
              </a:rPr>
              <a:t>Something that has not happened yet, but will happen later.</a:t>
            </a:r>
          </a:p>
        </p:txBody>
      </p:sp>
      <p:sp>
        <p:nvSpPr>
          <p:cNvPr id="24" name="TextBox 23"/>
          <p:cNvSpPr txBox="1"/>
          <p:nvPr/>
        </p:nvSpPr>
        <p:spPr>
          <a:xfrm>
            <a:off x="658368" y="3703320"/>
            <a:ext cx="5120640" cy="320040"/>
          </a:xfrm>
          <a:prstGeom prst="rect">
            <a:avLst/>
          </a:prstGeom>
          <a:noFill/>
        </p:spPr>
        <p:txBody>
          <a:bodyPr wrap="square">
            <a:spAutoFit/>
          </a:bodyPr>
          <a:lstStyle/>
          <a:p>
            <a:pPr algn="l"/>
            <a:r>
              <a:rPr sz="1300" b="1">
                <a:solidFill>
                  <a:srgbClr val="FFB300"/>
                </a:solidFill>
                <a:latin typeface="Calibri"/>
              </a:rPr>
              <a:t>SENTENCE BUILDER</a:t>
            </a:r>
          </a:p>
        </p:txBody>
      </p:sp>
      <p:sp>
        <p:nvSpPr>
          <p:cNvPr id="25" name="Rounded Rectangle 24"/>
          <p:cNvSpPr/>
          <p:nvPr/>
        </p:nvSpPr>
        <p:spPr>
          <a:xfrm>
            <a:off x="658368" y="4069080"/>
            <a:ext cx="507492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06240"/>
            <a:ext cx="4846320" cy="365760"/>
          </a:xfrm>
          <a:prstGeom prst="rect">
            <a:avLst/>
          </a:prstGeom>
          <a:noFill/>
        </p:spPr>
        <p:txBody>
          <a:bodyPr wrap="square">
            <a:spAutoFit/>
          </a:bodyPr>
          <a:lstStyle/>
          <a:p>
            <a:pPr algn="l"/>
            <a:r>
              <a:rPr sz="1400" b="1">
                <a:solidFill>
                  <a:srgbClr val="0A2A6E"/>
                </a:solidFill>
                <a:latin typeface="Calibri"/>
              </a:rPr>
              <a:t>Subject  +  will  +  verb</a:t>
            </a:r>
          </a:p>
        </p:txBody>
      </p:sp>
      <p:sp>
        <p:nvSpPr>
          <p:cNvPr id="27" name="TextBox 26"/>
          <p:cNvSpPr txBox="1"/>
          <p:nvPr/>
        </p:nvSpPr>
        <p:spPr>
          <a:xfrm>
            <a:off x="658368" y="4846320"/>
            <a:ext cx="5120640" cy="320040"/>
          </a:xfrm>
          <a:prstGeom prst="rect">
            <a:avLst/>
          </a:prstGeom>
          <a:noFill/>
        </p:spPr>
        <p:txBody>
          <a:bodyPr wrap="square">
            <a:spAutoFit/>
          </a:bodyPr>
          <a:lstStyle/>
          <a:p>
            <a:pPr algn="l"/>
            <a:r>
              <a:rPr sz="1300" b="1">
                <a:solidFill>
                  <a:srgbClr val="FFB300"/>
                </a:solidFill>
                <a:latin typeface="Calibri"/>
              </a:rPr>
              <a:t>SIGNAL WORDS 🚦</a:t>
            </a:r>
          </a:p>
        </p:txBody>
      </p:sp>
      <p:sp>
        <p:nvSpPr>
          <p:cNvPr id="28" name="TextBox 27"/>
          <p:cNvSpPr txBox="1"/>
          <p:nvPr/>
        </p:nvSpPr>
        <p:spPr>
          <a:xfrm>
            <a:off x="658368" y="5212080"/>
            <a:ext cx="5120640" cy="685800"/>
          </a:xfrm>
          <a:prstGeom prst="rect">
            <a:avLst/>
          </a:prstGeom>
          <a:noFill/>
        </p:spPr>
        <p:txBody>
          <a:bodyPr wrap="square">
            <a:spAutoFit/>
          </a:bodyPr>
          <a:lstStyle/>
          <a:p>
            <a:pPr algn="l"/>
            <a:r>
              <a:rPr sz="1300" b="0">
                <a:solidFill>
                  <a:srgbClr val="1F2937"/>
                </a:solidFill>
                <a:latin typeface="Calibri"/>
              </a:rPr>
              <a:t>tomorrow  •  next week  •  soon  •  later  •  in 2030</a:t>
            </a:r>
          </a:p>
        </p:txBody>
      </p:sp>
      <p:sp>
        <p:nvSpPr>
          <p:cNvPr id="29" name="Rounded Rectangle 28"/>
          <p:cNvSpPr/>
          <p:nvPr/>
        </p:nvSpPr>
        <p:spPr>
          <a:xfrm>
            <a:off x="6172200" y="2286000"/>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2377440"/>
            <a:ext cx="1828800" cy="292608"/>
          </a:xfrm>
          <a:prstGeom prst="rect">
            <a:avLst/>
          </a:prstGeom>
          <a:noFill/>
        </p:spPr>
        <p:txBody>
          <a:bodyPr wrap="square">
            <a:spAutoFit/>
          </a:bodyPr>
          <a:lstStyle/>
          <a:p>
            <a:pPr algn="l"/>
            <a:r>
              <a:rPr sz="1100" b="1">
                <a:solidFill>
                  <a:srgbClr val="2E7D32"/>
                </a:solidFill>
                <a:latin typeface="Calibri"/>
              </a:rPr>
              <a:t>✅  POSITIVE</a:t>
            </a:r>
          </a:p>
        </p:txBody>
      </p:sp>
      <p:sp>
        <p:nvSpPr>
          <p:cNvPr id="31" name="TextBox 30"/>
          <p:cNvSpPr txBox="1"/>
          <p:nvPr/>
        </p:nvSpPr>
        <p:spPr>
          <a:xfrm>
            <a:off x="6355080" y="2706624"/>
            <a:ext cx="5212080" cy="384048"/>
          </a:xfrm>
          <a:prstGeom prst="rect">
            <a:avLst/>
          </a:prstGeom>
          <a:noFill/>
        </p:spPr>
        <p:txBody>
          <a:bodyPr wrap="square">
            <a:spAutoFit/>
          </a:bodyPr>
          <a:lstStyle/>
          <a:p>
            <a:pPr algn="l"/>
            <a:r>
              <a:rPr sz="1500" b="1">
                <a:solidFill>
                  <a:srgbClr val="0A2A6E"/>
                </a:solidFill>
                <a:latin typeface="Calibri"/>
              </a:rPr>
              <a:t>Maya will come back next August.</a:t>
            </a:r>
          </a:p>
        </p:txBody>
      </p:sp>
      <p:sp>
        <p:nvSpPr>
          <p:cNvPr id="32" name="Rounded Rectangle 31"/>
          <p:cNvSpPr/>
          <p:nvPr/>
        </p:nvSpPr>
        <p:spPr>
          <a:xfrm>
            <a:off x="6172200" y="3310128"/>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3401568"/>
            <a:ext cx="1828800" cy="292608"/>
          </a:xfrm>
          <a:prstGeom prst="rect">
            <a:avLst/>
          </a:prstGeom>
          <a:noFill/>
        </p:spPr>
        <p:txBody>
          <a:bodyPr wrap="square">
            <a:spAutoFit/>
          </a:bodyPr>
          <a:lstStyle/>
          <a:p>
            <a:pPr algn="l"/>
            <a:r>
              <a:rPr sz="1100" b="1">
                <a:solidFill>
                  <a:srgbClr val="FF6F61"/>
                </a:solidFill>
                <a:latin typeface="Calibri"/>
              </a:rPr>
              <a:t>❌  NEGATIVE</a:t>
            </a:r>
          </a:p>
        </p:txBody>
      </p:sp>
      <p:sp>
        <p:nvSpPr>
          <p:cNvPr id="34" name="TextBox 33"/>
          <p:cNvSpPr txBox="1"/>
          <p:nvPr/>
        </p:nvSpPr>
        <p:spPr>
          <a:xfrm>
            <a:off x="6355080" y="3730752"/>
            <a:ext cx="5212080" cy="384048"/>
          </a:xfrm>
          <a:prstGeom prst="rect">
            <a:avLst/>
          </a:prstGeom>
          <a:noFill/>
        </p:spPr>
        <p:txBody>
          <a:bodyPr wrap="square">
            <a:spAutoFit/>
          </a:bodyPr>
          <a:lstStyle/>
          <a:p>
            <a:pPr algn="l"/>
            <a:r>
              <a:rPr sz="1500" b="1">
                <a:solidFill>
                  <a:srgbClr val="0A2A6E"/>
                </a:solidFill>
                <a:latin typeface="Calibri"/>
              </a:rPr>
              <a:t>She will not forget the turtles.</a:t>
            </a:r>
          </a:p>
        </p:txBody>
      </p:sp>
      <p:sp>
        <p:nvSpPr>
          <p:cNvPr id="35" name="Rounded Rectangle 34"/>
          <p:cNvSpPr/>
          <p:nvPr/>
        </p:nvSpPr>
        <p:spPr>
          <a:xfrm>
            <a:off x="6172200" y="4334256"/>
            <a:ext cx="557784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4425696"/>
            <a:ext cx="1828800" cy="292608"/>
          </a:xfrm>
          <a:prstGeom prst="rect">
            <a:avLst/>
          </a:prstGeom>
          <a:noFill/>
        </p:spPr>
        <p:txBody>
          <a:bodyPr wrap="square">
            <a:spAutoFit/>
          </a:bodyPr>
          <a:lstStyle/>
          <a:p>
            <a:pPr algn="l"/>
            <a:r>
              <a:rPr sz="1100" b="1">
                <a:solidFill>
                  <a:srgbClr val="7E57C2"/>
                </a:solidFill>
                <a:latin typeface="Calibri"/>
              </a:rPr>
              <a:t>❓  QUESTION</a:t>
            </a:r>
          </a:p>
        </p:txBody>
      </p:sp>
      <p:sp>
        <p:nvSpPr>
          <p:cNvPr id="37" name="TextBox 36"/>
          <p:cNvSpPr txBox="1"/>
          <p:nvPr/>
        </p:nvSpPr>
        <p:spPr>
          <a:xfrm>
            <a:off x="6355080" y="4754880"/>
            <a:ext cx="5212080" cy="384048"/>
          </a:xfrm>
          <a:prstGeom prst="rect">
            <a:avLst/>
          </a:prstGeom>
          <a:noFill/>
        </p:spPr>
        <p:txBody>
          <a:bodyPr wrap="square">
            <a:spAutoFit/>
          </a:bodyPr>
          <a:lstStyle/>
          <a:p>
            <a:pPr algn="l"/>
            <a:r>
              <a:rPr sz="1500" b="1">
                <a:solidFill>
                  <a:srgbClr val="0A2A6E"/>
                </a:solidFill>
                <a:latin typeface="Calibri"/>
              </a:rPr>
              <a:t>Will Maya come back next August?</a:t>
            </a:r>
          </a:p>
        </p:txBody>
      </p:sp>
      <p:sp>
        <p:nvSpPr>
          <p:cNvPr id="38" name="Rounded Rectangle 37"/>
          <p:cNvSpPr/>
          <p:nvPr/>
        </p:nvSpPr>
        <p:spPr>
          <a:xfrm>
            <a:off x="6172200" y="5394960"/>
            <a:ext cx="5577840" cy="6858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5486400"/>
            <a:ext cx="5212080" cy="274320"/>
          </a:xfrm>
          <a:prstGeom prst="rect">
            <a:avLst/>
          </a:prstGeom>
          <a:noFill/>
        </p:spPr>
        <p:txBody>
          <a:bodyPr wrap="square">
            <a:spAutoFit/>
          </a:bodyPr>
          <a:lstStyle/>
          <a:p>
            <a:pPr algn="l"/>
            <a:r>
              <a:rPr sz="1100" b="1">
                <a:solidFill>
                  <a:srgbClr val="FFB300"/>
                </a:solidFill>
                <a:latin typeface="Calibri"/>
              </a:rPr>
              <a:t>🏠 REAL LIFE</a:t>
            </a:r>
          </a:p>
        </p:txBody>
      </p:sp>
      <p:sp>
        <p:nvSpPr>
          <p:cNvPr id="40" name="TextBox 39"/>
          <p:cNvSpPr txBox="1"/>
          <p:nvPr/>
        </p:nvSpPr>
        <p:spPr>
          <a:xfrm>
            <a:off x="6355080" y="5760720"/>
            <a:ext cx="5212080" cy="320040"/>
          </a:xfrm>
          <a:prstGeom prst="rect">
            <a:avLst/>
          </a:prstGeom>
          <a:noFill/>
        </p:spPr>
        <p:txBody>
          <a:bodyPr wrap="square">
            <a:spAutoFit/>
          </a:bodyPr>
          <a:lstStyle/>
          <a:p>
            <a:pPr algn="l"/>
            <a:r>
              <a:rPr sz="1400" b="1">
                <a:solidFill>
                  <a:srgbClr val="1F2937"/>
                </a:solidFill>
                <a:latin typeface="Calibri"/>
              </a:rPr>
              <a:t>I will visit my grandma next weekend.</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GRAMMAR</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25–35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All Five Tenses on One Map</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7578621"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Tenses  |  25–35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23 / 37</a:t>
            </a:r>
          </a:p>
        </p:txBody>
      </p:sp>
      <p:sp>
        <p:nvSpPr>
          <p:cNvPr id="14" name="Rectangle 13"/>
          <p:cNvSpPr/>
          <p:nvPr/>
        </p:nvSpPr>
        <p:spPr>
          <a:xfrm>
            <a:off x="1188720" y="1453896"/>
            <a:ext cx="969264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88720" y="1316736"/>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47088"/>
            <a:ext cx="1554480" cy="274320"/>
          </a:xfrm>
          <a:prstGeom prst="rect">
            <a:avLst/>
          </a:prstGeom>
          <a:noFill/>
        </p:spPr>
        <p:txBody>
          <a:bodyPr wrap="square">
            <a:spAutoFit/>
          </a:bodyPr>
          <a:lstStyle/>
          <a:p>
            <a:pPr algn="ctr"/>
            <a:r>
              <a:rPr sz="1200" b="1">
                <a:solidFill>
                  <a:srgbClr val="64748B"/>
                </a:solidFill>
                <a:latin typeface="Calibri"/>
              </a:rPr>
              <a:t>PAST</a:t>
            </a:r>
          </a:p>
        </p:txBody>
      </p:sp>
      <p:sp>
        <p:nvSpPr>
          <p:cNvPr id="17" name="Oval 16"/>
          <p:cNvSpPr/>
          <p:nvPr/>
        </p:nvSpPr>
        <p:spPr>
          <a:xfrm>
            <a:off x="5733288" y="1170432"/>
            <a:ext cx="603504" cy="603504"/>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1847088"/>
            <a:ext cx="1554480" cy="274320"/>
          </a:xfrm>
          <a:prstGeom prst="rect">
            <a:avLst/>
          </a:prstGeom>
          <a:noFill/>
        </p:spPr>
        <p:txBody>
          <a:bodyPr wrap="square">
            <a:spAutoFit/>
          </a:bodyPr>
          <a:lstStyle/>
          <a:p>
            <a:pPr algn="ctr"/>
            <a:r>
              <a:rPr sz="1200" b="1">
                <a:solidFill>
                  <a:srgbClr val="0A2A6E"/>
                </a:solidFill>
                <a:latin typeface="Calibri"/>
              </a:rPr>
              <a:t>NOW</a:t>
            </a:r>
          </a:p>
        </p:txBody>
      </p:sp>
      <p:sp>
        <p:nvSpPr>
          <p:cNvPr id="19" name="Oval 18"/>
          <p:cNvSpPr/>
          <p:nvPr/>
        </p:nvSpPr>
        <p:spPr>
          <a:xfrm>
            <a:off x="10332720" y="1316736"/>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47088"/>
            <a:ext cx="1554480" cy="274320"/>
          </a:xfrm>
          <a:prstGeom prst="rect">
            <a:avLst/>
          </a:prstGeom>
          <a:noFill/>
        </p:spPr>
        <p:txBody>
          <a:bodyPr wrap="square">
            <a:spAutoFit/>
          </a:bodyPr>
          <a:lstStyle/>
          <a:p>
            <a:pPr algn="ctr"/>
            <a:r>
              <a:rPr sz="1200" b="1">
                <a:solidFill>
                  <a:srgbClr val="64748B"/>
                </a:solidFill>
                <a:latin typeface="Calibri"/>
              </a:rPr>
              <a:t>FUTURE</a:t>
            </a:r>
          </a:p>
        </p:txBody>
      </p:sp>
      <p:sp>
        <p:nvSpPr>
          <p:cNvPr id="21" name="Rounded Rectangle 20"/>
          <p:cNvSpPr/>
          <p:nvPr/>
        </p:nvSpPr>
        <p:spPr>
          <a:xfrm>
            <a:off x="411480" y="2423160"/>
            <a:ext cx="2194560" cy="237744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2423160"/>
            <a:ext cx="2194560" cy="9144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2679192"/>
            <a:ext cx="1975104" cy="640080"/>
          </a:xfrm>
          <a:prstGeom prst="rect">
            <a:avLst/>
          </a:prstGeom>
          <a:noFill/>
        </p:spPr>
        <p:txBody>
          <a:bodyPr wrap="square">
            <a:spAutoFit/>
          </a:bodyPr>
          <a:lstStyle/>
          <a:p>
            <a:pPr algn="ctr"/>
            <a:r>
              <a:rPr sz="1300" b="1">
                <a:solidFill>
                  <a:srgbClr val="7E57C2"/>
                </a:solidFill>
                <a:latin typeface="Calibri"/>
              </a:rPr>
              <a:t>Past Continuous</a:t>
            </a:r>
          </a:p>
        </p:txBody>
      </p:sp>
      <p:sp>
        <p:nvSpPr>
          <p:cNvPr id="24" name="Rounded Rectangle 23"/>
          <p:cNvSpPr/>
          <p:nvPr/>
        </p:nvSpPr>
        <p:spPr>
          <a:xfrm>
            <a:off x="521208" y="3383280"/>
            <a:ext cx="1975104"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502152"/>
            <a:ext cx="1975104" cy="365760"/>
          </a:xfrm>
          <a:prstGeom prst="rect">
            <a:avLst/>
          </a:prstGeom>
          <a:noFill/>
        </p:spPr>
        <p:txBody>
          <a:bodyPr wrap="square">
            <a:spAutoFit/>
          </a:bodyPr>
          <a:lstStyle/>
          <a:p>
            <a:pPr algn="ctr"/>
            <a:r>
              <a:rPr sz="1100" b="1">
                <a:solidFill>
                  <a:srgbClr val="0A2A6E"/>
                </a:solidFill>
                <a:latin typeface="Calibri"/>
              </a:rPr>
              <a:t>was / were + -ing</a:t>
            </a:r>
          </a:p>
        </p:txBody>
      </p:sp>
      <p:sp>
        <p:nvSpPr>
          <p:cNvPr id="26" name="TextBox 25"/>
          <p:cNvSpPr txBox="1"/>
          <p:nvPr/>
        </p:nvSpPr>
        <p:spPr>
          <a:xfrm>
            <a:off x="521208" y="4069080"/>
            <a:ext cx="1975104" cy="548640"/>
          </a:xfrm>
          <a:prstGeom prst="rect">
            <a:avLst/>
          </a:prstGeom>
          <a:noFill/>
        </p:spPr>
        <p:txBody>
          <a:bodyPr wrap="square">
            <a:spAutoFit/>
          </a:bodyPr>
          <a:lstStyle/>
          <a:p>
            <a:pPr algn="ctr"/>
            <a:r>
              <a:rPr sz="1300" b="1">
                <a:solidFill>
                  <a:srgbClr val="1F2937"/>
                </a:solidFill>
                <a:latin typeface="Calibri"/>
              </a:rPr>
              <a:t>I was reading.</a:t>
            </a:r>
          </a:p>
        </p:txBody>
      </p:sp>
      <p:sp>
        <p:nvSpPr>
          <p:cNvPr id="27" name="Rounded Rectangle 26"/>
          <p:cNvSpPr/>
          <p:nvPr/>
        </p:nvSpPr>
        <p:spPr>
          <a:xfrm>
            <a:off x="2743200" y="2423160"/>
            <a:ext cx="2194560" cy="237744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0" y="2423160"/>
            <a:ext cx="2194560" cy="9144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2928" y="2679192"/>
            <a:ext cx="1975104" cy="640080"/>
          </a:xfrm>
          <a:prstGeom prst="rect">
            <a:avLst/>
          </a:prstGeom>
          <a:noFill/>
        </p:spPr>
        <p:txBody>
          <a:bodyPr wrap="square">
            <a:spAutoFit/>
          </a:bodyPr>
          <a:lstStyle/>
          <a:p>
            <a:pPr algn="ctr"/>
            <a:r>
              <a:rPr sz="1300" b="1">
                <a:solidFill>
                  <a:srgbClr val="FF6F61"/>
                </a:solidFill>
                <a:latin typeface="Calibri"/>
              </a:rPr>
              <a:t>Simple Past</a:t>
            </a:r>
          </a:p>
        </p:txBody>
      </p:sp>
      <p:sp>
        <p:nvSpPr>
          <p:cNvPr id="30" name="Rounded Rectangle 29"/>
          <p:cNvSpPr/>
          <p:nvPr/>
        </p:nvSpPr>
        <p:spPr>
          <a:xfrm>
            <a:off x="2852928" y="3383280"/>
            <a:ext cx="1975104"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8" y="3502152"/>
            <a:ext cx="1975104" cy="365760"/>
          </a:xfrm>
          <a:prstGeom prst="rect">
            <a:avLst/>
          </a:prstGeom>
          <a:noFill/>
        </p:spPr>
        <p:txBody>
          <a:bodyPr wrap="square">
            <a:spAutoFit/>
          </a:bodyPr>
          <a:lstStyle/>
          <a:p>
            <a:pPr algn="ctr"/>
            <a:r>
              <a:rPr sz="1100" b="1">
                <a:solidFill>
                  <a:srgbClr val="0A2A6E"/>
                </a:solidFill>
                <a:latin typeface="Calibri"/>
              </a:rPr>
              <a:t>past verb</a:t>
            </a:r>
          </a:p>
        </p:txBody>
      </p:sp>
      <p:sp>
        <p:nvSpPr>
          <p:cNvPr id="32" name="TextBox 31"/>
          <p:cNvSpPr txBox="1"/>
          <p:nvPr/>
        </p:nvSpPr>
        <p:spPr>
          <a:xfrm>
            <a:off x="2852928" y="4069080"/>
            <a:ext cx="1975104" cy="548640"/>
          </a:xfrm>
          <a:prstGeom prst="rect">
            <a:avLst/>
          </a:prstGeom>
          <a:noFill/>
        </p:spPr>
        <p:txBody>
          <a:bodyPr wrap="square">
            <a:spAutoFit/>
          </a:bodyPr>
          <a:lstStyle/>
          <a:p>
            <a:pPr algn="ctr"/>
            <a:r>
              <a:rPr sz="1300" b="1">
                <a:solidFill>
                  <a:srgbClr val="1F2937"/>
                </a:solidFill>
                <a:latin typeface="Calibri"/>
              </a:rPr>
              <a:t>I read it.</a:t>
            </a:r>
          </a:p>
        </p:txBody>
      </p:sp>
      <p:sp>
        <p:nvSpPr>
          <p:cNvPr id="33" name="Rounded Rectangle 32"/>
          <p:cNvSpPr/>
          <p:nvPr/>
        </p:nvSpPr>
        <p:spPr>
          <a:xfrm>
            <a:off x="5074920" y="2423160"/>
            <a:ext cx="2194560" cy="237744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74920" y="2423160"/>
            <a:ext cx="2194560" cy="914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84648" y="2679192"/>
            <a:ext cx="1975104" cy="640080"/>
          </a:xfrm>
          <a:prstGeom prst="rect">
            <a:avLst/>
          </a:prstGeom>
          <a:noFill/>
        </p:spPr>
        <p:txBody>
          <a:bodyPr wrap="square">
            <a:spAutoFit/>
          </a:bodyPr>
          <a:lstStyle/>
          <a:p>
            <a:pPr algn="ctr"/>
            <a:r>
              <a:rPr sz="1300" b="1">
                <a:solidFill>
                  <a:srgbClr val="009688"/>
                </a:solidFill>
                <a:latin typeface="Calibri"/>
              </a:rPr>
              <a:t>Simple Present</a:t>
            </a:r>
          </a:p>
        </p:txBody>
      </p:sp>
      <p:sp>
        <p:nvSpPr>
          <p:cNvPr id="36" name="Rounded Rectangle 35"/>
          <p:cNvSpPr/>
          <p:nvPr/>
        </p:nvSpPr>
        <p:spPr>
          <a:xfrm>
            <a:off x="5184648" y="3383280"/>
            <a:ext cx="1975104"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84648" y="3502152"/>
            <a:ext cx="1975104" cy="365760"/>
          </a:xfrm>
          <a:prstGeom prst="rect">
            <a:avLst/>
          </a:prstGeom>
          <a:noFill/>
        </p:spPr>
        <p:txBody>
          <a:bodyPr wrap="square">
            <a:spAutoFit/>
          </a:bodyPr>
          <a:lstStyle/>
          <a:p>
            <a:pPr algn="ctr"/>
            <a:r>
              <a:rPr sz="1100" b="1">
                <a:solidFill>
                  <a:srgbClr val="0A2A6E"/>
                </a:solidFill>
                <a:latin typeface="Calibri"/>
              </a:rPr>
              <a:t>verb (+s)</a:t>
            </a:r>
          </a:p>
        </p:txBody>
      </p:sp>
      <p:sp>
        <p:nvSpPr>
          <p:cNvPr id="38" name="TextBox 37"/>
          <p:cNvSpPr txBox="1"/>
          <p:nvPr/>
        </p:nvSpPr>
        <p:spPr>
          <a:xfrm>
            <a:off x="5184648" y="4069080"/>
            <a:ext cx="1975104" cy="548640"/>
          </a:xfrm>
          <a:prstGeom prst="rect">
            <a:avLst/>
          </a:prstGeom>
          <a:noFill/>
        </p:spPr>
        <p:txBody>
          <a:bodyPr wrap="square">
            <a:spAutoFit/>
          </a:bodyPr>
          <a:lstStyle/>
          <a:p>
            <a:pPr algn="ctr"/>
            <a:r>
              <a:rPr sz="1300" b="1">
                <a:solidFill>
                  <a:srgbClr val="1F2937"/>
                </a:solidFill>
                <a:latin typeface="Calibri"/>
              </a:rPr>
              <a:t>I read daily.</a:t>
            </a:r>
          </a:p>
        </p:txBody>
      </p:sp>
      <p:sp>
        <p:nvSpPr>
          <p:cNvPr id="39" name="Rounded Rectangle 38"/>
          <p:cNvSpPr/>
          <p:nvPr/>
        </p:nvSpPr>
        <p:spPr>
          <a:xfrm>
            <a:off x="7406640" y="2423160"/>
            <a:ext cx="2194560" cy="237744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06640" y="2423160"/>
            <a:ext cx="2194560" cy="9144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16368" y="2679192"/>
            <a:ext cx="1975104" cy="640080"/>
          </a:xfrm>
          <a:prstGeom prst="rect">
            <a:avLst/>
          </a:prstGeom>
          <a:noFill/>
        </p:spPr>
        <p:txBody>
          <a:bodyPr wrap="square">
            <a:spAutoFit/>
          </a:bodyPr>
          <a:lstStyle/>
          <a:p>
            <a:pPr algn="ctr"/>
            <a:r>
              <a:rPr sz="1300" b="1">
                <a:solidFill>
                  <a:srgbClr val="29B6F6"/>
                </a:solidFill>
                <a:latin typeface="Calibri"/>
              </a:rPr>
              <a:t>Present Continuous</a:t>
            </a:r>
          </a:p>
        </p:txBody>
      </p:sp>
      <p:sp>
        <p:nvSpPr>
          <p:cNvPr id="42" name="Rounded Rectangle 41"/>
          <p:cNvSpPr/>
          <p:nvPr/>
        </p:nvSpPr>
        <p:spPr>
          <a:xfrm>
            <a:off x="7516368" y="3383280"/>
            <a:ext cx="1975104"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16368" y="3502152"/>
            <a:ext cx="1975104" cy="365760"/>
          </a:xfrm>
          <a:prstGeom prst="rect">
            <a:avLst/>
          </a:prstGeom>
          <a:noFill/>
        </p:spPr>
        <p:txBody>
          <a:bodyPr wrap="square">
            <a:spAutoFit/>
          </a:bodyPr>
          <a:lstStyle/>
          <a:p>
            <a:pPr algn="ctr"/>
            <a:r>
              <a:rPr sz="1100" b="1">
                <a:solidFill>
                  <a:srgbClr val="0A2A6E"/>
                </a:solidFill>
                <a:latin typeface="Calibri"/>
              </a:rPr>
              <a:t>am/is/are + -ing</a:t>
            </a:r>
          </a:p>
        </p:txBody>
      </p:sp>
      <p:sp>
        <p:nvSpPr>
          <p:cNvPr id="44" name="TextBox 43"/>
          <p:cNvSpPr txBox="1"/>
          <p:nvPr/>
        </p:nvSpPr>
        <p:spPr>
          <a:xfrm>
            <a:off x="7516368" y="4069080"/>
            <a:ext cx="1975104" cy="548640"/>
          </a:xfrm>
          <a:prstGeom prst="rect">
            <a:avLst/>
          </a:prstGeom>
          <a:noFill/>
        </p:spPr>
        <p:txBody>
          <a:bodyPr wrap="square">
            <a:spAutoFit/>
          </a:bodyPr>
          <a:lstStyle/>
          <a:p>
            <a:pPr algn="ctr"/>
            <a:r>
              <a:rPr sz="1300" b="1">
                <a:solidFill>
                  <a:srgbClr val="1F2937"/>
                </a:solidFill>
                <a:latin typeface="Calibri"/>
              </a:rPr>
              <a:t>I am reading.</a:t>
            </a:r>
          </a:p>
        </p:txBody>
      </p:sp>
      <p:sp>
        <p:nvSpPr>
          <p:cNvPr id="45" name="Rounded Rectangle 44"/>
          <p:cNvSpPr/>
          <p:nvPr/>
        </p:nvSpPr>
        <p:spPr>
          <a:xfrm>
            <a:off x="9738360" y="2423160"/>
            <a:ext cx="2194560" cy="237744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738360" y="2423160"/>
            <a:ext cx="2194560" cy="9144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8088" y="2679192"/>
            <a:ext cx="1975104" cy="640080"/>
          </a:xfrm>
          <a:prstGeom prst="rect">
            <a:avLst/>
          </a:prstGeom>
          <a:noFill/>
        </p:spPr>
        <p:txBody>
          <a:bodyPr wrap="square">
            <a:spAutoFit/>
          </a:bodyPr>
          <a:lstStyle/>
          <a:p>
            <a:pPr algn="ctr"/>
            <a:r>
              <a:rPr sz="1300" b="1">
                <a:solidFill>
                  <a:srgbClr val="FFB300"/>
                </a:solidFill>
                <a:latin typeface="Calibri"/>
              </a:rPr>
              <a:t>Simple Future</a:t>
            </a:r>
          </a:p>
        </p:txBody>
      </p:sp>
      <p:sp>
        <p:nvSpPr>
          <p:cNvPr id="48" name="Rounded Rectangle 47"/>
          <p:cNvSpPr/>
          <p:nvPr/>
        </p:nvSpPr>
        <p:spPr>
          <a:xfrm>
            <a:off x="9848088" y="3383280"/>
            <a:ext cx="1975104"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48088" y="3502152"/>
            <a:ext cx="1975104" cy="365760"/>
          </a:xfrm>
          <a:prstGeom prst="rect">
            <a:avLst/>
          </a:prstGeom>
          <a:noFill/>
        </p:spPr>
        <p:txBody>
          <a:bodyPr wrap="square">
            <a:spAutoFit/>
          </a:bodyPr>
          <a:lstStyle/>
          <a:p>
            <a:pPr algn="ctr"/>
            <a:r>
              <a:rPr sz="1100" b="1">
                <a:solidFill>
                  <a:srgbClr val="0A2A6E"/>
                </a:solidFill>
                <a:latin typeface="Calibri"/>
              </a:rPr>
              <a:t>will + verb</a:t>
            </a:r>
          </a:p>
        </p:txBody>
      </p:sp>
      <p:sp>
        <p:nvSpPr>
          <p:cNvPr id="50" name="TextBox 49"/>
          <p:cNvSpPr txBox="1"/>
          <p:nvPr/>
        </p:nvSpPr>
        <p:spPr>
          <a:xfrm>
            <a:off x="9848088" y="4069080"/>
            <a:ext cx="1975104" cy="548640"/>
          </a:xfrm>
          <a:prstGeom prst="rect">
            <a:avLst/>
          </a:prstGeom>
          <a:noFill/>
        </p:spPr>
        <p:txBody>
          <a:bodyPr wrap="square">
            <a:spAutoFit/>
          </a:bodyPr>
          <a:lstStyle/>
          <a:p>
            <a:pPr algn="ctr"/>
            <a:r>
              <a:rPr sz="1300" b="1">
                <a:solidFill>
                  <a:srgbClr val="1F2937"/>
                </a:solidFill>
                <a:latin typeface="Calibri"/>
              </a:rPr>
              <a:t>I will read.</a:t>
            </a:r>
          </a:p>
        </p:txBody>
      </p:sp>
      <p:sp>
        <p:nvSpPr>
          <p:cNvPr id="51" name="Rounded Rectangle 50"/>
          <p:cNvSpPr/>
          <p:nvPr/>
        </p:nvSpPr>
        <p:spPr>
          <a:xfrm>
            <a:off x="411480" y="5074920"/>
            <a:ext cx="11338560" cy="91440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5230368"/>
            <a:ext cx="10789920" cy="640080"/>
          </a:xfrm>
          <a:prstGeom prst="rect">
            <a:avLst/>
          </a:prstGeom>
          <a:noFill/>
        </p:spPr>
        <p:txBody>
          <a:bodyPr wrap="square">
            <a:spAutoFit/>
          </a:bodyPr>
          <a:lstStyle/>
          <a:p>
            <a:pPr algn="l"/>
            <a:r>
              <a:rPr sz="1500" b="1">
                <a:solidFill>
                  <a:srgbClr val="0A2A6E"/>
                </a:solidFill>
                <a:latin typeface="Calibri"/>
              </a:rPr>
              <a:t>🔑 Shortcut: -ing means it's IN PROGRESS.   WILL means it hasn't happened yet.   -ed or a changed verb means it's DONE.</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35–47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Tense Game 1: Tense Detective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7908126"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 game  |  35–47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24 / 37</a:t>
            </a:r>
          </a:p>
        </p:txBody>
      </p:sp>
      <p:sp>
        <p:nvSpPr>
          <p:cNvPr id="14" name="TextBox 13"/>
          <p:cNvSpPr txBox="1"/>
          <p:nvPr/>
        </p:nvSpPr>
        <p:spPr>
          <a:xfrm>
            <a:off x="411480" y="1207008"/>
            <a:ext cx="11338560" cy="365760"/>
          </a:xfrm>
          <a:prstGeom prst="rect">
            <a:avLst/>
          </a:prstGeom>
          <a:noFill/>
        </p:spPr>
        <p:txBody>
          <a:bodyPr wrap="square">
            <a:spAutoFit/>
          </a:bodyPr>
          <a:lstStyle/>
          <a:p>
            <a:pPr algn="l"/>
            <a:r>
              <a:rPr sz="1500" b="1">
                <a:solidFill>
                  <a:srgbClr val="FF6F61"/>
                </a:solidFill>
                <a:latin typeface="Calibri"/>
              </a:rPr>
              <a:t>Read each sentence. Which tense is hiding inside? Look for the signal words!</a:t>
            </a:r>
          </a:p>
        </p:txBody>
      </p:sp>
      <p:sp>
        <p:nvSpPr>
          <p:cNvPr id="15" name="Rounded Rectangle 14"/>
          <p:cNvSpPr/>
          <p:nvPr/>
        </p:nvSpPr>
        <p:spPr>
          <a:xfrm>
            <a:off x="41148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072" y="2075688"/>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2148840"/>
            <a:ext cx="502920" cy="365760"/>
          </a:xfrm>
          <a:prstGeom prst="rect">
            <a:avLst/>
          </a:prstGeom>
          <a:noFill/>
        </p:spPr>
        <p:txBody>
          <a:bodyPr wrap="square">
            <a:spAutoFit/>
          </a:bodyPr>
          <a:lstStyle/>
          <a:p>
            <a:pPr algn="ctr"/>
            <a:r>
              <a:rPr sz="1400" b="1">
                <a:solidFill>
                  <a:srgbClr val="FFFFFF"/>
                </a:solidFill>
                <a:latin typeface="Calibri"/>
              </a:rPr>
              <a:t>1</a:t>
            </a:r>
          </a:p>
        </p:txBody>
      </p:sp>
      <p:sp>
        <p:nvSpPr>
          <p:cNvPr id="18" name="TextBox 17"/>
          <p:cNvSpPr txBox="1"/>
          <p:nvPr/>
        </p:nvSpPr>
        <p:spPr>
          <a:xfrm>
            <a:off x="1216152" y="1874520"/>
            <a:ext cx="4572000" cy="457200"/>
          </a:xfrm>
          <a:prstGeom prst="rect">
            <a:avLst/>
          </a:prstGeom>
          <a:noFill/>
        </p:spPr>
        <p:txBody>
          <a:bodyPr wrap="square">
            <a:spAutoFit/>
          </a:bodyPr>
          <a:lstStyle/>
          <a:p>
            <a:pPr algn="l"/>
            <a:r>
              <a:rPr sz="1500" b="1">
                <a:solidFill>
                  <a:srgbClr val="0A2A6E"/>
                </a:solidFill>
                <a:latin typeface="Calibri"/>
              </a:rPr>
              <a:t>Sarah played tennis yesterday.</a:t>
            </a:r>
          </a:p>
        </p:txBody>
      </p:sp>
      <p:sp>
        <p:nvSpPr>
          <p:cNvPr id="19" name="TextBox 18"/>
          <p:cNvSpPr txBox="1"/>
          <p:nvPr/>
        </p:nvSpPr>
        <p:spPr>
          <a:xfrm>
            <a:off x="1216152" y="2350008"/>
            <a:ext cx="2743200" cy="292608"/>
          </a:xfrm>
          <a:prstGeom prst="rect">
            <a:avLst/>
          </a:prstGeom>
          <a:noFill/>
        </p:spPr>
        <p:txBody>
          <a:bodyPr wrap="square">
            <a:spAutoFit/>
          </a:bodyPr>
          <a:lstStyle/>
          <a:p>
            <a:pPr algn="l"/>
            <a:r>
              <a:rPr sz="1100" b="0">
                <a:solidFill>
                  <a:srgbClr val="64748B"/>
                </a:solidFill>
                <a:latin typeface="Calibri"/>
              </a:rPr>
              <a:t>yesterday 🚦</a:t>
            </a:r>
          </a:p>
        </p:txBody>
      </p:sp>
      <p:sp>
        <p:nvSpPr>
          <p:cNvPr id="20" name="TextBox 19"/>
          <p:cNvSpPr txBox="1"/>
          <p:nvPr/>
        </p:nvSpPr>
        <p:spPr>
          <a:xfrm>
            <a:off x="4160519" y="2350008"/>
            <a:ext cx="1645920" cy="292608"/>
          </a:xfrm>
          <a:prstGeom prst="rect">
            <a:avLst/>
          </a:prstGeom>
          <a:noFill/>
        </p:spPr>
        <p:txBody>
          <a:bodyPr wrap="square">
            <a:spAutoFit/>
          </a:bodyPr>
          <a:lstStyle/>
          <a:p>
            <a:pPr algn="l"/>
            <a:r>
              <a:rPr sz="1200" b="1">
                <a:solidFill>
                  <a:srgbClr val="009688"/>
                </a:solidFill>
                <a:latin typeface="Calibri"/>
              </a:rPr>
              <a:t>Tense: ______</a:t>
            </a:r>
          </a:p>
        </p:txBody>
      </p:sp>
      <p:sp>
        <p:nvSpPr>
          <p:cNvPr id="21" name="Rounded Rectangle 20"/>
          <p:cNvSpPr/>
          <p:nvPr/>
        </p:nvSpPr>
        <p:spPr>
          <a:xfrm>
            <a:off x="621792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82512" y="2075688"/>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2148840"/>
            <a:ext cx="502920" cy="365760"/>
          </a:xfrm>
          <a:prstGeom prst="rect">
            <a:avLst/>
          </a:prstGeom>
          <a:noFill/>
        </p:spPr>
        <p:txBody>
          <a:bodyPr wrap="square">
            <a:spAutoFit/>
          </a:bodyPr>
          <a:lstStyle/>
          <a:p>
            <a:pPr algn="ctr"/>
            <a:r>
              <a:rPr sz="1400" b="1">
                <a:solidFill>
                  <a:srgbClr val="FFFFFF"/>
                </a:solidFill>
                <a:latin typeface="Calibri"/>
              </a:rPr>
              <a:t>2</a:t>
            </a:r>
          </a:p>
        </p:txBody>
      </p:sp>
      <p:sp>
        <p:nvSpPr>
          <p:cNvPr id="24" name="TextBox 23"/>
          <p:cNvSpPr txBox="1"/>
          <p:nvPr/>
        </p:nvSpPr>
        <p:spPr>
          <a:xfrm>
            <a:off x="7022592" y="1874520"/>
            <a:ext cx="4572000" cy="457200"/>
          </a:xfrm>
          <a:prstGeom prst="rect">
            <a:avLst/>
          </a:prstGeom>
          <a:noFill/>
        </p:spPr>
        <p:txBody>
          <a:bodyPr wrap="square">
            <a:spAutoFit/>
          </a:bodyPr>
          <a:lstStyle/>
          <a:p>
            <a:pPr algn="l"/>
            <a:r>
              <a:rPr sz="1500" b="1">
                <a:solidFill>
                  <a:srgbClr val="0A2A6E"/>
                </a:solidFill>
                <a:latin typeface="Calibri"/>
              </a:rPr>
              <a:t>The turtles are crawling to the sea.</a:t>
            </a:r>
          </a:p>
        </p:txBody>
      </p:sp>
      <p:sp>
        <p:nvSpPr>
          <p:cNvPr id="25" name="TextBox 24"/>
          <p:cNvSpPr txBox="1"/>
          <p:nvPr/>
        </p:nvSpPr>
        <p:spPr>
          <a:xfrm>
            <a:off x="7022592" y="2350008"/>
            <a:ext cx="2743200" cy="292608"/>
          </a:xfrm>
          <a:prstGeom prst="rect">
            <a:avLst/>
          </a:prstGeom>
          <a:noFill/>
        </p:spPr>
        <p:txBody>
          <a:bodyPr wrap="square">
            <a:spAutoFit/>
          </a:bodyPr>
          <a:lstStyle/>
          <a:p>
            <a:pPr algn="l"/>
            <a:r>
              <a:rPr sz="1100" b="0">
                <a:solidFill>
                  <a:srgbClr val="64748B"/>
                </a:solidFill>
                <a:latin typeface="Calibri"/>
              </a:rPr>
              <a:t>-ing right now 🚦</a:t>
            </a:r>
          </a:p>
        </p:txBody>
      </p:sp>
      <p:sp>
        <p:nvSpPr>
          <p:cNvPr id="26" name="TextBox 25"/>
          <p:cNvSpPr txBox="1"/>
          <p:nvPr/>
        </p:nvSpPr>
        <p:spPr>
          <a:xfrm>
            <a:off x="9966959" y="2350008"/>
            <a:ext cx="1645920" cy="292608"/>
          </a:xfrm>
          <a:prstGeom prst="rect">
            <a:avLst/>
          </a:prstGeom>
          <a:noFill/>
        </p:spPr>
        <p:txBody>
          <a:bodyPr wrap="square">
            <a:spAutoFit/>
          </a:bodyPr>
          <a:lstStyle/>
          <a:p>
            <a:pPr algn="l"/>
            <a:r>
              <a:rPr sz="1200" b="1">
                <a:solidFill>
                  <a:srgbClr val="009688"/>
                </a:solidFill>
                <a:latin typeface="Calibri"/>
              </a:rPr>
              <a:t>Tense: ______</a:t>
            </a:r>
          </a:p>
        </p:txBody>
      </p:sp>
      <p:sp>
        <p:nvSpPr>
          <p:cNvPr id="27" name="Rounded Rectangle 26"/>
          <p:cNvSpPr/>
          <p:nvPr/>
        </p:nvSpPr>
        <p:spPr>
          <a:xfrm>
            <a:off x="41148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6072" y="3557016"/>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3630168"/>
            <a:ext cx="502920" cy="365760"/>
          </a:xfrm>
          <a:prstGeom prst="rect">
            <a:avLst/>
          </a:prstGeom>
          <a:noFill/>
        </p:spPr>
        <p:txBody>
          <a:bodyPr wrap="square">
            <a:spAutoFit/>
          </a:bodyPr>
          <a:lstStyle/>
          <a:p>
            <a:pPr algn="ctr"/>
            <a:r>
              <a:rPr sz="1400" b="1">
                <a:solidFill>
                  <a:srgbClr val="FFFFFF"/>
                </a:solidFill>
                <a:latin typeface="Calibri"/>
              </a:rPr>
              <a:t>3</a:t>
            </a:r>
          </a:p>
        </p:txBody>
      </p:sp>
      <p:sp>
        <p:nvSpPr>
          <p:cNvPr id="30" name="TextBox 29"/>
          <p:cNvSpPr txBox="1"/>
          <p:nvPr/>
        </p:nvSpPr>
        <p:spPr>
          <a:xfrm>
            <a:off x="1216152" y="3355848"/>
            <a:ext cx="4572000" cy="457200"/>
          </a:xfrm>
          <a:prstGeom prst="rect">
            <a:avLst/>
          </a:prstGeom>
          <a:noFill/>
        </p:spPr>
        <p:txBody>
          <a:bodyPr wrap="square">
            <a:spAutoFit/>
          </a:bodyPr>
          <a:lstStyle/>
          <a:p>
            <a:pPr algn="l"/>
            <a:r>
              <a:rPr sz="1500" b="1">
                <a:solidFill>
                  <a:srgbClr val="0A2A6E"/>
                </a:solidFill>
                <a:latin typeface="Calibri"/>
              </a:rPr>
              <a:t>I will call you tonight.</a:t>
            </a:r>
          </a:p>
        </p:txBody>
      </p:sp>
      <p:sp>
        <p:nvSpPr>
          <p:cNvPr id="31" name="TextBox 30"/>
          <p:cNvSpPr txBox="1"/>
          <p:nvPr/>
        </p:nvSpPr>
        <p:spPr>
          <a:xfrm>
            <a:off x="1216152" y="3831336"/>
            <a:ext cx="2743200" cy="292608"/>
          </a:xfrm>
          <a:prstGeom prst="rect">
            <a:avLst/>
          </a:prstGeom>
          <a:noFill/>
        </p:spPr>
        <p:txBody>
          <a:bodyPr wrap="square">
            <a:spAutoFit/>
          </a:bodyPr>
          <a:lstStyle/>
          <a:p>
            <a:pPr algn="l"/>
            <a:r>
              <a:rPr sz="1100" b="0">
                <a:solidFill>
                  <a:srgbClr val="64748B"/>
                </a:solidFill>
                <a:latin typeface="Calibri"/>
              </a:rPr>
              <a:t>will + tonight 🚦</a:t>
            </a:r>
          </a:p>
        </p:txBody>
      </p:sp>
      <p:sp>
        <p:nvSpPr>
          <p:cNvPr id="32" name="TextBox 31"/>
          <p:cNvSpPr txBox="1"/>
          <p:nvPr/>
        </p:nvSpPr>
        <p:spPr>
          <a:xfrm>
            <a:off x="4160519" y="3831336"/>
            <a:ext cx="1645920" cy="292608"/>
          </a:xfrm>
          <a:prstGeom prst="rect">
            <a:avLst/>
          </a:prstGeom>
          <a:noFill/>
        </p:spPr>
        <p:txBody>
          <a:bodyPr wrap="square">
            <a:spAutoFit/>
          </a:bodyPr>
          <a:lstStyle/>
          <a:p>
            <a:pPr algn="l"/>
            <a:r>
              <a:rPr sz="1200" b="1">
                <a:solidFill>
                  <a:srgbClr val="009688"/>
                </a:solidFill>
                <a:latin typeface="Calibri"/>
              </a:rPr>
              <a:t>Tense: ______</a:t>
            </a:r>
          </a:p>
        </p:txBody>
      </p:sp>
      <p:sp>
        <p:nvSpPr>
          <p:cNvPr id="33" name="Rounded Rectangle 32"/>
          <p:cNvSpPr/>
          <p:nvPr/>
        </p:nvSpPr>
        <p:spPr>
          <a:xfrm>
            <a:off x="621792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82512" y="3557016"/>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2512" y="3630168"/>
            <a:ext cx="502920" cy="365760"/>
          </a:xfrm>
          <a:prstGeom prst="rect">
            <a:avLst/>
          </a:prstGeom>
          <a:noFill/>
        </p:spPr>
        <p:txBody>
          <a:bodyPr wrap="square">
            <a:spAutoFit/>
          </a:bodyPr>
          <a:lstStyle/>
          <a:p>
            <a:pPr algn="ctr"/>
            <a:r>
              <a:rPr sz="1400" b="1">
                <a:solidFill>
                  <a:srgbClr val="FFFFFF"/>
                </a:solidFill>
                <a:latin typeface="Calibri"/>
              </a:rPr>
              <a:t>4</a:t>
            </a:r>
          </a:p>
        </p:txBody>
      </p:sp>
      <p:sp>
        <p:nvSpPr>
          <p:cNvPr id="36" name="TextBox 35"/>
          <p:cNvSpPr txBox="1"/>
          <p:nvPr/>
        </p:nvSpPr>
        <p:spPr>
          <a:xfrm>
            <a:off x="7022592" y="3355848"/>
            <a:ext cx="4572000" cy="457200"/>
          </a:xfrm>
          <a:prstGeom prst="rect">
            <a:avLst/>
          </a:prstGeom>
          <a:noFill/>
        </p:spPr>
        <p:txBody>
          <a:bodyPr wrap="square">
            <a:spAutoFit/>
          </a:bodyPr>
          <a:lstStyle/>
          <a:p>
            <a:pPr algn="l"/>
            <a:r>
              <a:rPr sz="1500" b="1">
                <a:solidFill>
                  <a:srgbClr val="0A2A6E"/>
                </a:solidFill>
                <a:latin typeface="Calibri"/>
              </a:rPr>
              <a:t>Diego walks to school every day.</a:t>
            </a:r>
          </a:p>
        </p:txBody>
      </p:sp>
      <p:sp>
        <p:nvSpPr>
          <p:cNvPr id="37" name="TextBox 36"/>
          <p:cNvSpPr txBox="1"/>
          <p:nvPr/>
        </p:nvSpPr>
        <p:spPr>
          <a:xfrm>
            <a:off x="7022592" y="3831336"/>
            <a:ext cx="2743200" cy="292608"/>
          </a:xfrm>
          <a:prstGeom prst="rect">
            <a:avLst/>
          </a:prstGeom>
          <a:noFill/>
        </p:spPr>
        <p:txBody>
          <a:bodyPr wrap="square">
            <a:spAutoFit/>
          </a:bodyPr>
          <a:lstStyle/>
          <a:p>
            <a:pPr algn="l"/>
            <a:r>
              <a:rPr sz="1100" b="0">
                <a:solidFill>
                  <a:srgbClr val="64748B"/>
                </a:solidFill>
                <a:latin typeface="Calibri"/>
              </a:rPr>
              <a:t>every day 🚦</a:t>
            </a:r>
          </a:p>
        </p:txBody>
      </p:sp>
      <p:sp>
        <p:nvSpPr>
          <p:cNvPr id="38" name="TextBox 37"/>
          <p:cNvSpPr txBox="1"/>
          <p:nvPr/>
        </p:nvSpPr>
        <p:spPr>
          <a:xfrm>
            <a:off x="9966959" y="3831336"/>
            <a:ext cx="1645920" cy="292608"/>
          </a:xfrm>
          <a:prstGeom prst="rect">
            <a:avLst/>
          </a:prstGeom>
          <a:noFill/>
        </p:spPr>
        <p:txBody>
          <a:bodyPr wrap="square">
            <a:spAutoFit/>
          </a:bodyPr>
          <a:lstStyle/>
          <a:p>
            <a:pPr algn="l"/>
            <a:r>
              <a:rPr sz="1200" b="1">
                <a:solidFill>
                  <a:srgbClr val="009688"/>
                </a:solidFill>
                <a:latin typeface="Calibri"/>
              </a:rPr>
              <a:t>Tense: ______</a:t>
            </a:r>
          </a:p>
        </p:txBody>
      </p:sp>
      <p:sp>
        <p:nvSpPr>
          <p:cNvPr id="39" name="Rounded Rectangle 38"/>
          <p:cNvSpPr/>
          <p:nvPr/>
        </p:nvSpPr>
        <p:spPr>
          <a:xfrm>
            <a:off x="41148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76072" y="5038344"/>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6072" y="5111496"/>
            <a:ext cx="502920" cy="365760"/>
          </a:xfrm>
          <a:prstGeom prst="rect">
            <a:avLst/>
          </a:prstGeom>
          <a:noFill/>
        </p:spPr>
        <p:txBody>
          <a:bodyPr wrap="square">
            <a:spAutoFit/>
          </a:bodyPr>
          <a:lstStyle/>
          <a:p>
            <a:pPr algn="ctr"/>
            <a:r>
              <a:rPr sz="1400" b="1">
                <a:solidFill>
                  <a:srgbClr val="FFFFFF"/>
                </a:solidFill>
                <a:latin typeface="Calibri"/>
              </a:rPr>
              <a:t>5</a:t>
            </a:r>
          </a:p>
        </p:txBody>
      </p:sp>
      <p:sp>
        <p:nvSpPr>
          <p:cNvPr id="42" name="TextBox 41"/>
          <p:cNvSpPr txBox="1"/>
          <p:nvPr/>
        </p:nvSpPr>
        <p:spPr>
          <a:xfrm>
            <a:off x="1216152" y="4837176"/>
            <a:ext cx="4572000" cy="457200"/>
          </a:xfrm>
          <a:prstGeom prst="rect">
            <a:avLst/>
          </a:prstGeom>
          <a:noFill/>
        </p:spPr>
        <p:txBody>
          <a:bodyPr wrap="square">
            <a:spAutoFit/>
          </a:bodyPr>
          <a:lstStyle/>
          <a:p>
            <a:pPr algn="l"/>
            <a:r>
              <a:rPr sz="1500" b="1">
                <a:solidFill>
                  <a:srgbClr val="0A2A6E"/>
                </a:solidFill>
                <a:latin typeface="Calibri"/>
              </a:rPr>
              <a:t>We were watching the nest at midnight.</a:t>
            </a:r>
          </a:p>
        </p:txBody>
      </p:sp>
      <p:sp>
        <p:nvSpPr>
          <p:cNvPr id="43" name="TextBox 42"/>
          <p:cNvSpPr txBox="1"/>
          <p:nvPr/>
        </p:nvSpPr>
        <p:spPr>
          <a:xfrm>
            <a:off x="1216152" y="5312664"/>
            <a:ext cx="2743200" cy="292608"/>
          </a:xfrm>
          <a:prstGeom prst="rect">
            <a:avLst/>
          </a:prstGeom>
          <a:noFill/>
        </p:spPr>
        <p:txBody>
          <a:bodyPr wrap="square">
            <a:spAutoFit/>
          </a:bodyPr>
          <a:lstStyle/>
          <a:p>
            <a:pPr algn="l"/>
            <a:r>
              <a:rPr sz="1100" b="0">
                <a:solidFill>
                  <a:srgbClr val="64748B"/>
                </a:solidFill>
                <a:latin typeface="Calibri"/>
              </a:rPr>
              <a:t>was/were + -ing 🚦</a:t>
            </a:r>
          </a:p>
        </p:txBody>
      </p:sp>
      <p:sp>
        <p:nvSpPr>
          <p:cNvPr id="44" name="TextBox 43"/>
          <p:cNvSpPr txBox="1"/>
          <p:nvPr/>
        </p:nvSpPr>
        <p:spPr>
          <a:xfrm>
            <a:off x="4160519" y="5312664"/>
            <a:ext cx="1645920" cy="292608"/>
          </a:xfrm>
          <a:prstGeom prst="rect">
            <a:avLst/>
          </a:prstGeom>
          <a:noFill/>
        </p:spPr>
        <p:txBody>
          <a:bodyPr wrap="square">
            <a:spAutoFit/>
          </a:bodyPr>
          <a:lstStyle/>
          <a:p>
            <a:pPr algn="l"/>
            <a:r>
              <a:rPr sz="1200" b="1">
                <a:solidFill>
                  <a:srgbClr val="009688"/>
                </a:solidFill>
                <a:latin typeface="Calibri"/>
              </a:rPr>
              <a:t>Tense: ______</a:t>
            </a:r>
          </a:p>
        </p:txBody>
      </p:sp>
      <p:sp>
        <p:nvSpPr>
          <p:cNvPr id="45" name="Rounded Rectangle 44"/>
          <p:cNvSpPr/>
          <p:nvPr/>
        </p:nvSpPr>
        <p:spPr>
          <a:xfrm>
            <a:off x="621792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82512" y="5038344"/>
            <a:ext cx="502920" cy="50292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82512" y="5111496"/>
            <a:ext cx="502920" cy="365760"/>
          </a:xfrm>
          <a:prstGeom prst="rect">
            <a:avLst/>
          </a:prstGeom>
          <a:noFill/>
        </p:spPr>
        <p:txBody>
          <a:bodyPr wrap="square">
            <a:spAutoFit/>
          </a:bodyPr>
          <a:lstStyle/>
          <a:p>
            <a:pPr algn="ctr"/>
            <a:r>
              <a:rPr sz="1400" b="1">
                <a:solidFill>
                  <a:srgbClr val="FFFFFF"/>
                </a:solidFill>
                <a:latin typeface="Calibri"/>
              </a:rPr>
              <a:t>6</a:t>
            </a:r>
          </a:p>
        </p:txBody>
      </p:sp>
      <p:sp>
        <p:nvSpPr>
          <p:cNvPr id="48" name="TextBox 47"/>
          <p:cNvSpPr txBox="1"/>
          <p:nvPr/>
        </p:nvSpPr>
        <p:spPr>
          <a:xfrm>
            <a:off x="7022592" y="4837176"/>
            <a:ext cx="4572000" cy="457200"/>
          </a:xfrm>
          <a:prstGeom prst="rect">
            <a:avLst/>
          </a:prstGeom>
          <a:noFill/>
        </p:spPr>
        <p:txBody>
          <a:bodyPr wrap="square">
            <a:spAutoFit/>
          </a:bodyPr>
          <a:lstStyle/>
          <a:p>
            <a:pPr algn="l"/>
            <a:r>
              <a:rPr sz="1500" b="1">
                <a:solidFill>
                  <a:srgbClr val="0A2A6E"/>
                </a:solidFill>
                <a:latin typeface="Calibri"/>
              </a:rPr>
              <a:t>Maya does not like bright lights.</a:t>
            </a:r>
          </a:p>
        </p:txBody>
      </p:sp>
      <p:sp>
        <p:nvSpPr>
          <p:cNvPr id="49" name="TextBox 48"/>
          <p:cNvSpPr txBox="1"/>
          <p:nvPr/>
        </p:nvSpPr>
        <p:spPr>
          <a:xfrm>
            <a:off x="7022592" y="5312664"/>
            <a:ext cx="2743200" cy="292608"/>
          </a:xfrm>
          <a:prstGeom prst="rect">
            <a:avLst/>
          </a:prstGeom>
          <a:noFill/>
        </p:spPr>
        <p:txBody>
          <a:bodyPr wrap="square">
            <a:spAutoFit/>
          </a:bodyPr>
          <a:lstStyle/>
          <a:p>
            <a:pPr algn="l"/>
            <a:r>
              <a:rPr sz="1100" b="0">
                <a:solidFill>
                  <a:srgbClr val="64748B"/>
                </a:solidFill>
                <a:latin typeface="Calibri"/>
              </a:rPr>
              <a:t>does not 🚦</a:t>
            </a:r>
          </a:p>
        </p:txBody>
      </p:sp>
      <p:sp>
        <p:nvSpPr>
          <p:cNvPr id="50" name="TextBox 49"/>
          <p:cNvSpPr txBox="1"/>
          <p:nvPr/>
        </p:nvSpPr>
        <p:spPr>
          <a:xfrm>
            <a:off x="9966959" y="5312664"/>
            <a:ext cx="1645920" cy="292608"/>
          </a:xfrm>
          <a:prstGeom prst="rect">
            <a:avLst/>
          </a:prstGeom>
          <a:noFill/>
        </p:spPr>
        <p:txBody>
          <a:bodyPr wrap="square">
            <a:spAutoFit/>
          </a:bodyPr>
          <a:lstStyle/>
          <a:p>
            <a:pPr algn="l"/>
            <a:r>
              <a:rPr sz="1200" b="1">
                <a:solidFill>
                  <a:srgbClr val="009688"/>
                </a:solidFill>
                <a:latin typeface="Calibri"/>
              </a:rPr>
              <a:t>Tense: ______</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35–47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Tense Game 2: Fix the Sentence!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8237631"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 game  |  35–47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25 / 37</a:t>
            </a:r>
          </a:p>
        </p:txBody>
      </p:sp>
      <p:sp>
        <p:nvSpPr>
          <p:cNvPr id="14" name="TextBox 13"/>
          <p:cNvSpPr txBox="1"/>
          <p:nvPr/>
        </p:nvSpPr>
        <p:spPr>
          <a:xfrm>
            <a:off x="411480" y="1207008"/>
            <a:ext cx="11338560" cy="365760"/>
          </a:xfrm>
          <a:prstGeom prst="rect">
            <a:avLst/>
          </a:prstGeom>
          <a:noFill/>
        </p:spPr>
        <p:txBody>
          <a:bodyPr wrap="square">
            <a:spAutoFit/>
          </a:bodyPr>
          <a:lstStyle/>
          <a:p>
            <a:pPr algn="l"/>
            <a:r>
              <a:rPr sz="1500" b="1">
                <a:solidFill>
                  <a:srgbClr val="FF6F61"/>
                </a:solidFill>
                <a:latin typeface="Calibri"/>
              </a:rPr>
              <a:t>Each sentence has ONE broken word. Can you repair it? 🛠️</a:t>
            </a:r>
          </a:p>
        </p:txBody>
      </p:sp>
      <p:sp>
        <p:nvSpPr>
          <p:cNvPr id="15" name="Rounded Rectangle 14"/>
          <p:cNvSpPr/>
          <p:nvPr/>
        </p:nvSpPr>
        <p:spPr>
          <a:xfrm>
            <a:off x="41148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1828800"/>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847088"/>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18" name="TextBox 17"/>
          <p:cNvSpPr txBox="1"/>
          <p:nvPr/>
        </p:nvSpPr>
        <p:spPr>
          <a:xfrm>
            <a:off x="1325880" y="1819656"/>
            <a:ext cx="4480560" cy="411480"/>
          </a:xfrm>
          <a:prstGeom prst="rect">
            <a:avLst/>
          </a:prstGeom>
          <a:noFill/>
        </p:spPr>
        <p:txBody>
          <a:bodyPr wrap="square">
            <a:spAutoFit/>
          </a:bodyPr>
          <a:lstStyle/>
          <a:p>
            <a:pPr algn="l"/>
            <a:r>
              <a:rPr sz="1500" b="1">
                <a:solidFill>
                  <a:srgbClr val="1F2937"/>
                </a:solidFill>
                <a:latin typeface="Calibri"/>
              </a:rPr>
              <a:t>Yesterday, I go to the park.</a:t>
            </a:r>
          </a:p>
        </p:txBody>
      </p:sp>
      <p:sp>
        <p:nvSpPr>
          <p:cNvPr id="19" name="Rounded Rectangle 18"/>
          <p:cNvSpPr/>
          <p:nvPr/>
        </p:nvSpPr>
        <p:spPr>
          <a:xfrm>
            <a:off x="548640" y="2350008"/>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368296"/>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21" name="TextBox 20"/>
          <p:cNvSpPr txBox="1"/>
          <p:nvPr/>
        </p:nvSpPr>
        <p:spPr>
          <a:xfrm>
            <a:off x="1325880" y="2350008"/>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
        <p:nvSpPr>
          <p:cNvPr id="22" name="Rounded Rectangle 21"/>
          <p:cNvSpPr/>
          <p:nvPr/>
        </p:nvSpPr>
        <p:spPr>
          <a:xfrm>
            <a:off x="621792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55080" y="1828800"/>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847088"/>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25" name="TextBox 24"/>
          <p:cNvSpPr txBox="1"/>
          <p:nvPr/>
        </p:nvSpPr>
        <p:spPr>
          <a:xfrm>
            <a:off x="7132320" y="1819656"/>
            <a:ext cx="4480560" cy="411480"/>
          </a:xfrm>
          <a:prstGeom prst="rect">
            <a:avLst/>
          </a:prstGeom>
          <a:noFill/>
        </p:spPr>
        <p:txBody>
          <a:bodyPr wrap="square">
            <a:spAutoFit/>
          </a:bodyPr>
          <a:lstStyle/>
          <a:p>
            <a:pPr algn="l"/>
            <a:r>
              <a:rPr sz="1500" b="1">
                <a:solidFill>
                  <a:srgbClr val="1F2937"/>
                </a:solidFill>
                <a:latin typeface="Calibri"/>
              </a:rPr>
              <a:t>She are reading a book.</a:t>
            </a:r>
          </a:p>
        </p:txBody>
      </p:sp>
      <p:sp>
        <p:nvSpPr>
          <p:cNvPr id="26" name="Rounded Rectangle 25"/>
          <p:cNvSpPr/>
          <p:nvPr/>
        </p:nvSpPr>
        <p:spPr>
          <a:xfrm>
            <a:off x="6355080" y="2350008"/>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368296"/>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28" name="TextBox 27"/>
          <p:cNvSpPr txBox="1"/>
          <p:nvPr/>
        </p:nvSpPr>
        <p:spPr>
          <a:xfrm>
            <a:off x="7132320" y="2350008"/>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
        <p:nvSpPr>
          <p:cNvPr id="29" name="Rounded Rectangle 28"/>
          <p:cNvSpPr/>
          <p:nvPr/>
        </p:nvSpPr>
        <p:spPr>
          <a:xfrm>
            <a:off x="41148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3310128"/>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328416"/>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32" name="TextBox 31"/>
          <p:cNvSpPr txBox="1"/>
          <p:nvPr/>
        </p:nvSpPr>
        <p:spPr>
          <a:xfrm>
            <a:off x="1325880" y="3300984"/>
            <a:ext cx="4480560" cy="411480"/>
          </a:xfrm>
          <a:prstGeom prst="rect">
            <a:avLst/>
          </a:prstGeom>
          <a:noFill/>
        </p:spPr>
        <p:txBody>
          <a:bodyPr wrap="square">
            <a:spAutoFit/>
          </a:bodyPr>
          <a:lstStyle/>
          <a:p>
            <a:pPr algn="l"/>
            <a:r>
              <a:rPr sz="1500" b="1">
                <a:solidFill>
                  <a:srgbClr val="1F2937"/>
                </a:solidFill>
                <a:latin typeface="Calibri"/>
              </a:rPr>
              <a:t>Tomorrow we goes to the beach.</a:t>
            </a:r>
          </a:p>
        </p:txBody>
      </p:sp>
      <p:sp>
        <p:nvSpPr>
          <p:cNvPr id="33" name="Rounded Rectangle 32"/>
          <p:cNvSpPr/>
          <p:nvPr/>
        </p:nvSpPr>
        <p:spPr>
          <a:xfrm>
            <a:off x="548640" y="3831336"/>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849624"/>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35" name="TextBox 34"/>
          <p:cNvSpPr txBox="1"/>
          <p:nvPr/>
        </p:nvSpPr>
        <p:spPr>
          <a:xfrm>
            <a:off x="1325880" y="3831336"/>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
        <p:nvSpPr>
          <p:cNvPr id="36" name="Rounded Rectangle 35"/>
          <p:cNvSpPr/>
          <p:nvPr/>
        </p:nvSpPr>
        <p:spPr>
          <a:xfrm>
            <a:off x="621792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55080" y="3310128"/>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328416"/>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39" name="TextBox 38"/>
          <p:cNvSpPr txBox="1"/>
          <p:nvPr/>
        </p:nvSpPr>
        <p:spPr>
          <a:xfrm>
            <a:off x="7132320" y="3300984"/>
            <a:ext cx="4480560" cy="411480"/>
          </a:xfrm>
          <a:prstGeom prst="rect">
            <a:avLst/>
          </a:prstGeom>
          <a:noFill/>
        </p:spPr>
        <p:txBody>
          <a:bodyPr wrap="square">
            <a:spAutoFit/>
          </a:bodyPr>
          <a:lstStyle/>
          <a:p>
            <a:pPr algn="l"/>
            <a:r>
              <a:rPr sz="1500" b="1">
                <a:solidFill>
                  <a:srgbClr val="1F2937"/>
                </a:solidFill>
                <a:latin typeface="Calibri"/>
              </a:rPr>
              <a:t>He didn't went home.</a:t>
            </a:r>
          </a:p>
        </p:txBody>
      </p:sp>
      <p:sp>
        <p:nvSpPr>
          <p:cNvPr id="40" name="Rounded Rectangle 39"/>
          <p:cNvSpPr/>
          <p:nvPr/>
        </p:nvSpPr>
        <p:spPr>
          <a:xfrm>
            <a:off x="6355080" y="3831336"/>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849624"/>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42" name="TextBox 41"/>
          <p:cNvSpPr txBox="1"/>
          <p:nvPr/>
        </p:nvSpPr>
        <p:spPr>
          <a:xfrm>
            <a:off x="7132320" y="3831336"/>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
        <p:nvSpPr>
          <p:cNvPr id="43" name="Rounded Rectangle 42"/>
          <p:cNvSpPr/>
          <p:nvPr/>
        </p:nvSpPr>
        <p:spPr>
          <a:xfrm>
            <a:off x="41148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48640" y="4791456"/>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4809744"/>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46" name="TextBox 45"/>
          <p:cNvSpPr txBox="1"/>
          <p:nvPr/>
        </p:nvSpPr>
        <p:spPr>
          <a:xfrm>
            <a:off x="1325880" y="4782312"/>
            <a:ext cx="4480560" cy="411480"/>
          </a:xfrm>
          <a:prstGeom prst="rect">
            <a:avLst/>
          </a:prstGeom>
          <a:noFill/>
        </p:spPr>
        <p:txBody>
          <a:bodyPr wrap="square">
            <a:spAutoFit/>
          </a:bodyPr>
          <a:lstStyle/>
          <a:p>
            <a:pPr algn="l"/>
            <a:r>
              <a:rPr sz="1500" b="1">
                <a:solidFill>
                  <a:srgbClr val="1F2937"/>
                </a:solidFill>
                <a:latin typeface="Calibri"/>
              </a:rPr>
              <a:t>I am knowing the answer.</a:t>
            </a:r>
          </a:p>
        </p:txBody>
      </p:sp>
      <p:sp>
        <p:nvSpPr>
          <p:cNvPr id="47" name="Rounded Rectangle 46"/>
          <p:cNvSpPr/>
          <p:nvPr/>
        </p:nvSpPr>
        <p:spPr>
          <a:xfrm>
            <a:off x="548640" y="5312664"/>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330952"/>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49" name="TextBox 48"/>
          <p:cNvSpPr txBox="1"/>
          <p:nvPr/>
        </p:nvSpPr>
        <p:spPr>
          <a:xfrm>
            <a:off x="1325880" y="5312664"/>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
        <p:nvSpPr>
          <p:cNvPr id="50" name="Rounded Rectangle 49"/>
          <p:cNvSpPr/>
          <p:nvPr/>
        </p:nvSpPr>
        <p:spPr>
          <a:xfrm>
            <a:off x="621792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355080" y="4791456"/>
            <a:ext cx="685800" cy="292608"/>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4809744"/>
            <a:ext cx="685800" cy="274320"/>
          </a:xfrm>
          <a:prstGeom prst="rect">
            <a:avLst/>
          </a:prstGeom>
          <a:noFill/>
        </p:spPr>
        <p:txBody>
          <a:bodyPr wrap="square">
            <a:spAutoFit/>
          </a:bodyPr>
          <a:lstStyle/>
          <a:p>
            <a:pPr algn="ctr"/>
            <a:r>
              <a:rPr sz="900" b="1">
                <a:solidFill>
                  <a:srgbClr val="FF6F61"/>
                </a:solidFill>
                <a:latin typeface="Calibri"/>
              </a:rPr>
              <a:t>❌ BROKEN</a:t>
            </a:r>
          </a:p>
        </p:txBody>
      </p:sp>
      <p:sp>
        <p:nvSpPr>
          <p:cNvPr id="53" name="TextBox 52"/>
          <p:cNvSpPr txBox="1"/>
          <p:nvPr/>
        </p:nvSpPr>
        <p:spPr>
          <a:xfrm>
            <a:off x="7132320" y="4782312"/>
            <a:ext cx="4480560" cy="411480"/>
          </a:xfrm>
          <a:prstGeom prst="rect">
            <a:avLst/>
          </a:prstGeom>
          <a:noFill/>
        </p:spPr>
        <p:txBody>
          <a:bodyPr wrap="square">
            <a:spAutoFit/>
          </a:bodyPr>
          <a:lstStyle/>
          <a:p>
            <a:pPr algn="l"/>
            <a:r>
              <a:rPr sz="1500" b="1">
                <a:solidFill>
                  <a:srgbClr val="1F2937"/>
                </a:solidFill>
                <a:latin typeface="Calibri"/>
              </a:rPr>
              <a:t>While I slept, the phone was ring.</a:t>
            </a:r>
          </a:p>
        </p:txBody>
      </p:sp>
      <p:sp>
        <p:nvSpPr>
          <p:cNvPr id="54" name="Rounded Rectangle 53"/>
          <p:cNvSpPr/>
          <p:nvPr/>
        </p:nvSpPr>
        <p:spPr>
          <a:xfrm>
            <a:off x="6355080" y="5312664"/>
            <a:ext cx="68580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5330952"/>
            <a:ext cx="685800" cy="274320"/>
          </a:xfrm>
          <a:prstGeom prst="rect">
            <a:avLst/>
          </a:prstGeom>
          <a:noFill/>
        </p:spPr>
        <p:txBody>
          <a:bodyPr wrap="square">
            <a:spAutoFit/>
          </a:bodyPr>
          <a:lstStyle/>
          <a:p>
            <a:pPr algn="ctr"/>
            <a:r>
              <a:rPr sz="900" b="1">
                <a:solidFill>
                  <a:srgbClr val="2E7D32"/>
                </a:solidFill>
                <a:latin typeface="Calibri"/>
              </a:rPr>
              <a:t>✅ FIXED</a:t>
            </a:r>
          </a:p>
        </p:txBody>
      </p:sp>
      <p:sp>
        <p:nvSpPr>
          <p:cNvPr id="56" name="TextBox 55"/>
          <p:cNvSpPr txBox="1"/>
          <p:nvPr/>
        </p:nvSpPr>
        <p:spPr>
          <a:xfrm>
            <a:off x="7132320" y="5312664"/>
            <a:ext cx="4480560" cy="411480"/>
          </a:xfrm>
          <a:prstGeom prst="rect">
            <a:avLst/>
          </a:prstGeom>
          <a:noFill/>
        </p:spPr>
        <p:txBody>
          <a:bodyPr wrap="square">
            <a:spAutoFit/>
          </a:bodyPr>
          <a:lstStyle/>
          <a:p>
            <a:pPr algn="l"/>
            <a:r>
              <a:rPr sz="1400" b="0">
                <a:solidFill>
                  <a:srgbClr val="64748B"/>
                </a:solidFill>
                <a:latin typeface="Calibri"/>
              </a:rPr>
              <a:t>______________________________</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35–47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Tense Games 3 &amp; 4: Time Travel + Sorting</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8567137"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 game  |  35–47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26 / 37</a:t>
            </a:r>
          </a:p>
        </p:txBody>
      </p:sp>
      <p:sp>
        <p:nvSpPr>
          <p:cNvPr id="14" name="Rounded Rectangle 13"/>
          <p:cNvSpPr/>
          <p:nvPr/>
        </p:nvSpPr>
        <p:spPr>
          <a:xfrm>
            <a:off x="411480" y="1234440"/>
            <a:ext cx="5577840" cy="484632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417320"/>
            <a:ext cx="5120640" cy="365760"/>
          </a:xfrm>
          <a:prstGeom prst="rect">
            <a:avLst/>
          </a:prstGeom>
          <a:noFill/>
        </p:spPr>
        <p:txBody>
          <a:bodyPr wrap="square">
            <a:spAutoFit/>
          </a:bodyPr>
          <a:lstStyle/>
          <a:p>
            <a:pPr algn="l"/>
            <a:r>
              <a:rPr sz="1600" b="1">
                <a:solidFill>
                  <a:srgbClr val="7E57C2"/>
                </a:solidFill>
                <a:latin typeface="Calibri"/>
              </a:rPr>
              <a:t>🚀 GAME 3: Time Travel</a:t>
            </a:r>
          </a:p>
        </p:txBody>
      </p:sp>
      <p:sp>
        <p:nvSpPr>
          <p:cNvPr id="16" name="TextBox 15"/>
          <p:cNvSpPr txBox="1"/>
          <p:nvPr/>
        </p:nvSpPr>
        <p:spPr>
          <a:xfrm>
            <a:off x="640080" y="1828800"/>
            <a:ext cx="5120640" cy="365760"/>
          </a:xfrm>
          <a:prstGeom prst="rect">
            <a:avLst/>
          </a:prstGeom>
          <a:noFill/>
        </p:spPr>
        <p:txBody>
          <a:bodyPr wrap="square">
            <a:spAutoFit/>
          </a:bodyPr>
          <a:lstStyle/>
          <a:p>
            <a:pPr algn="l"/>
            <a:r>
              <a:rPr sz="1400" b="1">
                <a:solidFill>
                  <a:srgbClr val="0A2A6E"/>
                </a:solidFill>
                <a:latin typeface="Calibri"/>
              </a:rPr>
              <a:t>Base sentence:  "Maya helps the turtles."</a:t>
            </a:r>
          </a:p>
        </p:txBody>
      </p:sp>
      <p:sp>
        <p:nvSpPr>
          <p:cNvPr id="17" name="Rounded Rectangle 16"/>
          <p:cNvSpPr/>
          <p:nvPr/>
        </p:nvSpPr>
        <p:spPr>
          <a:xfrm>
            <a:off x="640080" y="2331720"/>
            <a:ext cx="507492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2478024"/>
            <a:ext cx="1463040" cy="310896"/>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496312"/>
            <a:ext cx="1463040" cy="274320"/>
          </a:xfrm>
          <a:prstGeom prst="rect">
            <a:avLst/>
          </a:prstGeom>
          <a:noFill/>
        </p:spPr>
        <p:txBody>
          <a:bodyPr wrap="square">
            <a:spAutoFit/>
          </a:bodyPr>
          <a:lstStyle/>
          <a:p>
            <a:pPr algn="ctr"/>
            <a:r>
              <a:rPr sz="1000" b="1">
                <a:solidFill>
                  <a:srgbClr val="FFFFFF"/>
                </a:solidFill>
                <a:latin typeface="Calibri"/>
              </a:rPr>
              <a:t>YESTERDAY</a:t>
            </a:r>
          </a:p>
        </p:txBody>
      </p:sp>
      <p:sp>
        <p:nvSpPr>
          <p:cNvPr id="20" name="TextBox 19"/>
          <p:cNvSpPr txBox="1"/>
          <p:nvPr/>
        </p:nvSpPr>
        <p:spPr>
          <a:xfrm>
            <a:off x="804672" y="2880360"/>
            <a:ext cx="4754880" cy="365760"/>
          </a:xfrm>
          <a:prstGeom prst="rect">
            <a:avLst/>
          </a:prstGeom>
          <a:noFill/>
        </p:spPr>
        <p:txBody>
          <a:bodyPr wrap="square">
            <a:spAutoFit/>
          </a:bodyPr>
          <a:lstStyle/>
          <a:p>
            <a:pPr algn="l"/>
            <a:r>
              <a:rPr sz="1500" b="1">
                <a:solidFill>
                  <a:srgbClr val="1F2937"/>
                </a:solidFill>
                <a:latin typeface="Calibri"/>
              </a:rPr>
              <a:t>Maya ______ the turtles.</a:t>
            </a:r>
          </a:p>
        </p:txBody>
      </p:sp>
      <p:sp>
        <p:nvSpPr>
          <p:cNvPr id="21" name="Rounded Rectangle 20"/>
          <p:cNvSpPr/>
          <p:nvPr/>
        </p:nvSpPr>
        <p:spPr>
          <a:xfrm>
            <a:off x="640080" y="3538728"/>
            <a:ext cx="507492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2" y="3685032"/>
            <a:ext cx="1463040" cy="310896"/>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703320"/>
            <a:ext cx="1463040" cy="274320"/>
          </a:xfrm>
          <a:prstGeom prst="rect">
            <a:avLst/>
          </a:prstGeom>
          <a:noFill/>
        </p:spPr>
        <p:txBody>
          <a:bodyPr wrap="square">
            <a:spAutoFit/>
          </a:bodyPr>
          <a:lstStyle/>
          <a:p>
            <a:pPr algn="ctr"/>
            <a:r>
              <a:rPr sz="1000" b="1">
                <a:solidFill>
                  <a:srgbClr val="FFFFFF"/>
                </a:solidFill>
                <a:latin typeface="Calibri"/>
              </a:rPr>
              <a:t>RIGHT NOW</a:t>
            </a:r>
          </a:p>
        </p:txBody>
      </p:sp>
      <p:sp>
        <p:nvSpPr>
          <p:cNvPr id="24" name="TextBox 23"/>
          <p:cNvSpPr txBox="1"/>
          <p:nvPr/>
        </p:nvSpPr>
        <p:spPr>
          <a:xfrm>
            <a:off x="804672" y="4087368"/>
            <a:ext cx="4754880" cy="365760"/>
          </a:xfrm>
          <a:prstGeom prst="rect">
            <a:avLst/>
          </a:prstGeom>
          <a:noFill/>
        </p:spPr>
        <p:txBody>
          <a:bodyPr wrap="square">
            <a:spAutoFit/>
          </a:bodyPr>
          <a:lstStyle/>
          <a:p>
            <a:pPr algn="l"/>
            <a:r>
              <a:rPr sz="1500" b="1">
                <a:solidFill>
                  <a:srgbClr val="1F2937"/>
                </a:solidFill>
                <a:latin typeface="Calibri"/>
              </a:rPr>
              <a:t>Maya ______ the turtles.</a:t>
            </a:r>
          </a:p>
        </p:txBody>
      </p:sp>
      <p:sp>
        <p:nvSpPr>
          <p:cNvPr id="25" name="Rounded Rectangle 24"/>
          <p:cNvSpPr/>
          <p:nvPr/>
        </p:nvSpPr>
        <p:spPr>
          <a:xfrm>
            <a:off x="640080" y="4745736"/>
            <a:ext cx="507492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 y="4892040"/>
            <a:ext cx="1463040" cy="310896"/>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910328"/>
            <a:ext cx="1463040" cy="274320"/>
          </a:xfrm>
          <a:prstGeom prst="rect">
            <a:avLst/>
          </a:prstGeom>
          <a:noFill/>
        </p:spPr>
        <p:txBody>
          <a:bodyPr wrap="square">
            <a:spAutoFit/>
          </a:bodyPr>
          <a:lstStyle/>
          <a:p>
            <a:pPr algn="ctr"/>
            <a:r>
              <a:rPr sz="1000" b="1">
                <a:solidFill>
                  <a:srgbClr val="FFFFFF"/>
                </a:solidFill>
                <a:latin typeface="Calibri"/>
              </a:rPr>
              <a:t>TOMORROW</a:t>
            </a:r>
          </a:p>
        </p:txBody>
      </p:sp>
      <p:sp>
        <p:nvSpPr>
          <p:cNvPr id="28" name="TextBox 27"/>
          <p:cNvSpPr txBox="1"/>
          <p:nvPr/>
        </p:nvSpPr>
        <p:spPr>
          <a:xfrm>
            <a:off x="804672" y="5294376"/>
            <a:ext cx="4754880" cy="365760"/>
          </a:xfrm>
          <a:prstGeom prst="rect">
            <a:avLst/>
          </a:prstGeom>
          <a:noFill/>
        </p:spPr>
        <p:txBody>
          <a:bodyPr wrap="square">
            <a:spAutoFit/>
          </a:bodyPr>
          <a:lstStyle/>
          <a:p>
            <a:pPr algn="l"/>
            <a:r>
              <a:rPr sz="1500" b="1">
                <a:solidFill>
                  <a:srgbClr val="1F2937"/>
                </a:solidFill>
                <a:latin typeface="Calibri"/>
              </a:rPr>
              <a:t>Maya ______ the turtles.</a:t>
            </a:r>
          </a:p>
        </p:txBody>
      </p:sp>
      <p:sp>
        <p:nvSpPr>
          <p:cNvPr id="29" name="Rounded Rectangle 28"/>
          <p:cNvSpPr/>
          <p:nvPr/>
        </p:nvSpPr>
        <p:spPr>
          <a:xfrm>
            <a:off x="6172200" y="1234440"/>
            <a:ext cx="5577840" cy="4846320"/>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1417320"/>
            <a:ext cx="5120640" cy="365760"/>
          </a:xfrm>
          <a:prstGeom prst="rect">
            <a:avLst/>
          </a:prstGeom>
          <a:noFill/>
        </p:spPr>
        <p:txBody>
          <a:bodyPr wrap="square">
            <a:spAutoFit/>
          </a:bodyPr>
          <a:lstStyle/>
          <a:p>
            <a:pPr algn="l"/>
            <a:r>
              <a:rPr sz="1600" b="1">
                <a:solidFill>
                  <a:srgbClr val="29B6F6"/>
                </a:solidFill>
                <a:latin typeface="Calibri"/>
              </a:rPr>
              <a:t>🗂️ GAME 4: Tense Sorting</a:t>
            </a:r>
          </a:p>
        </p:txBody>
      </p:sp>
      <p:sp>
        <p:nvSpPr>
          <p:cNvPr id="31" name="TextBox 30"/>
          <p:cNvSpPr txBox="1"/>
          <p:nvPr/>
        </p:nvSpPr>
        <p:spPr>
          <a:xfrm>
            <a:off x="6400800" y="1828800"/>
            <a:ext cx="5120640" cy="320040"/>
          </a:xfrm>
          <a:prstGeom prst="rect">
            <a:avLst/>
          </a:prstGeom>
          <a:noFill/>
        </p:spPr>
        <p:txBody>
          <a:bodyPr wrap="square">
            <a:spAutoFit/>
          </a:bodyPr>
          <a:lstStyle/>
          <a:p>
            <a:pPr algn="l"/>
            <a:r>
              <a:rPr sz="1300" b="0">
                <a:solidFill>
                  <a:srgbClr val="1F2937"/>
                </a:solidFill>
                <a:latin typeface="Calibri"/>
              </a:rPr>
              <a:t>Put each sentence in the right box:</a:t>
            </a:r>
          </a:p>
        </p:txBody>
      </p:sp>
      <p:sp>
        <p:nvSpPr>
          <p:cNvPr id="32" name="Rounded Rectangle 31"/>
          <p:cNvSpPr/>
          <p:nvPr/>
        </p:nvSpPr>
        <p:spPr>
          <a:xfrm>
            <a:off x="6400800" y="2240280"/>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331720"/>
            <a:ext cx="3657600" cy="320040"/>
          </a:xfrm>
          <a:prstGeom prst="rect">
            <a:avLst/>
          </a:prstGeom>
          <a:noFill/>
        </p:spPr>
        <p:txBody>
          <a:bodyPr wrap="square">
            <a:spAutoFit/>
          </a:bodyPr>
          <a:lstStyle/>
          <a:p>
            <a:pPr algn="l"/>
            <a:r>
              <a:rPr sz="1300" b="0">
                <a:solidFill>
                  <a:srgbClr val="1F2937"/>
                </a:solidFill>
                <a:latin typeface="Calibri"/>
              </a:rPr>
              <a:t>We will bake a cake.</a:t>
            </a:r>
          </a:p>
        </p:txBody>
      </p:sp>
      <p:sp>
        <p:nvSpPr>
          <p:cNvPr id="34" name="TextBox 33"/>
          <p:cNvSpPr txBox="1"/>
          <p:nvPr/>
        </p:nvSpPr>
        <p:spPr>
          <a:xfrm>
            <a:off x="10241280" y="2331720"/>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35" name="Rounded Rectangle 34"/>
          <p:cNvSpPr/>
          <p:nvPr/>
        </p:nvSpPr>
        <p:spPr>
          <a:xfrm>
            <a:off x="6400800" y="2807208"/>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2898648"/>
            <a:ext cx="3657600" cy="320040"/>
          </a:xfrm>
          <a:prstGeom prst="rect">
            <a:avLst/>
          </a:prstGeom>
          <a:noFill/>
        </p:spPr>
        <p:txBody>
          <a:bodyPr wrap="square">
            <a:spAutoFit/>
          </a:bodyPr>
          <a:lstStyle/>
          <a:p>
            <a:pPr algn="l"/>
            <a:r>
              <a:rPr sz="1300" b="0">
                <a:solidFill>
                  <a:srgbClr val="1F2937"/>
                </a:solidFill>
                <a:latin typeface="Calibri"/>
              </a:rPr>
              <a:t>She danced all night.</a:t>
            </a:r>
          </a:p>
        </p:txBody>
      </p:sp>
      <p:sp>
        <p:nvSpPr>
          <p:cNvPr id="37" name="TextBox 36"/>
          <p:cNvSpPr txBox="1"/>
          <p:nvPr/>
        </p:nvSpPr>
        <p:spPr>
          <a:xfrm>
            <a:off x="10241280" y="2898648"/>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38" name="Rounded Rectangle 37"/>
          <p:cNvSpPr/>
          <p:nvPr/>
        </p:nvSpPr>
        <p:spPr>
          <a:xfrm>
            <a:off x="6400800" y="3374136"/>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3465576"/>
            <a:ext cx="3657600" cy="320040"/>
          </a:xfrm>
          <a:prstGeom prst="rect">
            <a:avLst/>
          </a:prstGeom>
          <a:noFill/>
        </p:spPr>
        <p:txBody>
          <a:bodyPr wrap="square">
            <a:spAutoFit/>
          </a:bodyPr>
          <a:lstStyle/>
          <a:p>
            <a:pPr algn="l"/>
            <a:r>
              <a:rPr sz="1300" b="0">
                <a:solidFill>
                  <a:srgbClr val="1F2937"/>
                </a:solidFill>
                <a:latin typeface="Calibri"/>
              </a:rPr>
              <a:t>He is drawing a turtle.</a:t>
            </a:r>
          </a:p>
        </p:txBody>
      </p:sp>
      <p:sp>
        <p:nvSpPr>
          <p:cNvPr id="40" name="TextBox 39"/>
          <p:cNvSpPr txBox="1"/>
          <p:nvPr/>
        </p:nvSpPr>
        <p:spPr>
          <a:xfrm>
            <a:off x="10241280" y="3465576"/>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41" name="Rounded Rectangle 40"/>
          <p:cNvSpPr/>
          <p:nvPr/>
        </p:nvSpPr>
        <p:spPr>
          <a:xfrm>
            <a:off x="6400800" y="3941064"/>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4032504"/>
            <a:ext cx="3657600" cy="320040"/>
          </a:xfrm>
          <a:prstGeom prst="rect">
            <a:avLst/>
          </a:prstGeom>
          <a:noFill/>
        </p:spPr>
        <p:txBody>
          <a:bodyPr wrap="square">
            <a:spAutoFit/>
          </a:bodyPr>
          <a:lstStyle/>
          <a:p>
            <a:pPr algn="l"/>
            <a:r>
              <a:rPr sz="1300" b="0">
                <a:solidFill>
                  <a:srgbClr val="1F2937"/>
                </a:solidFill>
                <a:latin typeface="Calibri"/>
              </a:rPr>
              <a:t>They visit us every summer.</a:t>
            </a:r>
          </a:p>
        </p:txBody>
      </p:sp>
      <p:sp>
        <p:nvSpPr>
          <p:cNvPr id="43" name="TextBox 42"/>
          <p:cNvSpPr txBox="1"/>
          <p:nvPr/>
        </p:nvSpPr>
        <p:spPr>
          <a:xfrm>
            <a:off x="10241280" y="4032504"/>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44" name="Rounded Rectangle 43"/>
          <p:cNvSpPr/>
          <p:nvPr/>
        </p:nvSpPr>
        <p:spPr>
          <a:xfrm>
            <a:off x="6400800" y="4507992"/>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4599432"/>
            <a:ext cx="3657600" cy="320040"/>
          </a:xfrm>
          <a:prstGeom prst="rect">
            <a:avLst/>
          </a:prstGeom>
          <a:noFill/>
        </p:spPr>
        <p:txBody>
          <a:bodyPr wrap="square">
            <a:spAutoFit/>
          </a:bodyPr>
          <a:lstStyle/>
          <a:p>
            <a:pPr algn="l"/>
            <a:r>
              <a:rPr sz="1300" b="0">
                <a:solidFill>
                  <a:srgbClr val="1F2937"/>
                </a:solidFill>
                <a:latin typeface="Calibri"/>
              </a:rPr>
              <a:t>I was reading at 9 p.m.</a:t>
            </a:r>
          </a:p>
        </p:txBody>
      </p:sp>
      <p:sp>
        <p:nvSpPr>
          <p:cNvPr id="46" name="TextBox 45"/>
          <p:cNvSpPr txBox="1"/>
          <p:nvPr/>
        </p:nvSpPr>
        <p:spPr>
          <a:xfrm>
            <a:off x="10241280" y="4599432"/>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47" name="Rounded Rectangle 46"/>
          <p:cNvSpPr/>
          <p:nvPr/>
        </p:nvSpPr>
        <p:spPr>
          <a:xfrm>
            <a:off x="6400800" y="5074920"/>
            <a:ext cx="512064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5166360"/>
            <a:ext cx="3657600" cy="320040"/>
          </a:xfrm>
          <a:prstGeom prst="rect">
            <a:avLst/>
          </a:prstGeom>
          <a:noFill/>
        </p:spPr>
        <p:txBody>
          <a:bodyPr wrap="square">
            <a:spAutoFit/>
          </a:bodyPr>
          <a:lstStyle/>
          <a:p>
            <a:pPr algn="l"/>
            <a:r>
              <a:rPr sz="1300" b="0">
                <a:solidFill>
                  <a:srgbClr val="1F2937"/>
                </a:solidFill>
                <a:latin typeface="Calibri"/>
              </a:rPr>
              <a:t>The bus arrives at eight.</a:t>
            </a:r>
          </a:p>
        </p:txBody>
      </p:sp>
      <p:sp>
        <p:nvSpPr>
          <p:cNvPr id="49" name="TextBox 48"/>
          <p:cNvSpPr txBox="1"/>
          <p:nvPr/>
        </p:nvSpPr>
        <p:spPr>
          <a:xfrm>
            <a:off x="10241280" y="5166360"/>
            <a:ext cx="1188720" cy="320040"/>
          </a:xfrm>
          <a:prstGeom prst="rect">
            <a:avLst/>
          </a:prstGeom>
          <a:noFill/>
        </p:spPr>
        <p:txBody>
          <a:bodyPr wrap="square">
            <a:spAutoFit/>
          </a:bodyPr>
          <a:lstStyle/>
          <a:p>
            <a:pPr algn="l"/>
            <a:r>
              <a:rPr sz="1300" b="1">
                <a:solidFill>
                  <a:srgbClr val="FF6F61"/>
                </a:solidFill>
                <a:latin typeface="Calibri"/>
              </a:rPr>
              <a:t>____</a:t>
            </a:r>
          </a:p>
        </p:txBody>
      </p:sp>
      <p:sp>
        <p:nvSpPr>
          <p:cNvPr id="50" name="TextBox 49"/>
          <p:cNvSpPr txBox="1"/>
          <p:nvPr/>
        </p:nvSpPr>
        <p:spPr>
          <a:xfrm>
            <a:off x="6400800" y="5669280"/>
            <a:ext cx="5120640" cy="320040"/>
          </a:xfrm>
          <a:prstGeom prst="rect">
            <a:avLst/>
          </a:prstGeom>
          <a:noFill/>
        </p:spPr>
        <p:txBody>
          <a:bodyPr wrap="square">
            <a:spAutoFit/>
          </a:bodyPr>
          <a:lstStyle/>
          <a:p>
            <a:pPr algn="l"/>
            <a:r>
              <a:rPr sz="1200" b="1">
                <a:solidFill>
                  <a:srgbClr val="0A2A6E"/>
                </a:solidFill>
                <a:latin typeface="Calibri"/>
              </a:rPr>
              <a:t>Write P (past), N (now), or F (future)</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GAME</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35–47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Tense Games 5 &amp; 6: Complete It + 60-Second Sprint</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8896642"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Tense game  |  35–47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27 / 37</a:t>
            </a:r>
          </a:p>
        </p:txBody>
      </p:sp>
      <p:sp>
        <p:nvSpPr>
          <p:cNvPr id="14" name="Rounded Rectangle 13"/>
          <p:cNvSpPr/>
          <p:nvPr/>
        </p:nvSpPr>
        <p:spPr>
          <a:xfrm>
            <a:off x="411480" y="1234440"/>
            <a:ext cx="5577840" cy="4846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417320"/>
            <a:ext cx="5120640" cy="365760"/>
          </a:xfrm>
          <a:prstGeom prst="rect">
            <a:avLst/>
          </a:prstGeom>
          <a:noFill/>
        </p:spPr>
        <p:txBody>
          <a:bodyPr wrap="square">
            <a:spAutoFit/>
          </a:bodyPr>
          <a:lstStyle/>
          <a:p>
            <a:pPr algn="l"/>
            <a:r>
              <a:rPr sz="1600" b="1">
                <a:solidFill>
                  <a:srgbClr val="009688"/>
                </a:solidFill>
                <a:latin typeface="Calibri"/>
              </a:rPr>
              <a:t>✅ GAME 5: Complete the Sentence</a:t>
            </a:r>
          </a:p>
        </p:txBody>
      </p:sp>
      <p:sp>
        <p:nvSpPr>
          <p:cNvPr id="16" name="TextBox 15"/>
          <p:cNvSpPr txBox="1"/>
          <p:nvPr/>
        </p:nvSpPr>
        <p:spPr>
          <a:xfrm>
            <a:off x="640080" y="1874519"/>
            <a:ext cx="5120640" cy="320040"/>
          </a:xfrm>
          <a:prstGeom prst="rect">
            <a:avLst/>
          </a:prstGeom>
          <a:noFill/>
        </p:spPr>
        <p:txBody>
          <a:bodyPr wrap="square">
            <a:spAutoFit/>
          </a:bodyPr>
          <a:lstStyle/>
          <a:p>
            <a:pPr algn="l"/>
            <a:r>
              <a:rPr sz="1400" b="1">
                <a:solidFill>
                  <a:srgbClr val="0A2A6E"/>
                </a:solidFill>
                <a:latin typeface="Calibri"/>
              </a:rPr>
              <a:t>1.  Tomorrow I ______ to the zoo.</a:t>
            </a:r>
          </a:p>
        </p:txBody>
      </p:sp>
      <p:sp>
        <p:nvSpPr>
          <p:cNvPr id="17" name="Rounded Rectangle 16"/>
          <p:cNvSpPr/>
          <p:nvPr/>
        </p:nvSpPr>
        <p:spPr>
          <a:xfrm>
            <a:off x="731520" y="2258567"/>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359151"/>
            <a:ext cx="1554480" cy="320040"/>
          </a:xfrm>
          <a:prstGeom prst="rect">
            <a:avLst/>
          </a:prstGeom>
          <a:noFill/>
        </p:spPr>
        <p:txBody>
          <a:bodyPr wrap="square">
            <a:spAutoFit/>
          </a:bodyPr>
          <a:lstStyle/>
          <a:p>
            <a:pPr algn="ctr"/>
            <a:r>
              <a:rPr sz="1100" b="1">
                <a:solidFill>
                  <a:srgbClr val="1F2937"/>
                </a:solidFill>
                <a:latin typeface="Calibri"/>
              </a:rPr>
              <a:t>a) went</a:t>
            </a:r>
          </a:p>
        </p:txBody>
      </p:sp>
      <p:sp>
        <p:nvSpPr>
          <p:cNvPr id="19" name="Rounded Rectangle 18"/>
          <p:cNvSpPr/>
          <p:nvPr/>
        </p:nvSpPr>
        <p:spPr>
          <a:xfrm>
            <a:off x="2423160" y="2258567"/>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23160" y="2359151"/>
            <a:ext cx="1554480" cy="320040"/>
          </a:xfrm>
          <a:prstGeom prst="rect">
            <a:avLst/>
          </a:prstGeom>
          <a:noFill/>
        </p:spPr>
        <p:txBody>
          <a:bodyPr wrap="square">
            <a:spAutoFit/>
          </a:bodyPr>
          <a:lstStyle/>
          <a:p>
            <a:pPr algn="ctr"/>
            <a:r>
              <a:rPr sz="1100" b="1">
                <a:solidFill>
                  <a:srgbClr val="1F2937"/>
                </a:solidFill>
                <a:latin typeface="Calibri"/>
              </a:rPr>
              <a:t>b) go</a:t>
            </a:r>
          </a:p>
        </p:txBody>
      </p:sp>
      <p:sp>
        <p:nvSpPr>
          <p:cNvPr id="21" name="Rounded Rectangle 20"/>
          <p:cNvSpPr/>
          <p:nvPr/>
        </p:nvSpPr>
        <p:spPr>
          <a:xfrm>
            <a:off x="4114800" y="2258567"/>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0" y="2359151"/>
            <a:ext cx="1554480" cy="320040"/>
          </a:xfrm>
          <a:prstGeom prst="rect">
            <a:avLst/>
          </a:prstGeom>
          <a:noFill/>
        </p:spPr>
        <p:txBody>
          <a:bodyPr wrap="square">
            <a:spAutoFit/>
          </a:bodyPr>
          <a:lstStyle/>
          <a:p>
            <a:pPr algn="ctr"/>
            <a:r>
              <a:rPr sz="1100" b="1">
                <a:solidFill>
                  <a:srgbClr val="1F2937"/>
                </a:solidFill>
                <a:latin typeface="Calibri"/>
              </a:rPr>
              <a:t>c) will go</a:t>
            </a:r>
          </a:p>
        </p:txBody>
      </p:sp>
      <p:sp>
        <p:nvSpPr>
          <p:cNvPr id="23" name="TextBox 22"/>
          <p:cNvSpPr txBox="1"/>
          <p:nvPr/>
        </p:nvSpPr>
        <p:spPr>
          <a:xfrm>
            <a:off x="640080" y="2953511"/>
            <a:ext cx="5120640" cy="320040"/>
          </a:xfrm>
          <a:prstGeom prst="rect">
            <a:avLst/>
          </a:prstGeom>
          <a:noFill/>
        </p:spPr>
        <p:txBody>
          <a:bodyPr wrap="square">
            <a:spAutoFit/>
          </a:bodyPr>
          <a:lstStyle/>
          <a:p>
            <a:pPr algn="l"/>
            <a:r>
              <a:rPr sz="1400" b="1">
                <a:solidFill>
                  <a:srgbClr val="0A2A6E"/>
                </a:solidFill>
                <a:latin typeface="Calibri"/>
              </a:rPr>
              <a:t>2.  Right now she ______ her homework.</a:t>
            </a:r>
          </a:p>
        </p:txBody>
      </p:sp>
      <p:sp>
        <p:nvSpPr>
          <p:cNvPr id="24" name="Rounded Rectangle 23"/>
          <p:cNvSpPr/>
          <p:nvPr/>
        </p:nvSpPr>
        <p:spPr>
          <a:xfrm>
            <a:off x="731520" y="3337559"/>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438143"/>
            <a:ext cx="1554480" cy="320040"/>
          </a:xfrm>
          <a:prstGeom prst="rect">
            <a:avLst/>
          </a:prstGeom>
          <a:noFill/>
        </p:spPr>
        <p:txBody>
          <a:bodyPr wrap="square">
            <a:spAutoFit/>
          </a:bodyPr>
          <a:lstStyle/>
          <a:p>
            <a:pPr algn="ctr"/>
            <a:r>
              <a:rPr sz="1100" b="1">
                <a:solidFill>
                  <a:srgbClr val="1F2937"/>
                </a:solidFill>
                <a:latin typeface="Calibri"/>
              </a:rPr>
              <a:t>a) does</a:t>
            </a:r>
          </a:p>
        </p:txBody>
      </p:sp>
      <p:sp>
        <p:nvSpPr>
          <p:cNvPr id="26" name="Rounded Rectangle 25"/>
          <p:cNvSpPr/>
          <p:nvPr/>
        </p:nvSpPr>
        <p:spPr>
          <a:xfrm>
            <a:off x="2423160" y="3337559"/>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23160" y="3438143"/>
            <a:ext cx="1554480" cy="320040"/>
          </a:xfrm>
          <a:prstGeom prst="rect">
            <a:avLst/>
          </a:prstGeom>
          <a:noFill/>
        </p:spPr>
        <p:txBody>
          <a:bodyPr wrap="square">
            <a:spAutoFit/>
          </a:bodyPr>
          <a:lstStyle/>
          <a:p>
            <a:pPr algn="ctr"/>
            <a:r>
              <a:rPr sz="1100" b="1">
                <a:solidFill>
                  <a:srgbClr val="1F2937"/>
                </a:solidFill>
                <a:latin typeface="Calibri"/>
              </a:rPr>
              <a:t>b) is doing</a:t>
            </a:r>
          </a:p>
        </p:txBody>
      </p:sp>
      <p:sp>
        <p:nvSpPr>
          <p:cNvPr id="28" name="Rounded Rectangle 27"/>
          <p:cNvSpPr/>
          <p:nvPr/>
        </p:nvSpPr>
        <p:spPr>
          <a:xfrm>
            <a:off x="4114800" y="3337559"/>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0" y="3438143"/>
            <a:ext cx="1554480" cy="320040"/>
          </a:xfrm>
          <a:prstGeom prst="rect">
            <a:avLst/>
          </a:prstGeom>
          <a:noFill/>
        </p:spPr>
        <p:txBody>
          <a:bodyPr wrap="square">
            <a:spAutoFit/>
          </a:bodyPr>
          <a:lstStyle/>
          <a:p>
            <a:pPr algn="ctr"/>
            <a:r>
              <a:rPr sz="1100" b="1">
                <a:solidFill>
                  <a:srgbClr val="1F2937"/>
                </a:solidFill>
                <a:latin typeface="Calibri"/>
              </a:rPr>
              <a:t>c) did</a:t>
            </a:r>
          </a:p>
        </p:txBody>
      </p:sp>
      <p:sp>
        <p:nvSpPr>
          <p:cNvPr id="30" name="TextBox 29"/>
          <p:cNvSpPr txBox="1"/>
          <p:nvPr/>
        </p:nvSpPr>
        <p:spPr>
          <a:xfrm>
            <a:off x="640080" y="4032504"/>
            <a:ext cx="5120640" cy="320040"/>
          </a:xfrm>
          <a:prstGeom prst="rect">
            <a:avLst/>
          </a:prstGeom>
          <a:noFill/>
        </p:spPr>
        <p:txBody>
          <a:bodyPr wrap="square">
            <a:spAutoFit/>
          </a:bodyPr>
          <a:lstStyle/>
          <a:p>
            <a:pPr algn="l"/>
            <a:r>
              <a:rPr sz="1400" b="1">
                <a:solidFill>
                  <a:srgbClr val="0A2A6E"/>
                </a:solidFill>
                <a:latin typeface="Calibri"/>
              </a:rPr>
              <a:t>3.  Last night we ______ pizza.</a:t>
            </a:r>
          </a:p>
        </p:txBody>
      </p:sp>
      <p:sp>
        <p:nvSpPr>
          <p:cNvPr id="31" name="Rounded Rectangle 30"/>
          <p:cNvSpPr/>
          <p:nvPr/>
        </p:nvSpPr>
        <p:spPr>
          <a:xfrm>
            <a:off x="731520" y="4416552"/>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517136"/>
            <a:ext cx="1554480" cy="320040"/>
          </a:xfrm>
          <a:prstGeom prst="rect">
            <a:avLst/>
          </a:prstGeom>
          <a:noFill/>
        </p:spPr>
        <p:txBody>
          <a:bodyPr wrap="square">
            <a:spAutoFit/>
          </a:bodyPr>
          <a:lstStyle/>
          <a:p>
            <a:pPr algn="ctr"/>
            <a:r>
              <a:rPr sz="1100" b="1">
                <a:solidFill>
                  <a:srgbClr val="1F2937"/>
                </a:solidFill>
                <a:latin typeface="Calibri"/>
              </a:rPr>
              <a:t>a) eat</a:t>
            </a:r>
          </a:p>
        </p:txBody>
      </p:sp>
      <p:sp>
        <p:nvSpPr>
          <p:cNvPr id="33" name="Rounded Rectangle 32"/>
          <p:cNvSpPr/>
          <p:nvPr/>
        </p:nvSpPr>
        <p:spPr>
          <a:xfrm>
            <a:off x="2423160" y="4416552"/>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23160" y="4517136"/>
            <a:ext cx="1554480" cy="320040"/>
          </a:xfrm>
          <a:prstGeom prst="rect">
            <a:avLst/>
          </a:prstGeom>
          <a:noFill/>
        </p:spPr>
        <p:txBody>
          <a:bodyPr wrap="square">
            <a:spAutoFit/>
          </a:bodyPr>
          <a:lstStyle/>
          <a:p>
            <a:pPr algn="ctr"/>
            <a:r>
              <a:rPr sz="1100" b="1">
                <a:solidFill>
                  <a:srgbClr val="1F2937"/>
                </a:solidFill>
                <a:latin typeface="Calibri"/>
              </a:rPr>
              <a:t>b) will eat</a:t>
            </a:r>
          </a:p>
        </p:txBody>
      </p:sp>
      <p:sp>
        <p:nvSpPr>
          <p:cNvPr id="35" name="Rounded Rectangle 34"/>
          <p:cNvSpPr/>
          <p:nvPr/>
        </p:nvSpPr>
        <p:spPr>
          <a:xfrm>
            <a:off x="4114800" y="4416552"/>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0" y="4517136"/>
            <a:ext cx="1554480" cy="320040"/>
          </a:xfrm>
          <a:prstGeom prst="rect">
            <a:avLst/>
          </a:prstGeom>
          <a:noFill/>
        </p:spPr>
        <p:txBody>
          <a:bodyPr wrap="square">
            <a:spAutoFit/>
          </a:bodyPr>
          <a:lstStyle/>
          <a:p>
            <a:pPr algn="ctr"/>
            <a:r>
              <a:rPr sz="1100" b="1">
                <a:solidFill>
                  <a:srgbClr val="1F2937"/>
                </a:solidFill>
                <a:latin typeface="Calibri"/>
              </a:rPr>
              <a:t>c) ate</a:t>
            </a:r>
          </a:p>
        </p:txBody>
      </p:sp>
      <p:sp>
        <p:nvSpPr>
          <p:cNvPr id="37" name="TextBox 36"/>
          <p:cNvSpPr txBox="1"/>
          <p:nvPr/>
        </p:nvSpPr>
        <p:spPr>
          <a:xfrm>
            <a:off x="640080" y="5111496"/>
            <a:ext cx="5120640" cy="320040"/>
          </a:xfrm>
          <a:prstGeom prst="rect">
            <a:avLst/>
          </a:prstGeom>
          <a:noFill/>
        </p:spPr>
        <p:txBody>
          <a:bodyPr wrap="square">
            <a:spAutoFit/>
          </a:bodyPr>
          <a:lstStyle/>
          <a:p>
            <a:pPr algn="l"/>
            <a:r>
              <a:rPr sz="1400" b="1">
                <a:solidFill>
                  <a:srgbClr val="0A2A6E"/>
                </a:solidFill>
                <a:latin typeface="Calibri"/>
              </a:rPr>
              <a:t>4.  Every Monday he ______ soccer.</a:t>
            </a:r>
          </a:p>
        </p:txBody>
      </p:sp>
      <p:sp>
        <p:nvSpPr>
          <p:cNvPr id="38" name="Rounded Rectangle 37"/>
          <p:cNvSpPr/>
          <p:nvPr/>
        </p:nvSpPr>
        <p:spPr>
          <a:xfrm>
            <a:off x="731520" y="5495544"/>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96128"/>
            <a:ext cx="1554480" cy="320040"/>
          </a:xfrm>
          <a:prstGeom prst="rect">
            <a:avLst/>
          </a:prstGeom>
          <a:noFill/>
        </p:spPr>
        <p:txBody>
          <a:bodyPr wrap="square">
            <a:spAutoFit/>
          </a:bodyPr>
          <a:lstStyle/>
          <a:p>
            <a:pPr algn="ctr"/>
            <a:r>
              <a:rPr sz="1100" b="1">
                <a:solidFill>
                  <a:srgbClr val="1F2937"/>
                </a:solidFill>
                <a:latin typeface="Calibri"/>
              </a:rPr>
              <a:t>a) plays</a:t>
            </a:r>
          </a:p>
        </p:txBody>
      </p:sp>
      <p:sp>
        <p:nvSpPr>
          <p:cNvPr id="40" name="Rounded Rectangle 39"/>
          <p:cNvSpPr/>
          <p:nvPr/>
        </p:nvSpPr>
        <p:spPr>
          <a:xfrm>
            <a:off x="2423160" y="5495544"/>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23160" y="5596128"/>
            <a:ext cx="1554480" cy="320040"/>
          </a:xfrm>
          <a:prstGeom prst="rect">
            <a:avLst/>
          </a:prstGeom>
          <a:noFill/>
        </p:spPr>
        <p:txBody>
          <a:bodyPr wrap="square">
            <a:spAutoFit/>
          </a:bodyPr>
          <a:lstStyle/>
          <a:p>
            <a:pPr algn="ctr"/>
            <a:r>
              <a:rPr sz="1100" b="1">
                <a:solidFill>
                  <a:srgbClr val="1F2937"/>
                </a:solidFill>
                <a:latin typeface="Calibri"/>
              </a:rPr>
              <a:t>b) is playing</a:t>
            </a:r>
          </a:p>
        </p:txBody>
      </p:sp>
      <p:sp>
        <p:nvSpPr>
          <p:cNvPr id="42" name="Rounded Rectangle 41"/>
          <p:cNvSpPr/>
          <p:nvPr/>
        </p:nvSpPr>
        <p:spPr>
          <a:xfrm>
            <a:off x="4114800" y="5495544"/>
            <a:ext cx="1554480" cy="4572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0" y="5596128"/>
            <a:ext cx="1554480" cy="320040"/>
          </a:xfrm>
          <a:prstGeom prst="rect">
            <a:avLst/>
          </a:prstGeom>
          <a:noFill/>
        </p:spPr>
        <p:txBody>
          <a:bodyPr wrap="square">
            <a:spAutoFit/>
          </a:bodyPr>
          <a:lstStyle/>
          <a:p>
            <a:pPr algn="ctr"/>
            <a:r>
              <a:rPr sz="1100" b="1">
                <a:solidFill>
                  <a:srgbClr val="1F2937"/>
                </a:solidFill>
                <a:latin typeface="Calibri"/>
              </a:rPr>
              <a:t>c) played</a:t>
            </a:r>
          </a:p>
        </p:txBody>
      </p:sp>
      <p:sp>
        <p:nvSpPr>
          <p:cNvPr id="44" name="Rounded Rectangle 43"/>
          <p:cNvSpPr/>
          <p:nvPr/>
        </p:nvSpPr>
        <p:spPr>
          <a:xfrm>
            <a:off x="6172200" y="1234440"/>
            <a:ext cx="5577840" cy="484632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1417320"/>
            <a:ext cx="5120640" cy="365760"/>
          </a:xfrm>
          <a:prstGeom prst="rect">
            <a:avLst/>
          </a:prstGeom>
          <a:noFill/>
        </p:spPr>
        <p:txBody>
          <a:bodyPr wrap="square">
            <a:spAutoFit/>
          </a:bodyPr>
          <a:lstStyle/>
          <a:p>
            <a:pPr algn="l"/>
            <a:r>
              <a:rPr sz="1600" b="1">
                <a:solidFill>
                  <a:srgbClr val="FFB300"/>
                </a:solidFill>
                <a:latin typeface="Calibri"/>
              </a:rPr>
              <a:t>⏱️ GAME 6: 60-Second Sprint</a:t>
            </a:r>
          </a:p>
        </p:txBody>
      </p:sp>
      <p:sp>
        <p:nvSpPr>
          <p:cNvPr id="46" name="TextBox 45"/>
          <p:cNvSpPr txBox="1"/>
          <p:nvPr/>
        </p:nvSpPr>
        <p:spPr>
          <a:xfrm>
            <a:off x="6400800" y="1828800"/>
            <a:ext cx="5120640" cy="320040"/>
          </a:xfrm>
          <a:prstGeom prst="rect">
            <a:avLst/>
          </a:prstGeom>
          <a:noFill/>
        </p:spPr>
        <p:txBody>
          <a:bodyPr wrap="square">
            <a:spAutoFit/>
          </a:bodyPr>
          <a:lstStyle/>
          <a:p>
            <a:pPr algn="l"/>
            <a:r>
              <a:rPr sz="1300" b="0">
                <a:solidFill>
                  <a:srgbClr val="1F2937"/>
                </a:solidFill>
                <a:latin typeface="Calibri"/>
              </a:rPr>
              <a:t>Name the tense as fast as you can!</a:t>
            </a:r>
          </a:p>
        </p:txBody>
      </p:sp>
      <p:sp>
        <p:nvSpPr>
          <p:cNvPr id="47" name="Rounded Rectangle 46"/>
          <p:cNvSpPr/>
          <p:nvPr/>
        </p:nvSpPr>
        <p:spPr>
          <a:xfrm>
            <a:off x="6400800" y="2286000"/>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2423160"/>
            <a:ext cx="2286000" cy="320040"/>
          </a:xfrm>
          <a:prstGeom prst="rect">
            <a:avLst/>
          </a:prstGeom>
          <a:noFill/>
        </p:spPr>
        <p:txBody>
          <a:bodyPr wrap="square">
            <a:spAutoFit/>
          </a:bodyPr>
          <a:lstStyle/>
          <a:p>
            <a:pPr algn="ctr"/>
            <a:r>
              <a:rPr sz="1200" b="1">
                <a:solidFill>
                  <a:srgbClr val="1F2937"/>
                </a:solidFill>
                <a:latin typeface="Calibri"/>
              </a:rPr>
              <a:t>They ate lunch.</a:t>
            </a:r>
          </a:p>
        </p:txBody>
      </p:sp>
      <p:sp>
        <p:nvSpPr>
          <p:cNvPr id="49" name="Rounded Rectangle 48"/>
          <p:cNvSpPr/>
          <p:nvPr/>
        </p:nvSpPr>
        <p:spPr>
          <a:xfrm>
            <a:off x="9006840" y="2286000"/>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98280" y="2423160"/>
            <a:ext cx="2286000" cy="320040"/>
          </a:xfrm>
          <a:prstGeom prst="rect">
            <a:avLst/>
          </a:prstGeom>
          <a:noFill/>
        </p:spPr>
        <p:txBody>
          <a:bodyPr wrap="square">
            <a:spAutoFit/>
          </a:bodyPr>
          <a:lstStyle/>
          <a:p>
            <a:pPr algn="ctr"/>
            <a:r>
              <a:rPr sz="1200" b="1">
                <a:solidFill>
                  <a:srgbClr val="1F2937"/>
                </a:solidFill>
                <a:latin typeface="Calibri"/>
              </a:rPr>
              <a:t>I am singing.</a:t>
            </a:r>
          </a:p>
        </p:txBody>
      </p:sp>
      <p:sp>
        <p:nvSpPr>
          <p:cNvPr id="51" name="Rounded Rectangle 50"/>
          <p:cNvSpPr/>
          <p:nvPr/>
        </p:nvSpPr>
        <p:spPr>
          <a:xfrm>
            <a:off x="6400800" y="2999232"/>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3136392"/>
            <a:ext cx="2286000" cy="320040"/>
          </a:xfrm>
          <a:prstGeom prst="rect">
            <a:avLst/>
          </a:prstGeom>
          <a:noFill/>
        </p:spPr>
        <p:txBody>
          <a:bodyPr wrap="square">
            <a:spAutoFit/>
          </a:bodyPr>
          <a:lstStyle/>
          <a:p>
            <a:pPr algn="ctr"/>
            <a:r>
              <a:rPr sz="1200" b="1">
                <a:solidFill>
                  <a:srgbClr val="1F2937"/>
                </a:solidFill>
                <a:latin typeface="Calibri"/>
              </a:rPr>
              <a:t>She will win.</a:t>
            </a:r>
          </a:p>
        </p:txBody>
      </p:sp>
      <p:sp>
        <p:nvSpPr>
          <p:cNvPr id="53" name="Rounded Rectangle 52"/>
          <p:cNvSpPr/>
          <p:nvPr/>
        </p:nvSpPr>
        <p:spPr>
          <a:xfrm>
            <a:off x="9006840" y="2999232"/>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280" y="3136392"/>
            <a:ext cx="2286000" cy="320040"/>
          </a:xfrm>
          <a:prstGeom prst="rect">
            <a:avLst/>
          </a:prstGeom>
          <a:noFill/>
        </p:spPr>
        <p:txBody>
          <a:bodyPr wrap="square">
            <a:spAutoFit/>
          </a:bodyPr>
          <a:lstStyle/>
          <a:p>
            <a:pPr algn="ctr"/>
            <a:r>
              <a:rPr sz="1200" b="1">
                <a:solidFill>
                  <a:srgbClr val="1F2937"/>
                </a:solidFill>
                <a:latin typeface="Calibri"/>
              </a:rPr>
              <a:t>We swim on Fridays.</a:t>
            </a:r>
          </a:p>
        </p:txBody>
      </p:sp>
      <p:sp>
        <p:nvSpPr>
          <p:cNvPr id="55" name="Rounded Rectangle 54"/>
          <p:cNvSpPr/>
          <p:nvPr/>
        </p:nvSpPr>
        <p:spPr>
          <a:xfrm>
            <a:off x="6400800" y="3712464"/>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92240" y="3849624"/>
            <a:ext cx="2286000" cy="320040"/>
          </a:xfrm>
          <a:prstGeom prst="rect">
            <a:avLst/>
          </a:prstGeom>
          <a:noFill/>
        </p:spPr>
        <p:txBody>
          <a:bodyPr wrap="square">
            <a:spAutoFit/>
          </a:bodyPr>
          <a:lstStyle/>
          <a:p>
            <a:pPr algn="ctr"/>
            <a:r>
              <a:rPr sz="1200" b="1">
                <a:solidFill>
                  <a:srgbClr val="1F2937"/>
                </a:solidFill>
                <a:latin typeface="Calibri"/>
              </a:rPr>
              <a:t>He was cooking.</a:t>
            </a:r>
          </a:p>
        </p:txBody>
      </p:sp>
      <p:sp>
        <p:nvSpPr>
          <p:cNvPr id="57" name="Rounded Rectangle 56"/>
          <p:cNvSpPr/>
          <p:nvPr/>
        </p:nvSpPr>
        <p:spPr>
          <a:xfrm>
            <a:off x="9006840" y="3712464"/>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8280" y="3849624"/>
            <a:ext cx="2286000" cy="320040"/>
          </a:xfrm>
          <a:prstGeom prst="rect">
            <a:avLst/>
          </a:prstGeom>
          <a:noFill/>
        </p:spPr>
        <p:txBody>
          <a:bodyPr wrap="square">
            <a:spAutoFit/>
          </a:bodyPr>
          <a:lstStyle/>
          <a:p>
            <a:pPr algn="ctr"/>
            <a:r>
              <a:rPr sz="1200" b="1">
                <a:solidFill>
                  <a:srgbClr val="1F2937"/>
                </a:solidFill>
                <a:latin typeface="Calibri"/>
              </a:rPr>
              <a:t>It rains a lot.</a:t>
            </a:r>
          </a:p>
        </p:txBody>
      </p:sp>
      <p:sp>
        <p:nvSpPr>
          <p:cNvPr id="59" name="Rounded Rectangle 58"/>
          <p:cNvSpPr/>
          <p:nvPr/>
        </p:nvSpPr>
        <p:spPr>
          <a:xfrm>
            <a:off x="6400800" y="4425696"/>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4562856"/>
            <a:ext cx="2286000" cy="320040"/>
          </a:xfrm>
          <a:prstGeom prst="rect">
            <a:avLst/>
          </a:prstGeom>
          <a:noFill/>
        </p:spPr>
        <p:txBody>
          <a:bodyPr wrap="square">
            <a:spAutoFit/>
          </a:bodyPr>
          <a:lstStyle/>
          <a:p>
            <a:pPr algn="ctr"/>
            <a:r>
              <a:rPr sz="1200" b="1">
                <a:solidFill>
                  <a:srgbClr val="1F2937"/>
                </a:solidFill>
                <a:latin typeface="Calibri"/>
              </a:rPr>
              <a:t>You will see.</a:t>
            </a:r>
          </a:p>
        </p:txBody>
      </p:sp>
      <p:sp>
        <p:nvSpPr>
          <p:cNvPr id="61" name="Rounded Rectangle 60"/>
          <p:cNvSpPr/>
          <p:nvPr/>
        </p:nvSpPr>
        <p:spPr>
          <a:xfrm>
            <a:off x="9006840" y="4425696"/>
            <a:ext cx="2468880" cy="5669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98280" y="4562856"/>
            <a:ext cx="2286000" cy="320040"/>
          </a:xfrm>
          <a:prstGeom prst="rect">
            <a:avLst/>
          </a:prstGeom>
          <a:noFill/>
        </p:spPr>
        <p:txBody>
          <a:bodyPr wrap="square">
            <a:spAutoFit/>
          </a:bodyPr>
          <a:lstStyle/>
          <a:p>
            <a:pPr algn="ctr"/>
            <a:r>
              <a:rPr sz="1200" b="1">
                <a:solidFill>
                  <a:srgbClr val="1F2937"/>
                </a:solidFill>
                <a:latin typeface="Calibri"/>
              </a:rPr>
              <a:t>I was dreaming.</a:t>
            </a:r>
          </a:p>
        </p:txBody>
      </p:sp>
      <p:sp>
        <p:nvSpPr>
          <p:cNvPr id="63" name="Rounded Rectangle 62"/>
          <p:cNvSpPr/>
          <p:nvPr/>
        </p:nvSpPr>
        <p:spPr>
          <a:xfrm>
            <a:off x="6400800" y="5257800"/>
            <a:ext cx="5120640" cy="64008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0" y="5394960"/>
            <a:ext cx="5120640" cy="365760"/>
          </a:xfrm>
          <a:prstGeom prst="rect">
            <a:avLst/>
          </a:prstGeom>
          <a:noFill/>
        </p:spPr>
        <p:txBody>
          <a:bodyPr wrap="square">
            <a:spAutoFit/>
          </a:bodyPr>
          <a:lstStyle/>
          <a:p>
            <a:pPr algn="ctr"/>
            <a:r>
              <a:rPr sz="1600" b="1">
                <a:solidFill>
                  <a:srgbClr val="0A2A6E"/>
                </a:solidFill>
                <a:latin typeface="Calibri"/>
              </a:rPr>
              <a:t>🔥 My score:  ____ / 8</a:t>
            </a:r>
          </a:p>
        </p:txBody>
      </p:sp>
    </p:spTree>
  </p:cSld>
  <p:clrMapOvr>
    <a:masterClrMapping/>
  </p:clrMapOvr>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STORY</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47–55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Storytelling: Build Your Own Adventure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9226147"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Storytelling  |  47–55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28 / 37</a:t>
            </a:r>
          </a:p>
        </p:txBody>
      </p:sp>
      <p:sp>
        <p:nvSpPr>
          <p:cNvPr id="14" name="Rounded Rectangle 13"/>
          <p:cNvSpPr/>
          <p:nvPr/>
        </p:nvSpPr>
        <p:spPr>
          <a:xfrm>
            <a:off x="457200" y="1280160"/>
            <a:ext cx="274320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80160" y="1572768"/>
            <a:ext cx="1097280" cy="1097280"/>
          </a:xfrm>
          <a:prstGeom prst="ellipse">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1755648"/>
            <a:ext cx="1097280" cy="731520"/>
          </a:xfrm>
          <a:prstGeom prst="rect">
            <a:avLst/>
          </a:prstGeom>
          <a:noFill/>
        </p:spPr>
        <p:txBody>
          <a:bodyPr wrap="square">
            <a:spAutoFit/>
          </a:bodyPr>
          <a:lstStyle/>
          <a:p>
            <a:pPr algn="ctr"/>
            <a:r>
              <a:rPr sz="3200" b="0">
                <a:solidFill>
                  <a:srgbClr val="1F2937"/>
                </a:solidFill>
                <a:latin typeface="Calibri"/>
              </a:rPr>
              <a:t>🌩️</a:t>
            </a:r>
          </a:p>
        </p:txBody>
      </p:sp>
      <p:sp>
        <p:nvSpPr>
          <p:cNvPr id="17" name="TextBox 16"/>
          <p:cNvSpPr txBox="1"/>
          <p:nvPr/>
        </p:nvSpPr>
        <p:spPr>
          <a:xfrm>
            <a:off x="594360" y="2852928"/>
            <a:ext cx="2468880" cy="365760"/>
          </a:xfrm>
          <a:prstGeom prst="rect">
            <a:avLst/>
          </a:prstGeom>
          <a:noFill/>
        </p:spPr>
        <p:txBody>
          <a:bodyPr wrap="square">
            <a:spAutoFit/>
          </a:bodyPr>
          <a:lstStyle/>
          <a:p>
            <a:pPr algn="ctr"/>
            <a:r>
              <a:rPr sz="1400" b="1">
                <a:solidFill>
                  <a:srgbClr val="0A2A6E"/>
                </a:solidFill>
                <a:latin typeface="Calibri"/>
              </a:rPr>
              <a:t>1. A storm</a:t>
            </a:r>
          </a:p>
        </p:txBody>
      </p:sp>
      <p:sp>
        <p:nvSpPr>
          <p:cNvPr id="18" name="Rounded Rectangle 17"/>
          <p:cNvSpPr/>
          <p:nvPr/>
        </p:nvSpPr>
        <p:spPr>
          <a:xfrm>
            <a:off x="3383280" y="1280160"/>
            <a:ext cx="274320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06240" y="1572768"/>
            <a:ext cx="1097280" cy="1097280"/>
          </a:xfrm>
          <a:prstGeom prst="ellipse">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1755648"/>
            <a:ext cx="1097280" cy="731520"/>
          </a:xfrm>
          <a:prstGeom prst="rect">
            <a:avLst/>
          </a:prstGeom>
          <a:noFill/>
        </p:spPr>
        <p:txBody>
          <a:bodyPr wrap="square">
            <a:spAutoFit/>
          </a:bodyPr>
          <a:lstStyle/>
          <a:p>
            <a:pPr algn="ctr"/>
            <a:r>
              <a:rPr sz="3200" b="0">
                <a:solidFill>
                  <a:srgbClr val="1F2937"/>
                </a:solidFill>
                <a:latin typeface="Calibri"/>
              </a:rPr>
              <a:t>🐕</a:t>
            </a:r>
          </a:p>
        </p:txBody>
      </p:sp>
      <p:sp>
        <p:nvSpPr>
          <p:cNvPr id="21" name="TextBox 20"/>
          <p:cNvSpPr txBox="1"/>
          <p:nvPr/>
        </p:nvSpPr>
        <p:spPr>
          <a:xfrm>
            <a:off x="3520440" y="2852928"/>
            <a:ext cx="2468880" cy="365760"/>
          </a:xfrm>
          <a:prstGeom prst="rect">
            <a:avLst/>
          </a:prstGeom>
          <a:noFill/>
        </p:spPr>
        <p:txBody>
          <a:bodyPr wrap="square">
            <a:spAutoFit/>
          </a:bodyPr>
          <a:lstStyle/>
          <a:p>
            <a:pPr algn="ctr"/>
            <a:r>
              <a:rPr sz="1400" b="1">
                <a:solidFill>
                  <a:srgbClr val="0A2A6E"/>
                </a:solidFill>
                <a:latin typeface="Calibri"/>
              </a:rPr>
              <a:t>2. A lost dog</a:t>
            </a:r>
          </a:p>
        </p:txBody>
      </p:sp>
      <p:sp>
        <p:nvSpPr>
          <p:cNvPr id="22" name="Rounded Rectangle 21"/>
          <p:cNvSpPr/>
          <p:nvPr/>
        </p:nvSpPr>
        <p:spPr>
          <a:xfrm>
            <a:off x="6309360" y="1280160"/>
            <a:ext cx="274320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32320" y="1572768"/>
            <a:ext cx="1097280" cy="1097280"/>
          </a:xfrm>
          <a:prstGeom prst="ellipse">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1755648"/>
            <a:ext cx="1097280" cy="731520"/>
          </a:xfrm>
          <a:prstGeom prst="rect">
            <a:avLst/>
          </a:prstGeom>
          <a:noFill/>
        </p:spPr>
        <p:txBody>
          <a:bodyPr wrap="square">
            <a:spAutoFit/>
          </a:bodyPr>
          <a:lstStyle/>
          <a:p>
            <a:pPr algn="ctr"/>
            <a:r>
              <a:rPr sz="3200" b="0">
                <a:solidFill>
                  <a:srgbClr val="1F2937"/>
                </a:solidFill>
                <a:latin typeface="Calibri"/>
              </a:rPr>
              <a:t>🗺️</a:t>
            </a:r>
          </a:p>
        </p:txBody>
      </p:sp>
      <p:sp>
        <p:nvSpPr>
          <p:cNvPr id="25" name="TextBox 24"/>
          <p:cNvSpPr txBox="1"/>
          <p:nvPr/>
        </p:nvSpPr>
        <p:spPr>
          <a:xfrm>
            <a:off x="6446520" y="2852928"/>
            <a:ext cx="2468880" cy="365760"/>
          </a:xfrm>
          <a:prstGeom prst="rect">
            <a:avLst/>
          </a:prstGeom>
          <a:noFill/>
        </p:spPr>
        <p:txBody>
          <a:bodyPr wrap="square">
            <a:spAutoFit/>
          </a:bodyPr>
          <a:lstStyle/>
          <a:p>
            <a:pPr algn="ctr"/>
            <a:r>
              <a:rPr sz="1400" b="1">
                <a:solidFill>
                  <a:srgbClr val="0A2A6E"/>
                </a:solidFill>
                <a:latin typeface="Calibri"/>
              </a:rPr>
              <a:t>3. An old map</a:t>
            </a:r>
          </a:p>
        </p:txBody>
      </p:sp>
      <p:sp>
        <p:nvSpPr>
          <p:cNvPr id="26" name="Rounded Rectangle 25"/>
          <p:cNvSpPr/>
          <p:nvPr/>
        </p:nvSpPr>
        <p:spPr>
          <a:xfrm>
            <a:off x="9235440" y="1280160"/>
            <a:ext cx="274320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0" y="1572768"/>
            <a:ext cx="1097280" cy="1097280"/>
          </a:xfrm>
          <a:prstGeom prst="ellipse">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0" y="1755648"/>
            <a:ext cx="1097280" cy="731520"/>
          </a:xfrm>
          <a:prstGeom prst="rect">
            <a:avLst/>
          </a:prstGeom>
          <a:noFill/>
        </p:spPr>
        <p:txBody>
          <a:bodyPr wrap="square">
            <a:spAutoFit/>
          </a:bodyPr>
          <a:lstStyle/>
          <a:p>
            <a:pPr algn="ctr"/>
            <a:r>
              <a:rPr sz="3200" b="0">
                <a:solidFill>
                  <a:srgbClr val="1F2937"/>
                </a:solidFill>
                <a:latin typeface="Calibri"/>
              </a:rPr>
              <a:t>🏠</a:t>
            </a:r>
          </a:p>
        </p:txBody>
      </p:sp>
      <p:sp>
        <p:nvSpPr>
          <p:cNvPr id="29" name="TextBox 28"/>
          <p:cNvSpPr txBox="1"/>
          <p:nvPr/>
        </p:nvSpPr>
        <p:spPr>
          <a:xfrm>
            <a:off x="9372600" y="2852928"/>
            <a:ext cx="2468880" cy="365760"/>
          </a:xfrm>
          <a:prstGeom prst="rect">
            <a:avLst/>
          </a:prstGeom>
          <a:noFill/>
        </p:spPr>
        <p:txBody>
          <a:bodyPr wrap="square">
            <a:spAutoFit/>
          </a:bodyPr>
          <a:lstStyle/>
          <a:p>
            <a:pPr algn="ctr"/>
            <a:r>
              <a:rPr sz="1400" b="1">
                <a:solidFill>
                  <a:srgbClr val="0A2A6E"/>
                </a:solidFill>
                <a:latin typeface="Calibri"/>
              </a:rPr>
              <a:t>4. Safe at home</a:t>
            </a:r>
          </a:p>
        </p:txBody>
      </p:sp>
      <p:sp>
        <p:nvSpPr>
          <p:cNvPr id="30" name="Rounded Rectangle 29"/>
          <p:cNvSpPr/>
          <p:nvPr/>
        </p:nvSpPr>
        <p:spPr>
          <a:xfrm>
            <a:off x="457200" y="3611880"/>
            <a:ext cx="5577840" cy="24231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794760"/>
            <a:ext cx="5120640" cy="320040"/>
          </a:xfrm>
          <a:prstGeom prst="rect">
            <a:avLst/>
          </a:prstGeom>
          <a:noFill/>
        </p:spPr>
        <p:txBody>
          <a:bodyPr wrap="square">
            <a:spAutoFit/>
          </a:bodyPr>
          <a:lstStyle/>
          <a:p>
            <a:pPr algn="l"/>
            <a:r>
              <a:rPr sz="1500" b="1">
                <a:solidFill>
                  <a:srgbClr val="0A2A6E"/>
                </a:solidFill>
                <a:latin typeface="Calibri"/>
              </a:rPr>
              <a:t>🎤 Story Prompts</a:t>
            </a:r>
          </a:p>
        </p:txBody>
      </p:sp>
      <p:sp>
        <p:nvSpPr>
          <p:cNvPr id="32" name="TextBox 31"/>
          <p:cNvSpPr txBox="1"/>
          <p:nvPr/>
        </p:nvSpPr>
        <p:spPr>
          <a:xfrm>
            <a:off x="685800" y="4206240"/>
            <a:ext cx="5120640" cy="1737360"/>
          </a:xfrm>
          <a:prstGeom prst="rect">
            <a:avLst/>
          </a:prstGeom>
          <a:noFill/>
        </p:spPr>
        <p:txBody>
          <a:bodyPr wrap="square">
            <a:spAutoFit/>
          </a:bodyPr>
          <a:lstStyle/>
          <a:p>
            <a:pPr>
              <a:spcAft>
                <a:spcPts val="600"/>
              </a:spcAft>
            </a:pPr>
            <a:r>
              <a:rPr sz="1400" b="0">
                <a:solidFill>
                  <a:srgbClr val="1F2937"/>
                </a:solidFill>
                <a:latin typeface="Calibri"/>
              </a:rPr>
              <a:t>•  WHO is in your story?</a:t>
            </a:r>
          </a:p>
          <a:p>
            <a:pPr>
              <a:spcAft>
                <a:spcPts val="600"/>
              </a:spcAft>
            </a:pPr>
            <a:r>
              <a:rPr sz="1400" b="0">
                <a:solidFill>
                  <a:srgbClr val="1F2937"/>
                </a:solidFill>
                <a:latin typeface="Calibri"/>
              </a:rPr>
              <a:t>•  WHERE does it happen?</a:t>
            </a:r>
          </a:p>
          <a:p>
            <a:pPr>
              <a:spcAft>
                <a:spcPts val="600"/>
              </a:spcAft>
            </a:pPr>
            <a:r>
              <a:rPr sz="1400" b="0">
                <a:solidFill>
                  <a:srgbClr val="1F2937"/>
                </a:solidFill>
                <a:latin typeface="Calibri"/>
              </a:rPr>
              <a:t>•  WHAT HAPPENED?</a:t>
            </a:r>
          </a:p>
          <a:p>
            <a:pPr>
              <a:spcAft>
                <a:spcPts val="600"/>
              </a:spcAft>
            </a:pPr>
            <a:r>
              <a:rPr sz="1400" b="0">
                <a:solidFill>
                  <a:srgbClr val="1F2937"/>
                </a:solidFill>
                <a:latin typeface="Calibri"/>
              </a:rPr>
              <a:t>•  What was the PROBLEM?</a:t>
            </a:r>
          </a:p>
          <a:p>
            <a:pPr>
              <a:spcAft>
                <a:spcPts val="600"/>
              </a:spcAft>
            </a:pPr>
            <a:r>
              <a:rPr sz="1400" b="0">
                <a:solidFill>
                  <a:srgbClr val="1F2937"/>
                </a:solidFill>
                <a:latin typeface="Calibri"/>
              </a:rPr>
              <a:t>•  HOW did it END?</a:t>
            </a:r>
          </a:p>
        </p:txBody>
      </p:sp>
      <p:sp>
        <p:nvSpPr>
          <p:cNvPr id="33" name="Rounded Rectangle 32"/>
          <p:cNvSpPr/>
          <p:nvPr/>
        </p:nvSpPr>
        <p:spPr>
          <a:xfrm>
            <a:off x="6217920" y="3611880"/>
            <a:ext cx="5532120" cy="242316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794760"/>
            <a:ext cx="5074920" cy="320040"/>
          </a:xfrm>
          <a:prstGeom prst="rect">
            <a:avLst/>
          </a:prstGeom>
          <a:noFill/>
        </p:spPr>
        <p:txBody>
          <a:bodyPr wrap="square">
            <a:spAutoFit/>
          </a:bodyPr>
          <a:lstStyle/>
          <a:p>
            <a:pPr algn="l"/>
            <a:r>
              <a:rPr sz="1500" b="1">
                <a:solidFill>
                  <a:srgbClr val="009688"/>
                </a:solidFill>
                <a:latin typeface="Calibri"/>
              </a:rPr>
              <a:t>⏰ Use all three time zones!</a:t>
            </a:r>
          </a:p>
        </p:txBody>
      </p:sp>
      <p:sp>
        <p:nvSpPr>
          <p:cNvPr id="35" name="Rounded Rectangle 34"/>
          <p:cNvSpPr/>
          <p:nvPr/>
        </p:nvSpPr>
        <p:spPr>
          <a:xfrm>
            <a:off x="6446520" y="4224528"/>
            <a:ext cx="1051560" cy="365760"/>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4261104"/>
            <a:ext cx="1051560" cy="292608"/>
          </a:xfrm>
          <a:prstGeom prst="rect">
            <a:avLst/>
          </a:prstGeom>
          <a:noFill/>
        </p:spPr>
        <p:txBody>
          <a:bodyPr wrap="square">
            <a:spAutoFit/>
          </a:bodyPr>
          <a:lstStyle/>
          <a:p>
            <a:pPr algn="ctr"/>
            <a:r>
              <a:rPr sz="1000" b="1">
                <a:solidFill>
                  <a:srgbClr val="FFFFFF"/>
                </a:solidFill>
                <a:latin typeface="Calibri"/>
              </a:rPr>
              <a:t>PAST</a:t>
            </a:r>
          </a:p>
        </p:txBody>
      </p:sp>
      <p:sp>
        <p:nvSpPr>
          <p:cNvPr id="37" name="TextBox 36"/>
          <p:cNvSpPr txBox="1"/>
          <p:nvPr/>
        </p:nvSpPr>
        <p:spPr>
          <a:xfrm>
            <a:off x="7635240" y="4242816"/>
            <a:ext cx="3931920" cy="329184"/>
          </a:xfrm>
          <a:prstGeom prst="rect">
            <a:avLst/>
          </a:prstGeom>
          <a:noFill/>
        </p:spPr>
        <p:txBody>
          <a:bodyPr wrap="square">
            <a:spAutoFit/>
          </a:bodyPr>
          <a:lstStyle/>
          <a:p>
            <a:pPr algn="l"/>
            <a:r>
              <a:rPr sz="1200" b="0">
                <a:solidFill>
                  <a:srgbClr val="1F2937"/>
                </a:solidFill>
                <a:latin typeface="Calibri"/>
              </a:rPr>
              <a:t>"Yesterday, Maya found an old map."</a:t>
            </a:r>
          </a:p>
        </p:txBody>
      </p:sp>
      <p:sp>
        <p:nvSpPr>
          <p:cNvPr id="38" name="Rounded Rectangle 37"/>
          <p:cNvSpPr/>
          <p:nvPr/>
        </p:nvSpPr>
        <p:spPr>
          <a:xfrm>
            <a:off x="6446520" y="4828032"/>
            <a:ext cx="105156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4864608"/>
            <a:ext cx="1051560" cy="292608"/>
          </a:xfrm>
          <a:prstGeom prst="rect">
            <a:avLst/>
          </a:prstGeom>
          <a:noFill/>
        </p:spPr>
        <p:txBody>
          <a:bodyPr wrap="square">
            <a:spAutoFit/>
          </a:bodyPr>
          <a:lstStyle/>
          <a:p>
            <a:pPr algn="ctr"/>
            <a:r>
              <a:rPr sz="1000" b="1">
                <a:solidFill>
                  <a:srgbClr val="FFFFFF"/>
                </a:solidFill>
                <a:latin typeface="Calibri"/>
              </a:rPr>
              <a:t>NOW</a:t>
            </a:r>
          </a:p>
        </p:txBody>
      </p:sp>
      <p:sp>
        <p:nvSpPr>
          <p:cNvPr id="40" name="TextBox 39"/>
          <p:cNvSpPr txBox="1"/>
          <p:nvPr/>
        </p:nvSpPr>
        <p:spPr>
          <a:xfrm>
            <a:off x="7635240" y="4846320"/>
            <a:ext cx="3931920" cy="329184"/>
          </a:xfrm>
          <a:prstGeom prst="rect">
            <a:avLst/>
          </a:prstGeom>
          <a:noFill/>
        </p:spPr>
        <p:txBody>
          <a:bodyPr wrap="square">
            <a:spAutoFit/>
          </a:bodyPr>
          <a:lstStyle/>
          <a:p>
            <a:pPr algn="l"/>
            <a:r>
              <a:rPr sz="1200" b="0">
                <a:solidFill>
                  <a:srgbClr val="1F2937"/>
                </a:solidFill>
                <a:latin typeface="Calibri"/>
              </a:rPr>
              <a:t>"She is opening the map right now."</a:t>
            </a:r>
          </a:p>
        </p:txBody>
      </p:sp>
      <p:sp>
        <p:nvSpPr>
          <p:cNvPr id="41" name="Rounded Rectangle 40"/>
          <p:cNvSpPr/>
          <p:nvPr/>
        </p:nvSpPr>
        <p:spPr>
          <a:xfrm>
            <a:off x="6446520" y="5431536"/>
            <a:ext cx="1051560" cy="365760"/>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5468112"/>
            <a:ext cx="1051560" cy="292608"/>
          </a:xfrm>
          <a:prstGeom prst="rect">
            <a:avLst/>
          </a:prstGeom>
          <a:noFill/>
        </p:spPr>
        <p:txBody>
          <a:bodyPr wrap="square">
            <a:spAutoFit/>
          </a:bodyPr>
          <a:lstStyle/>
          <a:p>
            <a:pPr algn="ctr"/>
            <a:r>
              <a:rPr sz="1000" b="1">
                <a:solidFill>
                  <a:srgbClr val="FFFFFF"/>
                </a:solidFill>
                <a:latin typeface="Calibri"/>
              </a:rPr>
              <a:t>FUTURE</a:t>
            </a:r>
          </a:p>
        </p:txBody>
      </p:sp>
      <p:sp>
        <p:nvSpPr>
          <p:cNvPr id="43" name="TextBox 42"/>
          <p:cNvSpPr txBox="1"/>
          <p:nvPr/>
        </p:nvSpPr>
        <p:spPr>
          <a:xfrm>
            <a:off x="7635240" y="5449824"/>
            <a:ext cx="3931920" cy="329184"/>
          </a:xfrm>
          <a:prstGeom prst="rect">
            <a:avLst/>
          </a:prstGeom>
          <a:noFill/>
        </p:spPr>
        <p:txBody>
          <a:bodyPr wrap="square">
            <a:spAutoFit/>
          </a:bodyPr>
          <a:lstStyle/>
          <a:p>
            <a:pPr algn="l"/>
            <a:r>
              <a:rPr sz="1200" b="0">
                <a:solidFill>
                  <a:srgbClr val="1F2937"/>
                </a:solidFill>
                <a:latin typeface="Calibri"/>
              </a:rPr>
              <a:t>"She will find the treasure!"</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SPEAKING</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47–55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Speaking Challenge: Talk Time!</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9555652"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Speaking  |  47–55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29 / 37</a:t>
            </a:r>
          </a:p>
        </p:txBody>
      </p:sp>
      <p:sp>
        <p:nvSpPr>
          <p:cNvPr id="14" name="Rounded Rectangle 13"/>
          <p:cNvSpPr/>
          <p:nvPr/>
        </p:nvSpPr>
        <p:spPr>
          <a:xfrm>
            <a:off x="457200" y="132588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1828800"/>
            <a:ext cx="914400" cy="914400"/>
          </a:xfrm>
          <a:prstGeom prst="ellipse">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01168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17" name="TextBox 16"/>
          <p:cNvSpPr txBox="1"/>
          <p:nvPr/>
        </p:nvSpPr>
        <p:spPr>
          <a:xfrm>
            <a:off x="1828800" y="1737360"/>
            <a:ext cx="3931920" cy="777240"/>
          </a:xfrm>
          <a:prstGeom prst="rect">
            <a:avLst/>
          </a:prstGeom>
          <a:noFill/>
        </p:spPr>
        <p:txBody>
          <a:bodyPr wrap="square">
            <a:spAutoFit/>
          </a:bodyPr>
          <a:lstStyle/>
          <a:p>
            <a:pPr algn="l"/>
            <a:r>
              <a:rPr sz="1600" b="1">
                <a:solidFill>
                  <a:srgbClr val="0A2A6E"/>
                </a:solidFill>
                <a:latin typeface="Calibri"/>
              </a:rPr>
              <a:t>What did you do yesterday?</a:t>
            </a:r>
          </a:p>
        </p:txBody>
      </p:sp>
      <p:sp>
        <p:nvSpPr>
          <p:cNvPr id="18" name="Rounded Rectangle 17"/>
          <p:cNvSpPr/>
          <p:nvPr/>
        </p:nvSpPr>
        <p:spPr>
          <a:xfrm>
            <a:off x="1828800" y="2560320"/>
            <a:ext cx="2377440" cy="384048"/>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0" y="2624328"/>
            <a:ext cx="2377440" cy="292608"/>
          </a:xfrm>
          <a:prstGeom prst="rect">
            <a:avLst/>
          </a:prstGeom>
          <a:noFill/>
        </p:spPr>
        <p:txBody>
          <a:bodyPr wrap="square">
            <a:spAutoFit/>
          </a:bodyPr>
          <a:lstStyle/>
          <a:p>
            <a:pPr algn="ctr"/>
            <a:r>
              <a:rPr sz="1100" b="1">
                <a:solidFill>
                  <a:srgbClr val="FFFFFF"/>
                </a:solidFill>
                <a:latin typeface="Calibri"/>
              </a:rPr>
              <a:t>Simple Past</a:t>
            </a:r>
          </a:p>
        </p:txBody>
      </p:sp>
      <p:sp>
        <p:nvSpPr>
          <p:cNvPr id="20" name="Rounded Rectangle 19"/>
          <p:cNvSpPr/>
          <p:nvPr/>
        </p:nvSpPr>
        <p:spPr>
          <a:xfrm>
            <a:off x="6217920" y="1325880"/>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1828800"/>
            <a:ext cx="914400" cy="91440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01168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23" name="TextBox 22"/>
          <p:cNvSpPr txBox="1"/>
          <p:nvPr/>
        </p:nvSpPr>
        <p:spPr>
          <a:xfrm>
            <a:off x="7589520" y="1737360"/>
            <a:ext cx="3931920" cy="777240"/>
          </a:xfrm>
          <a:prstGeom prst="rect">
            <a:avLst/>
          </a:prstGeom>
          <a:noFill/>
        </p:spPr>
        <p:txBody>
          <a:bodyPr wrap="square">
            <a:spAutoFit/>
          </a:bodyPr>
          <a:lstStyle/>
          <a:p>
            <a:pPr algn="l"/>
            <a:r>
              <a:rPr sz="1600" b="1">
                <a:solidFill>
                  <a:srgbClr val="0A2A6E"/>
                </a:solidFill>
                <a:latin typeface="Calibri"/>
              </a:rPr>
              <a:t>What are you doing today?</a:t>
            </a:r>
          </a:p>
        </p:txBody>
      </p:sp>
      <p:sp>
        <p:nvSpPr>
          <p:cNvPr id="24" name="Rounded Rectangle 23"/>
          <p:cNvSpPr/>
          <p:nvPr/>
        </p:nvSpPr>
        <p:spPr>
          <a:xfrm>
            <a:off x="7589520" y="2560320"/>
            <a:ext cx="2377440" cy="384048"/>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2624328"/>
            <a:ext cx="2377440" cy="292608"/>
          </a:xfrm>
          <a:prstGeom prst="rect">
            <a:avLst/>
          </a:prstGeom>
          <a:noFill/>
        </p:spPr>
        <p:txBody>
          <a:bodyPr wrap="square">
            <a:spAutoFit/>
          </a:bodyPr>
          <a:lstStyle/>
          <a:p>
            <a:pPr algn="ctr"/>
            <a:r>
              <a:rPr sz="1100" b="1">
                <a:solidFill>
                  <a:srgbClr val="FFFFFF"/>
                </a:solidFill>
                <a:latin typeface="Calibri"/>
              </a:rPr>
              <a:t>Present Continuous</a:t>
            </a:r>
          </a:p>
        </p:txBody>
      </p:sp>
      <p:sp>
        <p:nvSpPr>
          <p:cNvPr id="26" name="Rounded Rectangle 25"/>
          <p:cNvSpPr/>
          <p:nvPr/>
        </p:nvSpPr>
        <p:spPr>
          <a:xfrm>
            <a:off x="457200" y="3520439"/>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5800" y="4023359"/>
            <a:ext cx="914400" cy="91440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06239"/>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29" name="TextBox 28"/>
          <p:cNvSpPr txBox="1"/>
          <p:nvPr/>
        </p:nvSpPr>
        <p:spPr>
          <a:xfrm>
            <a:off x="1828800" y="3931919"/>
            <a:ext cx="3931920" cy="777240"/>
          </a:xfrm>
          <a:prstGeom prst="rect">
            <a:avLst/>
          </a:prstGeom>
          <a:noFill/>
        </p:spPr>
        <p:txBody>
          <a:bodyPr wrap="square">
            <a:spAutoFit/>
          </a:bodyPr>
          <a:lstStyle/>
          <a:p>
            <a:pPr algn="l"/>
            <a:r>
              <a:rPr sz="1600" b="1">
                <a:solidFill>
                  <a:srgbClr val="0A2A6E"/>
                </a:solidFill>
                <a:latin typeface="Calibri"/>
              </a:rPr>
              <a:t>What do you do every weekend?</a:t>
            </a:r>
          </a:p>
        </p:txBody>
      </p:sp>
      <p:sp>
        <p:nvSpPr>
          <p:cNvPr id="30" name="Rounded Rectangle 29"/>
          <p:cNvSpPr/>
          <p:nvPr/>
        </p:nvSpPr>
        <p:spPr>
          <a:xfrm>
            <a:off x="1828800" y="4754879"/>
            <a:ext cx="2377440" cy="384048"/>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0" y="4818887"/>
            <a:ext cx="2377440" cy="292608"/>
          </a:xfrm>
          <a:prstGeom prst="rect">
            <a:avLst/>
          </a:prstGeom>
          <a:noFill/>
        </p:spPr>
        <p:txBody>
          <a:bodyPr wrap="square">
            <a:spAutoFit/>
          </a:bodyPr>
          <a:lstStyle/>
          <a:p>
            <a:pPr algn="ctr"/>
            <a:r>
              <a:rPr sz="1100" b="1">
                <a:solidFill>
                  <a:srgbClr val="FFFFFF"/>
                </a:solidFill>
                <a:latin typeface="Calibri"/>
              </a:rPr>
              <a:t>Simple Present</a:t>
            </a:r>
          </a:p>
        </p:txBody>
      </p:sp>
      <p:sp>
        <p:nvSpPr>
          <p:cNvPr id="32" name="Rounded Rectangle 31"/>
          <p:cNvSpPr/>
          <p:nvPr/>
        </p:nvSpPr>
        <p:spPr>
          <a:xfrm>
            <a:off x="6217920" y="3520439"/>
            <a:ext cx="54864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46520" y="4023359"/>
            <a:ext cx="914400" cy="91440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206239"/>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35" name="TextBox 34"/>
          <p:cNvSpPr txBox="1"/>
          <p:nvPr/>
        </p:nvSpPr>
        <p:spPr>
          <a:xfrm>
            <a:off x="7589520" y="3931919"/>
            <a:ext cx="3931920" cy="777240"/>
          </a:xfrm>
          <a:prstGeom prst="rect">
            <a:avLst/>
          </a:prstGeom>
          <a:noFill/>
        </p:spPr>
        <p:txBody>
          <a:bodyPr wrap="square">
            <a:spAutoFit/>
          </a:bodyPr>
          <a:lstStyle/>
          <a:p>
            <a:pPr algn="l"/>
            <a:r>
              <a:rPr sz="1600" b="1">
                <a:solidFill>
                  <a:srgbClr val="0A2A6E"/>
                </a:solidFill>
                <a:latin typeface="Calibri"/>
              </a:rPr>
              <a:t>What will you do this weekend?</a:t>
            </a:r>
          </a:p>
        </p:txBody>
      </p:sp>
      <p:sp>
        <p:nvSpPr>
          <p:cNvPr id="36" name="Rounded Rectangle 35"/>
          <p:cNvSpPr/>
          <p:nvPr/>
        </p:nvSpPr>
        <p:spPr>
          <a:xfrm>
            <a:off x="7589520" y="4754879"/>
            <a:ext cx="2377440" cy="384048"/>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4818887"/>
            <a:ext cx="2377440" cy="292608"/>
          </a:xfrm>
          <a:prstGeom prst="rect">
            <a:avLst/>
          </a:prstGeom>
          <a:noFill/>
        </p:spPr>
        <p:txBody>
          <a:bodyPr wrap="square">
            <a:spAutoFit/>
          </a:bodyPr>
          <a:lstStyle/>
          <a:p>
            <a:pPr algn="ctr"/>
            <a:r>
              <a:rPr sz="1100" b="1">
                <a:solidFill>
                  <a:srgbClr val="FFFFFF"/>
                </a:solidFill>
                <a:latin typeface="Calibri"/>
              </a:rPr>
              <a:t>Simple Future</a:t>
            </a:r>
          </a:p>
        </p:txBody>
      </p:sp>
      <p:sp>
        <p:nvSpPr>
          <p:cNvPr id="38" name="Rounded Rectangle 37"/>
          <p:cNvSpPr/>
          <p:nvPr/>
        </p:nvSpPr>
        <p:spPr>
          <a:xfrm>
            <a:off x="457200" y="5760720"/>
            <a:ext cx="8503920" cy="548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870448"/>
            <a:ext cx="8229600" cy="365760"/>
          </a:xfrm>
          <a:prstGeom prst="rect">
            <a:avLst/>
          </a:prstGeom>
          <a:noFill/>
        </p:spPr>
        <p:txBody>
          <a:bodyPr wrap="square">
            <a:spAutoFit/>
          </a:bodyPr>
          <a:lstStyle/>
          <a:p>
            <a:pPr algn="l"/>
            <a:r>
              <a:rPr sz="1400" b="1">
                <a:solidFill>
                  <a:srgbClr val="2E7D32"/>
                </a:solidFill>
                <a:latin typeface="Calibri"/>
              </a:rPr>
              <a:t>💚 Talk as long as you like. I will listen first, and help after — never in the middle.</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QUIZ</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55–58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Quick Challenge — Final Round!</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9885158"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Assessment  |  55–58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30 / 37</a:t>
            </a:r>
          </a:p>
        </p:txBody>
      </p:sp>
      <p:sp>
        <p:nvSpPr>
          <p:cNvPr id="14" name="TextBox 13"/>
          <p:cNvSpPr txBox="1"/>
          <p:nvPr/>
        </p:nvSpPr>
        <p:spPr>
          <a:xfrm>
            <a:off x="411480" y="1188720"/>
            <a:ext cx="11338560" cy="365760"/>
          </a:xfrm>
          <a:prstGeom prst="rect">
            <a:avLst/>
          </a:prstGeom>
          <a:noFill/>
        </p:spPr>
        <p:txBody>
          <a:bodyPr wrap="square">
            <a:spAutoFit/>
          </a:bodyPr>
          <a:lstStyle/>
          <a:p>
            <a:pPr algn="l"/>
            <a:r>
              <a:rPr sz="1500" b="1">
                <a:solidFill>
                  <a:srgbClr val="FF6F61"/>
                </a:solidFill>
                <a:latin typeface="Calibri"/>
              </a:rPr>
              <a:t>Six quick ones. This is a GAME, not a test — I help whenever you want. 💛</a:t>
            </a:r>
          </a:p>
        </p:txBody>
      </p:sp>
      <p:sp>
        <p:nvSpPr>
          <p:cNvPr id="15" name="Rounded Rectangle 14"/>
          <p:cNvSpPr/>
          <p:nvPr/>
        </p:nvSpPr>
        <p:spPr>
          <a:xfrm>
            <a:off x="41148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072" y="2075688"/>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2148840"/>
            <a:ext cx="502920" cy="365760"/>
          </a:xfrm>
          <a:prstGeom prst="rect">
            <a:avLst/>
          </a:prstGeom>
          <a:noFill/>
        </p:spPr>
        <p:txBody>
          <a:bodyPr wrap="square">
            <a:spAutoFit/>
          </a:bodyPr>
          <a:lstStyle/>
          <a:p>
            <a:pPr algn="ctr"/>
            <a:r>
              <a:rPr sz="1400" b="1">
                <a:solidFill>
                  <a:srgbClr val="0A2A6E"/>
                </a:solidFill>
                <a:latin typeface="Calibri"/>
              </a:rPr>
              <a:t>1</a:t>
            </a:r>
          </a:p>
        </p:txBody>
      </p:sp>
      <p:sp>
        <p:nvSpPr>
          <p:cNvPr id="18" name="TextBox 17"/>
          <p:cNvSpPr txBox="1"/>
          <p:nvPr/>
        </p:nvSpPr>
        <p:spPr>
          <a:xfrm>
            <a:off x="1216152" y="1874520"/>
            <a:ext cx="4572000" cy="457200"/>
          </a:xfrm>
          <a:prstGeom prst="rect">
            <a:avLst/>
          </a:prstGeom>
          <a:noFill/>
        </p:spPr>
        <p:txBody>
          <a:bodyPr wrap="square">
            <a:spAutoFit/>
          </a:bodyPr>
          <a:lstStyle/>
          <a:p>
            <a:pPr algn="l"/>
            <a:r>
              <a:rPr sz="1400" b="1">
                <a:solidFill>
                  <a:srgbClr val="0A2A6E"/>
                </a:solidFill>
                <a:latin typeface="Calibri"/>
              </a:rPr>
              <a:t>"She ______ TV last night."</a:t>
            </a:r>
          </a:p>
        </p:txBody>
      </p:sp>
      <p:sp>
        <p:nvSpPr>
          <p:cNvPr id="19" name="TextBox 18"/>
          <p:cNvSpPr txBox="1"/>
          <p:nvPr/>
        </p:nvSpPr>
        <p:spPr>
          <a:xfrm>
            <a:off x="1216152" y="2377440"/>
            <a:ext cx="4572000" cy="365760"/>
          </a:xfrm>
          <a:prstGeom prst="rect">
            <a:avLst/>
          </a:prstGeom>
          <a:noFill/>
        </p:spPr>
        <p:txBody>
          <a:bodyPr wrap="square">
            <a:spAutoFit/>
          </a:bodyPr>
          <a:lstStyle/>
          <a:p>
            <a:pPr algn="l"/>
            <a:r>
              <a:rPr sz="1200" b="0">
                <a:solidFill>
                  <a:srgbClr val="64748B"/>
                </a:solidFill>
                <a:latin typeface="Calibri"/>
              </a:rPr>
              <a:t>watch  /  watched  /  will watch</a:t>
            </a:r>
          </a:p>
        </p:txBody>
      </p:sp>
      <p:sp>
        <p:nvSpPr>
          <p:cNvPr id="20" name="Rounded Rectangle 19"/>
          <p:cNvSpPr/>
          <p:nvPr/>
        </p:nvSpPr>
        <p:spPr>
          <a:xfrm>
            <a:off x="6217920" y="1691640"/>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82512" y="2075688"/>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148840"/>
            <a:ext cx="502920" cy="365760"/>
          </a:xfrm>
          <a:prstGeom prst="rect">
            <a:avLst/>
          </a:prstGeom>
          <a:noFill/>
        </p:spPr>
        <p:txBody>
          <a:bodyPr wrap="square">
            <a:spAutoFit/>
          </a:bodyPr>
          <a:lstStyle/>
          <a:p>
            <a:pPr algn="ctr"/>
            <a:r>
              <a:rPr sz="1400" b="1">
                <a:solidFill>
                  <a:srgbClr val="0A2A6E"/>
                </a:solidFill>
                <a:latin typeface="Calibri"/>
              </a:rPr>
              <a:t>2</a:t>
            </a:r>
          </a:p>
        </p:txBody>
      </p:sp>
      <p:sp>
        <p:nvSpPr>
          <p:cNvPr id="23" name="TextBox 22"/>
          <p:cNvSpPr txBox="1"/>
          <p:nvPr/>
        </p:nvSpPr>
        <p:spPr>
          <a:xfrm>
            <a:off x="7022592" y="1874520"/>
            <a:ext cx="4572000" cy="457200"/>
          </a:xfrm>
          <a:prstGeom prst="rect">
            <a:avLst/>
          </a:prstGeom>
          <a:noFill/>
        </p:spPr>
        <p:txBody>
          <a:bodyPr wrap="square">
            <a:spAutoFit/>
          </a:bodyPr>
          <a:lstStyle/>
          <a:p>
            <a:pPr algn="l"/>
            <a:r>
              <a:rPr sz="1400" b="1">
                <a:solidFill>
                  <a:srgbClr val="0A2A6E"/>
                </a:solidFill>
                <a:latin typeface="Calibri"/>
              </a:rPr>
              <a:t>Which is Present Continuous?</a:t>
            </a:r>
          </a:p>
        </p:txBody>
      </p:sp>
      <p:sp>
        <p:nvSpPr>
          <p:cNvPr id="24" name="TextBox 23"/>
          <p:cNvSpPr txBox="1"/>
          <p:nvPr/>
        </p:nvSpPr>
        <p:spPr>
          <a:xfrm>
            <a:off x="7022592" y="2377440"/>
            <a:ext cx="4572000" cy="365760"/>
          </a:xfrm>
          <a:prstGeom prst="rect">
            <a:avLst/>
          </a:prstGeom>
          <a:noFill/>
        </p:spPr>
        <p:txBody>
          <a:bodyPr wrap="square">
            <a:spAutoFit/>
          </a:bodyPr>
          <a:lstStyle/>
          <a:p>
            <a:pPr algn="l"/>
            <a:r>
              <a:rPr sz="1200" b="0">
                <a:solidFill>
                  <a:srgbClr val="64748B"/>
                </a:solidFill>
                <a:latin typeface="Calibri"/>
              </a:rPr>
              <a:t>I run  /  I am running  /  I ran</a:t>
            </a:r>
          </a:p>
        </p:txBody>
      </p:sp>
      <p:sp>
        <p:nvSpPr>
          <p:cNvPr id="25" name="Rounded Rectangle 24"/>
          <p:cNvSpPr/>
          <p:nvPr/>
        </p:nvSpPr>
        <p:spPr>
          <a:xfrm>
            <a:off x="41148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6072" y="3557016"/>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 y="3630168"/>
            <a:ext cx="502920" cy="365760"/>
          </a:xfrm>
          <a:prstGeom prst="rect">
            <a:avLst/>
          </a:prstGeom>
          <a:noFill/>
        </p:spPr>
        <p:txBody>
          <a:bodyPr wrap="square">
            <a:spAutoFit/>
          </a:bodyPr>
          <a:lstStyle/>
          <a:p>
            <a:pPr algn="ctr"/>
            <a:r>
              <a:rPr sz="1400" b="1">
                <a:solidFill>
                  <a:srgbClr val="0A2A6E"/>
                </a:solidFill>
                <a:latin typeface="Calibri"/>
              </a:rPr>
              <a:t>3</a:t>
            </a:r>
          </a:p>
        </p:txBody>
      </p:sp>
      <p:sp>
        <p:nvSpPr>
          <p:cNvPr id="28" name="TextBox 27"/>
          <p:cNvSpPr txBox="1"/>
          <p:nvPr/>
        </p:nvSpPr>
        <p:spPr>
          <a:xfrm>
            <a:off x="1216152" y="3355848"/>
            <a:ext cx="4572000" cy="457200"/>
          </a:xfrm>
          <a:prstGeom prst="rect">
            <a:avLst/>
          </a:prstGeom>
          <a:noFill/>
        </p:spPr>
        <p:txBody>
          <a:bodyPr wrap="square">
            <a:spAutoFit/>
          </a:bodyPr>
          <a:lstStyle/>
          <a:p>
            <a:pPr algn="l"/>
            <a:r>
              <a:rPr sz="1400" b="1">
                <a:solidFill>
                  <a:srgbClr val="0A2A6E"/>
                </a:solidFill>
                <a:latin typeface="Calibri"/>
              </a:rPr>
              <a:t>"exhausted" means...</a:t>
            </a:r>
          </a:p>
        </p:txBody>
      </p:sp>
      <p:sp>
        <p:nvSpPr>
          <p:cNvPr id="29" name="TextBox 28"/>
          <p:cNvSpPr txBox="1"/>
          <p:nvPr/>
        </p:nvSpPr>
        <p:spPr>
          <a:xfrm>
            <a:off x="1216152" y="3858768"/>
            <a:ext cx="4572000" cy="365760"/>
          </a:xfrm>
          <a:prstGeom prst="rect">
            <a:avLst/>
          </a:prstGeom>
          <a:noFill/>
        </p:spPr>
        <p:txBody>
          <a:bodyPr wrap="square">
            <a:spAutoFit/>
          </a:bodyPr>
          <a:lstStyle/>
          <a:p>
            <a:pPr algn="l"/>
            <a:r>
              <a:rPr sz="1200" b="0">
                <a:solidFill>
                  <a:srgbClr val="64748B"/>
                </a:solidFill>
                <a:latin typeface="Calibri"/>
              </a:rPr>
              <a:t>excited  /  very tired  /  hungry</a:t>
            </a:r>
          </a:p>
        </p:txBody>
      </p:sp>
      <p:sp>
        <p:nvSpPr>
          <p:cNvPr id="30" name="Rounded Rectangle 29"/>
          <p:cNvSpPr/>
          <p:nvPr/>
        </p:nvSpPr>
        <p:spPr>
          <a:xfrm>
            <a:off x="6217920" y="3172968"/>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82512" y="3557016"/>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82512" y="3630168"/>
            <a:ext cx="502920" cy="365760"/>
          </a:xfrm>
          <a:prstGeom prst="rect">
            <a:avLst/>
          </a:prstGeom>
          <a:noFill/>
        </p:spPr>
        <p:txBody>
          <a:bodyPr wrap="square">
            <a:spAutoFit/>
          </a:bodyPr>
          <a:lstStyle/>
          <a:p>
            <a:pPr algn="ctr"/>
            <a:r>
              <a:rPr sz="1400" b="1">
                <a:solidFill>
                  <a:srgbClr val="0A2A6E"/>
                </a:solidFill>
                <a:latin typeface="Calibri"/>
              </a:rPr>
              <a:t>4</a:t>
            </a:r>
          </a:p>
        </p:txBody>
      </p:sp>
      <p:sp>
        <p:nvSpPr>
          <p:cNvPr id="33" name="TextBox 32"/>
          <p:cNvSpPr txBox="1"/>
          <p:nvPr/>
        </p:nvSpPr>
        <p:spPr>
          <a:xfrm>
            <a:off x="7022592" y="3355848"/>
            <a:ext cx="4572000" cy="457200"/>
          </a:xfrm>
          <a:prstGeom prst="rect">
            <a:avLst/>
          </a:prstGeom>
          <a:noFill/>
        </p:spPr>
        <p:txBody>
          <a:bodyPr wrap="square">
            <a:spAutoFit/>
          </a:bodyPr>
          <a:lstStyle/>
          <a:p>
            <a:pPr algn="l"/>
            <a:r>
              <a:rPr sz="1400" b="1">
                <a:solidFill>
                  <a:srgbClr val="0A2A6E"/>
                </a:solidFill>
                <a:latin typeface="Calibri"/>
              </a:rPr>
              <a:t>Fix it: "He don't like fish."</a:t>
            </a:r>
          </a:p>
        </p:txBody>
      </p:sp>
      <p:sp>
        <p:nvSpPr>
          <p:cNvPr id="34" name="TextBox 33"/>
          <p:cNvSpPr txBox="1"/>
          <p:nvPr/>
        </p:nvSpPr>
        <p:spPr>
          <a:xfrm>
            <a:off x="7022592" y="3858768"/>
            <a:ext cx="4572000" cy="365760"/>
          </a:xfrm>
          <a:prstGeom prst="rect">
            <a:avLst/>
          </a:prstGeom>
          <a:noFill/>
        </p:spPr>
        <p:txBody>
          <a:bodyPr wrap="square">
            <a:spAutoFit/>
          </a:bodyPr>
          <a:lstStyle/>
          <a:p>
            <a:pPr algn="l"/>
            <a:r>
              <a:rPr sz="1200" b="0">
                <a:solidFill>
                  <a:srgbClr val="64748B"/>
                </a:solidFill>
                <a:latin typeface="Calibri"/>
              </a:rPr>
              <a:t>______________________</a:t>
            </a:r>
          </a:p>
        </p:txBody>
      </p:sp>
      <p:sp>
        <p:nvSpPr>
          <p:cNvPr id="35" name="Rounded Rectangle 34"/>
          <p:cNvSpPr/>
          <p:nvPr/>
        </p:nvSpPr>
        <p:spPr>
          <a:xfrm>
            <a:off x="41148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76072" y="5038344"/>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6072" y="5111496"/>
            <a:ext cx="502920" cy="365760"/>
          </a:xfrm>
          <a:prstGeom prst="rect">
            <a:avLst/>
          </a:prstGeom>
          <a:noFill/>
        </p:spPr>
        <p:txBody>
          <a:bodyPr wrap="square">
            <a:spAutoFit/>
          </a:bodyPr>
          <a:lstStyle/>
          <a:p>
            <a:pPr algn="ctr"/>
            <a:r>
              <a:rPr sz="1400" b="1">
                <a:solidFill>
                  <a:srgbClr val="0A2A6E"/>
                </a:solidFill>
                <a:latin typeface="Calibri"/>
              </a:rPr>
              <a:t>5</a:t>
            </a:r>
          </a:p>
        </p:txBody>
      </p:sp>
      <p:sp>
        <p:nvSpPr>
          <p:cNvPr id="38" name="TextBox 37"/>
          <p:cNvSpPr txBox="1"/>
          <p:nvPr/>
        </p:nvSpPr>
        <p:spPr>
          <a:xfrm>
            <a:off x="1216152" y="4837176"/>
            <a:ext cx="4572000" cy="457200"/>
          </a:xfrm>
          <a:prstGeom prst="rect">
            <a:avLst/>
          </a:prstGeom>
          <a:noFill/>
        </p:spPr>
        <p:txBody>
          <a:bodyPr wrap="square">
            <a:spAutoFit/>
          </a:bodyPr>
          <a:lstStyle/>
          <a:p>
            <a:pPr algn="l"/>
            <a:r>
              <a:rPr sz="1400" b="1">
                <a:solidFill>
                  <a:srgbClr val="0A2A6E"/>
                </a:solidFill>
                <a:latin typeface="Calibri"/>
              </a:rPr>
              <a:t>Why did Maya build a ramp?</a:t>
            </a:r>
          </a:p>
        </p:txBody>
      </p:sp>
      <p:sp>
        <p:nvSpPr>
          <p:cNvPr id="39" name="TextBox 38"/>
          <p:cNvSpPr txBox="1"/>
          <p:nvPr/>
        </p:nvSpPr>
        <p:spPr>
          <a:xfrm>
            <a:off x="1216152" y="5340096"/>
            <a:ext cx="4572000" cy="365760"/>
          </a:xfrm>
          <a:prstGeom prst="rect">
            <a:avLst/>
          </a:prstGeom>
          <a:noFill/>
        </p:spPr>
        <p:txBody>
          <a:bodyPr wrap="square">
            <a:spAutoFit/>
          </a:bodyPr>
          <a:lstStyle/>
          <a:p>
            <a:pPr algn="l"/>
            <a:r>
              <a:rPr sz="1200" b="0">
                <a:solidFill>
                  <a:srgbClr val="64748B"/>
                </a:solidFill>
                <a:latin typeface="Calibri"/>
              </a:rPr>
              <a:t>______________________</a:t>
            </a:r>
          </a:p>
        </p:txBody>
      </p:sp>
      <p:sp>
        <p:nvSpPr>
          <p:cNvPr id="40" name="Rounded Rectangle 39"/>
          <p:cNvSpPr/>
          <p:nvPr/>
        </p:nvSpPr>
        <p:spPr>
          <a:xfrm>
            <a:off x="6217920" y="4654296"/>
            <a:ext cx="553212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382512" y="5038344"/>
            <a:ext cx="502920" cy="50292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82512" y="5111496"/>
            <a:ext cx="502920" cy="365760"/>
          </a:xfrm>
          <a:prstGeom prst="rect">
            <a:avLst/>
          </a:prstGeom>
          <a:noFill/>
        </p:spPr>
        <p:txBody>
          <a:bodyPr wrap="square">
            <a:spAutoFit/>
          </a:bodyPr>
          <a:lstStyle/>
          <a:p>
            <a:pPr algn="ctr"/>
            <a:r>
              <a:rPr sz="1400" b="1">
                <a:solidFill>
                  <a:srgbClr val="0A2A6E"/>
                </a:solidFill>
                <a:latin typeface="Calibri"/>
              </a:rPr>
              <a:t>6</a:t>
            </a:r>
          </a:p>
        </p:txBody>
      </p:sp>
      <p:sp>
        <p:nvSpPr>
          <p:cNvPr id="43" name="TextBox 42"/>
          <p:cNvSpPr txBox="1"/>
          <p:nvPr/>
        </p:nvSpPr>
        <p:spPr>
          <a:xfrm>
            <a:off x="7022592" y="4837176"/>
            <a:ext cx="4572000" cy="457200"/>
          </a:xfrm>
          <a:prstGeom prst="rect">
            <a:avLst/>
          </a:prstGeom>
          <a:noFill/>
        </p:spPr>
        <p:txBody>
          <a:bodyPr wrap="square">
            <a:spAutoFit/>
          </a:bodyPr>
          <a:lstStyle/>
          <a:p>
            <a:pPr algn="l"/>
            <a:r>
              <a:rPr sz="1400" b="1">
                <a:solidFill>
                  <a:srgbClr val="0A2A6E"/>
                </a:solidFill>
                <a:latin typeface="Calibri"/>
              </a:rPr>
              <a:t>Make a FUTURE sentence about you.</a:t>
            </a:r>
          </a:p>
        </p:txBody>
      </p:sp>
      <p:sp>
        <p:nvSpPr>
          <p:cNvPr id="44" name="TextBox 43"/>
          <p:cNvSpPr txBox="1"/>
          <p:nvPr/>
        </p:nvSpPr>
        <p:spPr>
          <a:xfrm>
            <a:off x="7022592" y="5340096"/>
            <a:ext cx="4572000" cy="365760"/>
          </a:xfrm>
          <a:prstGeom prst="rect">
            <a:avLst/>
          </a:prstGeom>
          <a:noFill/>
        </p:spPr>
        <p:txBody>
          <a:bodyPr wrap="square">
            <a:spAutoFit/>
          </a:bodyPr>
          <a:lstStyle/>
          <a:p>
            <a:pPr algn="l"/>
            <a:r>
              <a:rPr sz="1200" b="0">
                <a:solidFill>
                  <a:srgbClr val="64748B"/>
                </a:solidFill>
                <a:latin typeface="Calibri"/>
              </a:rPr>
              <a:t>______________________</a:t>
            </a:r>
          </a:p>
        </p:txBody>
      </p:sp>
    </p:spTree>
  </p:cSld>
  <p:clrMapOvr>
    <a:masterClrMapping/>
  </p:clrMapOvr>
  <p:transition spd="med"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RECAP</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58–60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What Did We Learn Today?</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0214663"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Recap  |  58–60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31 / 37</a:t>
            </a:r>
          </a:p>
        </p:txBody>
      </p:sp>
      <p:sp>
        <p:nvSpPr>
          <p:cNvPr id="14" name="Rounded Rectangle 13"/>
          <p:cNvSpPr/>
          <p:nvPr/>
        </p:nvSpPr>
        <p:spPr>
          <a:xfrm>
            <a:off x="411480" y="1371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783080" y="1572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83080" y="1719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17" name="TextBox 16"/>
          <p:cNvSpPr txBox="1"/>
          <p:nvPr/>
        </p:nvSpPr>
        <p:spPr>
          <a:xfrm>
            <a:off x="548640" y="2468880"/>
            <a:ext cx="3337560" cy="365760"/>
          </a:xfrm>
          <a:prstGeom prst="rect">
            <a:avLst/>
          </a:prstGeom>
          <a:noFill/>
        </p:spPr>
        <p:txBody>
          <a:bodyPr wrap="square">
            <a:spAutoFit/>
          </a:bodyPr>
          <a:lstStyle/>
          <a:p>
            <a:pPr algn="ctr"/>
            <a:r>
              <a:rPr sz="1600" b="1">
                <a:solidFill>
                  <a:srgbClr val="009688"/>
                </a:solidFill>
                <a:latin typeface="Calibri"/>
              </a:rPr>
              <a:t>Reading</a:t>
            </a:r>
          </a:p>
        </p:txBody>
      </p:sp>
      <p:sp>
        <p:nvSpPr>
          <p:cNvPr id="18" name="TextBox 17"/>
          <p:cNvSpPr txBox="1"/>
          <p:nvPr/>
        </p:nvSpPr>
        <p:spPr>
          <a:xfrm>
            <a:off x="548640" y="2852928"/>
            <a:ext cx="3337560" cy="548640"/>
          </a:xfrm>
          <a:prstGeom prst="rect">
            <a:avLst/>
          </a:prstGeom>
          <a:noFill/>
        </p:spPr>
        <p:txBody>
          <a:bodyPr wrap="square">
            <a:spAutoFit/>
          </a:bodyPr>
          <a:lstStyle/>
          <a:p>
            <a:pPr algn="ctr"/>
            <a:r>
              <a:rPr sz="1200" b="0">
                <a:solidFill>
                  <a:srgbClr val="1F2937"/>
                </a:solidFill>
                <a:latin typeface="Calibri"/>
              </a:rPr>
              <a:t>You read a whole story
by yourself!</a:t>
            </a:r>
          </a:p>
        </p:txBody>
      </p:sp>
      <p:sp>
        <p:nvSpPr>
          <p:cNvPr id="19" name="Rounded Rectangle 18"/>
          <p:cNvSpPr/>
          <p:nvPr/>
        </p:nvSpPr>
        <p:spPr>
          <a:xfrm>
            <a:off x="4251960" y="1371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60" y="1572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1719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22" name="TextBox 21"/>
          <p:cNvSpPr txBox="1"/>
          <p:nvPr/>
        </p:nvSpPr>
        <p:spPr>
          <a:xfrm>
            <a:off x="4389120" y="2468880"/>
            <a:ext cx="3337560" cy="365760"/>
          </a:xfrm>
          <a:prstGeom prst="rect">
            <a:avLst/>
          </a:prstGeom>
          <a:noFill/>
        </p:spPr>
        <p:txBody>
          <a:bodyPr wrap="square">
            <a:spAutoFit/>
          </a:bodyPr>
          <a:lstStyle/>
          <a:p>
            <a:pPr algn="ctr"/>
            <a:r>
              <a:rPr sz="1600" b="1">
                <a:solidFill>
                  <a:srgbClr val="009688"/>
                </a:solidFill>
                <a:latin typeface="Calibri"/>
              </a:rPr>
              <a:t>Vocabulary</a:t>
            </a:r>
          </a:p>
        </p:txBody>
      </p:sp>
      <p:sp>
        <p:nvSpPr>
          <p:cNvPr id="23" name="TextBox 22"/>
          <p:cNvSpPr txBox="1"/>
          <p:nvPr/>
        </p:nvSpPr>
        <p:spPr>
          <a:xfrm>
            <a:off x="4389120" y="2852928"/>
            <a:ext cx="3337560" cy="548640"/>
          </a:xfrm>
          <a:prstGeom prst="rect">
            <a:avLst/>
          </a:prstGeom>
          <a:noFill/>
        </p:spPr>
        <p:txBody>
          <a:bodyPr wrap="square">
            <a:spAutoFit/>
          </a:bodyPr>
          <a:lstStyle/>
          <a:p>
            <a:pPr algn="ctr"/>
            <a:r>
              <a:rPr sz="1200" b="0">
                <a:solidFill>
                  <a:srgbClr val="1F2937"/>
                </a:solidFill>
                <a:latin typeface="Calibri"/>
              </a:rPr>
              <a:t>12 brand-new words
in your toolbox.</a:t>
            </a:r>
          </a:p>
        </p:txBody>
      </p:sp>
      <p:sp>
        <p:nvSpPr>
          <p:cNvPr id="24" name="Rounded Rectangle 23"/>
          <p:cNvSpPr/>
          <p:nvPr/>
        </p:nvSpPr>
        <p:spPr>
          <a:xfrm>
            <a:off x="8092440" y="1371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64040" y="1572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1719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27" name="TextBox 26"/>
          <p:cNvSpPr txBox="1"/>
          <p:nvPr/>
        </p:nvSpPr>
        <p:spPr>
          <a:xfrm>
            <a:off x="8229600" y="2468880"/>
            <a:ext cx="3337560" cy="365760"/>
          </a:xfrm>
          <a:prstGeom prst="rect">
            <a:avLst/>
          </a:prstGeom>
          <a:noFill/>
        </p:spPr>
        <p:txBody>
          <a:bodyPr wrap="square">
            <a:spAutoFit/>
          </a:bodyPr>
          <a:lstStyle/>
          <a:p>
            <a:pPr algn="ctr"/>
            <a:r>
              <a:rPr sz="1600" b="1">
                <a:solidFill>
                  <a:srgbClr val="009688"/>
                </a:solidFill>
                <a:latin typeface="Calibri"/>
              </a:rPr>
              <a:t>Tenses</a:t>
            </a:r>
          </a:p>
        </p:txBody>
      </p:sp>
      <p:sp>
        <p:nvSpPr>
          <p:cNvPr id="28" name="TextBox 27"/>
          <p:cNvSpPr txBox="1"/>
          <p:nvPr/>
        </p:nvSpPr>
        <p:spPr>
          <a:xfrm>
            <a:off x="8229600" y="2852928"/>
            <a:ext cx="3337560" cy="548640"/>
          </a:xfrm>
          <a:prstGeom prst="rect">
            <a:avLst/>
          </a:prstGeom>
          <a:noFill/>
        </p:spPr>
        <p:txBody>
          <a:bodyPr wrap="square">
            <a:spAutoFit/>
          </a:bodyPr>
          <a:lstStyle/>
          <a:p>
            <a:pPr algn="ctr"/>
            <a:r>
              <a:rPr sz="1200" b="0">
                <a:solidFill>
                  <a:srgbClr val="1F2937"/>
                </a:solidFill>
                <a:latin typeface="Calibri"/>
              </a:rPr>
              <a:t>All 5 tenses on
one timeline.</a:t>
            </a:r>
          </a:p>
        </p:txBody>
      </p:sp>
      <p:sp>
        <p:nvSpPr>
          <p:cNvPr id="29" name="Rounded Rectangle 28"/>
          <p:cNvSpPr/>
          <p:nvPr/>
        </p:nvSpPr>
        <p:spPr>
          <a:xfrm>
            <a:off x="411480" y="3657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83080" y="3858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83080" y="4005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32" name="TextBox 31"/>
          <p:cNvSpPr txBox="1"/>
          <p:nvPr/>
        </p:nvSpPr>
        <p:spPr>
          <a:xfrm>
            <a:off x="548640" y="4754880"/>
            <a:ext cx="3337560" cy="365760"/>
          </a:xfrm>
          <a:prstGeom prst="rect">
            <a:avLst/>
          </a:prstGeom>
          <a:noFill/>
        </p:spPr>
        <p:txBody>
          <a:bodyPr wrap="square">
            <a:spAutoFit/>
          </a:bodyPr>
          <a:lstStyle/>
          <a:p>
            <a:pPr algn="ctr"/>
            <a:r>
              <a:rPr sz="1600" b="1">
                <a:solidFill>
                  <a:srgbClr val="009688"/>
                </a:solidFill>
                <a:latin typeface="Calibri"/>
              </a:rPr>
              <a:t>Detective</a:t>
            </a:r>
          </a:p>
        </p:txBody>
      </p:sp>
      <p:sp>
        <p:nvSpPr>
          <p:cNvPr id="33" name="TextBox 32"/>
          <p:cNvSpPr txBox="1"/>
          <p:nvPr/>
        </p:nvSpPr>
        <p:spPr>
          <a:xfrm>
            <a:off x="548640" y="5138928"/>
            <a:ext cx="3337560" cy="548640"/>
          </a:xfrm>
          <a:prstGeom prst="rect">
            <a:avLst/>
          </a:prstGeom>
          <a:noFill/>
        </p:spPr>
        <p:txBody>
          <a:bodyPr wrap="square">
            <a:spAutoFit/>
          </a:bodyPr>
          <a:lstStyle/>
          <a:p>
            <a:pPr algn="ctr"/>
            <a:r>
              <a:rPr sz="1200" b="0">
                <a:solidFill>
                  <a:srgbClr val="1F2937"/>
                </a:solidFill>
                <a:latin typeface="Calibri"/>
              </a:rPr>
              <a:t>You found tenses AND
fixed broken sentences.</a:t>
            </a:r>
          </a:p>
        </p:txBody>
      </p:sp>
      <p:sp>
        <p:nvSpPr>
          <p:cNvPr id="34" name="Rounded Rectangle 33"/>
          <p:cNvSpPr/>
          <p:nvPr/>
        </p:nvSpPr>
        <p:spPr>
          <a:xfrm>
            <a:off x="4251960" y="3657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23560" y="3858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23560" y="4005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37" name="TextBox 36"/>
          <p:cNvSpPr txBox="1"/>
          <p:nvPr/>
        </p:nvSpPr>
        <p:spPr>
          <a:xfrm>
            <a:off x="4389120" y="4754880"/>
            <a:ext cx="3337560" cy="365760"/>
          </a:xfrm>
          <a:prstGeom prst="rect">
            <a:avLst/>
          </a:prstGeom>
          <a:noFill/>
        </p:spPr>
        <p:txBody>
          <a:bodyPr wrap="square">
            <a:spAutoFit/>
          </a:bodyPr>
          <a:lstStyle/>
          <a:p>
            <a:pPr algn="ctr"/>
            <a:r>
              <a:rPr sz="1600" b="1">
                <a:solidFill>
                  <a:srgbClr val="009688"/>
                </a:solidFill>
                <a:latin typeface="Calibri"/>
              </a:rPr>
              <a:t>Storytelling</a:t>
            </a:r>
          </a:p>
        </p:txBody>
      </p:sp>
      <p:sp>
        <p:nvSpPr>
          <p:cNvPr id="38" name="TextBox 37"/>
          <p:cNvSpPr txBox="1"/>
          <p:nvPr/>
        </p:nvSpPr>
        <p:spPr>
          <a:xfrm>
            <a:off x="4389120" y="5138928"/>
            <a:ext cx="3337560" cy="548640"/>
          </a:xfrm>
          <a:prstGeom prst="rect">
            <a:avLst/>
          </a:prstGeom>
          <a:noFill/>
        </p:spPr>
        <p:txBody>
          <a:bodyPr wrap="square">
            <a:spAutoFit/>
          </a:bodyPr>
          <a:lstStyle/>
          <a:p>
            <a:pPr algn="ctr"/>
            <a:r>
              <a:rPr sz="1200" b="0">
                <a:solidFill>
                  <a:srgbClr val="1F2937"/>
                </a:solidFill>
                <a:latin typeface="Calibri"/>
              </a:rPr>
              <a:t>You invented your own
adventure story.</a:t>
            </a:r>
          </a:p>
        </p:txBody>
      </p:sp>
      <p:sp>
        <p:nvSpPr>
          <p:cNvPr id="39" name="Rounded Rectangle 38"/>
          <p:cNvSpPr/>
          <p:nvPr/>
        </p:nvSpPr>
        <p:spPr>
          <a:xfrm>
            <a:off x="8092440" y="3657600"/>
            <a:ext cx="36118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464040" y="3858768"/>
            <a:ext cx="822960" cy="822960"/>
          </a:xfrm>
          <a:prstGeom prst="ellipse">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64040" y="4005072"/>
            <a:ext cx="822960" cy="548640"/>
          </a:xfrm>
          <a:prstGeom prst="rect">
            <a:avLst/>
          </a:prstGeom>
          <a:noFill/>
        </p:spPr>
        <p:txBody>
          <a:bodyPr wrap="square">
            <a:spAutoFit/>
          </a:bodyPr>
          <a:lstStyle/>
          <a:p>
            <a:pPr algn="ctr"/>
            <a:r>
              <a:rPr sz="2400" b="0">
                <a:solidFill>
                  <a:srgbClr val="1F2937"/>
                </a:solidFill>
                <a:latin typeface="Calibri"/>
              </a:rPr>
              <a:t>🗣️</a:t>
            </a:r>
          </a:p>
        </p:txBody>
      </p:sp>
      <p:sp>
        <p:nvSpPr>
          <p:cNvPr id="42" name="TextBox 41"/>
          <p:cNvSpPr txBox="1"/>
          <p:nvPr/>
        </p:nvSpPr>
        <p:spPr>
          <a:xfrm>
            <a:off x="8229600" y="4754880"/>
            <a:ext cx="3337560" cy="365760"/>
          </a:xfrm>
          <a:prstGeom prst="rect">
            <a:avLst/>
          </a:prstGeom>
          <a:noFill/>
        </p:spPr>
        <p:txBody>
          <a:bodyPr wrap="square">
            <a:spAutoFit/>
          </a:bodyPr>
          <a:lstStyle/>
          <a:p>
            <a:pPr algn="ctr"/>
            <a:r>
              <a:rPr sz="1600" b="1">
                <a:solidFill>
                  <a:srgbClr val="009688"/>
                </a:solidFill>
                <a:latin typeface="Calibri"/>
              </a:rPr>
              <a:t>Speaking</a:t>
            </a:r>
          </a:p>
        </p:txBody>
      </p:sp>
      <p:sp>
        <p:nvSpPr>
          <p:cNvPr id="43" name="TextBox 42"/>
          <p:cNvSpPr txBox="1"/>
          <p:nvPr/>
        </p:nvSpPr>
        <p:spPr>
          <a:xfrm>
            <a:off x="8229600" y="5138928"/>
            <a:ext cx="3337560" cy="548640"/>
          </a:xfrm>
          <a:prstGeom prst="rect">
            <a:avLst/>
          </a:prstGeom>
          <a:noFill/>
        </p:spPr>
        <p:txBody>
          <a:bodyPr wrap="square">
            <a:spAutoFit/>
          </a:bodyPr>
          <a:lstStyle/>
          <a:p>
            <a:pPr algn="ctr"/>
            <a:r>
              <a:rPr sz="1200" b="0">
                <a:solidFill>
                  <a:srgbClr val="1F2937"/>
                </a:solidFill>
                <a:latin typeface="Calibri"/>
              </a:rPr>
              <a:t>You spoke in past,
present, AND future.</a:t>
            </a:r>
          </a:p>
        </p:txBody>
      </p:sp>
      <p:sp>
        <p:nvSpPr>
          <p:cNvPr id="44" name="TextBox 43"/>
          <p:cNvSpPr txBox="1"/>
          <p:nvPr/>
        </p:nvSpPr>
        <p:spPr>
          <a:xfrm>
            <a:off x="411480" y="5943600"/>
            <a:ext cx="8686800" cy="365760"/>
          </a:xfrm>
          <a:prstGeom prst="rect">
            <a:avLst/>
          </a:prstGeom>
          <a:noFill/>
        </p:spPr>
        <p:txBody>
          <a:bodyPr wrap="square">
            <a:spAutoFit/>
          </a:bodyPr>
          <a:lstStyle/>
          <a:p>
            <a:pPr algn="l"/>
            <a:r>
              <a:rPr sz="1500" b="1">
                <a:solidFill>
                  <a:srgbClr val="FF6F61"/>
                </a:solidFill>
                <a:latin typeface="Calibri"/>
              </a:rPr>
              <a:t>🏆 Six skills in sixty minutes. That is a LOT.</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REFLECT</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58–60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How Do YOU Feel?</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0544168"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Reflection  |  58–60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32 / 37</a:t>
            </a:r>
          </a:p>
        </p:txBody>
      </p:sp>
      <p:sp>
        <p:nvSpPr>
          <p:cNvPr id="14" name="TextBox 13"/>
          <p:cNvSpPr txBox="1"/>
          <p:nvPr/>
        </p:nvSpPr>
        <p:spPr>
          <a:xfrm>
            <a:off x="411480" y="1207008"/>
            <a:ext cx="11338560" cy="365760"/>
          </a:xfrm>
          <a:prstGeom prst="rect">
            <a:avLst/>
          </a:prstGeom>
          <a:noFill/>
        </p:spPr>
        <p:txBody>
          <a:bodyPr wrap="square">
            <a:spAutoFit/>
          </a:bodyPr>
          <a:lstStyle/>
          <a:p>
            <a:pPr algn="l"/>
            <a:r>
              <a:rPr sz="1500" b="1">
                <a:solidFill>
                  <a:srgbClr val="0A2A6E"/>
                </a:solidFill>
                <a:latin typeface="Calibri"/>
              </a:rPr>
              <a:t>Point to the face that matches how you feel. There is no wrong answer!</a:t>
            </a:r>
          </a:p>
        </p:txBody>
      </p:sp>
      <p:sp>
        <p:nvSpPr>
          <p:cNvPr id="15" name="Rounded Rectangle 14"/>
          <p:cNvSpPr/>
          <p:nvPr/>
        </p:nvSpPr>
        <p:spPr>
          <a:xfrm>
            <a:off x="411480" y="1737360"/>
            <a:ext cx="384048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993392"/>
            <a:ext cx="3474720" cy="384048"/>
          </a:xfrm>
          <a:prstGeom prst="rect">
            <a:avLst/>
          </a:prstGeom>
          <a:noFill/>
        </p:spPr>
        <p:txBody>
          <a:bodyPr wrap="square">
            <a:spAutoFit/>
          </a:bodyPr>
          <a:lstStyle/>
          <a:p>
            <a:pPr algn="l"/>
            <a:r>
              <a:rPr sz="1500" b="1">
                <a:solidFill>
                  <a:srgbClr val="0A2A6E"/>
                </a:solidFill>
                <a:latin typeface="Calibri"/>
              </a:rPr>
              <a:t>Reading the story</a:t>
            </a:r>
          </a:p>
        </p:txBody>
      </p:sp>
      <p:sp>
        <p:nvSpPr>
          <p:cNvPr id="17" name="Rounded Rectangle 16"/>
          <p:cNvSpPr/>
          <p:nvPr/>
        </p:nvSpPr>
        <p:spPr>
          <a:xfrm>
            <a:off x="4480560" y="173736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993392"/>
            <a:ext cx="2377440" cy="384048"/>
          </a:xfrm>
          <a:prstGeom prst="rect">
            <a:avLst/>
          </a:prstGeom>
          <a:noFill/>
        </p:spPr>
        <p:txBody>
          <a:bodyPr wrap="square">
            <a:spAutoFit/>
          </a:bodyPr>
          <a:lstStyle/>
          <a:p>
            <a:pPr algn="ctr"/>
            <a:r>
              <a:rPr sz="1300" b="1">
                <a:solidFill>
                  <a:srgbClr val="1F2937"/>
                </a:solidFill>
                <a:latin typeface="Calibri"/>
              </a:rPr>
              <a:t>😐 Still tricky</a:t>
            </a:r>
          </a:p>
        </p:txBody>
      </p:sp>
      <p:sp>
        <p:nvSpPr>
          <p:cNvPr id="19" name="Rounded Rectangle 18"/>
          <p:cNvSpPr/>
          <p:nvPr/>
        </p:nvSpPr>
        <p:spPr>
          <a:xfrm>
            <a:off x="6995160" y="173736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1993392"/>
            <a:ext cx="2377440" cy="384048"/>
          </a:xfrm>
          <a:prstGeom prst="rect">
            <a:avLst/>
          </a:prstGeom>
          <a:noFill/>
        </p:spPr>
        <p:txBody>
          <a:bodyPr wrap="square">
            <a:spAutoFit/>
          </a:bodyPr>
          <a:lstStyle/>
          <a:p>
            <a:pPr algn="ctr"/>
            <a:r>
              <a:rPr sz="1300" b="1">
                <a:solidFill>
                  <a:srgbClr val="1F2937"/>
                </a:solidFill>
                <a:latin typeface="Calibri"/>
              </a:rPr>
              <a:t>🙂 Getting there</a:t>
            </a:r>
          </a:p>
        </p:txBody>
      </p:sp>
      <p:sp>
        <p:nvSpPr>
          <p:cNvPr id="21" name="Rounded Rectangle 20"/>
          <p:cNvSpPr/>
          <p:nvPr/>
        </p:nvSpPr>
        <p:spPr>
          <a:xfrm>
            <a:off x="9509760" y="173736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0" y="1993392"/>
            <a:ext cx="2377440" cy="384048"/>
          </a:xfrm>
          <a:prstGeom prst="rect">
            <a:avLst/>
          </a:prstGeom>
          <a:noFill/>
        </p:spPr>
        <p:txBody>
          <a:bodyPr wrap="square">
            <a:spAutoFit/>
          </a:bodyPr>
          <a:lstStyle/>
          <a:p>
            <a:pPr algn="ctr"/>
            <a:r>
              <a:rPr sz="1300" b="1">
                <a:solidFill>
                  <a:srgbClr val="1F2937"/>
                </a:solidFill>
                <a:latin typeface="Calibri"/>
              </a:rPr>
              <a:t>😃 I've got this!</a:t>
            </a:r>
          </a:p>
        </p:txBody>
      </p:sp>
      <p:sp>
        <p:nvSpPr>
          <p:cNvPr id="23" name="Rounded Rectangle 22"/>
          <p:cNvSpPr/>
          <p:nvPr/>
        </p:nvSpPr>
        <p:spPr>
          <a:xfrm>
            <a:off x="411480" y="2788920"/>
            <a:ext cx="384048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044952"/>
            <a:ext cx="3474720" cy="384048"/>
          </a:xfrm>
          <a:prstGeom prst="rect">
            <a:avLst/>
          </a:prstGeom>
          <a:noFill/>
        </p:spPr>
        <p:txBody>
          <a:bodyPr wrap="square">
            <a:spAutoFit/>
          </a:bodyPr>
          <a:lstStyle/>
          <a:p>
            <a:pPr algn="l"/>
            <a:r>
              <a:rPr sz="1500" b="1">
                <a:solidFill>
                  <a:srgbClr val="0A2A6E"/>
                </a:solidFill>
                <a:latin typeface="Calibri"/>
              </a:rPr>
              <a:t>New words</a:t>
            </a:r>
          </a:p>
        </p:txBody>
      </p:sp>
      <p:sp>
        <p:nvSpPr>
          <p:cNvPr id="25" name="Rounded Rectangle 24"/>
          <p:cNvSpPr/>
          <p:nvPr/>
        </p:nvSpPr>
        <p:spPr>
          <a:xfrm>
            <a:off x="4480560" y="278892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3044952"/>
            <a:ext cx="2377440" cy="384048"/>
          </a:xfrm>
          <a:prstGeom prst="rect">
            <a:avLst/>
          </a:prstGeom>
          <a:noFill/>
        </p:spPr>
        <p:txBody>
          <a:bodyPr wrap="square">
            <a:spAutoFit/>
          </a:bodyPr>
          <a:lstStyle/>
          <a:p>
            <a:pPr algn="ctr"/>
            <a:r>
              <a:rPr sz="1300" b="1">
                <a:solidFill>
                  <a:srgbClr val="1F2937"/>
                </a:solidFill>
                <a:latin typeface="Calibri"/>
              </a:rPr>
              <a:t>😐 Still tricky</a:t>
            </a:r>
          </a:p>
        </p:txBody>
      </p:sp>
      <p:sp>
        <p:nvSpPr>
          <p:cNvPr id="27" name="Rounded Rectangle 26"/>
          <p:cNvSpPr/>
          <p:nvPr/>
        </p:nvSpPr>
        <p:spPr>
          <a:xfrm>
            <a:off x="6995160" y="278892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044952"/>
            <a:ext cx="2377440" cy="384048"/>
          </a:xfrm>
          <a:prstGeom prst="rect">
            <a:avLst/>
          </a:prstGeom>
          <a:noFill/>
        </p:spPr>
        <p:txBody>
          <a:bodyPr wrap="square">
            <a:spAutoFit/>
          </a:bodyPr>
          <a:lstStyle/>
          <a:p>
            <a:pPr algn="ctr"/>
            <a:r>
              <a:rPr sz="1300" b="1">
                <a:solidFill>
                  <a:srgbClr val="1F2937"/>
                </a:solidFill>
                <a:latin typeface="Calibri"/>
              </a:rPr>
              <a:t>🙂 Getting there</a:t>
            </a:r>
          </a:p>
        </p:txBody>
      </p:sp>
      <p:sp>
        <p:nvSpPr>
          <p:cNvPr id="29" name="Rounded Rectangle 28"/>
          <p:cNvSpPr/>
          <p:nvPr/>
        </p:nvSpPr>
        <p:spPr>
          <a:xfrm>
            <a:off x="9509760" y="278892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0" y="3044952"/>
            <a:ext cx="2377440" cy="384048"/>
          </a:xfrm>
          <a:prstGeom prst="rect">
            <a:avLst/>
          </a:prstGeom>
          <a:noFill/>
        </p:spPr>
        <p:txBody>
          <a:bodyPr wrap="square">
            <a:spAutoFit/>
          </a:bodyPr>
          <a:lstStyle/>
          <a:p>
            <a:pPr algn="ctr"/>
            <a:r>
              <a:rPr sz="1300" b="1">
                <a:solidFill>
                  <a:srgbClr val="1F2937"/>
                </a:solidFill>
                <a:latin typeface="Calibri"/>
              </a:rPr>
              <a:t>😃 I've got this!</a:t>
            </a:r>
          </a:p>
        </p:txBody>
      </p:sp>
      <p:sp>
        <p:nvSpPr>
          <p:cNvPr id="31" name="Rounded Rectangle 30"/>
          <p:cNvSpPr/>
          <p:nvPr/>
        </p:nvSpPr>
        <p:spPr>
          <a:xfrm>
            <a:off x="411480" y="3840479"/>
            <a:ext cx="384048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096511"/>
            <a:ext cx="3474720" cy="384048"/>
          </a:xfrm>
          <a:prstGeom prst="rect">
            <a:avLst/>
          </a:prstGeom>
          <a:noFill/>
        </p:spPr>
        <p:txBody>
          <a:bodyPr wrap="square">
            <a:spAutoFit/>
          </a:bodyPr>
          <a:lstStyle/>
          <a:p>
            <a:pPr algn="l"/>
            <a:r>
              <a:rPr sz="1500" b="1">
                <a:solidFill>
                  <a:srgbClr val="0A2A6E"/>
                </a:solidFill>
                <a:latin typeface="Calibri"/>
              </a:rPr>
              <a:t>Tenses</a:t>
            </a:r>
          </a:p>
        </p:txBody>
      </p:sp>
      <p:sp>
        <p:nvSpPr>
          <p:cNvPr id="33" name="Rounded Rectangle 32"/>
          <p:cNvSpPr/>
          <p:nvPr/>
        </p:nvSpPr>
        <p:spPr>
          <a:xfrm>
            <a:off x="4480560" y="3840479"/>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0560" y="4096511"/>
            <a:ext cx="2377440" cy="384048"/>
          </a:xfrm>
          <a:prstGeom prst="rect">
            <a:avLst/>
          </a:prstGeom>
          <a:noFill/>
        </p:spPr>
        <p:txBody>
          <a:bodyPr wrap="square">
            <a:spAutoFit/>
          </a:bodyPr>
          <a:lstStyle/>
          <a:p>
            <a:pPr algn="ctr"/>
            <a:r>
              <a:rPr sz="1300" b="1">
                <a:solidFill>
                  <a:srgbClr val="1F2937"/>
                </a:solidFill>
                <a:latin typeface="Calibri"/>
              </a:rPr>
              <a:t>😐 Still tricky</a:t>
            </a:r>
          </a:p>
        </p:txBody>
      </p:sp>
      <p:sp>
        <p:nvSpPr>
          <p:cNvPr id="35" name="Rounded Rectangle 34"/>
          <p:cNvSpPr/>
          <p:nvPr/>
        </p:nvSpPr>
        <p:spPr>
          <a:xfrm>
            <a:off x="6995160" y="3840479"/>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4096511"/>
            <a:ext cx="2377440" cy="384048"/>
          </a:xfrm>
          <a:prstGeom prst="rect">
            <a:avLst/>
          </a:prstGeom>
          <a:noFill/>
        </p:spPr>
        <p:txBody>
          <a:bodyPr wrap="square">
            <a:spAutoFit/>
          </a:bodyPr>
          <a:lstStyle/>
          <a:p>
            <a:pPr algn="ctr"/>
            <a:r>
              <a:rPr sz="1300" b="1">
                <a:solidFill>
                  <a:srgbClr val="1F2937"/>
                </a:solidFill>
                <a:latin typeface="Calibri"/>
              </a:rPr>
              <a:t>🙂 Getting there</a:t>
            </a:r>
          </a:p>
        </p:txBody>
      </p:sp>
      <p:sp>
        <p:nvSpPr>
          <p:cNvPr id="37" name="Rounded Rectangle 36"/>
          <p:cNvSpPr/>
          <p:nvPr/>
        </p:nvSpPr>
        <p:spPr>
          <a:xfrm>
            <a:off x="9509760" y="3840479"/>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09760" y="4096511"/>
            <a:ext cx="2377440" cy="384048"/>
          </a:xfrm>
          <a:prstGeom prst="rect">
            <a:avLst/>
          </a:prstGeom>
          <a:noFill/>
        </p:spPr>
        <p:txBody>
          <a:bodyPr wrap="square">
            <a:spAutoFit/>
          </a:bodyPr>
          <a:lstStyle/>
          <a:p>
            <a:pPr algn="ctr"/>
            <a:r>
              <a:rPr sz="1300" b="1">
                <a:solidFill>
                  <a:srgbClr val="1F2937"/>
                </a:solidFill>
                <a:latin typeface="Calibri"/>
              </a:rPr>
              <a:t>😃 I've got this!</a:t>
            </a:r>
          </a:p>
        </p:txBody>
      </p:sp>
      <p:sp>
        <p:nvSpPr>
          <p:cNvPr id="39" name="Rounded Rectangle 38"/>
          <p:cNvSpPr/>
          <p:nvPr/>
        </p:nvSpPr>
        <p:spPr>
          <a:xfrm>
            <a:off x="411480" y="4892040"/>
            <a:ext cx="3840480" cy="868680"/>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148072"/>
            <a:ext cx="3474720" cy="384048"/>
          </a:xfrm>
          <a:prstGeom prst="rect">
            <a:avLst/>
          </a:prstGeom>
          <a:noFill/>
        </p:spPr>
        <p:txBody>
          <a:bodyPr wrap="square">
            <a:spAutoFit/>
          </a:bodyPr>
          <a:lstStyle/>
          <a:p>
            <a:pPr algn="l"/>
            <a:r>
              <a:rPr sz="1500" b="1">
                <a:solidFill>
                  <a:srgbClr val="0A2A6E"/>
                </a:solidFill>
                <a:latin typeface="Calibri"/>
              </a:rPr>
              <a:t>Speaking out loud</a:t>
            </a:r>
          </a:p>
        </p:txBody>
      </p:sp>
      <p:sp>
        <p:nvSpPr>
          <p:cNvPr id="41" name="Rounded Rectangle 40"/>
          <p:cNvSpPr/>
          <p:nvPr/>
        </p:nvSpPr>
        <p:spPr>
          <a:xfrm>
            <a:off x="4480560" y="489204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0" y="5148072"/>
            <a:ext cx="2377440" cy="384048"/>
          </a:xfrm>
          <a:prstGeom prst="rect">
            <a:avLst/>
          </a:prstGeom>
          <a:noFill/>
        </p:spPr>
        <p:txBody>
          <a:bodyPr wrap="square">
            <a:spAutoFit/>
          </a:bodyPr>
          <a:lstStyle/>
          <a:p>
            <a:pPr algn="ctr"/>
            <a:r>
              <a:rPr sz="1300" b="1">
                <a:solidFill>
                  <a:srgbClr val="1F2937"/>
                </a:solidFill>
                <a:latin typeface="Calibri"/>
              </a:rPr>
              <a:t>😐 Still tricky</a:t>
            </a:r>
          </a:p>
        </p:txBody>
      </p:sp>
      <p:sp>
        <p:nvSpPr>
          <p:cNvPr id="43" name="Rounded Rectangle 42"/>
          <p:cNvSpPr/>
          <p:nvPr/>
        </p:nvSpPr>
        <p:spPr>
          <a:xfrm>
            <a:off x="6995160" y="489204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95160" y="5148072"/>
            <a:ext cx="2377440" cy="384048"/>
          </a:xfrm>
          <a:prstGeom prst="rect">
            <a:avLst/>
          </a:prstGeom>
          <a:noFill/>
        </p:spPr>
        <p:txBody>
          <a:bodyPr wrap="square">
            <a:spAutoFit/>
          </a:bodyPr>
          <a:lstStyle/>
          <a:p>
            <a:pPr algn="ctr"/>
            <a:r>
              <a:rPr sz="1300" b="1">
                <a:solidFill>
                  <a:srgbClr val="1F2937"/>
                </a:solidFill>
                <a:latin typeface="Calibri"/>
              </a:rPr>
              <a:t>🙂 Getting there</a:t>
            </a:r>
          </a:p>
        </p:txBody>
      </p:sp>
      <p:sp>
        <p:nvSpPr>
          <p:cNvPr id="45" name="Rounded Rectangle 44"/>
          <p:cNvSpPr/>
          <p:nvPr/>
        </p:nvSpPr>
        <p:spPr>
          <a:xfrm>
            <a:off x="9509760" y="4892040"/>
            <a:ext cx="237744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09760" y="5148072"/>
            <a:ext cx="2377440" cy="384048"/>
          </a:xfrm>
          <a:prstGeom prst="rect">
            <a:avLst/>
          </a:prstGeom>
          <a:noFill/>
        </p:spPr>
        <p:txBody>
          <a:bodyPr wrap="square">
            <a:spAutoFit/>
          </a:bodyPr>
          <a:lstStyle/>
          <a:p>
            <a:pPr algn="ctr"/>
            <a:r>
              <a:rPr sz="1300" b="1">
                <a:solidFill>
                  <a:srgbClr val="1F2937"/>
                </a:solidFill>
                <a:latin typeface="Calibri"/>
              </a:rPr>
              <a:t>😃 I've got this!</a:t>
            </a:r>
          </a:p>
        </p:txBody>
      </p:sp>
      <p:sp>
        <p:nvSpPr>
          <p:cNvPr id="47" name="Rounded Rectangle 46"/>
          <p:cNvSpPr/>
          <p:nvPr/>
        </p:nvSpPr>
        <p:spPr>
          <a:xfrm>
            <a:off x="411480" y="6035040"/>
            <a:ext cx="11338560" cy="310896"/>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6053328"/>
            <a:ext cx="10881360" cy="274320"/>
          </a:xfrm>
          <a:prstGeom prst="rect">
            <a:avLst/>
          </a:prstGeom>
          <a:noFill/>
        </p:spPr>
        <p:txBody>
          <a:bodyPr wrap="square">
            <a:spAutoFit/>
          </a:bodyPr>
          <a:lstStyle/>
          <a:p>
            <a:pPr algn="l"/>
            <a:r>
              <a:rPr sz="1300" b="1">
                <a:solidFill>
                  <a:srgbClr val="0A2A6E"/>
                </a:solidFill>
                <a:latin typeface="Calibri"/>
              </a:rPr>
              <a:t>⭐ My favorite part of today was: ________________________________________</a:t>
            </a:r>
          </a:p>
        </p:txBody>
      </p:sp>
    </p:spTree>
  </p:cSld>
  <p:clrMapOvr>
    <a:masterClrMapping/>
  </p:clrMapOvr>
  <p:transition spd="med"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HOMEWORK</a:t>
            </a:r>
          </a:p>
        </p:txBody>
      </p:sp>
      <p:sp>
        <p:nvSpPr>
          <p:cNvPr id="6" name="Rounded Rectangle 5"/>
          <p:cNvSpPr/>
          <p:nvPr/>
        </p:nvSpPr>
        <p:spPr>
          <a:xfrm>
            <a:off x="9555480" y="237744"/>
            <a:ext cx="2286000" cy="347472"/>
          </a:xfrm>
          <a:prstGeom prst="roundRect">
            <a:avLst/>
          </a:prstGeom>
          <a:solidFill>
            <a:srgbClr val="FF6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265176"/>
            <a:ext cx="2286000" cy="310896"/>
          </a:xfrm>
          <a:prstGeom prst="rect">
            <a:avLst/>
          </a:prstGeom>
          <a:noFill/>
        </p:spPr>
        <p:txBody>
          <a:bodyPr wrap="square">
            <a:spAutoFit/>
          </a:bodyPr>
          <a:lstStyle/>
          <a:p>
            <a:pPr algn="ctr"/>
            <a:r>
              <a:rPr sz="1100" b="1">
                <a:solidFill>
                  <a:srgbClr val="FFFFFF"/>
                </a:solidFill>
                <a:latin typeface="Calibri"/>
              </a:rPr>
              <a:t>58–60 min</a:t>
            </a:r>
          </a:p>
        </p:txBody>
      </p:sp>
      <p:sp>
        <p:nvSpPr>
          <p:cNvPr id="8" name="TextBox 7"/>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Fun Practice (Only If You Want!)</a:t>
            </a:r>
          </a:p>
        </p:txBody>
      </p:sp>
      <p:sp>
        <p:nvSpPr>
          <p:cNvPr id="9" name="Rectangle 8"/>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37376"/>
            <a:ext cx="10873673"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Homework  |  58–60 min</a:t>
            </a:r>
          </a:p>
        </p:txBody>
      </p:sp>
      <p:sp>
        <p:nvSpPr>
          <p:cNvPr id="13" name="TextBox 12"/>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33 / 37</a:t>
            </a:r>
          </a:p>
        </p:txBody>
      </p:sp>
      <p:sp>
        <p:nvSpPr>
          <p:cNvPr id="14" name="Rounded Rectangle 13"/>
          <p:cNvSpPr/>
          <p:nvPr/>
        </p:nvSpPr>
        <p:spPr>
          <a:xfrm>
            <a:off x="457200" y="137160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1920240"/>
            <a:ext cx="914400" cy="91440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10312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17" name="TextBox 16"/>
          <p:cNvSpPr txBox="1"/>
          <p:nvPr/>
        </p:nvSpPr>
        <p:spPr>
          <a:xfrm>
            <a:off x="1874520" y="1874520"/>
            <a:ext cx="3840480" cy="868680"/>
          </a:xfrm>
          <a:prstGeom prst="rect">
            <a:avLst/>
          </a:prstGeom>
          <a:noFill/>
        </p:spPr>
        <p:txBody>
          <a:bodyPr wrap="square">
            <a:spAutoFit/>
          </a:bodyPr>
          <a:lstStyle/>
          <a:p>
            <a:pPr algn="l"/>
            <a:r>
              <a:rPr sz="1500" b="1">
                <a:solidFill>
                  <a:srgbClr val="0A2A6E"/>
                </a:solidFill>
                <a:latin typeface="Calibri"/>
              </a:rPr>
              <a:t>Tell a family member the turtle story</a:t>
            </a:r>
          </a:p>
        </p:txBody>
      </p:sp>
      <p:sp>
        <p:nvSpPr>
          <p:cNvPr id="18" name="Rounded Rectangle 17"/>
          <p:cNvSpPr/>
          <p:nvPr/>
        </p:nvSpPr>
        <p:spPr>
          <a:xfrm>
            <a:off x="1874520" y="2743200"/>
            <a:ext cx="1554480" cy="365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20" y="2798064"/>
            <a:ext cx="1554480" cy="292608"/>
          </a:xfrm>
          <a:prstGeom prst="rect">
            <a:avLst/>
          </a:prstGeom>
          <a:noFill/>
        </p:spPr>
        <p:txBody>
          <a:bodyPr wrap="square">
            <a:spAutoFit/>
          </a:bodyPr>
          <a:lstStyle/>
          <a:p>
            <a:pPr algn="ctr"/>
            <a:r>
              <a:rPr sz="1100" b="1">
                <a:solidFill>
                  <a:srgbClr val="0A2A6E"/>
                </a:solidFill>
                <a:latin typeface="Calibri"/>
              </a:rPr>
              <a:t>5 minutes</a:t>
            </a:r>
          </a:p>
        </p:txBody>
      </p:sp>
      <p:sp>
        <p:nvSpPr>
          <p:cNvPr id="20" name="Rounded Rectangle 19"/>
          <p:cNvSpPr/>
          <p:nvPr/>
        </p:nvSpPr>
        <p:spPr>
          <a:xfrm>
            <a:off x="6217920" y="137160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73952" y="1920240"/>
            <a:ext cx="914400" cy="91440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210312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23" name="TextBox 22"/>
          <p:cNvSpPr txBox="1"/>
          <p:nvPr/>
        </p:nvSpPr>
        <p:spPr>
          <a:xfrm>
            <a:off x="7635240" y="1874520"/>
            <a:ext cx="3840480" cy="868680"/>
          </a:xfrm>
          <a:prstGeom prst="rect">
            <a:avLst/>
          </a:prstGeom>
          <a:noFill/>
        </p:spPr>
        <p:txBody>
          <a:bodyPr wrap="square">
            <a:spAutoFit/>
          </a:bodyPr>
          <a:lstStyle/>
          <a:p>
            <a:pPr algn="l"/>
            <a:r>
              <a:rPr sz="1500" b="1">
                <a:solidFill>
                  <a:srgbClr val="0A2A6E"/>
                </a:solidFill>
                <a:latin typeface="Calibri"/>
              </a:rPr>
              <a:t>Write 3 sentences: yesterday, today, tomorrow</a:t>
            </a:r>
          </a:p>
        </p:txBody>
      </p:sp>
      <p:sp>
        <p:nvSpPr>
          <p:cNvPr id="24" name="Rounded Rectangle 23"/>
          <p:cNvSpPr/>
          <p:nvPr/>
        </p:nvSpPr>
        <p:spPr>
          <a:xfrm>
            <a:off x="7635240" y="2743200"/>
            <a:ext cx="1554480" cy="365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798064"/>
            <a:ext cx="1554480" cy="292608"/>
          </a:xfrm>
          <a:prstGeom prst="rect">
            <a:avLst/>
          </a:prstGeom>
          <a:noFill/>
        </p:spPr>
        <p:txBody>
          <a:bodyPr wrap="square">
            <a:spAutoFit/>
          </a:bodyPr>
          <a:lstStyle/>
          <a:p>
            <a:pPr algn="ctr"/>
            <a:r>
              <a:rPr sz="1100" b="1">
                <a:solidFill>
                  <a:srgbClr val="0A2A6E"/>
                </a:solidFill>
                <a:latin typeface="Calibri"/>
              </a:rPr>
              <a:t>5 minutes</a:t>
            </a:r>
          </a:p>
        </p:txBody>
      </p:sp>
      <p:sp>
        <p:nvSpPr>
          <p:cNvPr id="26" name="Rounded Rectangle 25"/>
          <p:cNvSpPr/>
          <p:nvPr/>
        </p:nvSpPr>
        <p:spPr>
          <a:xfrm>
            <a:off x="457200" y="361188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13232" y="4160520"/>
            <a:ext cx="914400" cy="91440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34340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29" name="TextBox 28"/>
          <p:cNvSpPr txBox="1"/>
          <p:nvPr/>
        </p:nvSpPr>
        <p:spPr>
          <a:xfrm>
            <a:off x="1874520" y="4114800"/>
            <a:ext cx="3840480" cy="868680"/>
          </a:xfrm>
          <a:prstGeom prst="rect">
            <a:avLst/>
          </a:prstGeom>
          <a:noFill/>
        </p:spPr>
        <p:txBody>
          <a:bodyPr wrap="square">
            <a:spAutoFit/>
          </a:bodyPr>
          <a:lstStyle/>
          <a:p>
            <a:pPr algn="l"/>
            <a:r>
              <a:rPr sz="1500" b="1">
                <a:solidFill>
                  <a:srgbClr val="0A2A6E"/>
                </a:solidFill>
                <a:latin typeface="Calibri"/>
              </a:rPr>
              <a:t>Spot 5 past-tense verbs in any book</a:t>
            </a:r>
          </a:p>
        </p:txBody>
      </p:sp>
      <p:sp>
        <p:nvSpPr>
          <p:cNvPr id="30" name="Rounded Rectangle 29"/>
          <p:cNvSpPr/>
          <p:nvPr/>
        </p:nvSpPr>
        <p:spPr>
          <a:xfrm>
            <a:off x="1874520" y="4983480"/>
            <a:ext cx="1554480" cy="365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74520" y="5038344"/>
            <a:ext cx="1554480" cy="292608"/>
          </a:xfrm>
          <a:prstGeom prst="rect">
            <a:avLst/>
          </a:prstGeom>
          <a:noFill/>
        </p:spPr>
        <p:txBody>
          <a:bodyPr wrap="square">
            <a:spAutoFit/>
          </a:bodyPr>
          <a:lstStyle/>
          <a:p>
            <a:pPr algn="ctr"/>
            <a:r>
              <a:rPr sz="1100" b="1">
                <a:solidFill>
                  <a:srgbClr val="0A2A6E"/>
                </a:solidFill>
                <a:latin typeface="Calibri"/>
              </a:rPr>
              <a:t>10 minutes</a:t>
            </a:r>
          </a:p>
        </p:txBody>
      </p:sp>
      <p:sp>
        <p:nvSpPr>
          <p:cNvPr id="32" name="Rounded Rectangle 31"/>
          <p:cNvSpPr/>
          <p:nvPr/>
        </p:nvSpPr>
        <p:spPr>
          <a:xfrm>
            <a:off x="6217920" y="3611880"/>
            <a:ext cx="548640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73952" y="4160520"/>
            <a:ext cx="914400" cy="914400"/>
          </a:xfrm>
          <a:prstGeom prst="ellipse">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4343400"/>
            <a:ext cx="914400" cy="548640"/>
          </a:xfrm>
          <a:prstGeom prst="rect">
            <a:avLst/>
          </a:prstGeom>
          <a:noFill/>
        </p:spPr>
        <p:txBody>
          <a:bodyPr wrap="square">
            <a:spAutoFit/>
          </a:bodyPr>
          <a:lstStyle/>
          <a:p>
            <a:pPr algn="ctr"/>
            <a:r>
              <a:rPr sz="2400" b="0">
                <a:solidFill>
                  <a:srgbClr val="1F2937"/>
                </a:solidFill>
                <a:latin typeface="Calibri"/>
              </a:rPr>
              <a:t>🎨</a:t>
            </a:r>
          </a:p>
        </p:txBody>
      </p:sp>
      <p:sp>
        <p:nvSpPr>
          <p:cNvPr id="35" name="TextBox 34"/>
          <p:cNvSpPr txBox="1"/>
          <p:nvPr/>
        </p:nvSpPr>
        <p:spPr>
          <a:xfrm>
            <a:off x="7635240" y="4114800"/>
            <a:ext cx="3840480" cy="868680"/>
          </a:xfrm>
          <a:prstGeom prst="rect">
            <a:avLst/>
          </a:prstGeom>
          <a:noFill/>
        </p:spPr>
        <p:txBody>
          <a:bodyPr wrap="square">
            <a:spAutoFit/>
          </a:bodyPr>
          <a:lstStyle/>
          <a:p>
            <a:pPr algn="l"/>
            <a:r>
              <a:rPr sz="1500" b="1">
                <a:solidFill>
                  <a:srgbClr val="0A2A6E"/>
                </a:solidFill>
                <a:latin typeface="Calibri"/>
              </a:rPr>
              <a:t>Draw your favorite scene and label it</a:t>
            </a:r>
          </a:p>
        </p:txBody>
      </p:sp>
      <p:sp>
        <p:nvSpPr>
          <p:cNvPr id="36" name="Rounded Rectangle 35"/>
          <p:cNvSpPr/>
          <p:nvPr/>
        </p:nvSpPr>
        <p:spPr>
          <a:xfrm>
            <a:off x="7635240" y="4983480"/>
            <a:ext cx="1554480" cy="365760"/>
          </a:xfrm>
          <a:prstGeom prst="round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35240" y="5038344"/>
            <a:ext cx="1554480" cy="292608"/>
          </a:xfrm>
          <a:prstGeom prst="rect">
            <a:avLst/>
          </a:prstGeom>
          <a:noFill/>
        </p:spPr>
        <p:txBody>
          <a:bodyPr wrap="square">
            <a:spAutoFit/>
          </a:bodyPr>
          <a:lstStyle/>
          <a:p>
            <a:pPr algn="ctr"/>
            <a:r>
              <a:rPr sz="1100" b="1">
                <a:solidFill>
                  <a:srgbClr val="0A2A6E"/>
                </a:solidFill>
                <a:latin typeface="Calibri"/>
              </a:rPr>
              <a:t>10 minutes</a:t>
            </a:r>
          </a:p>
        </p:txBody>
      </p:sp>
      <p:sp>
        <p:nvSpPr>
          <p:cNvPr id="38" name="TextBox 37"/>
          <p:cNvSpPr txBox="1"/>
          <p:nvPr/>
        </p:nvSpPr>
        <p:spPr>
          <a:xfrm>
            <a:off x="457200" y="5897880"/>
            <a:ext cx="8686800" cy="365760"/>
          </a:xfrm>
          <a:prstGeom prst="rect">
            <a:avLst/>
          </a:prstGeom>
          <a:noFill/>
        </p:spPr>
        <p:txBody>
          <a:bodyPr wrap="square">
            <a:spAutoFit/>
          </a:bodyPr>
          <a:lstStyle/>
          <a:p>
            <a:pPr algn="l"/>
            <a:r>
              <a:rPr sz="1400" b="1">
                <a:solidFill>
                  <a:srgbClr val="FF6F61"/>
                </a:solidFill>
                <a:latin typeface="Calibri"/>
              </a:rPr>
              <a:t>🎁 Pick just ONE. Doing one thing well beats doing four in a rush.</a:t>
            </a:r>
          </a:p>
        </p:txBody>
      </p:sp>
    </p:spTree>
  </p:cSld>
  <p:clrMapOvr>
    <a:masterClrMapping/>
  </p:clrMapOvr>
  <p:transition spd="med"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188720"/>
            <a:ext cx="777240" cy="777240"/>
          </a:xfrm>
          <a:prstGeom prst="ellipse">
            <a:avLst/>
          </a:prstGeom>
          <a:solidFill>
            <a:srgbClr val="29B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1463040"/>
            <a:ext cx="777240" cy="777240"/>
          </a:xfrm>
          <a:prstGeom prst="ellipse">
            <a:avLst/>
          </a:prstGeom>
          <a:solidFill>
            <a:srgbClr val="F06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45920" y="5120640"/>
            <a:ext cx="777240" cy="77724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0" y="4937760"/>
            <a:ext cx="777240" cy="77724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051560"/>
            <a:ext cx="10972800" cy="640080"/>
          </a:xfrm>
          <a:prstGeom prst="rect">
            <a:avLst/>
          </a:prstGeom>
          <a:noFill/>
        </p:spPr>
        <p:txBody>
          <a:bodyPr wrap="square">
            <a:spAutoFit/>
          </a:bodyPr>
          <a:lstStyle/>
          <a:p>
            <a:pPr algn="ctr"/>
            <a:r>
              <a:rPr sz="4000" b="1">
                <a:solidFill>
                  <a:srgbClr val="FFD54F"/>
                </a:solidFill>
                <a:latin typeface="Georgia"/>
              </a:rPr>
              <a:t>🎉 CONGRATULATIONS! 🎉</a:t>
            </a:r>
          </a:p>
        </p:txBody>
      </p:sp>
      <p:sp>
        <p:nvSpPr>
          <p:cNvPr id="9" name="Oval 8"/>
          <p:cNvSpPr/>
          <p:nvPr/>
        </p:nvSpPr>
        <p:spPr>
          <a:xfrm>
            <a:off x="4956048" y="1965960"/>
            <a:ext cx="2286000" cy="2286000"/>
          </a:xfrm>
          <a:prstGeom prst="ellipse">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56048" y="2514600"/>
            <a:ext cx="2286000" cy="1188720"/>
          </a:xfrm>
          <a:prstGeom prst="rect">
            <a:avLst/>
          </a:prstGeom>
          <a:noFill/>
        </p:spPr>
        <p:txBody>
          <a:bodyPr wrap="square">
            <a:spAutoFit/>
          </a:bodyPr>
          <a:lstStyle/>
          <a:p>
            <a:pPr algn="ctr"/>
            <a:r>
              <a:rPr sz="6000" b="0">
                <a:solidFill>
                  <a:srgbClr val="1F2937"/>
                </a:solidFill>
                <a:latin typeface="Calibri"/>
              </a:rPr>
              <a:t>🏆</a:t>
            </a:r>
          </a:p>
        </p:txBody>
      </p:sp>
      <p:sp>
        <p:nvSpPr>
          <p:cNvPr id="11" name="TextBox 10"/>
          <p:cNvSpPr txBox="1"/>
          <p:nvPr/>
        </p:nvSpPr>
        <p:spPr>
          <a:xfrm>
            <a:off x="640080" y="4526280"/>
            <a:ext cx="10972800" cy="457200"/>
          </a:xfrm>
          <a:prstGeom prst="rect">
            <a:avLst/>
          </a:prstGeom>
          <a:noFill/>
        </p:spPr>
        <p:txBody>
          <a:bodyPr wrap="square">
            <a:spAutoFit/>
          </a:bodyPr>
          <a:lstStyle/>
          <a:p>
            <a:pPr algn="ctr"/>
            <a:r>
              <a:rPr sz="2600" b="1">
                <a:solidFill>
                  <a:srgbClr val="FFFFFF"/>
                </a:solidFill>
                <a:latin typeface="Georgia"/>
              </a:rPr>
              <a:t>You are officially an ENGLISH ADVENTURER!</a:t>
            </a:r>
          </a:p>
        </p:txBody>
      </p:sp>
      <p:sp>
        <p:nvSpPr>
          <p:cNvPr id="12" name="TextBox 11"/>
          <p:cNvSpPr txBox="1"/>
          <p:nvPr/>
        </p:nvSpPr>
        <p:spPr>
          <a:xfrm>
            <a:off x="640080" y="5120640"/>
            <a:ext cx="10972800" cy="822960"/>
          </a:xfrm>
          <a:prstGeom prst="rect">
            <a:avLst/>
          </a:prstGeom>
          <a:noFill/>
        </p:spPr>
        <p:txBody>
          <a:bodyPr wrap="square">
            <a:spAutoFit/>
          </a:bodyPr>
          <a:lstStyle/>
          <a:p>
            <a:pPr algn="ctr"/>
            <a:r>
              <a:rPr sz="1600" b="0">
                <a:solidFill>
                  <a:srgbClr val="E1F5FE"/>
                </a:solidFill>
                <a:latin typeface="Calibri"/>
              </a:rPr>
              <a:t>You read a real story  •  Learned 12 new words  •  Mastered 5 tenses
Told your own adventure  •  Spoke with confidence</a:t>
            </a:r>
          </a:p>
        </p:txBody>
      </p:sp>
      <p:sp>
        <p:nvSpPr>
          <p:cNvPr id="13" name="Rectangle 12"/>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437376"/>
            <a:ext cx="11203179"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Reward  |  58–60 min</a:t>
            </a:r>
          </a:p>
        </p:txBody>
      </p:sp>
      <p:sp>
        <p:nvSpPr>
          <p:cNvPr id="17" name="TextBox 16"/>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34 / 37</a:t>
            </a: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TEACHER ONLY</a:t>
            </a:r>
          </a:p>
        </p:txBody>
      </p:sp>
      <p:sp>
        <p:nvSpPr>
          <p:cNvPr id="6" name="TextBox 5"/>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Teacher Assessment Rubric</a:t>
            </a:r>
          </a:p>
        </p:txBody>
      </p:sp>
      <p:sp>
        <p:nvSpPr>
          <p:cNvPr id="7" name="Rectangle 6"/>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37376"/>
            <a:ext cx="11532684"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Rubric</a:t>
            </a:r>
          </a:p>
        </p:txBody>
      </p:sp>
      <p:sp>
        <p:nvSpPr>
          <p:cNvPr id="11" name="TextBox 10"/>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35 / 37</a:t>
            </a:r>
          </a:p>
        </p:txBody>
      </p:sp>
      <p:sp>
        <p:nvSpPr>
          <p:cNvPr id="12" name="TextBox 11"/>
          <p:cNvSpPr txBox="1"/>
          <p:nvPr/>
        </p:nvSpPr>
        <p:spPr>
          <a:xfrm>
            <a:off x="411480" y="1188720"/>
            <a:ext cx="11338560" cy="320040"/>
          </a:xfrm>
          <a:prstGeom prst="rect">
            <a:avLst/>
          </a:prstGeom>
          <a:noFill/>
        </p:spPr>
        <p:txBody>
          <a:bodyPr wrap="square">
            <a:spAutoFit/>
          </a:bodyPr>
          <a:lstStyle/>
          <a:p>
            <a:pPr algn="l"/>
            <a:r>
              <a:rPr sz="1300" b="1">
                <a:solidFill>
                  <a:srgbClr val="FF6F61"/>
                </a:solidFill>
                <a:latin typeface="Calibri"/>
              </a:rPr>
              <a:t>Fill in after class. Do NOT show this slide to the student.</a:t>
            </a:r>
          </a:p>
        </p:txBody>
      </p:sp>
      <p:sp>
        <p:nvSpPr>
          <p:cNvPr id="13" name="Rounded Rectangle 12"/>
          <p:cNvSpPr/>
          <p:nvPr/>
        </p:nvSpPr>
        <p:spPr>
          <a:xfrm>
            <a:off x="411480" y="1627632"/>
            <a:ext cx="3840480" cy="457200"/>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709928"/>
            <a:ext cx="3566160" cy="320040"/>
          </a:xfrm>
          <a:prstGeom prst="rect">
            <a:avLst/>
          </a:prstGeom>
          <a:noFill/>
        </p:spPr>
        <p:txBody>
          <a:bodyPr wrap="square">
            <a:spAutoFit/>
          </a:bodyPr>
          <a:lstStyle/>
          <a:p>
            <a:pPr algn="l"/>
            <a:r>
              <a:rPr sz="1300" b="1">
                <a:solidFill>
                  <a:srgbClr val="FFFFFF"/>
                </a:solidFill>
                <a:latin typeface="Calibri"/>
              </a:rPr>
              <a:t>SKILL</a:t>
            </a:r>
          </a:p>
        </p:txBody>
      </p:sp>
      <p:sp>
        <p:nvSpPr>
          <p:cNvPr id="15" name="Rounded Rectangle 14"/>
          <p:cNvSpPr/>
          <p:nvPr/>
        </p:nvSpPr>
        <p:spPr>
          <a:xfrm>
            <a:off x="4389120" y="1627632"/>
            <a:ext cx="5120640" cy="457200"/>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728216"/>
            <a:ext cx="4754880" cy="292608"/>
          </a:xfrm>
          <a:prstGeom prst="rect">
            <a:avLst/>
          </a:prstGeom>
          <a:noFill/>
        </p:spPr>
        <p:txBody>
          <a:bodyPr wrap="square">
            <a:spAutoFit/>
          </a:bodyPr>
          <a:lstStyle/>
          <a:p>
            <a:pPr algn="ctr"/>
            <a:r>
              <a:rPr sz="1000" b="1">
                <a:solidFill>
                  <a:srgbClr val="FFFFFF"/>
                </a:solidFill>
                <a:latin typeface="Calibri"/>
              </a:rPr>
              <a:t>⭐  1 Beginning  ·  2 Developing  ·  3 Good  ·  4 Very Good  ·  5 Excellent</a:t>
            </a:r>
          </a:p>
        </p:txBody>
      </p:sp>
      <p:sp>
        <p:nvSpPr>
          <p:cNvPr id="17" name="Rounded Rectangle 16"/>
          <p:cNvSpPr/>
          <p:nvPr/>
        </p:nvSpPr>
        <p:spPr>
          <a:xfrm>
            <a:off x="9646920" y="1627632"/>
            <a:ext cx="2103120" cy="457200"/>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1709928"/>
            <a:ext cx="1828800" cy="320040"/>
          </a:xfrm>
          <a:prstGeom prst="rect">
            <a:avLst/>
          </a:prstGeom>
          <a:noFill/>
        </p:spPr>
        <p:txBody>
          <a:bodyPr wrap="square">
            <a:spAutoFit/>
          </a:bodyPr>
          <a:lstStyle/>
          <a:p>
            <a:pPr algn="l"/>
            <a:r>
              <a:rPr sz="1300" b="1">
                <a:solidFill>
                  <a:srgbClr val="FFFFFF"/>
                </a:solidFill>
                <a:latin typeface="Calibri"/>
              </a:rPr>
              <a:t>NOTES</a:t>
            </a:r>
          </a:p>
        </p:txBody>
      </p:sp>
      <p:sp>
        <p:nvSpPr>
          <p:cNvPr id="19" name="Rounded Rectangle 18"/>
          <p:cNvSpPr/>
          <p:nvPr/>
        </p:nvSpPr>
        <p:spPr>
          <a:xfrm>
            <a:off x="411480" y="2176272"/>
            <a:ext cx="38404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295144"/>
            <a:ext cx="3566160" cy="320040"/>
          </a:xfrm>
          <a:prstGeom prst="rect">
            <a:avLst/>
          </a:prstGeom>
          <a:noFill/>
        </p:spPr>
        <p:txBody>
          <a:bodyPr wrap="square">
            <a:spAutoFit/>
          </a:bodyPr>
          <a:lstStyle/>
          <a:p>
            <a:pPr algn="l"/>
            <a:r>
              <a:rPr sz="1400" b="1">
                <a:solidFill>
                  <a:srgbClr val="0A2A6E"/>
                </a:solidFill>
                <a:latin typeface="Calibri"/>
              </a:rPr>
              <a:t>Reading</a:t>
            </a:r>
          </a:p>
        </p:txBody>
      </p:sp>
      <p:sp>
        <p:nvSpPr>
          <p:cNvPr id="21" name="Rounded Rectangle 20"/>
          <p:cNvSpPr/>
          <p:nvPr/>
        </p:nvSpPr>
        <p:spPr>
          <a:xfrm>
            <a:off x="4389120" y="2176272"/>
            <a:ext cx="51206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2295144"/>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23" name="Rounded Rectangle 22"/>
          <p:cNvSpPr/>
          <p:nvPr/>
        </p:nvSpPr>
        <p:spPr>
          <a:xfrm>
            <a:off x="9646920" y="2176272"/>
            <a:ext cx="210312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2798064"/>
            <a:ext cx="384048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916936"/>
            <a:ext cx="3566160" cy="320040"/>
          </a:xfrm>
          <a:prstGeom prst="rect">
            <a:avLst/>
          </a:prstGeom>
          <a:noFill/>
        </p:spPr>
        <p:txBody>
          <a:bodyPr wrap="square">
            <a:spAutoFit/>
          </a:bodyPr>
          <a:lstStyle/>
          <a:p>
            <a:pPr algn="l"/>
            <a:r>
              <a:rPr sz="1400" b="1">
                <a:solidFill>
                  <a:srgbClr val="0A2A6E"/>
                </a:solidFill>
                <a:latin typeface="Calibri"/>
              </a:rPr>
              <a:t>Vocabulary</a:t>
            </a:r>
          </a:p>
        </p:txBody>
      </p:sp>
      <p:sp>
        <p:nvSpPr>
          <p:cNvPr id="26" name="Rounded Rectangle 25"/>
          <p:cNvSpPr/>
          <p:nvPr/>
        </p:nvSpPr>
        <p:spPr>
          <a:xfrm>
            <a:off x="4389120" y="2798064"/>
            <a:ext cx="512064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2916936"/>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28" name="Rounded Rectangle 27"/>
          <p:cNvSpPr/>
          <p:nvPr/>
        </p:nvSpPr>
        <p:spPr>
          <a:xfrm>
            <a:off x="9646920" y="2798064"/>
            <a:ext cx="210312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1480" y="3419856"/>
            <a:ext cx="38404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538728"/>
            <a:ext cx="3566160" cy="320040"/>
          </a:xfrm>
          <a:prstGeom prst="rect">
            <a:avLst/>
          </a:prstGeom>
          <a:noFill/>
        </p:spPr>
        <p:txBody>
          <a:bodyPr wrap="square">
            <a:spAutoFit/>
          </a:bodyPr>
          <a:lstStyle/>
          <a:p>
            <a:pPr algn="l"/>
            <a:r>
              <a:rPr sz="1400" b="1">
                <a:solidFill>
                  <a:srgbClr val="0A2A6E"/>
                </a:solidFill>
                <a:latin typeface="Calibri"/>
              </a:rPr>
              <a:t>Grammar (Tenses)</a:t>
            </a:r>
          </a:p>
        </p:txBody>
      </p:sp>
      <p:sp>
        <p:nvSpPr>
          <p:cNvPr id="31" name="Rounded Rectangle 30"/>
          <p:cNvSpPr/>
          <p:nvPr/>
        </p:nvSpPr>
        <p:spPr>
          <a:xfrm>
            <a:off x="4389120" y="3419856"/>
            <a:ext cx="51206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3538728"/>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33" name="Rounded Rectangle 32"/>
          <p:cNvSpPr/>
          <p:nvPr/>
        </p:nvSpPr>
        <p:spPr>
          <a:xfrm>
            <a:off x="9646920" y="3419856"/>
            <a:ext cx="210312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11480" y="4041648"/>
            <a:ext cx="384048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160520"/>
            <a:ext cx="3566160" cy="320040"/>
          </a:xfrm>
          <a:prstGeom prst="rect">
            <a:avLst/>
          </a:prstGeom>
          <a:noFill/>
        </p:spPr>
        <p:txBody>
          <a:bodyPr wrap="square">
            <a:spAutoFit/>
          </a:bodyPr>
          <a:lstStyle/>
          <a:p>
            <a:pPr algn="l"/>
            <a:r>
              <a:rPr sz="1400" b="1">
                <a:solidFill>
                  <a:srgbClr val="0A2A6E"/>
                </a:solidFill>
                <a:latin typeface="Calibri"/>
              </a:rPr>
              <a:t>Speaking</a:t>
            </a:r>
          </a:p>
        </p:txBody>
      </p:sp>
      <p:sp>
        <p:nvSpPr>
          <p:cNvPr id="36" name="Rounded Rectangle 35"/>
          <p:cNvSpPr/>
          <p:nvPr/>
        </p:nvSpPr>
        <p:spPr>
          <a:xfrm>
            <a:off x="4389120" y="4041648"/>
            <a:ext cx="512064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4160520"/>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38" name="Rounded Rectangle 37"/>
          <p:cNvSpPr/>
          <p:nvPr/>
        </p:nvSpPr>
        <p:spPr>
          <a:xfrm>
            <a:off x="9646920" y="4041648"/>
            <a:ext cx="210312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11480" y="4663440"/>
            <a:ext cx="38404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4782312"/>
            <a:ext cx="3566160" cy="320040"/>
          </a:xfrm>
          <a:prstGeom prst="rect">
            <a:avLst/>
          </a:prstGeom>
          <a:noFill/>
        </p:spPr>
        <p:txBody>
          <a:bodyPr wrap="square">
            <a:spAutoFit/>
          </a:bodyPr>
          <a:lstStyle/>
          <a:p>
            <a:pPr algn="l"/>
            <a:r>
              <a:rPr sz="1400" b="1">
                <a:solidFill>
                  <a:srgbClr val="0A2A6E"/>
                </a:solidFill>
                <a:latin typeface="Calibri"/>
              </a:rPr>
              <a:t>Pronunciation</a:t>
            </a:r>
          </a:p>
        </p:txBody>
      </p:sp>
      <p:sp>
        <p:nvSpPr>
          <p:cNvPr id="41" name="Rounded Rectangle 40"/>
          <p:cNvSpPr/>
          <p:nvPr/>
        </p:nvSpPr>
        <p:spPr>
          <a:xfrm>
            <a:off x="4389120" y="4663440"/>
            <a:ext cx="51206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0" y="4782312"/>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43" name="Rounded Rectangle 42"/>
          <p:cNvSpPr/>
          <p:nvPr/>
        </p:nvSpPr>
        <p:spPr>
          <a:xfrm>
            <a:off x="9646920" y="4663440"/>
            <a:ext cx="210312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11480" y="5285232"/>
            <a:ext cx="384048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404104"/>
            <a:ext cx="3566160" cy="320040"/>
          </a:xfrm>
          <a:prstGeom prst="rect">
            <a:avLst/>
          </a:prstGeom>
          <a:noFill/>
        </p:spPr>
        <p:txBody>
          <a:bodyPr wrap="square">
            <a:spAutoFit/>
          </a:bodyPr>
          <a:lstStyle/>
          <a:p>
            <a:pPr algn="l"/>
            <a:r>
              <a:rPr sz="1400" b="1">
                <a:solidFill>
                  <a:srgbClr val="0A2A6E"/>
                </a:solidFill>
                <a:latin typeface="Calibri"/>
              </a:rPr>
              <a:t>Confidence</a:t>
            </a:r>
          </a:p>
        </p:txBody>
      </p:sp>
      <p:sp>
        <p:nvSpPr>
          <p:cNvPr id="46" name="Rounded Rectangle 45"/>
          <p:cNvSpPr/>
          <p:nvPr/>
        </p:nvSpPr>
        <p:spPr>
          <a:xfrm>
            <a:off x="4389120" y="5285232"/>
            <a:ext cx="512064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0" y="5404104"/>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48" name="Rounded Rectangle 47"/>
          <p:cNvSpPr/>
          <p:nvPr/>
        </p:nvSpPr>
        <p:spPr>
          <a:xfrm>
            <a:off x="9646920" y="5285232"/>
            <a:ext cx="2103120" cy="530352"/>
          </a:xfrm>
          <a:prstGeom prst="round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11480" y="5907024"/>
            <a:ext cx="38404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6025896"/>
            <a:ext cx="3566160" cy="320040"/>
          </a:xfrm>
          <a:prstGeom prst="rect">
            <a:avLst/>
          </a:prstGeom>
          <a:noFill/>
        </p:spPr>
        <p:txBody>
          <a:bodyPr wrap="square">
            <a:spAutoFit/>
          </a:bodyPr>
          <a:lstStyle/>
          <a:p>
            <a:pPr algn="l"/>
            <a:r>
              <a:rPr sz="1400" b="1">
                <a:solidFill>
                  <a:srgbClr val="0A2A6E"/>
                </a:solidFill>
                <a:latin typeface="Calibri"/>
              </a:rPr>
              <a:t>Participation</a:t>
            </a:r>
          </a:p>
        </p:txBody>
      </p:sp>
      <p:sp>
        <p:nvSpPr>
          <p:cNvPr id="51" name="Rounded Rectangle 50"/>
          <p:cNvSpPr/>
          <p:nvPr/>
        </p:nvSpPr>
        <p:spPr>
          <a:xfrm>
            <a:off x="4389120" y="5907024"/>
            <a:ext cx="512064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0" y="6025896"/>
            <a:ext cx="4754880" cy="320040"/>
          </a:xfrm>
          <a:prstGeom prst="rect">
            <a:avLst/>
          </a:prstGeom>
          <a:noFill/>
        </p:spPr>
        <p:txBody>
          <a:bodyPr wrap="square">
            <a:spAutoFit/>
          </a:bodyPr>
          <a:lstStyle/>
          <a:p>
            <a:pPr algn="ctr"/>
            <a:r>
              <a:rPr sz="1500" b="0">
                <a:solidFill>
                  <a:srgbClr val="64748B"/>
                </a:solidFill>
                <a:latin typeface="Calibri"/>
              </a:rPr>
              <a:t>☆    ☆    ☆    ☆    ☆</a:t>
            </a:r>
          </a:p>
        </p:txBody>
      </p:sp>
      <p:sp>
        <p:nvSpPr>
          <p:cNvPr id="53" name="Rounded Rectangle 52"/>
          <p:cNvSpPr/>
          <p:nvPr/>
        </p:nvSpPr>
        <p:spPr>
          <a:xfrm>
            <a:off x="9646920" y="5907024"/>
            <a:ext cx="210312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TEACHER ONLY</a:t>
            </a:r>
          </a:p>
        </p:txBody>
      </p:sp>
      <p:sp>
        <p:nvSpPr>
          <p:cNvPr id="6" name="TextBox 5"/>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Answer Key — Reading &amp; Vocabulary</a:t>
            </a:r>
          </a:p>
        </p:txBody>
      </p:sp>
      <p:sp>
        <p:nvSpPr>
          <p:cNvPr id="7" name="Rectangle 6"/>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37376"/>
            <a:ext cx="11862189"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Answer key</a:t>
            </a:r>
          </a:p>
        </p:txBody>
      </p:sp>
      <p:sp>
        <p:nvSpPr>
          <p:cNvPr id="11" name="TextBox 10"/>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36 / 37</a:t>
            </a:r>
          </a:p>
        </p:txBody>
      </p:sp>
      <p:sp>
        <p:nvSpPr>
          <p:cNvPr id="12" name="TextBox 11"/>
          <p:cNvSpPr txBox="1"/>
          <p:nvPr/>
        </p:nvSpPr>
        <p:spPr>
          <a:xfrm>
            <a:off x="411480" y="1188720"/>
            <a:ext cx="11338560" cy="320040"/>
          </a:xfrm>
          <a:prstGeom prst="rect">
            <a:avLst/>
          </a:prstGeom>
          <a:noFill/>
        </p:spPr>
        <p:txBody>
          <a:bodyPr wrap="square">
            <a:spAutoFit/>
          </a:bodyPr>
          <a:lstStyle/>
          <a:p>
            <a:pPr algn="l"/>
            <a:r>
              <a:rPr sz="1300" b="1">
                <a:solidFill>
                  <a:srgbClr val="FF6F61"/>
                </a:solidFill>
                <a:latin typeface="Calibri"/>
              </a:rPr>
              <a:t>TEACHER ONLY — hide this slide before presenting.</a:t>
            </a:r>
          </a:p>
        </p:txBody>
      </p:sp>
      <p:sp>
        <p:nvSpPr>
          <p:cNvPr id="13" name="Rounded Rectangle 12"/>
          <p:cNvSpPr/>
          <p:nvPr/>
        </p:nvSpPr>
        <p:spPr>
          <a:xfrm>
            <a:off x="411480" y="1627632"/>
            <a:ext cx="55778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810512"/>
            <a:ext cx="5120640" cy="365760"/>
          </a:xfrm>
          <a:prstGeom prst="rect">
            <a:avLst/>
          </a:prstGeom>
          <a:noFill/>
        </p:spPr>
        <p:txBody>
          <a:bodyPr wrap="square">
            <a:spAutoFit/>
          </a:bodyPr>
          <a:lstStyle/>
          <a:p>
            <a:pPr algn="l"/>
            <a:r>
              <a:rPr sz="1600" b="1">
                <a:solidFill>
                  <a:srgbClr val="29B6F6"/>
                </a:solidFill>
                <a:latin typeface="Calibri"/>
              </a:rPr>
              <a:t>📖 Reading — Story Detective</a:t>
            </a:r>
          </a:p>
        </p:txBody>
      </p:sp>
      <p:sp>
        <p:nvSpPr>
          <p:cNvPr id="15" name="TextBox 14"/>
          <p:cNvSpPr txBox="1"/>
          <p:nvPr/>
        </p:nvSpPr>
        <p:spPr>
          <a:xfrm>
            <a:off x="640080" y="2240280"/>
            <a:ext cx="5120640" cy="3749039"/>
          </a:xfrm>
          <a:prstGeom prst="rect">
            <a:avLst/>
          </a:prstGeom>
          <a:noFill/>
        </p:spPr>
        <p:txBody>
          <a:bodyPr wrap="square">
            <a:spAutoFit/>
          </a:bodyPr>
          <a:lstStyle/>
          <a:p>
            <a:pPr>
              <a:spcAft>
                <a:spcPts val="700"/>
              </a:spcAft>
            </a:pPr>
            <a:r>
              <a:rPr sz="1200" b="0">
                <a:solidFill>
                  <a:srgbClr val="1F2937"/>
                </a:solidFill>
                <a:latin typeface="Calibri"/>
              </a:rPr>
              <a:t>•  MC: b) White light confuses baby turtles</a:t>
            </a:r>
          </a:p>
          <a:p>
            <a:pPr>
              <a:spcAft>
                <a:spcPts val="700"/>
              </a:spcAft>
            </a:pPr>
            <a:r>
              <a:rPr sz="1200" b="0">
                <a:solidFill>
                  <a:srgbClr val="1F2937"/>
                </a:solidFill>
                <a:latin typeface="Calibri"/>
              </a:rPr>
              <a:t>•  T/F: FALSE — she built a sand ramp</a:t>
            </a:r>
          </a:p>
          <a:p>
            <a:pPr>
              <a:spcAft>
                <a:spcPts val="700"/>
              </a:spcAft>
            </a:pPr>
            <a:r>
              <a:rPr sz="1200" b="0">
                <a:solidFill>
                  <a:srgbClr val="1F2937"/>
                </a:solidFill>
                <a:latin typeface="Calibri"/>
              </a:rPr>
              <a:t>•  Blank: ninety-two</a:t>
            </a:r>
          </a:p>
          <a:p>
            <a:pPr>
              <a:spcAft>
                <a:spcPts val="700"/>
              </a:spcAft>
            </a:pPr>
            <a:r>
              <a:rPr sz="1200" b="0">
                <a:solidFill>
                  <a:srgbClr val="1F2937"/>
                </a:solidFill>
                <a:latin typeface="Calibri"/>
              </a:rPr>
              <a:t>•  Order: 2, 1, 4, 3</a:t>
            </a:r>
          </a:p>
          <a:p>
            <a:pPr>
              <a:spcAft>
                <a:spcPts val="700"/>
              </a:spcAft>
            </a:pPr>
            <a:r>
              <a:rPr sz="1200" b="0">
                <a:solidFill>
                  <a:srgbClr val="1F2937"/>
                </a:solidFill>
                <a:latin typeface="Calibri"/>
              </a:rPr>
              <a:t>•  Problem: 3 hatchlings trapped in a tire track</a:t>
            </a:r>
          </a:p>
          <a:p>
            <a:pPr>
              <a:spcAft>
                <a:spcPts val="700"/>
              </a:spcAft>
            </a:pPr>
            <a:r>
              <a:rPr sz="1200" b="0">
                <a:solidFill>
                  <a:srgbClr val="1F2937"/>
                </a:solidFill>
                <a:latin typeface="Calibri"/>
              </a:rPr>
              <a:t>•  Main idea: b) A girl helps turtles reach the sea</a:t>
            </a:r>
          </a:p>
          <a:p>
            <a:pPr>
              <a:spcAft>
                <a:spcPts val="700"/>
              </a:spcAft>
            </a:pPr>
            <a:r>
              <a:rPr sz="1200" b="0">
                <a:solidFill>
                  <a:srgbClr val="1F2937"/>
                </a:solidFill>
                <a:latin typeface="Calibri"/>
              </a:rPr>
              <a:t>•  Inference: Maya always helps / Diego knows her well</a:t>
            </a:r>
          </a:p>
          <a:p>
            <a:pPr>
              <a:spcAft>
                <a:spcPts val="700"/>
              </a:spcAft>
            </a:pPr>
            <a:r>
              <a:rPr sz="1200" b="0">
                <a:solidFill>
                  <a:srgbClr val="1F2937"/>
                </a:solidFill>
                <a:latin typeface="Calibri"/>
              </a:rPr>
              <a:t>•  Opinion: any answer with a reason</a:t>
            </a:r>
          </a:p>
        </p:txBody>
      </p:sp>
      <p:sp>
        <p:nvSpPr>
          <p:cNvPr id="16" name="Rounded Rectangle 15"/>
          <p:cNvSpPr/>
          <p:nvPr/>
        </p:nvSpPr>
        <p:spPr>
          <a:xfrm>
            <a:off x="6172200" y="1627632"/>
            <a:ext cx="55778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10512"/>
            <a:ext cx="5120640" cy="365760"/>
          </a:xfrm>
          <a:prstGeom prst="rect">
            <a:avLst/>
          </a:prstGeom>
          <a:noFill/>
        </p:spPr>
        <p:txBody>
          <a:bodyPr wrap="square">
            <a:spAutoFit/>
          </a:bodyPr>
          <a:lstStyle/>
          <a:p>
            <a:pPr algn="l"/>
            <a:r>
              <a:rPr sz="1600" b="1">
                <a:solidFill>
                  <a:srgbClr val="009688"/>
                </a:solidFill>
                <a:latin typeface="Calibri"/>
              </a:rPr>
              <a:t>📚 Vocabulary Games</a:t>
            </a:r>
          </a:p>
        </p:txBody>
      </p:sp>
      <p:sp>
        <p:nvSpPr>
          <p:cNvPr id="18" name="TextBox 17"/>
          <p:cNvSpPr txBox="1"/>
          <p:nvPr/>
        </p:nvSpPr>
        <p:spPr>
          <a:xfrm>
            <a:off x="6400800" y="2240280"/>
            <a:ext cx="5120640" cy="3749039"/>
          </a:xfrm>
          <a:prstGeom prst="rect">
            <a:avLst/>
          </a:prstGeom>
          <a:noFill/>
        </p:spPr>
        <p:txBody>
          <a:bodyPr wrap="square">
            <a:spAutoFit/>
          </a:bodyPr>
          <a:lstStyle/>
          <a:p>
            <a:pPr>
              <a:spcAft>
                <a:spcPts val="1000"/>
              </a:spcAft>
            </a:pPr>
            <a:r>
              <a:rPr sz="1200" b="0">
                <a:solidFill>
                  <a:srgbClr val="1F2937"/>
                </a:solidFill>
                <a:latin typeface="Calibri"/>
              </a:rPr>
              <a:t>•  Guess the Word: hatchling, exhausted, volunteer, journey</a:t>
            </a:r>
          </a:p>
          <a:p>
            <a:pPr>
              <a:spcAft>
                <a:spcPts val="1000"/>
              </a:spcAft>
            </a:pPr>
            <a:r>
              <a:rPr sz="1200" b="0">
                <a:solidFill>
                  <a:srgbClr val="1F2937"/>
                </a:solidFill>
                <a:latin typeface="Calibri"/>
              </a:rPr>
              <a:t>•  Word Detective: exhausted, journey, canyon</a:t>
            </a:r>
          </a:p>
          <a:p>
            <a:pPr>
              <a:spcAft>
                <a:spcPts val="1000"/>
              </a:spcAft>
            </a:pPr>
            <a:r>
              <a:rPr sz="1200" b="0">
                <a:solidFill>
                  <a:srgbClr val="1F2937"/>
                </a:solidFill>
                <a:latin typeface="Calibri"/>
              </a:rPr>
              <a:t>•  Match It: 1–C, 2–E, 3–A, 4–B, 5–D</a:t>
            </a:r>
          </a:p>
          <a:p>
            <a:pPr>
              <a:spcAft>
                <a:spcPts val="1000"/>
              </a:spcAft>
            </a:pPr>
            <a:r>
              <a:rPr sz="1200" b="0">
                <a:solidFill>
                  <a:srgbClr val="1F2937"/>
                </a:solidFill>
                <a:latin typeface="Calibri"/>
              </a:rPr>
              <a:t>•  Use the Word: any correct full sentence</a:t>
            </a:r>
          </a:p>
          <a:p>
            <a:pPr>
              <a:spcAft>
                <a:spcPts val="1000"/>
              </a:spcAft>
            </a:pPr>
            <a:r>
              <a:rPr sz="1200" b="0">
                <a:solidFill>
                  <a:srgbClr val="1F2937"/>
                </a:solidFill>
                <a:latin typeface="Calibri"/>
              </a:rPr>
              <a:t>•  Vocabulary in context: exhausted = very tired</a:t>
            </a:r>
          </a:p>
        </p:txBody>
      </p:sp>
    </p:spTree>
  </p:cSld>
  <p:clrMapOvr>
    <a:masterClrMapping/>
  </p:clrMapOvr>
  <p:transition spd="med"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7472" y="237744"/>
            <a:ext cx="2651760" cy="347472"/>
          </a:xfrm>
          <a:prstGeom prst="round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265176"/>
            <a:ext cx="2651760" cy="310896"/>
          </a:xfrm>
          <a:prstGeom prst="rect">
            <a:avLst/>
          </a:prstGeom>
          <a:noFill/>
        </p:spPr>
        <p:txBody>
          <a:bodyPr wrap="square">
            <a:spAutoFit/>
          </a:bodyPr>
          <a:lstStyle/>
          <a:p>
            <a:pPr algn="ctr"/>
            <a:r>
              <a:rPr sz="1100" b="1">
                <a:solidFill>
                  <a:srgbClr val="FFFFFF"/>
                </a:solidFill>
                <a:latin typeface="Calibri"/>
              </a:rPr>
              <a:t>TEACHER ONLY</a:t>
            </a:r>
          </a:p>
        </p:txBody>
      </p:sp>
      <p:sp>
        <p:nvSpPr>
          <p:cNvPr id="6" name="TextBox 5"/>
          <p:cNvSpPr txBox="1"/>
          <p:nvPr/>
        </p:nvSpPr>
        <p:spPr>
          <a:xfrm>
            <a:off x="347472" y="694944"/>
            <a:ext cx="11338560" cy="502920"/>
          </a:xfrm>
          <a:prstGeom prst="rect">
            <a:avLst/>
          </a:prstGeom>
          <a:noFill/>
        </p:spPr>
        <p:txBody>
          <a:bodyPr wrap="square">
            <a:spAutoFit/>
          </a:bodyPr>
          <a:lstStyle/>
          <a:p>
            <a:pPr algn="l"/>
            <a:r>
              <a:rPr sz="2600" b="1">
                <a:solidFill>
                  <a:srgbClr val="0A2A6E"/>
                </a:solidFill>
                <a:latin typeface="Georgia"/>
              </a:rPr>
              <a:t>🔑 Answer Key — Grammar &amp; Tense Games</a:t>
            </a:r>
          </a:p>
        </p:txBody>
      </p:sp>
      <p:sp>
        <p:nvSpPr>
          <p:cNvPr id="7" name="Rectangle 6"/>
          <p:cNvSpPr/>
          <p:nvPr/>
        </p:nvSpPr>
        <p:spPr>
          <a:xfrm>
            <a:off x="0" y="6437376"/>
            <a:ext cx="12191695" cy="73152"/>
          </a:xfrm>
          <a:prstGeom prst="rect">
            <a:avLst/>
          </a:prstGeom>
          <a:solidFill>
            <a:srgbClr val="DD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37376"/>
            <a:ext cx="12191695" cy="7315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10528"/>
            <a:ext cx="12191695" cy="347472"/>
          </a:xfrm>
          <a:prstGeom prst="rect">
            <a:avLst/>
          </a:prstGeom>
          <a:solidFill>
            <a:srgbClr val="0A2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37960"/>
            <a:ext cx="10424160" cy="274320"/>
          </a:xfrm>
          <a:prstGeom prst="rect">
            <a:avLst/>
          </a:prstGeom>
          <a:noFill/>
        </p:spPr>
        <p:txBody>
          <a:bodyPr wrap="square">
            <a:spAutoFit/>
          </a:bodyPr>
          <a:lstStyle/>
          <a:p>
            <a:pPr algn="l"/>
            <a:r>
              <a:rPr sz="1000" b="0">
                <a:solidFill>
                  <a:srgbClr val="FFFFFF"/>
                </a:solidFill>
                <a:latin typeface="Calibri"/>
              </a:rPr>
              <a:t>Grade 5 English Adventure  |  60 min  |  Answer key</a:t>
            </a:r>
          </a:p>
        </p:txBody>
      </p:sp>
      <p:sp>
        <p:nvSpPr>
          <p:cNvPr id="11" name="TextBox 10"/>
          <p:cNvSpPr txBox="1"/>
          <p:nvPr/>
        </p:nvSpPr>
        <p:spPr>
          <a:xfrm>
            <a:off x="10881360" y="6537960"/>
            <a:ext cx="1051560" cy="274320"/>
          </a:xfrm>
          <a:prstGeom prst="rect">
            <a:avLst/>
          </a:prstGeom>
          <a:noFill/>
        </p:spPr>
        <p:txBody>
          <a:bodyPr wrap="square">
            <a:spAutoFit/>
          </a:bodyPr>
          <a:lstStyle/>
          <a:p>
            <a:pPr algn="r"/>
            <a:r>
              <a:rPr sz="1000" b="0">
                <a:solidFill>
                  <a:srgbClr val="FFFFFF"/>
                </a:solidFill>
                <a:latin typeface="Calibri"/>
              </a:rPr>
              <a:t>37 / 37</a:t>
            </a:r>
          </a:p>
        </p:txBody>
      </p:sp>
      <p:sp>
        <p:nvSpPr>
          <p:cNvPr id="12" name="TextBox 11"/>
          <p:cNvSpPr txBox="1"/>
          <p:nvPr/>
        </p:nvSpPr>
        <p:spPr>
          <a:xfrm>
            <a:off x="411480" y="1188720"/>
            <a:ext cx="11338560" cy="320040"/>
          </a:xfrm>
          <a:prstGeom prst="rect">
            <a:avLst/>
          </a:prstGeom>
          <a:noFill/>
        </p:spPr>
        <p:txBody>
          <a:bodyPr wrap="square">
            <a:spAutoFit/>
          </a:bodyPr>
          <a:lstStyle/>
          <a:p>
            <a:pPr algn="l"/>
            <a:r>
              <a:rPr sz="1300" b="1">
                <a:solidFill>
                  <a:srgbClr val="FF6F61"/>
                </a:solidFill>
                <a:latin typeface="Calibri"/>
              </a:rPr>
              <a:t>TEACHER ONLY — hide this slide before presenting.</a:t>
            </a:r>
          </a:p>
        </p:txBody>
      </p:sp>
      <p:sp>
        <p:nvSpPr>
          <p:cNvPr id="13" name="Rounded Rectangle 12"/>
          <p:cNvSpPr/>
          <p:nvPr/>
        </p:nvSpPr>
        <p:spPr>
          <a:xfrm>
            <a:off x="411480" y="1627632"/>
            <a:ext cx="55778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810512"/>
            <a:ext cx="5120640" cy="365760"/>
          </a:xfrm>
          <a:prstGeom prst="rect">
            <a:avLst/>
          </a:prstGeom>
          <a:noFill/>
        </p:spPr>
        <p:txBody>
          <a:bodyPr wrap="square">
            <a:spAutoFit/>
          </a:bodyPr>
          <a:lstStyle/>
          <a:p>
            <a:pPr algn="l"/>
            <a:r>
              <a:rPr sz="1500" b="1">
                <a:solidFill>
                  <a:srgbClr val="F06292"/>
                </a:solidFill>
                <a:latin typeface="Calibri"/>
              </a:rPr>
              <a:t>🕵️ Tense Detective &amp; Fix the Sentence</a:t>
            </a:r>
          </a:p>
        </p:txBody>
      </p:sp>
      <p:sp>
        <p:nvSpPr>
          <p:cNvPr id="15" name="TextBox 14"/>
          <p:cNvSpPr txBox="1"/>
          <p:nvPr/>
        </p:nvSpPr>
        <p:spPr>
          <a:xfrm>
            <a:off x="640080" y="2240280"/>
            <a:ext cx="5120640" cy="3749039"/>
          </a:xfrm>
          <a:prstGeom prst="rect">
            <a:avLst/>
          </a:prstGeom>
          <a:noFill/>
        </p:spPr>
        <p:txBody>
          <a:bodyPr wrap="square">
            <a:spAutoFit/>
          </a:bodyPr>
          <a:lstStyle/>
          <a:p>
            <a:pPr>
              <a:spcAft>
                <a:spcPts val="600"/>
              </a:spcAft>
            </a:pPr>
            <a:r>
              <a:rPr sz="1200" b="0">
                <a:solidFill>
                  <a:srgbClr val="1F2937"/>
                </a:solidFill>
                <a:latin typeface="Calibri"/>
              </a:rPr>
              <a:t>•  Detective: 1 Past, 2 Present Cont., 3 Future,</a:t>
            </a:r>
          </a:p>
          <a:p>
            <a:pPr>
              <a:spcAft>
                <a:spcPts val="600"/>
              </a:spcAft>
            </a:pPr>
            <a:r>
              <a:rPr sz="1200" b="0">
                <a:solidFill>
                  <a:srgbClr val="1F2937"/>
                </a:solidFill>
                <a:latin typeface="Calibri"/>
              </a:rPr>
              <a:t>•       4 Present, 5 Past Cont., 6 Present</a:t>
            </a:r>
          </a:p>
          <a:p>
            <a:pPr>
              <a:spcAft>
                <a:spcPts val="600"/>
              </a:spcAft>
            </a:pPr>
            <a:r>
              <a:rPr sz="1200" b="0">
                <a:solidFill>
                  <a:srgbClr val="1F2937"/>
                </a:solidFill>
                <a:latin typeface="Calibri"/>
              </a:rPr>
              <a:t>•  Fix 1: Yesterday, I went to the park.</a:t>
            </a:r>
          </a:p>
          <a:p>
            <a:pPr>
              <a:spcAft>
                <a:spcPts val="600"/>
              </a:spcAft>
            </a:pPr>
            <a:r>
              <a:rPr sz="1200" b="0">
                <a:solidFill>
                  <a:srgbClr val="1F2937"/>
                </a:solidFill>
                <a:latin typeface="Calibri"/>
              </a:rPr>
              <a:t>•  Fix 2: She is reading a book.</a:t>
            </a:r>
          </a:p>
          <a:p>
            <a:pPr>
              <a:spcAft>
                <a:spcPts val="600"/>
              </a:spcAft>
            </a:pPr>
            <a:r>
              <a:rPr sz="1200" b="0">
                <a:solidFill>
                  <a:srgbClr val="1F2937"/>
                </a:solidFill>
                <a:latin typeface="Calibri"/>
              </a:rPr>
              <a:t>•  Fix 3: Tomorrow we will go to the beach.</a:t>
            </a:r>
          </a:p>
          <a:p>
            <a:pPr>
              <a:spcAft>
                <a:spcPts val="600"/>
              </a:spcAft>
            </a:pPr>
            <a:r>
              <a:rPr sz="1200" b="0">
                <a:solidFill>
                  <a:srgbClr val="1F2937"/>
                </a:solidFill>
                <a:latin typeface="Calibri"/>
              </a:rPr>
              <a:t>•  Fix 4: He didn't go home.</a:t>
            </a:r>
          </a:p>
          <a:p>
            <a:pPr>
              <a:spcAft>
                <a:spcPts val="600"/>
              </a:spcAft>
            </a:pPr>
            <a:r>
              <a:rPr sz="1200" b="0">
                <a:solidFill>
                  <a:srgbClr val="1F2937"/>
                </a:solidFill>
                <a:latin typeface="Calibri"/>
              </a:rPr>
              <a:t>•  Fix 5: I know the answer.</a:t>
            </a:r>
          </a:p>
          <a:p>
            <a:pPr>
              <a:spcAft>
                <a:spcPts val="600"/>
              </a:spcAft>
            </a:pPr>
            <a:r>
              <a:rPr sz="1200" b="0">
                <a:solidFill>
                  <a:srgbClr val="1F2937"/>
                </a:solidFill>
                <a:latin typeface="Calibri"/>
              </a:rPr>
              <a:t>•  Fix 6: While I slept, the phone was ringing.</a:t>
            </a:r>
          </a:p>
        </p:txBody>
      </p:sp>
      <p:sp>
        <p:nvSpPr>
          <p:cNvPr id="16" name="Rounded Rectangle 15"/>
          <p:cNvSpPr/>
          <p:nvPr/>
        </p:nvSpPr>
        <p:spPr>
          <a:xfrm>
            <a:off x="6172200" y="1627632"/>
            <a:ext cx="557784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10512"/>
            <a:ext cx="5120640" cy="365760"/>
          </a:xfrm>
          <a:prstGeom prst="rect">
            <a:avLst/>
          </a:prstGeom>
          <a:noFill/>
        </p:spPr>
        <p:txBody>
          <a:bodyPr wrap="square">
            <a:spAutoFit/>
          </a:bodyPr>
          <a:lstStyle/>
          <a:p>
            <a:pPr algn="l"/>
            <a:r>
              <a:rPr sz="1500" b="1">
                <a:solidFill>
                  <a:srgbClr val="FFB300"/>
                </a:solidFill>
                <a:latin typeface="Calibri"/>
              </a:rPr>
              <a:t>🚀 Time Travel, Sorting, Sprint &amp; Quiz</a:t>
            </a:r>
          </a:p>
        </p:txBody>
      </p:sp>
      <p:sp>
        <p:nvSpPr>
          <p:cNvPr id="18" name="TextBox 17"/>
          <p:cNvSpPr txBox="1"/>
          <p:nvPr/>
        </p:nvSpPr>
        <p:spPr>
          <a:xfrm>
            <a:off x="6400800" y="2240280"/>
            <a:ext cx="5120640" cy="3749039"/>
          </a:xfrm>
          <a:prstGeom prst="rect">
            <a:avLst/>
          </a:prstGeom>
          <a:noFill/>
        </p:spPr>
        <p:txBody>
          <a:bodyPr wrap="square">
            <a:spAutoFit/>
          </a:bodyPr>
          <a:lstStyle/>
          <a:p>
            <a:pPr>
              <a:spcAft>
                <a:spcPts val="600"/>
              </a:spcAft>
            </a:pPr>
            <a:r>
              <a:rPr sz="1200" b="0">
                <a:solidFill>
                  <a:srgbClr val="1F2937"/>
                </a:solidFill>
                <a:latin typeface="Calibri"/>
              </a:rPr>
              <a:t>•  Time Travel: helped / is helping / will help</a:t>
            </a:r>
          </a:p>
          <a:p>
            <a:pPr>
              <a:spcAft>
                <a:spcPts val="600"/>
              </a:spcAft>
            </a:pPr>
            <a:r>
              <a:rPr sz="1200" b="0">
                <a:solidFill>
                  <a:srgbClr val="1F2937"/>
                </a:solidFill>
                <a:latin typeface="Calibri"/>
              </a:rPr>
              <a:t>•  Sorting: F, P, N, N, P, N</a:t>
            </a:r>
          </a:p>
          <a:p>
            <a:pPr>
              <a:spcAft>
                <a:spcPts val="600"/>
              </a:spcAft>
            </a:pPr>
            <a:r>
              <a:rPr sz="1200" b="0">
                <a:solidFill>
                  <a:srgbClr val="1F2937"/>
                </a:solidFill>
                <a:latin typeface="Calibri"/>
              </a:rPr>
              <a:t>•  Complete: 1c, 2b, 3c, 4a</a:t>
            </a:r>
          </a:p>
          <a:p>
            <a:pPr>
              <a:spcAft>
                <a:spcPts val="600"/>
              </a:spcAft>
            </a:pPr>
            <a:r>
              <a:rPr sz="1200" b="0">
                <a:solidFill>
                  <a:srgbClr val="1F2937"/>
                </a:solidFill>
                <a:latin typeface="Calibri"/>
              </a:rPr>
              <a:t>•  Sprint: past, pres. cont., future, present,</a:t>
            </a:r>
          </a:p>
          <a:p>
            <a:pPr>
              <a:spcAft>
                <a:spcPts val="600"/>
              </a:spcAft>
            </a:pPr>
            <a:r>
              <a:rPr sz="1200" b="0">
                <a:solidFill>
                  <a:srgbClr val="1F2937"/>
                </a:solidFill>
                <a:latin typeface="Calibri"/>
              </a:rPr>
              <a:t>•       past cont., present, future, past cont.</a:t>
            </a:r>
          </a:p>
          <a:p>
            <a:pPr>
              <a:spcAft>
                <a:spcPts val="600"/>
              </a:spcAft>
            </a:pPr>
            <a:r>
              <a:rPr sz="1200" b="0">
                <a:solidFill>
                  <a:srgbClr val="1F2937"/>
                </a:solidFill>
                <a:latin typeface="Calibri"/>
              </a:rPr>
              <a:t>•  Quiz: 1 watched, 2 I am running, 3 very tired,</a:t>
            </a:r>
          </a:p>
          <a:p>
            <a:pPr>
              <a:spcAft>
                <a:spcPts val="600"/>
              </a:spcAft>
            </a:pPr>
            <a:r>
              <a:rPr sz="1200" b="0">
                <a:solidFill>
                  <a:srgbClr val="1F2937"/>
                </a:solidFill>
                <a:latin typeface="Calibri"/>
              </a:rPr>
              <a:t>•       4 He doesn't like fish,</a:t>
            </a:r>
          </a:p>
          <a:p>
            <a:pPr>
              <a:spcAft>
                <a:spcPts val="600"/>
              </a:spcAft>
            </a:pPr>
            <a:r>
              <a:rPr sz="1200" b="0">
                <a:solidFill>
                  <a:srgbClr val="1F2937"/>
                </a:solidFill>
                <a:latin typeface="Calibri"/>
              </a:rPr>
              <a:t>•       5 so the hatchlings could climb out,</a:t>
            </a:r>
          </a:p>
          <a:p>
            <a:pPr>
              <a:spcAft>
                <a:spcPts val="600"/>
              </a:spcAft>
            </a:pPr>
            <a:r>
              <a:rPr sz="1200" b="0">
                <a:solidFill>
                  <a:srgbClr val="1F2937"/>
                </a:solidFill>
                <a:latin typeface="Calibri"/>
              </a:rPr>
              <a:t>•       6 any correct 'will' sentence</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