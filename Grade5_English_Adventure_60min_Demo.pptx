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Hi! I am so happy to meet you. Today we are going on an English adventure. We will read a true-to-life turtle rescue story, play detective games, and you will earn stars along the way. There is no test today — only fun.</a:t>
            </a:r>
          </a:p>
          <a:p/>
          <a:p>
            <a:r>
              <a:t>HOW TO RUN IT: Smile, wave, say your name. Ask the student to say their name and one thing they like. Keep this under 60 seconds so the energy stays high.</a:t>
            </a:r>
          </a:p>
          <a:p/>
          <a:p>
            <a:r>
              <a:t>EXPECTED ANSWERS: Student says their name and one interest (soccer, drawing, video games, animals).</a:t>
            </a:r>
          </a:p>
          <a:p/>
          <a:p>
            <a:r>
              <a:t>COMMON MISTAKES: Very short one-word answers; nervous silence at the start.</a:t>
            </a:r>
          </a:p>
          <a:p/>
          <a:p>
            <a:r>
              <a:t>IF THE STUDENT STRUGGLES (easier step): Give a choice instead of an open question: 'Do you like animals or sports more?'</a:t>
            </a:r>
          </a:p>
          <a:p/>
          <a:p>
            <a:r>
              <a:t>IF THE STUDENT FINISHES FAST (bonus): Ask: 'Can you tell me ONE reason you like it?'</a:t>
            </a:r>
          </a:p>
          <a:p/>
          <a:p>
            <a:r>
              <a:t>ENCOURAGE: You're already speaking English — great start!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Here is our mission map. Eight stops, and you can earn a star at every single one. Nothing lasts long — if something feels tricky, we move on quickly.</a:t>
            </a:r>
          </a:p>
          <a:p/>
          <a:p>
            <a:r>
              <a:t>HOW TO RUN IT: Point to each stop as you read it. Ask the student which stop looks most exciting. Keep it to about 45 seconds.</a:t>
            </a:r>
          </a:p>
          <a:p/>
          <a:p>
            <a:r>
              <a:t>EXPECTED ANSWERS: Student picks a stop, usually the games or storytelling.</a:t>
            </a:r>
          </a:p>
          <a:p/>
          <a:p>
            <a:r>
              <a:t>COMMON MISTAKES: Student may worry about the word 'challenge' or 'quiz'.</a:t>
            </a:r>
          </a:p>
          <a:p/>
          <a:p>
            <a:r>
              <a:t>IF THE STUDENT STRUGGLES (easier step): Reassure: 'The quiz is just a game — I help you the whole time.'</a:t>
            </a:r>
          </a:p>
          <a:p/>
          <a:p>
            <a:r>
              <a:t>IF THE STUDENT FINISHES FAST (bonus): Ask them to predict how many stars they will collect today.</a:t>
            </a:r>
          </a:p>
          <a:p/>
          <a:p>
            <a:r>
              <a:t>ENCOURAGE: Great choice! That one is really fun.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Let's warm up our talking muscles. I will read two choices and you pick one — but you have to tell me WHY. I'll go first: I would rather swim with sea turtles because I love the ocean.</a:t>
            </a:r>
          </a:p>
          <a:p/>
          <a:p>
            <a:r>
              <a:t>HOW TO RUN IT: Model the first one yourself, then do 3–4 pairs with the student. Do not do all six unless the student is enjoying it. Stop while it is still fun.</a:t>
            </a:r>
          </a:p>
          <a:p/>
          <a:p>
            <a:r>
              <a:t>EXPECTED ANSWERS: Full sentence with 'because' — e.g. 'I would rather fly with eagles because I want to see the mountains.'</a:t>
            </a:r>
          </a:p>
          <a:p/>
          <a:p>
            <a:r>
              <a:t>COMMON MISTAKES: Answering with just one word ('dragon') and leaving out 'because'.</a:t>
            </a:r>
          </a:p>
          <a:p/>
          <a:p>
            <a:r>
              <a:t>IF THE STUDENT STRUGGLES (easier step): Give a sentence frame out loud and let them finish it: 'I would rather ___ because ___.'</a:t>
            </a:r>
          </a:p>
          <a:p/>
          <a:p>
            <a:r>
              <a:t>IF THE STUDENT FINISHES FAST (bonus): Ask a follow-up: 'What is one BAD thing about your choice?'</a:t>
            </a:r>
          </a:p>
          <a:p/>
          <a:p>
            <a:r>
              <a:t>ENCOURAGE: I love that reason — full sentence too! +1 Star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5–10 min</a:t>
            </a:r>
          </a:p>
          <a:p/>
          <a:p>
            <a:r>
              <a:t>SAY: These six words come from our story. I will say each word, you say it back, then I'll tell you what it means. Repeat after me: hatched... volunteer...</a:t>
            </a:r>
          </a:p>
          <a:p/>
          <a:p>
            <a:r>
              <a:t>HOW TO RUN IT: Choral repeat each word once. Read the meaning, not the whole card. Spend about 20 seconds per word. Then ask for one student sentence using any word.</a:t>
            </a:r>
          </a:p>
          <a:p/>
          <a:p>
            <a:r>
              <a:t>EXPECTED ANSWERS: Clear repetition; one original sentence such as 'The bird hatched from the egg.'</a:t>
            </a:r>
          </a:p>
          <a:p/>
          <a:p>
            <a:r>
              <a:t>COMMON MISTAKES: Stress on the wrong syllable in 'biologist' and 'exhausted'; confusing 'hatched' with 'hatchling'.</a:t>
            </a:r>
          </a:p>
          <a:p/>
          <a:p>
            <a:r>
              <a:t>IF THE STUDENT STRUGGLES (easier step): Break the word into parts and clap the syllables: ex-HAUS-ted.</a:t>
            </a:r>
          </a:p>
          <a:p/>
          <a:p>
            <a:r>
              <a:t>IF THE STUDENT FINISHES FAST (bonus): Ask them to use TWO words in one sentence.</a:t>
            </a:r>
          </a:p>
          <a:p/>
          <a:p>
            <a:r>
              <a:t>ENCOURAGE: Your pronunciation is getting better every time!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5–10 min</a:t>
            </a:r>
          </a:p>
          <a:p/>
          <a:p>
            <a:r>
              <a:t>SAY: Six more words. These are the tricky ones — but you are going to own them. Repeat after me: biologist... survive... journey...</a:t>
            </a:r>
          </a:p>
          <a:p/>
          <a:p>
            <a:r>
              <a:t>HOW TO RUN IT: Same routine as the previous slide. Keep it brisk. If the student is fading, do only four words and move to the game.</a:t>
            </a:r>
          </a:p>
          <a:p/>
          <a:p>
            <a:r>
              <a:t>EXPECTED ANSWERS: Accurate repetition; student picks a favorite word and says it three times.</a:t>
            </a:r>
          </a:p>
          <a:p/>
          <a:p>
            <a:r>
              <a:t>COMMON MISTAKES: 'Journey' pronounced with a hard J-O sound; 'gently' said as 'gentle'.</a:t>
            </a:r>
          </a:p>
          <a:p/>
          <a:p>
            <a:r>
              <a:t>IF THE STUDENT STRUGGLES (easier step): Say the word slowly in syllables and let them copy one syllable at a time.</a:t>
            </a:r>
          </a:p>
          <a:p/>
          <a:p>
            <a:r>
              <a:t>IF THE STUDENT FINISHES FAST (bonus): Ask: 'Which word could describe YOU today?'</a:t>
            </a:r>
          </a:p>
          <a:p/>
          <a:p>
            <a:r>
              <a:t>ENCOURAGE: Excellent! You said the hardest word on the page.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5–10 min</a:t>
            </a:r>
          </a:p>
          <a:p/>
          <a:p>
            <a:r>
              <a:t>SAY: Detective time! I'll show you a picture clue and a hint. You guess the word. You get a star for every word you catch.</a:t>
            </a:r>
          </a:p>
          <a:p/>
          <a:p>
            <a:r>
              <a:t>HOW TO RUN IT: Reveal one card at a time by pointing. Give 5–8 seconds of thinking time before helping. Answers: hatchling, exhausted, volunteer, journey.</a:t>
            </a:r>
          </a:p>
          <a:p/>
          <a:p>
            <a:r>
              <a:t>EXPECTED ANSWERS: hatchling  •  exhausted  •  volunteer  •  journey</a:t>
            </a:r>
          </a:p>
          <a:p/>
          <a:p>
            <a:r>
              <a:t>COMMON MISTAKES: Saying 'hatched' instead of 'hatchling'; saying 'tired' instead of 'exhausted'.</a:t>
            </a:r>
          </a:p>
          <a:p/>
          <a:p>
            <a:r>
              <a:t>IF THE STUDENT STRUGGLES (easier step): Give the first sound: 'It starts with /h/...' then the first two letters.</a:t>
            </a:r>
          </a:p>
          <a:p/>
          <a:p>
            <a:r>
              <a:t>IF THE STUDENT FINISHES FAST (bonus): Ask them to make a sentence with the word they just guessed.</a:t>
            </a:r>
          </a:p>
          <a:p/>
          <a:p>
            <a:r>
              <a:t>ENCOURAGE: You got it! Real detective thinking. +1 Star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5–10 min</a:t>
            </a:r>
          </a:p>
          <a:p/>
          <a:p>
            <a:r>
              <a:t>SAY: The imposters are here! Each row has one real word and two sneaky look-alikes. Read all three before you choose.</a:t>
            </a:r>
          </a:p>
          <a:p/>
          <a:p>
            <a:r>
              <a:t>HOW TO RUN IT: Read the question aloud, then read the three options slowly. Let the student point or say the answer. Answers: exhausted, journey, canyon.</a:t>
            </a:r>
          </a:p>
          <a:p/>
          <a:p>
            <a:r>
              <a:t>EXPECTED ANSWERS: exhausted  •  journey  •  canyon</a:t>
            </a:r>
          </a:p>
          <a:p/>
          <a:p>
            <a:r>
              <a:t>COMMON MISTAKES: Choosing by first letter only — picking 'excited' or 'cannon'.</a:t>
            </a:r>
          </a:p>
          <a:p/>
          <a:p>
            <a:r>
              <a:t>IF THE STUDENT STRUGGLES (easier step): Cover one wrong option with your hand to make it a 50/50 choice.</a:t>
            </a:r>
          </a:p>
          <a:p/>
          <a:p>
            <a:r>
              <a:t>IF THE STUDENT FINISHES FAST (bonus): Ask what the two imposter words actually mean.</a:t>
            </a:r>
          </a:p>
          <a:p/>
          <a:p>
            <a:r>
              <a:t>ENCOURAGE: Sharp eyes! You didn't fall for the trick.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10–20 min</a:t>
            </a:r>
          </a:p>
          <a:p/>
          <a:p>
            <a:r>
              <a:t>SAY: Before we read a single word, good readers make predictions. Look at the title and the pictures. What do you think is going to happen?</a:t>
            </a:r>
          </a:p>
          <a:p/>
          <a:p>
            <a:r>
              <a:t>HOW TO RUN IT: Ask two or three of the questions, not all four. Accept every guess warmly and write one prediction down so you can check it after Part 3.</a:t>
            </a:r>
          </a:p>
          <a:p/>
          <a:p>
            <a:r>
              <a:t>EXPECTED ANSWERS: Any reasonable guess: Maya is a girl / a helper; turtles are lost; midnight because it is safer or cooler.</a:t>
            </a:r>
          </a:p>
          <a:p/>
          <a:p>
            <a:r>
              <a:t>COMMON MISTAKES: Saying 'I don't know' because they are afraid of being wrong.</a:t>
            </a:r>
          </a:p>
          <a:p/>
          <a:p>
            <a:r>
              <a:t>IF THE STUDENT STRUGGLES (easier step): Offer two options: 'Do you think Maya is a kid or a scientist?'</a:t>
            </a:r>
          </a:p>
          <a:p/>
          <a:p>
            <a:r>
              <a:t>IF THE STUDENT FINISHES FAST (bonus): Ask them to predict the LAST sentence of the story.</a:t>
            </a:r>
          </a:p>
          <a:p/>
          <a:p>
            <a:r>
              <a:t>ENCOURAGE: That is exactly what real readers do — great thinking!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10–20 min</a:t>
            </a:r>
          </a:p>
          <a:p/>
          <a:p>
            <a:r>
              <a:t>SAY: I will read Part 1 out loud first. Your job is easy — follow along with your finger and listen to how I pause at the periods.</a:t>
            </a:r>
          </a:p>
          <a:p/>
          <a:p>
            <a:r>
              <a:t>HOW TO RUN IT: Read with expression at a slightly slow pace. Then ask one quick check question so the student stays active. Do not ask them to read yet.</a:t>
            </a:r>
          </a:p>
          <a:p/>
          <a:p>
            <a:r>
              <a:t>EXPECTED ANSWERS: Check question: 'Why do the volunteers use a RED flashlight?' → Because white light confuses the baby turtles.</a:t>
            </a:r>
          </a:p>
          <a:p/>
          <a:p>
            <a:r>
              <a:t>COMMON MISTAKES: Losing their place in the text; missing the red-light detail.</a:t>
            </a:r>
          </a:p>
          <a:p/>
          <a:p>
            <a:r>
              <a:t>IF THE STUDENT STRUGGLES (easier step): Re-read just the sentence about the red flashlight, then ask again.</a:t>
            </a:r>
          </a:p>
          <a:p/>
          <a:p>
            <a:r>
              <a:t>IF THE STUDENT FINISHES FAST (bonus): Ask: 'What time of year does this happen?' (August)</a:t>
            </a:r>
          </a:p>
          <a:p/>
          <a:p>
            <a:r>
              <a:t>ENCOURAGE: You followed every line — nice focus!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10–20 min</a:t>
            </a:r>
          </a:p>
          <a:p/>
          <a:p>
            <a:r>
              <a:t>SAY: Now we read together, at the same time, like a team. If I go too fast, squeeze the table and I'll slow down.</a:t>
            </a:r>
          </a:p>
          <a:p/>
          <a:p>
            <a:r>
              <a:t>HOW TO RUN IT: Choral read at a comfortable pace. Let your voice drop slightly so the student's voice leads by the second paragraph.</a:t>
            </a:r>
          </a:p>
          <a:p/>
          <a:p>
            <a:r>
              <a:t>EXPECTED ANSWERS: Check question: 'What was the problem?' → Three hatchlings fell into a deep tire track and could not climb out.</a:t>
            </a:r>
          </a:p>
          <a:p/>
          <a:p>
            <a:r>
              <a:t>COMMON MISTAKES: Rushing past punctuation; mumbling on 'scrambled'.</a:t>
            </a:r>
          </a:p>
          <a:p/>
          <a:p>
            <a:r>
              <a:t>IF THE STUDENT STRUGGLES (easier step): Read one sentence, then have them echo it back before moving on.</a:t>
            </a:r>
          </a:p>
          <a:p/>
          <a:p>
            <a:r>
              <a:t>IF THE STUDENT FINISHES FAST (bonus): Ask: 'Why was Maya NOT allowed to pick up the turtles?'</a:t>
            </a:r>
          </a:p>
          <a:p/>
          <a:p>
            <a:r>
              <a:t>ENCOURAGE: Our voices matched perfectly — that's real fluency!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10–20 min</a:t>
            </a:r>
          </a:p>
          <a:p/>
          <a:p>
            <a:r>
              <a:t>SAY: This is your part. You read it on your own, out loud. Take your time — if a word looks hard, pause and I will help. There is no rush at all.</a:t>
            </a:r>
          </a:p>
          <a:p/>
          <a:p>
            <a:r>
              <a:t>HOW TO RUN IT: Stay quiet unless they stall for more than 3 seconds. Do not correct small errors mid-sentence; note them and praise first at the end.</a:t>
            </a:r>
          </a:p>
          <a:p/>
          <a:p>
            <a:r>
              <a:t>EXPECTED ANSWERS: Reads through with some hesitation on 'biologist' and 'ninety-two'.</a:t>
            </a:r>
          </a:p>
          <a:p/>
          <a:p>
            <a:r>
              <a:t>COMMON MISTAKES: Skipping the quotation marks and reading dialogue flatly; stumbling on 'biologist'.</a:t>
            </a:r>
          </a:p>
          <a:p/>
          <a:p>
            <a:r>
              <a:t>IF THE STUDENT STRUGGLES (easier step): Read the hard word for them and have them repeat it, then continue.</a:t>
            </a:r>
          </a:p>
          <a:p/>
          <a:p>
            <a:r>
              <a:t>IF THE STUDENT FINISHES FAST (bonus): Ask them to re-read Maya's line with real emotion in the voice.</a:t>
            </a:r>
          </a:p>
          <a:p/>
          <a:p>
            <a:r>
              <a:t>ENCOURAGE: You read that whole page by yourself. That is Grade 5 reading power!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20–25 min</a:t>
            </a:r>
          </a:p>
          <a:p/>
          <a:p>
            <a:r>
              <a:t>SAY: Quick challenge! Read these two sentences out loud as smoothly as you can. I'll time you. Then we try again and see if you can beat your own record.</a:t>
            </a:r>
          </a:p>
          <a:p/>
          <a:p>
            <a:r>
              <a:t>HOW TO RUN IT: Time attempt one, celebrate it, then attempt two. Emphasize SMOOTH, not fast — praise expression over speed. Two attempts only, then move on.</a:t>
            </a:r>
          </a:p>
          <a:p/>
          <a:p>
            <a:r>
              <a:t>EXPECTED ANSWERS: Second attempt is usually smoother and 1–3 seconds faster.</a:t>
            </a:r>
          </a:p>
          <a:p/>
          <a:p>
            <a:r>
              <a:t>COMMON MISTAKES: Racing so fast the words blur; ignoring the comma and period pauses.</a:t>
            </a:r>
          </a:p>
          <a:p/>
          <a:p>
            <a:r>
              <a:t>IF THE STUDENT STRUGGLES (easier step): Read it together once first, then let them try solo.</a:t>
            </a:r>
          </a:p>
          <a:p/>
          <a:p>
            <a:r>
              <a:t>IF THE STUDENT FINISHES FAST (bonus): Add a third goal: read it as if you are telling a secret.</a:t>
            </a:r>
          </a:p>
          <a:p/>
          <a:p>
            <a:r>
              <a:t>ENCOURAGE: You beat your own record! That's a streak 🔥 +1 Star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20–25 min</a:t>
            </a:r>
          </a:p>
          <a:p/>
          <a:p>
            <a:r>
              <a:t>SAY: Time to be story detectives. These are not test questions — they are clues, and you are allowed to look back at the story any time you want.</a:t>
            </a:r>
          </a:p>
          <a:p/>
          <a:p>
            <a:r>
              <a:t>HOW TO RUN IT: Do the cards one at a time, clockwise. Let the student look back at the passage — that is a reading skill, not cheating. About 60 seconds per card.</a:t>
            </a:r>
          </a:p>
          <a:p/>
          <a:p>
            <a:r>
              <a:t>EXPECTED ANSWERS: b) White light confuses baby turtles  •  FALSE (she built a ramp instead)  •  ninety-two  •  Order: 2, 1, 4, 3</a:t>
            </a:r>
          </a:p>
          <a:p/>
          <a:p>
            <a:r>
              <a:t>COMMON MISTAKES: On the sequence card, mixing up the ramp and the fall; guessing on true/false without checking the text.</a:t>
            </a:r>
          </a:p>
          <a:p/>
          <a:p>
            <a:r>
              <a:t>IF THE STUDENT STRUGGLES (easier step): Narrow it down: 'Was it 9, 92, or 900?' Then re-read that one sentence together.</a:t>
            </a:r>
          </a:p>
          <a:p/>
          <a:p>
            <a:r>
              <a:t>IF THE STUDENT FINISHES FAST (bonus): Ask: 'How do you KNOW that answer? Read me the line that proves it.'</a:t>
            </a:r>
          </a:p>
          <a:p/>
          <a:p>
            <a:r>
              <a:t>ENCOURAGE: You found the proof in the text — that's expert reading!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20–25 min</a:t>
            </a:r>
          </a:p>
          <a:p/>
          <a:p>
            <a:r>
              <a:t>SAY: Round two. These questions need a little more thinking — especially the detective one at the bottom left, where the answer is hidden between the lines.</a:t>
            </a:r>
          </a:p>
          <a:p/>
          <a:p>
            <a:r>
              <a:t>HOW TO RUN IT: Let the student answer in full sentences. For the inference card, give real thinking time — count to five silently before you help.</a:t>
            </a:r>
          </a:p>
          <a:p/>
          <a:p>
            <a:r>
              <a:t>EXPECTED ANSWERS: Problem: three hatchlings were trapped in a deep tire track  •  b)  •  Maya really cares about turtles / Diego knows her well / she always comes back  •  Opinion: any answer with a reason.</a:t>
            </a:r>
          </a:p>
          <a:p/>
          <a:p>
            <a:r>
              <a:t>COMMON MISTAKES: Retelling the whole story instead of naming the main idea; treating the inference question as if the answer is written in the text.</a:t>
            </a:r>
          </a:p>
          <a:p/>
          <a:p>
            <a:r>
              <a:t>IF THE STUDENT STRUGGLES (easier step): For the inference: ask 'Does Diego look surprised? Why not?'</a:t>
            </a:r>
          </a:p>
          <a:p/>
          <a:p>
            <a:r>
              <a:t>IF THE STUDENT FINISHES FAST (bonus): Ask them to invent one more question to ask YOU about the story.</a:t>
            </a:r>
          </a:p>
          <a:p/>
          <a:p>
            <a:r>
              <a:t>ENCOURAGE: You just read BETWEEN the lines. That's a big-kid reading skill!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20–25 min</a:t>
            </a:r>
          </a:p>
          <a:p/>
          <a:p>
            <a:r>
              <a:t>SAY: Match the word on the left to its meaning on the right. Draw a line in the air with your finger, or just say 'one goes with C'.</a:t>
            </a:r>
          </a:p>
          <a:p/>
          <a:p>
            <a:r>
              <a:t>HOW TO RUN IT: Do the first one together as a model, then let the student finish. If they hesitate, read the word and the two most likely meanings only.</a:t>
            </a:r>
          </a:p>
          <a:p/>
          <a:p>
            <a:r>
              <a:t>EXPECTED ANSWERS: 1–C  •  2–E  •  3–A  •  4–B  •  5–D</a:t>
            </a:r>
          </a:p>
          <a:p/>
          <a:p>
            <a:r>
              <a:t>COMMON MISTAKES: Matching 'scramble' with 'survive' because both sound active; guessing by position instead of meaning.</a:t>
            </a:r>
          </a:p>
          <a:p/>
          <a:p>
            <a:r>
              <a:t>IF THE STUDENT STRUGGLES (easier step): Cross out the matches already used so fewer options remain each time.</a:t>
            </a:r>
          </a:p>
          <a:p/>
          <a:p>
            <a:r>
              <a:t>IF THE STUDENT FINISHES FAST (bonus): Ask them to use two of the matched words in a single sentence about the story.</a:t>
            </a:r>
          </a:p>
          <a:p/>
          <a:p>
            <a:r>
              <a:t>ENCOURAGE: Five out of five! Your vocabulary is locked in.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20–25 min</a:t>
            </a:r>
          </a:p>
          <a:p/>
          <a:p>
            <a:r>
              <a:t>SAY: Now you own these words. I'll give you a word and a question, and you answer with a full sentence that uses the word.</a:t>
            </a:r>
          </a:p>
          <a:p/>
          <a:p>
            <a:r>
              <a:t>HOW TO RUN IT: Do two or three prompts, not all four. Let the student finish completely before you say anything. Praise first, then fix at most one thing.</a:t>
            </a:r>
          </a:p>
          <a:p/>
          <a:p>
            <a:r>
              <a:t>EXPECTED ANSWERS: Full sentences, e.g. 'I was exhausted after my soccer game on Saturday.'</a:t>
            </a:r>
          </a:p>
          <a:p/>
          <a:p>
            <a:r>
              <a:t>COMMON MISTAKES: Using the word in the wrong form ('I was exhaust'); answering without the target word.</a:t>
            </a:r>
          </a:p>
          <a:p/>
          <a:p>
            <a:r>
              <a:t>IF THE STUDENT STRUGGLES (easier step): Give them the sentence opening: 'I felt exhausted when...'</a:t>
            </a:r>
          </a:p>
          <a:p/>
          <a:p>
            <a:r>
              <a:t>IF THE STUDENT FINISHES FAST (bonus): Ask them to use the word in a question addressed to you.</a:t>
            </a:r>
          </a:p>
          <a:p/>
          <a:p>
            <a:r>
              <a:t>ENCOURAGE: Perfect use of the word — and a full sentence! +1 Star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Here is the big secret of tenses: every sentence is standing somewhere on this timeline. Past, now, or future. That's it. Once you can hear WHEN, you can name the tense.</a:t>
            </a:r>
          </a:p>
          <a:p/>
          <a:p>
            <a:r>
              <a:t>HOW TO RUN IT: Walk left to right along the timeline with your hand. Say all three example sentences and have the student repeat them while pointing to the right spot.</a:t>
            </a:r>
          </a:p>
          <a:p/>
          <a:p>
            <a:r>
              <a:t>EXPECTED ANSWERS: Student repeats each sentence and points to the matching part of the timeline.</a:t>
            </a:r>
          </a:p>
          <a:p/>
          <a:p>
            <a:r>
              <a:t>COMMON MISTAKES: Thinking 'tense' means 'nervous'; assuming every past sentence ends in -ed.</a:t>
            </a:r>
          </a:p>
          <a:p/>
          <a:p>
            <a:r>
              <a:t>IF THE STUDENT STRUGGLES (easier step): Use their own life: 'Yesterday I ___', 'Right now I ___', 'Tomorrow I ___'.</a:t>
            </a:r>
          </a:p>
          <a:p/>
          <a:p>
            <a:r>
              <a:t>IF THE STUDENT FINISHES FAST (bonus): Ask them to give one sentence for each spot about their weekend.</a:t>
            </a:r>
          </a:p>
          <a:p/>
          <a:p>
            <a:r>
              <a:t>ENCOURAGE: You just learned what tenses really are in 60 seconds!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Simple Present is for things that happen again and again — habits and facts. Listen: Maya helps the turtles every August. Every August — it repeats.</a:t>
            </a:r>
          </a:p>
          <a:p/>
          <a:p>
            <a:r>
              <a:t>HOW TO RUN IT: Read the three example rows out loud. Point at the -s in 'helps' and explain it is only for he, she, or it. Keep the whole slide under two minutes.</a:t>
            </a:r>
          </a:p>
          <a:p/>
          <a:p>
            <a:r>
              <a:t>EXPECTED ANSWERS: Student makes a sentence about their own routine, e.g. 'I walk to school every day.'</a:t>
            </a:r>
          </a:p>
          <a:p/>
          <a:p>
            <a:r>
              <a:t>COMMON MISTAKES: Forgetting the -s for he/she/it ('He play soccer'); using 'do' instead of 'does' in questions.</a:t>
            </a:r>
          </a:p>
          <a:p/>
          <a:p>
            <a:r>
              <a:t>IF THE STUDENT STRUGGLES (easier step): Give a fill-in frame: 'Every day I ______.' Let them add just the verb.</a:t>
            </a:r>
          </a:p>
          <a:p/>
          <a:p>
            <a:r>
              <a:t>IF THE STUDENT FINISHES FAST (bonus): Ask them to turn their sentence into a question and a negative.</a:t>
            </a:r>
          </a:p>
          <a:p/>
          <a:p>
            <a:r>
              <a:t>ENCOURAGE: Great — and you remembered the -s!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Present Continuous is happening RIGHT NOW, this second. The clue is the -ing ending plus a helper word: am, is, or are. Look — I am talking to you right now.</a:t>
            </a:r>
          </a:p>
          <a:p/>
          <a:p>
            <a:r>
              <a:t>HOW TO RUN IT: Act it out. Stand up and say 'I am standing.' Have the student describe what they are doing at this moment. Physical actions make this tense stick.</a:t>
            </a:r>
          </a:p>
          <a:p/>
          <a:p>
            <a:r>
              <a:t>EXPECTED ANSWERS: 'I am sitting at my desk.' / 'I am listening to my teacher.'</a:t>
            </a:r>
          </a:p>
          <a:p/>
          <a:p>
            <a:r>
              <a:t>COMMON MISTAKES: Dropping the helper verb ('I going'); using -ing with feeling verbs ('I am knowing the answer').</a:t>
            </a:r>
          </a:p>
          <a:p/>
          <a:p>
            <a:r>
              <a:t>IF THE STUDENT STRUGGLES (easier step): Point at something you are physically doing and ask 'What am I doing?'</a:t>
            </a:r>
          </a:p>
          <a:p/>
          <a:p>
            <a:r>
              <a:t>IF THE STUDENT FINISHES FAST (bonus): Ask what someone else in their house is doing right now.</a:t>
            </a:r>
          </a:p>
          <a:p/>
          <a:p>
            <a:r>
              <a:t>ENCOURAGE: Perfect — you used 'am' AND '-ing'. That's the full formula!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Simple Past means it started and finished — it is completely over. Most verbs just add -ed, but the sneaky ones change completely: go becomes went, see becomes saw.</a:t>
            </a:r>
          </a:p>
          <a:p/>
          <a:p>
            <a:r>
              <a:t>HOW TO RUN IT: Write three irregular pairs where the student can see them: go/went, eat/ate, see/saw. Ask for one true sentence about their yesterday.</a:t>
            </a:r>
          </a:p>
          <a:p/>
          <a:p>
            <a:r>
              <a:t>EXPECTED ANSWERS: 'I ate pizza last night.' / 'I went to my friend's house.'</a:t>
            </a:r>
          </a:p>
          <a:p/>
          <a:p>
            <a:r>
              <a:t>COMMON MISTAKES: Adding -ed to irregular verbs ('goed', 'eated'); keeping the past verb after 'did' ('I didn't went').</a:t>
            </a:r>
          </a:p>
          <a:p/>
          <a:p>
            <a:r>
              <a:t>IF THE STUDENT STRUGGLES (easier step): Ask a yes/no question first: 'Did you eat breakfast?' Then build the full sentence.</a:t>
            </a:r>
          </a:p>
          <a:p/>
          <a:p>
            <a:r>
              <a:t>IF THE STUDENT FINISHES FAST (bonus): Challenge them to say three past sentences in a row without stopping.</a:t>
            </a:r>
          </a:p>
          <a:p/>
          <a:p>
            <a:r>
              <a:t>ENCOURAGE: You used an irregular verb correctly — those are the hard ones!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Past Continuous is the movie-scene tense. It was already happening at a moment in the past. At midnight, Maya was counting turtles — the counting was in progress.</a:t>
            </a:r>
          </a:p>
          <a:p/>
          <a:p>
            <a:r>
              <a:t>HOW TO RUN IT: Use the classic interruption pattern: 'I WAS SLEEPING when the phone RANG.' Show the long action and the short action with your hands.</a:t>
            </a:r>
          </a:p>
          <a:p/>
          <a:p>
            <a:r>
              <a:t>EXPECTED ANSWERS: 'I was watching TV when my mom called me.'</a:t>
            </a:r>
          </a:p>
          <a:p/>
          <a:p>
            <a:r>
              <a:t>COMMON MISTAKES: Using 'was' with plural subjects ('they was playing'); confusing this with simple past.</a:t>
            </a:r>
          </a:p>
          <a:p/>
          <a:p>
            <a:r>
              <a:t>IF THE STUDENT STRUGGLES (easier step): Give the frame: 'I was ______ing when ______.' They fill in two blanks only.</a:t>
            </a:r>
          </a:p>
          <a:p/>
          <a:p>
            <a:r>
              <a:t>IF THE STUDENT FINISHES FAST (bonus): Ask them to describe what they were doing at 8 o'clock last night.</a:t>
            </a:r>
          </a:p>
          <a:p/>
          <a:p>
            <a:r>
              <a:t>ENCOURAGE: You built a two-part sentence — that's advanced!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Simple Future is the easiest one of all. Just add the magic word WILL, and the verb never changes. I will eat. She will eat. They will eat. Same every time!</a:t>
            </a:r>
          </a:p>
          <a:p/>
          <a:p>
            <a:r>
              <a:t>HOW TO RUN IT: Emphasize that 'will' works with every subject — no changes at all. Then ask about their plans for the weekend.</a:t>
            </a:r>
          </a:p>
          <a:p/>
          <a:p>
            <a:r>
              <a:t>EXPECTED ANSWERS: 'I will play video games this weekend.' / 'We will visit my grandma.'</a:t>
            </a:r>
          </a:p>
          <a:p/>
          <a:p>
            <a:r>
              <a:t>COMMON MISTAKES: Adding -s after will ('He will plays'); using present tense for future plans.</a:t>
            </a:r>
          </a:p>
          <a:p/>
          <a:p>
            <a:r>
              <a:t>IF THE STUDENT STRUGGLES (easier step): Ask a simple question: 'What will you eat for dinner tonight?'</a:t>
            </a:r>
          </a:p>
          <a:p/>
          <a:p>
            <a:r>
              <a:t>IF THE STUDENT FINISHES FAST (bonus): Ask them to predict three things about next year.</a:t>
            </a:r>
          </a:p>
          <a:p/>
          <a:p>
            <a:r>
              <a:t>ENCOURAGE: 'Will' never changes — and you got that right away!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Here they all are on one map. You do not have to memorize this — just remember the three shortcuts at the bottom. Those three clues will get you the right answer almost every time.</a:t>
            </a:r>
          </a:p>
          <a:p/>
          <a:p>
            <a:r>
              <a:t>HOW TO RUN IT: Read the shortcut line slowly and let the student repeat it. Then point to a random box and ask them to say the example sentence.</a:t>
            </a:r>
          </a:p>
          <a:p/>
          <a:p>
            <a:r>
              <a:t>EXPECTED ANSWERS: Student reads any example sentence and can explain one shortcut in their own words.</a:t>
            </a:r>
          </a:p>
          <a:p/>
          <a:p>
            <a:r>
              <a:t>COMMON MISTAKES: Feeling overwhelmed by five boxes at once.</a:t>
            </a:r>
          </a:p>
          <a:p/>
          <a:p>
            <a:r>
              <a:t>IF THE STUDENT STRUGGLES (easier step): Cover three boxes with your hand and work with only two at a time.</a:t>
            </a:r>
          </a:p>
          <a:p/>
          <a:p>
            <a:r>
              <a:t>IF THE STUDENT FINISHES FAST (bonus): Point at a box and ask them to make a NEW sentence in that tense.</a:t>
            </a:r>
          </a:p>
          <a:p/>
          <a:p>
            <a:r>
              <a:t>ENCOURAGE: Five tenses, one map, and you can read it. Amazing!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35–47 min</a:t>
            </a:r>
          </a:p>
          <a:p/>
          <a:p>
            <a:r>
              <a:t>SAY: Detective badge on! Every sentence has a signal word that gives away the tense. Find the signal first, then name the tense. I put the clue in small gray letters to help you.</a:t>
            </a:r>
          </a:p>
          <a:p/>
          <a:p>
            <a:r>
              <a:t>HOW TO RUN IT: Do sentence 1 together as a model. Then let the student work through the rest. Move fast — about 15 seconds each. Celebrate every catch.</a:t>
            </a:r>
          </a:p>
          <a:p/>
          <a:p>
            <a:r>
              <a:t>EXPECTED ANSWERS: 1 Simple Past  •  2 Present Continuous  •  3 Simple Future  •  4 Simple Present  •  5 Past Continuous  •  6 Simple Present</a:t>
            </a:r>
          </a:p>
          <a:p/>
          <a:p>
            <a:r>
              <a:t>COMMON MISTAKES: Calling number 5 simple past because it happened in the past; missing that number 6 is present because of 'does'.</a:t>
            </a:r>
          </a:p>
          <a:p/>
          <a:p>
            <a:r>
              <a:t>IF THE STUDENT STRUGGLES (easier step): Ask only 'Past, present, or future?' first, then narrow to the exact name.</a:t>
            </a:r>
          </a:p>
          <a:p/>
          <a:p>
            <a:r>
              <a:t>IF THE STUDENT FINISHES FAST (bonus): Ask them to change sentence 1 into all five tenses.</a:t>
            </a:r>
          </a:p>
          <a:p/>
          <a:p>
            <a:r>
              <a:t>ENCOURAGE: Six for six! You are officially a Tense Detective 🕵️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35–47 min</a:t>
            </a:r>
          </a:p>
          <a:p/>
          <a:p>
            <a:r>
              <a:t>SAY: These sentences are broken, and you are the repair crew. Each one has exactly one mistake. Read it out loud first — your ear will often catch it before your eyes do.</a:t>
            </a:r>
          </a:p>
          <a:p/>
          <a:p>
            <a:r>
              <a:t>HOW TO RUN IT: Have the student read the broken sentence aloud, then say the fixed version as a complete sentence. Do not just accept the single word.</a:t>
            </a:r>
          </a:p>
          <a:p/>
          <a:p>
            <a:r>
              <a:t>EXPECTED ANSWERS: 1 went  •  2 is reading  •  3 will go  •  4 didn't go  •  5 I know  •  6 was ringing</a:t>
            </a:r>
          </a:p>
          <a:p/>
          <a:p>
            <a:r>
              <a:t>COMMON MISTAKES: Fixing only part of it ('goes' → 'go' without adding 'will'); missing that 'know' cannot take -ing.</a:t>
            </a:r>
          </a:p>
          <a:p/>
          <a:p>
            <a:r>
              <a:t>IF THE STUDENT STRUGGLES (easier step): Read both versions aloud yourself and ask 'Which one sounds right?'</a:t>
            </a:r>
          </a:p>
          <a:p/>
          <a:p>
            <a:r>
              <a:t>IF THE STUDENT FINISHES FAST (bonus): Ask them to explain WHY the fix works, using the signal word.</a:t>
            </a:r>
          </a:p>
          <a:p/>
          <a:p>
            <a:r>
              <a:t>ENCOURAGE: You heard the mistake by yourself — that's a real English ear!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35–47 min</a:t>
            </a:r>
          </a:p>
          <a:p/>
          <a:p>
            <a:r>
              <a:t>SAY: Two quick games side by side. On the left, you are a time traveler — take one sentence and move it through yesterday, today, and tomorrow. On the right, sort each sentence into past, now, or future.</a:t>
            </a:r>
          </a:p>
          <a:p/>
          <a:p>
            <a:r>
              <a:t>HOW TO RUN IT: Do the left game first, out loud, all three versions. Then switch to sorting. Keep each game to about three minutes so it stays fresh.</a:t>
            </a:r>
          </a:p>
          <a:p/>
          <a:p>
            <a:r>
              <a:t>EXPECTED ANSWERS: Time Travel: helped / is helping / will help.  Sorting: F, P, N, N, P, N</a:t>
            </a:r>
          </a:p>
          <a:p/>
          <a:p>
            <a:r>
              <a:t>COMMON MISTAKES: Saying 'Maya will helps'; sorting 'I was reading' as present because of -ing.</a:t>
            </a:r>
          </a:p>
          <a:p/>
          <a:p>
            <a:r>
              <a:t>IF THE STUDENT STRUGGLES (easier step): For sorting, ask only 'Did it already happen? Yes or no?' first.</a:t>
            </a:r>
          </a:p>
          <a:p/>
          <a:p>
            <a:r>
              <a:t>IF THE STUDENT FINISHES FAST (bonus): Ask them to invent a fourth version: 'What was Maya doing at midnight?'</a:t>
            </a:r>
          </a:p>
          <a:p/>
          <a:p>
            <a:r>
              <a:t>ENCOURAGE: You moved that sentence through time perfectly! 🔥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35–47 min</a:t>
            </a:r>
          </a:p>
          <a:p/>
          <a:p>
            <a:r>
              <a:t>SAY: Left side: pick the right word. Right side: the sprint! I will start the timer and you name as many tenses as you can in 60 seconds. Ready?</a:t>
            </a:r>
          </a:p>
          <a:p/>
          <a:p>
            <a:r>
              <a:t>HOW TO RUN IT: Do the four multiple-choice items calmly first. Then make the sprint genuinely exciting — count down, keep score out loud, and cheer.</a:t>
            </a:r>
          </a:p>
          <a:p/>
          <a:p>
            <a:r>
              <a:t>EXPECTED ANSWERS: Complete: 1c will go  •  2b is doing  •  3c ate  •  4a plays.  Sprint: past, present continuous, future, present, past continuous, present, future, past continuous.</a:t>
            </a:r>
          </a:p>
          <a:p/>
          <a:p>
            <a:r>
              <a:t>COMMON MISTAKES: In the sprint, rushing and saying 'past' for anything with was/were.</a:t>
            </a:r>
          </a:p>
          <a:p/>
          <a:p>
            <a:r>
              <a:t>IF THE STUDENT STRUGGLES (easier step): Slow the sprint down and do only four sentences with no timer.</a:t>
            </a:r>
          </a:p>
          <a:p/>
          <a:p>
            <a:r>
              <a:t>IF THE STUDENT FINISHES FAST (bonus): Run the sprint a second time and try to beat the first score.</a:t>
            </a:r>
          </a:p>
          <a:p/>
          <a:p>
            <a:r>
              <a:t>ENCOURAGE: You beat the clock! That's a streak 🔥 +1 Star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47–55 min</a:t>
            </a:r>
          </a:p>
          <a:p/>
          <a:p>
            <a:r>
              <a:t>SAY: Now YOU are the author. Look at these four pictures and build a story. Use the five prompts to keep it organized, and try to use a past, a present, and a future sentence somewhere in your story.</a:t>
            </a:r>
          </a:p>
          <a:p/>
          <a:p>
            <a:r>
              <a:t>HOW TO RUN IT: Let the student talk for 2–3 minutes without interruption. Take quick notes on tense use. Do not correct while they are speaking — it breaks their flow completely.</a:t>
            </a:r>
          </a:p>
          <a:p/>
          <a:p>
            <a:r>
              <a:t>EXPECTED ANSWERS: A 5–8 sentence story that moves through the four pictures with at least two tenses used.</a:t>
            </a:r>
          </a:p>
          <a:p/>
          <a:p>
            <a:r>
              <a:t>COMMON MISTAKES: Telling the whole story in present tense; describing pictures separately instead of connecting them into one story.</a:t>
            </a:r>
          </a:p>
          <a:p/>
          <a:p>
            <a:r>
              <a:t>IF THE STUDENT STRUGGLES (easier step): Point to picture 1 and ask just 'Who is this and where are they?' Build it one picture at a time.</a:t>
            </a:r>
          </a:p>
          <a:p/>
          <a:p>
            <a:r>
              <a:t>IF THE STUDENT FINISHES FAST (bonus): Ask them to add a surprise twist to the ending.</a:t>
            </a:r>
          </a:p>
          <a:p/>
          <a:p>
            <a:r>
              <a:t>ENCOURAGE: What a storyteller! I could picture the whole thing. +1 Star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47–55 min</a:t>
            </a:r>
          </a:p>
          <a:p/>
          <a:p>
            <a:r>
              <a:t>SAY: Four questions, and each one secretly needs a different tense. Answer in as many sentences as you like. I am going to listen the whole way through and I will not interrupt you.</a:t>
            </a:r>
          </a:p>
          <a:p/>
          <a:p>
            <a:r>
              <a:t>HOW TO RUN IT: Ask all four. Let the student finish completely each time. Then: praise something specific first, correct at most two things, and have them repeat the corrected sentence once.</a:t>
            </a:r>
          </a:p>
          <a:p/>
          <a:p>
            <a:r>
              <a:t>EXPECTED ANSWERS: Yesterday → past forms; today → am/is/are + -ing; weekends → present; this weekend → will.</a:t>
            </a:r>
          </a:p>
          <a:p/>
          <a:p>
            <a:r>
              <a:t>COMMON MISTAKES: Using present tense for the 'yesterday' question; forgetting 'will' for the last one.</a:t>
            </a:r>
          </a:p>
          <a:p/>
          <a:p>
            <a:r>
              <a:t>IF THE STUDENT STRUGGLES (easier step): Answer the question yourself first as a model, then ask them again.</a:t>
            </a:r>
          </a:p>
          <a:p/>
          <a:p>
            <a:r>
              <a:t>IF THE STUDENT FINISHES FAST (bonus): Ask a follow-up: 'Why?' or 'Who will be with you?'</a:t>
            </a:r>
          </a:p>
          <a:p/>
          <a:p>
            <a:r>
              <a:t>ENCOURAGE: You used four different tenses without me telling you. That's real English!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55–58 min</a:t>
            </a:r>
          </a:p>
          <a:p/>
          <a:p>
            <a:r>
              <a:t>SAY: Last challenge of the day! Six quick questions that cover everything we did. Remember — this is a game. If you want a hint, just ask and you still get the star.</a:t>
            </a:r>
          </a:p>
          <a:p/>
          <a:p>
            <a:r>
              <a:t>HOW TO RUN IT: Move quickly, roughly 20 seconds per item. Give hints freely. The goal is a confident finish, not a hard assessment.</a:t>
            </a:r>
          </a:p>
          <a:p/>
          <a:p>
            <a:r>
              <a:t>EXPECTED ANSWERS: 1 watched  •  2 I am running  •  3 very tired  •  4 He doesn't like fish  •  5 So the trapped hatchlings could climb out by themselves  •  6 any correct 'will' sentence.</a:t>
            </a:r>
          </a:p>
          <a:p/>
          <a:p>
            <a:r>
              <a:t>COMMON MISTAKES: Rushing question 4 and only fixing 'don't' to 'not'; forgetting 'will' in question 6.</a:t>
            </a:r>
          </a:p>
          <a:p/>
          <a:p>
            <a:r>
              <a:t>IF THE STUDENT STRUGGLES (easier step): Turn any item into a two-choice question instead of three.</a:t>
            </a:r>
          </a:p>
          <a:p/>
          <a:p>
            <a:r>
              <a:t>IF THE STUDENT FINISHES FAST (bonus): Ask them to write one more question to quiz YOU with.</a:t>
            </a:r>
          </a:p>
          <a:p/>
          <a:p>
            <a:r>
              <a:t>ENCOURAGE: Look at that — you finished the whole challenge! 🏆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58–60 min</a:t>
            </a:r>
          </a:p>
          <a:p/>
          <a:p>
            <a:r>
              <a:t>SAY: Look at everything you did in one hour. Six different skills. When you started you had not read the story yet, and now you can tell me all five tenses.</a:t>
            </a:r>
          </a:p>
          <a:p/>
          <a:p>
            <a:r>
              <a:t>HOW TO RUN IT: Point to each card and let the student say what they remember about it. Keep it celebratory and quick — about 45 seconds total.</a:t>
            </a:r>
          </a:p>
          <a:p/>
          <a:p>
            <a:r>
              <a:t>EXPECTED ANSWERS: Student recalls the story name, a few vocabulary words, and at least two tenses.</a:t>
            </a:r>
          </a:p>
          <a:p/>
          <a:p>
            <a:r>
              <a:t>COMMON MISTAKES: Being modest or saying they don't remember.</a:t>
            </a:r>
          </a:p>
          <a:p/>
          <a:p>
            <a:r>
              <a:t>IF THE STUDENT STRUGGLES (easier step): Prompt with the first sound: 'The story was about a t...?'</a:t>
            </a:r>
          </a:p>
          <a:p/>
          <a:p>
            <a:r>
              <a:t>IF THE STUDENT FINISHES FAST (bonus): Ask which skill they want to practice more next time.</a:t>
            </a:r>
          </a:p>
          <a:p/>
          <a:p>
            <a:r>
              <a:t>ENCOURAGE: You should be really proud of this. I am!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58–60 min</a:t>
            </a:r>
          </a:p>
          <a:p/>
          <a:p>
            <a:r>
              <a:t>SAY: Last thing before your reward. Tell me honestly how each part felt. If something is still tricky, that is really useful for me to know — it helps me teach you better.</a:t>
            </a:r>
          </a:p>
          <a:p/>
          <a:p>
            <a:r>
              <a:t>HOW TO RUN IT: Go through all four rows quickly. Genuinely thank them for any honest 'still tricky' answer so honesty feels safe.</a:t>
            </a:r>
          </a:p>
          <a:p/>
          <a:p>
            <a:r>
              <a:t>EXPECTED ANSWERS: Honest self-ratings plus one favorite activity named.</a:t>
            </a:r>
          </a:p>
          <a:p/>
          <a:p>
            <a:r>
              <a:t>COMMON MISTAKES: Rating everything as 'I've got this' to please the teacher.</a:t>
            </a:r>
          </a:p>
          <a:p/>
          <a:p>
            <a:r>
              <a:t>IF THE STUDENT STRUGGLES (easier step): Ask instead: 'Which one would you like to play again next time?'</a:t>
            </a:r>
          </a:p>
          <a:p/>
          <a:p>
            <a:r>
              <a:t>IF THE STUDENT FINISHES FAST (bonus): Ask what they would like to learn in the next class.</a:t>
            </a:r>
          </a:p>
          <a:p/>
          <a:p>
            <a:r>
              <a:t>ENCOURAGE: Thank you for being honest — that is how we get better. 💛</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58–60 min</a:t>
            </a:r>
          </a:p>
          <a:p/>
          <a:p>
            <a:r>
              <a:t>SAY: This is optional — pick just one that sounds fun. My favorite is telling the turtle story to someone at home, because teaching someone else is the fastest way to remember something.</a:t>
            </a:r>
          </a:p>
          <a:p/>
          <a:p>
            <a:r>
              <a:t>HOW TO RUN IT: Let the student choose out loud so they own the decision. Never assign all four.</a:t>
            </a:r>
          </a:p>
          <a:p/>
          <a:p>
            <a:r>
              <a:t>EXPECTED ANSWERS: Student picks one task and says when they will do it.</a:t>
            </a:r>
          </a:p>
          <a:p/>
          <a:p>
            <a:r>
              <a:t>COMMON MISTAKES: Feeling pressured to do all four, or seeing this as real homework.</a:t>
            </a:r>
          </a:p>
          <a:p/>
          <a:p>
            <a:r>
              <a:t>IF THE STUDENT STRUGGLES (easier step): Say clearly: 'Zero is also fine. This is a bonus, not a rule.'</a:t>
            </a:r>
          </a:p>
          <a:p/>
          <a:p>
            <a:r>
              <a:t>IF THE STUDENT FINISHES FAST (bonus): Invite them to bring their drawing or sentences to the next class.</a:t>
            </a:r>
          </a:p>
          <a:p/>
          <a:p>
            <a:r>
              <a:t>ENCOURAGE: Great pick — I can't wait to hear about it! 🎁</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58–60 min</a:t>
            </a:r>
          </a:p>
          <a:p/>
          <a:p>
            <a:r>
              <a:t>SAY: You did it! Look at that trophy — you earned every bit of it. You read, you played, you told your own story, and you spoke English for a whole hour. I am really proud of you, and I can't wait for our next adventure.</a:t>
            </a:r>
          </a:p>
          <a:p/>
          <a:p>
            <a:r>
              <a:t>HOW TO RUN IT: End on maximum energy. Applaud, give a virtual high five, and say one specific thing they did well today so the praise feels real and personal.</a:t>
            </a:r>
          </a:p>
          <a:p/>
          <a:p>
            <a:r>
              <a:t>EXPECTED ANSWERS: Student smiles, says thank you, and often asks when the next class is.</a:t>
            </a:r>
          </a:p>
          <a:p/>
          <a:p>
            <a:r>
              <a:t>COMMON MISTAKES: Rushing off before the celebration lands.</a:t>
            </a:r>
          </a:p>
          <a:p/>
          <a:p>
            <a:r>
              <a:t>IF THE STUDENT STRUGGLES (easier step): If they seem shy about praise, just name one concrete fact: 'You read 300 words out loud.'</a:t>
            </a:r>
          </a:p>
          <a:p/>
          <a:p>
            <a:r>
              <a:t>IF THE STUDENT FINISHES FAST (bonus): Ask what adventure they want next time — space, animals, or mystery?</a:t>
            </a:r>
          </a:p>
          <a:p/>
          <a:p>
            <a:r>
              <a:t>ENCOURAGE: You were fantastic today. See you next time, adventurer!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After class</a:t>
            </a:r>
          </a:p>
          <a:p/>
          <a:p>
            <a:r>
              <a:t>SAY: TEACHER SLIDE — do not display to the student.</a:t>
            </a:r>
          </a:p>
          <a:p/>
          <a:p>
            <a:r>
              <a:t>HOW TO RUN IT: Complete this within five minutes of finishing the class, while details are fresh. Circle one star rating per skill and add one short note.</a:t>
            </a:r>
          </a:p>
          <a:p/>
          <a:p>
            <a:r>
              <a:t>EXPECTED ANSWERS: Most first-demo Grade 5 students land at 3 stars for grammar and 3–4 for participation.</a:t>
            </a:r>
          </a:p>
          <a:p/>
          <a:p>
            <a:r>
              <a:t>COMMON MISTAKES: Rating too harshly on a first demo, which discourages both student and parent.</a:t>
            </a:r>
          </a:p>
          <a:p/>
          <a:p>
            <a:r>
              <a:t>IF THE STUDENT STRUGGLES (easier step): If unsure between two levels, choose the higher one and note what to watch next time.</a:t>
            </a:r>
          </a:p>
          <a:p/>
          <a:p>
            <a:r>
              <a:t>IF THE STUDENT FINISHES FAST (bonus): Add one specific next-step goal per skill for the follow-up lesson.</a:t>
            </a:r>
          </a:p>
          <a:p/>
          <a:p>
            <a:r>
              <a:t>ENCOURAGE: Frame all feedback to parents as strengths first, then one growth area.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Reference</a:t>
            </a:r>
          </a:p>
          <a:p/>
          <a:p>
            <a:r>
              <a:t>SAY: TEACHER SLIDE — answer key for reading and vocabulary.</a:t>
            </a:r>
          </a:p>
          <a:p/>
          <a:p>
            <a:r>
              <a:t>HOW TO RUN IT: Hide this slide in PowerPoint (right-click the thumbnail → Hide Slide) before you present, or keep it open on a second screen.</a:t>
            </a:r>
          </a:p>
          <a:p/>
          <a:p>
            <a:r>
              <a:t>EXPECTED ANSWERS: See the slide content for all answers.</a:t>
            </a:r>
          </a:p>
          <a:p/>
          <a:p>
            <a:r>
              <a:t>COMMON MISTAKES: Accidentally presenting this slide to the student.</a:t>
            </a:r>
          </a:p>
          <a:p/>
          <a:p>
            <a:r>
              <a:t>IF THE STUDENT STRUGGLES (easier step): Accept any reasonable wording for short-answer and opinion items.</a:t>
            </a:r>
          </a:p>
          <a:p/>
          <a:p>
            <a:r>
              <a:t>IF THE STUDENT FINISHES FAST (bonus): For fast finishers, ask them to justify each answer with a line from the text.</a:t>
            </a:r>
          </a:p>
          <a:p/>
          <a:p>
            <a:r>
              <a:t>ENCOURAGE: Reference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Reference</a:t>
            </a:r>
          </a:p>
          <a:p/>
          <a:p>
            <a:r>
              <a:t>SAY: TEACHER SLIDE — answer key for all grammar and tense games.</a:t>
            </a:r>
          </a:p>
          <a:p/>
          <a:p>
            <a:r>
              <a:t>HOW TO RUN IT: Hide this slide before presenting. Keep it handy during the tense games so you can confirm answers instantly without losing pace.</a:t>
            </a:r>
          </a:p>
          <a:p/>
          <a:p>
            <a:r>
              <a:t>EXPECTED ANSWERS: See the slide content for all answers.</a:t>
            </a:r>
          </a:p>
          <a:p/>
          <a:p>
            <a:r>
              <a:t>COMMON MISTAKES: Correcting a student answer that is actually acceptable — several items allow more than one correct phrasing.</a:t>
            </a:r>
          </a:p>
          <a:p/>
          <a:p>
            <a:r>
              <a:t>IF THE STUDENT STRUGGLES (easier step): If the student produces a different but grammatically correct sentence, accept it and praise the creativity.</a:t>
            </a:r>
          </a:p>
          <a:p/>
          <a:p>
            <a:r>
              <a:t>IF THE STUDENT FINISHES FAST (bonus): Use the sprint list again as a warm-up at the start of the next lesson.</a:t>
            </a:r>
          </a:p>
          <a:p/>
          <a:p>
            <a:r>
              <a:t>ENCOURAGE: Reference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548640"/>
            <a:ext cx="777240" cy="77724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72800" y="594360"/>
            <a:ext cx="777240" cy="77724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5440680"/>
            <a:ext cx="777240" cy="77724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27080" y="5349240"/>
            <a:ext cx="777240" cy="77724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91640"/>
            <a:ext cx="10972800" cy="685800"/>
          </a:xfrm>
          <a:prstGeom prst="rect">
            <a:avLst/>
          </a:prstGeom>
          <a:noFill/>
        </p:spPr>
        <p:txBody>
          <a:bodyPr wrap="square">
            <a:spAutoFit/>
          </a:bodyPr>
          <a:lstStyle/>
          <a:p>
            <a:pPr algn="ctr"/>
            <a:r>
              <a:rPr sz="3800" b="1">
                <a:solidFill>
                  <a:srgbClr val="FFFFFF"/>
                </a:solidFill>
                <a:latin typeface="Georgia"/>
              </a:rPr>
              <a:t>🌟 Welcome to Your English Adventure! 🌟</a:t>
            </a:r>
          </a:p>
        </p:txBody>
      </p:sp>
      <p:sp>
        <p:nvSpPr>
          <p:cNvPr id="9" name="TextBox 8"/>
          <p:cNvSpPr txBox="1"/>
          <p:nvPr/>
        </p:nvSpPr>
        <p:spPr>
          <a:xfrm>
            <a:off x="640080" y="2560320"/>
            <a:ext cx="10972800" cy="411480"/>
          </a:xfrm>
          <a:prstGeom prst="rect">
            <a:avLst/>
          </a:prstGeom>
          <a:noFill/>
        </p:spPr>
        <p:txBody>
          <a:bodyPr wrap="square">
            <a:spAutoFit/>
          </a:bodyPr>
          <a:lstStyle/>
          <a:p>
            <a:pPr algn="ctr"/>
            <a:r>
              <a:rPr sz="1800" b="0">
                <a:solidFill>
                  <a:srgbClr val="E1F5FE"/>
                </a:solidFill>
                <a:latin typeface="Calibri"/>
              </a:rPr>
              <a:t>Grade 5  •  United States  •  60-Minute Live Demo Class</a:t>
            </a:r>
          </a:p>
        </p:txBody>
      </p:sp>
      <p:sp>
        <p:nvSpPr>
          <p:cNvPr id="10" name="Rounded Rectangle 9"/>
          <p:cNvSpPr/>
          <p:nvPr/>
        </p:nvSpPr>
        <p:spPr>
          <a:xfrm>
            <a:off x="3017520" y="3291840"/>
            <a:ext cx="6126480" cy="123444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3520440"/>
            <a:ext cx="5760720" cy="822960"/>
          </a:xfrm>
          <a:prstGeom prst="rect">
            <a:avLst/>
          </a:prstGeom>
          <a:noFill/>
        </p:spPr>
        <p:txBody>
          <a:bodyPr wrap="square">
            <a:spAutoFit/>
          </a:bodyPr>
          <a:lstStyle/>
          <a:p>
            <a:pPr algn="ctr"/>
            <a:r>
              <a:rPr sz="1700" b="1">
                <a:solidFill>
                  <a:srgbClr val="FFFFFF"/>
                </a:solidFill>
                <a:latin typeface="Calibri"/>
              </a:rPr>
              <a:t>Today we PLAY, READ, and become
TENSE DETECTIVES 🕵️
(This is NOT a test!)</a:t>
            </a:r>
          </a:p>
        </p:txBody>
      </p:sp>
      <p:sp>
        <p:nvSpPr>
          <p:cNvPr id="12" name="TextBox 11"/>
          <p:cNvSpPr txBox="1"/>
          <p:nvPr/>
        </p:nvSpPr>
        <p:spPr>
          <a:xfrm>
            <a:off x="640080" y="4892040"/>
            <a:ext cx="10972800" cy="411480"/>
          </a:xfrm>
          <a:prstGeom prst="rect">
            <a:avLst/>
          </a:prstGeom>
          <a:noFill/>
        </p:spPr>
        <p:txBody>
          <a:bodyPr wrap="square">
            <a:spAutoFit/>
          </a:bodyPr>
          <a:lstStyle/>
          <a:p>
            <a:pPr algn="ctr"/>
            <a:r>
              <a:rPr sz="2200" b="0">
                <a:solidFill>
                  <a:srgbClr val="FFD54F"/>
                </a:solidFill>
                <a:latin typeface="Calibri"/>
              </a:rPr>
              <a:t>📖  🎮  🗣️  🧩  ⏰  🎯  —  Ready? Let's go!</a:t>
            </a:r>
          </a:p>
        </p:txBody>
      </p:sp>
      <p:sp>
        <p:nvSpPr>
          <p:cNvPr id="13" name="Rectangle 12"/>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37376"/>
            <a:ext cx="329505"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Welcome  |  0–5 min</a:t>
            </a:r>
          </a:p>
        </p:txBody>
      </p:sp>
      <p:sp>
        <p:nvSpPr>
          <p:cNvPr id="17" name="TextBox 16"/>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 / 37</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AGENDA</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0–5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Today's Mission</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659010"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Mission  |  0–5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 / 37</a:t>
            </a:r>
          </a:p>
        </p:txBody>
      </p:sp>
      <p:sp>
        <p:nvSpPr>
          <p:cNvPr id="14" name="Rounded Rectangle 13"/>
          <p:cNvSpPr/>
          <p:nvPr/>
        </p:nvSpPr>
        <p:spPr>
          <a:xfrm>
            <a:off x="384048" y="141732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1600200"/>
            <a:ext cx="640080" cy="64008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35608" y="170992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17" name="TextBox 16"/>
          <p:cNvSpPr txBox="1"/>
          <p:nvPr/>
        </p:nvSpPr>
        <p:spPr>
          <a:xfrm>
            <a:off x="493776" y="2377440"/>
            <a:ext cx="2523744" cy="640080"/>
          </a:xfrm>
          <a:prstGeom prst="rect">
            <a:avLst/>
          </a:prstGeom>
          <a:noFill/>
        </p:spPr>
        <p:txBody>
          <a:bodyPr wrap="square">
            <a:spAutoFit/>
          </a:bodyPr>
          <a:lstStyle/>
          <a:p>
            <a:pPr algn="ctr"/>
            <a:r>
              <a:rPr sz="1500" b="1">
                <a:solidFill>
                  <a:srgbClr val="0A2A6E"/>
                </a:solidFill>
                <a:latin typeface="Calibri"/>
              </a:rPr>
              <a:t>Vocabulary Games</a:t>
            </a:r>
          </a:p>
        </p:txBody>
      </p:sp>
      <p:sp>
        <p:nvSpPr>
          <p:cNvPr id="18" name="TextBox 17"/>
          <p:cNvSpPr txBox="1"/>
          <p:nvPr/>
        </p:nvSpPr>
        <p:spPr>
          <a:xfrm>
            <a:off x="493776" y="2953512"/>
            <a:ext cx="2523744" cy="320040"/>
          </a:xfrm>
          <a:prstGeom prst="rect">
            <a:avLst/>
          </a:prstGeom>
          <a:noFill/>
        </p:spPr>
        <p:txBody>
          <a:bodyPr wrap="square">
            <a:spAutoFit/>
          </a:bodyPr>
          <a:lstStyle/>
          <a:p>
            <a:pPr algn="ctr"/>
            <a:r>
              <a:rPr sz="1200" b="0">
                <a:solidFill>
                  <a:srgbClr val="64748B"/>
                </a:solidFill>
                <a:latin typeface="Calibri"/>
              </a:rPr>
              <a:t>5–10 min</a:t>
            </a:r>
          </a:p>
        </p:txBody>
      </p:sp>
      <p:sp>
        <p:nvSpPr>
          <p:cNvPr id="19" name="Rounded Rectangle 18"/>
          <p:cNvSpPr/>
          <p:nvPr/>
        </p:nvSpPr>
        <p:spPr>
          <a:xfrm>
            <a:off x="3291840" y="141732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343400" y="1600200"/>
            <a:ext cx="640080" cy="6400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170992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22" name="TextBox 21"/>
          <p:cNvSpPr txBox="1"/>
          <p:nvPr/>
        </p:nvSpPr>
        <p:spPr>
          <a:xfrm>
            <a:off x="3401568" y="2377440"/>
            <a:ext cx="2523744" cy="640080"/>
          </a:xfrm>
          <a:prstGeom prst="rect">
            <a:avLst/>
          </a:prstGeom>
          <a:noFill/>
        </p:spPr>
        <p:txBody>
          <a:bodyPr wrap="square">
            <a:spAutoFit/>
          </a:bodyPr>
          <a:lstStyle/>
          <a:p>
            <a:pPr algn="ctr"/>
            <a:r>
              <a:rPr sz="1500" b="1">
                <a:solidFill>
                  <a:srgbClr val="0A2A6E"/>
                </a:solidFill>
                <a:latin typeface="Calibri"/>
              </a:rPr>
              <a:t>Reading Adventure</a:t>
            </a:r>
          </a:p>
        </p:txBody>
      </p:sp>
      <p:sp>
        <p:nvSpPr>
          <p:cNvPr id="23" name="TextBox 22"/>
          <p:cNvSpPr txBox="1"/>
          <p:nvPr/>
        </p:nvSpPr>
        <p:spPr>
          <a:xfrm>
            <a:off x="3401568" y="2953512"/>
            <a:ext cx="2523744" cy="320040"/>
          </a:xfrm>
          <a:prstGeom prst="rect">
            <a:avLst/>
          </a:prstGeom>
          <a:noFill/>
        </p:spPr>
        <p:txBody>
          <a:bodyPr wrap="square">
            <a:spAutoFit/>
          </a:bodyPr>
          <a:lstStyle/>
          <a:p>
            <a:pPr algn="ctr"/>
            <a:r>
              <a:rPr sz="1200" b="0">
                <a:solidFill>
                  <a:srgbClr val="64748B"/>
                </a:solidFill>
                <a:latin typeface="Calibri"/>
              </a:rPr>
              <a:t>10–20 min</a:t>
            </a:r>
          </a:p>
        </p:txBody>
      </p:sp>
      <p:sp>
        <p:nvSpPr>
          <p:cNvPr id="24" name="Rounded Rectangle 23"/>
          <p:cNvSpPr/>
          <p:nvPr/>
        </p:nvSpPr>
        <p:spPr>
          <a:xfrm>
            <a:off x="6199632" y="141732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51192" y="1600200"/>
            <a:ext cx="640080" cy="640080"/>
          </a:xfrm>
          <a:prstGeom prst="ellipse">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51192" y="170992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27" name="TextBox 26"/>
          <p:cNvSpPr txBox="1"/>
          <p:nvPr/>
        </p:nvSpPr>
        <p:spPr>
          <a:xfrm>
            <a:off x="6309360" y="2377440"/>
            <a:ext cx="2523744" cy="640080"/>
          </a:xfrm>
          <a:prstGeom prst="rect">
            <a:avLst/>
          </a:prstGeom>
          <a:noFill/>
        </p:spPr>
        <p:txBody>
          <a:bodyPr wrap="square">
            <a:spAutoFit/>
          </a:bodyPr>
          <a:lstStyle/>
          <a:p>
            <a:pPr algn="ctr"/>
            <a:r>
              <a:rPr sz="1500" b="1">
                <a:solidFill>
                  <a:srgbClr val="0A2A6E"/>
                </a:solidFill>
                <a:latin typeface="Calibri"/>
              </a:rPr>
              <a:t>Reading Games</a:t>
            </a:r>
          </a:p>
        </p:txBody>
      </p:sp>
      <p:sp>
        <p:nvSpPr>
          <p:cNvPr id="28" name="TextBox 27"/>
          <p:cNvSpPr txBox="1"/>
          <p:nvPr/>
        </p:nvSpPr>
        <p:spPr>
          <a:xfrm>
            <a:off x="6309360" y="2953512"/>
            <a:ext cx="2523744" cy="320040"/>
          </a:xfrm>
          <a:prstGeom prst="rect">
            <a:avLst/>
          </a:prstGeom>
          <a:noFill/>
        </p:spPr>
        <p:txBody>
          <a:bodyPr wrap="square">
            <a:spAutoFit/>
          </a:bodyPr>
          <a:lstStyle/>
          <a:p>
            <a:pPr algn="ctr"/>
            <a:r>
              <a:rPr sz="1200" b="0">
                <a:solidFill>
                  <a:srgbClr val="64748B"/>
                </a:solidFill>
                <a:latin typeface="Calibri"/>
              </a:rPr>
              <a:t>20–25 min</a:t>
            </a:r>
          </a:p>
        </p:txBody>
      </p:sp>
      <p:sp>
        <p:nvSpPr>
          <p:cNvPr id="29" name="Rounded Rectangle 28"/>
          <p:cNvSpPr/>
          <p:nvPr/>
        </p:nvSpPr>
        <p:spPr>
          <a:xfrm>
            <a:off x="9107424" y="141732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600200"/>
            <a:ext cx="640080" cy="640080"/>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0992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32" name="TextBox 31"/>
          <p:cNvSpPr txBox="1"/>
          <p:nvPr/>
        </p:nvSpPr>
        <p:spPr>
          <a:xfrm>
            <a:off x="9217152" y="2377440"/>
            <a:ext cx="2523744" cy="640080"/>
          </a:xfrm>
          <a:prstGeom prst="rect">
            <a:avLst/>
          </a:prstGeom>
          <a:noFill/>
        </p:spPr>
        <p:txBody>
          <a:bodyPr wrap="square">
            <a:spAutoFit/>
          </a:bodyPr>
          <a:lstStyle/>
          <a:p>
            <a:pPr algn="ctr"/>
            <a:r>
              <a:rPr sz="1500" b="1">
                <a:solidFill>
                  <a:srgbClr val="0A2A6E"/>
                </a:solidFill>
                <a:latin typeface="Calibri"/>
              </a:rPr>
              <a:t>Tenses Lesson</a:t>
            </a:r>
          </a:p>
        </p:txBody>
      </p:sp>
      <p:sp>
        <p:nvSpPr>
          <p:cNvPr id="33" name="TextBox 32"/>
          <p:cNvSpPr txBox="1"/>
          <p:nvPr/>
        </p:nvSpPr>
        <p:spPr>
          <a:xfrm>
            <a:off x="9217152" y="2953512"/>
            <a:ext cx="2523744" cy="320040"/>
          </a:xfrm>
          <a:prstGeom prst="rect">
            <a:avLst/>
          </a:prstGeom>
          <a:noFill/>
        </p:spPr>
        <p:txBody>
          <a:bodyPr wrap="square">
            <a:spAutoFit/>
          </a:bodyPr>
          <a:lstStyle/>
          <a:p>
            <a:pPr algn="ctr"/>
            <a:r>
              <a:rPr sz="1200" b="0">
                <a:solidFill>
                  <a:srgbClr val="64748B"/>
                </a:solidFill>
                <a:latin typeface="Calibri"/>
              </a:rPr>
              <a:t>25–35 min</a:t>
            </a:r>
          </a:p>
        </p:txBody>
      </p:sp>
      <p:sp>
        <p:nvSpPr>
          <p:cNvPr id="34" name="Rounded Rectangle 33"/>
          <p:cNvSpPr/>
          <p:nvPr/>
        </p:nvSpPr>
        <p:spPr>
          <a:xfrm>
            <a:off x="384048" y="365760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435608" y="3840480"/>
            <a:ext cx="640080" cy="64008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35608" y="395020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37" name="TextBox 36"/>
          <p:cNvSpPr txBox="1"/>
          <p:nvPr/>
        </p:nvSpPr>
        <p:spPr>
          <a:xfrm>
            <a:off x="493776" y="4617720"/>
            <a:ext cx="2523744" cy="640080"/>
          </a:xfrm>
          <a:prstGeom prst="rect">
            <a:avLst/>
          </a:prstGeom>
          <a:noFill/>
        </p:spPr>
        <p:txBody>
          <a:bodyPr wrap="square">
            <a:spAutoFit/>
          </a:bodyPr>
          <a:lstStyle/>
          <a:p>
            <a:pPr algn="ctr"/>
            <a:r>
              <a:rPr sz="1500" b="1">
                <a:solidFill>
                  <a:srgbClr val="0A2A6E"/>
                </a:solidFill>
                <a:latin typeface="Calibri"/>
              </a:rPr>
              <a:t>Tense Detective</a:t>
            </a:r>
          </a:p>
        </p:txBody>
      </p:sp>
      <p:sp>
        <p:nvSpPr>
          <p:cNvPr id="38" name="TextBox 37"/>
          <p:cNvSpPr txBox="1"/>
          <p:nvPr/>
        </p:nvSpPr>
        <p:spPr>
          <a:xfrm>
            <a:off x="493776" y="5193792"/>
            <a:ext cx="2523744" cy="320040"/>
          </a:xfrm>
          <a:prstGeom prst="rect">
            <a:avLst/>
          </a:prstGeom>
          <a:noFill/>
        </p:spPr>
        <p:txBody>
          <a:bodyPr wrap="square">
            <a:spAutoFit/>
          </a:bodyPr>
          <a:lstStyle/>
          <a:p>
            <a:pPr algn="ctr"/>
            <a:r>
              <a:rPr sz="1200" b="0">
                <a:solidFill>
                  <a:srgbClr val="64748B"/>
                </a:solidFill>
                <a:latin typeface="Calibri"/>
              </a:rPr>
              <a:t>35–47 min</a:t>
            </a:r>
          </a:p>
        </p:txBody>
      </p:sp>
      <p:sp>
        <p:nvSpPr>
          <p:cNvPr id="39" name="Rounded Rectangle 38"/>
          <p:cNvSpPr/>
          <p:nvPr/>
        </p:nvSpPr>
        <p:spPr>
          <a:xfrm>
            <a:off x="3291840" y="365760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43400" y="3840480"/>
            <a:ext cx="640080" cy="640080"/>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43400" y="395020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42" name="TextBox 41"/>
          <p:cNvSpPr txBox="1"/>
          <p:nvPr/>
        </p:nvSpPr>
        <p:spPr>
          <a:xfrm>
            <a:off x="3401568" y="4617720"/>
            <a:ext cx="2523744" cy="640080"/>
          </a:xfrm>
          <a:prstGeom prst="rect">
            <a:avLst/>
          </a:prstGeom>
          <a:noFill/>
        </p:spPr>
        <p:txBody>
          <a:bodyPr wrap="square">
            <a:spAutoFit/>
          </a:bodyPr>
          <a:lstStyle/>
          <a:p>
            <a:pPr algn="ctr"/>
            <a:r>
              <a:rPr sz="1500" b="1">
                <a:solidFill>
                  <a:srgbClr val="0A2A6E"/>
                </a:solidFill>
                <a:latin typeface="Calibri"/>
              </a:rPr>
              <a:t>Story + Speaking</a:t>
            </a:r>
          </a:p>
        </p:txBody>
      </p:sp>
      <p:sp>
        <p:nvSpPr>
          <p:cNvPr id="43" name="TextBox 42"/>
          <p:cNvSpPr txBox="1"/>
          <p:nvPr/>
        </p:nvSpPr>
        <p:spPr>
          <a:xfrm>
            <a:off x="3401568" y="5193792"/>
            <a:ext cx="2523744" cy="320040"/>
          </a:xfrm>
          <a:prstGeom prst="rect">
            <a:avLst/>
          </a:prstGeom>
          <a:noFill/>
        </p:spPr>
        <p:txBody>
          <a:bodyPr wrap="square">
            <a:spAutoFit/>
          </a:bodyPr>
          <a:lstStyle/>
          <a:p>
            <a:pPr algn="ctr"/>
            <a:r>
              <a:rPr sz="1200" b="0">
                <a:solidFill>
                  <a:srgbClr val="64748B"/>
                </a:solidFill>
                <a:latin typeface="Calibri"/>
              </a:rPr>
              <a:t>47–55 min</a:t>
            </a:r>
          </a:p>
        </p:txBody>
      </p:sp>
      <p:sp>
        <p:nvSpPr>
          <p:cNvPr id="44" name="Rounded Rectangle 43"/>
          <p:cNvSpPr/>
          <p:nvPr/>
        </p:nvSpPr>
        <p:spPr>
          <a:xfrm>
            <a:off x="6199632" y="365760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251192" y="3840480"/>
            <a:ext cx="640080" cy="64008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51192" y="395020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47" name="TextBox 46"/>
          <p:cNvSpPr txBox="1"/>
          <p:nvPr/>
        </p:nvSpPr>
        <p:spPr>
          <a:xfrm>
            <a:off x="6309360" y="4617720"/>
            <a:ext cx="2523744" cy="640080"/>
          </a:xfrm>
          <a:prstGeom prst="rect">
            <a:avLst/>
          </a:prstGeom>
          <a:noFill/>
        </p:spPr>
        <p:txBody>
          <a:bodyPr wrap="square">
            <a:spAutoFit/>
          </a:bodyPr>
          <a:lstStyle/>
          <a:p>
            <a:pPr algn="ctr"/>
            <a:r>
              <a:rPr sz="1500" b="1">
                <a:solidFill>
                  <a:srgbClr val="0A2A6E"/>
                </a:solidFill>
                <a:latin typeface="Calibri"/>
              </a:rPr>
              <a:t>Quick Challenge</a:t>
            </a:r>
          </a:p>
        </p:txBody>
      </p:sp>
      <p:sp>
        <p:nvSpPr>
          <p:cNvPr id="48" name="TextBox 47"/>
          <p:cNvSpPr txBox="1"/>
          <p:nvPr/>
        </p:nvSpPr>
        <p:spPr>
          <a:xfrm>
            <a:off x="6309360" y="5193792"/>
            <a:ext cx="2523744" cy="320040"/>
          </a:xfrm>
          <a:prstGeom prst="rect">
            <a:avLst/>
          </a:prstGeom>
          <a:noFill/>
        </p:spPr>
        <p:txBody>
          <a:bodyPr wrap="square">
            <a:spAutoFit/>
          </a:bodyPr>
          <a:lstStyle/>
          <a:p>
            <a:pPr algn="ctr"/>
            <a:r>
              <a:rPr sz="1200" b="0">
                <a:solidFill>
                  <a:srgbClr val="64748B"/>
                </a:solidFill>
                <a:latin typeface="Calibri"/>
              </a:rPr>
              <a:t>55–58 min</a:t>
            </a:r>
          </a:p>
        </p:txBody>
      </p:sp>
      <p:sp>
        <p:nvSpPr>
          <p:cNvPr id="49" name="Rounded Rectangle 48"/>
          <p:cNvSpPr/>
          <p:nvPr/>
        </p:nvSpPr>
        <p:spPr>
          <a:xfrm>
            <a:off x="9107424" y="3657600"/>
            <a:ext cx="27432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158984" y="3840480"/>
            <a:ext cx="640080" cy="640080"/>
          </a:xfrm>
          <a:prstGeom prst="ellipse">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158984" y="3950208"/>
            <a:ext cx="640080" cy="457200"/>
          </a:xfrm>
          <a:prstGeom prst="rect">
            <a:avLst/>
          </a:prstGeom>
          <a:noFill/>
        </p:spPr>
        <p:txBody>
          <a:bodyPr wrap="square">
            <a:spAutoFit/>
          </a:bodyPr>
          <a:lstStyle/>
          <a:p>
            <a:pPr algn="ctr"/>
            <a:r>
              <a:rPr sz="2200" b="0">
                <a:solidFill>
                  <a:srgbClr val="1F2937"/>
                </a:solidFill>
                <a:latin typeface="Calibri"/>
              </a:rPr>
              <a:t>⭐</a:t>
            </a:r>
          </a:p>
        </p:txBody>
      </p:sp>
      <p:sp>
        <p:nvSpPr>
          <p:cNvPr id="52" name="TextBox 51"/>
          <p:cNvSpPr txBox="1"/>
          <p:nvPr/>
        </p:nvSpPr>
        <p:spPr>
          <a:xfrm>
            <a:off x="9217152" y="4617720"/>
            <a:ext cx="2523744" cy="640080"/>
          </a:xfrm>
          <a:prstGeom prst="rect">
            <a:avLst/>
          </a:prstGeom>
          <a:noFill/>
        </p:spPr>
        <p:txBody>
          <a:bodyPr wrap="square">
            <a:spAutoFit/>
          </a:bodyPr>
          <a:lstStyle/>
          <a:p>
            <a:pPr algn="ctr"/>
            <a:r>
              <a:rPr sz="1500" b="1">
                <a:solidFill>
                  <a:srgbClr val="0A2A6E"/>
                </a:solidFill>
                <a:latin typeface="Calibri"/>
              </a:rPr>
              <a:t>Recap + Reward</a:t>
            </a:r>
          </a:p>
        </p:txBody>
      </p:sp>
      <p:sp>
        <p:nvSpPr>
          <p:cNvPr id="53" name="TextBox 52"/>
          <p:cNvSpPr txBox="1"/>
          <p:nvPr/>
        </p:nvSpPr>
        <p:spPr>
          <a:xfrm>
            <a:off x="9217152" y="5193792"/>
            <a:ext cx="2523744" cy="320040"/>
          </a:xfrm>
          <a:prstGeom prst="rect">
            <a:avLst/>
          </a:prstGeom>
          <a:noFill/>
        </p:spPr>
        <p:txBody>
          <a:bodyPr wrap="square">
            <a:spAutoFit/>
          </a:bodyPr>
          <a:lstStyle/>
          <a:p>
            <a:pPr algn="ctr"/>
            <a:r>
              <a:rPr sz="1200" b="0">
                <a:solidFill>
                  <a:srgbClr val="64748B"/>
                </a:solidFill>
                <a:latin typeface="Calibri"/>
              </a:rPr>
              <a:t>58–60 min</a:t>
            </a:r>
          </a:p>
        </p:txBody>
      </p:sp>
      <p:sp>
        <p:nvSpPr>
          <p:cNvPr id="54" name="TextBox 53"/>
          <p:cNvSpPr txBox="1"/>
          <p:nvPr/>
        </p:nvSpPr>
        <p:spPr>
          <a:xfrm>
            <a:off x="384048" y="5943600"/>
            <a:ext cx="8686800" cy="365760"/>
          </a:xfrm>
          <a:prstGeom prst="rect">
            <a:avLst/>
          </a:prstGeom>
          <a:noFill/>
        </p:spPr>
        <p:txBody>
          <a:bodyPr wrap="square">
            <a:spAutoFit/>
          </a:bodyPr>
          <a:lstStyle/>
          <a:p>
            <a:pPr algn="l"/>
            <a:r>
              <a:rPr sz="1500" b="1">
                <a:solidFill>
                  <a:srgbClr val="FF6F61"/>
                </a:solidFill>
                <a:latin typeface="Calibri"/>
              </a:rPr>
              <a:t>Collect ⭐ stars at every stop. Can you get all 8?</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0–5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Icebreaker: Would You Rather?</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988515"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Icebreaker  |  0–5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 / 37</a:t>
            </a:r>
          </a:p>
        </p:txBody>
      </p:sp>
      <p:sp>
        <p:nvSpPr>
          <p:cNvPr id="14" name="Rounded Rectangle 13"/>
          <p:cNvSpPr/>
          <p:nvPr/>
        </p:nvSpPr>
        <p:spPr>
          <a:xfrm>
            <a:off x="411480" y="1417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600200"/>
            <a:ext cx="3337560" cy="566928"/>
          </a:xfrm>
          <a:prstGeom prst="rect">
            <a:avLst/>
          </a:prstGeom>
          <a:noFill/>
        </p:spPr>
        <p:txBody>
          <a:bodyPr wrap="square">
            <a:spAutoFit/>
          </a:bodyPr>
          <a:lstStyle/>
          <a:p>
            <a:pPr algn="ctr"/>
            <a:r>
              <a:rPr sz="1400" b="1">
                <a:solidFill>
                  <a:srgbClr val="009688"/>
                </a:solidFill>
                <a:latin typeface="Calibri"/>
              </a:rPr>
              <a:t>Swim with sea turtles</a:t>
            </a:r>
          </a:p>
        </p:txBody>
      </p:sp>
      <p:sp>
        <p:nvSpPr>
          <p:cNvPr id="16" name="TextBox 15"/>
          <p:cNvSpPr txBox="1"/>
          <p:nvPr/>
        </p:nvSpPr>
        <p:spPr>
          <a:xfrm>
            <a:off x="548640" y="2267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17" name="TextBox 16"/>
          <p:cNvSpPr txBox="1"/>
          <p:nvPr/>
        </p:nvSpPr>
        <p:spPr>
          <a:xfrm>
            <a:off x="548640" y="2670048"/>
            <a:ext cx="3337560" cy="566928"/>
          </a:xfrm>
          <a:prstGeom prst="rect">
            <a:avLst/>
          </a:prstGeom>
          <a:noFill/>
        </p:spPr>
        <p:txBody>
          <a:bodyPr wrap="square">
            <a:spAutoFit/>
          </a:bodyPr>
          <a:lstStyle/>
          <a:p>
            <a:pPr algn="ctr"/>
            <a:r>
              <a:rPr sz="1400" b="1">
                <a:solidFill>
                  <a:srgbClr val="FF6F61"/>
                </a:solidFill>
                <a:latin typeface="Calibri"/>
              </a:rPr>
              <a:t>Fly with eagles</a:t>
            </a:r>
          </a:p>
        </p:txBody>
      </p:sp>
      <p:sp>
        <p:nvSpPr>
          <p:cNvPr id="18" name="Rounded Rectangle 17"/>
          <p:cNvSpPr/>
          <p:nvPr/>
        </p:nvSpPr>
        <p:spPr>
          <a:xfrm>
            <a:off x="4251960" y="1417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1600200"/>
            <a:ext cx="3337560" cy="566928"/>
          </a:xfrm>
          <a:prstGeom prst="rect">
            <a:avLst/>
          </a:prstGeom>
          <a:noFill/>
        </p:spPr>
        <p:txBody>
          <a:bodyPr wrap="square">
            <a:spAutoFit/>
          </a:bodyPr>
          <a:lstStyle/>
          <a:p>
            <a:pPr algn="ctr"/>
            <a:r>
              <a:rPr sz="1400" b="1">
                <a:solidFill>
                  <a:srgbClr val="009688"/>
                </a:solidFill>
                <a:latin typeface="Calibri"/>
              </a:rPr>
              <a:t>Explore a dark cave</a:t>
            </a:r>
          </a:p>
        </p:txBody>
      </p:sp>
      <p:sp>
        <p:nvSpPr>
          <p:cNvPr id="20" name="TextBox 19"/>
          <p:cNvSpPr txBox="1"/>
          <p:nvPr/>
        </p:nvSpPr>
        <p:spPr>
          <a:xfrm>
            <a:off x="4389120" y="2267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21" name="TextBox 20"/>
          <p:cNvSpPr txBox="1"/>
          <p:nvPr/>
        </p:nvSpPr>
        <p:spPr>
          <a:xfrm>
            <a:off x="4389120" y="2670048"/>
            <a:ext cx="3337560" cy="566928"/>
          </a:xfrm>
          <a:prstGeom prst="rect">
            <a:avLst/>
          </a:prstGeom>
          <a:noFill/>
        </p:spPr>
        <p:txBody>
          <a:bodyPr wrap="square">
            <a:spAutoFit/>
          </a:bodyPr>
          <a:lstStyle/>
          <a:p>
            <a:pPr algn="ctr"/>
            <a:r>
              <a:rPr sz="1400" b="1">
                <a:solidFill>
                  <a:srgbClr val="FF6F61"/>
                </a:solidFill>
                <a:latin typeface="Calibri"/>
              </a:rPr>
              <a:t>Explore outer space</a:t>
            </a:r>
          </a:p>
        </p:txBody>
      </p:sp>
      <p:sp>
        <p:nvSpPr>
          <p:cNvPr id="22" name="Rounded Rectangle 21"/>
          <p:cNvSpPr/>
          <p:nvPr/>
        </p:nvSpPr>
        <p:spPr>
          <a:xfrm>
            <a:off x="8092440" y="1417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1600200"/>
            <a:ext cx="3337560" cy="566928"/>
          </a:xfrm>
          <a:prstGeom prst="rect">
            <a:avLst/>
          </a:prstGeom>
          <a:noFill/>
        </p:spPr>
        <p:txBody>
          <a:bodyPr wrap="square">
            <a:spAutoFit/>
          </a:bodyPr>
          <a:lstStyle/>
          <a:p>
            <a:pPr algn="ctr"/>
            <a:r>
              <a:rPr sz="1400" b="1">
                <a:solidFill>
                  <a:srgbClr val="009688"/>
                </a:solidFill>
                <a:latin typeface="Calibri"/>
              </a:rPr>
              <a:t>Have a pet dragon</a:t>
            </a:r>
          </a:p>
        </p:txBody>
      </p:sp>
      <p:sp>
        <p:nvSpPr>
          <p:cNvPr id="24" name="TextBox 23"/>
          <p:cNvSpPr txBox="1"/>
          <p:nvPr/>
        </p:nvSpPr>
        <p:spPr>
          <a:xfrm>
            <a:off x="8229600" y="2267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25" name="TextBox 24"/>
          <p:cNvSpPr txBox="1"/>
          <p:nvPr/>
        </p:nvSpPr>
        <p:spPr>
          <a:xfrm>
            <a:off x="8229600" y="2670048"/>
            <a:ext cx="3337560" cy="566928"/>
          </a:xfrm>
          <a:prstGeom prst="rect">
            <a:avLst/>
          </a:prstGeom>
          <a:noFill/>
        </p:spPr>
        <p:txBody>
          <a:bodyPr wrap="square">
            <a:spAutoFit/>
          </a:bodyPr>
          <a:lstStyle/>
          <a:p>
            <a:pPr algn="ctr"/>
            <a:r>
              <a:rPr sz="1400" b="1">
                <a:solidFill>
                  <a:srgbClr val="FF6F61"/>
                </a:solidFill>
                <a:latin typeface="Calibri"/>
              </a:rPr>
              <a:t>Have a robot helper</a:t>
            </a:r>
          </a:p>
        </p:txBody>
      </p:sp>
      <p:sp>
        <p:nvSpPr>
          <p:cNvPr id="26" name="Rounded Rectangle 25"/>
          <p:cNvSpPr/>
          <p:nvPr/>
        </p:nvSpPr>
        <p:spPr>
          <a:xfrm>
            <a:off x="411480" y="3703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886200"/>
            <a:ext cx="3337560" cy="566928"/>
          </a:xfrm>
          <a:prstGeom prst="rect">
            <a:avLst/>
          </a:prstGeom>
          <a:noFill/>
        </p:spPr>
        <p:txBody>
          <a:bodyPr wrap="square">
            <a:spAutoFit/>
          </a:bodyPr>
          <a:lstStyle/>
          <a:p>
            <a:pPr algn="ctr"/>
            <a:r>
              <a:rPr sz="1400" b="1">
                <a:solidFill>
                  <a:srgbClr val="009688"/>
                </a:solidFill>
                <a:latin typeface="Calibri"/>
              </a:rPr>
              <a:t>Be super fast</a:t>
            </a:r>
          </a:p>
        </p:txBody>
      </p:sp>
      <p:sp>
        <p:nvSpPr>
          <p:cNvPr id="28" name="TextBox 27"/>
          <p:cNvSpPr txBox="1"/>
          <p:nvPr/>
        </p:nvSpPr>
        <p:spPr>
          <a:xfrm>
            <a:off x="548640" y="4553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29" name="TextBox 28"/>
          <p:cNvSpPr txBox="1"/>
          <p:nvPr/>
        </p:nvSpPr>
        <p:spPr>
          <a:xfrm>
            <a:off x="548640" y="4956048"/>
            <a:ext cx="3337560" cy="566928"/>
          </a:xfrm>
          <a:prstGeom prst="rect">
            <a:avLst/>
          </a:prstGeom>
          <a:noFill/>
        </p:spPr>
        <p:txBody>
          <a:bodyPr wrap="square">
            <a:spAutoFit/>
          </a:bodyPr>
          <a:lstStyle/>
          <a:p>
            <a:pPr algn="ctr"/>
            <a:r>
              <a:rPr sz="1400" b="1">
                <a:solidFill>
                  <a:srgbClr val="FF6F61"/>
                </a:solidFill>
                <a:latin typeface="Calibri"/>
              </a:rPr>
              <a:t>Be super strong</a:t>
            </a:r>
          </a:p>
        </p:txBody>
      </p:sp>
      <p:sp>
        <p:nvSpPr>
          <p:cNvPr id="30" name="Rounded Rectangle 29"/>
          <p:cNvSpPr/>
          <p:nvPr/>
        </p:nvSpPr>
        <p:spPr>
          <a:xfrm>
            <a:off x="4251960" y="3703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3886200"/>
            <a:ext cx="3337560" cy="566928"/>
          </a:xfrm>
          <a:prstGeom prst="rect">
            <a:avLst/>
          </a:prstGeom>
          <a:noFill/>
        </p:spPr>
        <p:txBody>
          <a:bodyPr wrap="square">
            <a:spAutoFit/>
          </a:bodyPr>
          <a:lstStyle/>
          <a:p>
            <a:pPr algn="ctr"/>
            <a:r>
              <a:rPr sz="1400" b="1">
                <a:solidFill>
                  <a:srgbClr val="009688"/>
                </a:solidFill>
                <a:latin typeface="Calibri"/>
              </a:rPr>
              <a:t>Always summer</a:t>
            </a:r>
          </a:p>
        </p:txBody>
      </p:sp>
      <p:sp>
        <p:nvSpPr>
          <p:cNvPr id="32" name="TextBox 31"/>
          <p:cNvSpPr txBox="1"/>
          <p:nvPr/>
        </p:nvSpPr>
        <p:spPr>
          <a:xfrm>
            <a:off x="4389120" y="4553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33" name="TextBox 32"/>
          <p:cNvSpPr txBox="1"/>
          <p:nvPr/>
        </p:nvSpPr>
        <p:spPr>
          <a:xfrm>
            <a:off x="4389120" y="4956048"/>
            <a:ext cx="3337560" cy="566928"/>
          </a:xfrm>
          <a:prstGeom prst="rect">
            <a:avLst/>
          </a:prstGeom>
          <a:noFill/>
        </p:spPr>
        <p:txBody>
          <a:bodyPr wrap="square">
            <a:spAutoFit/>
          </a:bodyPr>
          <a:lstStyle/>
          <a:p>
            <a:pPr algn="ctr"/>
            <a:r>
              <a:rPr sz="1400" b="1">
                <a:solidFill>
                  <a:srgbClr val="FF6F61"/>
                </a:solidFill>
                <a:latin typeface="Calibri"/>
              </a:rPr>
              <a:t>Always snow</a:t>
            </a:r>
          </a:p>
        </p:txBody>
      </p:sp>
      <p:sp>
        <p:nvSpPr>
          <p:cNvPr id="34" name="Rounded Rectangle 33"/>
          <p:cNvSpPr/>
          <p:nvPr/>
        </p:nvSpPr>
        <p:spPr>
          <a:xfrm>
            <a:off x="8092440" y="370332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3886200"/>
            <a:ext cx="3337560" cy="566928"/>
          </a:xfrm>
          <a:prstGeom prst="rect">
            <a:avLst/>
          </a:prstGeom>
          <a:noFill/>
        </p:spPr>
        <p:txBody>
          <a:bodyPr wrap="square">
            <a:spAutoFit/>
          </a:bodyPr>
          <a:lstStyle/>
          <a:p>
            <a:pPr algn="ctr"/>
            <a:r>
              <a:rPr sz="1400" b="1">
                <a:solidFill>
                  <a:srgbClr val="009688"/>
                </a:solidFill>
                <a:latin typeface="Calibri"/>
              </a:rPr>
              <a:t>Talk to animals</a:t>
            </a:r>
          </a:p>
        </p:txBody>
      </p:sp>
      <p:sp>
        <p:nvSpPr>
          <p:cNvPr id="36" name="TextBox 35"/>
          <p:cNvSpPr txBox="1"/>
          <p:nvPr/>
        </p:nvSpPr>
        <p:spPr>
          <a:xfrm>
            <a:off x="8229600" y="4553712"/>
            <a:ext cx="3337560" cy="310896"/>
          </a:xfrm>
          <a:prstGeom prst="rect">
            <a:avLst/>
          </a:prstGeom>
          <a:noFill/>
        </p:spPr>
        <p:txBody>
          <a:bodyPr wrap="square">
            <a:spAutoFit/>
          </a:bodyPr>
          <a:lstStyle/>
          <a:p>
            <a:pPr algn="ctr"/>
            <a:r>
              <a:rPr sz="1200" b="1">
                <a:solidFill>
                  <a:srgbClr val="64748B"/>
                </a:solidFill>
                <a:latin typeface="Calibri"/>
              </a:rPr>
              <a:t>— OR —</a:t>
            </a:r>
          </a:p>
        </p:txBody>
      </p:sp>
      <p:sp>
        <p:nvSpPr>
          <p:cNvPr id="37" name="TextBox 36"/>
          <p:cNvSpPr txBox="1"/>
          <p:nvPr/>
        </p:nvSpPr>
        <p:spPr>
          <a:xfrm>
            <a:off x="8229600" y="4956048"/>
            <a:ext cx="3337560" cy="566928"/>
          </a:xfrm>
          <a:prstGeom prst="rect">
            <a:avLst/>
          </a:prstGeom>
          <a:noFill/>
        </p:spPr>
        <p:txBody>
          <a:bodyPr wrap="square">
            <a:spAutoFit/>
          </a:bodyPr>
          <a:lstStyle/>
          <a:p>
            <a:pPr algn="ctr"/>
            <a:r>
              <a:rPr sz="1400" b="1">
                <a:solidFill>
                  <a:srgbClr val="FF6F61"/>
                </a:solidFill>
                <a:latin typeface="Calibri"/>
              </a:rPr>
              <a:t>Speak every language</a:t>
            </a:r>
          </a:p>
        </p:txBody>
      </p:sp>
      <p:sp>
        <p:nvSpPr>
          <p:cNvPr id="38" name="Rounded Rectangle 37"/>
          <p:cNvSpPr/>
          <p:nvPr/>
        </p:nvSpPr>
        <p:spPr>
          <a:xfrm>
            <a:off x="411480" y="5852160"/>
            <a:ext cx="8595360" cy="4572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25312"/>
            <a:ext cx="8321040" cy="329184"/>
          </a:xfrm>
          <a:prstGeom prst="rect">
            <a:avLst/>
          </a:prstGeom>
          <a:noFill/>
        </p:spPr>
        <p:txBody>
          <a:bodyPr wrap="square">
            <a:spAutoFit/>
          </a:bodyPr>
          <a:lstStyle/>
          <a:p>
            <a:pPr algn="l"/>
            <a:r>
              <a:rPr sz="1400" b="1">
                <a:solidFill>
                  <a:srgbClr val="0A2A6E"/>
                </a:solidFill>
                <a:latin typeface="Calibri"/>
              </a:rPr>
              <a:t>💬 Say the full sentence:  "I would rather ______ because ______."</a:t>
            </a:r>
          </a:p>
        </p:txBody>
      </p:sp>
      <p:sp>
        <p:nvSpPr>
          <p:cNvPr id="40" name="Rounded Rectangle 39"/>
          <p:cNvSpPr/>
          <p:nvPr/>
        </p:nvSpPr>
        <p:spPr>
          <a:xfrm>
            <a:off x="9646920" y="5897880"/>
            <a:ext cx="2194560" cy="41148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46920" y="5943600"/>
            <a:ext cx="2194560" cy="365760"/>
          </a:xfrm>
          <a:prstGeom prst="rect">
            <a:avLst/>
          </a:prstGeom>
          <a:noFill/>
        </p:spPr>
        <p:txBody>
          <a:bodyPr wrap="square">
            <a:spAutoFit/>
          </a:bodyPr>
          <a:lstStyle/>
          <a:p>
            <a:pPr algn="ctr"/>
            <a:r>
              <a:rPr sz="1300" b="1">
                <a:solidFill>
                  <a:srgbClr val="0A2A6E"/>
                </a:solidFill>
                <a:latin typeface="Calibri"/>
              </a:rPr>
              <a:t>+1 Star ⭐</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5–10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Vocabulary Warm-Up — Part 1</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318021"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  5–10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4 / 37</a:t>
            </a:r>
          </a:p>
        </p:txBody>
      </p:sp>
      <p:sp>
        <p:nvSpPr>
          <p:cNvPr id="14" name="Rounded Rectangle 13"/>
          <p:cNvSpPr/>
          <p:nvPr/>
        </p:nvSpPr>
        <p:spPr>
          <a:xfrm>
            <a:off x="38404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035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17" name="TextBox 16"/>
          <p:cNvSpPr txBox="1"/>
          <p:nvPr/>
        </p:nvSpPr>
        <p:spPr>
          <a:xfrm>
            <a:off x="1389888" y="1536192"/>
            <a:ext cx="2514600" cy="365760"/>
          </a:xfrm>
          <a:prstGeom prst="rect">
            <a:avLst/>
          </a:prstGeom>
          <a:noFill/>
        </p:spPr>
        <p:txBody>
          <a:bodyPr wrap="square">
            <a:spAutoFit/>
          </a:bodyPr>
          <a:lstStyle/>
          <a:p>
            <a:pPr algn="l"/>
            <a:r>
              <a:rPr sz="1800" b="1">
                <a:solidFill>
                  <a:srgbClr val="0A2A6E"/>
                </a:solidFill>
                <a:latin typeface="Calibri"/>
              </a:rPr>
              <a:t>hatched</a:t>
            </a:r>
          </a:p>
        </p:txBody>
      </p:sp>
      <p:sp>
        <p:nvSpPr>
          <p:cNvPr id="18" name="TextBox 17"/>
          <p:cNvSpPr txBox="1"/>
          <p:nvPr/>
        </p:nvSpPr>
        <p:spPr>
          <a:xfrm>
            <a:off x="1389888" y="1901952"/>
            <a:ext cx="2514600" cy="292608"/>
          </a:xfrm>
          <a:prstGeom prst="rect">
            <a:avLst/>
          </a:prstGeom>
          <a:noFill/>
        </p:spPr>
        <p:txBody>
          <a:bodyPr wrap="square">
            <a:spAutoFit/>
          </a:bodyPr>
          <a:lstStyle/>
          <a:p>
            <a:pPr algn="l"/>
            <a:r>
              <a:rPr sz="1100" b="0">
                <a:solidFill>
                  <a:srgbClr val="64748B"/>
                </a:solidFill>
                <a:latin typeface="Calibri"/>
              </a:rPr>
              <a:t>/HACHT/</a:t>
            </a:r>
          </a:p>
        </p:txBody>
      </p:sp>
      <p:sp>
        <p:nvSpPr>
          <p:cNvPr id="19" name="TextBox 18"/>
          <p:cNvSpPr txBox="1"/>
          <p:nvPr/>
        </p:nvSpPr>
        <p:spPr>
          <a:xfrm>
            <a:off x="530352" y="2359152"/>
            <a:ext cx="3364992" cy="530352"/>
          </a:xfrm>
          <a:prstGeom prst="rect">
            <a:avLst/>
          </a:prstGeom>
          <a:noFill/>
        </p:spPr>
        <p:txBody>
          <a:bodyPr wrap="square">
            <a:spAutoFit/>
          </a:bodyPr>
          <a:lstStyle/>
          <a:p>
            <a:pPr algn="l"/>
            <a:r>
              <a:rPr sz="1300" b="0">
                <a:solidFill>
                  <a:srgbClr val="1F2937"/>
                </a:solidFill>
                <a:latin typeface="Calibri"/>
              </a:rPr>
              <a:t>came out of an egg</a:t>
            </a:r>
          </a:p>
        </p:txBody>
      </p:sp>
      <p:sp>
        <p:nvSpPr>
          <p:cNvPr id="20" name="TextBox 19"/>
          <p:cNvSpPr txBox="1"/>
          <p:nvPr/>
        </p:nvSpPr>
        <p:spPr>
          <a:xfrm>
            <a:off x="530352" y="2889504"/>
            <a:ext cx="3364992" cy="274320"/>
          </a:xfrm>
          <a:prstGeom prst="rect">
            <a:avLst/>
          </a:prstGeom>
          <a:noFill/>
        </p:spPr>
        <p:txBody>
          <a:bodyPr wrap="square">
            <a:spAutoFit/>
          </a:bodyPr>
          <a:lstStyle/>
          <a:p>
            <a:pPr algn="l"/>
            <a:r>
              <a:rPr sz="1100" b="1">
                <a:solidFill>
                  <a:srgbClr val="009688"/>
                </a:solidFill>
                <a:latin typeface="Calibri"/>
              </a:rPr>
              <a:t>≈ same as: emerged</a:t>
            </a:r>
          </a:p>
        </p:txBody>
      </p:sp>
      <p:sp>
        <p:nvSpPr>
          <p:cNvPr id="21" name="Rounded Rectangle 20"/>
          <p:cNvSpPr/>
          <p:nvPr/>
        </p:nvSpPr>
        <p:spPr>
          <a:xfrm>
            <a:off x="422452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37083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24" name="TextBox 23"/>
          <p:cNvSpPr txBox="1"/>
          <p:nvPr/>
        </p:nvSpPr>
        <p:spPr>
          <a:xfrm>
            <a:off x="5230368" y="1536192"/>
            <a:ext cx="2514600" cy="365760"/>
          </a:xfrm>
          <a:prstGeom prst="rect">
            <a:avLst/>
          </a:prstGeom>
          <a:noFill/>
        </p:spPr>
        <p:txBody>
          <a:bodyPr wrap="square">
            <a:spAutoFit/>
          </a:bodyPr>
          <a:lstStyle/>
          <a:p>
            <a:pPr algn="l"/>
            <a:r>
              <a:rPr sz="1800" b="1">
                <a:solidFill>
                  <a:srgbClr val="0A2A6E"/>
                </a:solidFill>
                <a:latin typeface="Calibri"/>
              </a:rPr>
              <a:t>volunteer</a:t>
            </a:r>
          </a:p>
        </p:txBody>
      </p:sp>
      <p:sp>
        <p:nvSpPr>
          <p:cNvPr id="25" name="TextBox 24"/>
          <p:cNvSpPr txBox="1"/>
          <p:nvPr/>
        </p:nvSpPr>
        <p:spPr>
          <a:xfrm>
            <a:off x="5230368" y="1901952"/>
            <a:ext cx="2514600" cy="292608"/>
          </a:xfrm>
          <a:prstGeom prst="rect">
            <a:avLst/>
          </a:prstGeom>
          <a:noFill/>
        </p:spPr>
        <p:txBody>
          <a:bodyPr wrap="square">
            <a:spAutoFit/>
          </a:bodyPr>
          <a:lstStyle/>
          <a:p>
            <a:pPr algn="l"/>
            <a:r>
              <a:rPr sz="1100" b="0">
                <a:solidFill>
                  <a:srgbClr val="64748B"/>
                </a:solidFill>
                <a:latin typeface="Calibri"/>
              </a:rPr>
              <a:t>/VOL-un-teer/</a:t>
            </a:r>
          </a:p>
        </p:txBody>
      </p:sp>
      <p:sp>
        <p:nvSpPr>
          <p:cNvPr id="26" name="TextBox 25"/>
          <p:cNvSpPr txBox="1"/>
          <p:nvPr/>
        </p:nvSpPr>
        <p:spPr>
          <a:xfrm>
            <a:off x="4370832" y="2359152"/>
            <a:ext cx="3364992" cy="530352"/>
          </a:xfrm>
          <a:prstGeom prst="rect">
            <a:avLst/>
          </a:prstGeom>
          <a:noFill/>
        </p:spPr>
        <p:txBody>
          <a:bodyPr wrap="square">
            <a:spAutoFit/>
          </a:bodyPr>
          <a:lstStyle/>
          <a:p>
            <a:pPr algn="l"/>
            <a:r>
              <a:rPr sz="1300" b="0">
                <a:solidFill>
                  <a:srgbClr val="1F2937"/>
                </a:solidFill>
                <a:latin typeface="Calibri"/>
              </a:rPr>
              <a:t>someone who helps without being paid</a:t>
            </a:r>
          </a:p>
        </p:txBody>
      </p:sp>
      <p:sp>
        <p:nvSpPr>
          <p:cNvPr id="27" name="TextBox 26"/>
          <p:cNvSpPr txBox="1"/>
          <p:nvPr/>
        </p:nvSpPr>
        <p:spPr>
          <a:xfrm>
            <a:off x="4370832" y="2889504"/>
            <a:ext cx="3364992" cy="274320"/>
          </a:xfrm>
          <a:prstGeom prst="rect">
            <a:avLst/>
          </a:prstGeom>
          <a:noFill/>
        </p:spPr>
        <p:txBody>
          <a:bodyPr wrap="square">
            <a:spAutoFit/>
          </a:bodyPr>
          <a:lstStyle/>
          <a:p>
            <a:pPr algn="l"/>
            <a:r>
              <a:rPr sz="1100" b="1">
                <a:solidFill>
                  <a:srgbClr val="009688"/>
                </a:solidFill>
                <a:latin typeface="Calibri"/>
              </a:rPr>
              <a:t>≈ same as: helper</a:t>
            </a:r>
          </a:p>
        </p:txBody>
      </p:sp>
      <p:sp>
        <p:nvSpPr>
          <p:cNvPr id="28" name="Rounded Rectangle 27"/>
          <p:cNvSpPr/>
          <p:nvPr/>
        </p:nvSpPr>
        <p:spPr>
          <a:xfrm>
            <a:off x="806500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21131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31" name="TextBox 30"/>
          <p:cNvSpPr txBox="1"/>
          <p:nvPr/>
        </p:nvSpPr>
        <p:spPr>
          <a:xfrm>
            <a:off x="9070848" y="1536192"/>
            <a:ext cx="2514600" cy="365760"/>
          </a:xfrm>
          <a:prstGeom prst="rect">
            <a:avLst/>
          </a:prstGeom>
          <a:noFill/>
        </p:spPr>
        <p:txBody>
          <a:bodyPr wrap="square">
            <a:spAutoFit/>
          </a:bodyPr>
          <a:lstStyle/>
          <a:p>
            <a:pPr algn="l"/>
            <a:r>
              <a:rPr sz="1800" b="1">
                <a:solidFill>
                  <a:srgbClr val="0A2A6E"/>
                </a:solidFill>
                <a:latin typeface="Calibri"/>
              </a:rPr>
              <a:t>confuse</a:t>
            </a:r>
          </a:p>
        </p:txBody>
      </p:sp>
      <p:sp>
        <p:nvSpPr>
          <p:cNvPr id="32" name="TextBox 31"/>
          <p:cNvSpPr txBox="1"/>
          <p:nvPr/>
        </p:nvSpPr>
        <p:spPr>
          <a:xfrm>
            <a:off x="9070848" y="1901952"/>
            <a:ext cx="2514600" cy="292608"/>
          </a:xfrm>
          <a:prstGeom prst="rect">
            <a:avLst/>
          </a:prstGeom>
          <a:noFill/>
        </p:spPr>
        <p:txBody>
          <a:bodyPr wrap="square">
            <a:spAutoFit/>
          </a:bodyPr>
          <a:lstStyle/>
          <a:p>
            <a:pPr algn="l"/>
            <a:r>
              <a:rPr sz="1100" b="0">
                <a:solidFill>
                  <a:srgbClr val="64748B"/>
                </a:solidFill>
                <a:latin typeface="Calibri"/>
              </a:rPr>
              <a:t>/kun-FYOOZ/</a:t>
            </a:r>
          </a:p>
        </p:txBody>
      </p:sp>
      <p:sp>
        <p:nvSpPr>
          <p:cNvPr id="33" name="TextBox 32"/>
          <p:cNvSpPr txBox="1"/>
          <p:nvPr/>
        </p:nvSpPr>
        <p:spPr>
          <a:xfrm>
            <a:off x="8211312" y="2359152"/>
            <a:ext cx="3364992" cy="530352"/>
          </a:xfrm>
          <a:prstGeom prst="rect">
            <a:avLst/>
          </a:prstGeom>
          <a:noFill/>
        </p:spPr>
        <p:txBody>
          <a:bodyPr wrap="square">
            <a:spAutoFit/>
          </a:bodyPr>
          <a:lstStyle/>
          <a:p>
            <a:pPr algn="l"/>
            <a:r>
              <a:rPr sz="1300" b="0">
                <a:solidFill>
                  <a:srgbClr val="1F2937"/>
                </a:solidFill>
                <a:latin typeface="Calibri"/>
              </a:rPr>
              <a:t>to mix up someone's thinking</a:t>
            </a:r>
          </a:p>
        </p:txBody>
      </p:sp>
      <p:sp>
        <p:nvSpPr>
          <p:cNvPr id="34" name="TextBox 33"/>
          <p:cNvSpPr txBox="1"/>
          <p:nvPr/>
        </p:nvSpPr>
        <p:spPr>
          <a:xfrm>
            <a:off x="8211312" y="2889504"/>
            <a:ext cx="3364992" cy="274320"/>
          </a:xfrm>
          <a:prstGeom prst="rect">
            <a:avLst/>
          </a:prstGeom>
          <a:noFill/>
        </p:spPr>
        <p:txBody>
          <a:bodyPr wrap="square">
            <a:spAutoFit/>
          </a:bodyPr>
          <a:lstStyle/>
          <a:p>
            <a:pPr algn="l"/>
            <a:r>
              <a:rPr sz="1100" b="1">
                <a:solidFill>
                  <a:srgbClr val="009688"/>
                </a:solidFill>
                <a:latin typeface="Calibri"/>
              </a:rPr>
              <a:t>≈ same as: puzzle</a:t>
            </a:r>
          </a:p>
        </p:txBody>
      </p:sp>
      <p:sp>
        <p:nvSpPr>
          <p:cNvPr id="35" name="Rounded Rectangle 34"/>
          <p:cNvSpPr/>
          <p:nvPr/>
        </p:nvSpPr>
        <p:spPr>
          <a:xfrm>
            <a:off x="38404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035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035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38" name="TextBox 37"/>
          <p:cNvSpPr txBox="1"/>
          <p:nvPr/>
        </p:nvSpPr>
        <p:spPr>
          <a:xfrm>
            <a:off x="1389888" y="3621024"/>
            <a:ext cx="2514600" cy="365760"/>
          </a:xfrm>
          <a:prstGeom prst="rect">
            <a:avLst/>
          </a:prstGeom>
          <a:noFill/>
        </p:spPr>
        <p:txBody>
          <a:bodyPr wrap="square">
            <a:spAutoFit/>
          </a:bodyPr>
          <a:lstStyle/>
          <a:p>
            <a:pPr algn="l"/>
            <a:r>
              <a:rPr sz="1800" b="1">
                <a:solidFill>
                  <a:srgbClr val="0A2A6E"/>
                </a:solidFill>
                <a:latin typeface="Calibri"/>
              </a:rPr>
              <a:t>hatchling</a:t>
            </a:r>
          </a:p>
        </p:txBody>
      </p:sp>
      <p:sp>
        <p:nvSpPr>
          <p:cNvPr id="39" name="TextBox 38"/>
          <p:cNvSpPr txBox="1"/>
          <p:nvPr/>
        </p:nvSpPr>
        <p:spPr>
          <a:xfrm>
            <a:off x="1389888" y="3986784"/>
            <a:ext cx="2514600" cy="292608"/>
          </a:xfrm>
          <a:prstGeom prst="rect">
            <a:avLst/>
          </a:prstGeom>
          <a:noFill/>
        </p:spPr>
        <p:txBody>
          <a:bodyPr wrap="square">
            <a:spAutoFit/>
          </a:bodyPr>
          <a:lstStyle/>
          <a:p>
            <a:pPr algn="l"/>
            <a:r>
              <a:rPr sz="1100" b="0">
                <a:solidFill>
                  <a:srgbClr val="64748B"/>
                </a:solidFill>
                <a:latin typeface="Calibri"/>
              </a:rPr>
              <a:t>/HACH-ling/</a:t>
            </a:r>
          </a:p>
        </p:txBody>
      </p:sp>
      <p:sp>
        <p:nvSpPr>
          <p:cNvPr id="40" name="TextBox 39"/>
          <p:cNvSpPr txBox="1"/>
          <p:nvPr/>
        </p:nvSpPr>
        <p:spPr>
          <a:xfrm>
            <a:off x="530352" y="4443984"/>
            <a:ext cx="3364992" cy="530352"/>
          </a:xfrm>
          <a:prstGeom prst="rect">
            <a:avLst/>
          </a:prstGeom>
          <a:noFill/>
        </p:spPr>
        <p:txBody>
          <a:bodyPr wrap="square">
            <a:spAutoFit/>
          </a:bodyPr>
          <a:lstStyle/>
          <a:p>
            <a:pPr algn="l"/>
            <a:r>
              <a:rPr sz="1300" b="0">
                <a:solidFill>
                  <a:srgbClr val="1F2937"/>
                </a:solidFill>
                <a:latin typeface="Calibri"/>
              </a:rPr>
              <a:t>a baby animal just out of its egg</a:t>
            </a:r>
          </a:p>
        </p:txBody>
      </p:sp>
      <p:sp>
        <p:nvSpPr>
          <p:cNvPr id="41" name="TextBox 40"/>
          <p:cNvSpPr txBox="1"/>
          <p:nvPr/>
        </p:nvSpPr>
        <p:spPr>
          <a:xfrm>
            <a:off x="530352" y="4974336"/>
            <a:ext cx="3364992" cy="274320"/>
          </a:xfrm>
          <a:prstGeom prst="rect">
            <a:avLst/>
          </a:prstGeom>
          <a:noFill/>
        </p:spPr>
        <p:txBody>
          <a:bodyPr wrap="square">
            <a:spAutoFit/>
          </a:bodyPr>
          <a:lstStyle/>
          <a:p>
            <a:pPr algn="l"/>
            <a:r>
              <a:rPr sz="1100" b="1">
                <a:solidFill>
                  <a:srgbClr val="009688"/>
                </a:solidFill>
                <a:latin typeface="Calibri"/>
              </a:rPr>
              <a:t>≈ same as: newborn</a:t>
            </a:r>
          </a:p>
        </p:txBody>
      </p:sp>
      <p:sp>
        <p:nvSpPr>
          <p:cNvPr id="42" name="Rounded Rectangle 41"/>
          <p:cNvSpPr/>
          <p:nvPr/>
        </p:nvSpPr>
        <p:spPr>
          <a:xfrm>
            <a:off x="422452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37083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37083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45" name="TextBox 44"/>
          <p:cNvSpPr txBox="1"/>
          <p:nvPr/>
        </p:nvSpPr>
        <p:spPr>
          <a:xfrm>
            <a:off x="5230368" y="3621024"/>
            <a:ext cx="2514600" cy="365760"/>
          </a:xfrm>
          <a:prstGeom prst="rect">
            <a:avLst/>
          </a:prstGeom>
          <a:noFill/>
        </p:spPr>
        <p:txBody>
          <a:bodyPr wrap="square">
            <a:spAutoFit/>
          </a:bodyPr>
          <a:lstStyle/>
          <a:p>
            <a:pPr algn="l"/>
            <a:r>
              <a:rPr sz="1800" b="1">
                <a:solidFill>
                  <a:srgbClr val="0A2A6E"/>
                </a:solidFill>
                <a:latin typeface="Calibri"/>
              </a:rPr>
              <a:t>scramble</a:t>
            </a:r>
          </a:p>
        </p:txBody>
      </p:sp>
      <p:sp>
        <p:nvSpPr>
          <p:cNvPr id="46" name="TextBox 45"/>
          <p:cNvSpPr txBox="1"/>
          <p:nvPr/>
        </p:nvSpPr>
        <p:spPr>
          <a:xfrm>
            <a:off x="5230368" y="3986784"/>
            <a:ext cx="2514600" cy="292608"/>
          </a:xfrm>
          <a:prstGeom prst="rect">
            <a:avLst/>
          </a:prstGeom>
          <a:noFill/>
        </p:spPr>
        <p:txBody>
          <a:bodyPr wrap="square">
            <a:spAutoFit/>
          </a:bodyPr>
          <a:lstStyle/>
          <a:p>
            <a:pPr algn="l"/>
            <a:r>
              <a:rPr sz="1100" b="0">
                <a:solidFill>
                  <a:srgbClr val="64748B"/>
                </a:solidFill>
                <a:latin typeface="Calibri"/>
              </a:rPr>
              <a:t>/SKRAM-bul/</a:t>
            </a:r>
          </a:p>
        </p:txBody>
      </p:sp>
      <p:sp>
        <p:nvSpPr>
          <p:cNvPr id="47" name="TextBox 46"/>
          <p:cNvSpPr txBox="1"/>
          <p:nvPr/>
        </p:nvSpPr>
        <p:spPr>
          <a:xfrm>
            <a:off x="4370832" y="4443984"/>
            <a:ext cx="3364992" cy="530352"/>
          </a:xfrm>
          <a:prstGeom prst="rect">
            <a:avLst/>
          </a:prstGeom>
          <a:noFill/>
        </p:spPr>
        <p:txBody>
          <a:bodyPr wrap="square">
            <a:spAutoFit/>
          </a:bodyPr>
          <a:lstStyle/>
          <a:p>
            <a:pPr algn="l"/>
            <a:r>
              <a:rPr sz="1300" b="0">
                <a:solidFill>
                  <a:srgbClr val="1F2937"/>
                </a:solidFill>
                <a:latin typeface="Calibri"/>
              </a:rPr>
              <a:t>to move fast using hands and feet</a:t>
            </a:r>
          </a:p>
        </p:txBody>
      </p:sp>
      <p:sp>
        <p:nvSpPr>
          <p:cNvPr id="48" name="TextBox 47"/>
          <p:cNvSpPr txBox="1"/>
          <p:nvPr/>
        </p:nvSpPr>
        <p:spPr>
          <a:xfrm>
            <a:off x="4370832" y="4974336"/>
            <a:ext cx="3364992" cy="274320"/>
          </a:xfrm>
          <a:prstGeom prst="rect">
            <a:avLst/>
          </a:prstGeom>
          <a:noFill/>
        </p:spPr>
        <p:txBody>
          <a:bodyPr wrap="square">
            <a:spAutoFit/>
          </a:bodyPr>
          <a:lstStyle/>
          <a:p>
            <a:pPr algn="l"/>
            <a:r>
              <a:rPr sz="1100" b="1">
                <a:solidFill>
                  <a:srgbClr val="009688"/>
                </a:solidFill>
                <a:latin typeface="Calibri"/>
              </a:rPr>
              <a:t>≈ same as: clamber</a:t>
            </a:r>
          </a:p>
        </p:txBody>
      </p:sp>
      <p:sp>
        <p:nvSpPr>
          <p:cNvPr id="49" name="Rounded Rectangle 48"/>
          <p:cNvSpPr/>
          <p:nvPr/>
        </p:nvSpPr>
        <p:spPr>
          <a:xfrm>
            <a:off x="806500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21131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1131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52" name="TextBox 51"/>
          <p:cNvSpPr txBox="1"/>
          <p:nvPr/>
        </p:nvSpPr>
        <p:spPr>
          <a:xfrm>
            <a:off x="9070848" y="3621024"/>
            <a:ext cx="2514600" cy="365760"/>
          </a:xfrm>
          <a:prstGeom prst="rect">
            <a:avLst/>
          </a:prstGeom>
          <a:noFill/>
        </p:spPr>
        <p:txBody>
          <a:bodyPr wrap="square">
            <a:spAutoFit/>
          </a:bodyPr>
          <a:lstStyle/>
          <a:p>
            <a:pPr algn="l"/>
            <a:r>
              <a:rPr sz="1800" b="1">
                <a:solidFill>
                  <a:srgbClr val="0A2A6E"/>
                </a:solidFill>
                <a:latin typeface="Calibri"/>
              </a:rPr>
              <a:t>exhausted</a:t>
            </a:r>
          </a:p>
        </p:txBody>
      </p:sp>
      <p:sp>
        <p:nvSpPr>
          <p:cNvPr id="53" name="TextBox 52"/>
          <p:cNvSpPr txBox="1"/>
          <p:nvPr/>
        </p:nvSpPr>
        <p:spPr>
          <a:xfrm>
            <a:off x="9070848" y="3986784"/>
            <a:ext cx="2514600" cy="292608"/>
          </a:xfrm>
          <a:prstGeom prst="rect">
            <a:avLst/>
          </a:prstGeom>
          <a:noFill/>
        </p:spPr>
        <p:txBody>
          <a:bodyPr wrap="square">
            <a:spAutoFit/>
          </a:bodyPr>
          <a:lstStyle/>
          <a:p>
            <a:pPr algn="l"/>
            <a:r>
              <a:rPr sz="1100" b="0">
                <a:solidFill>
                  <a:srgbClr val="64748B"/>
                </a:solidFill>
                <a:latin typeface="Calibri"/>
              </a:rPr>
              <a:t>/eg-ZAWS-ted/</a:t>
            </a:r>
          </a:p>
        </p:txBody>
      </p:sp>
      <p:sp>
        <p:nvSpPr>
          <p:cNvPr id="54" name="TextBox 53"/>
          <p:cNvSpPr txBox="1"/>
          <p:nvPr/>
        </p:nvSpPr>
        <p:spPr>
          <a:xfrm>
            <a:off x="8211312" y="4443984"/>
            <a:ext cx="3364992" cy="530352"/>
          </a:xfrm>
          <a:prstGeom prst="rect">
            <a:avLst/>
          </a:prstGeom>
          <a:noFill/>
        </p:spPr>
        <p:txBody>
          <a:bodyPr wrap="square">
            <a:spAutoFit/>
          </a:bodyPr>
          <a:lstStyle/>
          <a:p>
            <a:pPr algn="l"/>
            <a:r>
              <a:rPr sz="1300" b="0">
                <a:solidFill>
                  <a:srgbClr val="1F2937"/>
                </a:solidFill>
                <a:latin typeface="Calibri"/>
              </a:rPr>
              <a:t>very, very tired</a:t>
            </a:r>
          </a:p>
        </p:txBody>
      </p:sp>
      <p:sp>
        <p:nvSpPr>
          <p:cNvPr id="55" name="TextBox 54"/>
          <p:cNvSpPr txBox="1"/>
          <p:nvPr/>
        </p:nvSpPr>
        <p:spPr>
          <a:xfrm>
            <a:off x="8211312" y="4974336"/>
            <a:ext cx="3364992" cy="274320"/>
          </a:xfrm>
          <a:prstGeom prst="rect">
            <a:avLst/>
          </a:prstGeom>
          <a:noFill/>
        </p:spPr>
        <p:txBody>
          <a:bodyPr wrap="square">
            <a:spAutoFit/>
          </a:bodyPr>
          <a:lstStyle/>
          <a:p>
            <a:pPr algn="l"/>
            <a:r>
              <a:rPr sz="1100" b="1">
                <a:solidFill>
                  <a:srgbClr val="009688"/>
                </a:solidFill>
                <a:latin typeface="Calibri"/>
              </a:rPr>
              <a:t>≈ same as: worn out</a:t>
            </a:r>
          </a:p>
        </p:txBody>
      </p:sp>
      <p:sp>
        <p:nvSpPr>
          <p:cNvPr id="56" name="TextBox 55"/>
          <p:cNvSpPr txBox="1"/>
          <p:nvPr/>
        </p:nvSpPr>
        <p:spPr>
          <a:xfrm>
            <a:off x="384048" y="5806440"/>
            <a:ext cx="8778240" cy="365760"/>
          </a:xfrm>
          <a:prstGeom prst="rect">
            <a:avLst/>
          </a:prstGeom>
          <a:noFill/>
        </p:spPr>
        <p:txBody>
          <a:bodyPr wrap="square">
            <a:spAutoFit/>
          </a:bodyPr>
          <a:lstStyle/>
          <a:p>
            <a:pPr algn="l"/>
            <a:r>
              <a:rPr sz="1400" b="1">
                <a:solidFill>
                  <a:srgbClr val="FF6F61"/>
                </a:solidFill>
                <a:latin typeface="Calibri"/>
              </a:rPr>
              <a:t>🔊 Say each word after me — then use ONE of them in your own sentence.</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5–10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Vocabulary Warm-Up — Part 2</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647526"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  5–10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5 / 37</a:t>
            </a:r>
          </a:p>
        </p:txBody>
      </p:sp>
      <p:sp>
        <p:nvSpPr>
          <p:cNvPr id="14" name="Rounded Rectangle 13"/>
          <p:cNvSpPr/>
          <p:nvPr/>
        </p:nvSpPr>
        <p:spPr>
          <a:xfrm>
            <a:off x="38404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035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17" name="TextBox 16"/>
          <p:cNvSpPr txBox="1"/>
          <p:nvPr/>
        </p:nvSpPr>
        <p:spPr>
          <a:xfrm>
            <a:off x="1389888" y="1536192"/>
            <a:ext cx="2514600" cy="365760"/>
          </a:xfrm>
          <a:prstGeom prst="rect">
            <a:avLst/>
          </a:prstGeom>
          <a:noFill/>
        </p:spPr>
        <p:txBody>
          <a:bodyPr wrap="square">
            <a:spAutoFit/>
          </a:bodyPr>
          <a:lstStyle/>
          <a:p>
            <a:pPr algn="l"/>
            <a:r>
              <a:rPr sz="1800" b="1">
                <a:solidFill>
                  <a:srgbClr val="0A2A6E"/>
                </a:solidFill>
                <a:latin typeface="Calibri"/>
              </a:rPr>
              <a:t>biologist</a:t>
            </a:r>
          </a:p>
        </p:txBody>
      </p:sp>
      <p:sp>
        <p:nvSpPr>
          <p:cNvPr id="18" name="TextBox 17"/>
          <p:cNvSpPr txBox="1"/>
          <p:nvPr/>
        </p:nvSpPr>
        <p:spPr>
          <a:xfrm>
            <a:off x="1389888" y="1901952"/>
            <a:ext cx="2514600" cy="292608"/>
          </a:xfrm>
          <a:prstGeom prst="rect">
            <a:avLst/>
          </a:prstGeom>
          <a:noFill/>
        </p:spPr>
        <p:txBody>
          <a:bodyPr wrap="square">
            <a:spAutoFit/>
          </a:bodyPr>
          <a:lstStyle/>
          <a:p>
            <a:pPr algn="l"/>
            <a:r>
              <a:rPr sz="1100" b="0">
                <a:solidFill>
                  <a:srgbClr val="64748B"/>
                </a:solidFill>
                <a:latin typeface="Calibri"/>
              </a:rPr>
              <a:t>/by-OL-uh-jist/</a:t>
            </a:r>
          </a:p>
        </p:txBody>
      </p:sp>
      <p:sp>
        <p:nvSpPr>
          <p:cNvPr id="19" name="TextBox 18"/>
          <p:cNvSpPr txBox="1"/>
          <p:nvPr/>
        </p:nvSpPr>
        <p:spPr>
          <a:xfrm>
            <a:off x="530352" y="2359152"/>
            <a:ext cx="3364992" cy="530352"/>
          </a:xfrm>
          <a:prstGeom prst="rect">
            <a:avLst/>
          </a:prstGeom>
          <a:noFill/>
        </p:spPr>
        <p:txBody>
          <a:bodyPr wrap="square">
            <a:spAutoFit/>
          </a:bodyPr>
          <a:lstStyle/>
          <a:p>
            <a:pPr algn="l"/>
            <a:r>
              <a:rPr sz="1300" b="0">
                <a:solidFill>
                  <a:srgbClr val="1F2937"/>
                </a:solidFill>
                <a:latin typeface="Calibri"/>
              </a:rPr>
              <a:t>a scientist who studies living things</a:t>
            </a:r>
          </a:p>
        </p:txBody>
      </p:sp>
      <p:sp>
        <p:nvSpPr>
          <p:cNvPr id="20" name="TextBox 19"/>
          <p:cNvSpPr txBox="1"/>
          <p:nvPr/>
        </p:nvSpPr>
        <p:spPr>
          <a:xfrm>
            <a:off x="530352" y="2889504"/>
            <a:ext cx="3364992" cy="274320"/>
          </a:xfrm>
          <a:prstGeom prst="rect">
            <a:avLst/>
          </a:prstGeom>
          <a:noFill/>
        </p:spPr>
        <p:txBody>
          <a:bodyPr wrap="square">
            <a:spAutoFit/>
          </a:bodyPr>
          <a:lstStyle/>
          <a:p>
            <a:pPr algn="l"/>
            <a:r>
              <a:rPr sz="1100" b="1">
                <a:solidFill>
                  <a:srgbClr val="009688"/>
                </a:solidFill>
                <a:latin typeface="Calibri"/>
              </a:rPr>
              <a:t>≈ same as: scientist</a:t>
            </a:r>
          </a:p>
        </p:txBody>
      </p:sp>
      <p:sp>
        <p:nvSpPr>
          <p:cNvPr id="21" name="Rounded Rectangle 20"/>
          <p:cNvSpPr/>
          <p:nvPr/>
        </p:nvSpPr>
        <p:spPr>
          <a:xfrm>
            <a:off x="422452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37083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24" name="TextBox 23"/>
          <p:cNvSpPr txBox="1"/>
          <p:nvPr/>
        </p:nvSpPr>
        <p:spPr>
          <a:xfrm>
            <a:off x="5230368" y="1536192"/>
            <a:ext cx="2514600" cy="365760"/>
          </a:xfrm>
          <a:prstGeom prst="rect">
            <a:avLst/>
          </a:prstGeom>
          <a:noFill/>
        </p:spPr>
        <p:txBody>
          <a:bodyPr wrap="square">
            <a:spAutoFit/>
          </a:bodyPr>
          <a:lstStyle/>
          <a:p>
            <a:pPr algn="l"/>
            <a:r>
              <a:rPr sz="1800" b="1">
                <a:solidFill>
                  <a:srgbClr val="0A2A6E"/>
                </a:solidFill>
                <a:latin typeface="Calibri"/>
              </a:rPr>
              <a:t>survive</a:t>
            </a:r>
          </a:p>
        </p:txBody>
      </p:sp>
      <p:sp>
        <p:nvSpPr>
          <p:cNvPr id="25" name="TextBox 24"/>
          <p:cNvSpPr txBox="1"/>
          <p:nvPr/>
        </p:nvSpPr>
        <p:spPr>
          <a:xfrm>
            <a:off x="5230368" y="1901952"/>
            <a:ext cx="2514600" cy="292608"/>
          </a:xfrm>
          <a:prstGeom prst="rect">
            <a:avLst/>
          </a:prstGeom>
          <a:noFill/>
        </p:spPr>
        <p:txBody>
          <a:bodyPr wrap="square">
            <a:spAutoFit/>
          </a:bodyPr>
          <a:lstStyle/>
          <a:p>
            <a:pPr algn="l"/>
            <a:r>
              <a:rPr sz="1100" b="0">
                <a:solidFill>
                  <a:srgbClr val="64748B"/>
                </a:solidFill>
                <a:latin typeface="Calibri"/>
              </a:rPr>
              <a:t>/sur-VYVE/</a:t>
            </a:r>
          </a:p>
        </p:txBody>
      </p:sp>
      <p:sp>
        <p:nvSpPr>
          <p:cNvPr id="26" name="TextBox 25"/>
          <p:cNvSpPr txBox="1"/>
          <p:nvPr/>
        </p:nvSpPr>
        <p:spPr>
          <a:xfrm>
            <a:off x="4370832" y="2359152"/>
            <a:ext cx="3364992" cy="530352"/>
          </a:xfrm>
          <a:prstGeom prst="rect">
            <a:avLst/>
          </a:prstGeom>
          <a:noFill/>
        </p:spPr>
        <p:txBody>
          <a:bodyPr wrap="square">
            <a:spAutoFit/>
          </a:bodyPr>
          <a:lstStyle/>
          <a:p>
            <a:pPr algn="l"/>
            <a:r>
              <a:rPr sz="1300" b="0">
                <a:solidFill>
                  <a:srgbClr val="1F2937"/>
                </a:solidFill>
                <a:latin typeface="Calibri"/>
              </a:rPr>
              <a:t>to stay alive</a:t>
            </a:r>
          </a:p>
        </p:txBody>
      </p:sp>
      <p:sp>
        <p:nvSpPr>
          <p:cNvPr id="27" name="TextBox 26"/>
          <p:cNvSpPr txBox="1"/>
          <p:nvPr/>
        </p:nvSpPr>
        <p:spPr>
          <a:xfrm>
            <a:off x="4370832" y="2889504"/>
            <a:ext cx="3364992" cy="274320"/>
          </a:xfrm>
          <a:prstGeom prst="rect">
            <a:avLst/>
          </a:prstGeom>
          <a:noFill/>
        </p:spPr>
        <p:txBody>
          <a:bodyPr wrap="square">
            <a:spAutoFit/>
          </a:bodyPr>
          <a:lstStyle/>
          <a:p>
            <a:pPr algn="l"/>
            <a:r>
              <a:rPr sz="1100" b="1">
                <a:solidFill>
                  <a:srgbClr val="009688"/>
                </a:solidFill>
                <a:latin typeface="Calibri"/>
              </a:rPr>
              <a:t>≈ same as: live on</a:t>
            </a:r>
          </a:p>
        </p:txBody>
      </p:sp>
      <p:sp>
        <p:nvSpPr>
          <p:cNvPr id="28" name="Rounded Rectangle 27"/>
          <p:cNvSpPr/>
          <p:nvPr/>
        </p:nvSpPr>
        <p:spPr>
          <a:xfrm>
            <a:off x="8065008" y="1371600"/>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211312" y="1536192"/>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1682496"/>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31" name="TextBox 30"/>
          <p:cNvSpPr txBox="1"/>
          <p:nvPr/>
        </p:nvSpPr>
        <p:spPr>
          <a:xfrm>
            <a:off x="9070848" y="1536192"/>
            <a:ext cx="2514600" cy="365760"/>
          </a:xfrm>
          <a:prstGeom prst="rect">
            <a:avLst/>
          </a:prstGeom>
          <a:noFill/>
        </p:spPr>
        <p:txBody>
          <a:bodyPr wrap="square">
            <a:spAutoFit/>
          </a:bodyPr>
          <a:lstStyle/>
          <a:p>
            <a:pPr algn="l"/>
            <a:r>
              <a:rPr sz="1800" b="1">
                <a:solidFill>
                  <a:srgbClr val="0A2A6E"/>
                </a:solidFill>
                <a:latin typeface="Calibri"/>
              </a:rPr>
              <a:t>journey</a:t>
            </a:r>
          </a:p>
        </p:txBody>
      </p:sp>
      <p:sp>
        <p:nvSpPr>
          <p:cNvPr id="32" name="TextBox 31"/>
          <p:cNvSpPr txBox="1"/>
          <p:nvPr/>
        </p:nvSpPr>
        <p:spPr>
          <a:xfrm>
            <a:off x="9070848" y="1901952"/>
            <a:ext cx="2514600" cy="292608"/>
          </a:xfrm>
          <a:prstGeom prst="rect">
            <a:avLst/>
          </a:prstGeom>
          <a:noFill/>
        </p:spPr>
        <p:txBody>
          <a:bodyPr wrap="square">
            <a:spAutoFit/>
          </a:bodyPr>
          <a:lstStyle/>
          <a:p>
            <a:pPr algn="l"/>
            <a:r>
              <a:rPr sz="1100" b="0">
                <a:solidFill>
                  <a:srgbClr val="64748B"/>
                </a:solidFill>
                <a:latin typeface="Calibri"/>
              </a:rPr>
              <a:t>/JUR-nee/</a:t>
            </a:r>
          </a:p>
        </p:txBody>
      </p:sp>
      <p:sp>
        <p:nvSpPr>
          <p:cNvPr id="33" name="TextBox 32"/>
          <p:cNvSpPr txBox="1"/>
          <p:nvPr/>
        </p:nvSpPr>
        <p:spPr>
          <a:xfrm>
            <a:off x="8211312" y="2359152"/>
            <a:ext cx="3364992" cy="530352"/>
          </a:xfrm>
          <a:prstGeom prst="rect">
            <a:avLst/>
          </a:prstGeom>
          <a:noFill/>
        </p:spPr>
        <p:txBody>
          <a:bodyPr wrap="square">
            <a:spAutoFit/>
          </a:bodyPr>
          <a:lstStyle/>
          <a:p>
            <a:pPr algn="l"/>
            <a:r>
              <a:rPr sz="1300" b="0">
                <a:solidFill>
                  <a:srgbClr val="1F2937"/>
                </a:solidFill>
                <a:latin typeface="Calibri"/>
              </a:rPr>
              <a:t>a long trip from one place to another</a:t>
            </a:r>
          </a:p>
        </p:txBody>
      </p:sp>
      <p:sp>
        <p:nvSpPr>
          <p:cNvPr id="34" name="TextBox 33"/>
          <p:cNvSpPr txBox="1"/>
          <p:nvPr/>
        </p:nvSpPr>
        <p:spPr>
          <a:xfrm>
            <a:off x="8211312" y="2889504"/>
            <a:ext cx="3364992" cy="274320"/>
          </a:xfrm>
          <a:prstGeom prst="rect">
            <a:avLst/>
          </a:prstGeom>
          <a:noFill/>
        </p:spPr>
        <p:txBody>
          <a:bodyPr wrap="square">
            <a:spAutoFit/>
          </a:bodyPr>
          <a:lstStyle/>
          <a:p>
            <a:pPr algn="l"/>
            <a:r>
              <a:rPr sz="1100" b="1">
                <a:solidFill>
                  <a:srgbClr val="009688"/>
                </a:solidFill>
                <a:latin typeface="Calibri"/>
              </a:rPr>
              <a:t>≈ same as: voyage</a:t>
            </a:r>
          </a:p>
        </p:txBody>
      </p:sp>
      <p:sp>
        <p:nvSpPr>
          <p:cNvPr id="35" name="Rounded Rectangle 34"/>
          <p:cNvSpPr/>
          <p:nvPr/>
        </p:nvSpPr>
        <p:spPr>
          <a:xfrm>
            <a:off x="38404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035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035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38" name="TextBox 37"/>
          <p:cNvSpPr txBox="1"/>
          <p:nvPr/>
        </p:nvSpPr>
        <p:spPr>
          <a:xfrm>
            <a:off x="1389888" y="3621024"/>
            <a:ext cx="2514600" cy="365760"/>
          </a:xfrm>
          <a:prstGeom prst="rect">
            <a:avLst/>
          </a:prstGeom>
          <a:noFill/>
        </p:spPr>
        <p:txBody>
          <a:bodyPr wrap="square">
            <a:spAutoFit/>
          </a:bodyPr>
          <a:lstStyle/>
          <a:p>
            <a:pPr algn="l"/>
            <a:r>
              <a:rPr sz="1800" b="1">
                <a:solidFill>
                  <a:srgbClr val="0A2A6E"/>
                </a:solidFill>
                <a:latin typeface="Calibri"/>
              </a:rPr>
              <a:t>gently</a:t>
            </a:r>
          </a:p>
        </p:txBody>
      </p:sp>
      <p:sp>
        <p:nvSpPr>
          <p:cNvPr id="39" name="TextBox 38"/>
          <p:cNvSpPr txBox="1"/>
          <p:nvPr/>
        </p:nvSpPr>
        <p:spPr>
          <a:xfrm>
            <a:off x="1389888" y="3986784"/>
            <a:ext cx="2514600" cy="292608"/>
          </a:xfrm>
          <a:prstGeom prst="rect">
            <a:avLst/>
          </a:prstGeom>
          <a:noFill/>
        </p:spPr>
        <p:txBody>
          <a:bodyPr wrap="square">
            <a:spAutoFit/>
          </a:bodyPr>
          <a:lstStyle/>
          <a:p>
            <a:pPr algn="l"/>
            <a:r>
              <a:rPr sz="1100" b="0">
                <a:solidFill>
                  <a:srgbClr val="64748B"/>
                </a:solidFill>
                <a:latin typeface="Calibri"/>
              </a:rPr>
              <a:t>/JENT-lee/</a:t>
            </a:r>
          </a:p>
        </p:txBody>
      </p:sp>
      <p:sp>
        <p:nvSpPr>
          <p:cNvPr id="40" name="TextBox 39"/>
          <p:cNvSpPr txBox="1"/>
          <p:nvPr/>
        </p:nvSpPr>
        <p:spPr>
          <a:xfrm>
            <a:off x="530352" y="4443984"/>
            <a:ext cx="3364992" cy="530352"/>
          </a:xfrm>
          <a:prstGeom prst="rect">
            <a:avLst/>
          </a:prstGeom>
          <a:noFill/>
        </p:spPr>
        <p:txBody>
          <a:bodyPr wrap="square">
            <a:spAutoFit/>
          </a:bodyPr>
          <a:lstStyle/>
          <a:p>
            <a:pPr algn="l"/>
            <a:r>
              <a:rPr sz="1300" b="0">
                <a:solidFill>
                  <a:srgbClr val="1F2937"/>
                </a:solidFill>
                <a:latin typeface="Calibri"/>
              </a:rPr>
              <a:t>softly and carefully</a:t>
            </a:r>
          </a:p>
        </p:txBody>
      </p:sp>
      <p:sp>
        <p:nvSpPr>
          <p:cNvPr id="41" name="TextBox 40"/>
          <p:cNvSpPr txBox="1"/>
          <p:nvPr/>
        </p:nvSpPr>
        <p:spPr>
          <a:xfrm>
            <a:off x="530352" y="4974336"/>
            <a:ext cx="3364992" cy="274320"/>
          </a:xfrm>
          <a:prstGeom prst="rect">
            <a:avLst/>
          </a:prstGeom>
          <a:noFill/>
        </p:spPr>
        <p:txBody>
          <a:bodyPr wrap="square">
            <a:spAutoFit/>
          </a:bodyPr>
          <a:lstStyle/>
          <a:p>
            <a:pPr algn="l"/>
            <a:r>
              <a:rPr sz="1100" b="1">
                <a:solidFill>
                  <a:srgbClr val="009688"/>
                </a:solidFill>
                <a:latin typeface="Calibri"/>
              </a:rPr>
              <a:t>≈ same as: carefully</a:t>
            </a:r>
          </a:p>
        </p:txBody>
      </p:sp>
      <p:sp>
        <p:nvSpPr>
          <p:cNvPr id="42" name="Rounded Rectangle 41"/>
          <p:cNvSpPr/>
          <p:nvPr/>
        </p:nvSpPr>
        <p:spPr>
          <a:xfrm>
            <a:off x="422452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37083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37083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45" name="TextBox 44"/>
          <p:cNvSpPr txBox="1"/>
          <p:nvPr/>
        </p:nvSpPr>
        <p:spPr>
          <a:xfrm>
            <a:off x="5230368" y="3621024"/>
            <a:ext cx="2514600" cy="365760"/>
          </a:xfrm>
          <a:prstGeom prst="rect">
            <a:avLst/>
          </a:prstGeom>
          <a:noFill/>
        </p:spPr>
        <p:txBody>
          <a:bodyPr wrap="square">
            <a:spAutoFit/>
          </a:bodyPr>
          <a:lstStyle/>
          <a:p>
            <a:pPr algn="l"/>
            <a:r>
              <a:rPr sz="1800" b="1">
                <a:solidFill>
                  <a:srgbClr val="0A2A6E"/>
                </a:solidFill>
                <a:latin typeface="Calibri"/>
              </a:rPr>
              <a:t>canyon</a:t>
            </a:r>
          </a:p>
        </p:txBody>
      </p:sp>
      <p:sp>
        <p:nvSpPr>
          <p:cNvPr id="46" name="TextBox 45"/>
          <p:cNvSpPr txBox="1"/>
          <p:nvPr/>
        </p:nvSpPr>
        <p:spPr>
          <a:xfrm>
            <a:off x="5230368" y="3986784"/>
            <a:ext cx="2514600" cy="292608"/>
          </a:xfrm>
          <a:prstGeom prst="rect">
            <a:avLst/>
          </a:prstGeom>
          <a:noFill/>
        </p:spPr>
        <p:txBody>
          <a:bodyPr wrap="square">
            <a:spAutoFit/>
          </a:bodyPr>
          <a:lstStyle/>
          <a:p>
            <a:pPr algn="l"/>
            <a:r>
              <a:rPr sz="1100" b="0">
                <a:solidFill>
                  <a:srgbClr val="64748B"/>
                </a:solidFill>
                <a:latin typeface="Calibri"/>
              </a:rPr>
              <a:t>/KAN-yun/</a:t>
            </a:r>
          </a:p>
        </p:txBody>
      </p:sp>
      <p:sp>
        <p:nvSpPr>
          <p:cNvPr id="47" name="TextBox 46"/>
          <p:cNvSpPr txBox="1"/>
          <p:nvPr/>
        </p:nvSpPr>
        <p:spPr>
          <a:xfrm>
            <a:off x="4370832" y="4443984"/>
            <a:ext cx="3364992" cy="530352"/>
          </a:xfrm>
          <a:prstGeom prst="rect">
            <a:avLst/>
          </a:prstGeom>
          <a:noFill/>
        </p:spPr>
        <p:txBody>
          <a:bodyPr wrap="square">
            <a:spAutoFit/>
          </a:bodyPr>
          <a:lstStyle/>
          <a:p>
            <a:pPr algn="l"/>
            <a:r>
              <a:rPr sz="1300" b="0">
                <a:solidFill>
                  <a:srgbClr val="1F2937"/>
                </a:solidFill>
                <a:latin typeface="Calibri"/>
              </a:rPr>
              <a:t>a deep, narrow valley</a:t>
            </a:r>
          </a:p>
        </p:txBody>
      </p:sp>
      <p:sp>
        <p:nvSpPr>
          <p:cNvPr id="48" name="TextBox 47"/>
          <p:cNvSpPr txBox="1"/>
          <p:nvPr/>
        </p:nvSpPr>
        <p:spPr>
          <a:xfrm>
            <a:off x="4370832" y="4974336"/>
            <a:ext cx="3364992" cy="274320"/>
          </a:xfrm>
          <a:prstGeom prst="rect">
            <a:avLst/>
          </a:prstGeom>
          <a:noFill/>
        </p:spPr>
        <p:txBody>
          <a:bodyPr wrap="square">
            <a:spAutoFit/>
          </a:bodyPr>
          <a:lstStyle/>
          <a:p>
            <a:pPr algn="l"/>
            <a:r>
              <a:rPr sz="1100" b="1">
                <a:solidFill>
                  <a:srgbClr val="009688"/>
                </a:solidFill>
                <a:latin typeface="Calibri"/>
              </a:rPr>
              <a:t>≈ same as: gorge</a:t>
            </a:r>
          </a:p>
        </p:txBody>
      </p:sp>
      <p:sp>
        <p:nvSpPr>
          <p:cNvPr id="49" name="Rounded Rectangle 48"/>
          <p:cNvSpPr/>
          <p:nvPr/>
        </p:nvSpPr>
        <p:spPr>
          <a:xfrm>
            <a:off x="8065008" y="3456432"/>
            <a:ext cx="365760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211312" y="3621024"/>
            <a:ext cx="749808" cy="749808"/>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11312" y="3767328"/>
            <a:ext cx="749808" cy="502920"/>
          </a:xfrm>
          <a:prstGeom prst="rect">
            <a:avLst/>
          </a:prstGeom>
          <a:noFill/>
        </p:spPr>
        <p:txBody>
          <a:bodyPr wrap="square">
            <a:spAutoFit/>
          </a:bodyPr>
          <a:lstStyle/>
          <a:p>
            <a:pPr algn="ctr"/>
            <a:r>
              <a:rPr sz="2400" b="0">
                <a:solidFill>
                  <a:srgbClr val="1F2937"/>
                </a:solidFill>
                <a:latin typeface="Calibri"/>
              </a:rPr>
              <a:t>🚩</a:t>
            </a:r>
          </a:p>
        </p:txBody>
      </p:sp>
      <p:sp>
        <p:nvSpPr>
          <p:cNvPr id="52" name="TextBox 51"/>
          <p:cNvSpPr txBox="1"/>
          <p:nvPr/>
        </p:nvSpPr>
        <p:spPr>
          <a:xfrm>
            <a:off x="9070848" y="3621024"/>
            <a:ext cx="2514600" cy="365760"/>
          </a:xfrm>
          <a:prstGeom prst="rect">
            <a:avLst/>
          </a:prstGeom>
          <a:noFill/>
        </p:spPr>
        <p:txBody>
          <a:bodyPr wrap="square">
            <a:spAutoFit/>
          </a:bodyPr>
          <a:lstStyle/>
          <a:p>
            <a:pPr algn="l"/>
            <a:r>
              <a:rPr sz="1800" b="1">
                <a:solidFill>
                  <a:srgbClr val="0A2A6E"/>
                </a:solidFill>
                <a:latin typeface="Calibri"/>
              </a:rPr>
              <a:t>marked</a:t>
            </a:r>
          </a:p>
        </p:txBody>
      </p:sp>
      <p:sp>
        <p:nvSpPr>
          <p:cNvPr id="53" name="TextBox 52"/>
          <p:cNvSpPr txBox="1"/>
          <p:nvPr/>
        </p:nvSpPr>
        <p:spPr>
          <a:xfrm>
            <a:off x="9070848" y="3986784"/>
            <a:ext cx="2514600" cy="292608"/>
          </a:xfrm>
          <a:prstGeom prst="rect">
            <a:avLst/>
          </a:prstGeom>
          <a:noFill/>
        </p:spPr>
        <p:txBody>
          <a:bodyPr wrap="square">
            <a:spAutoFit/>
          </a:bodyPr>
          <a:lstStyle/>
          <a:p>
            <a:pPr algn="l"/>
            <a:r>
              <a:rPr sz="1100" b="0">
                <a:solidFill>
                  <a:srgbClr val="64748B"/>
                </a:solidFill>
                <a:latin typeface="Calibri"/>
              </a:rPr>
              <a:t>/MARKT/</a:t>
            </a:r>
          </a:p>
        </p:txBody>
      </p:sp>
      <p:sp>
        <p:nvSpPr>
          <p:cNvPr id="54" name="TextBox 53"/>
          <p:cNvSpPr txBox="1"/>
          <p:nvPr/>
        </p:nvSpPr>
        <p:spPr>
          <a:xfrm>
            <a:off x="8211312" y="4443984"/>
            <a:ext cx="3364992" cy="530352"/>
          </a:xfrm>
          <a:prstGeom prst="rect">
            <a:avLst/>
          </a:prstGeom>
          <a:noFill/>
        </p:spPr>
        <p:txBody>
          <a:bodyPr wrap="square">
            <a:spAutoFit/>
          </a:bodyPr>
          <a:lstStyle/>
          <a:p>
            <a:pPr algn="l"/>
            <a:r>
              <a:rPr sz="1300" b="0">
                <a:solidFill>
                  <a:srgbClr val="1F2937"/>
                </a:solidFill>
                <a:latin typeface="Calibri"/>
              </a:rPr>
              <a:t>showed with a sign so people know</a:t>
            </a:r>
          </a:p>
        </p:txBody>
      </p:sp>
      <p:sp>
        <p:nvSpPr>
          <p:cNvPr id="55" name="TextBox 54"/>
          <p:cNvSpPr txBox="1"/>
          <p:nvPr/>
        </p:nvSpPr>
        <p:spPr>
          <a:xfrm>
            <a:off x="8211312" y="4974336"/>
            <a:ext cx="3364992" cy="274320"/>
          </a:xfrm>
          <a:prstGeom prst="rect">
            <a:avLst/>
          </a:prstGeom>
          <a:noFill/>
        </p:spPr>
        <p:txBody>
          <a:bodyPr wrap="square">
            <a:spAutoFit/>
          </a:bodyPr>
          <a:lstStyle/>
          <a:p>
            <a:pPr algn="l"/>
            <a:r>
              <a:rPr sz="1100" b="1">
                <a:solidFill>
                  <a:srgbClr val="009688"/>
                </a:solidFill>
                <a:latin typeface="Calibri"/>
              </a:rPr>
              <a:t>≈ same as: labeled</a:t>
            </a:r>
          </a:p>
        </p:txBody>
      </p:sp>
      <p:sp>
        <p:nvSpPr>
          <p:cNvPr id="56" name="TextBox 55"/>
          <p:cNvSpPr txBox="1"/>
          <p:nvPr/>
        </p:nvSpPr>
        <p:spPr>
          <a:xfrm>
            <a:off x="384048" y="5806440"/>
            <a:ext cx="8778240" cy="365760"/>
          </a:xfrm>
          <a:prstGeom prst="rect">
            <a:avLst/>
          </a:prstGeom>
          <a:noFill/>
        </p:spPr>
        <p:txBody>
          <a:bodyPr wrap="square">
            <a:spAutoFit/>
          </a:bodyPr>
          <a:lstStyle/>
          <a:p>
            <a:pPr algn="l"/>
            <a:r>
              <a:rPr sz="1400" b="1">
                <a:solidFill>
                  <a:srgbClr val="FF6F61"/>
                </a:solidFill>
                <a:latin typeface="Calibri"/>
              </a:rPr>
              <a:t>🔊 Which word is your favorite? Say it three times, loud and proud!</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5–10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Game 1: Guess the Word!</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977031"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game  |  5–10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6 / 37</a:t>
            </a:r>
          </a:p>
        </p:txBody>
      </p:sp>
      <p:sp>
        <p:nvSpPr>
          <p:cNvPr id="14" name="Rounded Rectangle 13"/>
          <p:cNvSpPr/>
          <p:nvPr/>
        </p:nvSpPr>
        <p:spPr>
          <a:xfrm>
            <a:off x="457200" y="1371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 y="1554480"/>
            <a:ext cx="2011680" cy="169164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29968"/>
            <a:ext cx="2011680" cy="640080"/>
          </a:xfrm>
          <a:prstGeom prst="rect">
            <a:avLst/>
          </a:prstGeom>
          <a:noFill/>
        </p:spPr>
        <p:txBody>
          <a:bodyPr wrap="square">
            <a:spAutoFit/>
          </a:bodyPr>
          <a:lstStyle/>
          <a:p>
            <a:pPr algn="ctr"/>
            <a:r>
              <a:rPr sz="2600" b="0">
                <a:solidFill>
                  <a:srgbClr val="1F2937"/>
                </a:solidFill>
                <a:latin typeface="Calibri"/>
              </a:rPr>
              <a:t>🥚➡️🐢</a:t>
            </a:r>
          </a:p>
        </p:txBody>
      </p:sp>
      <p:sp>
        <p:nvSpPr>
          <p:cNvPr id="17" name="TextBox 16"/>
          <p:cNvSpPr txBox="1"/>
          <p:nvPr/>
        </p:nvSpPr>
        <p:spPr>
          <a:xfrm>
            <a:off x="2788920" y="1755648"/>
            <a:ext cx="3017520" cy="822960"/>
          </a:xfrm>
          <a:prstGeom prst="rect">
            <a:avLst/>
          </a:prstGeom>
          <a:noFill/>
        </p:spPr>
        <p:txBody>
          <a:bodyPr wrap="square">
            <a:spAutoFit/>
          </a:bodyPr>
          <a:lstStyle/>
          <a:p>
            <a:pPr algn="l"/>
            <a:r>
              <a:rPr sz="1500" b="1">
                <a:solidFill>
                  <a:srgbClr val="0A2A6E"/>
                </a:solidFill>
                <a:latin typeface="Calibri"/>
              </a:rPr>
              <a:t>It just came out of an egg.</a:t>
            </a:r>
          </a:p>
        </p:txBody>
      </p:sp>
      <p:sp>
        <p:nvSpPr>
          <p:cNvPr id="18" name="TextBox 17"/>
          <p:cNvSpPr txBox="1"/>
          <p:nvPr/>
        </p:nvSpPr>
        <p:spPr>
          <a:xfrm>
            <a:off x="2788920" y="2697480"/>
            <a:ext cx="3017520" cy="411480"/>
          </a:xfrm>
          <a:prstGeom prst="rect">
            <a:avLst/>
          </a:prstGeom>
          <a:noFill/>
        </p:spPr>
        <p:txBody>
          <a:bodyPr wrap="square">
            <a:spAutoFit/>
          </a:bodyPr>
          <a:lstStyle/>
          <a:p>
            <a:pPr algn="l"/>
            <a:r>
              <a:rPr sz="1300" b="0">
                <a:solidFill>
                  <a:srgbClr val="64748B"/>
                </a:solidFill>
                <a:latin typeface="Calibri"/>
              </a:rPr>
              <a:t>Your word:  _____________</a:t>
            </a:r>
          </a:p>
        </p:txBody>
      </p:sp>
      <p:sp>
        <p:nvSpPr>
          <p:cNvPr id="19" name="Rounded Rectangle 18"/>
          <p:cNvSpPr/>
          <p:nvPr/>
        </p:nvSpPr>
        <p:spPr>
          <a:xfrm>
            <a:off x="6217920" y="1371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82512" y="1554480"/>
            <a:ext cx="2011680" cy="169164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2512" y="2029968"/>
            <a:ext cx="2011680" cy="640080"/>
          </a:xfrm>
          <a:prstGeom prst="rect">
            <a:avLst/>
          </a:prstGeom>
          <a:noFill/>
        </p:spPr>
        <p:txBody>
          <a:bodyPr wrap="square">
            <a:spAutoFit/>
          </a:bodyPr>
          <a:lstStyle/>
          <a:p>
            <a:pPr algn="ctr"/>
            <a:r>
              <a:rPr sz="2600" b="0">
                <a:solidFill>
                  <a:srgbClr val="1F2937"/>
                </a:solidFill>
                <a:latin typeface="Calibri"/>
              </a:rPr>
              <a:t>😴💤</a:t>
            </a:r>
          </a:p>
        </p:txBody>
      </p:sp>
      <p:sp>
        <p:nvSpPr>
          <p:cNvPr id="22" name="TextBox 21"/>
          <p:cNvSpPr txBox="1"/>
          <p:nvPr/>
        </p:nvSpPr>
        <p:spPr>
          <a:xfrm>
            <a:off x="8549640" y="1755648"/>
            <a:ext cx="3017520" cy="822960"/>
          </a:xfrm>
          <a:prstGeom prst="rect">
            <a:avLst/>
          </a:prstGeom>
          <a:noFill/>
        </p:spPr>
        <p:txBody>
          <a:bodyPr wrap="square">
            <a:spAutoFit/>
          </a:bodyPr>
          <a:lstStyle/>
          <a:p>
            <a:pPr algn="l"/>
            <a:r>
              <a:rPr sz="1500" b="1">
                <a:solidFill>
                  <a:srgbClr val="0A2A6E"/>
                </a:solidFill>
                <a:latin typeface="Calibri"/>
              </a:rPr>
              <a:t>You feel this after a very long day.</a:t>
            </a:r>
          </a:p>
        </p:txBody>
      </p:sp>
      <p:sp>
        <p:nvSpPr>
          <p:cNvPr id="23" name="TextBox 22"/>
          <p:cNvSpPr txBox="1"/>
          <p:nvPr/>
        </p:nvSpPr>
        <p:spPr>
          <a:xfrm>
            <a:off x="8549640" y="2697480"/>
            <a:ext cx="3017520" cy="411480"/>
          </a:xfrm>
          <a:prstGeom prst="rect">
            <a:avLst/>
          </a:prstGeom>
          <a:noFill/>
        </p:spPr>
        <p:txBody>
          <a:bodyPr wrap="square">
            <a:spAutoFit/>
          </a:bodyPr>
          <a:lstStyle/>
          <a:p>
            <a:pPr algn="l"/>
            <a:r>
              <a:rPr sz="1300" b="0">
                <a:solidFill>
                  <a:srgbClr val="64748B"/>
                </a:solidFill>
                <a:latin typeface="Calibri"/>
              </a:rPr>
              <a:t>Your word:  _____________</a:t>
            </a:r>
          </a:p>
        </p:txBody>
      </p:sp>
      <p:sp>
        <p:nvSpPr>
          <p:cNvPr id="24" name="Rounded Rectangle 23"/>
          <p:cNvSpPr/>
          <p:nvPr/>
        </p:nvSpPr>
        <p:spPr>
          <a:xfrm>
            <a:off x="457200" y="3657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1792" y="3840480"/>
            <a:ext cx="2011680" cy="169164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315968"/>
            <a:ext cx="2011680" cy="640080"/>
          </a:xfrm>
          <a:prstGeom prst="rect">
            <a:avLst/>
          </a:prstGeom>
          <a:noFill/>
        </p:spPr>
        <p:txBody>
          <a:bodyPr wrap="square">
            <a:spAutoFit/>
          </a:bodyPr>
          <a:lstStyle/>
          <a:p>
            <a:pPr algn="ctr"/>
            <a:r>
              <a:rPr sz="2600" b="0">
                <a:solidFill>
                  <a:srgbClr val="1F2937"/>
                </a:solidFill>
                <a:latin typeface="Calibri"/>
              </a:rPr>
              <a:t>🙋❤️</a:t>
            </a:r>
          </a:p>
        </p:txBody>
      </p:sp>
      <p:sp>
        <p:nvSpPr>
          <p:cNvPr id="27" name="TextBox 26"/>
          <p:cNvSpPr txBox="1"/>
          <p:nvPr/>
        </p:nvSpPr>
        <p:spPr>
          <a:xfrm>
            <a:off x="2788920" y="4041648"/>
            <a:ext cx="3017520" cy="822960"/>
          </a:xfrm>
          <a:prstGeom prst="rect">
            <a:avLst/>
          </a:prstGeom>
          <a:noFill/>
        </p:spPr>
        <p:txBody>
          <a:bodyPr wrap="square">
            <a:spAutoFit/>
          </a:bodyPr>
          <a:lstStyle/>
          <a:p>
            <a:pPr algn="l"/>
            <a:r>
              <a:rPr sz="1500" b="1">
                <a:solidFill>
                  <a:srgbClr val="0A2A6E"/>
                </a:solidFill>
                <a:latin typeface="Calibri"/>
              </a:rPr>
              <a:t>This person helps but gets no money.</a:t>
            </a:r>
          </a:p>
        </p:txBody>
      </p:sp>
      <p:sp>
        <p:nvSpPr>
          <p:cNvPr id="28" name="TextBox 27"/>
          <p:cNvSpPr txBox="1"/>
          <p:nvPr/>
        </p:nvSpPr>
        <p:spPr>
          <a:xfrm>
            <a:off x="2788920" y="4983480"/>
            <a:ext cx="3017520" cy="411480"/>
          </a:xfrm>
          <a:prstGeom prst="rect">
            <a:avLst/>
          </a:prstGeom>
          <a:noFill/>
        </p:spPr>
        <p:txBody>
          <a:bodyPr wrap="square">
            <a:spAutoFit/>
          </a:bodyPr>
          <a:lstStyle/>
          <a:p>
            <a:pPr algn="l"/>
            <a:r>
              <a:rPr sz="1300" b="0">
                <a:solidFill>
                  <a:srgbClr val="64748B"/>
                </a:solidFill>
                <a:latin typeface="Calibri"/>
              </a:rPr>
              <a:t>Your word:  _____________</a:t>
            </a:r>
          </a:p>
        </p:txBody>
      </p:sp>
      <p:sp>
        <p:nvSpPr>
          <p:cNvPr id="29" name="Rounded Rectangle 28"/>
          <p:cNvSpPr/>
          <p:nvPr/>
        </p:nvSpPr>
        <p:spPr>
          <a:xfrm>
            <a:off x="6217920" y="3657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82512" y="3840480"/>
            <a:ext cx="2011680" cy="169164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4315968"/>
            <a:ext cx="2011680" cy="640080"/>
          </a:xfrm>
          <a:prstGeom prst="rect">
            <a:avLst/>
          </a:prstGeom>
          <a:noFill/>
        </p:spPr>
        <p:txBody>
          <a:bodyPr wrap="square">
            <a:spAutoFit/>
          </a:bodyPr>
          <a:lstStyle/>
          <a:p>
            <a:pPr algn="ctr"/>
            <a:r>
              <a:rPr sz="2600" b="0">
                <a:solidFill>
                  <a:srgbClr val="1F2937"/>
                </a:solidFill>
                <a:latin typeface="Calibri"/>
              </a:rPr>
              <a:t>🗺️➡️🌊</a:t>
            </a:r>
          </a:p>
        </p:txBody>
      </p:sp>
      <p:sp>
        <p:nvSpPr>
          <p:cNvPr id="32" name="TextBox 31"/>
          <p:cNvSpPr txBox="1"/>
          <p:nvPr/>
        </p:nvSpPr>
        <p:spPr>
          <a:xfrm>
            <a:off x="8549640" y="4041648"/>
            <a:ext cx="3017520" cy="822960"/>
          </a:xfrm>
          <a:prstGeom prst="rect">
            <a:avLst/>
          </a:prstGeom>
          <a:noFill/>
        </p:spPr>
        <p:txBody>
          <a:bodyPr wrap="square">
            <a:spAutoFit/>
          </a:bodyPr>
          <a:lstStyle/>
          <a:p>
            <a:pPr algn="l"/>
            <a:r>
              <a:rPr sz="1500" b="1">
                <a:solidFill>
                  <a:srgbClr val="0A2A6E"/>
                </a:solidFill>
                <a:latin typeface="Calibri"/>
              </a:rPr>
              <a:t>A long trip to somewhere far away.</a:t>
            </a:r>
          </a:p>
        </p:txBody>
      </p:sp>
      <p:sp>
        <p:nvSpPr>
          <p:cNvPr id="33" name="TextBox 32"/>
          <p:cNvSpPr txBox="1"/>
          <p:nvPr/>
        </p:nvSpPr>
        <p:spPr>
          <a:xfrm>
            <a:off x="8549640" y="4983480"/>
            <a:ext cx="3017520" cy="411480"/>
          </a:xfrm>
          <a:prstGeom prst="rect">
            <a:avLst/>
          </a:prstGeom>
          <a:noFill/>
        </p:spPr>
        <p:txBody>
          <a:bodyPr wrap="square">
            <a:spAutoFit/>
          </a:bodyPr>
          <a:lstStyle/>
          <a:p>
            <a:pPr algn="l"/>
            <a:r>
              <a:rPr sz="1300" b="0">
                <a:solidFill>
                  <a:srgbClr val="64748B"/>
                </a:solidFill>
                <a:latin typeface="Calibri"/>
              </a:rPr>
              <a:t>Your word:  _____________</a:t>
            </a:r>
          </a:p>
        </p:txBody>
      </p:sp>
      <p:sp>
        <p:nvSpPr>
          <p:cNvPr id="34" name="Rounded Rectangle 33"/>
          <p:cNvSpPr/>
          <p:nvPr/>
        </p:nvSpPr>
        <p:spPr>
          <a:xfrm>
            <a:off x="9646920" y="5897880"/>
            <a:ext cx="2194560" cy="41148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46920" y="5943600"/>
            <a:ext cx="2194560" cy="365760"/>
          </a:xfrm>
          <a:prstGeom prst="rect">
            <a:avLst/>
          </a:prstGeom>
          <a:noFill/>
        </p:spPr>
        <p:txBody>
          <a:bodyPr wrap="square">
            <a:spAutoFit/>
          </a:bodyPr>
          <a:lstStyle/>
          <a:p>
            <a:pPr algn="ctr"/>
            <a:r>
              <a:rPr sz="1300" b="1">
                <a:solidFill>
                  <a:srgbClr val="0A2A6E"/>
                </a:solidFill>
                <a:latin typeface="Calibri"/>
              </a:rPr>
              <a:t>+1 Star each ⭐</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5–10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Game 2: Word Detective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2306536"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game  |  5–10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7 / 37</a:t>
            </a:r>
          </a:p>
        </p:txBody>
      </p:sp>
      <p:sp>
        <p:nvSpPr>
          <p:cNvPr id="14" name="Rounded Rectangle 13"/>
          <p:cNvSpPr/>
          <p:nvPr/>
        </p:nvSpPr>
        <p:spPr>
          <a:xfrm>
            <a:off x="411480" y="1371600"/>
            <a:ext cx="1133856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572768"/>
            <a:ext cx="4206240" cy="914400"/>
          </a:xfrm>
          <a:prstGeom prst="rect">
            <a:avLst/>
          </a:prstGeom>
          <a:noFill/>
        </p:spPr>
        <p:txBody>
          <a:bodyPr wrap="square">
            <a:spAutoFit/>
          </a:bodyPr>
          <a:lstStyle/>
          <a:p>
            <a:pPr algn="l"/>
            <a:r>
              <a:rPr sz="1500" b="1">
                <a:solidFill>
                  <a:srgbClr val="0A2A6E"/>
                </a:solidFill>
                <a:latin typeface="Calibri"/>
              </a:rPr>
              <a:t>Which word means VERY TIRED?</a:t>
            </a:r>
          </a:p>
        </p:txBody>
      </p:sp>
      <p:sp>
        <p:nvSpPr>
          <p:cNvPr id="16" name="Rounded Rectangle 15"/>
          <p:cNvSpPr/>
          <p:nvPr/>
        </p:nvSpPr>
        <p:spPr>
          <a:xfrm>
            <a:off x="5029200" y="1755648"/>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1883664"/>
            <a:ext cx="2057400" cy="365760"/>
          </a:xfrm>
          <a:prstGeom prst="rect">
            <a:avLst/>
          </a:prstGeom>
          <a:noFill/>
        </p:spPr>
        <p:txBody>
          <a:bodyPr wrap="square">
            <a:spAutoFit/>
          </a:bodyPr>
          <a:lstStyle/>
          <a:p>
            <a:pPr algn="ctr"/>
            <a:r>
              <a:rPr sz="1400" b="1">
                <a:solidFill>
                  <a:srgbClr val="1F2937"/>
                </a:solidFill>
                <a:latin typeface="Calibri"/>
              </a:rPr>
              <a:t>excited</a:t>
            </a:r>
          </a:p>
        </p:txBody>
      </p:sp>
      <p:sp>
        <p:nvSpPr>
          <p:cNvPr id="18" name="Rounded Rectangle 17"/>
          <p:cNvSpPr/>
          <p:nvPr/>
        </p:nvSpPr>
        <p:spPr>
          <a:xfrm>
            <a:off x="7269480" y="1755648"/>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69480" y="1883664"/>
            <a:ext cx="2057400" cy="365760"/>
          </a:xfrm>
          <a:prstGeom prst="rect">
            <a:avLst/>
          </a:prstGeom>
          <a:noFill/>
        </p:spPr>
        <p:txBody>
          <a:bodyPr wrap="square">
            <a:spAutoFit/>
          </a:bodyPr>
          <a:lstStyle/>
          <a:p>
            <a:pPr algn="ctr"/>
            <a:r>
              <a:rPr sz="1400" b="1">
                <a:solidFill>
                  <a:srgbClr val="1F2937"/>
                </a:solidFill>
                <a:latin typeface="Calibri"/>
              </a:rPr>
              <a:t>exhausted</a:t>
            </a:r>
          </a:p>
        </p:txBody>
      </p:sp>
      <p:sp>
        <p:nvSpPr>
          <p:cNvPr id="20" name="Rounded Rectangle 19"/>
          <p:cNvSpPr/>
          <p:nvPr/>
        </p:nvSpPr>
        <p:spPr>
          <a:xfrm>
            <a:off x="9509760" y="1755648"/>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1883664"/>
            <a:ext cx="2057400" cy="365760"/>
          </a:xfrm>
          <a:prstGeom prst="rect">
            <a:avLst/>
          </a:prstGeom>
          <a:noFill/>
        </p:spPr>
        <p:txBody>
          <a:bodyPr wrap="square">
            <a:spAutoFit/>
          </a:bodyPr>
          <a:lstStyle/>
          <a:p>
            <a:pPr algn="ctr"/>
            <a:r>
              <a:rPr sz="1400" b="1">
                <a:solidFill>
                  <a:srgbClr val="1F2937"/>
                </a:solidFill>
                <a:latin typeface="Calibri"/>
              </a:rPr>
              <a:t>expensive</a:t>
            </a:r>
          </a:p>
        </p:txBody>
      </p:sp>
      <p:sp>
        <p:nvSpPr>
          <p:cNvPr id="22" name="Rounded Rectangle 21"/>
          <p:cNvSpPr/>
          <p:nvPr/>
        </p:nvSpPr>
        <p:spPr>
          <a:xfrm>
            <a:off x="411480" y="2944368"/>
            <a:ext cx="1133856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3145536"/>
            <a:ext cx="4206240" cy="914400"/>
          </a:xfrm>
          <a:prstGeom prst="rect">
            <a:avLst/>
          </a:prstGeom>
          <a:noFill/>
        </p:spPr>
        <p:txBody>
          <a:bodyPr wrap="square">
            <a:spAutoFit/>
          </a:bodyPr>
          <a:lstStyle/>
          <a:p>
            <a:pPr algn="l"/>
            <a:r>
              <a:rPr sz="1500" b="1">
                <a:solidFill>
                  <a:srgbClr val="0A2A6E"/>
                </a:solidFill>
                <a:latin typeface="Calibri"/>
              </a:rPr>
              <a:t>Which word means A LONG TRIP?</a:t>
            </a:r>
          </a:p>
        </p:txBody>
      </p:sp>
      <p:sp>
        <p:nvSpPr>
          <p:cNvPr id="24" name="Rounded Rectangle 23"/>
          <p:cNvSpPr/>
          <p:nvPr/>
        </p:nvSpPr>
        <p:spPr>
          <a:xfrm>
            <a:off x="5029200" y="3328416"/>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0" y="3456432"/>
            <a:ext cx="2057400" cy="365760"/>
          </a:xfrm>
          <a:prstGeom prst="rect">
            <a:avLst/>
          </a:prstGeom>
          <a:noFill/>
        </p:spPr>
        <p:txBody>
          <a:bodyPr wrap="square">
            <a:spAutoFit/>
          </a:bodyPr>
          <a:lstStyle/>
          <a:p>
            <a:pPr algn="ctr"/>
            <a:r>
              <a:rPr sz="1400" b="1">
                <a:solidFill>
                  <a:srgbClr val="1F2937"/>
                </a:solidFill>
                <a:latin typeface="Calibri"/>
              </a:rPr>
              <a:t>journey</a:t>
            </a:r>
          </a:p>
        </p:txBody>
      </p:sp>
      <p:sp>
        <p:nvSpPr>
          <p:cNvPr id="26" name="Rounded Rectangle 25"/>
          <p:cNvSpPr/>
          <p:nvPr/>
        </p:nvSpPr>
        <p:spPr>
          <a:xfrm>
            <a:off x="7269480" y="3328416"/>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69480" y="3456432"/>
            <a:ext cx="2057400" cy="365760"/>
          </a:xfrm>
          <a:prstGeom prst="rect">
            <a:avLst/>
          </a:prstGeom>
          <a:noFill/>
        </p:spPr>
        <p:txBody>
          <a:bodyPr wrap="square">
            <a:spAutoFit/>
          </a:bodyPr>
          <a:lstStyle/>
          <a:p>
            <a:pPr algn="ctr"/>
            <a:r>
              <a:rPr sz="1400" b="1">
                <a:solidFill>
                  <a:srgbClr val="1F2937"/>
                </a:solidFill>
                <a:latin typeface="Calibri"/>
              </a:rPr>
              <a:t>jungle</a:t>
            </a:r>
          </a:p>
        </p:txBody>
      </p:sp>
      <p:sp>
        <p:nvSpPr>
          <p:cNvPr id="28" name="Rounded Rectangle 27"/>
          <p:cNvSpPr/>
          <p:nvPr/>
        </p:nvSpPr>
        <p:spPr>
          <a:xfrm>
            <a:off x="9509760" y="3328416"/>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0" y="3456432"/>
            <a:ext cx="2057400" cy="365760"/>
          </a:xfrm>
          <a:prstGeom prst="rect">
            <a:avLst/>
          </a:prstGeom>
          <a:noFill/>
        </p:spPr>
        <p:txBody>
          <a:bodyPr wrap="square">
            <a:spAutoFit/>
          </a:bodyPr>
          <a:lstStyle/>
          <a:p>
            <a:pPr algn="ctr"/>
            <a:r>
              <a:rPr sz="1400" b="1">
                <a:solidFill>
                  <a:srgbClr val="1F2937"/>
                </a:solidFill>
                <a:latin typeface="Calibri"/>
              </a:rPr>
              <a:t>juggle</a:t>
            </a:r>
          </a:p>
        </p:txBody>
      </p:sp>
      <p:sp>
        <p:nvSpPr>
          <p:cNvPr id="30" name="Rounded Rectangle 29"/>
          <p:cNvSpPr/>
          <p:nvPr/>
        </p:nvSpPr>
        <p:spPr>
          <a:xfrm>
            <a:off x="411480" y="4517136"/>
            <a:ext cx="1133856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718304"/>
            <a:ext cx="4206240" cy="914400"/>
          </a:xfrm>
          <a:prstGeom prst="rect">
            <a:avLst/>
          </a:prstGeom>
          <a:noFill/>
        </p:spPr>
        <p:txBody>
          <a:bodyPr wrap="square">
            <a:spAutoFit/>
          </a:bodyPr>
          <a:lstStyle/>
          <a:p>
            <a:pPr algn="l"/>
            <a:r>
              <a:rPr sz="1500" b="1">
                <a:solidFill>
                  <a:srgbClr val="0A2A6E"/>
                </a:solidFill>
                <a:latin typeface="Calibri"/>
              </a:rPr>
              <a:t>Which word means A DEEP VALLEY?</a:t>
            </a:r>
          </a:p>
        </p:txBody>
      </p:sp>
      <p:sp>
        <p:nvSpPr>
          <p:cNvPr id="32" name="Rounded Rectangle 31"/>
          <p:cNvSpPr/>
          <p:nvPr/>
        </p:nvSpPr>
        <p:spPr>
          <a:xfrm>
            <a:off x="5029200" y="4901184"/>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5029200"/>
            <a:ext cx="2057400" cy="365760"/>
          </a:xfrm>
          <a:prstGeom prst="rect">
            <a:avLst/>
          </a:prstGeom>
          <a:noFill/>
        </p:spPr>
        <p:txBody>
          <a:bodyPr wrap="square">
            <a:spAutoFit/>
          </a:bodyPr>
          <a:lstStyle/>
          <a:p>
            <a:pPr algn="ctr"/>
            <a:r>
              <a:rPr sz="1400" b="1">
                <a:solidFill>
                  <a:srgbClr val="1F2937"/>
                </a:solidFill>
                <a:latin typeface="Calibri"/>
              </a:rPr>
              <a:t>cannon</a:t>
            </a:r>
          </a:p>
        </p:txBody>
      </p:sp>
      <p:sp>
        <p:nvSpPr>
          <p:cNvPr id="34" name="Rounded Rectangle 33"/>
          <p:cNvSpPr/>
          <p:nvPr/>
        </p:nvSpPr>
        <p:spPr>
          <a:xfrm>
            <a:off x="7269480" y="4901184"/>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69480" y="5029200"/>
            <a:ext cx="2057400" cy="365760"/>
          </a:xfrm>
          <a:prstGeom prst="rect">
            <a:avLst/>
          </a:prstGeom>
          <a:noFill/>
        </p:spPr>
        <p:txBody>
          <a:bodyPr wrap="square">
            <a:spAutoFit/>
          </a:bodyPr>
          <a:lstStyle/>
          <a:p>
            <a:pPr algn="ctr"/>
            <a:r>
              <a:rPr sz="1400" b="1">
                <a:solidFill>
                  <a:srgbClr val="1F2937"/>
                </a:solidFill>
                <a:latin typeface="Calibri"/>
              </a:rPr>
              <a:t>canyon</a:t>
            </a:r>
          </a:p>
        </p:txBody>
      </p:sp>
      <p:sp>
        <p:nvSpPr>
          <p:cNvPr id="36" name="Rounded Rectangle 35"/>
          <p:cNvSpPr/>
          <p:nvPr/>
        </p:nvSpPr>
        <p:spPr>
          <a:xfrm>
            <a:off x="9509760" y="4901184"/>
            <a:ext cx="2057400" cy="603504"/>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09760" y="5029200"/>
            <a:ext cx="2057400" cy="365760"/>
          </a:xfrm>
          <a:prstGeom prst="rect">
            <a:avLst/>
          </a:prstGeom>
          <a:noFill/>
        </p:spPr>
        <p:txBody>
          <a:bodyPr wrap="square">
            <a:spAutoFit/>
          </a:bodyPr>
          <a:lstStyle/>
          <a:p>
            <a:pPr algn="ctr"/>
            <a:r>
              <a:rPr sz="1400" b="1">
                <a:solidFill>
                  <a:srgbClr val="1F2937"/>
                </a:solidFill>
                <a:latin typeface="Calibri"/>
              </a:rPr>
              <a:t>candle</a:t>
            </a:r>
          </a:p>
        </p:txBody>
      </p:sp>
      <p:sp>
        <p:nvSpPr>
          <p:cNvPr id="38" name="TextBox 37"/>
          <p:cNvSpPr txBox="1"/>
          <p:nvPr/>
        </p:nvSpPr>
        <p:spPr>
          <a:xfrm>
            <a:off x="411480" y="6144768"/>
            <a:ext cx="8686800" cy="292608"/>
          </a:xfrm>
          <a:prstGeom prst="rect">
            <a:avLst/>
          </a:prstGeom>
          <a:noFill/>
        </p:spPr>
        <p:txBody>
          <a:bodyPr wrap="square">
            <a:spAutoFit/>
          </a:bodyPr>
          <a:lstStyle/>
          <a:p>
            <a:pPr algn="l"/>
            <a:r>
              <a:rPr sz="1300" b="1">
                <a:solidFill>
                  <a:srgbClr val="FF6F61"/>
                </a:solidFill>
                <a:latin typeface="Calibri"/>
              </a:rPr>
              <a:t>🔍 Careful — the wrong answers LOOK similar. Read all three first!</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10–20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Reading Adventure: Let's Predict!</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2636042"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Reading  |  10–20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8 / 37</a:t>
            </a:r>
          </a:p>
        </p:txBody>
      </p:sp>
      <p:sp>
        <p:nvSpPr>
          <p:cNvPr id="14" name="Rounded Rectangle 13"/>
          <p:cNvSpPr/>
          <p:nvPr/>
        </p:nvSpPr>
        <p:spPr>
          <a:xfrm>
            <a:off x="411480" y="1325880"/>
            <a:ext cx="5577840" cy="475488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600200"/>
            <a:ext cx="5029200" cy="411480"/>
          </a:xfrm>
          <a:prstGeom prst="rect">
            <a:avLst/>
          </a:prstGeom>
          <a:noFill/>
        </p:spPr>
        <p:txBody>
          <a:bodyPr wrap="square">
            <a:spAutoFit/>
          </a:bodyPr>
          <a:lstStyle/>
          <a:p>
            <a:pPr algn="l"/>
            <a:r>
              <a:rPr sz="1800" b="1">
                <a:solidFill>
                  <a:srgbClr val="0A2A6E"/>
                </a:solidFill>
                <a:latin typeface="Calibri"/>
              </a:rPr>
              <a:t>Our Story Today</a:t>
            </a:r>
          </a:p>
        </p:txBody>
      </p:sp>
      <p:sp>
        <p:nvSpPr>
          <p:cNvPr id="16" name="TextBox 15"/>
          <p:cNvSpPr txBox="1"/>
          <p:nvPr/>
        </p:nvSpPr>
        <p:spPr>
          <a:xfrm>
            <a:off x="685800" y="2103120"/>
            <a:ext cx="5029200" cy="822960"/>
          </a:xfrm>
          <a:prstGeom prst="rect">
            <a:avLst/>
          </a:prstGeom>
          <a:noFill/>
        </p:spPr>
        <p:txBody>
          <a:bodyPr wrap="square">
            <a:spAutoFit/>
          </a:bodyPr>
          <a:lstStyle/>
          <a:p>
            <a:pPr algn="l"/>
            <a:r>
              <a:rPr sz="2500" b="1">
                <a:solidFill>
                  <a:srgbClr val="009688"/>
                </a:solidFill>
                <a:latin typeface="Georgia"/>
              </a:rPr>
              <a:t>"The Midnight Turtle Rescue"</a:t>
            </a:r>
          </a:p>
        </p:txBody>
      </p:sp>
      <p:sp>
        <p:nvSpPr>
          <p:cNvPr id="17" name="TextBox 16"/>
          <p:cNvSpPr txBox="1"/>
          <p:nvPr/>
        </p:nvSpPr>
        <p:spPr>
          <a:xfrm>
            <a:off x="685800" y="3108960"/>
            <a:ext cx="5029200" cy="1097280"/>
          </a:xfrm>
          <a:prstGeom prst="rect">
            <a:avLst/>
          </a:prstGeom>
          <a:noFill/>
        </p:spPr>
        <p:txBody>
          <a:bodyPr wrap="square">
            <a:spAutoFit/>
          </a:bodyPr>
          <a:lstStyle/>
          <a:p>
            <a:pPr algn="ctr"/>
            <a:r>
              <a:rPr sz="4200" b="0">
                <a:solidFill>
                  <a:srgbClr val="1F2937"/>
                </a:solidFill>
                <a:latin typeface="Calibri"/>
              </a:rPr>
              <a:t>🐢  🌊  🔦  🌙</a:t>
            </a:r>
          </a:p>
        </p:txBody>
      </p:sp>
      <p:sp>
        <p:nvSpPr>
          <p:cNvPr id="18" name="TextBox 17"/>
          <p:cNvSpPr txBox="1"/>
          <p:nvPr/>
        </p:nvSpPr>
        <p:spPr>
          <a:xfrm>
            <a:off x="685800" y="4572000"/>
            <a:ext cx="5029200" cy="1097280"/>
          </a:xfrm>
          <a:prstGeom prst="rect">
            <a:avLst/>
          </a:prstGeom>
          <a:noFill/>
        </p:spPr>
        <p:txBody>
          <a:bodyPr wrap="square">
            <a:spAutoFit/>
          </a:bodyPr>
          <a:lstStyle/>
          <a:p>
            <a:pPr algn="l"/>
            <a:r>
              <a:rPr sz="1500" b="0">
                <a:solidFill>
                  <a:srgbClr val="1F2937"/>
                </a:solidFill>
                <a:latin typeface="Calibri"/>
              </a:rPr>
              <a:t>A true-to-life adventure about a girl,
a dark beach, and 92 baby turtles.</a:t>
            </a:r>
          </a:p>
        </p:txBody>
      </p:sp>
      <p:sp>
        <p:nvSpPr>
          <p:cNvPr id="19" name="Rounded Rectangle 18"/>
          <p:cNvSpPr/>
          <p:nvPr/>
        </p:nvSpPr>
        <p:spPr>
          <a:xfrm>
            <a:off x="6217920" y="1325880"/>
            <a:ext cx="553212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1600200"/>
            <a:ext cx="4983480" cy="411480"/>
          </a:xfrm>
          <a:prstGeom prst="rect">
            <a:avLst/>
          </a:prstGeom>
          <a:noFill/>
        </p:spPr>
        <p:txBody>
          <a:bodyPr wrap="square">
            <a:spAutoFit/>
          </a:bodyPr>
          <a:lstStyle/>
          <a:p>
            <a:pPr algn="l"/>
            <a:r>
              <a:rPr sz="1800" b="1">
                <a:solidFill>
                  <a:srgbClr val="FF6F61"/>
                </a:solidFill>
                <a:latin typeface="Calibri"/>
              </a:rPr>
              <a:t>🤔 Before we read — guess!</a:t>
            </a:r>
          </a:p>
        </p:txBody>
      </p:sp>
      <p:sp>
        <p:nvSpPr>
          <p:cNvPr id="21" name="TextBox 20"/>
          <p:cNvSpPr txBox="1"/>
          <p:nvPr/>
        </p:nvSpPr>
        <p:spPr>
          <a:xfrm>
            <a:off x="6492240" y="2148840"/>
            <a:ext cx="4983480" cy="3291840"/>
          </a:xfrm>
          <a:prstGeom prst="rect">
            <a:avLst/>
          </a:prstGeom>
          <a:noFill/>
        </p:spPr>
        <p:txBody>
          <a:bodyPr wrap="square">
            <a:spAutoFit/>
          </a:bodyPr>
          <a:lstStyle/>
          <a:p>
            <a:pPr>
              <a:spcAft>
                <a:spcPts val="1800"/>
              </a:spcAft>
            </a:pPr>
            <a:r>
              <a:rPr sz="1600" b="0">
                <a:solidFill>
                  <a:srgbClr val="1F2937"/>
                </a:solidFill>
                <a:latin typeface="Calibri"/>
              </a:rPr>
              <a:t>•  Who do you think Maya is?</a:t>
            </a:r>
          </a:p>
          <a:p>
            <a:pPr>
              <a:spcAft>
                <a:spcPts val="1800"/>
              </a:spcAft>
            </a:pPr>
            <a:r>
              <a:rPr sz="1600" b="0">
                <a:solidFill>
                  <a:srgbClr val="1F2937"/>
                </a:solidFill>
                <a:latin typeface="Calibri"/>
              </a:rPr>
              <a:t>•  Why would turtles need rescuing?</a:t>
            </a:r>
          </a:p>
          <a:p>
            <a:pPr>
              <a:spcAft>
                <a:spcPts val="1800"/>
              </a:spcAft>
            </a:pPr>
            <a:r>
              <a:rPr sz="1600" b="0">
                <a:solidFill>
                  <a:srgbClr val="1F2937"/>
                </a:solidFill>
                <a:latin typeface="Calibri"/>
              </a:rPr>
              <a:t>•  Why is it happening at MIDNIGHT?</a:t>
            </a:r>
          </a:p>
          <a:p>
            <a:pPr>
              <a:spcAft>
                <a:spcPts val="1800"/>
              </a:spcAft>
            </a:pPr>
            <a:r>
              <a:rPr sz="1600" b="0">
                <a:solidFill>
                  <a:srgbClr val="1F2937"/>
                </a:solidFill>
                <a:latin typeface="Calibri"/>
              </a:rPr>
              <a:t>•  Do you think the story ends happy or sad?</a:t>
            </a:r>
          </a:p>
        </p:txBody>
      </p:sp>
      <p:sp>
        <p:nvSpPr>
          <p:cNvPr id="22" name="TextBox 21"/>
          <p:cNvSpPr txBox="1"/>
          <p:nvPr/>
        </p:nvSpPr>
        <p:spPr>
          <a:xfrm>
            <a:off x="6492240" y="5440680"/>
            <a:ext cx="4983480" cy="457200"/>
          </a:xfrm>
          <a:prstGeom prst="rect">
            <a:avLst/>
          </a:prstGeom>
          <a:noFill/>
        </p:spPr>
        <p:txBody>
          <a:bodyPr wrap="square">
            <a:spAutoFit/>
          </a:bodyPr>
          <a:lstStyle/>
          <a:p>
            <a:pPr algn="l"/>
            <a:r>
              <a:rPr sz="1400" b="1">
                <a:solidFill>
                  <a:srgbClr val="009688"/>
                </a:solidFill>
                <a:latin typeface="Calibri"/>
              </a:rPr>
              <a:t>There are no wrong guesses here! 💛</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10–20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Part 1 — A Night on the Beach</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2965547"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Reading Part 1  |  10–20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9 / 37</a:t>
            </a:r>
          </a:p>
        </p:txBody>
      </p:sp>
      <p:sp>
        <p:nvSpPr>
          <p:cNvPr id="14" name="Rounded Rectangle 13"/>
          <p:cNvSpPr/>
          <p:nvPr/>
        </p:nvSpPr>
        <p:spPr>
          <a:xfrm>
            <a:off x="411480" y="1325880"/>
            <a:ext cx="777240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554480"/>
            <a:ext cx="7223760" cy="4297680"/>
          </a:xfrm>
          <a:prstGeom prst="rect">
            <a:avLst/>
          </a:prstGeom>
          <a:noFill/>
        </p:spPr>
        <p:txBody>
          <a:bodyPr wrap="square">
            <a:spAutoFit/>
          </a:bodyPr>
          <a:lstStyle/>
          <a:p>
            <a:pPr algn="l"/>
            <a:r>
              <a:rPr sz="1500" b="0">
                <a:solidFill>
                  <a:srgbClr val="1F2937"/>
                </a:solidFill>
                <a:latin typeface="Calibri"/>
              </a:rPr>
              <a:t>Maya lived in a small beach town in Florida. Every August, something amazing happened there. Baby sea turtles hatched in the warm sand and raced toward the ocean.
One quiet night, Maya and her older brother Diego walked along the shore with a red flashlight. Volunteers always used red light, because bright white light confuses baby turtles and sends them the wrong way.
"Look!" Diego whispered. The sand above a marked nest was moving. Tiny flippers pushed up through the surface.</a:t>
            </a:r>
          </a:p>
        </p:txBody>
      </p:sp>
      <p:sp>
        <p:nvSpPr>
          <p:cNvPr id="16" name="Rounded Rectangle 15"/>
          <p:cNvSpPr/>
          <p:nvPr/>
        </p:nvSpPr>
        <p:spPr>
          <a:xfrm>
            <a:off x="8412480" y="1325880"/>
            <a:ext cx="3337560" cy="214884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13648" y="1508760"/>
            <a:ext cx="2926080" cy="365760"/>
          </a:xfrm>
          <a:prstGeom prst="rect">
            <a:avLst/>
          </a:prstGeom>
          <a:noFill/>
        </p:spPr>
        <p:txBody>
          <a:bodyPr wrap="square">
            <a:spAutoFit/>
          </a:bodyPr>
          <a:lstStyle/>
          <a:p>
            <a:pPr algn="l"/>
            <a:r>
              <a:rPr sz="1400" b="1">
                <a:solidFill>
                  <a:srgbClr val="0A2A6E"/>
                </a:solidFill>
                <a:latin typeface="Calibri"/>
              </a:rPr>
              <a:t>How we read this</a:t>
            </a:r>
          </a:p>
        </p:txBody>
      </p:sp>
      <p:sp>
        <p:nvSpPr>
          <p:cNvPr id="18" name="TextBox 17"/>
          <p:cNvSpPr txBox="1"/>
          <p:nvPr/>
        </p:nvSpPr>
        <p:spPr>
          <a:xfrm>
            <a:off x="8613648" y="1938528"/>
            <a:ext cx="2926080" cy="1371600"/>
          </a:xfrm>
          <a:prstGeom prst="rect">
            <a:avLst/>
          </a:prstGeom>
          <a:noFill/>
        </p:spPr>
        <p:txBody>
          <a:bodyPr wrap="square">
            <a:spAutoFit/>
          </a:bodyPr>
          <a:lstStyle/>
          <a:p>
            <a:pPr algn="l"/>
            <a:r>
              <a:rPr sz="1400" b="1">
                <a:solidFill>
                  <a:srgbClr val="29B6F6"/>
                </a:solidFill>
                <a:latin typeface="Calibri"/>
              </a:rPr>
              <a:t>👩‍🏫 TEACHER reads first.
You follow along with
your finger.</a:t>
            </a:r>
          </a:p>
        </p:txBody>
      </p:sp>
      <p:sp>
        <p:nvSpPr>
          <p:cNvPr id="19" name="Rounded Rectangle 18"/>
          <p:cNvSpPr/>
          <p:nvPr/>
        </p:nvSpPr>
        <p:spPr>
          <a:xfrm>
            <a:off x="8412480" y="3611880"/>
            <a:ext cx="3337560" cy="24688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3794760"/>
            <a:ext cx="2926080" cy="365760"/>
          </a:xfrm>
          <a:prstGeom prst="rect">
            <a:avLst/>
          </a:prstGeom>
          <a:noFill/>
        </p:spPr>
        <p:txBody>
          <a:bodyPr wrap="square">
            <a:spAutoFit/>
          </a:bodyPr>
          <a:lstStyle/>
          <a:p>
            <a:pPr algn="l"/>
            <a:r>
              <a:rPr sz="1400" b="1">
                <a:solidFill>
                  <a:srgbClr val="0A2A6E"/>
                </a:solidFill>
                <a:latin typeface="Calibri"/>
              </a:rPr>
              <a:t>💡 Word help</a:t>
            </a:r>
          </a:p>
        </p:txBody>
      </p:sp>
      <p:sp>
        <p:nvSpPr>
          <p:cNvPr id="21" name="TextBox 20"/>
          <p:cNvSpPr txBox="1"/>
          <p:nvPr/>
        </p:nvSpPr>
        <p:spPr>
          <a:xfrm>
            <a:off x="8613648" y="4224528"/>
            <a:ext cx="2926080" cy="1737360"/>
          </a:xfrm>
          <a:prstGeom prst="rect">
            <a:avLst/>
          </a:prstGeom>
          <a:noFill/>
        </p:spPr>
        <p:txBody>
          <a:bodyPr wrap="square">
            <a:spAutoFit/>
          </a:bodyPr>
          <a:lstStyle/>
          <a:p>
            <a:pPr algn="l"/>
            <a:r>
              <a:rPr sz="1300" b="0">
                <a:solidFill>
                  <a:srgbClr val="1F2937"/>
                </a:solidFill>
                <a:latin typeface="Calibri"/>
              </a:rPr>
              <a:t>hatched = came out of an egg
confuses = mixes up
marked = has a sign on it</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10–20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Part 2 — A Problem in the Sand</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3295052"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Reading Part 2  |  10–20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10 / 37</a:t>
            </a:r>
          </a:p>
        </p:txBody>
      </p:sp>
      <p:sp>
        <p:nvSpPr>
          <p:cNvPr id="14" name="Rounded Rectangle 13"/>
          <p:cNvSpPr/>
          <p:nvPr/>
        </p:nvSpPr>
        <p:spPr>
          <a:xfrm>
            <a:off x="411480" y="1325880"/>
            <a:ext cx="777240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554480"/>
            <a:ext cx="7223760" cy="4297680"/>
          </a:xfrm>
          <a:prstGeom prst="rect">
            <a:avLst/>
          </a:prstGeom>
          <a:noFill/>
        </p:spPr>
        <p:txBody>
          <a:bodyPr wrap="square">
            <a:spAutoFit/>
          </a:bodyPr>
          <a:lstStyle/>
          <a:p>
            <a:pPr algn="l"/>
            <a:r>
              <a:rPr sz="1500" b="0">
                <a:solidFill>
                  <a:srgbClr val="1F2937"/>
                </a:solidFill>
                <a:latin typeface="Calibri"/>
              </a:rPr>
              <a:t>Suddenly, Maya noticed a problem. A deep tire track crossed the beach like a canyon. Three hatchlings had tumbled in and could not climb out. Their flippers kept slipping on the loose sand.
Maya remembered her training. Volunteers were never allowed to pick up the turtles and carry them to the water. So instead, she knelt down and gently smoothed the sand into a small ramp.
"Come on, little ones," she whispered. "You can do it."
One by one, the hatchlings scrambled up the ramp and continued their journey.</a:t>
            </a:r>
          </a:p>
        </p:txBody>
      </p:sp>
      <p:sp>
        <p:nvSpPr>
          <p:cNvPr id="16" name="Rounded Rectangle 15"/>
          <p:cNvSpPr/>
          <p:nvPr/>
        </p:nvSpPr>
        <p:spPr>
          <a:xfrm>
            <a:off x="8412480" y="1325880"/>
            <a:ext cx="3337560" cy="214884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13648" y="1508760"/>
            <a:ext cx="2926080" cy="365760"/>
          </a:xfrm>
          <a:prstGeom prst="rect">
            <a:avLst/>
          </a:prstGeom>
          <a:noFill/>
        </p:spPr>
        <p:txBody>
          <a:bodyPr wrap="square">
            <a:spAutoFit/>
          </a:bodyPr>
          <a:lstStyle/>
          <a:p>
            <a:pPr algn="l"/>
            <a:r>
              <a:rPr sz="1400" b="1">
                <a:solidFill>
                  <a:srgbClr val="0A2A6E"/>
                </a:solidFill>
                <a:latin typeface="Calibri"/>
              </a:rPr>
              <a:t>How we read this</a:t>
            </a:r>
          </a:p>
        </p:txBody>
      </p:sp>
      <p:sp>
        <p:nvSpPr>
          <p:cNvPr id="18" name="TextBox 17"/>
          <p:cNvSpPr txBox="1"/>
          <p:nvPr/>
        </p:nvSpPr>
        <p:spPr>
          <a:xfrm>
            <a:off x="8613648" y="1938528"/>
            <a:ext cx="2926080" cy="1371600"/>
          </a:xfrm>
          <a:prstGeom prst="rect">
            <a:avLst/>
          </a:prstGeom>
          <a:noFill/>
        </p:spPr>
        <p:txBody>
          <a:bodyPr wrap="square">
            <a:spAutoFit/>
          </a:bodyPr>
          <a:lstStyle/>
          <a:p>
            <a:pPr algn="l"/>
            <a:r>
              <a:rPr sz="1400" b="1">
                <a:solidFill>
                  <a:srgbClr val="009688"/>
                </a:solidFill>
                <a:latin typeface="Calibri"/>
              </a:rPr>
              <a:t>🤝 WE read together.
Same speed, same time —
like a team!</a:t>
            </a:r>
          </a:p>
        </p:txBody>
      </p:sp>
      <p:sp>
        <p:nvSpPr>
          <p:cNvPr id="19" name="Rounded Rectangle 18"/>
          <p:cNvSpPr/>
          <p:nvPr/>
        </p:nvSpPr>
        <p:spPr>
          <a:xfrm>
            <a:off x="8412480" y="3611880"/>
            <a:ext cx="3337560" cy="24688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3794760"/>
            <a:ext cx="2926080" cy="365760"/>
          </a:xfrm>
          <a:prstGeom prst="rect">
            <a:avLst/>
          </a:prstGeom>
          <a:noFill/>
        </p:spPr>
        <p:txBody>
          <a:bodyPr wrap="square">
            <a:spAutoFit/>
          </a:bodyPr>
          <a:lstStyle/>
          <a:p>
            <a:pPr algn="l"/>
            <a:r>
              <a:rPr sz="1400" b="1">
                <a:solidFill>
                  <a:srgbClr val="0A2A6E"/>
                </a:solidFill>
                <a:latin typeface="Calibri"/>
              </a:rPr>
              <a:t>💡 Word help</a:t>
            </a:r>
          </a:p>
        </p:txBody>
      </p:sp>
      <p:sp>
        <p:nvSpPr>
          <p:cNvPr id="21" name="TextBox 20"/>
          <p:cNvSpPr txBox="1"/>
          <p:nvPr/>
        </p:nvSpPr>
        <p:spPr>
          <a:xfrm>
            <a:off x="8613648" y="4224528"/>
            <a:ext cx="2926080" cy="1737360"/>
          </a:xfrm>
          <a:prstGeom prst="rect">
            <a:avLst/>
          </a:prstGeom>
          <a:noFill/>
        </p:spPr>
        <p:txBody>
          <a:bodyPr wrap="square">
            <a:spAutoFit/>
          </a:bodyPr>
          <a:lstStyle/>
          <a:p>
            <a:pPr algn="l"/>
            <a:r>
              <a:rPr sz="1300" b="0">
                <a:solidFill>
                  <a:srgbClr val="1F2937"/>
                </a:solidFill>
                <a:latin typeface="Calibri"/>
              </a:rPr>
              <a:t>canyon = deep, narrow valley
scrambled = climbed fast
gently = softly, carefully</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10–20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Part 3 — Ninety-Two Chances</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3624557"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Reading Part 3  |  10–20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11 / 37</a:t>
            </a:r>
          </a:p>
        </p:txBody>
      </p:sp>
      <p:sp>
        <p:nvSpPr>
          <p:cNvPr id="14" name="Rounded Rectangle 13"/>
          <p:cNvSpPr/>
          <p:nvPr/>
        </p:nvSpPr>
        <p:spPr>
          <a:xfrm>
            <a:off x="411480" y="1325880"/>
            <a:ext cx="777240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554480"/>
            <a:ext cx="7223760" cy="4297680"/>
          </a:xfrm>
          <a:prstGeom prst="rect">
            <a:avLst/>
          </a:prstGeom>
          <a:noFill/>
        </p:spPr>
        <p:txBody>
          <a:bodyPr wrap="square">
            <a:spAutoFit/>
          </a:bodyPr>
          <a:lstStyle/>
          <a:p>
            <a:pPr algn="l"/>
            <a:r>
              <a:rPr sz="1500" b="0">
                <a:solidFill>
                  <a:srgbClr val="1F2937"/>
                </a:solidFill>
                <a:latin typeface="Calibri"/>
              </a:rPr>
              <a:t>By midnight, ninety-two turtles had reached the waves. Maya was exhausted, but she could not stop smiling.
Dr. Reyes, the biologist, wrote the number in her notebook. "Only about one in a thousand will survive to become an adult," she said. "But tonight, you gave these ninety-two a real chance."
Maya looked out at the dark water. Somewhere out there, a tiny turtle was swimming toward a life she would never see.
"Next August," Maya said, "I'm coming back."
Diego grinned. "I knew you'd say that."</a:t>
            </a:r>
          </a:p>
        </p:txBody>
      </p:sp>
      <p:sp>
        <p:nvSpPr>
          <p:cNvPr id="16" name="Rounded Rectangle 15"/>
          <p:cNvSpPr/>
          <p:nvPr/>
        </p:nvSpPr>
        <p:spPr>
          <a:xfrm>
            <a:off x="8412480" y="1325880"/>
            <a:ext cx="3337560" cy="214884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13648" y="1508760"/>
            <a:ext cx="2926080" cy="365760"/>
          </a:xfrm>
          <a:prstGeom prst="rect">
            <a:avLst/>
          </a:prstGeom>
          <a:noFill/>
        </p:spPr>
        <p:txBody>
          <a:bodyPr wrap="square">
            <a:spAutoFit/>
          </a:bodyPr>
          <a:lstStyle/>
          <a:p>
            <a:pPr algn="l"/>
            <a:r>
              <a:rPr sz="1400" b="1">
                <a:solidFill>
                  <a:srgbClr val="0A2A6E"/>
                </a:solidFill>
                <a:latin typeface="Calibri"/>
              </a:rPr>
              <a:t>How we read this</a:t>
            </a:r>
          </a:p>
        </p:txBody>
      </p:sp>
      <p:sp>
        <p:nvSpPr>
          <p:cNvPr id="18" name="TextBox 17"/>
          <p:cNvSpPr txBox="1"/>
          <p:nvPr/>
        </p:nvSpPr>
        <p:spPr>
          <a:xfrm>
            <a:off x="8613648" y="1938528"/>
            <a:ext cx="2926080" cy="1371600"/>
          </a:xfrm>
          <a:prstGeom prst="rect">
            <a:avLst/>
          </a:prstGeom>
          <a:noFill/>
        </p:spPr>
        <p:txBody>
          <a:bodyPr wrap="square">
            <a:spAutoFit/>
          </a:bodyPr>
          <a:lstStyle/>
          <a:p>
            <a:pPr algn="l"/>
            <a:r>
              <a:rPr sz="1400" b="1">
                <a:solidFill>
                  <a:srgbClr val="FF6F61"/>
                </a:solidFill>
                <a:latin typeface="Calibri"/>
              </a:rPr>
              <a:t>🌟 YOU read this part
by yourself.
I'm right here if you
need a word.</a:t>
            </a:r>
          </a:p>
        </p:txBody>
      </p:sp>
      <p:sp>
        <p:nvSpPr>
          <p:cNvPr id="19" name="Rounded Rectangle 18"/>
          <p:cNvSpPr/>
          <p:nvPr/>
        </p:nvSpPr>
        <p:spPr>
          <a:xfrm>
            <a:off x="8412480" y="3611880"/>
            <a:ext cx="3337560" cy="24688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3794760"/>
            <a:ext cx="2926080" cy="365760"/>
          </a:xfrm>
          <a:prstGeom prst="rect">
            <a:avLst/>
          </a:prstGeom>
          <a:noFill/>
        </p:spPr>
        <p:txBody>
          <a:bodyPr wrap="square">
            <a:spAutoFit/>
          </a:bodyPr>
          <a:lstStyle/>
          <a:p>
            <a:pPr algn="l"/>
            <a:r>
              <a:rPr sz="1400" b="1">
                <a:solidFill>
                  <a:srgbClr val="0A2A6E"/>
                </a:solidFill>
                <a:latin typeface="Calibri"/>
              </a:rPr>
              <a:t>💡 Word help</a:t>
            </a:r>
          </a:p>
        </p:txBody>
      </p:sp>
      <p:sp>
        <p:nvSpPr>
          <p:cNvPr id="21" name="TextBox 20"/>
          <p:cNvSpPr txBox="1"/>
          <p:nvPr/>
        </p:nvSpPr>
        <p:spPr>
          <a:xfrm>
            <a:off x="8613648" y="4224528"/>
            <a:ext cx="2926080" cy="1737360"/>
          </a:xfrm>
          <a:prstGeom prst="rect">
            <a:avLst/>
          </a:prstGeom>
          <a:noFill/>
        </p:spPr>
        <p:txBody>
          <a:bodyPr wrap="square">
            <a:spAutoFit/>
          </a:bodyPr>
          <a:lstStyle/>
          <a:p>
            <a:pPr algn="l"/>
            <a:r>
              <a:rPr sz="1300" b="0">
                <a:solidFill>
                  <a:srgbClr val="1F2937"/>
                </a:solidFill>
                <a:latin typeface="Calibri"/>
              </a:rPr>
              <a:t>exhausted = very tired
biologist = living-things
scientist
survive = stay alive</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CHALLENGE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20–25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Reading Challenge: Beat the Clock!</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3954063"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Reading game  |  20–25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12 / 37</a:t>
            </a:r>
          </a:p>
        </p:txBody>
      </p:sp>
      <p:sp>
        <p:nvSpPr>
          <p:cNvPr id="14" name="Rounded Rectangle 13"/>
          <p:cNvSpPr/>
          <p:nvPr/>
        </p:nvSpPr>
        <p:spPr>
          <a:xfrm>
            <a:off x="411480" y="1325880"/>
            <a:ext cx="694944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554480"/>
            <a:ext cx="6400800" cy="365760"/>
          </a:xfrm>
          <a:prstGeom prst="rect">
            <a:avLst/>
          </a:prstGeom>
          <a:noFill/>
        </p:spPr>
        <p:txBody>
          <a:bodyPr wrap="square">
            <a:spAutoFit/>
          </a:bodyPr>
          <a:lstStyle/>
          <a:p>
            <a:pPr algn="l"/>
            <a:r>
              <a:rPr sz="1600" b="1">
                <a:solidFill>
                  <a:srgbClr val="0A2A6E"/>
                </a:solidFill>
                <a:latin typeface="Calibri"/>
              </a:rPr>
              <a:t>Read this out loud — smoothly!</a:t>
            </a:r>
          </a:p>
        </p:txBody>
      </p:sp>
      <p:sp>
        <p:nvSpPr>
          <p:cNvPr id="16" name="TextBox 15"/>
          <p:cNvSpPr txBox="1"/>
          <p:nvPr/>
        </p:nvSpPr>
        <p:spPr>
          <a:xfrm>
            <a:off x="685800" y="2057400"/>
            <a:ext cx="6400800" cy="1920240"/>
          </a:xfrm>
          <a:prstGeom prst="rect">
            <a:avLst/>
          </a:prstGeom>
          <a:noFill/>
        </p:spPr>
        <p:txBody>
          <a:bodyPr wrap="square">
            <a:spAutoFit/>
          </a:bodyPr>
          <a:lstStyle/>
          <a:p>
            <a:pPr algn="l"/>
            <a:r>
              <a:rPr sz="1900" b="1">
                <a:solidFill>
                  <a:srgbClr val="009688"/>
                </a:solidFill>
                <a:latin typeface="Georgia"/>
              </a:rPr>
              <a:t>"By midnight, ninety-two turtles had reached the waves.
Maya was exhausted, but she could not stop smiling."</a:t>
            </a:r>
          </a:p>
        </p:txBody>
      </p:sp>
      <p:sp>
        <p:nvSpPr>
          <p:cNvPr id="17" name="Rounded Rectangle 16"/>
          <p:cNvSpPr/>
          <p:nvPr/>
        </p:nvSpPr>
        <p:spPr>
          <a:xfrm>
            <a:off x="7635240" y="1325880"/>
            <a:ext cx="4114800" cy="283464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554480"/>
            <a:ext cx="3657600" cy="365760"/>
          </a:xfrm>
          <a:prstGeom prst="rect">
            <a:avLst/>
          </a:prstGeom>
          <a:noFill/>
        </p:spPr>
        <p:txBody>
          <a:bodyPr wrap="square">
            <a:spAutoFit/>
          </a:bodyPr>
          <a:lstStyle/>
          <a:p>
            <a:pPr algn="l"/>
            <a:r>
              <a:rPr sz="1500" b="1">
                <a:solidFill>
                  <a:srgbClr val="0A2A6E"/>
                </a:solidFill>
                <a:latin typeface="Calibri"/>
              </a:rPr>
              <a:t>⏱️ Your score</a:t>
            </a:r>
          </a:p>
        </p:txBody>
      </p:sp>
      <p:sp>
        <p:nvSpPr>
          <p:cNvPr id="19" name="TextBox 18"/>
          <p:cNvSpPr txBox="1"/>
          <p:nvPr/>
        </p:nvSpPr>
        <p:spPr>
          <a:xfrm>
            <a:off x="7863840" y="2011680"/>
            <a:ext cx="3657600" cy="2011680"/>
          </a:xfrm>
          <a:prstGeom prst="rect">
            <a:avLst/>
          </a:prstGeom>
          <a:noFill/>
        </p:spPr>
        <p:txBody>
          <a:bodyPr wrap="square">
            <a:spAutoFit/>
          </a:bodyPr>
          <a:lstStyle/>
          <a:p>
            <a:pPr>
              <a:spcAft>
                <a:spcPts val="1400"/>
              </a:spcAft>
            </a:pPr>
            <a:r>
              <a:rPr sz="1500" b="0">
                <a:solidFill>
                  <a:srgbClr val="1F2937"/>
                </a:solidFill>
                <a:latin typeface="Calibri"/>
              </a:rPr>
              <a:t>•  Try 1:  ______ seconds</a:t>
            </a:r>
          </a:p>
          <a:p>
            <a:pPr>
              <a:spcAft>
                <a:spcPts val="1400"/>
              </a:spcAft>
            </a:pPr>
            <a:r>
              <a:rPr sz="1500" b="0">
                <a:solidFill>
                  <a:srgbClr val="1F2937"/>
                </a:solidFill>
                <a:latin typeface="Calibri"/>
              </a:rPr>
              <a:t>•  Try 2:  ______ seconds</a:t>
            </a:r>
          </a:p>
          <a:p>
            <a:pPr>
              <a:spcAft>
                <a:spcPts val="1400"/>
              </a:spcAft>
            </a:pPr>
            <a:r>
              <a:rPr sz="1500" b="0">
                <a:solidFill>
                  <a:srgbClr val="1F2937"/>
                </a:solidFill>
                <a:latin typeface="Calibri"/>
              </a:rPr>
              <a:t>•  Beat your own record! 🔥</a:t>
            </a:r>
          </a:p>
        </p:txBody>
      </p:sp>
      <p:sp>
        <p:nvSpPr>
          <p:cNvPr id="20" name="Rounded Rectangle 19"/>
          <p:cNvSpPr/>
          <p:nvPr/>
        </p:nvSpPr>
        <p:spPr>
          <a:xfrm>
            <a:off x="411480" y="4343400"/>
            <a:ext cx="11338560" cy="169164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53712"/>
            <a:ext cx="10789920" cy="365760"/>
          </a:xfrm>
          <a:prstGeom prst="rect">
            <a:avLst/>
          </a:prstGeom>
          <a:noFill/>
        </p:spPr>
        <p:txBody>
          <a:bodyPr wrap="square">
            <a:spAutoFit/>
          </a:bodyPr>
          <a:lstStyle/>
          <a:p>
            <a:pPr algn="l"/>
            <a:r>
              <a:rPr sz="1500" b="1">
                <a:solidFill>
                  <a:srgbClr val="0A2A6E"/>
                </a:solidFill>
                <a:latin typeface="Calibri"/>
              </a:rPr>
              <a:t>🎯 Fluency Goals — check them off:</a:t>
            </a:r>
          </a:p>
        </p:txBody>
      </p:sp>
      <p:sp>
        <p:nvSpPr>
          <p:cNvPr id="22" name="Rounded Rectangle 21"/>
          <p:cNvSpPr/>
          <p:nvPr/>
        </p:nvSpPr>
        <p:spPr>
          <a:xfrm>
            <a:off x="685800" y="5029200"/>
            <a:ext cx="25603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193792"/>
            <a:ext cx="2560320" cy="365760"/>
          </a:xfrm>
          <a:prstGeom prst="rect">
            <a:avLst/>
          </a:prstGeom>
          <a:noFill/>
        </p:spPr>
        <p:txBody>
          <a:bodyPr wrap="square">
            <a:spAutoFit/>
          </a:bodyPr>
          <a:lstStyle/>
          <a:p>
            <a:pPr algn="ctr"/>
            <a:r>
              <a:rPr sz="1300" b="1">
                <a:solidFill>
                  <a:srgbClr val="1F2937"/>
                </a:solidFill>
                <a:latin typeface="Calibri"/>
              </a:rPr>
              <a:t>👀 Look up once</a:t>
            </a:r>
          </a:p>
        </p:txBody>
      </p:sp>
      <p:sp>
        <p:nvSpPr>
          <p:cNvPr id="24" name="Rounded Rectangle 23"/>
          <p:cNvSpPr/>
          <p:nvPr/>
        </p:nvSpPr>
        <p:spPr>
          <a:xfrm>
            <a:off x="3429000" y="5029200"/>
            <a:ext cx="25603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9000" y="5193792"/>
            <a:ext cx="2560320" cy="365760"/>
          </a:xfrm>
          <a:prstGeom prst="rect">
            <a:avLst/>
          </a:prstGeom>
          <a:noFill/>
        </p:spPr>
        <p:txBody>
          <a:bodyPr wrap="square">
            <a:spAutoFit/>
          </a:bodyPr>
          <a:lstStyle/>
          <a:p>
            <a:pPr algn="ctr"/>
            <a:r>
              <a:rPr sz="1300" b="1">
                <a:solidFill>
                  <a:srgbClr val="1F2937"/>
                </a:solidFill>
                <a:latin typeface="Calibri"/>
              </a:rPr>
              <a:t>🛑 Stop at periods</a:t>
            </a:r>
          </a:p>
        </p:txBody>
      </p:sp>
      <p:sp>
        <p:nvSpPr>
          <p:cNvPr id="26" name="Rounded Rectangle 25"/>
          <p:cNvSpPr/>
          <p:nvPr/>
        </p:nvSpPr>
        <p:spPr>
          <a:xfrm>
            <a:off x="6172200" y="5029200"/>
            <a:ext cx="25603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0" y="5193792"/>
            <a:ext cx="2560320" cy="365760"/>
          </a:xfrm>
          <a:prstGeom prst="rect">
            <a:avLst/>
          </a:prstGeom>
          <a:noFill/>
        </p:spPr>
        <p:txBody>
          <a:bodyPr wrap="square">
            <a:spAutoFit/>
          </a:bodyPr>
          <a:lstStyle/>
          <a:p>
            <a:pPr algn="ctr"/>
            <a:r>
              <a:rPr sz="1300" b="1">
                <a:solidFill>
                  <a:srgbClr val="1F2937"/>
                </a:solidFill>
                <a:latin typeface="Calibri"/>
              </a:rPr>
              <a:t>🔊 Big clear voice</a:t>
            </a:r>
          </a:p>
        </p:txBody>
      </p:sp>
      <p:sp>
        <p:nvSpPr>
          <p:cNvPr id="28" name="Rounded Rectangle 27"/>
          <p:cNvSpPr/>
          <p:nvPr/>
        </p:nvSpPr>
        <p:spPr>
          <a:xfrm>
            <a:off x="8915400" y="5029200"/>
            <a:ext cx="256032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5400" y="5193792"/>
            <a:ext cx="2560320" cy="365760"/>
          </a:xfrm>
          <a:prstGeom prst="rect">
            <a:avLst/>
          </a:prstGeom>
          <a:noFill/>
        </p:spPr>
        <p:txBody>
          <a:bodyPr wrap="square">
            <a:spAutoFit/>
          </a:bodyPr>
          <a:lstStyle/>
          <a:p>
            <a:pPr algn="ctr"/>
            <a:r>
              <a:rPr sz="1300" b="1">
                <a:solidFill>
                  <a:srgbClr val="1F2937"/>
                </a:solidFill>
                <a:latin typeface="Calibri"/>
              </a:rPr>
              <a:t>😀 Add feeling</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20–25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Story Detective — Round 1</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4283568"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Comprehension  |  20–25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13 / 37</a:t>
            </a:r>
          </a:p>
        </p:txBody>
      </p:sp>
      <p:sp>
        <p:nvSpPr>
          <p:cNvPr id="14" name="Rounded Rectangle 13"/>
          <p:cNvSpPr/>
          <p:nvPr/>
        </p:nvSpPr>
        <p:spPr>
          <a:xfrm>
            <a:off x="411480" y="132588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453896"/>
            <a:ext cx="1371600" cy="292608"/>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472184"/>
            <a:ext cx="1371600" cy="274320"/>
          </a:xfrm>
          <a:prstGeom prst="rect">
            <a:avLst/>
          </a:prstGeom>
          <a:noFill/>
        </p:spPr>
        <p:txBody>
          <a:bodyPr wrap="square">
            <a:spAutoFit/>
          </a:bodyPr>
          <a:lstStyle/>
          <a:p>
            <a:pPr algn="ctr"/>
            <a:r>
              <a:rPr sz="1000" b="1">
                <a:solidFill>
                  <a:srgbClr val="FFFFFF"/>
                </a:solidFill>
                <a:latin typeface="Calibri"/>
              </a:rPr>
              <a:t>MULTIPLE CHOICE</a:t>
            </a:r>
          </a:p>
        </p:txBody>
      </p:sp>
      <p:sp>
        <p:nvSpPr>
          <p:cNvPr id="17" name="TextBox 16"/>
          <p:cNvSpPr txBox="1"/>
          <p:nvPr/>
        </p:nvSpPr>
        <p:spPr>
          <a:xfrm>
            <a:off x="548640" y="1856232"/>
            <a:ext cx="5303520" cy="1371600"/>
          </a:xfrm>
          <a:prstGeom prst="rect">
            <a:avLst/>
          </a:prstGeom>
          <a:noFill/>
        </p:spPr>
        <p:txBody>
          <a:bodyPr wrap="square">
            <a:spAutoFit/>
          </a:bodyPr>
          <a:lstStyle/>
          <a:p>
            <a:pPr algn="l"/>
            <a:r>
              <a:rPr sz="1400" b="0">
                <a:solidFill>
                  <a:srgbClr val="1F2937"/>
                </a:solidFill>
                <a:latin typeface="Calibri"/>
              </a:rPr>
              <a:t>Why do the volunteers use a RED flashlight?
a)  Red is prettier at night
b)  White light confuses baby turtles
c)  Red flashlights are cheaper</a:t>
            </a:r>
          </a:p>
        </p:txBody>
      </p:sp>
      <p:sp>
        <p:nvSpPr>
          <p:cNvPr id="18" name="TextBox 17"/>
          <p:cNvSpPr txBox="1"/>
          <p:nvPr/>
        </p:nvSpPr>
        <p:spPr>
          <a:xfrm>
            <a:off x="548640" y="3136392"/>
            <a:ext cx="5303520" cy="292608"/>
          </a:xfrm>
          <a:prstGeom prst="rect">
            <a:avLst/>
          </a:prstGeom>
          <a:noFill/>
        </p:spPr>
        <p:txBody>
          <a:bodyPr wrap="square">
            <a:spAutoFit/>
          </a:bodyPr>
          <a:lstStyle/>
          <a:p>
            <a:pPr algn="l"/>
            <a:r>
              <a:rPr sz="1100" b="1">
                <a:solidFill>
                  <a:srgbClr val="009688"/>
                </a:solidFill>
                <a:latin typeface="Calibri"/>
              </a:rPr>
              <a:t>Point to your answer!</a:t>
            </a:r>
          </a:p>
        </p:txBody>
      </p:sp>
      <p:sp>
        <p:nvSpPr>
          <p:cNvPr id="19" name="Rounded Rectangle 18"/>
          <p:cNvSpPr/>
          <p:nvPr/>
        </p:nvSpPr>
        <p:spPr>
          <a:xfrm>
            <a:off x="6172200" y="132588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09360" y="1453896"/>
            <a:ext cx="1371600" cy="292608"/>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1472184"/>
            <a:ext cx="1371600" cy="274320"/>
          </a:xfrm>
          <a:prstGeom prst="rect">
            <a:avLst/>
          </a:prstGeom>
          <a:noFill/>
        </p:spPr>
        <p:txBody>
          <a:bodyPr wrap="square">
            <a:spAutoFit/>
          </a:bodyPr>
          <a:lstStyle/>
          <a:p>
            <a:pPr algn="ctr"/>
            <a:r>
              <a:rPr sz="1000" b="1">
                <a:solidFill>
                  <a:srgbClr val="FFFFFF"/>
                </a:solidFill>
                <a:latin typeface="Calibri"/>
              </a:rPr>
              <a:t>TRUE OR FALSE</a:t>
            </a:r>
          </a:p>
        </p:txBody>
      </p:sp>
      <p:sp>
        <p:nvSpPr>
          <p:cNvPr id="22" name="TextBox 21"/>
          <p:cNvSpPr txBox="1"/>
          <p:nvPr/>
        </p:nvSpPr>
        <p:spPr>
          <a:xfrm>
            <a:off x="6309360" y="1856232"/>
            <a:ext cx="5303520" cy="1371600"/>
          </a:xfrm>
          <a:prstGeom prst="rect">
            <a:avLst/>
          </a:prstGeom>
          <a:noFill/>
        </p:spPr>
        <p:txBody>
          <a:bodyPr wrap="square">
            <a:spAutoFit/>
          </a:bodyPr>
          <a:lstStyle/>
          <a:p>
            <a:pPr algn="l"/>
            <a:r>
              <a:rPr sz="1400" b="0">
                <a:solidFill>
                  <a:srgbClr val="1F2937"/>
                </a:solidFill>
                <a:latin typeface="Calibri"/>
              </a:rPr>
              <a:t>"Maya picked up the turtles and
carried them to the ocean."
👍 TRUE          👎 FALSE</a:t>
            </a:r>
          </a:p>
        </p:txBody>
      </p:sp>
      <p:sp>
        <p:nvSpPr>
          <p:cNvPr id="23" name="TextBox 22"/>
          <p:cNvSpPr txBox="1"/>
          <p:nvPr/>
        </p:nvSpPr>
        <p:spPr>
          <a:xfrm>
            <a:off x="6309360" y="3136392"/>
            <a:ext cx="5303520" cy="292608"/>
          </a:xfrm>
          <a:prstGeom prst="rect">
            <a:avLst/>
          </a:prstGeom>
          <a:noFill/>
        </p:spPr>
        <p:txBody>
          <a:bodyPr wrap="square">
            <a:spAutoFit/>
          </a:bodyPr>
          <a:lstStyle/>
          <a:p>
            <a:pPr algn="l"/>
            <a:r>
              <a:rPr sz="1100" b="1">
                <a:solidFill>
                  <a:srgbClr val="009688"/>
                </a:solidFill>
                <a:latin typeface="Calibri"/>
              </a:rPr>
              <a:t>Prove it — find the line in Part 2!</a:t>
            </a:r>
          </a:p>
        </p:txBody>
      </p:sp>
      <p:sp>
        <p:nvSpPr>
          <p:cNvPr id="24" name="Rounded Rectangle 23"/>
          <p:cNvSpPr/>
          <p:nvPr/>
        </p:nvSpPr>
        <p:spPr>
          <a:xfrm>
            <a:off x="411480" y="370332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3831336"/>
            <a:ext cx="1371600" cy="292608"/>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49624"/>
            <a:ext cx="1371600" cy="274320"/>
          </a:xfrm>
          <a:prstGeom prst="rect">
            <a:avLst/>
          </a:prstGeom>
          <a:noFill/>
        </p:spPr>
        <p:txBody>
          <a:bodyPr wrap="square">
            <a:spAutoFit/>
          </a:bodyPr>
          <a:lstStyle/>
          <a:p>
            <a:pPr algn="ctr"/>
            <a:r>
              <a:rPr sz="1000" b="1">
                <a:solidFill>
                  <a:srgbClr val="FFFFFF"/>
                </a:solidFill>
                <a:latin typeface="Calibri"/>
              </a:rPr>
              <a:t>FILL THE BLANK</a:t>
            </a:r>
          </a:p>
        </p:txBody>
      </p:sp>
      <p:sp>
        <p:nvSpPr>
          <p:cNvPr id="27" name="TextBox 26"/>
          <p:cNvSpPr txBox="1"/>
          <p:nvPr/>
        </p:nvSpPr>
        <p:spPr>
          <a:xfrm>
            <a:off x="548640" y="4233672"/>
            <a:ext cx="5303520" cy="1371600"/>
          </a:xfrm>
          <a:prstGeom prst="rect">
            <a:avLst/>
          </a:prstGeom>
          <a:noFill/>
        </p:spPr>
        <p:txBody>
          <a:bodyPr wrap="square">
            <a:spAutoFit/>
          </a:bodyPr>
          <a:lstStyle/>
          <a:p>
            <a:pPr algn="l"/>
            <a:r>
              <a:rPr sz="1400" b="0">
                <a:solidFill>
                  <a:srgbClr val="1F2937"/>
                </a:solidFill>
                <a:latin typeface="Calibri"/>
              </a:rPr>
              <a:t>"By midnight, ______________ turtles
had reached the waves."
Hint: it is a number 🔢</a:t>
            </a:r>
          </a:p>
        </p:txBody>
      </p:sp>
      <p:sp>
        <p:nvSpPr>
          <p:cNvPr id="28" name="TextBox 27"/>
          <p:cNvSpPr txBox="1"/>
          <p:nvPr/>
        </p:nvSpPr>
        <p:spPr>
          <a:xfrm>
            <a:off x="548640" y="5513832"/>
            <a:ext cx="5303520" cy="292608"/>
          </a:xfrm>
          <a:prstGeom prst="rect">
            <a:avLst/>
          </a:prstGeom>
          <a:noFill/>
        </p:spPr>
        <p:txBody>
          <a:bodyPr wrap="square">
            <a:spAutoFit/>
          </a:bodyPr>
          <a:lstStyle/>
          <a:p>
            <a:pPr algn="l"/>
            <a:r>
              <a:rPr sz="1100" b="1">
                <a:solidFill>
                  <a:srgbClr val="009688"/>
                </a:solidFill>
                <a:latin typeface="Calibri"/>
              </a:rPr>
              <a:t>Look back at Part 3 if you need to.</a:t>
            </a:r>
          </a:p>
        </p:txBody>
      </p:sp>
      <p:sp>
        <p:nvSpPr>
          <p:cNvPr id="29" name="Rounded Rectangle 28"/>
          <p:cNvSpPr/>
          <p:nvPr/>
        </p:nvSpPr>
        <p:spPr>
          <a:xfrm>
            <a:off x="6172200" y="370332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09360" y="3831336"/>
            <a:ext cx="1371600" cy="292608"/>
          </a:xfrm>
          <a:prstGeom prst="round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849624"/>
            <a:ext cx="1371600" cy="274320"/>
          </a:xfrm>
          <a:prstGeom prst="rect">
            <a:avLst/>
          </a:prstGeom>
          <a:noFill/>
        </p:spPr>
        <p:txBody>
          <a:bodyPr wrap="square">
            <a:spAutoFit/>
          </a:bodyPr>
          <a:lstStyle/>
          <a:p>
            <a:pPr algn="ctr"/>
            <a:r>
              <a:rPr sz="1000" b="1">
                <a:solidFill>
                  <a:srgbClr val="FFFFFF"/>
                </a:solidFill>
                <a:latin typeface="Calibri"/>
              </a:rPr>
              <a:t>PUT IT IN ORDER</a:t>
            </a:r>
          </a:p>
        </p:txBody>
      </p:sp>
      <p:sp>
        <p:nvSpPr>
          <p:cNvPr id="32" name="TextBox 31"/>
          <p:cNvSpPr txBox="1"/>
          <p:nvPr/>
        </p:nvSpPr>
        <p:spPr>
          <a:xfrm>
            <a:off x="6309360" y="4233672"/>
            <a:ext cx="5303520" cy="1371600"/>
          </a:xfrm>
          <a:prstGeom prst="rect">
            <a:avLst/>
          </a:prstGeom>
          <a:noFill/>
        </p:spPr>
        <p:txBody>
          <a:bodyPr wrap="square">
            <a:spAutoFit/>
          </a:bodyPr>
          <a:lstStyle/>
          <a:p>
            <a:pPr algn="l"/>
            <a:r>
              <a:rPr sz="1400" b="0">
                <a:solidFill>
                  <a:srgbClr val="1F2937"/>
                </a:solidFill>
                <a:latin typeface="Calibri"/>
              </a:rPr>
              <a:t>Number these 1–4:
___  Maya smoothed a sand ramp
___  Diego saw the sand moving
___  Dr. Reyes wrote in her notebook
___  Three hatchlings fell in a track</a:t>
            </a:r>
          </a:p>
        </p:txBody>
      </p:sp>
      <p:sp>
        <p:nvSpPr>
          <p:cNvPr id="33" name="TextBox 32"/>
          <p:cNvSpPr txBox="1"/>
          <p:nvPr/>
        </p:nvSpPr>
        <p:spPr>
          <a:xfrm>
            <a:off x="6309360" y="5513832"/>
            <a:ext cx="5303520" cy="292608"/>
          </a:xfrm>
          <a:prstGeom prst="rect">
            <a:avLst/>
          </a:prstGeom>
          <a:noFill/>
        </p:spPr>
        <p:txBody>
          <a:bodyPr wrap="square">
            <a:spAutoFit/>
          </a:bodyPr>
          <a:lstStyle/>
          <a:p>
            <a:pPr algn="l"/>
            <a:r>
              <a:rPr sz="1100" b="1">
                <a:solidFill>
                  <a:srgbClr val="009688"/>
                </a:solidFill>
                <a:latin typeface="Calibri"/>
              </a:rPr>
              <a:t>Which happened FIRST?</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20–25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Story Detective — Round 2</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4613073"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Comprehension  |  20–25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14 / 37</a:t>
            </a:r>
          </a:p>
        </p:txBody>
      </p:sp>
      <p:sp>
        <p:nvSpPr>
          <p:cNvPr id="14" name="Rounded Rectangle 13"/>
          <p:cNvSpPr/>
          <p:nvPr/>
        </p:nvSpPr>
        <p:spPr>
          <a:xfrm>
            <a:off x="411480" y="132588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453896"/>
            <a:ext cx="1371600" cy="292608"/>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472184"/>
            <a:ext cx="1371600" cy="274320"/>
          </a:xfrm>
          <a:prstGeom prst="rect">
            <a:avLst/>
          </a:prstGeom>
          <a:noFill/>
        </p:spPr>
        <p:txBody>
          <a:bodyPr wrap="square">
            <a:spAutoFit/>
          </a:bodyPr>
          <a:lstStyle/>
          <a:p>
            <a:pPr algn="ctr"/>
            <a:r>
              <a:rPr sz="1000" b="1">
                <a:solidFill>
                  <a:srgbClr val="FFFFFF"/>
                </a:solidFill>
                <a:latin typeface="Calibri"/>
              </a:rPr>
              <a:t>SHORT ANSWER</a:t>
            </a:r>
          </a:p>
        </p:txBody>
      </p:sp>
      <p:sp>
        <p:nvSpPr>
          <p:cNvPr id="17" name="TextBox 16"/>
          <p:cNvSpPr txBox="1"/>
          <p:nvPr/>
        </p:nvSpPr>
        <p:spPr>
          <a:xfrm>
            <a:off x="548640" y="1856232"/>
            <a:ext cx="5303520" cy="1371600"/>
          </a:xfrm>
          <a:prstGeom prst="rect">
            <a:avLst/>
          </a:prstGeom>
          <a:noFill/>
        </p:spPr>
        <p:txBody>
          <a:bodyPr wrap="square">
            <a:spAutoFit/>
          </a:bodyPr>
          <a:lstStyle/>
          <a:p>
            <a:pPr algn="l"/>
            <a:r>
              <a:rPr sz="1400" b="0">
                <a:solidFill>
                  <a:srgbClr val="1F2937"/>
                </a:solidFill>
                <a:latin typeface="Calibri"/>
              </a:rPr>
              <a:t>What problem did Maya find
on the beach?
Answer in ONE full sentence.</a:t>
            </a:r>
          </a:p>
        </p:txBody>
      </p:sp>
      <p:sp>
        <p:nvSpPr>
          <p:cNvPr id="18" name="TextBox 17"/>
          <p:cNvSpPr txBox="1"/>
          <p:nvPr/>
        </p:nvSpPr>
        <p:spPr>
          <a:xfrm>
            <a:off x="548640" y="3136392"/>
            <a:ext cx="5303520" cy="292608"/>
          </a:xfrm>
          <a:prstGeom prst="rect">
            <a:avLst/>
          </a:prstGeom>
          <a:noFill/>
        </p:spPr>
        <p:txBody>
          <a:bodyPr wrap="square">
            <a:spAutoFit/>
          </a:bodyPr>
          <a:lstStyle/>
          <a:p>
            <a:pPr algn="l"/>
            <a:r>
              <a:rPr sz="1100" b="1">
                <a:solidFill>
                  <a:srgbClr val="009688"/>
                </a:solidFill>
                <a:latin typeface="Calibri"/>
              </a:rPr>
              <a:t>Start with: "The problem was..."</a:t>
            </a:r>
          </a:p>
        </p:txBody>
      </p:sp>
      <p:sp>
        <p:nvSpPr>
          <p:cNvPr id="19" name="Rounded Rectangle 18"/>
          <p:cNvSpPr/>
          <p:nvPr/>
        </p:nvSpPr>
        <p:spPr>
          <a:xfrm>
            <a:off x="6172200" y="132588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09360" y="1453896"/>
            <a:ext cx="1371600" cy="292608"/>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1472184"/>
            <a:ext cx="1371600" cy="274320"/>
          </a:xfrm>
          <a:prstGeom prst="rect">
            <a:avLst/>
          </a:prstGeom>
          <a:noFill/>
        </p:spPr>
        <p:txBody>
          <a:bodyPr wrap="square">
            <a:spAutoFit/>
          </a:bodyPr>
          <a:lstStyle/>
          <a:p>
            <a:pPr algn="ctr"/>
            <a:r>
              <a:rPr sz="1000" b="1">
                <a:solidFill>
                  <a:srgbClr val="FFFFFF"/>
                </a:solidFill>
                <a:latin typeface="Calibri"/>
              </a:rPr>
              <a:t>MAIN IDEA</a:t>
            </a:r>
          </a:p>
        </p:txBody>
      </p:sp>
      <p:sp>
        <p:nvSpPr>
          <p:cNvPr id="22" name="TextBox 21"/>
          <p:cNvSpPr txBox="1"/>
          <p:nvPr/>
        </p:nvSpPr>
        <p:spPr>
          <a:xfrm>
            <a:off x="6309360" y="1856232"/>
            <a:ext cx="5303520" cy="1371600"/>
          </a:xfrm>
          <a:prstGeom prst="rect">
            <a:avLst/>
          </a:prstGeom>
          <a:noFill/>
        </p:spPr>
        <p:txBody>
          <a:bodyPr wrap="square">
            <a:spAutoFit/>
          </a:bodyPr>
          <a:lstStyle/>
          <a:p>
            <a:pPr algn="l"/>
            <a:r>
              <a:rPr sz="1400" b="0">
                <a:solidFill>
                  <a:srgbClr val="1F2937"/>
                </a:solidFill>
                <a:latin typeface="Calibri"/>
              </a:rPr>
              <a:t>What is this story MOSTLY about?
a)  How to use a flashlight
b)  A girl who helps turtles reach the sea
c)  A scientist writing a notebook</a:t>
            </a:r>
          </a:p>
        </p:txBody>
      </p:sp>
      <p:sp>
        <p:nvSpPr>
          <p:cNvPr id="23" name="TextBox 22"/>
          <p:cNvSpPr txBox="1"/>
          <p:nvPr/>
        </p:nvSpPr>
        <p:spPr>
          <a:xfrm>
            <a:off x="6309360" y="3136392"/>
            <a:ext cx="5303520" cy="292608"/>
          </a:xfrm>
          <a:prstGeom prst="rect">
            <a:avLst/>
          </a:prstGeom>
          <a:noFill/>
        </p:spPr>
        <p:txBody>
          <a:bodyPr wrap="square">
            <a:spAutoFit/>
          </a:bodyPr>
          <a:lstStyle/>
          <a:p>
            <a:pPr algn="l"/>
            <a:r>
              <a:rPr sz="1100" b="1">
                <a:solidFill>
                  <a:srgbClr val="009688"/>
                </a:solidFill>
                <a:latin typeface="Calibri"/>
              </a:rPr>
              <a:t>The main idea covers the WHOLE story.</a:t>
            </a:r>
          </a:p>
        </p:txBody>
      </p:sp>
      <p:sp>
        <p:nvSpPr>
          <p:cNvPr id="24" name="Rounded Rectangle 23"/>
          <p:cNvSpPr/>
          <p:nvPr/>
        </p:nvSpPr>
        <p:spPr>
          <a:xfrm>
            <a:off x="411480" y="370332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3831336"/>
            <a:ext cx="1371600" cy="292608"/>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49624"/>
            <a:ext cx="1371600" cy="274320"/>
          </a:xfrm>
          <a:prstGeom prst="rect">
            <a:avLst/>
          </a:prstGeom>
          <a:noFill/>
        </p:spPr>
        <p:txBody>
          <a:bodyPr wrap="square">
            <a:spAutoFit/>
          </a:bodyPr>
          <a:lstStyle/>
          <a:p>
            <a:pPr algn="ctr"/>
            <a:r>
              <a:rPr sz="1000" b="1">
                <a:solidFill>
                  <a:srgbClr val="FFFFFF"/>
                </a:solidFill>
                <a:latin typeface="Calibri"/>
              </a:rPr>
              <a:t>INFERENCE 🔍</a:t>
            </a:r>
          </a:p>
        </p:txBody>
      </p:sp>
      <p:sp>
        <p:nvSpPr>
          <p:cNvPr id="27" name="TextBox 26"/>
          <p:cNvSpPr txBox="1"/>
          <p:nvPr/>
        </p:nvSpPr>
        <p:spPr>
          <a:xfrm>
            <a:off x="548640" y="4233672"/>
            <a:ext cx="5303520" cy="1371600"/>
          </a:xfrm>
          <a:prstGeom prst="rect">
            <a:avLst/>
          </a:prstGeom>
          <a:noFill/>
        </p:spPr>
        <p:txBody>
          <a:bodyPr wrap="square">
            <a:spAutoFit/>
          </a:bodyPr>
          <a:lstStyle/>
          <a:p>
            <a:pPr algn="l"/>
            <a:r>
              <a:rPr sz="1400" b="0">
                <a:solidFill>
                  <a:srgbClr val="1F2937"/>
                </a:solidFill>
                <a:latin typeface="Calibri"/>
              </a:rPr>
              <a:t>Diego said, "I knew you'd say that."
What does that tell us about Maya?</a:t>
            </a:r>
          </a:p>
        </p:txBody>
      </p:sp>
      <p:sp>
        <p:nvSpPr>
          <p:cNvPr id="28" name="TextBox 27"/>
          <p:cNvSpPr txBox="1"/>
          <p:nvPr/>
        </p:nvSpPr>
        <p:spPr>
          <a:xfrm>
            <a:off x="548640" y="5513832"/>
            <a:ext cx="5303520" cy="292608"/>
          </a:xfrm>
          <a:prstGeom prst="rect">
            <a:avLst/>
          </a:prstGeom>
          <a:noFill/>
        </p:spPr>
        <p:txBody>
          <a:bodyPr wrap="square">
            <a:spAutoFit/>
          </a:bodyPr>
          <a:lstStyle/>
          <a:p>
            <a:pPr algn="l"/>
            <a:r>
              <a:rPr sz="1100" b="1">
                <a:solidFill>
                  <a:srgbClr val="009688"/>
                </a:solidFill>
                <a:latin typeface="Calibri"/>
              </a:rPr>
              <a:t>The answer is NOT written — you infer it!</a:t>
            </a:r>
          </a:p>
        </p:txBody>
      </p:sp>
      <p:sp>
        <p:nvSpPr>
          <p:cNvPr id="29" name="Rounded Rectangle 28"/>
          <p:cNvSpPr/>
          <p:nvPr/>
        </p:nvSpPr>
        <p:spPr>
          <a:xfrm>
            <a:off x="6172200" y="3703320"/>
            <a:ext cx="557784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09360" y="3831336"/>
            <a:ext cx="1371600" cy="292608"/>
          </a:xfrm>
          <a:prstGeom prst="round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849624"/>
            <a:ext cx="1371600" cy="274320"/>
          </a:xfrm>
          <a:prstGeom prst="rect">
            <a:avLst/>
          </a:prstGeom>
          <a:noFill/>
        </p:spPr>
        <p:txBody>
          <a:bodyPr wrap="square">
            <a:spAutoFit/>
          </a:bodyPr>
          <a:lstStyle/>
          <a:p>
            <a:pPr algn="ctr"/>
            <a:r>
              <a:rPr sz="1000" b="1">
                <a:solidFill>
                  <a:srgbClr val="FFFFFF"/>
                </a:solidFill>
                <a:latin typeface="Calibri"/>
              </a:rPr>
              <a:t>YOUR OPINION 💭</a:t>
            </a:r>
          </a:p>
        </p:txBody>
      </p:sp>
      <p:sp>
        <p:nvSpPr>
          <p:cNvPr id="32" name="TextBox 31"/>
          <p:cNvSpPr txBox="1"/>
          <p:nvPr/>
        </p:nvSpPr>
        <p:spPr>
          <a:xfrm>
            <a:off x="6309360" y="4233672"/>
            <a:ext cx="5303520" cy="1371600"/>
          </a:xfrm>
          <a:prstGeom prst="rect">
            <a:avLst/>
          </a:prstGeom>
          <a:noFill/>
        </p:spPr>
        <p:txBody>
          <a:bodyPr wrap="square">
            <a:spAutoFit/>
          </a:bodyPr>
          <a:lstStyle/>
          <a:p>
            <a:pPr algn="l"/>
            <a:r>
              <a:rPr sz="1400" b="0">
                <a:solidFill>
                  <a:srgbClr val="1F2937"/>
                </a:solidFill>
                <a:latin typeface="Calibri"/>
              </a:rPr>
              <a:t>Would YOU volunteer on a dark beach
at midnight?
Why or why not?</a:t>
            </a:r>
          </a:p>
        </p:txBody>
      </p:sp>
      <p:sp>
        <p:nvSpPr>
          <p:cNvPr id="33" name="TextBox 32"/>
          <p:cNvSpPr txBox="1"/>
          <p:nvPr/>
        </p:nvSpPr>
        <p:spPr>
          <a:xfrm>
            <a:off x="6309360" y="5513832"/>
            <a:ext cx="5303520" cy="292608"/>
          </a:xfrm>
          <a:prstGeom prst="rect">
            <a:avLst/>
          </a:prstGeom>
          <a:noFill/>
        </p:spPr>
        <p:txBody>
          <a:bodyPr wrap="square">
            <a:spAutoFit/>
          </a:bodyPr>
          <a:lstStyle/>
          <a:p>
            <a:pPr algn="l"/>
            <a:r>
              <a:rPr sz="1100" b="1">
                <a:solidFill>
                  <a:srgbClr val="009688"/>
                </a:solidFill>
                <a:latin typeface="Calibri"/>
              </a:rPr>
              <a:t>There is no wrong answer here!</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20–25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Game 3: Match It — Word ➡️ Meaning</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4942579"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game  |  20–25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15 / 37</a:t>
            </a:r>
          </a:p>
        </p:txBody>
      </p:sp>
      <p:sp>
        <p:nvSpPr>
          <p:cNvPr id="14" name="TextBox 13"/>
          <p:cNvSpPr txBox="1"/>
          <p:nvPr/>
        </p:nvSpPr>
        <p:spPr>
          <a:xfrm>
            <a:off x="640080" y="1280160"/>
            <a:ext cx="4754880" cy="365760"/>
          </a:xfrm>
          <a:prstGeom prst="rect">
            <a:avLst/>
          </a:prstGeom>
          <a:noFill/>
        </p:spPr>
        <p:txBody>
          <a:bodyPr wrap="square">
            <a:spAutoFit/>
          </a:bodyPr>
          <a:lstStyle/>
          <a:p>
            <a:pPr algn="l"/>
            <a:r>
              <a:rPr sz="1500" b="1">
                <a:solidFill>
                  <a:srgbClr val="0A2A6E"/>
                </a:solidFill>
                <a:latin typeface="Calibri"/>
              </a:rPr>
              <a:t>WORDS</a:t>
            </a:r>
          </a:p>
        </p:txBody>
      </p:sp>
      <p:sp>
        <p:nvSpPr>
          <p:cNvPr id="15" name="TextBox 14"/>
          <p:cNvSpPr txBox="1"/>
          <p:nvPr/>
        </p:nvSpPr>
        <p:spPr>
          <a:xfrm>
            <a:off x="6583680" y="1280160"/>
            <a:ext cx="5029200" cy="365760"/>
          </a:xfrm>
          <a:prstGeom prst="rect">
            <a:avLst/>
          </a:prstGeom>
          <a:noFill/>
        </p:spPr>
        <p:txBody>
          <a:bodyPr wrap="square">
            <a:spAutoFit/>
          </a:bodyPr>
          <a:lstStyle/>
          <a:p>
            <a:pPr algn="l"/>
            <a:r>
              <a:rPr sz="1500" b="1">
                <a:solidFill>
                  <a:srgbClr val="0A2A6E"/>
                </a:solidFill>
                <a:latin typeface="Calibri"/>
              </a:rPr>
              <a:t>MEANINGS</a:t>
            </a:r>
          </a:p>
        </p:txBody>
      </p:sp>
      <p:sp>
        <p:nvSpPr>
          <p:cNvPr id="16" name="Rounded Rectangle 15"/>
          <p:cNvSpPr/>
          <p:nvPr/>
        </p:nvSpPr>
        <p:spPr>
          <a:xfrm>
            <a:off x="640080" y="1719072"/>
            <a:ext cx="4206240" cy="7315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1901952"/>
            <a:ext cx="3840480" cy="384048"/>
          </a:xfrm>
          <a:prstGeom prst="rect">
            <a:avLst/>
          </a:prstGeom>
          <a:noFill/>
        </p:spPr>
        <p:txBody>
          <a:bodyPr wrap="square">
            <a:spAutoFit/>
          </a:bodyPr>
          <a:lstStyle/>
          <a:p>
            <a:pPr algn="l"/>
            <a:r>
              <a:rPr sz="1600" b="1">
                <a:solidFill>
                  <a:srgbClr val="0A2A6E"/>
                </a:solidFill>
                <a:latin typeface="Calibri"/>
              </a:rPr>
              <a:t>1.  exhausted</a:t>
            </a:r>
          </a:p>
        </p:txBody>
      </p:sp>
      <p:sp>
        <p:nvSpPr>
          <p:cNvPr id="18" name="Rounded Rectangle 17"/>
          <p:cNvSpPr/>
          <p:nvPr/>
        </p:nvSpPr>
        <p:spPr>
          <a:xfrm>
            <a:off x="640080" y="2633472"/>
            <a:ext cx="4206240" cy="7315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816352"/>
            <a:ext cx="3840480" cy="384048"/>
          </a:xfrm>
          <a:prstGeom prst="rect">
            <a:avLst/>
          </a:prstGeom>
          <a:noFill/>
        </p:spPr>
        <p:txBody>
          <a:bodyPr wrap="square">
            <a:spAutoFit/>
          </a:bodyPr>
          <a:lstStyle/>
          <a:p>
            <a:pPr algn="l"/>
            <a:r>
              <a:rPr sz="1600" b="1">
                <a:solidFill>
                  <a:srgbClr val="0A2A6E"/>
                </a:solidFill>
                <a:latin typeface="Calibri"/>
              </a:rPr>
              <a:t>2.  biologist</a:t>
            </a:r>
          </a:p>
        </p:txBody>
      </p:sp>
      <p:sp>
        <p:nvSpPr>
          <p:cNvPr id="20" name="Rounded Rectangle 19"/>
          <p:cNvSpPr/>
          <p:nvPr/>
        </p:nvSpPr>
        <p:spPr>
          <a:xfrm>
            <a:off x="640080" y="3547872"/>
            <a:ext cx="4206240" cy="7315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730752"/>
            <a:ext cx="3840480" cy="384048"/>
          </a:xfrm>
          <a:prstGeom prst="rect">
            <a:avLst/>
          </a:prstGeom>
          <a:noFill/>
        </p:spPr>
        <p:txBody>
          <a:bodyPr wrap="square">
            <a:spAutoFit/>
          </a:bodyPr>
          <a:lstStyle/>
          <a:p>
            <a:pPr algn="l"/>
            <a:r>
              <a:rPr sz="1600" b="1">
                <a:solidFill>
                  <a:srgbClr val="0A2A6E"/>
                </a:solidFill>
                <a:latin typeface="Calibri"/>
              </a:rPr>
              <a:t>3.  survive</a:t>
            </a:r>
          </a:p>
        </p:txBody>
      </p:sp>
      <p:sp>
        <p:nvSpPr>
          <p:cNvPr id="22" name="Rounded Rectangle 21"/>
          <p:cNvSpPr/>
          <p:nvPr/>
        </p:nvSpPr>
        <p:spPr>
          <a:xfrm>
            <a:off x="640080" y="4462272"/>
            <a:ext cx="4206240" cy="7315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645152"/>
            <a:ext cx="3840480" cy="384048"/>
          </a:xfrm>
          <a:prstGeom prst="rect">
            <a:avLst/>
          </a:prstGeom>
          <a:noFill/>
        </p:spPr>
        <p:txBody>
          <a:bodyPr wrap="square">
            <a:spAutoFit/>
          </a:bodyPr>
          <a:lstStyle/>
          <a:p>
            <a:pPr algn="l"/>
            <a:r>
              <a:rPr sz="1600" b="1">
                <a:solidFill>
                  <a:srgbClr val="0A2A6E"/>
                </a:solidFill>
                <a:latin typeface="Calibri"/>
              </a:rPr>
              <a:t>4.  gently</a:t>
            </a:r>
          </a:p>
        </p:txBody>
      </p:sp>
      <p:sp>
        <p:nvSpPr>
          <p:cNvPr id="24" name="Rounded Rectangle 23"/>
          <p:cNvSpPr/>
          <p:nvPr/>
        </p:nvSpPr>
        <p:spPr>
          <a:xfrm>
            <a:off x="640080" y="5376672"/>
            <a:ext cx="4206240" cy="7315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559552"/>
            <a:ext cx="3840480" cy="384048"/>
          </a:xfrm>
          <a:prstGeom prst="rect">
            <a:avLst/>
          </a:prstGeom>
          <a:noFill/>
        </p:spPr>
        <p:txBody>
          <a:bodyPr wrap="square">
            <a:spAutoFit/>
          </a:bodyPr>
          <a:lstStyle/>
          <a:p>
            <a:pPr algn="l"/>
            <a:r>
              <a:rPr sz="1600" b="1">
                <a:solidFill>
                  <a:srgbClr val="0A2A6E"/>
                </a:solidFill>
                <a:latin typeface="Calibri"/>
              </a:rPr>
              <a:t>5.  scramble</a:t>
            </a:r>
          </a:p>
        </p:txBody>
      </p:sp>
      <p:sp>
        <p:nvSpPr>
          <p:cNvPr id="26" name="Rounded Rectangle 25"/>
          <p:cNvSpPr/>
          <p:nvPr/>
        </p:nvSpPr>
        <p:spPr>
          <a:xfrm>
            <a:off x="6583680" y="1719072"/>
            <a:ext cx="512064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1901952"/>
            <a:ext cx="4754880" cy="384048"/>
          </a:xfrm>
          <a:prstGeom prst="rect">
            <a:avLst/>
          </a:prstGeom>
          <a:noFill/>
        </p:spPr>
        <p:txBody>
          <a:bodyPr wrap="square">
            <a:spAutoFit/>
          </a:bodyPr>
          <a:lstStyle/>
          <a:p>
            <a:pPr algn="l"/>
            <a:r>
              <a:rPr sz="1400" b="0">
                <a:solidFill>
                  <a:srgbClr val="1F2937"/>
                </a:solidFill>
                <a:latin typeface="Calibri"/>
              </a:rPr>
              <a:t>A.  to stay alive</a:t>
            </a:r>
          </a:p>
        </p:txBody>
      </p:sp>
      <p:sp>
        <p:nvSpPr>
          <p:cNvPr id="28" name="Rounded Rectangle 27"/>
          <p:cNvSpPr/>
          <p:nvPr/>
        </p:nvSpPr>
        <p:spPr>
          <a:xfrm>
            <a:off x="6583680" y="2633472"/>
            <a:ext cx="512064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2816352"/>
            <a:ext cx="4754880" cy="384048"/>
          </a:xfrm>
          <a:prstGeom prst="rect">
            <a:avLst/>
          </a:prstGeom>
          <a:noFill/>
        </p:spPr>
        <p:txBody>
          <a:bodyPr wrap="square">
            <a:spAutoFit/>
          </a:bodyPr>
          <a:lstStyle/>
          <a:p>
            <a:pPr algn="l"/>
            <a:r>
              <a:rPr sz="1400" b="0">
                <a:solidFill>
                  <a:srgbClr val="1F2937"/>
                </a:solidFill>
                <a:latin typeface="Calibri"/>
              </a:rPr>
              <a:t>B.  softly and carefully</a:t>
            </a:r>
          </a:p>
        </p:txBody>
      </p:sp>
      <p:sp>
        <p:nvSpPr>
          <p:cNvPr id="30" name="Rounded Rectangle 29"/>
          <p:cNvSpPr/>
          <p:nvPr/>
        </p:nvSpPr>
        <p:spPr>
          <a:xfrm>
            <a:off x="6583680" y="3547872"/>
            <a:ext cx="512064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3730752"/>
            <a:ext cx="4754880" cy="384048"/>
          </a:xfrm>
          <a:prstGeom prst="rect">
            <a:avLst/>
          </a:prstGeom>
          <a:noFill/>
        </p:spPr>
        <p:txBody>
          <a:bodyPr wrap="square">
            <a:spAutoFit/>
          </a:bodyPr>
          <a:lstStyle/>
          <a:p>
            <a:pPr algn="l"/>
            <a:r>
              <a:rPr sz="1400" b="0">
                <a:solidFill>
                  <a:srgbClr val="1F2937"/>
                </a:solidFill>
                <a:latin typeface="Calibri"/>
              </a:rPr>
              <a:t>C.  very, very tired</a:t>
            </a:r>
          </a:p>
        </p:txBody>
      </p:sp>
      <p:sp>
        <p:nvSpPr>
          <p:cNvPr id="32" name="Rounded Rectangle 31"/>
          <p:cNvSpPr/>
          <p:nvPr/>
        </p:nvSpPr>
        <p:spPr>
          <a:xfrm>
            <a:off x="6583680" y="4462272"/>
            <a:ext cx="512064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0" y="4645152"/>
            <a:ext cx="4754880" cy="384048"/>
          </a:xfrm>
          <a:prstGeom prst="rect">
            <a:avLst/>
          </a:prstGeom>
          <a:noFill/>
        </p:spPr>
        <p:txBody>
          <a:bodyPr wrap="square">
            <a:spAutoFit/>
          </a:bodyPr>
          <a:lstStyle/>
          <a:p>
            <a:pPr algn="l"/>
            <a:r>
              <a:rPr sz="1400" b="0">
                <a:solidFill>
                  <a:srgbClr val="1F2937"/>
                </a:solidFill>
                <a:latin typeface="Calibri"/>
              </a:rPr>
              <a:t>D.  to climb fast with hands and feet</a:t>
            </a:r>
          </a:p>
        </p:txBody>
      </p:sp>
      <p:sp>
        <p:nvSpPr>
          <p:cNvPr id="34" name="Rounded Rectangle 33"/>
          <p:cNvSpPr/>
          <p:nvPr/>
        </p:nvSpPr>
        <p:spPr>
          <a:xfrm>
            <a:off x="6583680" y="5376672"/>
            <a:ext cx="512064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5559552"/>
            <a:ext cx="4754880" cy="384048"/>
          </a:xfrm>
          <a:prstGeom prst="rect">
            <a:avLst/>
          </a:prstGeom>
          <a:noFill/>
        </p:spPr>
        <p:txBody>
          <a:bodyPr wrap="square">
            <a:spAutoFit/>
          </a:bodyPr>
          <a:lstStyle/>
          <a:p>
            <a:pPr algn="l"/>
            <a:r>
              <a:rPr sz="1400" b="0">
                <a:solidFill>
                  <a:srgbClr val="1F2937"/>
                </a:solidFill>
                <a:latin typeface="Calibri"/>
              </a:rPr>
              <a:t>E.  a scientist of living things</a:t>
            </a:r>
          </a:p>
        </p:txBody>
      </p:sp>
      <p:sp>
        <p:nvSpPr>
          <p:cNvPr id="36" name="TextBox 35"/>
          <p:cNvSpPr txBox="1"/>
          <p:nvPr/>
        </p:nvSpPr>
        <p:spPr>
          <a:xfrm>
            <a:off x="4983480" y="1947672"/>
            <a:ext cx="1463040" cy="365760"/>
          </a:xfrm>
          <a:prstGeom prst="rect">
            <a:avLst/>
          </a:prstGeom>
          <a:noFill/>
        </p:spPr>
        <p:txBody>
          <a:bodyPr wrap="square">
            <a:spAutoFit/>
          </a:bodyPr>
          <a:lstStyle/>
          <a:p>
            <a:pPr algn="ctr"/>
            <a:r>
              <a:rPr sz="1600" b="1">
                <a:solidFill>
                  <a:srgbClr val="FF6F61"/>
                </a:solidFill>
                <a:latin typeface="Calibri"/>
              </a:rPr>
              <a:t>____</a:t>
            </a:r>
          </a:p>
        </p:txBody>
      </p:sp>
      <p:sp>
        <p:nvSpPr>
          <p:cNvPr id="37" name="TextBox 36"/>
          <p:cNvSpPr txBox="1"/>
          <p:nvPr/>
        </p:nvSpPr>
        <p:spPr>
          <a:xfrm>
            <a:off x="4983480" y="2862072"/>
            <a:ext cx="1463040" cy="365760"/>
          </a:xfrm>
          <a:prstGeom prst="rect">
            <a:avLst/>
          </a:prstGeom>
          <a:noFill/>
        </p:spPr>
        <p:txBody>
          <a:bodyPr wrap="square">
            <a:spAutoFit/>
          </a:bodyPr>
          <a:lstStyle/>
          <a:p>
            <a:pPr algn="ctr"/>
            <a:r>
              <a:rPr sz="1600" b="1">
                <a:solidFill>
                  <a:srgbClr val="FF6F61"/>
                </a:solidFill>
                <a:latin typeface="Calibri"/>
              </a:rPr>
              <a:t>____</a:t>
            </a:r>
          </a:p>
        </p:txBody>
      </p:sp>
      <p:sp>
        <p:nvSpPr>
          <p:cNvPr id="38" name="TextBox 37"/>
          <p:cNvSpPr txBox="1"/>
          <p:nvPr/>
        </p:nvSpPr>
        <p:spPr>
          <a:xfrm>
            <a:off x="4983480" y="3776472"/>
            <a:ext cx="1463040" cy="365760"/>
          </a:xfrm>
          <a:prstGeom prst="rect">
            <a:avLst/>
          </a:prstGeom>
          <a:noFill/>
        </p:spPr>
        <p:txBody>
          <a:bodyPr wrap="square">
            <a:spAutoFit/>
          </a:bodyPr>
          <a:lstStyle/>
          <a:p>
            <a:pPr algn="ctr"/>
            <a:r>
              <a:rPr sz="1600" b="1">
                <a:solidFill>
                  <a:srgbClr val="FF6F61"/>
                </a:solidFill>
                <a:latin typeface="Calibri"/>
              </a:rPr>
              <a:t>____</a:t>
            </a:r>
          </a:p>
        </p:txBody>
      </p:sp>
      <p:sp>
        <p:nvSpPr>
          <p:cNvPr id="39" name="TextBox 38"/>
          <p:cNvSpPr txBox="1"/>
          <p:nvPr/>
        </p:nvSpPr>
        <p:spPr>
          <a:xfrm>
            <a:off x="4983480" y="4690872"/>
            <a:ext cx="1463040" cy="365760"/>
          </a:xfrm>
          <a:prstGeom prst="rect">
            <a:avLst/>
          </a:prstGeom>
          <a:noFill/>
        </p:spPr>
        <p:txBody>
          <a:bodyPr wrap="square">
            <a:spAutoFit/>
          </a:bodyPr>
          <a:lstStyle/>
          <a:p>
            <a:pPr algn="ctr"/>
            <a:r>
              <a:rPr sz="1600" b="1">
                <a:solidFill>
                  <a:srgbClr val="FF6F61"/>
                </a:solidFill>
                <a:latin typeface="Calibri"/>
              </a:rPr>
              <a:t>____</a:t>
            </a:r>
          </a:p>
        </p:txBody>
      </p:sp>
      <p:sp>
        <p:nvSpPr>
          <p:cNvPr id="40" name="TextBox 39"/>
          <p:cNvSpPr txBox="1"/>
          <p:nvPr/>
        </p:nvSpPr>
        <p:spPr>
          <a:xfrm>
            <a:off x="4983480" y="5605272"/>
            <a:ext cx="1463040" cy="365760"/>
          </a:xfrm>
          <a:prstGeom prst="rect">
            <a:avLst/>
          </a:prstGeom>
          <a:noFill/>
        </p:spPr>
        <p:txBody>
          <a:bodyPr wrap="square">
            <a:spAutoFit/>
          </a:bodyPr>
          <a:lstStyle/>
          <a:p>
            <a:pPr algn="ctr"/>
            <a:r>
              <a:rPr sz="1600" b="1">
                <a:solidFill>
                  <a:srgbClr val="FF6F61"/>
                </a:solidFill>
                <a:latin typeface="Calibri"/>
              </a:rPr>
              <a:t>____</a:t>
            </a:r>
          </a:p>
        </p:txBody>
      </p:sp>
      <p:sp>
        <p:nvSpPr>
          <p:cNvPr id="41" name="Rounded Rectangle 40"/>
          <p:cNvSpPr/>
          <p:nvPr/>
        </p:nvSpPr>
        <p:spPr>
          <a:xfrm>
            <a:off x="9646920" y="5897880"/>
            <a:ext cx="2194560" cy="411480"/>
          </a:xfrm>
          <a:prstGeom prst="round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46920" y="5943600"/>
            <a:ext cx="2194560" cy="365760"/>
          </a:xfrm>
          <a:prstGeom prst="rect">
            <a:avLst/>
          </a:prstGeom>
          <a:noFill/>
        </p:spPr>
        <p:txBody>
          <a:bodyPr wrap="square">
            <a:spAutoFit/>
          </a:bodyPr>
          <a:lstStyle/>
          <a:p>
            <a:pPr algn="ctr"/>
            <a:r>
              <a:rPr sz="1300" b="1">
                <a:solidFill>
                  <a:srgbClr val="0A2A6E"/>
                </a:solidFill>
                <a:latin typeface="Calibri"/>
              </a:rPr>
              <a:t>+1 Star ⭐</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20–25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Game 4: Use the Word!</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5272084"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Vocab game  |  20–25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16 / 37</a:t>
            </a:r>
          </a:p>
        </p:txBody>
      </p:sp>
      <p:sp>
        <p:nvSpPr>
          <p:cNvPr id="14" name="Rounded Rectangle 13"/>
          <p:cNvSpPr/>
          <p:nvPr/>
        </p:nvSpPr>
        <p:spPr>
          <a:xfrm>
            <a:off x="457200" y="1371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1920240"/>
            <a:ext cx="914400" cy="914400"/>
          </a:xfrm>
          <a:prstGeom prst="ellipse">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03120"/>
            <a:ext cx="914400" cy="548640"/>
          </a:xfrm>
          <a:prstGeom prst="rect">
            <a:avLst/>
          </a:prstGeom>
          <a:noFill/>
        </p:spPr>
        <p:txBody>
          <a:bodyPr wrap="square">
            <a:spAutoFit/>
          </a:bodyPr>
          <a:lstStyle/>
          <a:p>
            <a:pPr algn="ctr"/>
            <a:r>
              <a:rPr sz="2600" b="0">
                <a:solidFill>
                  <a:srgbClr val="1F2937"/>
                </a:solidFill>
                <a:latin typeface="Calibri"/>
              </a:rPr>
              <a:t>😴</a:t>
            </a:r>
          </a:p>
        </p:txBody>
      </p:sp>
      <p:sp>
        <p:nvSpPr>
          <p:cNvPr id="17" name="TextBox 16"/>
          <p:cNvSpPr txBox="1"/>
          <p:nvPr/>
        </p:nvSpPr>
        <p:spPr>
          <a:xfrm>
            <a:off x="1828800" y="1691640"/>
            <a:ext cx="3931920" cy="411480"/>
          </a:xfrm>
          <a:prstGeom prst="rect">
            <a:avLst/>
          </a:prstGeom>
          <a:noFill/>
        </p:spPr>
        <p:txBody>
          <a:bodyPr wrap="square">
            <a:spAutoFit/>
          </a:bodyPr>
          <a:lstStyle/>
          <a:p>
            <a:pPr algn="l"/>
            <a:r>
              <a:rPr sz="1900" b="1">
                <a:solidFill>
                  <a:srgbClr val="2E7D32"/>
                </a:solidFill>
                <a:latin typeface="Calibri"/>
              </a:rPr>
              <a:t>exhausted</a:t>
            </a:r>
          </a:p>
        </p:txBody>
      </p:sp>
      <p:sp>
        <p:nvSpPr>
          <p:cNvPr id="18" name="TextBox 17"/>
          <p:cNvSpPr txBox="1"/>
          <p:nvPr/>
        </p:nvSpPr>
        <p:spPr>
          <a:xfrm>
            <a:off x="1828800" y="2240280"/>
            <a:ext cx="3931920" cy="1005840"/>
          </a:xfrm>
          <a:prstGeom prst="rect">
            <a:avLst/>
          </a:prstGeom>
          <a:noFill/>
        </p:spPr>
        <p:txBody>
          <a:bodyPr wrap="square">
            <a:spAutoFit/>
          </a:bodyPr>
          <a:lstStyle/>
          <a:p>
            <a:pPr algn="l"/>
            <a:r>
              <a:rPr sz="1400" b="0">
                <a:solidFill>
                  <a:srgbClr val="1F2937"/>
                </a:solidFill>
                <a:latin typeface="Calibri"/>
              </a:rPr>
              <a:t>Tell me about a day YOU felt exhausted.</a:t>
            </a:r>
          </a:p>
        </p:txBody>
      </p:sp>
      <p:sp>
        <p:nvSpPr>
          <p:cNvPr id="19" name="Rounded Rectangle 18"/>
          <p:cNvSpPr/>
          <p:nvPr/>
        </p:nvSpPr>
        <p:spPr>
          <a:xfrm>
            <a:off x="6217920" y="1371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46520" y="1920240"/>
            <a:ext cx="914400" cy="914400"/>
          </a:xfrm>
          <a:prstGeom prst="ellipse">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2103120"/>
            <a:ext cx="914400" cy="548640"/>
          </a:xfrm>
          <a:prstGeom prst="rect">
            <a:avLst/>
          </a:prstGeom>
          <a:noFill/>
        </p:spPr>
        <p:txBody>
          <a:bodyPr wrap="square">
            <a:spAutoFit/>
          </a:bodyPr>
          <a:lstStyle/>
          <a:p>
            <a:pPr algn="ctr"/>
            <a:r>
              <a:rPr sz="2600" b="0">
                <a:solidFill>
                  <a:srgbClr val="1F2937"/>
                </a:solidFill>
                <a:latin typeface="Calibri"/>
              </a:rPr>
              <a:t>🗺️</a:t>
            </a:r>
          </a:p>
        </p:txBody>
      </p:sp>
      <p:sp>
        <p:nvSpPr>
          <p:cNvPr id="22" name="TextBox 21"/>
          <p:cNvSpPr txBox="1"/>
          <p:nvPr/>
        </p:nvSpPr>
        <p:spPr>
          <a:xfrm>
            <a:off x="7589520" y="1691640"/>
            <a:ext cx="3931920" cy="411480"/>
          </a:xfrm>
          <a:prstGeom prst="rect">
            <a:avLst/>
          </a:prstGeom>
          <a:noFill/>
        </p:spPr>
        <p:txBody>
          <a:bodyPr wrap="square">
            <a:spAutoFit/>
          </a:bodyPr>
          <a:lstStyle/>
          <a:p>
            <a:pPr algn="l"/>
            <a:r>
              <a:rPr sz="1900" b="1">
                <a:solidFill>
                  <a:srgbClr val="2E7D32"/>
                </a:solidFill>
                <a:latin typeface="Calibri"/>
              </a:rPr>
              <a:t>journey</a:t>
            </a:r>
          </a:p>
        </p:txBody>
      </p:sp>
      <p:sp>
        <p:nvSpPr>
          <p:cNvPr id="23" name="TextBox 22"/>
          <p:cNvSpPr txBox="1"/>
          <p:nvPr/>
        </p:nvSpPr>
        <p:spPr>
          <a:xfrm>
            <a:off x="7589520" y="2240280"/>
            <a:ext cx="3931920" cy="1005840"/>
          </a:xfrm>
          <a:prstGeom prst="rect">
            <a:avLst/>
          </a:prstGeom>
          <a:noFill/>
        </p:spPr>
        <p:txBody>
          <a:bodyPr wrap="square">
            <a:spAutoFit/>
          </a:bodyPr>
          <a:lstStyle/>
          <a:p>
            <a:pPr algn="l"/>
            <a:r>
              <a:rPr sz="1400" b="0">
                <a:solidFill>
                  <a:srgbClr val="1F2937"/>
                </a:solidFill>
                <a:latin typeface="Calibri"/>
              </a:rPr>
              <a:t>Describe a journey you have taken.</a:t>
            </a:r>
          </a:p>
        </p:txBody>
      </p:sp>
      <p:sp>
        <p:nvSpPr>
          <p:cNvPr id="24" name="Rounded Rectangle 23"/>
          <p:cNvSpPr/>
          <p:nvPr/>
        </p:nvSpPr>
        <p:spPr>
          <a:xfrm>
            <a:off x="457200" y="3657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5800" y="4206240"/>
            <a:ext cx="914400" cy="914400"/>
          </a:xfrm>
          <a:prstGeom prst="ellipse">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389120"/>
            <a:ext cx="914400" cy="548640"/>
          </a:xfrm>
          <a:prstGeom prst="rect">
            <a:avLst/>
          </a:prstGeom>
          <a:noFill/>
        </p:spPr>
        <p:txBody>
          <a:bodyPr wrap="square">
            <a:spAutoFit/>
          </a:bodyPr>
          <a:lstStyle/>
          <a:p>
            <a:pPr algn="ctr"/>
            <a:r>
              <a:rPr sz="2600" b="0">
                <a:solidFill>
                  <a:srgbClr val="1F2937"/>
                </a:solidFill>
                <a:latin typeface="Calibri"/>
              </a:rPr>
              <a:t>🤲</a:t>
            </a:r>
          </a:p>
        </p:txBody>
      </p:sp>
      <p:sp>
        <p:nvSpPr>
          <p:cNvPr id="27" name="TextBox 26"/>
          <p:cNvSpPr txBox="1"/>
          <p:nvPr/>
        </p:nvSpPr>
        <p:spPr>
          <a:xfrm>
            <a:off x="1828800" y="3977640"/>
            <a:ext cx="3931920" cy="411480"/>
          </a:xfrm>
          <a:prstGeom prst="rect">
            <a:avLst/>
          </a:prstGeom>
          <a:noFill/>
        </p:spPr>
        <p:txBody>
          <a:bodyPr wrap="square">
            <a:spAutoFit/>
          </a:bodyPr>
          <a:lstStyle/>
          <a:p>
            <a:pPr algn="l"/>
            <a:r>
              <a:rPr sz="1900" b="1">
                <a:solidFill>
                  <a:srgbClr val="2E7D32"/>
                </a:solidFill>
                <a:latin typeface="Calibri"/>
              </a:rPr>
              <a:t>gently</a:t>
            </a:r>
          </a:p>
        </p:txBody>
      </p:sp>
      <p:sp>
        <p:nvSpPr>
          <p:cNvPr id="28" name="TextBox 27"/>
          <p:cNvSpPr txBox="1"/>
          <p:nvPr/>
        </p:nvSpPr>
        <p:spPr>
          <a:xfrm>
            <a:off x="1828800" y="4526280"/>
            <a:ext cx="3931920" cy="1005840"/>
          </a:xfrm>
          <a:prstGeom prst="rect">
            <a:avLst/>
          </a:prstGeom>
          <a:noFill/>
        </p:spPr>
        <p:txBody>
          <a:bodyPr wrap="square">
            <a:spAutoFit/>
          </a:bodyPr>
          <a:lstStyle/>
          <a:p>
            <a:pPr algn="l"/>
            <a:r>
              <a:rPr sz="1400" b="0">
                <a:solidFill>
                  <a:srgbClr val="1F2937"/>
                </a:solidFill>
                <a:latin typeface="Calibri"/>
              </a:rPr>
              <a:t>What do you hold gently?</a:t>
            </a:r>
          </a:p>
        </p:txBody>
      </p:sp>
      <p:sp>
        <p:nvSpPr>
          <p:cNvPr id="29" name="Rounded Rectangle 28"/>
          <p:cNvSpPr/>
          <p:nvPr/>
        </p:nvSpPr>
        <p:spPr>
          <a:xfrm>
            <a:off x="6217920" y="3657600"/>
            <a:ext cx="548640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46520" y="4206240"/>
            <a:ext cx="914400" cy="914400"/>
          </a:xfrm>
          <a:prstGeom prst="ellipse">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389120"/>
            <a:ext cx="914400" cy="548640"/>
          </a:xfrm>
          <a:prstGeom prst="rect">
            <a:avLst/>
          </a:prstGeom>
          <a:noFill/>
        </p:spPr>
        <p:txBody>
          <a:bodyPr wrap="square">
            <a:spAutoFit/>
          </a:bodyPr>
          <a:lstStyle/>
          <a:p>
            <a:pPr algn="ctr"/>
            <a:r>
              <a:rPr sz="2600" b="0">
                <a:solidFill>
                  <a:srgbClr val="1F2937"/>
                </a:solidFill>
                <a:latin typeface="Calibri"/>
              </a:rPr>
              <a:t>🙋</a:t>
            </a:r>
          </a:p>
        </p:txBody>
      </p:sp>
      <p:sp>
        <p:nvSpPr>
          <p:cNvPr id="32" name="TextBox 31"/>
          <p:cNvSpPr txBox="1"/>
          <p:nvPr/>
        </p:nvSpPr>
        <p:spPr>
          <a:xfrm>
            <a:off x="7589520" y="3977640"/>
            <a:ext cx="3931920" cy="411480"/>
          </a:xfrm>
          <a:prstGeom prst="rect">
            <a:avLst/>
          </a:prstGeom>
          <a:noFill/>
        </p:spPr>
        <p:txBody>
          <a:bodyPr wrap="square">
            <a:spAutoFit/>
          </a:bodyPr>
          <a:lstStyle/>
          <a:p>
            <a:pPr algn="l"/>
            <a:r>
              <a:rPr sz="1900" b="1">
                <a:solidFill>
                  <a:srgbClr val="2E7D32"/>
                </a:solidFill>
                <a:latin typeface="Calibri"/>
              </a:rPr>
              <a:t>volunteer</a:t>
            </a:r>
          </a:p>
        </p:txBody>
      </p:sp>
      <p:sp>
        <p:nvSpPr>
          <p:cNvPr id="33" name="TextBox 32"/>
          <p:cNvSpPr txBox="1"/>
          <p:nvPr/>
        </p:nvSpPr>
        <p:spPr>
          <a:xfrm>
            <a:off x="7589520" y="4526280"/>
            <a:ext cx="3931920" cy="1005840"/>
          </a:xfrm>
          <a:prstGeom prst="rect">
            <a:avLst/>
          </a:prstGeom>
          <a:noFill/>
        </p:spPr>
        <p:txBody>
          <a:bodyPr wrap="square">
            <a:spAutoFit/>
          </a:bodyPr>
          <a:lstStyle/>
          <a:p>
            <a:pPr algn="l"/>
            <a:r>
              <a:rPr sz="1400" b="0">
                <a:solidFill>
                  <a:srgbClr val="1F2937"/>
                </a:solidFill>
                <a:latin typeface="Calibri"/>
              </a:rPr>
              <a:t>How could you volunteer at your school?</a:t>
            </a:r>
          </a:p>
        </p:txBody>
      </p:sp>
      <p:sp>
        <p:nvSpPr>
          <p:cNvPr id="34" name="TextBox 33"/>
          <p:cNvSpPr txBox="1"/>
          <p:nvPr/>
        </p:nvSpPr>
        <p:spPr>
          <a:xfrm>
            <a:off x="457200" y="6035040"/>
            <a:ext cx="8778240" cy="320040"/>
          </a:xfrm>
          <a:prstGeom prst="rect">
            <a:avLst/>
          </a:prstGeom>
          <a:noFill/>
        </p:spPr>
        <p:txBody>
          <a:bodyPr wrap="square">
            <a:spAutoFit/>
          </a:bodyPr>
          <a:lstStyle/>
          <a:p>
            <a:pPr algn="l"/>
            <a:r>
              <a:rPr sz="1400" b="1">
                <a:solidFill>
                  <a:srgbClr val="FF6F61"/>
                </a:solidFill>
                <a:latin typeface="Calibri"/>
              </a:rPr>
              <a:t>🌟 Full sentences only — I want to hear that word doing its job!</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Tenses: Your Time Machine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5601589"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17 / 37</a:t>
            </a:r>
          </a:p>
        </p:txBody>
      </p:sp>
      <p:sp>
        <p:nvSpPr>
          <p:cNvPr id="14" name="TextBox 13"/>
          <p:cNvSpPr txBox="1"/>
          <p:nvPr/>
        </p:nvSpPr>
        <p:spPr>
          <a:xfrm>
            <a:off x="411480" y="1234440"/>
            <a:ext cx="11338560" cy="411480"/>
          </a:xfrm>
          <a:prstGeom prst="rect">
            <a:avLst/>
          </a:prstGeom>
          <a:noFill/>
        </p:spPr>
        <p:txBody>
          <a:bodyPr wrap="square">
            <a:spAutoFit/>
          </a:bodyPr>
          <a:lstStyle/>
          <a:p>
            <a:pPr algn="l"/>
            <a:r>
              <a:rPr sz="1700" b="1">
                <a:solidFill>
                  <a:srgbClr val="0A2A6E"/>
                </a:solidFill>
                <a:latin typeface="Calibri"/>
              </a:rPr>
              <a:t>Every sentence tells us WHEN something happens. That's a tense!</a:t>
            </a:r>
          </a:p>
        </p:txBody>
      </p:sp>
      <p:sp>
        <p:nvSpPr>
          <p:cNvPr id="15" name="Rectangle 14"/>
          <p:cNvSpPr/>
          <p:nvPr/>
        </p:nvSpPr>
        <p:spPr>
          <a:xfrm>
            <a:off x="1188720" y="2139695"/>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88720" y="2002535"/>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532887"/>
            <a:ext cx="1554480" cy="274320"/>
          </a:xfrm>
          <a:prstGeom prst="rect">
            <a:avLst/>
          </a:prstGeom>
          <a:noFill/>
        </p:spPr>
        <p:txBody>
          <a:bodyPr wrap="square">
            <a:spAutoFit/>
          </a:bodyPr>
          <a:lstStyle/>
          <a:p>
            <a:pPr algn="ctr"/>
            <a:r>
              <a:rPr sz="1200" b="1">
                <a:solidFill>
                  <a:srgbClr val="64748B"/>
                </a:solidFill>
                <a:latin typeface="Calibri"/>
              </a:rPr>
              <a:t>PAST</a:t>
            </a:r>
          </a:p>
        </p:txBody>
      </p:sp>
      <p:sp>
        <p:nvSpPr>
          <p:cNvPr id="18" name="Oval 17"/>
          <p:cNvSpPr/>
          <p:nvPr/>
        </p:nvSpPr>
        <p:spPr>
          <a:xfrm>
            <a:off x="5733288" y="1856231"/>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2532887"/>
            <a:ext cx="1554480" cy="274320"/>
          </a:xfrm>
          <a:prstGeom prst="rect">
            <a:avLst/>
          </a:prstGeom>
          <a:noFill/>
        </p:spPr>
        <p:txBody>
          <a:bodyPr wrap="square">
            <a:spAutoFit/>
          </a:bodyPr>
          <a:lstStyle/>
          <a:p>
            <a:pPr algn="ctr"/>
            <a:r>
              <a:rPr sz="1200" b="1">
                <a:solidFill>
                  <a:srgbClr val="0A2A6E"/>
                </a:solidFill>
                <a:latin typeface="Calibri"/>
              </a:rPr>
              <a:t>NOW</a:t>
            </a:r>
          </a:p>
        </p:txBody>
      </p:sp>
      <p:sp>
        <p:nvSpPr>
          <p:cNvPr id="20" name="Oval 19"/>
          <p:cNvSpPr/>
          <p:nvPr/>
        </p:nvSpPr>
        <p:spPr>
          <a:xfrm>
            <a:off x="10332720" y="2002535"/>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0" y="2532887"/>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2" name="Rounded Rectangle 21"/>
          <p:cNvSpPr/>
          <p:nvPr/>
        </p:nvSpPr>
        <p:spPr>
          <a:xfrm>
            <a:off x="502920" y="3200400"/>
            <a:ext cx="3611880" cy="265176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74520" y="3383280"/>
            <a:ext cx="868680" cy="868680"/>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74520" y="3529584"/>
            <a:ext cx="868680" cy="548640"/>
          </a:xfrm>
          <a:prstGeom prst="rect">
            <a:avLst/>
          </a:prstGeom>
          <a:noFill/>
        </p:spPr>
        <p:txBody>
          <a:bodyPr wrap="square">
            <a:spAutoFit/>
          </a:bodyPr>
          <a:lstStyle/>
          <a:p>
            <a:pPr algn="ctr"/>
            <a:r>
              <a:rPr sz="2400" b="0">
                <a:solidFill>
                  <a:srgbClr val="1F2937"/>
                </a:solidFill>
                <a:latin typeface="Calibri"/>
              </a:rPr>
              <a:t>⏪</a:t>
            </a:r>
          </a:p>
        </p:txBody>
      </p:sp>
      <p:sp>
        <p:nvSpPr>
          <p:cNvPr id="25" name="TextBox 24"/>
          <p:cNvSpPr txBox="1"/>
          <p:nvPr/>
        </p:nvSpPr>
        <p:spPr>
          <a:xfrm>
            <a:off x="640080" y="4343400"/>
            <a:ext cx="3337560" cy="365760"/>
          </a:xfrm>
          <a:prstGeom prst="rect">
            <a:avLst/>
          </a:prstGeom>
          <a:noFill/>
        </p:spPr>
        <p:txBody>
          <a:bodyPr wrap="square">
            <a:spAutoFit/>
          </a:bodyPr>
          <a:lstStyle/>
          <a:p>
            <a:pPr algn="ctr"/>
            <a:r>
              <a:rPr sz="1700" b="1">
                <a:solidFill>
                  <a:srgbClr val="FF6F61"/>
                </a:solidFill>
                <a:latin typeface="Calibri"/>
              </a:rPr>
              <a:t>PAST</a:t>
            </a:r>
          </a:p>
        </p:txBody>
      </p:sp>
      <p:sp>
        <p:nvSpPr>
          <p:cNvPr id="26" name="TextBox 25"/>
          <p:cNvSpPr txBox="1"/>
          <p:nvPr/>
        </p:nvSpPr>
        <p:spPr>
          <a:xfrm>
            <a:off x="640080" y="4754880"/>
            <a:ext cx="3337560" cy="548640"/>
          </a:xfrm>
          <a:prstGeom prst="rect">
            <a:avLst/>
          </a:prstGeom>
          <a:noFill/>
        </p:spPr>
        <p:txBody>
          <a:bodyPr wrap="square">
            <a:spAutoFit/>
          </a:bodyPr>
          <a:lstStyle/>
          <a:p>
            <a:pPr algn="ctr"/>
            <a:r>
              <a:rPr sz="1300" b="0">
                <a:solidFill>
                  <a:srgbClr val="1F2937"/>
                </a:solidFill>
                <a:latin typeface="Calibri"/>
              </a:rPr>
              <a:t>It already
happened.</a:t>
            </a:r>
          </a:p>
        </p:txBody>
      </p:sp>
      <p:sp>
        <p:nvSpPr>
          <p:cNvPr id="27" name="TextBox 26"/>
          <p:cNvSpPr txBox="1"/>
          <p:nvPr/>
        </p:nvSpPr>
        <p:spPr>
          <a:xfrm>
            <a:off x="640080" y="5303520"/>
            <a:ext cx="3337560" cy="457200"/>
          </a:xfrm>
          <a:prstGeom prst="rect">
            <a:avLst/>
          </a:prstGeom>
          <a:noFill/>
        </p:spPr>
        <p:txBody>
          <a:bodyPr wrap="square">
            <a:spAutoFit/>
          </a:bodyPr>
          <a:lstStyle/>
          <a:p>
            <a:pPr algn="ctr"/>
            <a:r>
              <a:rPr sz="1300" b="1">
                <a:solidFill>
                  <a:srgbClr val="0A2A6E"/>
                </a:solidFill>
                <a:latin typeface="Calibri"/>
              </a:rPr>
              <a:t>"I played soccer
yesterday."</a:t>
            </a:r>
          </a:p>
        </p:txBody>
      </p:sp>
      <p:sp>
        <p:nvSpPr>
          <p:cNvPr id="28" name="Rounded Rectangle 27"/>
          <p:cNvSpPr/>
          <p:nvPr/>
        </p:nvSpPr>
        <p:spPr>
          <a:xfrm>
            <a:off x="4297680" y="3200400"/>
            <a:ext cx="3611880" cy="265176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69280" y="3383280"/>
            <a:ext cx="868680" cy="86868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3529584"/>
            <a:ext cx="868680" cy="548640"/>
          </a:xfrm>
          <a:prstGeom prst="rect">
            <a:avLst/>
          </a:prstGeom>
          <a:noFill/>
        </p:spPr>
        <p:txBody>
          <a:bodyPr wrap="square">
            <a:spAutoFit/>
          </a:bodyPr>
          <a:lstStyle/>
          <a:p>
            <a:pPr algn="ctr"/>
            <a:r>
              <a:rPr sz="2400" b="0">
                <a:solidFill>
                  <a:srgbClr val="1F2937"/>
                </a:solidFill>
                <a:latin typeface="Calibri"/>
              </a:rPr>
              <a:t>⏺️</a:t>
            </a:r>
          </a:p>
        </p:txBody>
      </p:sp>
      <p:sp>
        <p:nvSpPr>
          <p:cNvPr id="31" name="TextBox 30"/>
          <p:cNvSpPr txBox="1"/>
          <p:nvPr/>
        </p:nvSpPr>
        <p:spPr>
          <a:xfrm>
            <a:off x="4434840" y="4343400"/>
            <a:ext cx="3337560" cy="365760"/>
          </a:xfrm>
          <a:prstGeom prst="rect">
            <a:avLst/>
          </a:prstGeom>
          <a:noFill/>
        </p:spPr>
        <p:txBody>
          <a:bodyPr wrap="square">
            <a:spAutoFit/>
          </a:bodyPr>
          <a:lstStyle/>
          <a:p>
            <a:pPr algn="ctr"/>
            <a:r>
              <a:rPr sz="1700" b="1">
                <a:solidFill>
                  <a:srgbClr val="009688"/>
                </a:solidFill>
                <a:latin typeface="Calibri"/>
              </a:rPr>
              <a:t>NOW</a:t>
            </a:r>
          </a:p>
        </p:txBody>
      </p:sp>
      <p:sp>
        <p:nvSpPr>
          <p:cNvPr id="32" name="TextBox 31"/>
          <p:cNvSpPr txBox="1"/>
          <p:nvPr/>
        </p:nvSpPr>
        <p:spPr>
          <a:xfrm>
            <a:off x="4434840" y="4754880"/>
            <a:ext cx="3337560" cy="548640"/>
          </a:xfrm>
          <a:prstGeom prst="rect">
            <a:avLst/>
          </a:prstGeom>
          <a:noFill/>
        </p:spPr>
        <p:txBody>
          <a:bodyPr wrap="square">
            <a:spAutoFit/>
          </a:bodyPr>
          <a:lstStyle/>
          <a:p>
            <a:pPr algn="ctr"/>
            <a:r>
              <a:rPr sz="1300" b="0">
                <a:solidFill>
                  <a:srgbClr val="1F2937"/>
                </a:solidFill>
                <a:latin typeface="Calibri"/>
              </a:rPr>
              <a:t>It is happening
right now.</a:t>
            </a:r>
          </a:p>
        </p:txBody>
      </p:sp>
      <p:sp>
        <p:nvSpPr>
          <p:cNvPr id="33" name="TextBox 32"/>
          <p:cNvSpPr txBox="1"/>
          <p:nvPr/>
        </p:nvSpPr>
        <p:spPr>
          <a:xfrm>
            <a:off x="4434840" y="5303520"/>
            <a:ext cx="3337560" cy="457200"/>
          </a:xfrm>
          <a:prstGeom prst="rect">
            <a:avLst/>
          </a:prstGeom>
          <a:noFill/>
        </p:spPr>
        <p:txBody>
          <a:bodyPr wrap="square">
            <a:spAutoFit/>
          </a:bodyPr>
          <a:lstStyle/>
          <a:p>
            <a:pPr algn="ctr"/>
            <a:r>
              <a:rPr sz="1300" b="1">
                <a:solidFill>
                  <a:srgbClr val="0A2A6E"/>
                </a:solidFill>
                <a:latin typeface="Calibri"/>
              </a:rPr>
              <a:t>"I am playing
soccer."</a:t>
            </a:r>
          </a:p>
        </p:txBody>
      </p:sp>
      <p:sp>
        <p:nvSpPr>
          <p:cNvPr id="34" name="Rounded Rectangle 33"/>
          <p:cNvSpPr/>
          <p:nvPr/>
        </p:nvSpPr>
        <p:spPr>
          <a:xfrm>
            <a:off x="8092440" y="3200400"/>
            <a:ext cx="3611880" cy="2651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464040" y="3383280"/>
            <a:ext cx="868680" cy="86868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64040" y="3529584"/>
            <a:ext cx="868680" cy="548640"/>
          </a:xfrm>
          <a:prstGeom prst="rect">
            <a:avLst/>
          </a:prstGeom>
          <a:noFill/>
        </p:spPr>
        <p:txBody>
          <a:bodyPr wrap="square">
            <a:spAutoFit/>
          </a:bodyPr>
          <a:lstStyle/>
          <a:p>
            <a:pPr algn="ctr"/>
            <a:r>
              <a:rPr sz="2400" b="0">
                <a:solidFill>
                  <a:srgbClr val="1F2937"/>
                </a:solidFill>
                <a:latin typeface="Calibri"/>
              </a:rPr>
              <a:t>⏩</a:t>
            </a:r>
          </a:p>
        </p:txBody>
      </p:sp>
      <p:sp>
        <p:nvSpPr>
          <p:cNvPr id="37" name="TextBox 36"/>
          <p:cNvSpPr txBox="1"/>
          <p:nvPr/>
        </p:nvSpPr>
        <p:spPr>
          <a:xfrm>
            <a:off x="8229600" y="4343400"/>
            <a:ext cx="3337560" cy="365760"/>
          </a:xfrm>
          <a:prstGeom prst="rect">
            <a:avLst/>
          </a:prstGeom>
          <a:noFill/>
        </p:spPr>
        <p:txBody>
          <a:bodyPr wrap="square">
            <a:spAutoFit/>
          </a:bodyPr>
          <a:lstStyle/>
          <a:p>
            <a:pPr algn="ctr"/>
            <a:r>
              <a:rPr sz="1700" b="1">
                <a:solidFill>
                  <a:srgbClr val="FFB300"/>
                </a:solidFill>
                <a:latin typeface="Calibri"/>
              </a:rPr>
              <a:t>FUTURE</a:t>
            </a:r>
          </a:p>
        </p:txBody>
      </p:sp>
      <p:sp>
        <p:nvSpPr>
          <p:cNvPr id="38" name="TextBox 37"/>
          <p:cNvSpPr txBox="1"/>
          <p:nvPr/>
        </p:nvSpPr>
        <p:spPr>
          <a:xfrm>
            <a:off x="8229600" y="4754880"/>
            <a:ext cx="3337560" cy="548640"/>
          </a:xfrm>
          <a:prstGeom prst="rect">
            <a:avLst/>
          </a:prstGeom>
          <a:noFill/>
        </p:spPr>
        <p:txBody>
          <a:bodyPr wrap="square">
            <a:spAutoFit/>
          </a:bodyPr>
          <a:lstStyle/>
          <a:p>
            <a:pPr algn="ctr"/>
            <a:r>
              <a:rPr sz="1300" b="0">
                <a:solidFill>
                  <a:srgbClr val="1F2937"/>
                </a:solidFill>
                <a:latin typeface="Calibri"/>
              </a:rPr>
              <a:t>It has not
happened yet.</a:t>
            </a:r>
          </a:p>
        </p:txBody>
      </p:sp>
      <p:sp>
        <p:nvSpPr>
          <p:cNvPr id="39" name="TextBox 38"/>
          <p:cNvSpPr txBox="1"/>
          <p:nvPr/>
        </p:nvSpPr>
        <p:spPr>
          <a:xfrm>
            <a:off x="8229600" y="5303520"/>
            <a:ext cx="3337560" cy="457200"/>
          </a:xfrm>
          <a:prstGeom prst="rect">
            <a:avLst/>
          </a:prstGeom>
          <a:noFill/>
        </p:spPr>
        <p:txBody>
          <a:bodyPr wrap="square">
            <a:spAutoFit/>
          </a:bodyPr>
          <a:lstStyle/>
          <a:p>
            <a:pPr algn="ctr"/>
            <a:r>
              <a:rPr sz="1300" b="1">
                <a:solidFill>
                  <a:srgbClr val="0A2A6E"/>
                </a:solidFill>
                <a:latin typeface="Calibri"/>
              </a:rPr>
              <a:t>"I will play soccer
tomorrow."</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Simple Present</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5931094"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18 / 37</a:t>
            </a:r>
          </a:p>
        </p:txBody>
      </p:sp>
      <p:sp>
        <p:nvSpPr>
          <p:cNvPr id="14" name="Rectangle 13"/>
          <p:cNvSpPr/>
          <p:nvPr/>
        </p:nvSpPr>
        <p:spPr>
          <a:xfrm>
            <a:off x="1188720" y="1435608"/>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28800"/>
            <a:ext cx="1554480" cy="274320"/>
          </a:xfrm>
          <a:prstGeom prst="rect">
            <a:avLst/>
          </a:prstGeom>
          <a:noFill/>
        </p:spPr>
        <p:txBody>
          <a:bodyPr wrap="square">
            <a:spAutoFit/>
          </a:bodyPr>
          <a:lstStyle/>
          <a:p>
            <a:pPr algn="ctr"/>
            <a:r>
              <a:rPr sz="1200" b="1">
                <a:solidFill>
                  <a:srgbClr val="64748B"/>
                </a:solidFill>
                <a:latin typeface="Calibri"/>
              </a:rPr>
              <a:t>PAST</a:t>
            </a:r>
          </a:p>
        </p:txBody>
      </p:sp>
      <p:sp>
        <p:nvSpPr>
          <p:cNvPr id="17" name="Oval 16"/>
          <p:cNvSpPr/>
          <p:nvPr/>
        </p:nvSpPr>
        <p:spPr>
          <a:xfrm>
            <a:off x="5733288" y="1152144"/>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28800"/>
            <a:ext cx="1554480" cy="274320"/>
          </a:xfrm>
          <a:prstGeom prst="rect">
            <a:avLst/>
          </a:prstGeom>
          <a:noFill/>
        </p:spPr>
        <p:txBody>
          <a:bodyPr wrap="square">
            <a:spAutoFit/>
          </a:bodyPr>
          <a:lstStyle/>
          <a:p>
            <a:pPr algn="ctr"/>
            <a:r>
              <a:rPr sz="1200" b="1">
                <a:solidFill>
                  <a:srgbClr val="0A2A6E"/>
                </a:solidFill>
                <a:latin typeface="Calibri"/>
              </a:rPr>
              <a:t>NOW</a:t>
            </a:r>
          </a:p>
        </p:txBody>
      </p:sp>
      <p:sp>
        <p:nvSpPr>
          <p:cNvPr id="19" name="Oval 18"/>
          <p:cNvSpPr/>
          <p:nvPr/>
        </p:nvSpPr>
        <p:spPr>
          <a:xfrm>
            <a:off x="10332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28800"/>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1" name="Rounded Rectangle 20"/>
          <p:cNvSpPr/>
          <p:nvPr/>
        </p:nvSpPr>
        <p:spPr>
          <a:xfrm>
            <a:off x="411480" y="2286000"/>
            <a:ext cx="5577840" cy="379476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468880"/>
            <a:ext cx="5120640" cy="320040"/>
          </a:xfrm>
          <a:prstGeom prst="rect">
            <a:avLst/>
          </a:prstGeom>
          <a:noFill/>
        </p:spPr>
        <p:txBody>
          <a:bodyPr wrap="square">
            <a:spAutoFit/>
          </a:bodyPr>
          <a:lstStyle/>
          <a:p>
            <a:pPr algn="l"/>
            <a:r>
              <a:rPr sz="1300" b="1">
                <a:solidFill>
                  <a:srgbClr val="009688"/>
                </a:solidFill>
                <a:latin typeface="Calibri"/>
              </a:rPr>
              <a:t>WHEN DO WE USE IT?</a:t>
            </a:r>
          </a:p>
        </p:txBody>
      </p:sp>
      <p:sp>
        <p:nvSpPr>
          <p:cNvPr id="23" name="TextBox 22"/>
          <p:cNvSpPr txBox="1"/>
          <p:nvPr/>
        </p:nvSpPr>
        <p:spPr>
          <a:xfrm>
            <a:off x="658368" y="2834640"/>
            <a:ext cx="5120640" cy="777240"/>
          </a:xfrm>
          <a:prstGeom prst="rect">
            <a:avLst/>
          </a:prstGeom>
          <a:noFill/>
        </p:spPr>
        <p:txBody>
          <a:bodyPr wrap="square">
            <a:spAutoFit/>
          </a:bodyPr>
          <a:lstStyle/>
          <a:p>
            <a:pPr algn="l"/>
            <a:r>
              <a:rPr sz="1500" b="0">
                <a:solidFill>
                  <a:srgbClr val="1F2937"/>
                </a:solidFill>
                <a:latin typeface="Calibri"/>
              </a:rPr>
              <a:t>Things that happen again and again, and facts that are always true.</a:t>
            </a:r>
          </a:p>
        </p:txBody>
      </p:sp>
      <p:sp>
        <p:nvSpPr>
          <p:cNvPr id="24" name="TextBox 23"/>
          <p:cNvSpPr txBox="1"/>
          <p:nvPr/>
        </p:nvSpPr>
        <p:spPr>
          <a:xfrm>
            <a:off x="658368" y="3703320"/>
            <a:ext cx="5120640" cy="320040"/>
          </a:xfrm>
          <a:prstGeom prst="rect">
            <a:avLst/>
          </a:prstGeom>
          <a:noFill/>
        </p:spPr>
        <p:txBody>
          <a:bodyPr wrap="square">
            <a:spAutoFit/>
          </a:bodyPr>
          <a:lstStyle/>
          <a:p>
            <a:pPr algn="l"/>
            <a:r>
              <a:rPr sz="1300" b="1">
                <a:solidFill>
                  <a:srgbClr val="009688"/>
                </a:solidFill>
                <a:latin typeface="Calibri"/>
              </a:rPr>
              <a:t>SENTENCE BUILDER</a:t>
            </a:r>
          </a:p>
        </p:txBody>
      </p:sp>
      <p:sp>
        <p:nvSpPr>
          <p:cNvPr id="25" name="Rounded Rectangle 24"/>
          <p:cNvSpPr/>
          <p:nvPr/>
        </p:nvSpPr>
        <p:spPr>
          <a:xfrm>
            <a:off x="658368" y="4069080"/>
            <a:ext cx="5074920" cy="594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206240"/>
            <a:ext cx="4846320" cy="365760"/>
          </a:xfrm>
          <a:prstGeom prst="rect">
            <a:avLst/>
          </a:prstGeom>
          <a:noFill/>
        </p:spPr>
        <p:txBody>
          <a:bodyPr wrap="square">
            <a:spAutoFit/>
          </a:bodyPr>
          <a:lstStyle/>
          <a:p>
            <a:pPr algn="l"/>
            <a:r>
              <a:rPr sz="1400" b="1">
                <a:solidFill>
                  <a:srgbClr val="0A2A6E"/>
                </a:solidFill>
                <a:latin typeface="Calibri"/>
              </a:rPr>
              <a:t>Subject  +  verb  (+ s for he / she / it)</a:t>
            </a:r>
          </a:p>
        </p:txBody>
      </p:sp>
      <p:sp>
        <p:nvSpPr>
          <p:cNvPr id="27" name="TextBox 26"/>
          <p:cNvSpPr txBox="1"/>
          <p:nvPr/>
        </p:nvSpPr>
        <p:spPr>
          <a:xfrm>
            <a:off x="658368" y="4846320"/>
            <a:ext cx="5120640" cy="320040"/>
          </a:xfrm>
          <a:prstGeom prst="rect">
            <a:avLst/>
          </a:prstGeom>
          <a:noFill/>
        </p:spPr>
        <p:txBody>
          <a:bodyPr wrap="square">
            <a:spAutoFit/>
          </a:bodyPr>
          <a:lstStyle/>
          <a:p>
            <a:pPr algn="l"/>
            <a:r>
              <a:rPr sz="1300" b="1">
                <a:solidFill>
                  <a:srgbClr val="009688"/>
                </a:solidFill>
                <a:latin typeface="Calibri"/>
              </a:rPr>
              <a:t>SIGNAL WORDS 🚦</a:t>
            </a:r>
          </a:p>
        </p:txBody>
      </p:sp>
      <p:sp>
        <p:nvSpPr>
          <p:cNvPr id="28" name="TextBox 27"/>
          <p:cNvSpPr txBox="1"/>
          <p:nvPr/>
        </p:nvSpPr>
        <p:spPr>
          <a:xfrm>
            <a:off x="658368" y="5212080"/>
            <a:ext cx="5120640" cy="685800"/>
          </a:xfrm>
          <a:prstGeom prst="rect">
            <a:avLst/>
          </a:prstGeom>
          <a:noFill/>
        </p:spPr>
        <p:txBody>
          <a:bodyPr wrap="square">
            <a:spAutoFit/>
          </a:bodyPr>
          <a:lstStyle/>
          <a:p>
            <a:pPr algn="l"/>
            <a:r>
              <a:rPr sz="1300" b="0">
                <a:solidFill>
                  <a:srgbClr val="1F2937"/>
                </a:solidFill>
                <a:latin typeface="Calibri"/>
              </a:rPr>
              <a:t>every day  •  always  •  usually  •  often  •  never  •  on Mondays</a:t>
            </a:r>
          </a:p>
        </p:txBody>
      </p:sp>
      <p:sp>
        <p:nvSpPr>
          <p:cNvPr id="29" name="Rounded Rectangle 28"/>
          <p:cNvSpPr/>
          <p:nvPr/>
        </p:nvSpPr>
        <p:spPr>
          <a:xfrm>
            <a:off x="6172200" y="2286000"/>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377440"/>
            <a:ext cx="1828800" cy="292608"/>
          </a:xfrm>
          <a:prstGeom prst="rect">
            <a:avLst/>
          </a:prstGeom>
          <a:noFill/>
        </p:spPr>
        <p:txBody>
          <a:bodyPr wrap="square">
            <a:spAutoFit/>
          </a:bodyPr>
          <a:lstStyle/>
          <a:p>
            <a:pPr algn="l"/>
            <a:r>
              <a:rPr sz="1100" b="1">
                <a:solidFill>
                  <a:srgbClr val="2E7D32"/>
                </a:solidFill>
                <a:latin typeface="Calibri"/>
              </a:rPr>
              <a:t>✅  POSITIVE</a:t>
            </a:r>
          </a:p>
        </p:txBody>
      </p:sp>
      <p:sp>
        <p:nvSpPr>
          <p:cNvPr id="31" name="TextBox 30"/>
          <p:cNvSpPr txBox="1"/>
          <p:nvPr/>
        </p:nvSpPr>
        <p:spPr>
          <a:xfrm>
            <a:off x="6355080" y="2706624"/>
            <a:ext cx="5212080" cy="384048"/>
          </a:xfrm>
          <a:prstGeom prst="rect">
            <a:avLst/>
          </a:prstGeom>
          <a:noFill/>
        </p:spPr>
        <p:txBody>
          <a:bodyPr wrap="square">
            <a:spAutoFit/>
          </a:bodyPr>
          <a:lstStyle/>
          <a:p>
            <a:pPr algn="l"/>
            <a:r>
              <a:rPr sz="1500" b="1">
                <a:solidFill>
                  <a:srgbClr val="0A2A6E"/>
                </a:solidFill>
                <a:latin typeface="Calibri"/>
              </a:rPr>
              <a:t>Maya helps the turtles every August.</a:t>
            </a:r>
          </a:p>
        </p:txBody>
      </p:sp>
      <p:sp>
        <p:nvSpPr>
          <p:cNvPr id="32" name="Rounded Rectangle 31"/>
          <p:cNvSpPr/>
          <p:nvPr/>
        </p:nvSpPr>
        <p:spPr>
          <a:xfrm>
            <a:off x="6172200" y="3310128"/>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401568"/>
            <a:ext cx="1828800" cy="292608"/>
          </a:xfrm>
          <a:prstGeom prst="rect">
            <a:avLst/>
          </a:prstGeom>
          <a:noFill/>
        </p:spPr>
        <p:txBody>
          <a:bodyPr wrap="square">
            <a:spAutoFit/>
          </a:bodyPr>
          <a:lstStyle/>
          <a:p>
            <a:pPr algn="l"/>
            <a:r>
              <a:rPr sz="1100" b="1">
                <a:solidFill>
                  <a:srgbClr val="FF6F61"/>
                </a:solidFill>
                <a:latin typeface="Calibri"/>
              </a:rPr>
              <a:t>❌  NEGATIVE</a:t>
            </a:r>
          </a:p>
        </p:txBody>
      </p:sp>
      <p:sp>
        <p:nvSpPr>
          <p:cNvPr id="34" name="TextBox 33"/>
          <p:cNvSpPr txBox="1"/>
          <p:nvPr/>
        </p:nvSpPr>
        <p:spPr>
          <a:xfrm>
            <a:off x="6355080" y="3730752"/>
            <a:ext cx="5212080" cy="384048"/>
          </a:xfrm>
          <a:prstGeom prst="rect">
            <a:avLst/>
          </a:prstGeom>
          <a:noFill/>
        </p:spPr>
        <p:txBody>
          <a:bodyPr wrap="square">
            <a:spAutoFit/>
          </a:bodyPr>
          <a:lstStyle/>
          <a:p>
            <a:pPr algn="l"/>
            <a:r>
              <a:rPr sz="1500" b="1">
                <a:solidFill>
                  <a:srgbClr val="0A2A6E"/>
                </a:solidFill>
                <a:latin typeface="Calibri"/>
              </a:rPr>
              <a:t>Maya does not help on rainy nights.</a:t>
            </a:r>
          </a:p>
        </p:txBody>
      </p:sp>
      <p:sp>
        <p:nvSpPr>
          <p:cNvPr id="35" name="Rounded Rectangle 34"/>
          <p:cNvSpPr/>
          <p:nvPr/>
        </p:nvSpPr>
        <p:spPr>
          <a:xfrm>
            <a:off x="6172200" y="4334256"/>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5080" y="4425696"/>
            <a:ext cx="1828800" cy="292608"/>
          </a:xfrm>
          <a:prstGeom prst="rect">
            <a:avLst/>
          </a:prstGeom>
          <a:noFill/>
        </p:spPr>
        <p:txBody>
          <a:bodyPr wrap="square">
            <a:spAutoFit/>
          </a:bodyPr>
          <a:lstStyle/>
          <a:p>
            <a:pPr algn="l"/>
            <a:r>
              <a:rPr sz="1100" b="1">
                <a:solidFill>
                  <a:srgbClr val="7E57C2"/>
                </a:solidFill>
                <a:latin typeface="Calibri"/>
              </a:rPr>
              <a:t>❓  QUESTION</a:t>
            </a:r>
          </a:p>
        </p:txBody>
      </p:sp>
      <p:sp>
        <p:nvSpPr>
          <p:cNvPr id="37" name="TextBox 36"/>
          <p:cNvSpPr txBox="1"/>
          <p:nvPr/>
        </p:nvSpPr>
        <p:spPr>
          <a:xfrm>
            <a:off x="6355080" y="4754880"/>
            <a:ext cx="5212080" cy="384048"/>
          </a:xfrm>
          <a:prstGeom prst="rect">
            <a:avLst/>
          </a:prstGeom>
          <a:noFill/>
        </p:spPr>
        <p:txBody>
          <a:bodyPr wrap="square">
            <a:spAutoFit/>
          </a:bodyPr>
          <a:lstStyle/>
          <a:p>
            <a:pPr algn="l"/>
            <a:r>
              <a:rPr sz="1500" b="1">
                <a:solidFill>
                  <a:srgbClr val="0A2A6E"/>
                </a:solidFill>
                <a:latin typeface="Calibri"/>
              </a:rPr>
              <a:t>Does Maya help the turtles?</a:t>
            </a:r>
          </a:p>
        </p:txBody>
      </p:sp>
      <p:sp>
        <p:nvSpPr>
          <p:cNvPr id="38" name="Rounded Rectangle 37"/>
          <p:cNvSpPr/>
          <p:nvPr/>
        </p:nvSpPr>
        <p:spPr>
          <a:xfrm>
            <a:off x="6172200" y="5394960"/>
            <a:ext cx="5577840" cy="6858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486400"/>
            <a:ext cx="5212080" cy="274320"/>
          </a:xfrm>
          <a:prstGeom prst="rect">
            <a:avLst/>
          </a:prstGeom>
          <a:noFill/>
        </p:spPr>
        <p:txBody>
          <a:bodyPr wrap="square">
            <a:spAutoFit/>
          </a:bodyPr>
          <a:lstStyle/>
          <a:p>
            <a:pPr algn="l"/>
            <a:r>
              <a:rPr sz="1100" b="1">
                <a:solidFill>
                  <a:srgbClr val="FFB300"/>
                </a:solidFill>
                <a:latin typeface="Calibri"/>
              </a:rPr>
              <a:t>🏠 REAL LIFE</a:t>
            </a:r>
          </a:p>
        </p:txBody>
      </p:sp>
      <p:sp>
        <p:nvSpPr>
          <p:cNvPr id="40" name="TextBox 39"/>
          <p:cNvSpPr txBox="1"/>
          <p:nvPr/>
        </p:nvSpPr>
        <p:spPr>
          <a:xfrm>
            <a:off x="6355080" y="5760720"/>
            <a:ext cx="5212080" cy="320040"/>
          </a:xfrm>
          <a:prstGeom prst="rect">
            <a:avLst/>
          </a:prstGeom>
          <a:noFill/>
        </p:spPr>
        <p:txBody>
          <a:bodyPr wrap="square">
            <a:spAutoFit/>
          </a:bodyPr>
          <a:lstStyle/>
          <a:p>
            <a:pPr algn="l"/>
            <a:r>
              <a:rPr sz="1400" b="1">
                <a:solidFill>
                  <a:srgbClr val="1F2937"/>
                </a:solidFill>
                <a:latin typeface="Calibri"/>
              </a:rPr>
              <a:t>I brush my teeth every morning.</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Present Continuous</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6260600"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19 / 37</a:t>
            </a:r>
          </a:p>
        </p:txBody>
      </p:sp>
      <p:sp>
        <p:nvSpPr>
          <p:cNvPr id="14" name="Rectangle 13"/>
          <p:cNvSpPr/>
          <p:nvPr/>
        </p:nvSpPr>
        <p:spPr>
          <a:xfrm>
            <a:off x="1188720" y="1435608"/>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28800"/>
            <a:ext cx="1554480" cy="274320"/>
          </a:xfrm>
          <a:prstGeom prst="rect">
            <a:avLst/>
          </a:prstGeom>
          <a:noFill/>
        </p:spPr>
        <p:txBody>
          <a:bodyPr wrap="square">
            <a:spAutoFit/>
          </a:bodyPr>
          <a:lstStyle/>
          <a:p>
            <a:pPr algn="ctr"/>
            <a:r>
              <a:rPr sz="1200" b="1">
                <a:solidFill>
                  <a:srgbClr val="64748B"/>
                </a:solidFill>
                <a:latin typeface="Calibri"/>
              </a:rPr>
              <a:t>PAST</a:t>
            </a:r>
          </a:p>
        </p:txBody>
      </p:sp>
      <p:sp>
        <p:nvSpPr>
          <p:cNvPr id="17" name="Oval 16"/>
          <p:cNvSpPr/>
          <p:nvPr/>
        </p:nvSpPr>
        <p:spPr>
          <a:xfrm>
            <a:off x="5733288" y="1152144"/>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28800"/>
            <a:ext cx="1554480" cy="274320"/>
          </a:xfrm>
          <a:prstGeom prst="rect">
            <a:avLst/>
          </a:prstGeom>
          <a:noFill/>
        </p:spPr>
        <p:txBody>
          <a:bodyPr wrap="square">
            <a:spAutoFit/>
          </a:bodyPr>
          <a:lstStyle/>
          <a:p>
            <a:pPr algn="ctr"/>
            <a:r>
              <a:rPr sz="1200" b="1">
                <a:solidFill>
                  <a:srgbClr val="0A2A6E"/>
                </a:solidFill>
                <a:latin typeface="Calibri"/>
              </a:rPr>
              <a:t>NOW</a:t>
            </a:r>
          </a:p>
        </p:txBody>
      </p:sp>
      <p:sp>
        <p:nvSpPr>
          <p:cNvPr id="19" name="Oval 18"/>
          <p:cNvSpPr/>
          <p:nvPr/>
        </p:nvSpPr>
        <p:spPr>
          <a:xfrm>
            <a:off x="10332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28800"/>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1" name="Rounded Rectangle 20"/>
          <p:cNvSpPr/>
          <p:nvPr/>
        </p:nvSpPr>
        <p:spPr>
          <a:xfrm>
            <a:off x="411480" y="2286000"/>
            <a:ext cx="5577840" cy="379476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468880"/>
            <a:ext cx="5120640" cy="320040"/>
          </a:xfrm>
          <a:prstGeom prst="rect">
            <a:avLst/>
          </a:prstGeom>
          <a:noFill/>
        </p:spPr>
        <p:txBody>
          <a:bodyPr wrap="square">
            <a:spAutoFit/>
          </a:bodyPr>
          <a:lstStyle/>
          <a:p>
            <a:pPr algn="l"/>
            <a:r>
              <a:rPr sz="1300" b="1">
                <a:solidFill>
                  <a:srgbClr val="29B6F6"/>
                </a:solidFill>
                <a:latin typeface="Calibri"/>
              </a:rPr>
              <a:t>WHEN DO WE USE IT?</a:t>
            </a:r>
          </a:p>
        </p:txBody>
      </p:sp>
      <p:sp>
        <p:nvSpPr>
          <p:cNvPr id="23" name="TextBox 22"/>
          <p:cNvSpPr txBox="1"/>
          <p:nvPr/>
        </p:nvSpPr>
        <p:spPr>
          <a:xfrm>
            <a:off x="658368" y="2834640"/>
            <a:ext cx="5120640" cy="777240"/>
          </a:xfrm>
          <a:prstGeom prst="rect">
            <a:avLst/>
          </a:prstGeom>
          <a:noFill/>
        </p:spPr>
        <p:txBody>
          <a:bodyPr wrap="square">
            <a:spAutoFit/>
          </a:bodyPr>
          <a:lstStyle/>
          <a:p>
            <a:pPr algn="l"/>
            <a:r>
              <a:rPr sz="1500" b="0">
                <a:solidFill>
                  <a:srgbClr val="1F2937"/>
                </a:solidFill>
                <a:latin typeface="Calibri"/>
              </a:rPr>
              <a:t>Something that is happening right now, while we speak.</a:t>
            </a:r>
          </a:p>
        </p:txBody>
      </p:sp>
      <p:sp>
        <p:nvSpPr>
          <p:cNvPr id="24" name="TextBox 23"/>
          <p:cNvSpPr txBox="1"/>
          <p:nvPr/>
        </p:nvSpPr>
        <p:spPr>
          <a:xfrm>
            <a:off x="658368" y="3703320"/>
            <a:ext cx="5120640" cy="320040"/>
          </a:xfrm>
          <a:prstGeom prst="rect">
            <a:avLst/>
          </a:prstGeom>
          <a:noFill/>
        </p:spPr>
        <p:txBody>
          <a:bodyPr wrap="square">
            <a:spAutoFit/>
          </a:bodyPr>
          <a:lstStyle/>
          <a:p>
            <a:pPr algn="l"/>
            <a:r>
              <a:rPr sz="1300" b="1">
                <a:solidFill>
                  <a:srgbClr val="29B6F6"/>
                </a:solidFill>
                <a:latin typeface="Calibri"/>
              </a:rPr>
              <a:t>SENTENCE BUILDER</a:t>
            </a:r>
          </a:p>
        </p:txBody>
      </p:sp>
      <p:sp>
        <p:nvSpPr>
          <p:cNvPr id="25" name="Rounded Rectangle 24"/>
          <p:cNvSpPr/>
          <p:nvPr/>
        </p:nvSpPr>
        <p:spPr>
          <a:xfrm>
            <a:off x="658368" y="4069080"/>
            <a:ext cx="5074920" cy="594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206240"/>
            <a:ext cx="4846320" cy="365760"/>
          </a:xfrm>
          <a:prstGeom prst="rect">
            <a:avLst/>
          </a:prstGeom>
          <a:noFill/>
        </p:spPr>
        <p:txBody>
          <a:bodyPr wrap="square">
            <a:spAutoFit/>
          </a:bodyPr>
          <a:lstStyle/>
          <a:p>
            <a:pPr algn="l"/>
            <a:r>
              <a:rPr sz="1400" b="1">
                <a:solidFill>
                  <a:srgbClr val="0A2A6E"/>
                </a:solidFill>
                <a:latin typeface="Calibri"/>
              </a:rPr>
              <a:t>Subject  +  am / is / are  +  verb-ing</a:t>
            </a:r>
          </a:p>
        </p:txBody>
      </p:sp>
      <p:sp>
        <p:nvSpPr>
          <p:cNvPr id="27" name="TextBox 26"/>
          <p:cNvSpPr txBox="1"/>
          <p:nvPr/>
        </p:nvSpPr>
        <p:spPr>
          <a:xfrm>
            <a:off x="658368" y="4846320"/>
            <a:ext cx="5120640" cy="320040"/>
          </a:xfrm>
          <a:prstGeom prst="rect">
            <a:avLst/>
          </a:prstGeom>
          <a:noFill/>
        </p:spPr>
        <p:txBody>
          <a:bodyPr wrap="square">
            <a:spAutoFit/>
          </a:bodyPr>
          <a:lstStyle/>
          <a:p>
            <a:pPr algn="l"/>
            <a:r>
              <a:rPr sz="1300" b="1">
                <a:solidFill>
                  <a:srgbClr val="29B6F6"/>
                </a:solidFill>
                <a:latin typeface="Calibri"/>
              </a:rPr>
              <a:t>SIGNAL WORDS 🚦</a:t>
            </a:r>
          </a:p>
        </p:txBody>
      </p:sp>
      <p:sp>
        <p:nvSpPr>
          <p:cNvPr id="28" name="TextBox 27"/>
          <p:cNvSpPr txBox="1"/>
          <p:nvPr/>
        </p:nvSpPr>
        <p:spPr>
          <a:xfrm>
            <a:off x="658368" y="5212080"/>
            <a:ext cx="5120640" cy="685800"/>
          </a:xfrm>
          <a:prstGeom prst="rect">
            <a:avLst/>
          </a:prstGeom>
          <a:noFill/>
        </p:spPr>
        <p:txBody>
          <a:bodyPr wrap="square">
            <a:spAutoFit/>
          </a:bodyPr>
          <a:lstStyle/>
          <a:p>
            <a:pPr algn="l"/>
            <a:r>
              <a:rPr sz="1300" b="0">
                <a:solidFill>
                  <a:srgbClr val="1F2937"/>
                </a:solidFill>
                <a:latin typeface="Calibri"/>
              </a:rPr>
              <a:t>now  •  right now  •  at the moment  •  Look!  •  Listen!</a:t>
            </a:r>
          </a:p>
        </p:txBody>
      </p:sp>
      <p:sp>
        <p:nvSpPr>
          <p:cNvPr id="29" name="Rounded Rectangle 28"/>
          <p:cNvSpPr/>
          <p:nvPr/>
        </p:nvSpPr>
        <p:spPr>
          <a:xfrm>
            <a:off x="6172200" y="2286000"/>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377440"/>
            <a:ext cx="1828800" cy="292608"/>
          </a:xfrm>
          <a:prstGeom prst="rect">
            <a:avLst/>
          </a:prstGeom>
          <a:noFill/>
        </p:spPr>
        <p:txBody>
          <a:bodyPr wrap="square">
            <a:spAutoFit/>
          </a:bodyPr>
          <a:lstStyle/>
          <a:p>
            <a:pPr algn="l"/>
            <a:r>
              <a:rPr sz="1100" b="1">
                <a:solidFill>
                  <a:srgbClr val="2E7D32"/>
                </a:solidFill>
                <a:latin typeface="Calibri"/>
              </a:rPr>
              <a:t>✅  POSITIVE</a:t>
            </a:r>
          </a:p>
        </p:txBody>
      </p:sp>
      <p:sp>
        <p:nvSpPr>
          <p:cNvPr id="31" name="TextBox 30"/>
          <p:cNvSpPr txBox="1"/>
          <p:nvPr/>
        </p:nvSpPr>
        <p:spPr>
          <a:xfrm>
            <a:off x="6355080" y="2706624"/>
            <a:ext cx="5212080" cy="384048"/>
          </a:xfrm>
          <a:prstGeom prst="rect">
            <a:avLst/>
          </a:prstGeom>
          <a:noFill/>
        </p:spPr>
        <p:txBody>
          <a:bodyPr wrap="square">
            <a:spAutoFit/>
          </a:bodyPr>
          <a:lstStyle/>
          <a:p>
            <a:pPr algn="l"/>
            <a:r>
              <a:rPr sz="1500" b="1">
                <a:solidFill>
                  <a:srgbClr val="0A2A6E"/>
                </a:solidFill>
                <a:latin typeface="Calibri"/>
              </a:rPr>
              <a:t>The hatchlings are crawling to the sea.</a:t>
            </a:r>
          </a:p>
        </p:txBody>
      </p:sp>
      <p:sp>
        <p:nvSpPr>
          <p:cNvPr id="32" name="Rounded Rectangle 31"/>
          <p:cNvSpPr/>
          <p:nvPr/>
        </p:nvSpPr>
        <p:spPr>
          <a:xfrm>
            <a:off x="6172200" y="3310128"/>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401568"/>
            <a:ext cx="1828800" cy="292608"/>
          </a:xfrm>
          <a:prstGeom prst="rect">
            <a:avLst/>
          </a:prstGeom>
          <a:noFill/>
        </p:spPr>
        <p:txBody>
          <a:bodyPr wrap="square">
            <a:spAutoFit/>
          </a:bodyPr>
          <a:lstStyle/>
          <a:p>
            <a:pPr algn="l"/>
            <a:r>
              <a:rPr sz="1100" b="1">
                <a:solidFill>
                  <a:srgbClr val="FF6F61"/>
                </a:solidFill>
                <a:latin typeface="Calibri"/>
              </a:rPr>
              <a:t>❌  NEGATIVE</a:t>
            </a:r>
          </a:p>
        </p:txBody>
      </p:sp>
      <p:sp>
        <p:nvSpPr>
          <p:cNvPr id="34" name="TextBox 33"/>
          <p:cNvSpPr txBox="1"/>
          <p:nvPr/>
        </p:nvSpPr>
        <p:spPr>
          <a:xfrm>
            <a:off x="6355080" y="3730752"/>
            <a:ext cx="5212080" cy="384048"/>
          </a:xfrm>
          <a:prstGeom prst="rect">
            <a:avLst/>
          </a:prstGeom>
          <a:noFill/>
        </p:spPr>
        <p:txBody>
          <a:bodyPr wrap="square">
            <a:spAutoFit/>
          </a:bodyPr>
          <a:lstStyle/>
          <a:p>
            <a:pPr algn="l"/>
            <a:r>
              <a:rPr sz="1500" b="1">
                <a:solidFill>
                  <a:srgbClr val="0A2A6E"/>
                </a:solidFill>
                <a:latin typeface="Calibri"/>
              </a:rPr>
              <a:t>They are not stopping to rest.</a:t>
            </a:r>
          </a:p>
        </p:txBody>
      </p:sp>
      <p:sp>
        <p:nvSpPr>
          <p:cNvPr id="35" name="Rounded Rectangle 34"/>
          <p:cNvSpPr/>
          <p:nvPr/>
        </p:nvSpPr>
        <p:spPr>
          <a:xfrm>
            <a:off x="6172200" y="4334256"/>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5080" y="4425696"/>
            <a:ext cx="1828800" cy="292608"/>
          </a:xfrm>
          <a:prstGeom prst="rect">
            <a:avLst/>
          </a:prstGeom>
          <a:noFill/>
        </p:spPr>
        <p:txBody>
          <a:bodyPr wrap="square">
            <a:spAutoFit/>
          </a:bodyPr>
          <a:lstStyle/>
          <a:p>
            <a:pPr algn="l"/>
            <a:r>
              <a:rPr sz="1100" b="1">
                <a:solidFill>
                  <a:srgbClr val="7E57C2"/>
                </a:solidFill>
                <a:latin typeface="Calibri"/>
              </a:rPr>
              <a:t>❓  QUESTION</a:t>
            </a:r>
          </a:p>
        </p:txBody>
      </p:sp>
      <p:sp>
        <p:nvSpPr>
          <p:cNvPr id="37" name="TextBox 36"/>
          <p:cNvSpPr txBox="1"/>
          <p:nvPr/>
        </p:nvSpPr>
        <p:spPr>
          <a:xfrm>
            <a:off x="6355080" y="4754880"/>
            <a:ext cx="5212080" cy="384048"/>
          </a:xfrm>
          <a:prstGeom prst="rect">
            <a:avLst/>
          </a:prstGeom>
          <a:noFill/>
        </p:spPr>
        <p:txBody>
          <a:bodyPr wrap="square">
            <a:spAutoFit/>
          </a:bodyPr>
          <a:lstStyle/>
          <a:p>
            <a:pPr algn="l"/>
            <a:r>
              <a:rPr sz="1500" b="1">
                <a:solidFill>
                  <a:srgbClr val="0A2A6E"/>
                </a:solidFill>
                <a:latin typeface="Calibri"/>
              </a:rPr>
              <a:t>Are the hatchlings crawling to the sea?</a:t>
            </a:r>
          </a:p>
        </p:txBody>
      </p:sp>
      <p:sp>
        <p:nvSpPr>
          <p:cNvPr id="38" name="Rounded Rectangle 37"/>
          <p:cNvSpPr/>
          <p:nvPr/>
        </p:nvSpPr>
        <p:spPr>
          <a:xfrm>
            <a:off x="6172200" y="5394960"/>
            <a:ext cx="5577840" cy="6858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486400"/>
            <a:ext cx="5212080" cy="274320"/>
          </a:xfrm>
          <a:prstGeom prst="rect">
            <a:avLst/>
          </a:prstGeom>
          <a:noFill/>
        </p:spPr>
        <p:txBody>
          <a:bodyPr wrap="square">
            <a:spAutoFit/>
          </a:bodyPr>
          <a:lstStyle/>
          <a:p>
            <a:pPr algn="l"/>
            <a:r>
              <a:rPr sz="1100" b="1">
                <a:solidFill>
                  <a:srgbClr val="FFB300"/>
                </a:solidFill>
                <a:latin typeface="Calibri"/>
              </a:rPr>
              <a:t>🏠 REAL LIFE</a:t>
            </a:r>
          </a:p>
        </p:txBody>
      </p:sp>
      <p:sp>
        <p:nvSpPr>
          <p:cNvPr id="40" name="TextBox 39"/>
          <p:cNvSpPr txBox="1"/>
          <p:nvPr/>
        </p:nvSpPr>
        <p:spPr>
          <a:xfrm>
            <a:off x="6355080" y="5760720"/>
            <a:ext cx="5212080" cy="320040"/>
          </a:xfrm>
          <a:prstGeom prst="rect">
            <a:avLst/>
          </a:prstGeom>
          <a:noFill/>
        </p:spPr>
        <p:txBody>
          <a:bodyPr wrap="square">
            <a:spAutoFit/>
          </a:bodyPr>
          <a:lstStyle/>
          <a:p>
            <a:pPr algn="l"/>
            <a:r>
              <a:rPr sz="1400" b="1">
                <a:solidFill>
                  <a:srgbClr val="1F2937"/>
                </a:solidFill>
                <a:latin typeface="Calibri"/>
              </a:rPr>
              <a:t>I am learning English right now.</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Simple Past</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6590105"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20 / 37</a:t>
            </a:r>
          </a:p>
        </p:txBody>
      </p:sp>
      <p:sp>
        <p:nvSpPr>
          <p:cNvPr id="14" name="Rectangle 13"/>
          <p:cNvSpPr/>
          <p:nvPr/>
        </p:nvSpPr>
        <p:spPr>
          <a:xfrm>
            <a:off x="1188720" y="1435608"/>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15568" y="1152144"/>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28800"/>
            <a:ext cx="1554480" cy="274320"/>
          </a:xfrm>
          <a:prstGeom prst="rect">
            <a:avLst/>
          </a:prstGeom>
          <a:noFill/>
        </p:spPr>
        <p:txBody>
          <a:bodyPr wrap="square">
            <a:spAutoFit/>
          </a:bodyPr>
          <a:lstStyle/>
          <a:p>
            <a:pPr algn="ctr"/>
            <a:r>
              <a:rPr sz="1200" b="1">
                <a:solidFill>
                  <a:srgbClr val="0A2A6E"/>
                </a:solidFill>
                <a:latin typeface="Calibri"/>
              </a:rPr>
              <a:t>PAST</a:t>
            </a:r>
          </a:p>
        </p:txBody>
      </p:sp>
      <p:sp>
        <p:nvSpPr>
          <p:cNvPr id="17" name="Oval 16"/>
          <p:cNvSpPr/>
          <p:nvPr/>
        </p:nvSpPr>
        <p:spPr>
          <a:xfrm>
            <a:off x="580644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28800"/>
            <a:ext cx="1554480" cy="274320"/>
          </a:xfrm>
          <a:prstGeom prst="rect">
            <a:avLst/>
          </a:prstGeom>
          <a:noFill/>
        </p:spPr>
        <p:txBody>
          <a:bodyPr wrap="square">
            <a:spAutoFit/>
          </a:bodyPr>
          <a:lstStyle/>
          <a:p>
            <a:pPr algn="ctr"/>
            <a:r>
              <a:rPr sz="1200" b="1">
                <a:solidFill>
                  <a:srgbClr val="64748B"/>
                </a:solidFill>
                <a:latin typeface="Calibri"/>
              </a:rPr>
              <a:t>NOW</a:t>
            </a:r>
          </a:p>
        </p:txBody>
      </p:sp>
      <p:sp>
        <p:nvSpPr>
          <p:cNvPr id="19" name="Oval 18"/>
          <p:cNvSpPr/>
          <p:nvPr/>
        </p:nvSpPr>
        <p:spPr>
          <a:xfrm>
            <a:off x="10332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28800"/>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1" name="Rounded Rectangle 20"/>
          <p:cNvSpPr/>
          <p:nvPr/>
        </p:nvSpPr>
        <p:spPr>
          <a:xfrm>
            <a:off x="411480" y="2286000"/>
            <a:ext cx="5577840" cy="379476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468880"/>
            <a:ext cx="5120640" cy="320040"/>
          </a:xfrm>
          <a:prstGeom prst="rect">
            <a:avLst/>
          </a:prstGeom>
          <a:noFill/>
        </p:spPr>
        <p:txBody>
          <a:bodyPr wrap="square">
            <a:spAutoFit/>
          </a:bodyPr>
          <a:lstStyle/>
          <a:p>
            <a:pPr algn="l"/>
            <a:r>
              <a:rPr sz="1300" b="1">
                <a:solidFill>
                  <a:srgbClr val="FF6F61"/>
                </a:solidFill>
                <a:latin typeface="Calibri"/>
              </a:rPr>
              <a:t>WHEN DO WE USE IT?</a:t>
            </a:r>
          </a:p>
        </p:txBody>
      </p:sp>
      <p:sp>
        <p:nvSpPr>
          <p:cNvPr id="23" name="TextBox 22"/>
          <p:cNvSpPr txBox="1"/>
          <p:nvPr/>
        </p:nvSpPr>
        <p:spPr>
          <a:xfrm>
            <a:off x="658368" y="2834640"/>
            <a:ext cx="5120640" cy="777240"/>
          </a:xfrm>
          <a:prstGeom prst="rect">
            <a:avLst/>
          </a:prstGeom>
          <a:noFill/>
        </p:spPr>
        <p:txBody>
          <a:bodyPr wrap="square">
            <a:spAutoFit/>
          </a:bodyPr>
          <a:lstStyle/>
          <a:p>
            <a:pPr algn="l"/>
            <a:r>
              <a:rPr sz="1500" b="0">
                <a:solidFill>
                  <a:srgbClr val="1F2937"/>
                </a:solidFill>
                <a:latin typeface="Calibri"/>
              </a:rPr>
              <a:t>Something that started AND finished in the past.</a:t>
            </a:r>
          </a:p>
        </p:txBody>
      </p:sp>
      <p:sp>
        <p:nvSpPr>
          <p:cNvPr id="24" name="TextBox 23"/>
          <p:cNvSpPr txBox="1"/>
          <p:nvPr/>
        </p:nvSpPr>
        <p:spPr>
          <a:xfrm>
            <a:off x="658368" y="3703320"/>
            <a:ext cx="5120640" cy="320040"/>
          </a:xfrm>
          <a:prstGeom prst="rect">
            <a:avLst/>
          </a:prstGeom>
          <a:noFill/>
        </p:spPr>
        <p:txBody>
          <a:bodyPr wrap="square">
            <a:spAutoFit/>
          </a:bodyPr>
          <a:lstStyle/>
          <a:p>
            <a:pPr algn="l"/>
            <a:r>
              <a:rPr sz="1300" b="1">
                <a:solidFill>
                  <a:srgbClr val="FF6F61"/>
                </a:solidFill>
                <a:latin typeface="Calibri"/>
              </a:rPr>
              <a:t>SENTENCE BUILDER</a:t>
            </a:r>
          </a:p>
        </p:txBody>
      </p:sp>
      <p:sp>
        <p:nvSpPr>
          <p:cNvPr id="25" name="Rounded Rectangle 24"/>
          <p:cNvSpPr/>
          <p:nvPr/>
        </p:nvSpPr>
        <p:spPr>
          <a:xfrm>
            <a:off x="658368" y="4069080"/>
            <a:ext cx="5074920" cy="594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206240"/>
            <a:ext cx="4846320" cy="365760"/>
          </a:xfrm>
          <a:prstGeom prst="rect">
            <a:avLst/>
          </a:prstGeom>
          <a:noFill/>
        </p:spPr>
        <p:txBody>
          <a:bodyPr wrap="square">
            <a:spAutoFit/>
          </a:bodyPr>
          <a:lstStyle/>
          <a:p>
            <a:pPr algn="l"/>
            <a:r>
              <a:rPr sz="1400" b="1">
                <a:solidFill>
                  <a:srgbClr val="0A2A6E"/>
                </a:solidFill>
                <a:latin typeface="Calibri"/>
              </a:rPr>
              <a:t>Subject  +  past verb  (walked, went, saw)</a:t>
            </a:r>
          </a:p>
        </p:txBody>
      </p:sp>
      <p:sp>
        <p:nvSpPr>
          <p:cNvPr id="27" name="TextBox 26"/>
          <p:cNvSpPr txBox="1"/>
          <p:nvPr/>
        </p:nvSpPr>
        <p:spPr>
          <a:xfrm>
            <a:off x="658368" y="4846320"/>
            <a:ext cx="5120640" cy="320040"/>
          </a:xfrm>
          <a:prstGeom prst="rect">
            <a:avLst/>
          </a:prstGeom>
          <a:noFill/>
        </p:spPr>
        <p:txBody>
          <a:bodyPr wrap="square">
            <a:spAutoFit/>
          </a:bodyPr>
          <a:lstStyle/>
          <a:p>
            <a:pPr algn="l"/>
            <a:r>
              <a:rPr sz="1300" b="1">
                <a:solidFill>
                  <a:srgbClr val="FF6F61"/>
                </a:solidFill>
                <a:latin typeface="Calibri"/>
              </a:rPr>
              <a:t>SIGNAL WORDS 🚦</a:t>
            </a:r>
          </a:p>
        </p:txBody>
      </p:sp>
      <p:sp>
        <p:nvSpPr>
          <p:cNvPr id="28" name="TextBox 27"/>
          <p:cNvSpPr txBox="1"/>
          <p:nvPr/>
        </p:nvSpPr>
        <p:spPr>
          <a:xfrm>
            <a:off x="658368" y="5212080"/>
            <a:ext cx="5120640" cy="685800"/>
          </a:xfrm>
          <a:prstGeom prst="rect">
            <a:avLst/>
          </a:prstGeom>
          <a:noFill/>
        </p:spPr>
        <p:txBody>
          <a:bodyPr wrap="square">
            <a:spAutoFit/>
          </a:bodyPr>
          <a:lstStyle/>
          <a:p>
            <a:pPr algn="l"/>
            <a:r>
              <a:rPr sz="1300" b="0">
                <a:solidFill>
                  <a:srgbClr val="1F2937"/>
                </a:solidFill>
                <a:latin typeface="Calibri"/>
              </a:rPr>
              <a:t>yesterday  •  last night  •  ago  •  in 2019  •  when I was little</a:t>
            </a:r>
          </a:p>
        </p:txBody>
      </p:sp>
      <p:sp>
        <p:nvSpPr>
          <p:cNvPr id="29" name="Rounded Rectangle 28"/>
          <p:cNvSpPr/>
          <p:nvPr/>
        </p:nvSpPr>
        <p:spPr>
          <a:xfrm>
            <a:off x="6172200" y="2286000"/>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377440"/>
            <a:ext cx="1828800" cy="292608"/>
          </a:xfrm>
          <a:prstGeom prst="rect">
            <a:avLst/>
          </a:prstGeom>
          <a:noFill/>
        </p:spPr>
        <p:txBody>
          <a:bodyPr wrap="square">
            <a:spAutoFit/>
          </a:bodyPr>
          <a:lstStyle/>
          <a:p>
            <a:pPr algn="l"/>
            <a:r>
              <a:rPr sz="1100" b="1">
                <a:solidFill>
                  <a:srgbClr val="2E7D32"/>
                </a:solidFill>
                <a:latin typeface="Calibri"/>
              </a:rPr>
              <a:t>✅  POSITIVE</a:t>
            </a:r>
          </a:p>
        </p:txBody>
      </p:sp>
      <p:sp>
        <p:nvSpPr>
          <p:cNvPr id="31" name="TextBox 30"/>
          <p:cNvSpPr txBox="1"/>
          <p:nvPr/>
        </p:nvSpPr>
        <p:spPr>
          <a:xfrm>
            <a:off x="6355080" y="2706624"/>
            <a:ext cx="5212080" cy="384048"/>
          </a:xfrm>
          <a:prstGeom prst="rect">
            <a:avLst/>
          </a:prstGeom>
          <a:noFill/>
        </p:spPr>
        <p:txBody>
          <a:bodyPr wrap="square">
            <a:spAutoFit/>
          </a:bodyPr>
          <a:lstStyle/>
          <a:p>
            <a:pPr algn="l"/>
            <a:r>
              <a:rPr sz="1500" b="1">
                <a:solidFill>
                  <a:srgbClr val="0A2A6E"/>
                </a:solidFill>
                <a:latin typeface="Calibri"/>
              </a:rPr>
              <a:t>Maya built a sand ramp last night.</a:t>
            </a:r>
          </a:p>
        </p:txBody>
      </p:sp>
      <p:sp>
        <p:nvSpPr>
          <p:cNvPr id="32" name="Rounded Rectangle 31"/>
          <p:cNvSpPr/>
          <p:nvPr/>
        </p:nvSpPr>
        <p:spPr>
          <a:xfrm>
            <a:off x="6172200" y="3310128"/>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401568"/>
            <a:ext cx="1828800" cy="292608"/>
          </a:xfrm>
          <a:prstGeom prst="rect">
            <a:avLst/>
          </a:prstGeom>
          <a:noFill/>
        </p:spPr>
        <p:txBody>
          <a:bodyPr wrap="square">
            <a:spAutoFit/>
          </a:bodyPr>
          <a:lstStyle/>
          <a:p>
            <a:pPr algn="l"/>
            <a:r>
              <a:rPr sz="1100" b="1">
                <a:solidFill>
                  <a:srgbClr val="FF6F61"/>
                </a:solidFill>
                <a:latin typeface="Calibri"/>
              </a:rPr>
              <a:t>❌  NEGATIVE</a:t>
            </a:r>
          </a:p>
        </p:txBody>
      </p:sp>
      <p:sp>
        <p:nvSpPr>
          <p:cNvPr id="34" name="TextBox 33"/>
          <p:cNvSpPr txBox="1"/>
          <p:nvPr/>
        </p:nvSpPr>
        <p:spPr>
          <a:xfrm>
            <a:off x="6355080" y="3730752"/>
            <a:ext cx="5212080" cy="384048"/>
          </a:xfrm>
          <a:prstGeom prst="rect">
            <a:avLst/>
          </a:prstGeom>
          <a:noFill/>
        </p:spPr>
        <p:txBody>
          <a:bodyPr wrap="square">
            <a:spAutoFit/>
          </a:bodyPr>
          <a:lstStyle/>
          <a:p>
            <a:pPr algn="l"/>
            <a:r>
              <a:rPr sz="1500" b="1">
                <a:solidFill>
                  <a:srgbClr val="0A2A6E"/>
                </a:solidFill>
                <a:latin typeface="Calibri"/>
              </a:rPr>
              <a:t>Maya did not carry the turtles.</a:t>
            </a:r>
          </a:p>
        </p:txBody>
      </p:sp>
      <p:sp>
        <p:nvSpPr>
          <p:cNvPr id="35" name="Rounded Rectangle 34"/>
          <p:cNvSpPr/>
          <p:nvPr/>
        </p:nvSpPr>
        <p:spPr>
          <a:xfrm>
            <a:off x="6172200" y="4334256"/>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5080" y="4425696"/>
            <a:ext cx="1828800" cy="292608"/>
          </a:xfrm>
          <a:prstGeom prst="rect">
            <a:avLst/>
          </a:prstGeom>
          <a:noFill/>
        </p:spPr>
        <p:txBody>
          <a:bodyPr wrap="square">
            <a:spAutoFit/>
          </a:bodyPr>
          <a:lstStyle/>
          <a:p>
            <a:pPr algn="l"/>
            <a:r>
              <a:rPr sz="1100" b="1">
                <a:solidFill>
                  <a:srgbClr val="7E57C2"/>
                </a:solidFill>
                <a:latin typeface="Calibri"/>
              </a:rPr>
              <a:t>❓  QUESTION</a:t>
            </a:r>
          </a:p>
        </p:txBody>
      </p:sp>
      <p:sp>
        <p:nvSpPr>
          <p:cNvPr id="37" name="TextBox 36"/>
          <p:cNvSpPr txBox="1"/>
          <p:nvPr/>
        </p:nvSpPr>
        <p:spPr>
          <a:xfrm>
            <a:off x="6355080" y="4754880"/>
            <a:ext cx="5212080" cy="384048"/>
          </a:xfrm>
          <a:prstGeom prst="rect">
            <a:avLst/>
          </a:prstGeom>
          <a:noFill/>
        </p:spPr>
        <p:txBody>
          <a:bodyPr wrap="square">
            <a:spAutoFit/>
          </a:bodyPr>
          <a:lstStyle/>
          <a:p>
            <a:pPr algn="l"/>
            <a:r>
              <a:rPr sz="1500" b="1">
                <a:solidFill>
                  <a:srgbClr val="0A2A6E"/>
                </a:solidFill>
                <a:latin typeface="Calibri"/>
              </a:rPr>
              <a:t>Did Maya build a sand ramp?</a:t>
            </a:r>
          </a:p>
        </p:txBody>
      </p:sp>
      <p:sp>
        <p:nvSpPr>
          <p:cNvPr id="38" name="Rounded Rectangle 37"/>
          <p:cNvSpPr/>
          <p:nvPr/>
        </p:nvSpPr>
        <p:spPr>
          <a:xfrm>
            <a:off x="6172200" y="5394960"/>
            <a:ext cx="5577840" cy="6858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486400"/>
            <a:ext cx="5212080" cy="274320"/>
          </a:xfrm>
          <a:prstGeom prst="rect">
            <a:avLst/>
          </a:prstGeom>
          <a:noFill/>
        </p:spPr>
        <p:txBody>
          <a:bodyPr wrap="square">
            <a:spAutoFit/>
          </a:bodyPr>
          <a:lstStyle/>
          <a:p>
            <a:pPr algn="l"/>
            <a:r>
              <a:rPr sz="1100" b="1">
                <a:solidFill>
                  <a:srgbClr val="FFB300"/>
                </a:solidFill>
                <a:latin typeface="Calibri"/>
              </a:rPr>
              <a:t>🏠 REAL LIFE</a:t>
            </a:r>
          </a:p>
        </p:txBody>
      </p:sp>
      <p:sp>
        <p:nvSpPr>
          <p:cNvPr id="40" name="TextBox 39"/>
          <p:cNvSpPr txBox="1"/>
          <p:nvPr/>
        </p:nvSpPr>
        <p:spPr>
          <a:xfrm>
            <a:off x="6355080" y="5760720"/>
            <a:ext cx="5212080" cy="320040"/>
          </a:xfrm>
          <a:prstGeom prst="rect">
            <a:avLst/>
          </a:prstGeom>
          <a:noFill/>
        </p:spPr>
        <p:txBody>
          <a:bodyPr wrap="square">
            <a:spAutoFit/>
          </a:bodyPr>
          <a:lstStyle/>
          <a:p>
            <a:pPr algn="l"/>
            <a:r>
              <a:rPr sz="1400" b="1">
                <a:solidFill>
                  <a:srgbClr val="1F2937"/>
                </a:solidFill>
                <a:latin typeface="Calibri"/>
              </a:rPr>
              <a:t>I watched a movie last night.</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Past Continuous</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6919610"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21 / 37</a:t>
            </a:r>
          </a:p>
        </p:txBody>
      </p:sp>
      <p:sp>
        <p:nvSpPr>
          <p:cNvPr id="14" name="Rectangle 13"/>
          <p:cNvSpPr/>
          <p:nvPr/>
        </p:nvSpPr>
        <p:spPr>
          <a:xfrm>
            <a:off x="1188720" y="1435608"/>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15568" y="1152144"/>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28800"/>
            <a:ext cx="1554480" cy="274320"/>
          </a:xfrm>
          <a:prstGeom prst="rect">
            <a:avLst/>
          </a:prstGeom>
          <a:noFill/>
        </p:spPr>
        <p:txBody>
          <a:bodyPr wrap="square">
            <a:spAutoFit/>
          </a:bodyPr>
          <a:lstStyle/>
          <a:p>
            <a:pPr algn="ctr"/>
            <a:r>
              <a:rPr sz="1200" b="1">
                <a:solidFill>
                  <a:srgbClr val="0A2A6E"/>
                </a:solidFill>
                <a:latin typeface="Calibri"/>
              </a:rPr>
              <a:t>PAST</a:t>
            </a:r>
          </a:p>
        </p:txBody>
      </p:sp>
      <p:sp>
        <p:nvSpPr>
          <p:cNvPr id="17" name="Oval 16"/>
          <p:cNvSpPr/>
          <p:nvPr/>
        </p:nvSpPr>
        <p:spPr>
          <a:xfrm>
            <a:off x="580644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28800"/>
            <a:ext cx="1554480" cy="274320"/>
          </a:xfrm>
          <a:prstGeom prst="rect">
            <a:avLst/>
          </a:prstGeom>
          <a:noFill/>
        </p:spPr>
        <p:txBody>
          <a:bodyPr wrap="square">
            <a:spAutoFit/>
          </a:bodyPr>
          <a:lstStyle/>
          <a:p>
            <a:pPr algn="ctr"/>
            <a:r>
              <a:rPr sz="1200" b="1">
                <a:solidFill>
                  <a:srgbClr val="64748B"/>
                </a:solidFill>
                <a:latin typeface="Calibri"/>
              </a:rPr>
              <a:t>NOW</a:t>
            </a:r>
          </a:p>
        </p:txBody>
      </p:sp>
      <p:sp>
        <p:nvSpPr>
          <p:cNvPr id="19" name="Oval 18"/>
          <p:cNvSpPr/>
          <p:nvPr/>
        </p:nvSpPr>
        <p:spPr>
          <a:xfrm>
            <a:off x="10332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28800"/>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1" name="Rounded Rectangle 20"/>
          <p:cNvSpPr/>
          <p:nvPr/>
        </p:nvSpPr>
        <p:spPr>
          <a:xfrm>
            <a:off x="411480" y="2286000"/>
            <a:ext cx="5577840" cy="379476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468880"/>
            <a:ext cx="5120640" cy="320040"/>
          </a:xfrm>
          <a:prstGeom prst="rect">
            <a:avLst/>
          </a:prstGeom>
          <a:noFill/>
        </p:spPr>
        <p:txBody>
          <a:bodyPr wrap="square">
            <a:spAutoFit/>
          </a:bodyPr>
          <a:lstStyle/>
          <a:p>
            <a:pPr algn="l"/>
            <a:r>
              <a:rPr sz="1300" b="1">
                <a:solidFill>
                  <a:srgbClr val="7E57C2"/>
                </a:solidFill>
                <a:latin typeface="Calibri"/>
              </a:rPr>
              <a:t>WHEN DO WE USE IT?</a:t>
            </a:r>
          </a:p>
        </p:txBody>
      </p:sp>
      <p:sp>
        <p:nvSpPr>
          <p:cNvPr id="23" name="TextBox 22"/>
          <p:cNvSpPr txBox="1"/>
          <p:nvPr/>
        </p:nvSpPr>
        <p:spPr>
          <a:xfrm>
            <a:off x="658368" y="2834640"/>
            <a:ext cx="5120640" cy="777240"/>
          </a:xfrm>
          <a:prstGeom prst="rect">
            <a:avLst/>
          </a:prstGeom>
          <a:noFill/>
        </p:spPr>
        <p:txBody>
          <a:bodyPr wrap="square">
            <a:spAutoFit/>
          </a:bodyPr>
          <a:lstStyle/>
          <a:p>
            <a:pPr algn="l"/>
            <a:r>
              <a:rPr sz="1500" b="0">
                <a:solidFill>
                  <a:srgbClr val="1F2937"/>
                </a:solidFill>
                <a:latin typeface="Calibri"/>
              </a:rPr>
              <a:t>Something that was already happening at a moment in the past.</a:t>
            </a:r>
          </a:p>
        </p:txBody>
      </p:sp>
      <p:sp>
        <p:nvSpPr>
          <p:cNvPr id="24" name="TextBox 23"/>
          <p:cNvSpPr txBox="1"/>
          <p:nvPr/>
        </p:nvSpPr>
        <p:spPr>
          <a:xfrm>
            <a:off x="658368" y="3703320"/>
            <a:ext cx="5120640" cy="320040"/>
          </a:xfrm>
          <a:prstGeom prst="rect">
            <a:avLst/>
          </a:prstGeom>
          <a:noFill/>
        </p:spPr>
        <p:txBody>
          <a:bodyPr wrap="square">
            <a:spAutoFit/>
          </a:bodyPr>
          <a:lstStyle/>
          <a:p>
            <a:pPr algn="l"/>
            <a:r>
              <a:rPr sz="1300" b="1">
                <a:solidFill>
                  <a:srgbClr val="7E57C2"/>
                </a:solidFill>
                <a:latin typeface="Calibri"/>
              </a:rPr>
              <a:t>SENTENCE BUILDER</a:t>
            </a:r>
          </a:p>
        </p:txBody>
      </p:sp>
      <p:sp>
        <p:nvSpPr>
          <p:cNvPr id="25" name="Rounded Rectangle 24"/>
          <p:cNvSpPr/>
          <p:nvPr/>
        </p:nvSpPr>
        <p:spPr>
          <a:xfrm>
            <a:off x="658368" y="4069080"/>
            <a:ext cx="5074920" cy="594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206240"/>
            <a:ext cx="4846320" cy="365760"/>
          </a:xfrm>
          <a:prstGeom prst="rect">
            <a:avLst/>
          </a:prstGeom>
          <a:noFill/>
        </p:spPr>
        <p:txBody>
          <a:bodyPr wrap="square">
            <a:spAutoFit/>
          </a:bodyPr>
          <a:lstStyle/>
          <a:p>
            <a:pPr algn="l"/>
            <a:r>
              <a:rPr sz="1400" b="1">
                <a:solidFill>
                  <a:srgbClr val="0A2A6E"/>
                </a:solidFill>
                <a:latin typeface="Calibri"/>
              </a:rPr>
              <a:t>Subject  +  was / were  +  verb-ing</a:t>
            </a:r>
          </a:p>
        </p:txBody>
      </p:sp>
      <p:sp>
        <p:nvSpPr>
          <p:cNvPr id="27" name="TextBox 26"/>
          <p:cNvSpPr txBox="1"/>
          <p:nvPr/>
        </p:nvSpPr>
        <p:spPr>
          <a:xfrm>
            <a:off x="658368" y="4846320"/>
            <a:ext cx="5120640" cy="320040"/>
          </a:xfrm>
          <a:prstGeom prst="rect">
            <a:avLst/>
          </a:prstGeom>
          <a:noFill/>
        </p:spPr>
        <p:txBody>
          <a:bodyPr wrap="square">
            <a:spAutoFit/>
          </a:bodyPr>
          <a:lstStyle/>
          <a:p>
            <a:pPr algn="l"/>
            <a:r>
              <a:rPr sz="1300" b="1">
                <a:solidFill>
                  <a:srgbClr val="7E57C2"/>
                </a:solidFill>
                <a:latin typeface="Calibri"/>
              </a:rPr>
              <a:t>SIGNAL WORDS 🚦</a:t>
            </a:r>
          </a:p>
        </p:txBody>
      </p:sp>
      <p:sp>
        <p:nvSpPr>
          <p:cNvPr id="28" name="TextBox 27"/>
          <p:cNvSpPr txBox="1"/>
          <p:nvPr/>
        </p:nvSpPr>
        <p:spPr>
          <a:xfrm>
            <a:off x="658368" y="5212080"/>
            <a:ext cx="5120640" cy="685800"/>
          </a:xfrm>
          <a:prstGeom prst="rect">
            <a:avLst/>
          </a:prstGeom>
          <a:noFill/>
        </p:spPr>
        <p:txBody>
          <a:bodyPr wrap="square">
            <a:spAutoFit/>
          </a:bodyPr>
          <a:lstStyle/>
          <a:p>
            <a:pPr algn="l"/>
            <a:r>
              <a:rPr sz="1300" b="0">
                <a:solidFill>
                  <a:srgbClr val="1F2937"/>
                </a:solidFill>
                <a:latin typeface="Calibri"/>
              </a:rPr>
              <a:t>while  •  when  •  at 8 o'clock last night  •  all evening</a:t>
            </a:r>
          </a:p>
        </p:txBody>
      </p:sp>
      <p:sp>
        <p:nvSpPr>
          <p:cNvPr id="29" name="Rounded Rectangle 28"/>
          <p:cNvSpPr/>
          <p:nvPr/>
        </p:nvSpPr>
        <p:spPr>
          <a:xfrm>
            <a:off x="6172200" y="2286000"/>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377440"/>
            <a:ext cx="1828800" cy="292608"/>
          </a:xfrm>
          <a:prstGeom prst="rect">
            <a:avLst/>
          </a:prstGeom>
          <a:noFill/>
        </p:spPr>
        <p:txBody>
          <a:bodyPr wrap="square">
            <a:spAutoFit/>
          </a:bodyPr>
          <a:lstStyle/>
          <a:p>
            <a:pPr algn="l"/>
            <a:r>
              <a:rPr sz="1100" b="1">
                <a:solidFill>
                  <a:srgbClr val="2E7D32"/>
                </a:solidFill>
                <a:latin typeface="Calibri"/>
              </a:rPr>
              <a:t>✅  POSITIVE</a:t>
            </a:r>
          </a:p>
        </p:txBody>
      </p:sp>
      <p:sp>
        <p:nvSpPr>
          <p:cNvPr id="31" name="TextBox 30"/>
          <p:cNvSpPr txBox="1"/>
          <p:nvPr/>
        </p:nvSpPr>
        <p:spPr>
          <a:xfrm>
            <a:off x="6355080" y="2706624"/>
            <a:ext cx="5212080" cy="384048"/>
          </a:xfrm>
          <a:prstGeom prst="rect">
            <a:avLst/>
          </a:prstGeom>
          <a:noFill/>
        </p:spPr>
        <p:txBody>
          <a:bodyPr wrap="square">
            <a:spAutoFit/>
          </a:bodyPr>
          <a:lstStyle/>
          <a:p>
            <a:pPr algn="l"/>
            <a:r>
              <a:rPr sz="1500" b="1">
                <a:solidFill>
                  <a:srgbClr val="0A2A6E"/>
                </a:solidFill>
                <a:latin typeface="Calibri"/>
              </a:rPr>
              <a:t>At midnight, Maya was counting turtles.</a:t>
            </a:r>
          </a:p>
        </p:txBody>
      </p:sp>
      <p:sp>
        <p:nvSpPr>
          <p:cNvPr id="32" name="Rounded Rectangle 31"/>
          <p:cNvSpPr/>
          <p:nvPr/>
        </p:nvSpPr>
        <p:spPr>
          <a:xfrm>
            <a:off x="6172200" y="3310128"/>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401568"/>
            <a:ext cx="1828800" cy="292608"/>
          </a:xfrm>
          <a:prstGeom prst="rect">
            <a:avLst/>
          </a:prstGeom>
          <a:noFill/>
        </p:spPr>
        <p:txBody>
          <a:bodyPr wrap="square">
            <a:spAutoFit/>
          </a:bodyPr>
          <a:lstStyle/>
          <a:p>
            <a:pPr algn="l"/>
            <a:r>
              <a:rPr sz="1100" b="1">
                <a:solidFill>
                  <a:srgbClr val="FF6F61"/>
                </a:solidFill>
                <a:latin typeface="Calibri"/>
              </a:rPr>
              <a:t>❌  NEGATIVE</a:t>
            </a:r>
          </a:p>
        </p:txBody>
      </p:sp>
      <p:sp>
        <p:nvSpPr>
          <p:cNvPr id="34" name="TextBox 33"/>
          <p:cNvSpPr txBox="1"/>
          <p:nvPr/>
        </p:nvSpPr>
        <p:spPr>
          <a:xfrm>
            <a:off x="6355080" y="3730752"/>
            <a:ext cx="5212080" cy="384048"/>
          </a:xfrm>
          <a:prstGeom prst="rect">
            <a:avLst/>
          </a:prstGeom>
          <a:noFill/>
        </p:spPr>
        <p:txBody>
          <a:bodyPr wrap="square">
            <a:spAutoFit/>
          </a:bodyPr>
          <a:lstStyle/>
          <a:p>
            <a:pPr algn="l"/>
            <a:r>
              <a:rPr sz="1500" b="1">
                <a:solidFill>
                  <a:srgbClr val="0A2A6E"/>
                </a:solidFill>
                <a:latin typeface="Calibri"/>
              </a:rPr>
              <a:t>Diego was not sleeping.</a:t>
            </a:r>
          </a:p>
        </p:txBody>
      </p:sp>
      <p:sp>
        <p:nvSpPr>
          <p:cNvPr id="35" name="Rounded Rectangle 34"/>
          <p:cNvSpPr/>
          <p:nvPr/>
        </p:nvSpPr>
        <p:spPr>
          <a:xfrm>
            <a:off x="6172200" y="4334256"/>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5080" y="4425696"/>
            <a:ext cx="1828800" cy="292608"/>
          </a:xfrm>
          <a:prstGeom prst="rect">
            <a:avLst/>
          </a:prstGeom>
          <a:noFill/>
        </p:spPr>
        <p:txBody>
          <a:bodyPr wrap="square">
            <a:spAutoFit/>
          </a:bodyPr>
          <a:lstStyle/>
          <a:p>
            <a:pPr algn="l"/>
            <a:r>
              <a:rPr sz="1100" b="1">
                <a:solidFill>
                  <a:srgbClr val="7E57C2"/>
                </a:solidFill>
                <a:latin typeface="Calibri"/>
              </a:rPr>
              <a:t>❓  QUESTION</a:t>
            </a:r>
          </a:p>
        </p:txBody>
      </p:sp>
      <p:sp>
        <p:nvSpPr>
          <p:cNvPr id="37" name="TextBox 36"/>
          <p:cNvSpPr txBox="1"/>
          <p:nvPr/>
        </p:nvSpPr>
        <p:spPr>
          <a:xfrm>
            <a:off x="6355080" y="4754880"/>
            <a:ext cx="5212080" cy="384048"/>
          </a:xfrm>
          <a:prstGeom prst="rect">
            <a:avLst/>
          </a:prstGeom>
          <a:noFill/>
        </p:spPr>
        <p:txBody>
          <a:bodyPr wrap="square">
            <a:spAutoFit/>
          </a:bodyPr>
          <a:lstStyle/>
          <a:p>
            <a:pPr algn="l"/>
            <a:r>
              <a:rPr sz="1500" b="1">
                <a:solidFill>
                  <a:srgbClr val="0A2A6E"/>
                </a:solidFill>
                <a:latin typeface="Calibri"/>
              </a:rPr>
              <a:t>Was Maya counting turtles at midnight?</a:t>
            </a:r>
          </a:p>
        </p:txBody>
      </p:sp>
      <p:sp>
        <p:nvSpPr>
          <p:cNvPr id="38" name="Rounded Rectangle 37"/>
          <p:cNvSpPr/>
          <p:nvPr/>
        </p:nvSpPr>
        <p:spPr>
          <a:xfrm>
            <a:off x="6172200" y="5394960"/>
            <a:ext cx="5577840" cy="6858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486400"/>
            <a:ext cx="5212080" cy="274320"/>
          </a:xfrm>
          <a:prstGeom prst="rect">
            <a:avLst/>
          </a:prstGeom>
          <a:noFill/>
        </p:spPr>
        <p:txBody>
          <a:bodyPr wrap="square">
            <a:spAutoFit/>
          </a:bodyPr>
          <a:lstStyle/>
          <a:p>
            <a:pPr algn="l"/>
            <a:r>
              <a:rPr sz="1100" b="1">
                <a:solidFill>
                  <a:srgbClr val="FFB300"/>
                </a:solidFill>
                <a:latin typeface="Calibri"/>
              </a:rPr>
              <a:t>🏠 REAL LIFE</a:t>
            </a:r>
          </a:p>
        </p:txBody>
      </p:sp>
      <p:sp>
        <p:nvSpPr>
          <p:cNvPr id="40" name="TextBox 39"/>
          <p:cNvSpPr txBox="1"/>
          <p:nvPr/>
        </p:nvSpPr>
        <p:spPr>
          <a:xfrm>
            <a:off x="6355080" y="5760720"/>
            <a:ext cx="5212080" cy="320040"/>
          </a:xfrm>
          <a:prstGeom prst="rect">
            <a:avLst/>
          </a:prstGeom>
          <a:noFill/>
        </p:spPr>
        <p:txBody>
          <a:bodyPr wrap="square">
            <a:spAutoFit/>
          </a:bodyPr>
          <a:lstStyle/>
          <a:p>
            <a:pPr algn="l"/>
            <a:r>
              <a:rPr sz="1400" b="1">
                <a:solidFill>
                  <a:srgbClr val="1F2937"/>
                </a:solidFill>
                <a:latin typeface="Calibri"/>
              </a:rPr>
              <a:t>I was sleeping when the phone rang.</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Simple Future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7249115"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22 / 37</a:t>
            </a:r>
          </a:p>
        </p:txBody>
      </p:sp>
      <p:sp>
        <p:nvSpPr>
          <p:cNvPr id="14" name="Rectangle 13"/>
          <p:cNvSpPr/>
          <p:nvPr/>
        </p:nvSpPr>
        <p:spPr>
          <a:xfrm>
            <a:off x="1188720" y="1435608"/>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28800"/>
            <a:ext cx="1554480" cy="274320"/>
          </a:xfrm>
          <a:prstGeom prst="rect">
            <a:avLst/>
          </a:prstGeom>
          <a:noFill/>
        </p:spPr>
        <p:txBody>
          <a:bodyPr wrap="square">
            <a:spAutoFit/>
          </a:bodyPr>
          <a:lstStyle/>
          <a:p>
            <a:pPr algn="ctr"/>
            <a:r>
              <a:rPr sz="1200" b="1">
                <a:solidFill>
                  <a:srgbClr val="64748B"/>
                </a:solidFill>
                <a:latin typeface="Calibri"/>
              </a:rPr>
              <a:t>PAST</a:t>
            </a:r>
          </a:p>
        </p:txBody>
      </p:sp>
      <p:sp>
        <p:nvSpPr>
          <p:cNvPr id="17" name="Oval 16"/>
          <p:cNvSpPr/>
          <p:nvPr/>
        </p:nvSpPr>
        <p:spPr>
          <a:xfrm>
            <a:off x="5806440" y="1298448"/>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28800"/>
            <a:ext cx="1554480" cy="274320"/>
          </a:xfrm>
          <a:prstGeom prst="rect">
            <a:avLst/>
          </a:prstGeom>
          <a:noFill/>
        </p:spPr>
        <p:txBody>
          <a:bodyPr wrap="square">
            <a:spAutoFit/>
          </a:bodyPr>
          <a:lstStyle/>
          <a:p>
            <a:pPr algn="ctr"/>
            <a:r>
              <a:rPr sz="1200" b="1">
                <a:solidFill>
                  <a:srgbClr val="64748B"/>
                </a:solidFill>
                <a:latin typeface="Calibri"/>
              </a:rPr>
              <a:t>NOW</a:t>
            </a:r>
          </a:p>
        </p:txBody>
      </p:sp>
      <p:sp>
        <p:nvSpPr>
          <p:cNvPr id="19" name="Oval 18"/>
          <p:cNvSpPr/>
          <p:nvPr/>
        </p:nvSpPr>
        <p:spPr>
          <a:xfrm>
            <a:off x="10259568" y="1152144"/>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28800"/>
            <a:ext cx="1554480" cy="274320"/>
          </a:xfrm>
          <a:prstGeom prst="rect">
            <a:avLst/>
          </a:prstGeom>
          <a:noFill/>
        </p:spPr>
        <p:txBody>
          <a:bodyPr wrap="square">
            <a:spAutoFit/>
          </a:bodyPr>
          <a:lstStyle/>
          <a:p>
            <a:pPr algn="ctr"/>
            <a:r>
              <a:rPr sz="1200" b="1">
                <a:solidFill>
                  <a:srgbClr val="0A2A6E"/>
                </a:solidFill>
                <a:latin typeface="Calibri"/>
              </a:rPr>
              <a:t>FUTURE</a:t>
            </a:r>
          </a:p>
        </p:txBody>
      </p:sp>
      <p:sp>
        <p:nvSpPr>
          <p:cNvPr id="21" name="Rounded Rectangle 20"/>
          <p:cNvSpPr/>
          <p:nvPr/>
        </p:nvSpPr>
        <p:spPr>
          <a:xfrm>
            <a:off x="411480" y="2286000"/>
            <a:ext cx="5577840" cy="3794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2468880"/>
            <a:ext cx="5120640" cy="320040"/>
          </a:xfrm>
          <a:prstGeom prst="rect">
            <a:avLst/>
          </a:prstGeom>
          <a:noFill/>
        </p:spPr>
        <p:txBody>
          <a:bodyPr wrap="square">
            <a:spAutoFit/>
          </a:bodyPr>
          <a:lstStyle/>
          <a:p>
            <a:pPr algn="l"/>
            <a:r>
              <a:rPr sz="1300" b="1">
                <a:solidFill>
                  <a:srgbClr val="FFB300"/>
                </a:solidFill>
                <a:latin typeface="Calibri"/>
              </a:rPr>
              <a:t>WHEN DO WE USE IT?</a:t>
            </a:r>
          </a:p>
        </p:txBody>
      </p:sp>
      <p:sp>
        <p:nvSpPr>
          <p:cNvPr id="23" name="TextBox 22"/>
          <p:cNvSpPr txBox="1"/>
          <p:nvPr/>
        </p:nvSpPr>
        <p:spPr>
          <a:xfrm>
            <a:off x="658368" y="2834640"/>
            <a:ext cx="5120640" cy="777240"/>
          </a:xfrm>
          <a:prstGeom prst="rect">
            <a:avLst/>
          </a:prstGeom>
          <a:noFill/>
        </p:spPr>
        <p:txBody>
          <a:bodyPr wrap="square">
            <a:spAutoFit/>
          </a:bodyPr>
          <a:lstStyle/>
          <a:p>
            <a:pPr algn="l"/>
            <a:r>
              <a:rPr sz="1500" b="0">
                <a:solidFill>
                  <a:srgbClr val="1F2937"/>
                </a:solidFill>
                <a:latin typeface="Calibri"/>
              </a:rPr>
              <a:t>Something that has not happened yet, but will happen later.</a:t>
            </a:r>
          </a:p>
        </p:txBody>
      </p:sp>
      <p:sp>
        <p:nvSpPr>
          <p:cNvPr id="24" name="TextBox 23"/>
          <p:cNvSpPr txBox="1"/>
          <p:nvPr/>
        </p:nvSpPr>
        <p:spPr>
          <a:xfrm>
            <a:off x="658368" y="3703320"/>
            <a:ext cx="5120640" cy="320040"/>
          </a:xfrm>
          <a:prstGeom prst="rect">
            <a:avLst/>
          </a:prstGeom>
          <a:noFill/>
        </p:spPr>
        <p:txBody>
          <a:bodyPr wrap="square">
            <a:spAutoFit/>
          </a:bodyPr>
          <a:lstStyle/>
          <a:p>
            <a:pPr algn="l"/>
            <a:r>
              <a:rPr sz="1300" b="1">
                <a:solidFill>
                  <a:srgbClr val="FFB300"/>
                </a:solidFill>
                <a:latin typeface="Calibri"/>
              </a:rPr>
              <a:t>SENTENCE BUILDER</a:t>
            </a:r>
          </a:p>
        </p:txBody>
      </p:sp>
      <p:sp>
        <p:nvSpPr>
          <p:cNvPr id="25" name="Rounded Rectangle 24"/>
          <p:cNvSpPr/>
          <p:nvPr/>
        </p:nvSpPr>
        <p:spPr>
          <a:xfrm>
            <a:off x="658368" y="4069080"/>
            <a:ext cx="5074920" cy="594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206240"/>
            <a:ext cx="4846320" cy="365760"/>
          </a:xfrm>
          <a:prstGeom prst="rect">
            <a:avLst/>
          </a:prstGeom>
          <a:noFill/>
        </p:spPr>
        <p:txBody>
          <a:bodyPr wrap="square">
            <a:spAutoFit/>
          </a:bodyPr>
          <a:lstStyle/>
          <a:p>
            <a:pPr algn="l"/>
            <a:r>
              <a:rPr sz="1400" b="1">
                <a:solidFill>
                  <a:srgbClr val="0A2A6E"/>
                </a:solidFill>
                <a:latin typeface="Calibri"/>
              </a:rPr>
              <a:t>Subject  +  will  +  verb</a:t>
            </a:r>
          </a:p>
        </p:txBody>
      </p:sp>
      <p:sp>
        <p:nvSpPr>
          <p:cNvPr id="27" name="TextBox 26"/>
          <p:cNvSpPr txBox="1"/>
          <p:nvPr/>
        </p:nvSpPr>
        <p:spPr>
          <a:xfrm>
            <a:off x="658368" y="4846320"/>
            <a:ext cx="5120640" cy="320040"/>
          </a:xfrm>
          <a:prstGeom prst="rect">
            <a:avLst/>
          </a:prstGeom>
          <a:noFill/>
        </p:spPr>
        <p:txBody>
          <a:bodyPr wrap="square">
            <a:spAutoFit/>
          </a:bodyPr>
          <a:lstStyle/>
          <a:p>
            <a:pPr algn="l"/>
            <a:r>
              <a:rPr sz="1300" b="1">
                <a:solidFill>
                  <a:srgbClr val="FFB300"/>
                </a:solidFill>
                <a:latin typeface="Calibri"/>
              </a:rPr>
              <a:t>SIGNAL WORDS 🚦</a:t>
            </a:r>
          </a:p>
        </p:txBody>
      </p:sp>
      <p:sp>
        <p:nvSpPr>
          <p:cNvPr id="28" name="TextBox 27"/>
          <p:cNvSpPr txBox="1"/>
          <p:nvPr/>
        </p:nvSpPr>
        <p:spPr>
          <a:xfrm>
            <a:off x="658368" y="5212080"/>
            <a:ext cx="5120640" cy="685800"/>
          </a:xfrm>
          <a:prstGeom prst="rect">
            <a:avLst/>
          </a:prstGeom>
          <a:noFill/>
        </p:spPr>
        <p:txBody>
          <a:bodyPr wrap="square">
            <a:spAutoFit/>
          </a:bodyPr>
          <a:lstStyle/>
          <a:p>
            <a:pPr algn="l"/>
            <a:r>
              <a:rPr sz="1300" b="0">
                <a:solidFill>
                  <a:srgbClr val="1F2937"/>
                </a:solidFill>
                <a:latin typeface="Calibri"/>
              </a:rPr>
              <a:t>tomorrow  •  next week  •  soon  •  later  •  in 2030</a:t>
            </a:r>
          </a:p>
        </p:txBody>
      </p:sp>
      <p:sp>
        <p:nvSpPr>
          <p:cNvPr id="29" name="Rounded Rectangle 28"/>
          <p:cNvSpPr/>
          <p:nvPr/>
        </p:nvSpPr>
        <p:spPr>
          <a:xfrm>
            <a:off x="6172200" y="2286000"/>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377440"/>
            <a:ext cx="1828800" cy="292608"/>
          </a:xfrm>
          <a:prstGeom prst="rect">
            <a:avLst/>
          </a:prstGeom>
          <a:noFill/>
        </p:spPr>
        <p:txBody>
          <a:bodyPr wrap="square">
            <a:spAutoFit/>
          </a:bodyPr>
          <a:lstStyle/>
          <a:p>
            <a:pPr algn="l"/>
            <a:r>
              <a:rPr sz="1100" b="1">
                <a:solidFill>
                  <a:srgbClr val="2E7D32"/>
                </a:solidFill>
                <a:latin typeface="Calibri"/>
              </a:rPr>
              <a:t>✅  POSITIVE</a:t>
            </a:r>
          </a:p>
        </p:txBody>
      </p:sp>
      <p:sp>
        <p:nvSpPr>
          <p:cNvPr id="31" name="TextBox 30"/>
          <p:cNvSpPr txBox="1"/>
          <p:nvPr/>
        </p:nvSpPr>
        <p:spPr>
          <a:xfrm>
            <a:off x="6355080" y="2706624"/>
            <a:ext cx="5212080" cy="384048"/>
          </a:xfrm>
          <a:prstGeom prst="rect">
            <a:avLst/>
          </a:prstGeom>
          <a:noFill/>
        </p:spPr>
        <p:txBody>
          <a:bodyPr wrap="square">
            <a:spAutoFit/>
          </a:bodyPr>
          <a:lstStyle/>
          <a:p>
            <a:pPr algn="l"/>
            <a:r>
              <a:rPr sz="1500" b="1">
                <a:solidFill>
                  <a:srgbClr val="0A2A6E"/>
                </a:solidFill>
                <a:latin typeface="Calibri"/>
              </a:rPr>
              <a:t>Maya will come back next August.</a:t>
            </a:r>
          </a:p>
        </p:txBody>
      </p:sp>
      <p:sp>
        <p:nvSpPr>
          <p:cNvPr id="32" name="Rounded Rectangle 31"/>
          <p:cNvSpPr/>
          <p:nvPr/>
        </p:nvSpPr>
        <p:spPr>
          <a:xfrm>
            <a:off x="6172200" y="3310128"/>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401568"/>
            <a:ext cx="1828800" cy="292608"/>
          </a:xfrm>
          <a:prstGeom prst="rect">
            <a:avLst/>
          </a:prstGeom>
          <a:noFill/>
        </p:spPr>
        <p:txBody>
          <a:bodyPr wrap="square">
            <a:spAutoFit/>
          </a:bodyPr>
          <a:lstStyle/>
          <a:p>
            <a:pPr algn="l"/>
            <a:r>
              <a:rPr sz="1100" b="1">
                <a:solidFill>
                  <a:srgbClr val="FF6F61"/>
                </a:solidFill>
                <a:latin typeface="Calibri"/>
              </a:rPr>
              <a:t>❌  NEGATIVE</a:t>
            </a:r>
          </a:p>
        </p:txBody>
      </p:sp>
      <p:sp>
        <p:nvSpPr>
          <p:cNvPr id="34" name="TextBox 33"/>
          <p:cNvSpPr txBox="1"/>
          <p:nvPr/>
        </p:nvSpPr>
        <p:spPr>
          <a:xfrm>
            <a:off x="6355080" y="3730752"/>
            <a:ext cx="5212080" cy="384048"/>
          </a:xfrm>
          <a:prstGeom prst="rect">
            <a:avLst/>
          </a:prstGeom>
          <a:noFill/>
        </p:spPr>
        <p:txBody>
          <a:bodyPr wrap="square">
            <a:spAutoFit/>
          </a:bodyPr>
          <a:lstStyle/>
          <a:p>
            <a:pPr algn="l"/>
            <a:r>
              <a:rPr sz="1500" b="1">
                <a:solidFill>
                  <a:srgbClr val="0A2A6E"/>
                </a:solidFill>
                <a:latin typeface="Calibri"/>
              </a:rPr>
              <a:t>She will not forget the turtles.</a:t>
            </a:r>
          </a:p>
        </p:txBody>
      </p:sp>
      <p:sp>
        <p:nvSpPr>
          <p:cNvPr id="35" name="Rounded Rectangle 34"/>
          <p:cNvSpPr/>
          <p:nvPr/>
        </p:nvSpPr>
        <p:spPr>
          <a:xfrm>
            <a:off x="6172200" y="4334256"/>
            <a:ext cx="5577840" cy="89611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5080" y="4425696"/>
            <a:ext cx="1828800" cy="292608"/>
          </a:xfrm>
          <a:prstGeom prst="rect">
            <a:avLst/>
          </a:prstGeom>
          <a:noFill/>
        </p:spPr>
        <p:txBody>
          <a:bodyPr wrap="square">
            <a:spAutoFit/>
          </a:bodyPr>
          <a:lstStyle/>
          <a:p>
            <a:pPr algn="l"/>
            <a:r>
              <a:rPr sz="1100" b="1">
                <a:solidFill>
                  <a:srgbClr val="7E57C2"/>
                </a:solidFill>
                <a:latin typeface="Calibri"/>
              </a:rPr>
              <a:t>❓  QUESTION</a:t>
            </a:r>
          </a:p>
        </p:txBody>
      </p:sp>
      <p:sp>
        <p:nvSpPr>
          <p:cNvPr id="37" name="TextBox 36"/>
          <p:cNvSpPr txBox="1"/>
          <p:nvPr/>
        </p:nvSpPr>
        <p:spPr>
          <a:xfrm>
            <a:off x="6355080" y="4754880"/>
            <a:ext cx="5212080" cy="384048"/>
          </a:xfrm>
          <a:prstGeom prst="rect">
            <a:avLst/>
          </a:prstGeom>
          <a:noFill/>
        </p:spPr>
        <p:txBody>
          <a:bodyPr wrap="square">
            <a:spAutoFit/>
          </a:bodyPr>
          <a:lstStyle/>
          <a:p>
            <a:pPr algn="l"/>
            <a:r>
              <a:rPr sz="1500" b="1">
                <a:solidFill>
                  <a:srgbClr val="0A2A6E"/>
                </a:solidFill>
                <a:latin typeface="Calibri"/>
              </a:rPr>
              <a:t>Will Maya come back next August?</a:t>
            </a:r>
          </a:p>
        </p:txBody>
      </p:sp>
      <p:sp>
        <p:nvSpPr>
          <p:cNvPr id="38" name="Rounded Rectangle 37"/>
          <p:cNvSpPr/>
          <p:nvPr/>
        </p:nvSpPr>
        <p:spPr>
          <a:xfrm>
            <a:off x="6172200" y="5394960"/>
            <a:ext cx="5577840" cy="6858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486400"/>
            <a:ext cx="5212080" cy="274320"/>
          </a:xfrm>
          <a:prstGeom prst="rect">
            <a:avLst/>
          </a:prstGeom>
          <a:noFill/>
        </p:spPr>
        <p:txBody>
          <a:bodyPr wrap="square">
            <a:spAutoFit/>
          </a:bodyPr>
          <a:lstStyle/>
          <a:p>
            <a:pPr algn="l"/>
            <a:r>
              <a:rPr sz="1100" b="1">
                <a:solidFill>
                  <a:srgbClr val="FFB300"/>
                </a:solidFill>
                <a:latin typeface="Calibri"/>
              </a:rPr>
              <a:t>🏠 REAL LIFE</a:t>
            </a:r>
          </a:p>
        </p:txBody>
      </p:sp>
      <p:sp>
        <p:nvSpPr>
          <p:cNvPr id="40" name="TextBox 39"/>
          <p:cNvSpPr txBox="1"/>
          <p:nvPr/>
        </p:nvSpPr>
        <p:spPr>
          <a:xfrm>
            <a:off x="6355080" y="5760720"/>
            <a:ext cx="5212080" cy="320040"/>
          </a:xfrm>
          <a:prstGeom prst="rect">
            <a:avLst/>
          </a:prstGeom>
          <a:noFill/>
        </p:spPr>
        <p:txBody>
          <a:bodyPr wrap="square">
            <a:spAutoFit/>
          </a:bodyPr>
          <a:lstStyle/>
          <a:p>
            <a:pPr algn="l"/>
            <a:r>
              <a:rPr sz="1400" b="1">
                <a:solidFill>
                  <a:srgbClr val="1F2937"/>
                </a:solidFill>
                <a:latin typeface="Calibri"/>
              </a:rPr>
              <a:t>I will visit my grandma next weekend.</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25–35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All Five Tenses on One Map</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7578621"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Tenses  |  25–35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23 / 37</a:t>
            </a:r>
          </a:p>
        </p:txBody>
      </p:sp>
      <p:sp>
        <p:nvSpPr>
          <p:cNvPr id="14" name="Rectangle 13"/>
          <p:cNvSpPr/>
          <p:nvPr/>
        </p:nvSpPr>
        <p:spPr>
          <a:xfrm>
            <a:off x="1188720" y="1453896"/>
            <a:ext cx="9692640" cy="45720"/>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1316736"/>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847088"/>
            <a:ext cx="1554480" cy="274320"/>
          </a:xfrm>
          <a:prstGeom prst="rect">
            <a:avLst/>
          </a:prstGeom>
          <a:noFill/>
        </p:spPr>
        <p:txBody>
          <a:bodyPr wrap="square">
            <a:spAutoFit/>
          </a:bodyPr>
          <a:lstStyle/>
          <a:p>
            <a:pPr algn="ctr"/>
            <a:r>
              <a:rPr sz="1200" b="1">
                <a:solidFill>
                  <a:srgbClr val="64748B"/>
                </a:solidFill>
                <a:latin typeface="Calibri"/>
              </a:rPr>
              <a:t>PAST</a:t>
            </a:r>
          </a:p>
        </p:txBody>
      </p:sp>
      <p:sp>
        <p:nvSpPr>
          <p:cNvPr id="17" name="Oval 16"/>
          <p:cNvSpPr/>
          <p:nvPr/>
        </p:nvSpPr>
        <p:spPr>
          <a:xfrm>
            <a:off x="5733288" y="1170432"/>
            <a:ext cx="603504" cy="603504"/>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847088"/>
            <a:ext cx="1554480" cy="274320"/>
          </a:xfrm>
          <a:prstGeom prst="rect">
            <a:avLst/>
          </a:prstGeom>
          <a:noFill/>
        </p:spPr>
        <p:txBody>
          <a:bodyPr wrap="square">
            <a:spAutoFit/>
          </a:bodyPr>
          <a:lstStyle/>
          <a:p>
            <a:pPr algn="ctr"/>
            <a:r>
              <a:rPr sz="1200" b="1">
                <a:solidFill>
                  <a:srgbClr val="0A2A6E"/>
                </a:solidFill>
                <a:latin typeface="Calibri"/>
              </a:rPr>
              <a:t>NOW</a:t>
            </a:r>
          </a:p>
        </p:txBody>
      </p:sp>
      <p:sp>
        <p:nvSpPr>
          <p:cNvPr id="19" name="Oval 18"/>
          <p:cNvSpPr/>
          <p:nvPr/>
        </p:nvSpPr>
        <p:spPr>
          <a:xfrm>
            <a:off x="10332720" y="1316736"/>
            <a:ext cx="457200" cy="4572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847088"/>
            <a:ext cx="1554480" cy="274320"/>
          </a:xfrm>
          <a:prstGeom prst="rect">
            <a:avLst/>
          </a:prstGeom>
          <a:noFill/>
        </p:spPr>
        <p:txBody>
          <a:bodyPr wrap="square">
            <a:spAutoFit/>
          </a:bodyPr>
          <a:lstStyle/>
          <a:p>
            <a:pPr algn="ctr"/>
            <a:r>
              <a:rPr sz="1200" b="1">
                <a:solidFill>
                  <a:srgbClr val="64748B"/>
                </a:solidFill>
                <a:latin typeface="Calibri"/>
              </a:rPr>
              <a:t>FUTURE</a:t>
            </a:r>
          </a:p>
        </p:txBody>
      </p:sp>
      <p:sp>
        <p:nvSpPr>
          <p:cNvPr id="21" name="Rounded Rectangle 20"/>
          <p:cNvSpPr/>
          <p:nvPr/>
        </p:nvSpPr>
        <p:spPr>
          <a:xfrm>
            <a:off x="411480" y="2423160"/>
            <a:ext cx="2194560" cy="237744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2423160"/>
            <a:ext cx="2194560" cy="9144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2679192"/>
            <a:ext cx="1975104" cy="640080"/>
          </a:xfrm>
          <a:prstGeom prst="rect">
            <a:avLst/>
          </a:prstGeom>
          <a:noFill/>
        </p:spPr>
        <p:txBody>
          <a:bodyPr wrap="square">
            <a:spAutoFit/>
          </a:bodyPr>
          <a:lstStyle/>
          <a:p>
            <a:pPr algn="ctr"/>
            <a:r>
              <a:rPr sz="1300" b="1">
                <a:solidFill>
                  <a:srgbClr val="7E57C2"/>
                </a:solidFill>
                <a:latin typeface="Calibri"/>
              </a:rPr>
              <a:t>Past Continuous</a:t>
            </a:r>
          </a:p>
        </p:txBody>
      </p:sp>
      <p:sp>
        <p:nvSpPr>
          <p:cNvPr id="24" name="Rounded Rectangle 23"/>
          <p:cNvSpPr/>
          <p:nvPr/>
        </p:nvSpPr>
        <p:spPr>
          <a:xfrm>
            <a:off x="521208" y="3383280"/>
            <a:ext cx="1975104" cy="548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502152"/>
            <a:ext cx="1975104" cy="365760"/>
          </a:xfrm>
          <a:prstGeom prst="rect">
            <a:avLst/>
          </a:prstGeom>
          <a:noFill/>
        </p:spPr>
        <p:txBody>
          <a:bodyPr wrap="square">
            <a:spAutoFit/>
          </a:bodyPr>
          <a:lstStyle/>
          <a:p>
            <a:pPr algn="ctr"/>
            <a:r>
              <a:rPr sz="1100" b="1">
                <a:solidFill>
                  <a:srgbClr val="0A2A6E"/>
                </a:solidFill>
                <a:latin typeface="Calibri"/>
              </a:rPr>
              <a:t>was / were + -ing</a:t>
            </a:r>
          </a:p>
        </p:txBody>
      </p:sp>
      <p:sp>
        <p:nvSpPr>
          <p:cNvPr id="26" name="TextBox 25"/>
          <p:cNvSpPr txBox="1"/>
          <p:nvPr/>
        </p:nvSpPr>
        <p:spPr>
          <a:xfrm>
            <a:off x="521208" y="4069080"/>
            <a:ext cx="1975104" cy="548640"/>
          </a:xfrm>
          <a:prstGeom prst="rect">
            <a:avLst/>
          </a:prstGeom>
          <a:noFill/>
        </p:spPr>
        <p:txBody>
          <a:bodyPr wrap="square">
            <a:spAutoFit/>
          </a:bodyPr>
          <a:lstStyle/>
          <a:p>
            <a:pPr algn="ctr"/>
            <a:r>
              <a:rPr sz="1300" b="1">
                <a:solidFill>
                  <a:srgbClr val="1F2937"/>
                </a:solidFill>
                <a:latin typeface="Calibri"/>
              </a:rPr>
              <a:t>I was reading.</a:t>
            </a:r>
          </a:p>
        </p:txBody>
      </p:sp>
      <p:sp>
        <p:nvSpPr>
          <p:cNvPr id="27" name="Rounded Rectangle 26"/>
          <p:cNvSpPr/>
          <p:nvPr/>
        </p:nvSpPr>
        <p:spPr>
          <a:xfrm>
            <a:off x="2743200" y="2423160"/>
            <a:ext cx="2194560" cy="237744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0" y="2423160"/>
            <a:ext cx="2194560" cy="9144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52928" y="2679192"/>
            <a:ext cx="1975104" cy="640080"/>
          </a:xfrm>
          <a:prstGeom prst="rect">
            <a:avLst/>
          </a:prstGeom>
          <a:noFill/>
        </p:spPr>
        <p:txBody>
          <a:bodyPr wrap="square">
            <a:spAutoFit/>
          </a:bodyPr>
          <a:lstStyle/>
          <a:p>
            <a:pPr algn="ctr"/>
            <a:r>
              <a:rPr sz="1300" b="1">
                <a:solidFill>
                  <a:srgbClr val="FF6F61"/>
                </a:solidFill>
                <a:latin typeface="Calibri"/>
              </a:rPr>
              <a:t>Simple Past</a:t>
            </a:r>
          </a:p>
        </p:txBody>
      </p:sp>
      <p:sp>
        <p:nvSpPr>
          <p:cNvPr id="30" name="Rounded Rectangle 29"/>
          <p:cNvSpPr/>
          <p:nvPr/>
        </p:nvSpPr>
        <p:spPr>
          <a:xfrm>
            <a:off x="2852928" y="3383280"/>
            <a:ext cx="1975104" cy="548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8" y="3502152"/>
            <a:ext cx="1975104" cy="365760"/>
          </a:xfrm>
          <a:prstGeom prst="rect">
            <a:avLst/>
          </a:prstGeom>
          <a:noFill/>
        </p:spPr>
        <p:txBody>
          <a:bodyPr wrap="square">
            <a:spAutoFit/>
          </a:bodyPr>
          <a:lstStyle/>
          <a:p>
            <a:pPr algn="ctr"/>
            <a:r>
              <a:rPr sz="1100" b="1">
                <a:solidFill>
                  <a:srgbClr val="0A2A6E"/>
                </a:solidFill>
                <a:latin typeface="Calibri"/>
              </a:rPr>
              <a:t>past verb</a:t>
            </a:r>
          </a:p>
        </p:txBody>
      </p:sp>
      <p:sp>
        <p:nvSpPr>
          <p:cNvPr id="32" name="TextBox 31"/>
          <p:cNvSpPr txBox="1"/>
          <p:nvPr/>
        </p:nvSpPr>
        <p:spPr>
          <a:xfrm>
            <a:off x="2852928" y="4069080"/>
            <a:ext cx="1975104" cy="548640"/>
          </a:xfrm>
          <a:prstGeom prst="rect">
            <a:avLst/>
          </a:prstGeom>
          <a:noFill/>
        </p:spPr>
        <p:txBody>
          <a:bodyPr wrap="square">
            <a:spAutoFit/>
          </a:bodyPr>
          <a:lstStyle/>
          <a:p>
            <a:pPr algn="ctr"/>
            <a:r>
              <a:rPr sz="1300" b="1">
                <a:solidFill>
                  <a:srgbClr val="1F2937"/>
                </a:solidFill>
                <a:latin typeface="Calibri"/>
              </a:rPr>
              <a:t>I read it.</a:t>
            </a:r>
          </a:p>
        </p:txBody>
      </p:sp>
      <p:sp>
        <p:nvSpPr>
          <p:cNvPr id="33" name="Rounded Rectangle 32"/>
          <p:cNvSpPr/>
          <p:nvPr/>
        </p:nvSpPr>
        <p:spPr>
          <a:xfrm>
            <a:off x="5074920" y="2423160"/>
            <a:ext cx="2194560" cy="237744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74920" y="2423160"/>
            <a:ext cx="2194560" cy="914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84648" y="2679192"/>
            <a:ext cx="1975104" cy="640080"/>
          </a:xfrm>
          <a:prstGeom prst="rect">
            <a:avLst/>
          </a:prstGeom>
          <a:noFill/>
        </p:spPr>
        <p:txBody>
          <a:bodyPr wrap="square">
            <a:spAutoFit/>
          </a:bodyPr>
          <a:lstStyle/>
          <a:p>
            <a:pPr algn="ctr"/>
            <a:r>
              <a:rPr sz="1300" b="1">
                <a:solidFill>
                  <a:srgbClr val="009688"/>
                </a:solidFill>
                <a:latin typeface="Calibri"/>
              </a:rPr>
              <a:t>Simple Present</a:t>
            </a:r>
          </a:p>
        </p:txBody>
      </p:sp>
      <p:sp>
        <p:nvSpPr>
          <p:cNvPr id="36" name="Rounded Rectangle 35"/>
          <p:cNvSpPr/>
          <p:nvPr/>
        </p:nvSpPr>
        <p:spPr>
          <a:xfrm>
            <a:off x="5184648" y="3383280"/>
            <a:ext cx="1975104" cy="548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84648" y="3502152"/>
            <a:ext cx="1975104" cy="365760"/>
          </a:xfrm>
          <a:prstGeom prst="rect">
            <a:avLst/>
          </a:prstGeom>
          <a:noFill/>
        </p:spPr>
        <p:txBody>
          <a:bodyPr wrap="square">
            <a:spAutoFit/>
          </a:bodyPr>
          <a:lstStyle/>
          <a:p>
            <a:pPr algn="ctr"/>
            <a:r>
              <a:rPr sz="1100" b="1">
                <a:solidFill>
                  <a:srgbClr val="0A2A6E"/>
                </a:solidFill>
                <a:latin typeface="Calibri"/>
              </a:rPr>
              <a:t>verb (+s)</a:t>
            </a:r>
          </a:p>
        </p:txBody>
      </p:sp>
      <p:sp>
        <p:nvSpPr>
          <p:cNvPr id="38" name="TextBox 37"/>
          <p:cNvSpPr txBox="1"/>
          <p:nvPr/>
        </p:nvSpPr>
        <p:spPr>
          <a:xfrm>
            <a:off x="5184648" y="4069080"/>
            <a:ext cx="1975104" cy="548640"/>
          </a:xfrm>
          <a:prstGeom prst="rect">
            <a:avLst/>
          </a:prstGeom>
          <a:noFill/>
        </p:spPr>
        <p:txBody>
          <a:bodyPr wrap="square">
            <a:spAutoFit/>
          </a:bodyPr>
          <a:lstStyle/>
          <a:p>
            <a:pPr algn="ctr"/>
            <a:r>
              <a:rPr sz="1300" b="1">
                <a:solidFill>
                  <a:srgbClr val="1F2937"/>
                </a:solidFill>
                <a:latin typeface="Calibri"/>
              </a:rPr>
              <a:t>I read daily.</a:t>
            </a:r>
          </a:p>
        </p:txBody>
      </p:sp>
      <p:sp>
        <p:nvSpPr>
          <p:cNvPr id="39" name="Rounded Rectangle 38"/>
          <p:cNvSpPr/>
          <p:nvPr/>
        </p:nvSpPr>
        <p:spPr>
          <a:xfrm>
            <a:off x="7406640" y="2423160"/>
            <a:ext cx="2194560" cy="237744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406640" y="2423160"/>
            <a:ext cx="2194560" cy="9144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16368" y="2679192"/>
            <a:ext cx="1975104" cy="640080"/>
          </a:xfrm>
          <a:prstGeom prst="rect">
            <a:avLst/>
          </a:prstGeom>
          <a:noFill/>
        </p:spPr>
        <p:txBody>
          <a:bodyPr wrap="square">
            <a:spAutoFit/>
          </a:bodyPr>
          <a:lstStyle/>
          <a:p>
            <a:pPr algn="ctr"/>
            <a:r>
              <a:rPr sz="1300" b="1">
                <a:solidFill>
                  <a:srgbClr val="29B6F6"/>
                </a:solidFill>
                <a:latin typeface="Calibri"/>
              </a:rPr>
              <a:t>Present Continuous</a:t>
            </a:r>
          </a:p>
        </p:txBody>
      </p:sp>
      <p:sp>
        <p:nvSpPr>
          <p:cNvPr id="42" name="Rounded Rectangle 41"/>
          <p:cNvSpPr/>
          <p:nvPr/>
        </p:nvSpPr>
        <p:spPr>
          <a:xfrm>
            <a:off x="7516368" y="3383280"/>
            <a:ext cx="1975104" cy="548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16368" y="3502152"/>
            <a:ext cx="1975104" cy="365760"/>
          </a:xfrm>
          <a:prstGeom prst="rect">
            <a:avLst/>
          </a:prstGeom>
          <a:noFill/>
        </p:spPr>
        <p:txBody>
          <a:bodyPr wrap="square">
            <a:spAutoFit/>
          </a:bodyPr>
          <a:lstStyle/>
          <a:p>
            <a:pPr algn="ctr"/>
            <a:r>
              <a:rPr sz="1100" b="1">
                <a:solidFill>
                  <a:srgbClr val="0A2A6E"/>
                </a:solidFill>
                <a:latin typeface="Calibri"/>
              </a:rPr>
              <a:t>am/is/are + -ing</a:t>
            </a:r>
          </a:p>
        </p:txBody>
      </p:sp>
      <p:sp>
        <p:nvSpPr>
          <p:cNvPr id="44" name="TextBox 43"/>
          <p:cNvSpPr txBox="1"/>
          <p:nvPr/>
        </p:nvSpPr>
        <p:spPr>
          <a:xfrm>
            <a:off x="7516368" y="4069080"/>
            <a:ext cx="1975104" cy="548640"/>
          </a:xfrm>
          <a:prstGeom prst="rect">
            <a:avLst/>
          </a:prstGeom>
          <a:noFill/>
        </p:spPr>
        <p:txBody>
          <a:bodyPr wrap="square">
            <a:spAutoFit/>
          </a:bodyPr>
          <a:lstStyle/>
          <a:p>
            <a:pPr algn="ctr"/>
            <a:r>
              <a:rPr sz="1300" b="1">
                <a:solidFill>
                  <a:srgbClr val="1F2937"/>
                </a:solidFill>
                <a:latin typeface="Calibri"/>
              </a:rPr>
              <a:t>I am reading.</a:t>
            </a:r>
          </a:p>
        </p:txBody>
      </p:sp>
      <p:sp>
        <p:nvSpPr>
          <p:cNvPr id="45" name="Rounded Rectangle 44"/>
          <p:cNvSpPr/>
          <p:nvPr/>
        </p:nvSpPr>
        <p:spPr>
          <a:xfrm>
            <a:off x="9738360" y="2423160"/>
            <a:ext cx="2194560" cy="237744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38360" y="2423160"/>
            <a:ext cx="2194560" cy="9144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48088" y="2679192"/>
            <a:ext cx="1975104" cy="640080"/>
          </a:xfrm>
          <a:prstGeom prst="rect">
            <a:avLst/>
          </a:prstGeom>
          <a:noFill/>
        </p:spPr>
        <p:txBody>
          <a:bodyPr wrap="square">
            <a:spAutoFit/>
          </a:bodyPr>
          <a:lstStyle/>
          <a:p>
            <a:pPr algn="ctr"/>
            <a:r>
              <a:rPr sz="1300" b="1">
                <a:solidFill>
                  <a:srgbClr val="FFB300"/>
                </a:solidFill>
                <a:latin typeface="Calibri"/>
              </a:rPr>
              <a:t>Simple Future</a:t>
            </a:r>
          </a:p>
        </p:txBody>
      </p:sp>
      <p:sp>
        <p:nvSpPr>
          <p:cNvPr id="48" name="Rounded Rectangle 47"/>
          <p:cNvSpPr/>
          <p:nvPr/>
        </p:nvSpPr>
        <p:spPr>
          <a:xfrm>
            <a:off x="9848088" y="3383280"/>
            <a:ext cx="1975104" cy="548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48088" y="3502152"/>
            <a:ext cx="1975104" cy="365760"/>
          </a:xfrm>
          <a:prstGeom prst="rect">
            <a:avLst/>
          </a:prstGeom>
          <a:noFill/>
        </p:spPr>
        <p:txBody>
          <a:bodyPr wrap="square">
            <a:spAutoFit/>
          </a:bodyPr>
          <a:lstStyle/>
          <a:p>
            <a:pPr algn="ctr"/>
            <a:r>
              <a:rPr sz="1100" b="1">
                <a:solidFill>
                  <a:srgbClr val="0A2A6E"/>
                </a:solidFill>
                <a:latin typeface="Calibri"/>
              </a:rPr>
              <a:t>will + verb</a:t>
            </a:r>
          </a:p>
        </p:txBody>
      </p:sp>
      <p:sp>
        <p:nvSpPr>
          <p:cNvPr id="50" name="TextBox 49"/>
          <p:cNvSpPr txBox="1"/>
          <p:nvPr/>
        </p:nvSpPr>
        <p:spPr>
          <a:xfrm>
            <a:off x="9848088" y="4069080"/>
            <a:ext cx="1975104" cy="548640"/>
          </a:xfrm>
          <a:prstGeom prst="rect">
            <a:avLst/>
          </a:prstGeom>
          <a:noFill/>
        </p:spPr>
        <p:txBody>
          <a:bodyPr wrap="square">
            <a:spAutoFit/>
          </a:bodyPr>
          <a:lstStyle/>
          <a:p>
            <a:pPr algn="ctr"/>
            <a:r>
              <a:rPr sz="1300" b="1">
                <a:solidFill>
                  <a:srgbClr val="1F2937"/>
                </a:solidFill>
                <a:latin typeface="Calibri"/>
              </a:rPr>
              <a:t>I will read.</a:t>
            </a:r>
          </a:p>
        </p:txBody>
      </p:sp>
      <p:sp>
        <p:nvSpPr>
          <p:cNvPr id="51" name="Rounded Rectangle 50"/>
          <p:cNvSpPr/>
          <p:nvPr/>
        </p:nvSpPr>
        <p:spPr>
          <a:xfrm>
            <a:off x="411480" y="5074920"/>
            <a:ext cx="11338560" cy="9144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5230368"/>
            <a:ext cx="10789920" cy="640080"/>
          </a:xfrm>
          <a:prstGeom prst="rect">
            <a:avLst/>
          </a:prstGeom>
          <a:noFill/>
        </p:spPr>
        <p:txBody>
          <a:bodyPr wrap="square">
            <a:spAutoFit/>
          </a:bodyPr>
          <a:lstStyle/>
          <a:p>
            <a:pPr algn="l"/>
            <a:r>
              <a:rPr sz="1500" b="1">
                <a:solidFill>
                  <a:srgbClr val="0A2A6E"/>
                </a:solidFill>
                <a:latin typeface="Calibri"/>
              </a:rPr>
              <a:t>🔑 Shortcut: -ing means it's IN PROGRESS.   WILL means it hasn't happened yet.   -ed or a changed verb means it's DONE.</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35–47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Tense Game 1: Tense Detective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7908126"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 game  |  35–47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24 / 37</a:t>
            </a:r>
          </a:p>
        </p:txBody>
      </p:sp>
      <p:sp>
        <p:nvSpPr>
          <p:cNvPr id="14" name="TextBox 13"/>
          <p:cNvSpPr txBox="1"/>
          <p:nvPr/>
        </p:nvSpPr>
        <p:spPr>
          <a:xfrm>
            <a:off x="411480" y="1207008"/>
            <a:ext cx="11338560" cy="365760"/>
          </a:xfrm>
          <a:prstGeom prst="rect">
            <a:avLst/>
          </a:prstGeom>
          <a:noFill/>
        </p:spPr>
        <p:txBody>
          <a:bodyPr wrap="square">
            <a:spAutoFit/>
          </a:bodyPr>
          <a:lstStyle/>
          <a:p>
            <a:pPr algn="l"/>
            <a:r>
              <a:rPr sz="1500" b="1">
                <a:solidFill>
                  <a:srgbClr val="FF6F61"/>
                </a:solidFill>
                <a:latin typeface="Calibri"/>
              </a:rPr>
              <a:t>Read each sentence. Which tense is hiding inside? Look for the signal words!</a:t>
            </a:r>
          </a:p>
        </p:txBody>
      </p:sp>
      <p:sp>
        <p:nvSpPr>
          <p:cNvPr id="15" name="Rounded Rectangle 14"/>
          <p:cNvSpPr/>
          <p:nvPr/>
        </p:nvSpPr>
        <p:spPr>
          <a:xfrm>
            <a:off x="41148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6072" y="2075688"/>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2148840"/>
            <a:ext cx="502920" cy="365760"/>
          </a:xfrm>
          <a:prstGeom prst="rect">
            <a:avLst/>
          </a:prstGeom>
          <a:noFill/>
        </p:spPr>
        <p:txBody>
          <a:bodyPr wrap="square">
            <a:spAutoFit/>
          </a:bodyPr>
          <a:lstStyle/>
          <a:p>
            <a:pPr algn="ctr"/>
            <a:r>
              <a:rPr sz="1400" b="1">
                <a:solidFill>
                  <a:srgbClr val="FFFFFF"/>
                </a:solidFill>
                <a:latin typeface="Calibri"/>
              </a:rPr>
              <a:t>1</a:t>
            </a:r>
          </a:p>
        </p:txBody>
      </p:sp>
      <p:sp>
        <p:nvSpPr>
          <p:cNvPr id="18" name="TextBox 17"/>
          <p:cNvSpPr txBox="1"/>
          <p:nvPr/>
        </p:nvSpPr>
        <p:spPr>
          <a:xfrm>
            <a:off x="1216152" y="1874520"/>
            <a:ext cx="4572000" cy="457200"/>
          </a:xfrm>
          <a:prstGeom prst="rect">
            <a:avLst/>
          </a:prstGeom>
          <a:noFill/>
        </p:spPr>
        <p:txBody>
          <a:bodyPr wrap="square">
            <a:spAutoFit/>
          </a:bodyPr>
          <a:lstStyle/>
          <a:p>
            <a:pPr algn="l"/>
            <a:r>
              <a:rPr sz="1500" b="1">
                <a:solidFill>
                  <a:srgbClr val="0A2A6E"/>
                </a:solidFill>
                <a:latin typeface="Calibri"/>
              </a:rPr>
              <a:t>Sarah played tennis yesterday.</a:t>
            </a:r>
          </a:p>
        </p:txBody>
      </p:sp>
      <p:sp>
        <p:nvSpPr>
          <p:cNvPr id="19" name="TextBox 18"/>
          <p:cNvSpPr txBox="1"/>
          <p:nvPr/>
        </p:nvSpPr>
        <p:spPr>
          <a:xfrm>
            <a:off x="1216152" y="2350008"/>
            <a:ext cx="2743200" cy="292608"/>
          </a:xfrm>
          <a:prstGeom prst="rect">
            <a:avLst/>
          </a:prstGeom>
          <a:noFill/>
        </p:spPr>
        <p:txBody>
          <a:bodyPr wrap="square">
            <a:spAutoFit/>
          </a:bodyPr>
          <a:lstStyle/>
          <a:p>
            <a:pPr algn="l"/>
            <a:r>
              <a:rPr sz="1100" b="0">
                <a:solidFill>
                  <a:srgbClr val="64748B"/>
                </a:solidFill>
                <a:latin typeface="Calibri"/>
              </a:rPr>
              <a:t>yesterday 🚦</a:t>
            </a:r>
          </a:p>
        </p:txBody>
      </p:sp>
      <p:sp>
        <p:nvSpPr>
          <p:cNvPr id="20" name="TextBox 19"/>
          <p:cNvSpPr txBox="1"/>
          <p:nvPr/>
        </p:nvSpPr>
        <p:spPr>
          <a:xfrm>
            <a:off x="4160519" y="2350008"/>
            <a:ext cx="1645920" cy="292608"/>
          </a:xfrm>
          <a:prstGeom prst="rect">
            <a:avLst/>
          </a:prstGeom>
          <a:noFill/>
        </p:spPr>
        <p:txBody>
          <a:bodyPr wrap="square">
            <a:spAutoFit/>
          </a:bodyPr>
          <a:lstStyle/>
          <a:p>
            <a:pPr algn="l"/>
            <a:r>
              <a:rPr sz="1200" b="1">
                <a:solidFill>
                  <a:srgbClr val="009688"/>
                </a:solidFill>
                <a:latin typeface="Calibri"/>
              </a:rPr>
              <a:t>Tense: ______</a:t>
            </a:r>
          </a:p>
        </p:txBody>
      </p:sp>
      <p:sp>
        <p:nvSpPr>
          <p:cNvPr id="21" name="Rounded Rectangle 20"/>
          <p:cNvSpPr/>
          <p:nvPr/>
        </p:nvSpPr>
        <p:spPr>
          <a:xfrm>
            <a:off x="621792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82512" y="2075688"/>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2148840"/>
            <a:ext cx="502920" cy="365760"/>
          </a:xfrm>
          <a:prstGeom prst="rect">
            <a:avLst/>
          </a:prstGeom>
          <a:noFill/>
        </p:spPr>
        <p:txBody>
          <a:bodyPr wrap="square">
            <a:spAutoFit/>
          </a:bodyPr>
          <a:lstStyle/>
          <a:p>
            <a:pPr algn="ctr"/>
            <a:r>
              <a:rPr sz="1400" b="1">
                <a:solidFill>
                  <a:srgbClr val="FFFFFF"/>
                </a:solidFill>
                <a:latin typeface="Calibri"/>
              </a:rPr>
              <a:t>2</a:t>
            </a:r>
          </a:p>
        </p:txBody>
      </p:sp>
      <p:sp>
        <p:nvSpPr>
          <p:cNvPr id="24" name="TextBox 23"/>
          <p:cNvSpPr txBox="1"/>
          <p:nvPr/>
        </p:nvSpPr>
        <p:spPr>
          <a:xfrm>
            <a:off x="7022592" y="1874520"/>
            <a:ext cx="4572000" cy="457200"/>
          </a:xfrm>
          <a:prstGeom prst="rect">
            <a:avLst/>
          </a:prstGeom>
          <a:noFill/>
        </p:spPr>
        <p:txBody>
          <a:bodyPr wrap="square">
            <a:spAutoFit/>
          </a:bodyPr>
          <a:lstStyle/>
          <a:p>
            <a:pPr algn="l"/>
            <a:r>
              <a:rPr sz="1500" b="1">
                <a:solidFill>
                  <a:srgbClr val="0A2A6E"/>
                </a:solidFill>
                <a:latin typeface="Calibri"/>
              </a:rPr>
              <a:t>The turtles are crawling to the sea.</a:t>
            </a:r>
          </a:p>
        </p:txBody>
      </p:sp>
      <p:sp>
        <p:nvSpPr>
          <p:cNvPr id="25" name="TextBox 24"/>
          <p:cNvSpPr txBox="1"/>
          <p:nvPr/>
        </p:nvSpPr>
        <p:spPr>
          <a:xfrm>
            <a:off x="7022592" y="2350008"/>
            <a:ext cx="2743200" cy="292608"/>
          </a:xfrm>
          <a:prstGeom prst="rect">
            <a:avLst/>
          </a:prstGeom>
          <a:noFill/>
        </p:spPr>
        <p:txBody>
          <a:bodyPr wrap="square">
            <a:spAutoFit/>
          </a:bodyPr>
          <a:lstStyle/>
          <a:p>
            <a:pPr algn="l"/>
            <a:r>
              <a:rPr sz="1100" b="0">
                <a:solidFill>
                  <a:srgbClr val="64748B"/>
                </a:solidFill>
                <a:latin typeface="Calibri"/>
              </a:rPr>
              <a:t>-ing right now 🚦</a:t>
            </a:r>
          </a:p>
        </p:txBody>
      </p:sp>
      <p:sp>
        <p:nvSpPr>
          <p:cNvPr id="26" name="TextBox 25"/>
          <p:cNvSpPr txBox="1"/>
          <p:nvPr/>
        </p:nvSpPr>
        <p:spPr>
          <a:xfrm>
            <a:off x="9966959" y="2350008"/>
            <a:ext cx="1645920" cy="292608"/>
          </a:xfrm>
          <a:prstGeom prst="rect">
            <a:avLst/>
          </a:prstGeom>
          <a:noFill/>
        </p:spPr>
        <p:txBody>
          <a:bodyPr wrap="square">
            <a:spAutoFit/>
          </a:bodyPr>
          <a:lstStyle/>
          <a:p>
            <a:pPr algn="l"/>
            <a:r>
              <a:rPr sz="1200" b="1">
                <a:solidFill>
                  <a:srgbClr val="009688"/>
                </a:solidFill>
                <a:latin typeface="Calibri"/>
              </a:rPr>
              <a:t>Tense: ______</a:t>
            </a:r>
          </a:p>
        </p:txBody>
      </p:sp>
      <p:sp>
        <p:nvSpPr>
          <p:cNvPr id="27" name="Rounded Rectangle 26"/>
          <p:cNvSpPr/>
          <p:nvPr/>
        </p:nvSpPr>
        <p:spPr>
          <a:xfrm>
            <a:off x="41148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76072" y="3557016"/>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3630168"/>
            <a:ext cx="502920" cy="365760"/>
          </a:xfrm>
          <a:prstGeom prst="rect">
            <a:avLst/>
          </a:prstGeom>
          <a:noFill/>
        </p:spPr>
        <p:txBody>
          <a:bodyPr wrap="square">
            <a:spAutoFit/>
          </a:bodyPr>
          <a:lstStyle/>
          <a:p>
            <a:pPr algn="ctr"/>
            <a:r>
              <a:rPr sz="1400" b="1">
                <a:solidFill>
                  <a:srgbClr val="FFFFFF"/>
                </a:solidFill>
                <a:latin typeface="Calibri"/>
              </a:rPr>
              <a:t>3</a:t>
            </a:r>
          </a:p>
        </p:txBody>
      </p:sp>
      <p:sp>
        <p:nvSpPr>
          <p:cNvPr id="30" name="TextBox 29"/>
          <p:cNvSpPr txBox="1"/>
          <p:nvPr/>
        </p:nvSpPr>
        <p:spPr>
          <a:xfrm>
            <a:off x="1216152" y="3355848"/>
            <a:ext cx="4572000" cy="457200"/>
          </a:xfrm>
          <a:prstGeom prst="rect">
            <a:avLst/>
          </a:prstGeom>
          <a:noFill/>
        </p:spPr>
        <p:txBody>
          <a:bodyPr wrap="square">
            <a:spAutoFit/>
          </a:bodyPr>
          <a:lstStyle/>
          <a:p>
            <a:pPr algn="l"/>
            <a:r>
              <a:rPr sz="1500" b="1">
                <a:solidFill>
                  <a:srgbClr val="0A2A6E"/>
                </a:solidFill>
                <a:latin typeface="Calibri"/>
              </a:rPr>
              <a:t>I will call you tonight.</a:t>
            </a:r>
          </a:p>
        </p:txBody>
      </p:sp>
      <p:sp>
        <p:nvSpPr>
          <p:cNvPr id="31" name="TextBox 30"/>
          <p:cNvSpPr txBox="1"/>
          <p:nvPr/>
        </p:nvSpPr>
        <p:spPr>
          <a:xfrm>
            <a:off x="1216152" y="3831336"/>
            <a:ext cx="2743200" cy="292608"/>
          </a:xfrm>
          <a:prstGeom prst="rect">
            <a:avLst/>
          </a:prstGeom>
          <a:noFill/>
        </p:spPr>
        <p:txBody>
          <a:bodyPr wrap="square">
            <a:spAutoFit/>
          </a:bodyPr>
          <a:lstStyle/>
          <a:p>
            <a:pPr algn="l"/>
            <a:r>
              <a:rPr sz="1100" b="0">
                <a:solidFill>
                  <a:srgbClr val="64748B"/>
                </a:solidFill>
                <a:latin typeface="Calibri"/>
              </a:rPr>
              <a:t>will + tonight 🚦</a:t>
            </a:r>
          </a:p>
        </p:txBody>
      </p:sp>
      <p:sp>
        <p:nvSpPr>
          <p:cNvPr id="32" name="TextBox 31"/>
          <p:cNvSpPr txBox="1"/>
          <p:nvPr/>
        </p:nvSpPr>
        <p:spPr>
          <a:xfrm>
            <a:off x="4160519" y="3831336"/>
            <a:ext cx="1645920" cy="292608"/>
          </a:xfrm>
          <a:prstGeom prst="rect">
            <a:avLst/>
          </a:prstGeom>
          <a:noFill/>
        </p:spPr>
        <p:txBody>
          <a:bodyPr wrap="square">
            <a:spAutoFit/>
          </a:bodyPr>
          <a:lstStyle/>
          <a:p>
            <a:pPr algn="l"/>
            <a:r>
              <a:rPr sz="1200" b="1">
                <a:solidFill>
                  <a:srgbClr val="009688"/>
                </a:solidFill>
                <a:latin typeface="Calibri"/>
              </a:rPr>
              <a:t>Tense: ______</a:t>
            </a:r>
          </a:p>
        </p:txBody>
      </p:sp>
      <p:sp>
        <p:nvSpPr>
          <p:cNvPr id="33" name="Rounded Rectangle 32"/>
          <p:cNvSpPr/>
          <p:nvPr/>
        </p:nvSpPr>
        <p:spPr>
          <a:xfrm>
            <a:off x="621792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82512" y="3557016"/>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3630168"/>
            <a:ext cx="502920" cy="365760"/>
          </a:xfrm>
          <a:prstGeom prst="rect">
            <a:avLst/>
          </a:prstGeom>
          <a:noFill/>
        </p:spPr>
        <p:txBody>
          <a:bodyPr wrap="square">
            <a:spAutoFit/>
          </a:bodyPr>
          <a:lstStyle/>
          <a:p>
            <a:pPr algn="ctr"/>
            <a:r>
              <a:rPr sz="1400" b="1">
                <a:solidFill>
                  <a:srgbClr val="FFFFFF"/>
                </a:solidFill>
                <a:latin typeface="Calibri"/>
              </a:rPr>
              <a:t>4</a:t>
            </a:r>
          </a:p>
        </p:txBody>
      </p:sp>
      <p:sp>
        <p:nvSpPr>
          <p:cNvPr id="36" name="TextBox 35"/>
          <p:cNvSpPr txBox="1"/>
          <p:nvPr/>
        </p:nvSpPr>
        <p:spPr>
          <a:xfrm>
            <a:off x="7022592" y="3355848"/>
            <a:ext cx="4572000" cy="457200"/>
          </a:xfrm>
          <a:prstGeom prst="rect">
            <a:avLst/>
          </a:prstGeom>
          <a:noFill/>
        </p:spPr>
        <p:txBody>
          <a:bodyPr wrap="square">
            <a:spAutoFit/>
          </a:bodyPr>
          <a:lstStyle/>
          <a:p>
            <a:pPr algn="l"/>
            <a:r>
              <a:rPr sz="1500" b="1">
                <a:solidFill>
                  <a:srgbClr val="0A2A6E"/>
                </a:solidFill>
                <a:latin typeface="Calibri"/>
              </a:rPr>
              <a:t>Diego walks to school every day.</a:t>
            </a:r>
          </a:p>
        </p:txBody>
      </p:sp>
      <p:sp>
        <p:nvSpPr>
          <p:cNvPr id="37" name="TextBox 36"/>
          <p:cNvSpPr txBox="1"/>
          <p:nvPr/>
        </p:nvSpPr>
        <p:spPr>
          <a:xfrm>
            <a:off x="7022592" y="3831336"/>
            <a:ext cx="2743200" cy="292608"/>
          </a:xfrm>
          <a:prstGeom prst="rect">
            <a:avLst/>
          </a:prstGeom>
          <a:noFill/>
        </p:spPr>
        <p:txBody>
          <a:bodyPr wrap="square">
            <a:spAutoFit/>
          </a:bodyPr>
          <a:lstStyle/>
          <a:p>
            <a:pPr algn="l"/>
            <a:r>
              <a:rPr sz="1100" b="0">
                <a:solidFill>
                  <a:srgbClr val="64748B"/>
                </a:solidFill>
                <a:latin typeface="Calibri"/>
              </a:rPr>
              <a:t>every day 🚦</a:t>
            </a:r>
          </a:p>
        </p:txBody>
      </p:sp>
      <p:sp>
        <p:nvSpPr>
          <p:cNvPr id="38" name="TextBox 37"/>
          <p:cNvSpPr txBox="1"/>
          <p:nvPr/>
        </p:nvSpPr>
        <p:spPr>
          <a:xfrm>
            <a:off x="9966959" y="3831336"/>
            <a:ext cx="1645920" cy="292608"/>
          </a:xfrm>
          <a:prstGeom prst="rect">
            <a:avLst/>
          </a:prstGeom>
          <a:noFill/>
        </p:spPr>
        <p:txBody>
          <a:bodyPr wrap="square">
            <a:spAutoFit/>
          </a:bodyPr>
          <a:lstStyle/>
          <a:p>
            <a:pPr algn="l"/>
            <a:r>
              <a:rPr sz="1200" b="1">
                <a:solidFill>
                  <a:srgbClr val="009688"/>
                </a:solidFill>
                <a:latin typeface="Calibri"/>
              </a:rPr>
              <a:t>Tense: ______</a:t>
            </a:r>
          </a:p>
        </p:txBody>
      </p:sp>
      <p:sp>
        <p:nvSpPr>
          <p:cNvPr id="39" name="Rounded Rectangle 38"/>
          <p:cNvSpPr/>
          <p:nvPr/>
        </p:nvSpPr>
        <p:spPr>
          <a:xfrm>
            <a:off x="41148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76072" y="5038344"/>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6072" y="5111496"/>
            <a:ext cx="502920" cy="365760"/>
          </a:xfrm>
          <a:prstGeom prst="rect">
            <a:avLst/>
          </a:prstGeom>
          <a:noFill/>
        </p:spPr>
        <p:txBody>
          <a:bodyPr wrap="square">
            <a:spAutoFit/>
          </a:bodyPr>
          <a:lstStyle/>
          <a:p>
            <a:pPr algn="ctr"/>
            <a:r>
              <a:rPr sz="1400" b="1">
                <a:solidFill>
                  <a:srgbClr val="FFFFFF"/>
                </a:solidFill>
                <a:latin typeface="Calibri"/>
              </a:rPr>
              <a:t>5</a:t>
            </a:r>
          </a:p>
        </p:txBody>
      </p:sp>
      <p:sp>
        <p:nvSpPr>
          <p:cNvPr id="42" name="TextBox 41"/>
          <p:cNvSpPr txBox="1"/>
          <p:nvPr/>
        </p:nvSpPr>
        <p:spPr>
          <a:xfrm>
            <a:off x="1216152" y="4837176"/>
            <a:ext cx="4572000" cy="457200"/>
          </a:xfrm>
          <a:prstGeom prst="rect">
            <a:avLst/>
          </a:prstGeom>
          <a:noFill/>
        </p:spPr>
        <p:txBody>
          <a:bodyPr wrap="square">
            <a:spAutoFit/>
          </a:bodyPr>
          <a:lstStyle/>
          <a:p>
            <a:pPr algn="l"/>
            <a:r>
              <a:rPr sz="1500" b="1">
                <a:solidFill>
                  <a:srgbClr val="0A2A6E"/>
                </a:solidFill>
                <a:latin typeface="Calibri"/>
              </a:rPr>
              <a:t>We were watching the nest at midnight.</a:t>
            </a:r>
          </a:p>
        </p:txBody>
      </p:sp>
      <p:sp>
        <p:nvSpPr>
          <p:cNvPr id="43" name="TextBox 42"/>
          <p:cNvSpPr txBox="1"/>
          <p:nvPr/>
        </p:nvSpPr>
        <p:spPr>
          <a:xfrm>
            <a:off x="1216152" y="5312664"/>
            <a:ext cx="2743200" cy="292608"/>
          </a:xfrm>
          <a:prstGeom prst="rect">
            <a:avLst/>
          </a:prstGeom>
          <a:noFill/>
        </p:spPr>
        <p:txBody>
          <a:bodyPr wrap="square">
            <a:spAutoFit/>
          </a:bodyPr>
          <a:lstStyle/>
          <a:p>
            <a:pPr algn="l"/>
            <a:r>
              <a:rPr sz="1100" b="0">
                <a:solidFill>
                  <a:srgbClr val="64748B"/>
                </a:solidFill>
                <a:latin typeface="Calibri"/>
              </a:rPr>
              <a:t>was/were + -ing 🚦</a:t>
            </a:r>
          </a:p>
        </p:txBody>
      </p:sp>
      <p:sp>
        <p:nvSpPr>
          <p:cNvPr id="44" name="TextBox 43"/>
          <p:cNvSpPr txBox="1"/>
          <p:nvPr/>
        </p:nvSpPr>
        <p:spPr>
          <a:xfrm>
            <a:off x="4160519" y="5312664"/>
            <a:ext cx="1645920" cy="292608"/>
          </a:xfrm>
          <a:prstGeom prst="rect">
            <a:avLst/>
          </a:prstGeom>
          <a:noFill/>
        </p:spPr>
        <p:txBody>
          <a:bodyPr wrap="square">
            <a:spAutoFit/>
          </a:bodyPr>
          <a:lstStyle/>
          <a:p>
            <a:pPr algn="l"/>
            <a:r>
              <a:rPr sz="1200" b="1">
                <a:solidFill>
                  <a:srgbClr val="009688"/>
                </a:solidFill>
                <a:latin typeface="Calibri"/>
              </a:rPr>
              <a:t>Tense: ______</a:t>
            </a:r>
          </a:p>
        </p:txBody>
      </p:sp>
      <p:sp>
        <p:nvSpPr>
          <p:cNvPr id="45" name="Rounded Rectangle 44"/>
          <p:cNvSpPr/>
          <p:nvPr/>
        </p:nvSpPr>
        <p:spPr>
          <a:xfrm>
            <a:off x="621792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382512" y="5038344"/>
            <a:ext cx="502920" cy="50292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111496"/>
            <a:ext cx="502920" cy="365760"/>
          </a:xfrm>
          <a:prstGeom prst="rect">
            <a:avLst/>
          </a:prstGeom>
          <a:noFill/>
        </p:spPr>
        <p:txBody>
          <a:bodyPr wrap="square">
            <a:spAutoFit/>
          </a:bodyPr>
          <a:lstStyle/>
          <a:p>
            <a:pPr algn="ctr"/>
            <a:r>
              <a:rPr sz="1400" b="1">
                <a:solidFill>
                  <a:srgbClr val="FFFFFF"/>
                </a:solidFill>
                <a:latin typeface="Calibri"/>
              </a:rPr>
              <a:t>6</a:t>
            </a:r>
          </a:p>
        </p:txBody>
      </p:sp>
      <p:sp>
        <p:nvSpPr>
          <p:cNvPr id="48" name="TextBox 47"/>
          <p:cNvSpPr txBox="1"/>
          <p:nvPr/>
        </p:nvSpPr>
        <p:spPr>
          <a:xfrm>
            <a:off x="7022592" y="4837176"/>
            <a:ext cx="4572000" cy="457200"/>
          </a:xfrm>
          <a:prstGeom prst="rect">
            <a:avLst/>
          </a:prstGeom>
          <a:noFill/>
        </p:spPr>
        <p:txBody>
          <a:bodyPr wrap="square">
            <a:spAutoFit/>
          </a:bodyPr>
          <a:lstStyle/>
          <a:p>
            <a:pPr algn="l"/>
            <a:r>
              <a:rPr sz="1500" b="1">
                <a:solidFill>
                  <a:srgbClr val="0A2A6E"/>
                </a:solidFill>
                <a:latin typeface="Calibri"/>
              </a:rPr>
              <a:t>Maya does not like bright lights.</a:t>
            </a:r>
          </a:p>
        </p:txBody>
      </p:sp>
      <p:sp>
        <p:nvSpPr>
          <p:cNvPr id="49" name="TextBox 48"/>
          <p:cNvSpPr txBox="1"/>
          <p:nvPr/>
        </p:nvSpPr>
        <p:spPr>
          <a:xfrm>
            <a:off x="7022592" y="5312664"/>
            <a:ext cx="2743200" cy="292608"/>
          </a:xfrm>
          <a:prstGeom prst="rect">
            <a:avLst/>
          </a:prstGeom>
          <a:noFill/>
        </p:spPr>
        <p:txBody>
          <a:bodyPr wrap="square">
            <a:spAutoFit/>
          </a:bodyPr>
          <a:lstStyle/>
          <a:p>
            <a:pPr algn="l"/>
            <a:r>
              <a:rPr sz="1100" b="0">
                <a:solidFill>
                  <a:srgbClr val="64748B"/>
                </a:solidFill>
                <a:latin typeface="Calibri"/>
              </a:rPr>
              <a:t>does not 🚦</a:t>
            </a:r>
          </a:p>
        </p:txBody>
      </p:sp>
      <p:sp>
        <p:nvSpPr>
          <p:cNvPr id="50" name="TextBox 49"/>
          <p:cNvSpPr txBox="1"/>
          <p:nvPr/>
        </p:nvSpPr>
        <p:spPr>
          <a:xfrm>
            <a:off x="9966959" y="5312664"/>
            <a:ext cx="1645920" cy="292608"/>
          </a:xfrm>
          <a:prstGeom prst="rect">
            <a:avLst/>
          </a:prstGeom>
          <a:noFill/>
        </p:spPr>
        <p:txBody>
          <a:bodyPr wrap="square">
            <a:spAutoFit/>
          </a:bodyPr>
          <a:lstStyle/>
          <a:p>
            <a:pPr algn="l"/>
            <a:r>
              <a:rPr sz="1200" b="1">
                <a:solidFill>
                  <a:srgbClr val="009688"/>
                </a:solidFill>
                <a:latin typeface="Calibri"/>
              </a:rPr>
              <a:t>Tense: ______</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35–47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Tense Game 2: Fix the Sentence!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8237631"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 game  |  35–47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25 / 37</a:t>
            </a:r>
          </a:p>
        </p:txBody>
      </p:sp>
      <p:sp>
        <p:nvSpPr>
          <p:cNvPr id="14" name="TextBox 13"/>
          <p:cNvSpPr txBox="1"/>
          <p:nvPr/>
        </p:nvSpPr>
        <p:spPr>
          <a:xfrm>
            <a:off x="411480" y="1207008"/>
            <a:ext cx="11338560" cy="365760"/>
          </a:xfrm>
          <a:prstGeom prst="rect">
            <a:avLst/>
          </a:prstGeom>
          <a:noFill/>
        </p:spPr>
        <p:txBody>
          <a:bodyPr wrap="square">
            <a:spAutoFit/>
          </a:bodyPr>
          <a:lstStyle/>
          <a:p>
            <a:pPr algn="l"/>
            <a:r>
              <a:rPr sz="1500" b="1">
                <a:solidFill>
                  <a:srgbClr val="FF6F61"/>
                </a:solidFill>
                <a:latin typeface="Calibri"/>
              </a:rPr>
              <a:t>Each sentence has ONE broken word. Can you repair it? 🛠️</a:t>
            </a:r>
          </a:p>
        </p:txBody>
      </p:sp>
      <p:sp>
        <p:nvSpPr>
          <p:cNvPr id="15" name="Rounded Rectangle 14"/>
          <p:cNvSpPr/>
          <p:nvPr/>
        </p:nvSpPr>
        <p:spPr>
          <a:xfrm>
            <a:off x="41148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828800"/>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1847088"/>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18" name="TextBox 17"/>
          <p:cNvSpPr txBox="1"/>
          <p:nvPr/>
        </p:nvSpPr>
        <p:spPr>
          <a:xfrm>
            <a:off x="1325880" y="1819656"/>
            <a:ext cx="4480560" cy="411480"/>
          </a:xfrm>
          <a:prstGeom prst="rect">
            <a:avLst/>
          </a:prstGeom>
          <a:noFill/>
        </p:spPr>
        <p:txBody>
          <a:bodyPr wrap="square">
            <a:spAutoFit/>
          </a:bodyPr>
          <a:lstStyle/>
          <a:p>
            <a:pPr algn="l"/>
            <a:r>
              <a:rPr sz="1500" b="1">
                <a:solidFill>
                  <a:srgbClr val="1F2937"/>
                </a:solidFill>
                <a:latin typeface="Calibri"/>
              </a:rPr>
              <a:t>Yesterday, I go to the park.</a:t>
            </a:r>
          </a:p>
        </p:txBody>
      </p:sp>
      <p:sp>
        <p:nvSpPr>
          <p:cNvPr id="19" name="Rounded Rectangle 18"/>
          <p:cNvSpPr/>
          <p:nvPr/>
        </p:nvSpPr>
        <p:spPr>
          <a:xfrm>
            <a:off x="548640" y="2350008"/>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2368296"/>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21" name="TextBox 20"/>
          <p:cNvSpPr txBox="1"/>
          <p:nvPr/>
        </p:nvSpPr>
        <p:spPr>
          <a:xfrm>
            <a:off x="1325880" y="2350008"/>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
        <p:nvSpPr>
          <p:cNvPr id="22" name="Rounded Rectangle 21"/>
          <p:cNvSpPr/>
          <p:nvPr/>
        </p:nvSpPr>
        <p:spPr>
          <a:xfrm>
            <a:off x="621792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55080" y="1828800"/>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847088"/>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25" name="TextBox 24"/>
          <p:cNvSpPr txBox="1"/>
          <p:nvPr/>
        </p:nvSpPr>
        <p:spPr>
          <a:xfrm>
            <a:off x="7132320" y="1819656"/>
            <a:ext cx="4480560" cy="411480"/>
          </a:xfrm>
          <a:prstGeom prst="rect">
            <a:avLst/>
          </a:prstGeom>
          <a:noFill/>
        </p:spPr>
        <p:txBody>
          <a:bodyPr wrap="square">
            <a:spAutoFit/>
          </a:bodyPr>
          <a:lstStyle/>
          <a:p>
            <a:pPr algn="l"/>
            <a:r>
              <a:rPr sz="1500" b="1">
                <a:solidFill>
                  <a:srgbClr val="1F2937"/>
                </a:solidFill>
                <a:latin typeface="Calibri"/>
              </a:rPr>
              <a:t>She are reading a book.</a:t>
            </a:r>
          </a:p>
        </p:txBody>
      </p:sp>
      <p:sp>
        <p:nvSpPr>
          <p:cNvPr id="26" name="Rounded Rectangle 25"/>
          <p:cNvSpPr/>
          <p:nvPr/>
        </p:nvSpPr>
        <p:spPr>
          <a:xfrm>
            <a:off x="6355080" y="2350008"/>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68296"/>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28" name="TextBox 27"/>
          <p:cNvSpPr txBox="1"/>
          <p:nvPr/>
        </p:nvSpPr>
        <p:spPr>
          <a:xfrm>
            <a:off x="7132320" y="2350008"/>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
        <p:nvSpPr>
          <p:cNvPr id="29" name="Rounded Rectangle 28"/>
          <p:cNvSpPr/>
          <p:nvPr/>
        </p:nvSpPr>
        <p:spPr>
          <a:xfrm>
            <a:off x="41148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310128"/>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328416"/>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32" name="TextBox 31"/>
          <p:cNvSpPr txBox="1"/>
          <p:nvPr/>
        </p:nvSpPr>
        <p:spPr>
          <a:xfrm>
            <a:off x="1325880" y="3300984"/>
            <a:ext cx="4480560" cy="411480"/>
          </a:xfrm>
          <a:prstGeom prst="rect">
            <a:avLst/>
          </a:prstGeom>
          <a:noFill/>
        </p:spPr>
        <p:txBody>
          <a:bodyPr wrap="square">
            <a:spAutoFit/>
          </a:bodyPr>
          <a:lstStyle/>
          <a:p>
            <a:pPr algn="l"/>
            <a:r>
              <a:rPr sz="1500" b="1">
                <a:solidFill>
                  <a:srgbClr val="1F2937"/>
                </a:solidFill>
                <a:latin typeface="Calibri"/>
              </a:rPr>
              <a:t>Tomorrow we goes to the beach.</a:t>
            </a:r>
          </a:p>
        </p:txBody>
      </p:sp>
      <p:sp>
        <p:nvSpPr>
          <p:cNvPr id="33" name="Rounded Rectangle 32"/>
          <p:cNvSpPr/>
          <p:nvPr/>
        </p:nvSpPr>
        <p:spPr>
          <a:xfrm>
            <a:off x="548640" y="3831336"/>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849624"/>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35" name="TextBox 34"/>
          <p:cNvSpPr txBox="1"/>
          <p:nvPr/>
        </p:nvSpPr>
        <p:spPr>
          <a:xfrm>
            <a:off x="1325880" y="3831336"/>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
        <p:nvSpPr>
          <p:cNvPr id="36" name="Rounded Rectangle 35"/>
          <p:cNvSpPr/>
          <p:nvPr/>
        </p:nvSpPr>
        <p:spPr>
          <a:xfrm>
            <a:off x="621792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55080" y="3310128"/>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3328416"/>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39" name="TextBox 38"/>
          <p:cNvSpPr txBox="1"/>
          <p:nvPr/>
        </p:nvSpPr>
        <p:spPr>
          <a:xfrm>
            <a:off x="7132320" y="3300984"/>
            <a:ext cx="4480560" cy="411480"/>
          </a:xfrm>
          <a:prstGeom prst="rect">
            <a:avLst/>
          </a:prstGeom>
          <a:noFill/>
        </p:spPr>
        <p:txBody>
          <a:bodyPr wrap="square">
            <a:spAutoFit/>
          </a:bodyPr>
          <a:lstStyle/>
          <a:p>
            <a:pPr algn="l"/>
            <a:r>
              <a:rPr sz="1500" b="1">
                <a:solidFill>
                  <a:srgbClr val="1F2937"/>
                </a:solidFill>
                <a:latin typeface="Calibri"/>
              </a:rPr>
              <a:t>He didn't went home.</a:t>
            </a:r>
          </a:p>
        </p:txBody>
      </p:sp>
      <p:sp>
        <p:nvSpPr>
          <p:cNvPr id="40" name="Rounded Rectangle 39"/>
          <p:cNvSpPr/>
          <p:nvPr/>
        </p:nvSpPr>
        <p:spPr>
          <a:xfrm>
            <a:off x="6355080" y="3831336"/>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849624"/>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42" name="TextBox 41"/>
          <p:cNvSpPr txBox="1"/>
          <p:nvPr/>
        </p:nvSpPr>
        <p:spPr>
          <a:xfrm>
            <a:off x="7132320" y="3831336"/>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
        <p:nvSpPr>
          <p:cNvPr id="43" name="Rounded Rectangle 42"/>
          <p:cNvSpPr/>
          <p:nvPr/>
        </p:nvSpPr>
        <p:spPr>
          <a:xfrm>
            <a:off x="41148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48640" y="4791456"/>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4809744"/>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46" name="TextBox 45"/>
          <p:cNvSpPr txBox="1"/>
          <p:nvPr/>
        </p:nvSpPr>
        <p:spPr>
          <a:xfrm>
            <a:off x="1325880" y="4782312"/>
            <a:ext cx="4480560" cy="411480"/>
          </a:xfrm>
          <a:prstGeom prst="rect">
            <a:avLst/>
          </a:prstGeom>
          <a:noFill/>
        </p:spPr>
        <p:txBody>
          <a:bodyPr wrap="square">
            <a:spAutoFit/>
          </a:bodyPr>
          <a:lstStyle/>
          <a:p>
            <a:pPr algn="l"/>
            <a:r>
              <a:rPr sz="1500" b="1">
                <a:solidFill>
                  <a:srgbClr val="1F2937"/>
                </a:solidFill>
                <a:latin typeface="Calibri"/>
              </a:rPr>
              <a:t>I am knowing the answer.</a:t>
            </a:r>
          </a:p>
        </p:txBody>
      </p:sp>
      <p:sp>
        <p:nvSpPr>
          <p:cNvPr id="47" name="Rounded Rectangle 46"/>
          <p:cNvSpPr/>
          <p:nvPr/>
        </p:nvSpPr>
        <p:spPr>
          <a:xfrm>
            <a:off x="548640" y="5312664"/>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30952"/>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49" name="TextBox 48"/>
          <p:cNvSpPr txBox="1"/>
          <p:nvPr/>
        </p:nvSpPr>
        <p:spPr>
          <a:xfrm>
            <a:off x="1325880" y="5312664"/>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
        <p:nvSpPr>
          <p:cNvPr id="50" name="Rounded Rectangle 49"/>
          <p:cNvSpPr/>
          <p:nvPr/>
        </p:nvSpPr>
        <p:spPr>
          <a:xfrm>
            <a:off x="621792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55080" y="4791456"/>
            <a:ext cx="685800" cy="29260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55080" y="4809744"/>
            <a:ext cx="685800" cy="274320"/>
          </a:xfrm>
          <a:prstGeom prst="rect">
            <a:avLst/>
          </a:prstGeom>
          <a:noFill/>
        </p:spPr>
        <p:txBody>
          <a:bodyPr wrap="square">
            <a:spAutoFit/>
          </a:bodyPr>
          <a:lstStyle/>
          <a:p>
            <a:pPr algn="ctr"/>
            <a:r>
              <a:rPr sz="900" b="1">
                <a:solidFill>
                  <a:srgbClr val="FF6F61"/>
                </a:solidFill>
                <a:latin typeface="Calibri"/>
              </a:rPr>
              <a:t>❌ BROKEN</a:t>
            </a:r>
          </a:p>
        </p:txBody>
      </p:sp>
      <p:sp>
        <p:nvSpPr>
          <p:cNvPr id="53" name="TextBox 52"/>
          <p:cNvSpPr txBox="1"/>
          <p:nvPr/>
        </p:nvSpPr>
        <p:spPr>
          <a:xfrm>
            <a:off x="7132320" y="4782312"/>
            <a:ext cx="4480560" cy="411480"/>
          </a:xfrm>
          <a:prstGeom prst="rect">
            <a:avLst/>
          </a:prstGeom>
          <a:noFill/>
        </p:spPr>
        <p:txBody>
          <a:bodyPr wrap="square">
            <a:spAutoFit/>
          </a:bodyPr>
          <a:lstStyle/>
          <a:p>
            <a:pPr algn="l"/>
            <a:r>
              <a:rPr sz="1500" b="1">
                <a:solidFill>
                  <a:srgbClr val="1F2937"/>
                </a:solidFill>
                <a:latin typeface="Calibri"/>
              </a:rPr>
              <a:t>While I slept, the phone was ring.</a:t>
            </a:r>
          </a:p>
        </p:txBody>
      </p:sp>
      <p:sp>
        <p:nvSpPr>
          <p:cNvPr id="54" name="Rounded Rectangle 53"/>
          <p:cNvSpPr/>
          <p:nvPr/>
        </p:nvSpPr>
        <p:spPr>
          <a:xfrm>
            <a:off x="6355080" y="5312664"/>
            <a:ext cx="685800" cy="29260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5080" y="5330952"/>
            <a:ext cx="685800" cy="274320"/>
          </a:xfrm>
          <a:prstGeom prst="rect">
            <a:avLst/>
          </a:prstGeom>
          <a:noFill/>
        </p:spPr>
        <p:txBody>
          <a:bodyPr wrap="square">
            <a:spAutoFit/>
          </a:bodyPr>
          <a:lstStyle/>
          <a:p>
            <a:pPr algn="ctr"/>
            <a:r>
              <a:rPr sz="900" b="1">
                <a:solidFill>
                  <a:srgbClr val="2E7D32"/>
                </a:solidFill>
                <a:latin typeface="Calibri"/>
              </a:rPr>
              <a:t>✅ FIXED</a:t>
            </a:r>
          </a:p>
        </p:txBody>
      </p:sp>
      <p:sp>
        <p:nvSpPr>
          <p:cNvPr id="56" name="TextBox 55"/>
          <p:cNvSpPr txBox="1"/>
          <p:nvPr/>
        </p:nvSpPr>
        <p:spPr>
          <a:xfrm>
            <a:off x="7132320" y="5312664"/>
            <a:ext cx="4480560" cy="411480"/>
          </a:xfrm>
          <a:prstGeom prst="rect">
            <a:avLst/>
          </a:prstGeom>
          <a:noFill/>
        </p:spPr>
        <p:txBody>
          <a:bodyPr wrap="square">
            <a:spAutoFit/>
          </a:bodyPr>
          <a:lstStyle/>
          <a:p>
            <a:pPr algn="l"/>
            <a:r>
              <a:rPr sz="1400" b="0">
                <a:solidFill>
                  <a:srgbClr val="64748B"/>
                </a:solidFill>
                <a:latin typeface="Calibri"/>
              </a:rPr>
              <a:t>______________________________</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35–47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Tense Games 3 &amp; 4: Time Travel + Sorting</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8567137"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 game  |  35–47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26 / 37</a:t>
            </a:r>
          </a:p>
        </p:txBody>
      </p:sp>
      <p:sp>
        <p:nvSpPr>
          <p:cNvPr id="14" name="Rounded Rectangle 13"/>
          <p:cNvSpPr/>
          <p:nvPr/>
        </p:nvSpPr>
        <p:spPr>
          <a:xfrm>
            <a:off x="411480" y="1234440"/>
            <a:ext cx="5577840" cy="484632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417320"/>
            <a:ext cx="5120640" cy="365760"/>
          </a:xfrm>
          <a:prstGeom prst="rect">
            <a:avLst/>
          </a:prstGeom>
          <a:noFill/>
        </p:spPr>
        <p:txBody>
          <a:bodyPr wrap="square">
            <a:spAutoFit/>
          </a:bodyPr>
          <a:lstStyle/>
          <a:p>
            <a:pPr algn="l"/>
            <a:r>
              <a:rPr sz="1600" b="1">
                <a:solidFill>
                  <a:srgbClr val="7E57C2"/>
                </a:solidFill>
                <a:latin typeface="Calibri"/>
              </a:rPr>
              <a:t>🚀 GAME 3: Time Travel</a:t>
            </a:r>
          </a:p>
        </p:txBody>
      </p:sp>
      <p:sp>
        <p:nvSpPr>
          <p:cNvPr id="16" name="TextBox 15"/>
          <p:cNvSpPr txBox="1"/>
          <p:nvPr/>
        </p:nvSpPr>
        <p:spPr>
          <a:xfrm>
            <a:off x="640080" y="1828800"/>
            <a:ext cx="5120640" cy="365760"/>
          </a:xfrm>
          <a:prstGeom prst="rect">
            <a:avLst/>
          </a:prstGeom>
          <a:noFill/>
        </p:spPr>
        <p:txBody>
          <a:bodyPr wrap="square">
            <a:spAutoFit/>
          </a:bodyPr>
          <a:lstStyle/>
          <a:p>
            <a:pPr algn="l"/>
            <a:r>
              <a:rPr sz="1400" b="1">
                <a:solidFill>
                  <a:srgbClr val="0A2A6E"/>
                </a:solidFill>
                <a:latin typeface="Calibri"/>
              </a:rPr>
              <a:t>Base sentence:  "Maya helps the turtles."</a:t>
            </a:r>
          </a:p>
        </p:txBody>
      </p:sp>
      <p:sp>
        <p:nvSpPr>
          <p:cNvPr id="17" name="Rounded Rectangle 16"/>
          <p:cNvSpPr/>
          <p:nvPr/>
        </p:nvSpPr>
        <p:spPr>
          <a:xfrm>
            <a:off x="640080" y="2331720"/>
            <a:ext cx="507492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 y="2478024"/>
            <a:ext cx="1463040" cy="310896"/>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496312"/>
            <a:ext cx="1463040" cy="274320"/>
          </a:xfrm>
          <a:prstGeom prst="rect">
            <a:avLst/>
          </a:prstGeom>
          <a:noFill/>
        </p:spPr>
        <p:txBody>
          <a:bodyPr wrap="square">
            <a:spAutoFit/>
          </a:bodyPr>
          <a:lstStyle/>
          <a:p>
            <a:pPr algn="ctr"/>
            <a:r>
              <a:rPr sz="1000" b="1">
                <a:solidFill>
                  <a:srgbClr val="FFFFFF"/>
                </a:solidFill>
                <a:latin typeface="Calibri"/>
              </a:rPr>
              <a:t>YESTERDAY</a:t>
            </a:r>
          </a:p>
        </p:txBody>
      </p:sp>
      <p:sp>
        <p:nvSpPr>
          <p:cNvPr id="20" name="TextBox 19"/>
          <p:cNvSpPr txBox="1"/>
          <p:nvPr/>
        </p:nvSpPr>
        <p:spPr>
          <a:xfrm>
            <a:off x="804672" y="2880360"/>
            <a:ext cx="4754880" cy="365760"/>
          </a:xfrm>
          <a:prstGeom prst="rect">
            <a:avLst/>
          </a:prstGeom>
          <a:noFill/>
        </p:spPr>
        <p:txBody>
          <a:bodyPr wrap="square">
            <a:spAutoFit/>
          </a:bodyPr>
          <a:lstStyle/>
          <a:p>
            <a:pPr algn="l"/>
            <a:r>
              <a:rPr sz="1500" b="1">
                <a:solidFill>
                  <a:srgbClr val="1F2937"/>
                </a:solidFill>
                <a:latin typeface="Calibri"/>
              </a:rPr>
              <a:t>Maya ______ the turtles.</a:t>
            </a:r>
          </a:p>
        </p:txBody>
      </p:sp>
      <p:sp>
        <p:nvSpPr>
          <p:cNvPr id="21" name="Rounded Rectangle 20"/>
          <p:cNvSpPr/>
          <p:nvPr/>
        </p:nvSpPr>
        <p:spPr>
          <a:xfrm>
            <a:off x="640080" y="3538728"/>
            <a:ext cx="507492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2" y="3685032"/>
            <a:ext cx="1463040" cy="310896"/>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703320"/>
            <a:ext cx="1463040" cy="274320"/>
          </a:xfrm>
          <a:prstGeom prst="rect">
            <a:avLst/>
          </a:prstGeom>
          <a:noFill/>
        </p:spPr>
        <p:txBody>
          <a:bodyPr wrap="square">
            <a:spAutoFit/>
          </a:bodyPr>
          <a:lstStyle/>
          <a:p>
            <a:pPr algn="ctr"/>
            <a:r>
              <a:rPr sz="1000" b="1">
                <a:solidFill>
                  <a:srgbClr val="FFFFFF"/>
                </a:solidFill>
                <a:latin typeface="Calibri"/>
              </a:rPr>
              <a:t>RIGHT NOW</a:t>
            </a:r>
          </a:p>
        </p:txBody>
      </p:sp>
      <p:sp>
        <p:nvSpPr>
          <p:cNvPr id="24" name="TextBox 23"/>
          <p:cNvSpPr txBox="1"/>
          <p:nvPr/>
        </p:nvSpPr>
        <p:spPr>
          <a:xfrm>
            <a:off x="804672" y="4087368"/>
            <a:ext cx="4754880" cy="365760"/>
          </a:xfrm>
          <a:prstGeom prst="rect">
            <a:avLst/>
          </a:prstGeom>
          <a:noFill/>
        </p:spPr>
        <p:txBody>
          <a:bodyPr wrap="square">
            <a:spAutoFit/>
          </a:bodyPr>
          <a:lstStyle/>
          <a:p>
            <a:pPr algn="l"/>
            <a:r>
              <a:rPr sz="1500" b="1">
                <a:solidFill>
                  <a:srgbClr val="1F2937"/>
                </a:solidFill>
                <a:latin typeface="Calibri"/>
              </a:rPr>
              <a:t>Maya ______ the turtles.</a:t>
            </a:r>
          </a:p>
        </p:txBody>
      </p:sp>
      <p:sp>
        <p:nvSpPr>
          <p:cNvPr id="25" name="Rounded Rectangle 24"/>
          <p:cNvSpPr/>
          <p:nvPr/>
        </p:nvSpPr>
        <p:spPr>
          <a:xfrm>
            <a:off x="640080" y="4745736"/>
            <a:ext cx="507492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4672" y="4892040"/>
            <a:ext cx="1463040" cy="310896"/>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910328"/>
            <a:ext cx="1463040" cy="274320"/>
          </a:xfrm>
          <a:prstGeom prst="rect">
            <a:avLst/>
          </a:prstGeom>
          <a:noFill/>
        </p:spPr>
        <p:txBody>
          <a:bodyPr wrap="square">
            <a:spAutoFit/>
          </a:bodyPr>
          <a:lstStyle/>
          <a:p>
            <a:pPr algn="ctr"/>
            <a:r>
              <a:rPr sz="1000" b="1">
                <a:solidFill>
                  <a:srgbClr val="FFFFFF"/>
                </a:solidFill>
                <a:latin typeface="Calibri"/>
              </a:rPr>
              <a:t>TOMORROW</a:t>
            </a:r>
          </a:p>
        </p:txBody>
      </p:sp>
      <p:sp>
        <p:nvSpPr>
          <p:cNvPr id="28" name="TextBox 27"/>
          <p:cNvSpPr txBox="1"/>
          <p:nvPr/>
        </p:nvSpPr>
        <p:spPr>
          <a:xfrm>
            <a:off x="804672" y="5294376"/>
            <a:ext cx="4754880" cy="365760"/>
          </a:xfrm>
          <a:prstGeom prst="rect">
            <a:avLst/>
          </a:prstGeom>
          <a:noFill/>
        </p:spPr>
        <p:txBody>
          <a:bodyPr wrap="square">
            <a:spAutoFit/>
          </a:bodyPr>
          <a:lstStyle/>
          <a:p>
            <a:pPr algn="l"/>
            <a:r>
              <a:rPr sz="1500" b="1">
                <a:solidFill>
                  <a:srgbClr val="1F2937"/>
                </a:solidFill>
                <a:latin typeface="Calibri"/>
              </a:rPr>
              <a:t>Maya ______ the turtles.</a:t>
            </a:r>
          </a:p>
        </p:txBody>
      </p:sp>
      <p:sp>
        <p:nvSpPr>
          <p:cNvPr id="29" name="Rounded Rectangle 28"/>
          <p:cNvSpPr/>
          <p:nvPr/>
        </p:nvSpPr>
        <p:spPr>
          <a:xfrm>
            <a:off x="6172200" y="1234440"/>
            <a:ext cx="5577840" cy="48463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1417320"/>
            <a:ext cx="5120640" cy="365760"/>
          </a:xfrm>
          <a:prstGeom prst="rect">
            <a:avLst/>
          </a:prstGeom>
          <a:noFill/>
        </p:spPr>
        <p:txBody>
          <a:bodyPr wrap="square">
            <a:spAutoFit/>
          </a:bodyPr>
          <a:lstStyle/>
          <a:p>
            <a:pPr algn="l"/>
            <a:r>
              <a:rPr sz="1600" b="1">
                <a:solidFill>
                  <a:srgbClr val="29B6F6"/>
                </a:solidFill>
                <a:latin typeface="Calibri"/>
              </a:rPr>
              <a:t>🗂️ GAME 4: Tense Sorting</a:t>
            </a:r>
          </a:p>
        </p:txBody>
      </p:sp>
      <p:sp>
        <p:nvSpPr>
          <p:cNvPr id="31" name="TextBox 30"/>
          <p:cNvSpPr txBox="1"/>
          <p:nvPr/>
        </p:nvSpPr>
        <p:spPr>
          <a:xfrm>
            <a:off x="6400800" y="1828800"/>
            <a:ext cx="5120640" cy="320040"/>
          </a:xfrm>
          <a:prstGeom prst="rect">
            <a:avLst/>
          </a:prstGeom>
          <a:noFill/>
        </p:spPr>
        <p:txBody>
          <a:bodyPr wrap="square">
            <a:spAutoFit/>
          </a:bodyPr>
          <a:lstStyle/>
          <a:p>
            <a:pPr algn="l"/>
            <a:r>
              <a:rPr sz="1300" b="0">
                <a:solidFill>
                  <a:srgbClr val="1F2937"/>
                </a:solidFill>
                <a:latin typeface="Calibri"/>
              </a:rPr>
              <a:t>Put each sentence in the right box:</a:t>
            </a:r>
          </a:p>
        </p:txBody>
      </p:sp>
      <p:sp>
        <p:nvSpPr>
          <p:cNvPr id="32" name="Rounded Rectangle 31"/>
          <p:cNvSpPr/>
          <p:nvPr/>
        </p:nvSpPr>
        <p:spPr>
          <a:xfrm>
            <a:off x="6400800" y="2240280"/>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2331720"/>
            <a:ext cx="3657600" cy="320040"/>
          </a:xfrm>
          <a:prstGeom prst="rect">
            <a:avLst/>
          </a:prstGeom>
          <a:noFill/>
        </p:spPr>
        <p:txBody>
          <a:bodyPr wrap="square">
            <a:spAutoFit/>
          </a:bodyPr>
          <a:lstStyle/>
          <a:p>
            <a:pPr algn="l"/>
            <a:r>
              <a:rPr sz="1300" b="0">
                <a:solidFill>
                  <a:srgbClr val="1F2937"/>
                </a:solidFill>
                <a:latin typeface="Calibri"/>
              </a:rPr>
              <a:t>We will bake a cake.</a:t>
            </a:r>
          </a:p>
        </p:txBody>
      </p:sp>
      <p:sp>
        <p:nvSpPr>
          <p:cNvPr id="34" name="TextBox 33"/>
          <p:cNvSpPr txBox="1"/>
          <p:nvPr/>
        </p:nvSpPr>
        <p:spPr>
          <a:xfrm>
            <a:off x="10241280" y="2331720"/>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35" name="Rounded Rectangle 34"/>
          <p:cNvSpPr/>
          <p:nvPr/>
        </p:nvSpPr>
        <p:spPr>
          <a:xfrm>
            <a:off x="6400800" y="2807208"/>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2898648"/>
            <a:ext cx="3657600" cy="320040"/>
          </a:xfrm>
          <a:prstGeom prst="rect">
            <a:avLst/>
          </a:prstGeom>
          <a:noFill/>
        </p:spPr>
        <p:txBody>
          <a:bodyPr wrap="square">
            <a:spAutoFit/>
          </a:bodyPr>
          <a:lstStyle/>
          <a:p>
            <a:pPr algn="l"/>
            <a:r>
              <a:rPr sz="1300" b="0">
                <a:solidFill>
                  <a:srgbClr val="1F2937"/>
                </a:solidFill>
                <a:latin typeface="Calibri"/>
              </a:rPr>
              <a:t>She danced all night.</a:t>
            </a:r>
          </a:p>
        </p:txBody>
      </p:sp>
      <p:sp>
        <p:nvSpPr>
          <p:cNvPr id="37" name="TextBox 36"/>
          <p:cNvSpPr txBox="1"/>
          <p:nvPr/>
        </p:nvSpPr>
        <p:spPr>
          <a:xfrm>
            <a:off x="10241280" y="2898648"/>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38" name="Rounded Rectangle 37"/>
          <p:cNvSpPr/>
          <p:nvPr/>
        </p:nvSpPr>
        <p:spPr>
          <a:xfrm>
            <a:off x="6400800" y="3374136"/>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0" y="3465576"/>
            <a:ext cx="3657600" cy="320040"/>
          </a:xfrm>
          <a:prstGeom prst="rect">
            <a:avLst/>
          </a:prstGeom>
          <a:noFill/>
        </p:spPr>
        <p:txBody>
          <a:bodyPr wrap="square">
            <a:spAutoFit/>
          </a:bodyPr>
          <a:lstStyle/>
          <a:p>
            <a:pPr algn="l"/>
            <a:r>
              <a:rPr sz="1300" b="0">
                <a:solidFill>
                  <a:srgbClr val="1F2937"/>
                </a:solidFill>
                <a:latin typeface="Calibri"/>
              </a:rPr>
              <a:t>He is drawing a turtle.</a:t>
            </a:r>
          </a:p>
        </p:txBody>
      </p:sp>
      <p:sp>
        <p:nvSpPr>
          <p:cNvPr id="40" name="TextBox 39"/>
          <p:cNvSpPr txBox="1"/>
          <p:nvPr/>
        </p:nvSpPr>
        <p:spPr>
          <a:xfrm>
            <a:off x="10241280" y="3465576"/>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41" name="Rounded Rectangle 40"/>
          <p:cNvSpPr/>
          <p:nvPr/>
        </p:nvSpPr>
        <p:spPr>
          <a:xfrm>
            <a:off x="6400800" y="3941064"/>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0" y="4032504"/>
            <a:ext cx="3657600" cy="320040"/>
          </a:xfrm>
          <a:prstGeom prst="rect">
            <a:avLst/>
          </a:prstGeom>
          <a:noFill/>
        </p:spPr>
        <p:txBody>
          <a:bodyPr wrap="square">
            <a:spAutoFit/>
          </a:bodyPr>
          <a:lstStyle/>
          <a:p>
            <a:pPr algn="l"/>
            <a:r>
              <a:rPr sz="1300" b="0">
                <a:solidFill>
                  <a:srgbClr val="1F2937"/>
                </a:solidFill>
                <a:latin typeface="Calibri"/>
              </a:rPr>
              <a:t>They visit us every summer.</a:t>
            </a:r>
          </a:p>
        </p:txBody>
      </p:sp>
      <p:sp>
        <p:nvSpPr>
          <p:cNvPr id="43" name="TextBox 42"/>
          <p:cNvSpPr txBox="1"/>
          <p:nvPr/>
        </p:nvSpPr>
        <p:spPr>
          <a:xfrm>
            <a:off x="10241280" y="4032504"/>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44" name="Rounded Rectangle 43"/>
          <p:cNvSpPr/>
          <p:nvPr/>
        </p:nvSpPr>
        <p:spPr>
          <a:xfrm>
            <a:off x="6400800" y="4507992"/>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0" y="4599432"/>
            <a:ext cx="3657600" cy="320040"/>
          </a:xfrm>
          <a:prstGeom prst="rect">
            <a:avLst/>
          </a:prstGeom>
          <a:noFill/>
        </p:spPr>
        <p:txBody>
          <a:bodyPr wrap="square">
            <a:spAutoFit/>
          </a:bodyPr>
          <a:lstStyle/>
          <a:p>
            <a:pPr algn="l"/>
            <a:r>
              <a:rPr sz="1300" b="0">
                <a:solidFill>
                  <a:srgbClr val="1F2937"/>
                </a:solidFill>
                <a:latin typeface="Calibri"/>
              </a:rPr>
              <a:t>I was reading at 9 p.m.</a:t>
            </a:r>
          </a:p>
        </p:txBody>
      </p:sp>
      <p:sp>
        <p:nvSpPr>
          <p:cNvPr id="46" name="TextBox 45"/>
          <p:cNvSpPr txBox="1"/>
          <p:nvPr/>
        </p:nvSpPr>
        <p:spPr>
          <a:xfrm>
            <a:off x="10241280" y="4599432"/>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47" name="Rounded Rectangle 46"/>
          <p:cNvSpPr/>
          <p:nvPr/>
        </p:nvSpPr>
        <p:spPr>
          <a:xfrm>
            <a:off x="6400800" y="5074920"/>
            <a:ext cx="512064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0" y="5166360"/>
            <a:ext cx="3657600" cy="320040"/>
          </a:xfrm>
          <a:prstGeom prst="rect">
            <a:avLst/>
          </a:prstGeom>
          <a:noFill/>
        </p:spPr>
        <p:txBody>
          <a:bodyPr wrap="square">
            <a:spAutoFit/>
          </a:bodyPr>
          <a:lstStyle/>
          <a:p>
            <a:pPr algn="l"/>
            <a:r>
              <a:rPr sz="1300" b="0">
                <a:solidFill>
                  <a:srgbClr val="1F2937"/>
                </a:solidFill>
                <a:latin typeface="Calibri"/>
              </a:rPr>
              <a:t>The bus arrives at eight.</a:t>
            </a:r>
          </a:p>
        </p:txBody>
      </p:sp>
      <p:sp>
        <p:nvSpPr>
          <p:cNvPr id="49" name="TextBox 48"/>
          <p:cNvSpPr txBox="1"/>
          <p:nvPr/>
        </p:nvSpPr>
        <p:spPr>
          <a:xfrm>
            <a:off x="10241280" y="5166360"/>
            <a:ext cx="1188720" cy="320040"/>
          </a:xfrm>
          <a:prstGeom prst="rect">
            <a:avLst/>
          </a:prstGeom>
          <a:noFill/>
        </p:spPr>
        <p:txBody>
          <a:bodyPr wrap="square">
            <a:spAutoFit/>
          </a:bodyPr>
          <a:lstStyle/>
          <a:p>
            <a:pPr algn="l"/>
            <a:r>
              <a:rPr sz="1300" b="1">
                <a:solidFill>
                  <a:srgbClr val="FF6F61"/>
                </a:solidFill>
                <a:latin typeface="Calibri"/>
              </a:rPr>
              <a:t>____</a:t>
            </a:r>
          </a:p>
        </p:txBody>
      </p:sp>
      <p:sp>
        <p:nvSpPr>
          <p:cNvPr id="50" name="TextBox 49"/>
          <p:cNvSpPr txBox="1"/>
          <p:nvPr/>
        </p:nvSpPr>
        <p:spPr>
          <a:xfrm>
            <a:off x="6400800" y="5669280"/>
            <a:ext cx="5120640" cy="320040"/>
          </a:xfrm>
          <a:prstGeom prst="rect">
            <a:avLst/>
          </a:prstGeom>
          <a:noFill/>
        </p:spPr>
        <p:txBody>
          <a:bodyPr wrap="square">
            <a:spAutoFit/>
          </a:bodyPr>
          <a:lstStyle/>
          <a:p>
            <a:pPr algn="l"/>
            <a:r>
              <a:rPr sz="1200" b="1">
                <a:solidFill>
                  <a:srgbClr val="0A2A6E"/>
                </a:solidFill>
                <a:latin typeface="Calibri"/>
              </a:rPr>
              <a:t>Write P (past), N (now), or F (future)</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35–47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Tense Games 5 &amp; 6: Complete It + 60-Second Sprint</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8896642"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Tense game  |  35–47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27 / 37</a:t>
            </a:r>
          </a:p>
        </p:txBody>
      </p:sp>
      <p:sp>
        <p:nvSpPr>
          <p:cNvPr id="14" name="Rounded Rectangle 13"/>
          <p:cNvSpPr/>
          <p:nvPr/>
        </p:nvSpPr>
        <p:spPr>
          <a:xfrm>
            <a:off x="411480" y="1234440"/>
            <a:ext cx="557784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417320"/>
            <a:ext cx="5120640" cy="365760"/>
          </a:xfrm>
          <a:prstGeom prst="rect">
            <a:avLst/>
          </a:prstGeom>
          <a:noFill/>
        </p:spPr>
        <p:txBody>
          <a:bodyPr wrap="square">
            <a:spAutoFit/>
          </a:bodyPr>
          <a:lstStyle/>
          <a:p>
            <a:pPr algn="l"/>
            <a:r>
              <a:rPr sz="1600" b="1">
                <a:solidFill>
                  <a:srgbClr val="009688"/>
                </a:solidFill>
                <a:latin typeface="Calibri"/>
              </a:rPr>
              <a:t>✅ GAME 5: Complete the Sentence</a:t>
            </a:r>
          </a:p>
        </p:txBody>
      </p:sp>
      <p:sp>
        <p:nvSpPr>
          <p:cNvPr id="16" name="TextBox 15"/>
          <p:cNvSpPr txBox="1"/>
          <p:nvPr/>
        </p:nvSpPr>
        <p:spPr>
          <a:xfrm>
            <a:off x="640080" y="1874519"/>
            <a:ext cx="5120640" cy="320040"/>
          </a:xfrm>
          <a:prstGeom prst="rect">
            <a:avLst/>
          </a:prstGeom>
          <a:noFill/>
        </p:spPr>
        <p:txBody>
          <a:bodyPr wrap="square">
            <a:spAutoFit/>
          </a:bodyPr>
          <a:lstStyle/>
          <a:p>
            <a:pPr algn="l"/>
            <a:r>
              <a:rPr sz="1400" b="1">
                <a:solidFill>
                  <a:srgbClr val="0A2A6E"/>
                </a:solidFill>
                <a:latin typeface="Calibri"/>
              </a:rPr>
              <a:t>1.  Tomorrow I ______ to the zoo.</a:t>
            </a:r>
          </a:p>
        </p:txBody>
      </p:sp>
      <p:sp>
        <p:nvSpPr>
          <p:cNvPr id="17" name="Rounded Rectangle 16"/>
          <p:cNvSpPr/>
          <p:nvPr/>
        </p:nvSpPr>
        <p:spPr>
          <a:xfrm>
            <a:off x="731520" y="2258567"/>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359151"/>
            <a:ext cx="1554480" cy="320040"/>
          </a:xfrm>
          <a:prstGeom prst="rect">
            <a:avLst/>
          </a:prstGeom>
          <a:noFill/>
        </p:spPr>
        <p:txBody>
          <a:bodyPr wrap="square">
            <a:spAutoFit/>
          </a:bodyPr>
          <a:lstStyle/>
          <a:p>
            <a:pPr algn="ctr"/>
            <a:r>
              <a:rPr sz="1100" b="1">
                <a:solidFill>
                  <a:srgbClr val="1F2937"/>
                </a:solidFill>
                <a:latin typeface="Calibri"/>
              </a:rPr>
              <a:t>a) went</a:t>
            </a:r>
          </a:p>
        </p:txBody>
      </p:sp>
      <p:sp>
        <p:nvSpPr>
          <p:cNvPr id="19" name="Rounded Rectangle 18"/>
          <p:cNvSpPr/>
          <p:nvPr/>
        </p:nvSpPr>
        <p:spPr>
          <a:xfrm>
            <a:off x="2423160" y="2258567"/>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359151"/>
            <a:ext cx="1554480" cy="320040"/>
          </a:xfrm>
          <a:prstGeom prst="rect">
            <a:avLst/>
          </a:prstGeom>
          <a:noFill/>
        </p:spPr>
        <p:txBody>
          <a:bodyPr wrap="square">
            <a:spAutoFit/>
          </a:bodyPr>
          <a:lstStyle/>
          <a:p>
            <a:pPr algn="ctr"/>
            <a:r>
              <a:rPr sz="1100" b="1">
                <a:solidFill>
                  <a:srgbClr val="1F2937"/>
                </a:solidFill>
                <a:latin typeface="Calibri"/>
              </a:rPr>
              <a:t>b) go</a:t>
            </a:r>
          </a:p>
        </p:txBody>
      </p:sp>
      <p:sp>
        <p:nvSpPr>
          <p:cNvPr id="21" name="Rounded Rectangle 20"/>
          <p:cNvSpPr/>
          <p:nvPr/>
        </p:nvSpPr>
        <p:spPr>
          <a:xfrm>
            <a:off x="4114800" y="2258567"/>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0" y="2359151"/>
            <a:ext cx="1554480" cy="320040"/>
          </a:xfrm>
          <a:prstGeom prst="rect">
            <a:avLst/>
          </a:prstGeom>
          <a:noFill/>
        </p:spPr>
        <p:txBody>
          <a:bodyPr wrap="square">
            <a:spAutoFit/>
          </a:bodyPr>
          <a:lstStyle/>
          <a:p>
            <a:pPr algn="ctr"/>
            <a:r>
              <a:rPr sz="1100" b="1">
                <a:solidFill>
                  <a:srgbClr val="1F2937"/>
                </a:solidFill>
                <a:latin typeface="Calibri"/>
              </a:rPr>
              <a:t>c) will go</a:t>
            </a:r>
          </a:p>
        </p:txBody>
      </p:sp>
      <p:sp>
        <p:nvSpPr>
          <p:cNvPr id="23" name="TextBox 22"/>
          <p:cNvSpPr txBox="1"/>
          <p:nvPr/>
        </p:nvSpPr>
        <p:spPr>
          <a:xfrm>
            <a:off x="640080" y="2953511"/>
            <a:ext cx="5120640" cy="320040"/>
          </a:xfrm>
          <a:prstGeom prst="rect">
            <a:avLst/>
          </a:prstGeom>
          <a:noFill/>
        </p:spPr>
        <p:txBody>
          <a:bodyPr wrap="square">
            <a:spAutoFit/>
          </a:bodyPr>
          <a:lstStyle/>
          <a:p>
            <a:pPr algn="l"/>
            <a:r>
              <a:rPr sz="1400" b="1">
                <a:solidFill>
                  <a:srgbClr val="0A2A6E"/>
                </a:solidFill>
                <a:latin typeface="Calibri"/>
              </a:rPr>
              <a:t>2.  Right now she ______ her homework.</a:t>
            </a:r>
          </a:p>
        </p:txBody>
      </p:sp>
      <p:sp>
        <p:nvSpPr>
          <p:cNvPr id="24" name="Rounded Rectangle 23"/>
          <p:cNvSpPr/>
          <p:nvPr/>
        </p:nvSpPr>
        <p:spPr>
          <a:xfrm>
            <a:off x="731520" y="3337559"/>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438143"/>
            <a:ext cx="1554480" cy="320040"/>
          </a:xfrm>
          <a:prstGeom prst="rect">
            <a:avLst/>
          </a:prstGeom>
          <a:noFill/>
        </p:spPr>
        <p:txBody>
          <a:bodyPr wrap="square">
            <a:spAutoFit/>
          </a:bodyPr>
          <a:lstStyle/>
          <a:p>
            <a:pPr algn="ctr"/>
            <a:r>
              <a:rPr sz="1100" b="1">
                <a:solidFill>
                  <a:srgbClr val="1F2937"/>
                </a:solidFill>
                <a:latin typeface="Calibri"/>
              </a:rPr>
              <a:t>a) does</a:t>
            </a:r>
          </a:p>
        </p:txBody>
      </p:sp>
      <p:sp>
        <p:nvSpPr>
          <p:cNvPr id="26" name="Rounded Rectangle 25"/>
          <p:cNvSpPr/>
          <p:nvPr/>
        </p:nvSpPr>
        <p:spPr>
          <a:xfrm>
            <a:off x="2423160" y="3337559"/>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23160" y="3438143"/>
            <a:ext cx="1554480" cy="320040"/>
          </a:xfrm>
          <a:prstGeom prst="rect">
            <a:avLst/>
          </a:prstGeom>
          <a:noFill/>
        </p:spPr>
        <p:txBody>
          <a:bodyPr wrap="square">
            <a:spAutoFit/>
          </a:bodyPr>
          <a:lstStyle/>
          <a:p>
            <a:pPr algn="ctr"/>
            <a:r>
              <a:rPr sz="1100" b="1">
                <a:solidFill>
                  <a:srgbClr val="1F2937"/>
                </a:solidFill>
                <a:latin typeface="Calibri"/>
              </a:rPr>
              <a:t>b) is doing</a:t>
            </a:r>
          </a:p>
        </p:txBody>
      </p:sp>
      <p:sp>
        <p:nvSpPr>
          <p:cNvPr id="28" name="Rounded Rectangle 27"/>
          <p:cNvSpPr/>
          <p:nvPr/>
        </p:nvSpPr>
        <p:spPr>
          <a:xfrm>
            <a:off x="4114800" y="3337559"/>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0" y="3438143"/>
            <a:ext cx="1554480" cy="320040"/>
          </a:xfrm>
          <a:prstGeom prst="rect">
            <a:avLst/>
          </a:prstGeom>
          <a:noFill/>
        </p:spPr>
        <p:txBody>
          <a:bodyPr wrap="square">
            <a:spAutoFit/>
          </a:bodyPr>
          <a:lstStyle/>
          <a:p>
            <a:pPr algn="ctr"/>
            <a:r>
              <a:rPr sz="1100" b="1">
                <a:solidFill>
                  <a:srgbClr val="1F2937"/>
                </a:solidFill>
                <a:latin typeface="Calibri"/>
              </a:rPr>
              <a:t>c) did</a:t>
            </a:r>
          </a:p>
        </p:txBody>
      </p:sp>
      <p:sp>
        <p:nvSpPr>
          <p:cNvPr id="30" name="TextBox 29"/>
          <p:cNvSpPr txBox="1"/>
          <p:nvPr/>
        </p:nvSpPr>
        <p:spPr>
          <a:xfrm>
            <a:off x="640080" y="4032504"/>
            <a:ext cx="5120640" cy="320040"/>
          </a:xfrm>
          <a:prstGeom prst="rect">
            <a:avLst/>
          </a:prstGeom>
          <a:noFill/>
        </p:spPr>
        <p:txBody>
          <a:bodyPr wrap="square">
            <a:spAutoFit/>
          </a:bodyPr>
          <a:lstStyle/>
          <a:p>
            <a:pPr algn="l"/>
            <a:r>
              <a:rPr sz="1400" b="1">
                <a:solidFill>
                  <a:srgbClr val="0A2A6E"/>
                </a:solidFill>
                <a:latin typeface="Calibri"/>
              </a:rPr>
              <a:t>3.  Last night we ______ pizza.</a:t>
            </a:r>
          </a:p>
        </p:txBody>
      </p:sp>
      <p:sp>
        <p:nvSpPr>
          <p:cNvPr id="31" name="Rounded Rectangle 30"/>
          <p:cNvSpPr/>
          <p:nvPr/>
        </p:nvSpPr>
        <p:spPr>
          <a:xfrm>
            <a:off x="731520" y="4416552"/>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517136"/>
            <a:ext cx="1554480" cy="320040"/>
          </a:xfrm>
          <a:prstGeom prst="rect">
            <a:avLst/>
          </a:prstGeom>
          <a:noFill/>
        </p:spPr>
        <p:txBody>
          <a:bodyPr wrap="square">
            <a:spAutoFit/>
          </a:bodyPr>
          <a:lstStyle/>
          <a:p>
            <a:pPr algn="ctr"/>
            <a:r>
              <a:rPr sz="1100" b="1">
                <a:solidFill>
                  <a:srgbClr val="1F2937"/>
                </a:solidFill>
                <a:latin typeface="Calibri"/>
              </a:rPr>
              <a:t>a) eat</a:t>
            </a:r>
          </a:p>
        </p:txBody>
      </p:sp>
      <p:sp>
        <p:nvSpPr>
          <p:cNvPr id="33" name="Rounded Rectangle 32"/>
          <p:cNvSpPr/>
          <p:nvPr/>
        </p:nvSpPr>
        <p:spPr>
          <a:xfrm>
            <a:off x="2423160" y="4416552"/>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4517136"/>
            <a:ext cx="1554480" cy="320040"/>
          </a:xfrm>
          <a:prstGeom prst="rect">
            <a:avLst/>
          </a:prstGeom>
          <a:noFill/>
        </p:spPr>
        <p:txBody>
          <a:bodyPr wrap="square">
            <a:spAutoFit/>
          </a:bodyPr>
          <a:lstStyle/>
          <a:p>
            <a:pPr algn="ctr"/>
            <a:r>
              <a:rPr sz="1100" b="1">
                <a:solidFill>
                  <a:srgbClr val="1F2937"/>
                </a:solidFill>
                <a:latin typeface="Calibri"/>
              </a:rPr>
              <a:t>b) will eat</a:t>
            </a:r>
          </a:p>
        </p:txBody>
      </p:sp>
      <p:sp>
        <p:nvSpPr>
          <p:cNvPr id="35" name="Rounded Rectangle 34"/>
          <p:cNvSpPr/>
          <p:nvPr/>
        </p:nvSpPr>
        <p:spPr>
          <a:xfrm>
            <a:off x="4114800" y="4416552"/>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0" y="4517136"/>
            <a:ext cx="1554480" cy="320040"/>
          </a:xfrm>
          <a:prstGeom prst="rect">
            <a:avLst/>
          </a:prstGeom>
          <a:noFill/>
        </p:spPr>
        <p:txBody>
          <a:bodyPr wrap="square">
            <a:spAutoFit/>
          </a:bodyPr>
          <a:lstStyle/>
          <a:p>
            <a:pPr algn="ctr"/>
            <a:r>
              <a:rPr sz="1100" b="1">
                <a:solidFill>
                  <a:srgbClr val="1F2937"/>
                </a:solidFill>
                <a:latin typeface="Calibri"/>
              </a:rPr>
              <a:t>c) ate</a:t>
            </a:r>
          </a:p>
        </p:txBody>
      </p:sp>
      <p:sp>
        <p:nvSpPr>
          <p:cNvPr id="37" name="TextBox 36"/>
          <p:cNvSpPr txBox="1"/>
          <p:nvPr/>
        </p:nvSpPr>
        <p:spPr>
          <a:xfrm>
            <a:off x="640080" y="5111496"/>
            <a:ext cx="5120640" cy="320040"/>
          </a:xfrm>
          <a:prstGeom prst="rect">
            <a:avLst/>
          </a:prstGeom>
          <a:noFill/>
        </p:spPr>
        <p:txBody>
          <a:bodyPr wrap="square">
            <a:spAutoFit/>
          </a:bodyPr>
          <a:lstStyle/>
          <a:p>
            <a:pPr algn="l"/>
            <a:r>
              <a:rPr sz="1400" b="1">
                <a:solidFill>
                  <a:srgbClr val="0A2A6E"/>
                </a:solidFill>
                <a:latin typeface="Calibri"/>
              </a:rPr>
              <a:t>4.  Every Monday he ______ soccer.</a:t>
            </a:r>
          </a:p>
        </p:txBody>
      </p:sp>
      <p:sp>
        <p:nvSpPr>
          <p:cNvPr id="38" name="Rounded Rectangle 37"/>
          <p:cNvSpPr/>
          <p:nvPr/>
        </p:nvSpPr>
        <p:spPr>
          <a:xfrm>
            <a:off x="731520" y="5495544"/>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596128"/>
            <a:ext cx="1554480" cy="320040"/>
          </a:xfrm>
          <a:prstGeom prst="rect">
            <a:avLst/>
          </a:prstGeom>
          <a:noFill/>
        </p:spPr>
        <p:txBody>
          <a:bodyPr wrap="square">
            <a:spAutoFit/>
          </a:bodyPr>
          <a:lstStyle/>
          <a:p>
            <a:pPr algn="ctr"/>
            <a:r>
              <a:rPr sz="1100" b="1">
                <a:solidFill>
                  <a:srgbClr val="1F2937"/>
                </a:solidFill>
                <a:latin typeface="Calibri"/>
              </a:rPr>
              <a:t>a) plays</a:t>
            </a:r>
          </a:p>
        </p:txBody>
      </p:sp>
      <p:sp>
        <p:nvSpPr>
          <p:cNvPr id="40" name="Rounded Rectangle 39"/>
          <p:cNvSpPr/>
          <p:nvPr/>
        </p:nvSpPr>
        <p:spPr>
          <a:xfrm>
            <a:off x="2423160" y="5495544"/>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23160" y="5596128"/>
            <a:ext cx="1554480" cy="320040"/>
          </a:xfrm>
          <a:prstGeom prst="rect">
            <a:avLst/>
          </a:prstGeom>
          <a:noFill/>
        </p:spPr>
        <p:txBody>
          <a:bodyPr wrap="square">
            <a:spAutoFit/>
          </a:bodyPr>
          <a:lstStyle/>
          <a:p>
            <a:pPr algn="ctr"/>
            <a:r>
              <a:rPr sz="1100" b="1">
                <a:solidFill>
                  <a:srgbClr val="1F2937"/>
                </a:solidFill>
                <a:latin typeface="Calibri"/>
              </a:rPr>
              <a:t>b) is playing</a:t>
            </a:r>
          </a:p>
        </p:txBody>
      </p:sp>
      <p:sp>
        <p:nvSpPr>
          <p:cNvPr id="42" name="Rounded Rectangle 41"/>
          <p:cNvSpPr/>
          <p:nvPr/>
        </p:nvSpPr>
        <p:spPr>
          <a:xfrm>
            <a:off x="4114800" y="5495544"/>
            <a:ext cx="1554480" cy="4572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0" y="5596128"/>
            <a:ext cx="1554480" cy="320040"/>
          </a:xfrm>
          <a:prstGeom prst="rect">
            <a:avLst/>
          </a:prstGeom>
          <a:noFill/>
        </p:spPr>
        <p:txBody>
          <a:bodyPr wrap="square">
            <a:spAutoFit/>
          </a:bodyPr>
          <a:lstStyle/>
          <a:p>
            <a:pPr algn="ctr"/>
            <a:r>
              <a:rPr sz="1100" b="1">
                <a:solidFill>
                  <a:srgbClr val="1F2937"/>
                </a:solidFill>
                <a:latin typeface="Calibri"/>
              </a:rPr>
              <a:t>c) played</a:t>
            </a:r>
          </a:p>
        </p:txBody>
      </p:sp>
      <p:sp>
        <p:nvSpPr>
          <p:cNvPr id="44" name="Rounded Rectangle 43"/>
          <p:cNvSpPr/>
          <p:nvPr/>
        </p:nvSpPr>
        <p:spPr>
          <a:xfrm>
            <a:off x="6172200" y="1234440"/>
            <a:ext cx="5577840" cy="484632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0" y="1417320"/>
            <a:ext cx="5120640" cy="365760"/>
          </a:xfrm>
          <a:prstGeom prst="rect">
            <a:avLst/>
          </a:prstGeom>
          <a:noFill/>
        </p:spPr>
        <p:txBody>
          <a:bodyPr wrap="square">
            <a:spAutoFit/>
          </a:bodyPr>
          <a:lstStyle/>
          <a:p>
            <a:pPr algn="l"/>
            <a:r>
              <a:rPr sz="1600" b="1">
                <a:solidFill>
                  <a:srgbClr val="FFB300"/>
                </a:solidFill>
                <a:latin typeface="Calibri"/>
              </a:rPr>
              <a:t>⏱️ GAME 6: 60-Second Sprint</a:t>
            </a:r>
          </a:p>
        </p:txBody>
      </p:sp>
      <p:sp>
        <p:nvSpPr>
          <p:cNvPr id="46" name="TextBox 45"/>
          <p:cNvSpPr txBox="1"/>
          <p:nvPr/>
        </p:nvSpPr>
        <p:spPr>
          <a:xfrm>
            <a:off x="6400800" y="1828800"/>
            <a:ext cx="5120640" cy="320040"/>
          </a:xfrm>
          <a:prstGeom prst="rect">
            <a:avLst/>
          </a:prstGeom>
          <a:noFill/>
        </p:spPr>
        <p:txBody>
          <a:bodyPr wrap="square">
            <a:spAutoFit/>
          </a:bodyPr>
          <a:lstStyle/>
          <a:p>
            <a:pPr algn="l"/>
            <a:r>
              <a:rPr sz="1300" b="0">
                <a:solidFill>
                  <a:srgbClr val="1F2937"/>
                </a:solidFill>
                <a:latin typeface="Calibri"/>
              </a:rPr>
              <a:t>Name the tense as fast as you can!</a:t>
            </a:r>
          </a:p>
        </p:txBody>
      </p:sp>
      <p:sp>
        <p:nvSpPr>
          <p:cNvPr id="47" name="Rounded Rectangle 46"/>
          <p:cNvSpPr/>
          <p:nvPr/>
        </p:nvSpPr>
        <p:spPr>
          <a:xfrm>
            <a:off x="6400800" y="2286000"/>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92240" y="2423160"/>
            <a:ext cx="2286000" cy="320040"/>
          </a:xfrm>
          <a:prstGeom prst="rect">
            <a:avLst/>
          </a:prstGeom>
          <a:noFill/>
        </p:spPr>
        <p:txBody>
          <a:bodyPr wrap="square">
            <a:spAutoFit/>
          </a:bodyPr>
          <a:lstStyle/>
          <a:p>
            <a:pPr algn="ctr"/>
            <a:r>
              <a:rPr sz="1200" b="1">
                <a:solidFill>
                  <a:srgbClr val="1F2937"/>
                </a:solidFill>
                <a:latin typeface="Calibri"/>
              </a:rPr>
              <a:t>They ate lunch.</a:t>
            </a:r>
          </a:p>
        </p:txBody>
      </p:sp>
      <p:sp>
        <p:nvSpPr>
          <p:cNvPr id="49" name="Rounded Rectangle 48"/>
          <p:cNvSpPr/>
          <p:nvPr/>
        </p:nvSpPr>
        <p:spPr>
          <a:xfrm>
            <a:off x="9006840" y="2286000"/>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98280" y="2423160"/>
            <a:ext cx="2286000" cy="320040"/>
          </a:xfrm>
          <a:prstGeom prst="rect">
            <a:avLst/>
          </a:prstGeom>
          <a:noFill/>
        </p:spPr>
        <p:txBody>
          <a:bodyPr wrap="square">
            <a:spAutoFit/>
          </a:bodyPr>
          <a:lstStyle/>
          <a:p>
            <a:pPr algn="ctr"/>
            <a:r>
              <a:rPr sz="1200" b="1">
                <a:solidFill>
                  <a:srgbClr val="1F2937"/>
                </a:solidFill>
                <a:latin typeface="Calibri"/>
              </a:rPr>
              <a:t>I am singing.</a:t>
            </a:r>
          </a:p>
        </p:txBody>
      </p:sp>
      <p:sp>
        <p:nvSpPr>
          <p:cNvPr id="51" name="Rounded Rectangle 50"/>
          <p:cNvSpPr/>
          <p:nvPr/>
        </p:nvSpPr>
        <p:spPr>
          <a:xfrm>
            <a:off x="6400800" y="2999232"/>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3136392"/>
            <a:ext cx="2286000" cy="320040"/>
          </a:xfrm>
          <a:prstGeom prst="rect">
            <a:avLst/>
          </a:prstGeom>
          <a:noFill/>
        </p:spPr>
        <p:txBody>
          <a:bodyPr wrap="square">
            <a:spAutoFit/>
          </a:bodyPr>
          <a:lstStyle/>
          <a:p>
            <a:pPr algn="ctr"/>
            <a:r>
              <a:rPr sz="1200" b="1">
                <a:solidFill>
                  <a:srgbClr val="1F2937"/>
                </a:solidFill>
                <a:latin typeface="Calibri"/>
              </a:rPr>
              <a:t>She will win.</a:t>
            </a:r>
          </a:p>
        </p:txBody>
      </p:sp>
      <p:sp>
        <p:nvSpPr>
          <p:cNvPr id="53" name="Rounded Rectangle 52"/>
          <p:cNvSpPr/>
          <p:nvPr/>
        </p:nvSpPr>
        <p:spPr>
          <a:xfrm>
            <a:off x="9006840" y="2999232"/>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98280" y="3136392"/>
            <a:ext cx="2286000" cy="320040"/>
          </a:xfrm>
          <a:prstGeom prst="rect">
            <a:avLst/>
          </a:prstGeom>
          <a:noFill/>
        </p:spPr>
        <p:txBody>
          <a:bodyPr wrap="square">
            <a:spAutoFit/>
          </a:bodyPr>
          <a:lstStyle/>
          <a:p>
            <a:pPr algn="ctr"/>
            <a:r>
              <a:rPr sz="1200" b="1">
                <a:solidFill>
                  <a:srgbClr val="1F2937"/>
                </a:solidFill>
                <a:latin typeface="Calibri"/>
              </a:rPr>
              <a:t>We swim on Fridays.</a:t>
            </a:r>
          </a:p>
        </p:txBody>
      </p:sp>
      <p:sp>
        <p:nvSpPr>
          <p:cNvPr id="55" name="Rounded Rectangle 54"/>
          <p:cNvSpPr/>
          <p:nvPr/>
        </p:nvSpPr>
        <p:spPr>
          <a:xfrm>
            <a:off x="6400800" y="3712464"/>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92240" y="3849624"/>
            <a:ext cx="2286000" cy="320040"/>
          </a:xfrm>
          <a:prstGeom prst="rect">
            <a:avLst/>
          </a:prstGeom>
          <a:noFill/>
        </p:spPr>
        <p:txBody>
          <a:bodyPr wrap="square">
            <a:spAutoFit/>
          </a:bodyPr>
          <a:lstStyle/>
          <a:p>
            <a:pPr algn="ctr"/>
            <a:r>
              <a:rPr sz="1200" b="1">
                <a:solidFill>
                  <a:srgbClr val="1F2937"/>
                </a:solidFill>
                <a:latin typeface="Calibri"/>
              </a:rPr>
              <a:t>He was cooking.</a:t>
            </a:r>
          </a:p>
        </p:txBody>
      </p:sp>
      <p:sp>
        <p:nvSpPr>
          <p:cNvPr id="57" name="Rounded Rectangle 56"/>
          <p:cNvSpPr/>
          <p:nvPr/>
        </p:nvSpPr>
        <p:spPr>
          <a:xfrm>
            <a:off x="9006840" y="3712464"/>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98280" y="3849624"/>
            <a:ext cx="2286000" cy="320040"/>
          </a:xfrm>
          <a:prstGeom prst="rect">
            <a:avLst/>
          </a:prstGeom>
          <a:noFill/>
        </p:spPr>
        <p:txBody>
          <a:bodyPr wrap="square">
            <a:spAutoFit/>
          </a:bodyPr>
          <a:lstStyle/>
          <a:p>
            <a:pPr algn="ctr"/>
            <a:r>
              <a:rPr sz="1200" b="1">
                <a:solidFill>
                  <a:srgbClr val="1F2937"/>
                </a:solidFill>
                <a:latin typeface="Calibri"/>
              </a:rPr>
              <a:t>It rains a lot.</a:t>
            </a:r>
          </a:p>
        </p:txBody>
      </p:sp>
      <p:sp>
        <p:nvSpPr>
          <p:cNvPr id="59" name="Rounded Rectangle 58"/>
          <p:cNvSpPr/>
          <p:nvPr/>
        </p:nvSpPr>
        <p:spPr>
          <a:xfrm>
            <a:off x="6400800" y="4425696"/>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0" y="4562856"/>
            <a:ext cx="2286000" cy="320040"/>
          </a:xfrm>
          <a:prstGeom prst="rect">
            <a:avLst/>
          </a:prstGeom>
          <a:noFill/>
        </p:spPr>
        <p:txBody>
          <a:bodyPr wrap="square">
            <a:spAutoFit/>
          </a:bodyPr>
          <a:lstStyle/>
          <a:p>
            <a:pPr algn="ctr"/>
            <a:r>
              <a:rPr sz="1200" b="1">
                <a:solidFill>
                  <a:srgbClr val="1F2937"/>
                </a:solidFill>
                <a:latin typeface="Calibri"/>
              </a:rPr>
              <a:t>You will see.</a:t>
            </a:r>
          </a:p>
        </p:txBody>
      </p:sp>
      <p:sp>
        <p:nvSpPr>
          <p:cNvPr id="61" name="Rounded Rectangle 60"/>
          <p:cNvSpPr/>
          <p:nvPr/>
        </p:nvSpPr>
        <p:spPr>
          <a:xfrm>
            <a:off x="9006840" y="4425696"/>
            <a:ext cx="2468880" cy="5669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98280" y="4562856"/>
            <a:ext cx="2286000" cy="320040"/>
          </a:xfrm>
          <a:prstGeom prst="rect">
            <a:avLst/>
          </a:prstGeom>
          <a:noFill/>
        </p:spPr>
        <p:txBody>
          <a:bodyPr wrap="square">
            <a:spAutoFit/>
          </a:bodyPr>
          <a:lstStyle/>
          <a:p>
            <a:pPr algn="ctr"/>
            <a:r>
              <a:rPr sz="1200" b="1">
                <a:solidFill>
                  <a:srgbClr val="1F2937"/>
                </a:solidFill>
                <a:latin typeface="Calibri"/>
              </a:rPr>
              <a:t>I was dreaming.</a:t>
            </a:r>
          </a:p>
        </p:txBody>
      </p:sp>
      <p:sp>
        <p:nvSpPr>
          <p:cNvPr id="63" name="Rounded Rectangle 62"/>
          <p:cNvSpPr/>
          <p:nvPr/>
        </p:nvSpPr>
        <p:spPr>
          <a:xfrm>
            <a:off x="6400800" y="5257800"/>
            <a:ext cx="5120640" cy="6400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5394960"/>
            <a:ext cx="5120640" cy="365760"/>
          </a:xfrm>
          <a:prstGeom prst="rect">
            <a:avLst/>
          </a:prstGeom>
          <a:noFill/>
        </p:spPr>
        <p:txBody>
          <a:bodyPr wrap="square">
            <a:spAutoFit/>
          </a:bodyPr>
          <a:lstStyle/>
          <a:p>
            <a:pPr algn="ctr"/>
            <a:r>
              <a:rPr sz="1600" b="1">
                <a:solidFill>
                  <a:srgbClr val="0A2A6E"/>
                </a:solidFill>
                <a:latin typeface="Calibri"/>
              </a:rPr>
              <a:t>🔥 My score:  ____ / 8</a:t>
            </a:r>
          </a:p>
        </p:txBody>
      </p:sp>
    </p:spTree>
  </p:cSld>
  <p:clrMapOvr>
    <a:masterClrMapping/>
  </p:clrMapOvr>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STORY</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47–55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Storytelling: Build Your Own Adventure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9226147"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Storytelling  |  47–55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28 / 37</a:t>
            </a:r>
          </a:p>
        </p:txBody>
      </p:sp>
      <p:sp>
        <p:nvSpPr>
          <p:cNvPr id="14" name="Rounded Rectangle 13"/>
          <p:cNvSpPr/>
          <p:nvPr/>
        </p:nvSpPr>
        <p:spPr>
          <a:xfrm>
            <a:off x="457200" y="1280160"/>
            <a:ext cx="274320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80160" y="1572768"/>
            <a:ext cx="1097280" cy="1097280"/>
          </a:xfrm>
          <a:prstGeom prst="ellipse">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1755648"/>
            <a:ext cx="1097280" cy="731520"/>
          </a:xfrm>
          <a:prstGeom prst="rect">
            <a:avLst/>
          </a:prstGeom>
          <a:noFill/>
        </p:spPr>
        <p:txBody>
          <a:bodyPr wrap="square">
            <a:spAutoFit/>
          </a:bodyPr>
          <a:lstStyle/>
          <a:p>
            <a:pPr algn="ctr"/>
            <a:r>
              <a:rPr sz="3200" b="0">
                <a:solidFill>
                  <a:srgbClr val="1F2937"/>
                </a:solidFill>
                <a:latin typeface="Calibri"/>
              </a:rPr>
              <a:t>🌩️</a:t>
            </a:r>
          </a:p>
        </p:txBody>
      </p:sp>
      <p:sp>
        <p:nvSpPr>
          <p:cNvPr id="17" name="TextBox 16"/>
          <p:cNvSpPr txBox="1"/>
          <p:nvPr/>
        </p:nvSpPr>
        <p:spPr>
          <a:xfrm>
            <a:off x="594360" y="2852928"/>
            <a:ext cx="2468880" cy="365760"/>
          </a:xfrm>
          <a:prstGeom prst="rect">
            <a:avLst/>
          </a:prstGeom>
          <a:noFill/>
        </p:spPr>
        <p:txBody>
          <a:bodyPr wrap="square">
            <a:spAutoFit/>
          </a:bodyPr>
          <a:lstStyle/>
          <a:p>
            <a:pPr algn="ctr"/>
            <a:r>
              <a:rPr sz="1400" b="1">
                <a:solidFill>
                  <a:srgbClr val="0A2A6E"/>
                </a:solidFill>
                <a:latin typeface="Calibri"/>
              </a:rPr>
              <a:t>1. A storm</a:t>
            </a:r>
          </a:p>
        </p:txBody>
      </p:sp>
      <p:sp>
        <p:nvSpPr>
          <p:cNvPr id="18" name="Rounded Rectangle 17"/>
          <p:cNvSpPr/>
          <p:nvPr/>
        </p:nvSpPr>
        <p:spPr>
          <a:xfrm>
            <a:off x="3383280" y="1280160"/>
            <a:ext cx="274320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06240" y="1572768"/>
            <a:ext cx="1097280" cy="1097280"/>
          </a:xfrm>
          <a:prstGeom prst="ellipse">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1755648"/>
            <a:ext cx="1097280" cy="731520"/>
          </a:xfrm>
          <a:prstGeom prst="rect">
            <a:avLst/>
          </a:prstGeom>
          <a:noFill/>
        </p:spPr>
        <p:txBody>
          <a:bodyPr wrap="square">
            <a:spAutoFit/>
          </a:bodyPr>
          <a:lstStyle/>
          <a:p>
            <a:pPr algn="ctr"/>
            <a:r>
              <a:rPr sz="3200" b="0">
                <a:solidFill>
                  <a:srgbClr val="1F2937"/>
                </a:solidFill>
                <a:latin typeface="Calibri"/>
              </a:rPr>
              <a:t>🐕</a:t>
            </a:r>
          </a:p>
        </p:txBody>
      </p:sp>
      <p:sp>
        <p:nvSpPr>
          <p:cNvPr id="21" name="TextBox 20"/>
          <p:cNvSpPr txBox="1"/>
          <p:nvPr/>
        </p:nvSpPr>
        <p:spPr>
          <a:xfrm>
            <a:off x="3520440" y="2852928"/>
            <a:ext cx="2468880" cy="365760"/>
          </a:xfrm>
          <a:prstGeom prst="rect">
            <a:avLst/>
          </a:prstGeom>
          <a:noFill/>
        </p:spPr>
        <p:txBody>
          <a:bodyPr wrap="square">
            <a:spAutoFit/>
          </a:bodyPr>
          <a:lstStyle/>
          <a:p>
            <a:pPr algn="ctr"/>
            <a:r>
              <a:rPr sz="1400" b="1">
                <a:solidFill>
                  <a:srgbClr val="0A2A6E"/>
                </a:solidFill>
                <a:latin typeface="Calibri"/>
              </a:rPr>
              <a:t>2. A lost dog</a:t>
            </a:r>
          </a:p>
        </p:txBody>
      </p:sp>
      <p:sp>
        <p:nvSpPr>
          <p:cNvPr id="22" name="Rounded Rectangle 21"/>
          <p:cNvSpPr/>
          <p:nvPr/>
        </p:nvSpPr>
        <p:spPr>
          <a:xfrm>
            <a:off x="6309360" y="1280160"/>
            <a:ext cx="274320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0" y="1572768"/>
            <a:ext cx="1097280" cy="1097280"/>
          </a:xfrm>
          <a:prstGeom prst="ellipse">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1755648"/>
            <a:ext cx="1097280" cy="731520"/>
          </a:xfrm>
          <a:prstGeom prst="rect">
            <a:avLst/>
          </a:prstGeom>
          <a:noFill/>
        </p:spPr>
        <p:txBody>
          <a:bodyPr wrap="square">
            <a:spAutoFit/>
          </a:bodyPr>
          <a:lstStyle/>
          <a:p>
            <a:pPr algn="ctr"/>
            <a:r>
              <a:rPr sz="3200" b="0">
                <a:solidFill>
                  <a:srgbClr val="1F2937"/>
                </a:solidFill>
                <a:latin typeface="Calibri"/>
              </a:rPr>
              <a:t>🗺️</a:t>
            </a:r>
          </a:p>
        </p:txBody>
      </p:sp>
      <p:sp>
        <p:nvSpPr>
          <p:cNvPr id="25" name="TextBox 24"/>
          <p:cNvSpPr txBox="1"/>
          <p:nvPr/>
        </p:nvSpPr>
        <p:spPr>
          <a:xfrm>
            <a:off x="6446520" y="2852928"/>
            <a:ext cx="2468880" cy="365760"/>
          </a:xfrm>
          <a:prstGeom prst="rect">
            <a:avLst/>
          </a:prstGeom>
          <a:noFill/>
        </p:spPr>
        <p:txBody>
          <a:bodyPr wrap="square">
            <a:spAutoFit/>
          </a:bodyPr>
          <a:lstStyle/>
          <a:p>
            <a:pPr algn="ctr"/>
            <a:r>
              <a:rPr sz="1400" b="1">
                <a:solidFill>
                  <a:srgbClr val="0A2A6E"/>
                </a:solidFill>
                <a:latin typeface="Calibri"/>
              </a:rPr>
              <a:t>3. An old map</a:t>
            </a:r>
          </a:p>
        </p:txBody>
      </p:sp>
      <p:sp>
        <p:nvSpPr>
          <p:cNvPr id="26" name="Rounded Rectangle 25"/>
          <p:cNvSpPr/>
          <p:nvPr/>
        </p:nvSpPr>
        <p:spPr>
          <a:xfrm>
            <a:off x="9235440" y="1280160"/>
            <a:ext cx="274320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0" y="1572768"/>
            <a:ext cx="1097280" cy="1097280"/>
          </a:xfrm>
          <a:prstGeom prst="ellipse">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0" y="1755648"/>
            <a:ext cx="1097280" cy="731520"/>
          </a:xfrm>
          <a:prstGeom prst="rect">
            <a:avLst/>
          </a:prstGeom>
          <a:noFill/>
        </p:spPr>
        <p:txBody>
          <a:bodyPr wrap="square">
            <a:spAutoFit/>
          </a:bodyPr>
          <a:lstStyle/>
          <a:p>
            <a:pPr algn="ctr"/>
            <a:r>
              <a:rPr sz="3200" b="0">
                <a:solidFill>
                  <a:srgbClr val="1F2937"/>
                </a:solidFill>
                <a:latin typeface="Calibri"/>
              </a:rPr>
              <a:t>🏠</a:t>
            </a:r>
          </a:p>
        </p:txBody>
      </p:sp>
      <p:sp>
        <p:nvSpPr>
          <p:cNvPr id="29" name="TextBox 28"/>
          <p:cNvSpPr txBox="1"/>
          <p:nvPr/>
        </p:nvSpPr>
        <p:spPr>
          <a:xfrm>
            <a:off x="9372600" y="2852928"/>
            <a:ext cx="2468880" cy="365760"/>
          </a:xfrm>
          <a:prstGeom prst="rect">
            <a:avLst/>
          </a:prstGeom>
          <a:noFill/>
        </p:spPr>
        <p:txBody>
          <a:bodyPr wrap="square">
            <a:spAutoFit/>
          </a:bodyPr>
          <a:lstStyle/>
          <a:p>
            <a:pPr algn="ctr"/>
            <a:r>
              <a:rPr sz="1400" b="1">
                <a:solidFill>
                  <a:srgbClr val="0A2A6E"/>
                </a:solidFill>
                <a:latin typeface="Calibri"/>
              </a:rPr>
              <a:t>4. Safe at home</a:t>
            </a:r>
          </a:p>
        </p:txBody>
      </p:sp>
      <p:sp>
        <p:nvSpPr>
          <p:cNvPr id="30" name="Rounded Rectangle 29"/>
          <p:cNvSpPr/>
          <p:nvPr/>
        </p:nvSpPr>
        <p:spPr>
          <a:xfrm>
            <a:off x="457200" y="3611880"/>
            <a:ext cx="5577840" cy="24231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794760"/>
            <a:ext cx="5120640" cy="320040"/>
          </a:xfrm>
          <a:prstGeom prst="rect">
            <a:avLst/>
          </a:prstGeom>
          <a:noFill/>
        </p:spPr>
        <p:txBody>
          <a:bodyPr wrap="square">
            <a:spAutoFit/>
          </a:bodyPr>
          <a:lstStyle/>
          <a:p>
            <a:pPr algn="l"/>
            <a:r>
              <a:rPr sz="1500" b="1">
                <a:solidFill>
                  <a:srgbClr val="0A2A6E"/>
                </a:solidFill>
                <a:latin typeface="Calibri"/>
              </a:rPr>
              <a:t>🎤 Story Prompts</a:t>
            </a:r>
          </a:p>
        </p:txBody>
      </p:sp>
      <p:sp>
        <p:nvSpPr>
          <p:cNvPr id="32" name="TextBox 31"/>
          <p:cNvSpPr txBox="1"/>
          <p:nvPr/>
        </p:nvSpPr>
        <p:spPr>
          <a:xfrm>
            <a:off x="685800" y="4206240"/>
            <a:ext cx="5120640" cy="1737360"/>
          </a:xfrm>
          <a:prstGeom prst="rect">
            <a:avLst/>
          </a:prstGeom>
          <a:noFill/>
        </p:spPr>
        <p:txBody>
          <a:bodyPr wrap="square">
            <a:spAutoFit/>
          </a:bodyPr>
          <a:lstStyle/>
          <a:p>
            <a:pPr>
              <a:spcAft>
                <a:spcPts val="600"/>
              </a:spcAft>
            </a:pPr>
            <a:r>
              <a:rPr sz="1400" b="0">
                <a:solidFill>
                  <a:srgbClr val="1F2937"/>
                </a:solidFill>
                <a:latin typeface="Calibri"/>
              </a:rPr>
              <a:t>•  WHO is in your story?</a:t>
            </a:r>
          </a:p>
          <a:p>
            <a:pPr>
              <a:spcAft>
                <a:spcPts val="600"/>
              </a:spcAft>
            </a:pPr>
            <a:r>
              <a:rPr sz="1400" b="0">
                <a:solidFill>
                  <a:srgbClr val="1F2937"/>
                </a:solidFill>
                <a:latin typeface="Calibri"/>
              </a:rPr>
              <a:t>•  WHERE does it happen?</a:t>
            </a:r>
          </a:p>
          <a:p>
            <a:pPr>
              <a:spcAft>
                <a:spcPts val="600"/>
              </a:spcAft>
            </a:pPr>
            <a:r>
              <a:rPr sz="1400" b="0">
                <a:solidFill>
                  <a:srgbClr val="1F2937"/>
                </a:solidFill>
                <a:latin typeface="Calibri"/>
              </a:rPr>
              <a:t>•  WHAT HAPPENED?</a:t>
            </a:r>
          </a:p>
          <a:p>
            <a:pPr>
              <a:spcAft>
                <a:spcPts val="600"/>
              </a:spcAft>
            </a:pPr>
            <a:r>
              <a:rPr sz="1400" b="0">
                <a:solidFill>
                  <a:srgbClr val="1F2937"/>
                </a:solidFill>
                <a:latin typeface="Calibri"/>
              </a:rPr>
              <a:t>•  What was the PROBLEM?</a:t>
            </a:r>
          </a:p>
          <a:p>
            <a:pPr>
              <a:spcAft>
                <a:spcPts val="600"/>
              </a:spcAft>
            </a:pPr>
            <a:r>
              <a:rPr sz="1400" b="0">
                <a:solidFill>
                  <a:srgbClr val="1F2937"/>
                </a:solidFill>
                <a:latin typeface="Calibri"/>
              </a:rPr>
              <a:t>•  HOW did it END?</a:t>
            </a:r>
          </a:p>
        </p:txBody>
      </p:sp>
      <p:sp>
        <p:nvSpPr>
          <p:cNvPr id="33" name="Rounded Rectangle 32"/>
          <p:cNvSpPr/>
          <p:nvPr/>
        </p:nvSpPr>
        <p:spPr>
          <a:xfrm>
            <a:off x="6217920" y="3611880"/>
            <a:ext cx="5532120" cy="242316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3794760"/>
            <a:ext cx="5074920" cy="320040"/>
          </a:xfrm>
          <a:prstGeom prst="rect">
            <a:avLst/>
          </a:prstGeom>
          <a:noFill/>
        </p:spPr>
        <p:txBody>
          <a:bodyPr wrap="square">
            <a:spAutoFit/>
          </a:bodyPr>
          <a:lstStyle/>
          <a:p>
            <a:pPr algn="l"/>
            <a:r>
              <a:rPr sz="1500" b="1">
                <a:solidFill>
                  <a:srgbClr val="009688"/>
                </a:solidFill>
                <a:latin typeface="Calibri"/>
              </a:rPr>
              <a:t>⏰ Use all three time zones!</a:t>
            </a:r>
          </a:p>
        </p:txBody>
      </p:sp>
      <p:sp>
        <p:nvSpPr>
          <p:cNvPr id="35" name="Rounded Rectangle 34"/>
          <p:cNvSpPr/>
          <p:nvPr/>
        </p:nvSpPr>
        <p:spPr>
          <a:xfrm>
            <a:off x="6446520" y="4224528"/>
            <a:ext cx="1051560" cy="365760"/>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4261104"/>
            <a:ext cx="1051560" cy="292608"/>
          </a:xfrm>
          <a:prstGeom prst="rect">
            <a:avLst/>
          </a:prstGeom>
          <a:noFill/>
        </p:spPr>
        <p:txBody>
          <a:bodyPr wrap="square">
            <a:spAutoFit/>
          </a:bodyPr>
          <a:lstStyle/>
          <a:p>
            <a:pPr algn="ctr"/>
            <a:r>
              <a:rPr sz="1000" b="1">
                <a:solidFill>
                  <a:srgbClr val="FFFFFF"/>
                </a:solidFill>
                <a:latin typeface="Calibri"/>
              </a:rPr>
              <a:t>PAST</a:t>
            </a:r>
          </a:p>
        </p:txBody>
      </p:sp>
      <p:sp>
        <p:nvSpPr>
          <p:cNvPr id="37" name="TextBox 36"/>
          <p:cNvSpPr txBox="1"/>
          <p:nvPr/>
        </p:nvSpPr>
        <p:spPr>
          <a:xfrm>
            <a:off x="7635240" y="4242816"/>
            <a:ext cx="3931920" cy="329184"/>
          </a:xfrm>
          <a:prstGeom prst="rect">
            <a:avLst/>
          </a:prstGeom>
          <a:noFill/>
        </p:spPr>
        <p:txBody>
          <a:bodyPr wrap="square">
            <a:spAutoFit/>
          </a:bodyPr>
          <a:lstStyle/>
          <a:p>
            <a:pPr algn="l"/>
            <a:r>
              <a:rPr sz="1200" b="0">
                <a:solidFill>
                  <a:srgbClr val="1F2937"/>
                </a:solidFill>
                <a:latin typeface="Calibri"/>
              </a:rPr>
              <a:t>"Yesterday, Maya found an old map."</a:t>
            </a:r>
          </a:p>
        </p:txBody>
      </p:sp>
      <p:sp>
        <p:nvSpPr>
          <p:cNvPr id="38" name="Rounded Rectangle 37"/>
          <p:cNvSpPr/>
          <p:nvPr/>
        </p:nvSpPr>
        <p:spPr>
          <a:xfrm>
            <a:off x="6446520" y="4828032"/>
            <a:ext cx="105156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4864608"/>
            <a:ext cx="1051560" cy="292608"/>
          </a:xfrm>
          <a:prstGeom prst="rect">
            <a:avLst/>
          </a:prstGeom>
          <a:noFill/>
        </p:spPr>
        <p:txBody>
          <a:bodyPr wrap="square">
            <a:spAutoFit/>
          </a:bodyPr>
          <a:lstStyle/>
          <a:p>
            <a:pPr algn="ctr"/>
            <a:r>
              <a:rPr sz="1000" b="1">
                <a:solidFill>
                  <a:srgbClr val="FFFFFF"/>
                </a:solidFill>
                <a:latin typeface="Calibri"/>
              </a:rPr>
              <a:t>NOW</a:t>
            </a:r>
          </a:p>
        </p:txBody>
      </p:sp>
      <p:sp>
        <p:nvSpPr>
          <p:cNvPr id="40" name="TextBox 39"/>
          <p:cNvSpPr txBox="1"/>
          <p:nvPr/>
        </p:nvSpPr>
        <p:spPr>
          <a:xfrm>
            <a:off x="7635240" y="4846320"/>
            <a:ext cx="3931920" cy="329184"/>
          </a:xfrm>
          <a:prstGeom prst="rect">
            <a:avLst/>
          </a:prstGeom>
          <a:noFill/>
        </p:spPr>
        <p:txBody>
          <a:bodyPr wrap="square">
            <a:spAutoFit/>
          </a:bodyPr>
          <a:lstStyle/>
          <a:p>
            <a:pPr algn="l"/>
            <a:r>
              <a:rPr sz="1200" b="0">
                <a:solidFill>
                  <a:srgbClr val="1F2937"/>
                </a:solidFill>
                <a:latin typeface="Calibri"/>
              </a:rPr>
              <a:t>"She is opening the map right now."</a:t>
            </a:r>
          </a:p>
        </p:txBody>
      </p:sp>
      <p:sp>
        <p:nvSpPr>
          <p:cNvPr id="41" name="Rounded Rectangle 40"/>
          <p:cNvSpPr/>
          <p:nvPr/>
        </p:nvSpPr>
        <p:spPr>
          <a:xfrm>
            <a:off x="6446520" y="5431536"/>
            <a:ext cx="1051560" cy="36576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5468112"/>
            <a:ext cx="1051560" cy="292608"/>
          </a:xfrm>
          <a:prstGeom prst="rect">
            <a:avLst/>
          </a:prstGeom>
          <a:noFill/>
        </p:spPr>
        <p:txBody>
          <a:bodyPr wrap="square">
            <a:spAutoFit/>
          </a:bodyPr>
          <a:lstStyle/>
          <a:p>
            <a:pPr algn="ctr"/>
            <a:r>
              <a:rPr sz="1000" b="1">
                <a:solidFill>
                  <a:srgbClr val="FFFFFF"/>
                </a:solidFill>
                <a:latin typeface="Calibri"/>
              </a:rPr>
              <a:t>FUTURE</a:t>
            </a:r>
          </a:p>
        </p:txBody>
      </p:sp>
      <p:sp>
        <p:nvSpPr>
          <p:cNvPr id="43" name="TextBox 42"/>
          <p:cNvSpPr txBox="1"/>
          <p:nvPr/>
        </p:nvSpPr>
        <p:spPr>
          <a:xfrm>
            <a:off x="7635240" y="5449824"/>
            <a:ext cx="3931920" cy="329184"/>
          </a:xfrm>
          <a:prstGeom prst="rect">
            <a:avLst/>
          </a:prstGeom>
          <a:noFill/>
        </p:spPr>
        <p:txBody>
          <a:bodyPr wrap="square">
            <a:spAutoFit/>
          </a:bodyPr>
          <a:lstStyle/>
          <a:p>
            <a:pPr algn="l"/>
            <a:r>
              <a:rPr sz="1200" b="0">
                <a:solidFill>
                  <a:srgbClr val="1F2937"/>
                </a:solidFill>
                <a:latin typeface="Calibri"/>
              </a:rPr>
              <a:t>"She will find the treasure!"</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47–55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Speaking Challenge: Talk Time!</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9555652"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Speaking  |  47–55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29 / 37</a:t>
            </a:r>
          </a:p>
        </p:txBody>
      </p:sp>
      <p:sp>
        <p:nvSpPr>
          <p:cNvPr id="14" name="Rounded Rectangle 13"/>
          <p:cNvSpPr/>
          <p:nvPr/>
        </p:nvSpPr>
        <p:spPr>
          <a:xfrm>
            <a:off x="457200" y="1325880"/>
            <a:ext cx="54864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1828800"/>
            <a:ext cx="914400" cy="914400"/>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01168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17" name="TextBox 16"/>
          <p:cNvSpPr txBox="1"/>
          <p:nvPr/>
        </p:nvSpPr>
        <p:spPr>
          <a:xfrm>
            <a:off x="1828800" y="1737360"/>
            <a:ext cx="3931920" cy="777240"/>
          </a:xfrm>
          <a:prstGeom prst="rect">
            <a:avLst/>
          </a:prstGeom>
          <a:noFill/>
        </p:spPr>
        <p:txBody>
          <a:bodyPr wrap="square">
            <a:spAutoFit/>
          </a:bodyPr>
          <a:lstStyle/>
          <a:p>
            <a:pPr algn="l"/>
            <a:r>
              <a:rPr sz="1600" b="1">
                <a:solidFill>
                  <a:srgbClr val="0A2A6E"/>
                </a:solidFill>
                <a:latin typeface="Calibri"/>
              </a:rPr>
              <a:t>What did you do yesterday?</a:t>
            </a:r>
          </a:p>
        </p:txBody>
      </p:sp>
      <p:sp>
        <p:nvSpPr>
          <p:cNvPr id="18" name="Rounded Rectangle 17"/>
          <p:cNvSpPr/>
          <p:nvPr/>
        </p:nvSpPr>
        <p:spPr>
          <a:xfrm>
            <a:off x="1828800" y="2560320"/>
            <a:ext cx="2377440" cy="384048"/>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0" y="2624328"/>
            <a:ext cx="2377440" cy="292608"/>
          </a:xfrm>
          <a:prstGeom prst="rect">
            <a:avLst/>
          </a:prstGeom>
          <a:noFill/>
        </p:spPr>
        <p:txBody>
          <a:bodyPr wrap="square">
            <a:spAutoFit/>
          </a:bodyPr>
          <a:lstStyle/>
          <a:p>
            <a:pPr algn="ctr"/>
            <a:r>
              <a:rPr sz="1100" b="1">
                <a:solidFill>
                  <a:srgbClr val="FFFFFF"/>
                </a:solidFill>
                <a:latin typeface="Calibri"/>
              </a:rPr>
              <a:t>Simple Past</a:t>
            </a:r>
          </a:p>
        </p:txBody>
      </p:sp>
      <p:sp>
        <p:nvSpPr>
          <p:cNvPr id="20" name="Rounded Rectangle 19"/>
          <p:cNvSpPr/>
          <p:nvPr/>
        </p:nvSpPr>
        <p:spPr>
          <a:xfrm>
            <a:off x="6217920" y="1325880"/>
            <a:ext cx="54864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1828800"/>
            <a:ext cx="914400" cy="9144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201168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23" name="TextBox 22"/>
          <p:cNvSpPr txBox="1"/>
          <p:nvPr/>
        </p:nvSpPr>
        <p:spPr>
          <a:xfrm>
            <a:off x="7589520" y="1737360"/>
            <a:ext cx="3931920" cy="777240"/>
          </a:xfrm>
          <a:prstGeom prst="rect">
            <a:avLst/>
          </a:prstGeom>
          <a:noFill/>
        </p:spPr>
        <p:txBody>
          <a:bodyPr wrap="square">
            <a:spAutoFit/>
          </a:bodyPr>
          <a:lstStyle/>
          <a:p>
            <a:pPr algn="l"/>
            <a:r>
              <a:rPr sz="1600" b="1">
                <a:solidFill>
                  <a:srgbClr val="0A2A6E"/>
                </a:solidFill>
                <a:latin typeface="Calibri"/>
              </a:rPr>
              <a:t>What are you doing today?</a:t>
            </a:r>
          </a:p>
        </p:txBody>
      </p:sp>
      <p:sp>
        <p:nvSpPr>
          <p:cNvPr id="24" name="Rounded Rectangle 23"/>
          <p:cNvSpPr/>
          <p:nvPr/>
        </p:nvSpPr>
        <p:spPr>
          <a:xfrm>
            <a:off x="7589520" y="2560320"/>
            <a:ext cx="2377440" cy="384048"/>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0" y="2624328"/>
            <a:ext cx="2377440" cy="292608"/>
          </a:xfrm>
          <a:prstGeom prst="rect">
            <a:avLst/>
          </a:prstGeom>
          <a:noFill/>
        </p:spPr>
        <p:txBody>
          <a:bodyPr wrap="square">
            <a:spAutoFit/>
          </a:bodyPr>
          <a:lstStyle/>
          <a:p>
            <a:pPr algn="ctr"/>
            <a:r>
              <a:rPr sz="1100" b="1">
                <a:solidFill>
                  <a:srgbClr val="FFFFFF"/>
                </a:solidFill>
                <a:latin typeface="Calibri"/>
              </a:rPr>
              <a:t>Present Continuous</a:t>
            </a:r>
          </a:p>
        </p:txBody>
      </p:sp>
      <p:sp>
        <p:nvSpPr>
          <p:cNvPr id="26" name="Rounded Rectangle 25"/>
          <p:cNvSpPr/>
          <p:nvPr/>
        </p:nvSpPr>
        <p:spPr>
          <a:xfrm>
            <a:off x="457200" y="3520439"/>
            <a:ext cx="54864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85800" y="4023359"/>
            <a:ext cx="914400" cy="91440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06239"/>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29" name="TextBox 28"/>
          <p:cNvSpPr txBox="1"/>
          <p:nvPr/>
        </p:nvSpPr>
        <p:spPr>
          <a:xfrm>
            <a:off x="1828800" y="3931919"/>
            <a:ext cx="3931920" cy="777240"/>
          </a:xfrm>
          <a:prstGeom prst="rect">
            <a:avLst/>
          </a:prstGeom>
          <a:noFill/>
        </p:spPr>
        <p:txBody>
          <a:bodyPr wrap="square">
            <a:spAutoFit/>
          </a:bodyPr>
          <a:lstStyle/>
          <a:p>
            <a:pPr algn="l"/>
            <a:r>
              <a:rPr sz="1600" b="1">
                <a:solidFill>
                  <a:srgbClr val="0A2A6E"/>
                </a:solidFill>
                <a:latin typeface="Calibri"/>
              </a:rPr>
              <a:t>What do you do every weekend?</a:t>
            </a:r>
          </a:p>
        </p:txBody>
      </p:sp>
      <p:sp>
        <p:nvSpPr>
          <p:cNvPr id="30" name="Rounded Rectangle 29"/>
          <p:cNvSpPr/>
          <p:nvPr/>
        </p:nvSpPr>
        <p:spPr>
          <a:xfrm>
            <a:off x="1828800" y="4754879"/>
            <a:ext cx="2377440" cy="384048"/>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28800" y="4818887"/>
            <a:ext cx="2377440" cy="292608"/>
          </a:xfrm>
          <a:prstGeom prst="rect">
            <a:avLst/>
          </a:prstGeom>
          <a:noFill/>
        </p:spPr>
        <p:txBody>
          <a:bodyPr wrap="square">
            <a:spAutoFit/>
          </a:bodyPr>
          <a:lstStyle/>
          <a:p>
            <a:pPr algn="ctr"/>
            <a:r>
              <a:rPr sz="1100" b="1">
                <a:solidFill>
                  <a:srgbClr val="FFFFFF"/>
                </a:solidFill>
                <a:latin typeface="Calibri"/>
              </a:rPr>
              <a:t>Simple Present</a:t>
            </a:r>
          </a:p>
        </p:txBody>
      </p:sp>
      <p:sp>
        <p:nvSpPr>
          <p:cNvPr id="32" name="Rounded Rectangle 31"/>
          <p:cNvSpPr/>
          <p:nvPr/>
        </p:nvSpPr>
        <p:spPr>
          <a:xfrm>
            <a:off x="6217920" y="3520439"/>
            <a:ext cx="54864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46520" y="4023359"/>
            <a:ext cx="914400" cy="91440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206239"/>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35" name="TextBox 34"/>
          <p:cNvSpPr txBox="1"/>
          <p:nvPr/>
        </p:nvSpPr>
        <p:spPr>
          <a:xfrm>
            <a:off x="7589520" y="3931919"/>
            <a:ext cx="3931920" cy="777240"/>
          </a:xfrm>
          <a:prstGeom prst="rect">
            <a:avLst/>
          </a:prstGeom>
          <a:noFill/>
        </p:spPr>
        <p:txBody>
          <a:bodyPr wrap="square">
            <a:spAutoFit/>
          </a:bodyPr>
          <a:lstStyle/>
          <a:p>
            <a:pPr algn="l"/>
            <a:r>
              <a:rPr sz="1600" b="1">
                <a:solidFill>
                  <a:srgbClr val="0A2A6E"/>
                </a:solidFill>
                <a:latin typeface="Calibri"/>
              </a:rPr>
              <a:t>What will you do this weekend?</a:t>
            </a:r>
          </a:p>
        </p:txBody>
      </p:sp>
      <p:sp>
        <p:nvSpPr>
          <p:cNvPr id="36" name="Rounded Rectangle 35"/>
          <p:cNvSpPr/>
          <p:nvPr/>
        </p:nvSpPr>
        <p:spPr>
          <a:xfrm>
            <a:off x="7589520" y="4754879"/>
            <a:ext cx="2377440" cy="384048"/>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0" y="4818887"/>
            <a:ext cx="2377440" cy="292608"/>
          </a:xfrm>
          <a:prstGeom prst="rect">
            <a:avLst/>
          </a:prstGeom>
          <a:noFill/>
        </p:spPr>
        <p:txBody>
          <a:bodyPr wrap="square">
            <a:spAutoFit/>
          </a:bodyPr>
          <a:lstStyle/>
          <a:p>
            <a:pPr algn="ctr"/>
            <a:r>
              <a:rPr sz="1100" b="1">
                <a:solidFill>
                  <a:srgbClr val="FFFFFF"/>
                </a:solidFill>
                <a:latin typeface="Calibri"/>
              </a:rPr>
              <a:t>Simple Future</a:t>
            </a:r>
          </a:p>
        </p:txBody>
      </p:sp>
      <p:sp>
        <p:nvSpPr>
          <p:cNvPr id="38" name="Rounded Rectangle 37"/>
          <p:cNvSpPr/>
          <p:nvPr/>
        </p:nvSpPr>
        <p:spPr>
          <a:xfrm>
            <a:off x="457200" y="5760720"/>
            <a:ext cx="8503920" cy="548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870448"/>
            <a:ext cx="8229600" cy="365760"/>
          </a:xfrm>
          <a:prstGeom prst="rect">
            <a:avLst/>
          </a:prstGeom>
          <a:noFill/>
        </p:spPr>
        <p:txBody>
          <a:bodyPr wrap="square">
            <a:spAutoFit/>
          </a:bodyPr>
          <a:lstStyle/>
          <a:p>
            <a:pPr algn="l"/>
            <a:r>
              <a:rPr sz="1400" b="1">
                <a:solidFill>
                  <a:srgbClr val="2E7D32"/>
                </a:solidFill>
                <a:latin typeface="Calibri"/>
              </a:rPr>
              <a:t>💚 Talk as long as you like. I will listen first, and help after — never in the middle.</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QUIZ</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55–58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Quick Challenge — Final Round!</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9885158"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Assessment  |  55–58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30 / 37</a:t>
            </a:r>
          </a:p>
        </p:txBody>
      </p:sp>
      <p:sp>
        <p:nvSpPr>
          <p:cNvPr id="14" name="TextBox 13"/>
          <p:cNvSpPr txBox="1"/>
          <p:nvPr/>
        </p:nvSpPr>
        <p:spPr>
          <a:xfrm>
            <a:off x="411480" y="1188720"/>
            <a:ext cx="11338560" cy="365760"/>
          </a:xfrm>
          <a:prstGeom prst="rect">
            <a:avLst/>
          </a:prstGeom>
          <a:noFill/>
        </p:spPr>
        <p:txBody>
          <a:bodyPr wrap="square">
            <a:spAutoFit/>
          </a:bodyPr>
          <a:lstStyle/>
          <a:p>
            <a:pPr algn="l"/>
            <a:r>
              <a:rPr sz="1500" b="1">
                <a:solidFill>
                  <a:srgbClr val="FF6F61"/>
                </a:solidFill>
                <a:latin typeface="Calibri"/>
              </a:rPr>
              <a:t>Six quick ones. This is a GAME, not a test — I help whenever you want. 💛</a:t>
            </a:r>
          </a:p>
        </p:txBody>
      </p:sp>
      <p:sp>
        <p:nvSpPr>
          <p:cNvPr id="15" name="Rounded Rectangle 14"/>
          <p:cNvSpPr/>
          <p:nvPr/>
        </p:nvSpPr>
        <p:spPr>
          <a:xfrm>
            <a:off x="41148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6072" y="2075688"/>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2148840"/>
            <a:ext cx="502920" cy="365760"/>
          </a:xfrm>
          <a:prstGeom prst="rect">
            <a:avLst/>
          </a:prstGeom>
          <a:noFill/>
        </p:spPr>
        <p:txBody>
          <a:bodyPr wrap="square">
            <a:spAutoFit/>
          </a:bodyPr>
          <a:lstStyle/>
          <a:p>
            <a:pPr algn="ctr"/>
            <a:r>
              <a:rPr sz="1400" b="1">
                <a:solidFill>
                  <a:srgbClr val="0A2A6E"/>
                </a:solidFill>
                <a:latin typeface="Calibri"/>
              </a:rPr>
              <a:t>1</a:t>
            </a:r>
          </a:p>
        </p:txBody>
      </p:sp>
      <p:sp>
        <p:nvSpPr>
          <p:cNvPr id="18" name="TextBox 17"/>
          <p:cNvSpPr txBox="1"/>
          <p:nvPr/>
        </p:nvSpPr>
        <p:spPr>
          <a:xfrm>
            <a:off x="1216152" y="1874520"/>
            <a:ext cx="4572000" cy="457200"/>
          </a:xfrm>
          <a:prstGeom prst="rect">
            <a:avLst/>
          </a:prstGeom>
          <a:noFill/>
        </p:spPr>
        <p:txBody>
          <a:bodyPr wrap="square">
            <a:spAutoFit/>
          </a:bodyPr>
          <a:lstStyle/>
          <a:p>
            <a:pPr algn="l"/>
            <a:r>
              <a:rPr sz="1400" b="1">
                <a:solidFill>
                  <a:srgbClr val="0A2A6E"/>
                </a:solidFill>
                <a:latin typeface="Calibri"/>
              </a:rPr>
              <a:t>"She ______ TV last night."</a:t>
            </a:r>
          </a:p>
        </p:txBody>
      </p:sp>
      <p:sp>
        <p:nvSpPr>
          <p:cNvPr id="19" name="TextBox 18"/>
          <p:cNvSpPr txBox="1"/>
          <p:nvPr/>
        </p:nvSpPr>
        <p:spPr>
          <a:xfrm>
            <a:off x="1216152" y="2377440"/>
            <a:ext cx="4572000" cy="365760"/>
          </a:xfrm>
          <a:prstGeom prst="rect">
            <a:avLst/>
          </a:prstGeom>
          <a:noFill/>
        </p:spPr>
        <p:txBody>
          <a:bodyPr wrap="square">
            <a:spAutoFit/>
          </a:bodyPr>
          <a:lstStyle/>
          <a:p>
            <a:pPr algn="l"/>
            <a:r>
              <a:rPr sz="1200" b="0">
                <a:solidFill>
                  <a:srgbClr val="64748B"/>
                </a:solidFill>
                <a:latin typeface="Calibri"/>
              </a:rPr>
              <a:t>watch  /  watched  /  will watch</a:t>
            </a:r>
          </a:p>
        </p:txBody>
      </p:sp>
      <p:sp>
        <p:nvSpPr>
          <p:cNvPr id="20" name="Rounded Rectangle 19"/>
          <p:cNvSpPr/>
          <p:nvPr/>
        </p:nvSpPr>
        <p:spPr>
          <a:xfrm>
            <a:off x="6217920" y="1691640"/>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82512" y="2075688"/>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2148840"/>
            <a:ext cx="502920" cy="365760"/>
          </a:xfrm>
          <a:prstGeom prst="rect">
            <a:avLst/>
          </a:prstGeom>
          <a:noFill/>
        </p:spPr>
        <p:txBody>
          <a:bodyPr wrap="square">
            <a:spAutoFit/>
          </a:bodyPr>
          <a:lstStyle/>
          <a:p>
            <a:pPr algn="ctr"/>
            <a:r>
              <a:rPr sz="1400" b="1">
                <a:solidFill>
                  <a:srgbClr val="0A2A6E"/>
                </a:solidFill>
                <a:latin typeface="Calibri"/>
              </a:rPr>
              <a:t>2</a:t>
            </a:r>
          </a:p>
        </p:txBody>
      </p:sp>
      <p:sp>
        <p:nvSpPr>
          <p:cNvPr id="23" name="TextBox 22"/>
          <p:cNvSpPr txBox="1"/>
          <p:nvPr/>
        </p:nvSpPr>
        <p:spPr>
          <a:xfrm>
            <a:off x="7022592" y="1874520"/>
            <a:ext cx="4572000" cy="457200"/>
          </a:xfrm>
          <a:prstGeom prst="rect">
            <a:avLst/>
          </a:prstGeom>
          <a:noFill/>
        </p:spPr>
        <p:txBody>
          <a:bodyPr wrap="square">
            <a:spAutoFit/>
          </a:bodyPr>
          <a:lstStyle/>
          <a:p>
            <a:pPr algn="l"/>
            <a:r>
              <a:rPr sz="1400" b="1">
                <a:solidFill>
                  <a:srgbClr val="0A2A6E"/>
                </a:solidFill>
                <a:latin typeface="Calibri"/>
              </a:rPr>
              <a:t>Which is Present Continuous?</a:t>
            </a:r>
          </a:p>
        </p:txBody>
      </p:sp>
      <p:sp>
        <p:nvSpPr>
          <p:cNvPr id="24" name="TextBox 23"/>
          <p:cNvSpPr txBox="1"/>
          <p:nvPr/>
        </p:nvSpPr>
        <p:spPr>
          <a:xfrm>
            <a:off x="7022592" y="2377440"/>
            <a:ext cx="4572000" cy="365760"/>
          </a:xfrm>
          <a:prstGeom prst="rect">
            <a:avLst/>
          </a:prstGeom>
          <a:noFill/>
        </p:spPr>
        <p:txBody>
          <a:bodyPr wrap="square">
            <a:spAutoFit/>
          </a:bodyPr>
          <a:lstStyle/>
          <a:p>
            <a:pPr algn="l"/>
            <a:r>
              <a:rPr sz="1200" b="0">
                <a:solidFill>
                  <a:srgbClr val="64748B"/>
                </a:solidFill>
                <a:latin typeface="Calibri"/>
              </a:rPr>
              <a:t>I run  /  I am running  /  I ran</a:t>
            </a:r>
          </a:p>
        </p:txBody>
      </p:sp>
      <p:sp>
        <p:nvSpPr>
          <p:cNvPr id="25" name="Rounded Rectangle 24"/>
          <p:cNvSpPr/>
          <p:nvPr/>
        </p:nvSpPr>
        <p:spPr>
          <a:xfrm>
            <a:off x="41148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6072" y="3557016"/>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72" y="3630168"/>
            <a:ext cx="502920" cy="365760"/>
          </a:xfrm>
          <a:prstGeom prst="rect">
            <a:avLst/>
          </a:prstGeom>
          <a:noFill/>
        </p:spPr>
        <p:txBody>
          <a:bodyPr wrap="square">
            <a:spAutoFit/>
          </a:bodyPr>
          <a:lstStyle/>
          <a:p>
            <a:pPr algn="ctr"/>
            <a:r>
              <a:rPr sz="1400" b="1">
                <a:solidFill>
                  <a:srgbClr val="0A2A6E"/>
                </a:solidFill>
                <a:latin typeface="Calibri"/>
              </a:rPr>
              <a:t>3</a:t>
            </a:r>
          </a:p>
        </p:txBody>
      </p:sp>
      <p:sp>
        <p:nvSpPr>
          <p:cNvPr id="28" name="TextBox 27"/>
          <p:cNvSpPr txBox="1"/>
          <p:nvPr/>
        </p:nvSpPr>
        <p:spPr>
          <a:xfrm>
            <a:off x="1216152" y="3355848"/>
            <a:ext cx="4572000" cy="457200"/>
          </a:xfrm>
          <a:prstGeom prst="rect">
            <a:avLst/>
          </a:prstGeom>
          <a:noFill/>
        </p:spPr>
        <p:txBody>
          <a:bodyPr wrap="square">
            <a:spAutoFit/>
          </a:bodyPr>
          <a:lstStyle/>
          <a:p>
            <a:pPr algn="l"/>
            <a:r>
              <a:rPr sz="1400" b="1">
                <a:solidFill>
                  <a:srgbClr val="0A2A6E"/>
                </a:solidFill>
                <a:latin typeface="Calibri"/>
              </a:rPr>
              <a:t>"exhausted" means...</a:t>
            </a:r>
          </a:p>
        </p:txBody>
      </p:sp>
      <p:sp>
        <p:nvSpPr>
          <p:cNvPr id="29" name="TextBox 28"/>
          <p:cNvSpPr txBox="1"/>
          <p:nvPr/>
        </p:nvSpPr>
        <p:spPr>
          <a:xfrm>
            <a:off x="1216152" y="3858768"/>
            <a:ext cx="4572000" cy="365760"/>
          </a:xfrm>
          <a:prstGeom prst="rect">
            <a:avLst/>
          </a:prstGeom>
          <a:noFill/>
        </p:spPr>
        <p:txBody>
          <a:bodyPr wrap="square">
            <a:spAutoFit/>
          </a:bodyPr>
          <a:lstStyle/>
          <a:p>
            <a:pPr algn="l"/>
            <a:r>
              <a:rPr sz="1200" b="0">
                <a:solidFill>
                  <a:srgbClr val="64748B"/>
                </a:solidFill>
                <a:latin typeface="Calibri"/>
              </a:rPr>
              <a:t>excited  /  very tired  /  hungry</a:t>
            </a:r>
          </a:p>
        </p:txBody>
      </p:sp>
      <p:sp>
        <p:nvSpPr>
          <p:cNvPr id="30" name="Rounded Rectangle 29"/>
          <p:cNvSpPr/>
          <p:nvPr/>
        </p:nvSpPr>
        <p:spPr>
          <a:xfrm>
            <a:off x="6217920" y="3172968"/>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557016"/>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82512" y="3630168"/>
            <a:ext cx="502920" cy="365760"/>
          </a:xfrm>
          <a:prstGeom prst="rect">
            <a:avLst/>
          </a:prstGeom>
          <a:noFill/>
        </p:spPr>
        <p:txBody>
          <a:bodyPr wrap="square">
            <a:spAutoFit/>
          </a:bodyPr>
          <a:lstStyle/>
          <a:p>
            <a:pPr algn="ctr"/>
            <a:r>
              <a:rPr sz="1400" b="1">
                <a:solidFill>
                  <a:srgbClr val="0A2A6E"/>
                </a:solidFill>
                <a:latin typeface="Calibri"/>
              </a:rPr>
              <a:t>4</a:t>
            </a:r>
          </a:p>
        </p:txBody>
      </p:sp>
      <p:sp>
        <p:nvSpPr>
          <p:cNvPr id="33" name="TextBox 32"/>
          <p:cNvSpPr txBox="1"/>
          <p:nvPr/>
        </p:nvSpPr>
        <p:spPr>
          <a:xfrm>
            <a:off x="7022592" y="3355848"/>
            <a:ext cx="4572000" cy="457200"/>
          </a:xfrm>
          <a:prstGeom prst="rect">
            <a:avLst/>
          </a:prstGeom>
          <a:noFill/>
        </p:spPr>
        <p:txBody>
          <a:bodyPr wrap="square">
            <a:spAutoFit/>
          </a:bodyPr>
          <a:lstStyle/>
          <a:p>
            <a:pPr algn="l"/>
            <a:r>
              <a:rPr sz="1400" b="1">
                <a:solidFill>
                  <a:srgbClr val="0A2A6E"/>
                </a:solidFill>
                <a:latin typeface="Calibri"/>
              </a:rPr>
              <a:t>Fix it: "He don't like fish."</a:t>
            </a:r>
          </a:p>
        </p:txBody>
      </p:sp>
      <p:sp>
        <p:nvSpPr>
          <p:cNvPr id="34" name="TextBox 33"/>
          <p:cNvSpPr txBox="1"/>
          <p:nvPr/>
        </p:nvSpPr>
        <p:spPr>
          <a:xfrm>
            <a:off x="7022592" y="3858768"/>
            <a:ext cx="4572000" cy="365760"/>
          </a:xfrm>
          <a:prstGeom prst="rect">
            <a:avLst/>
          </a:prstGeom>
          <a:noFill/>
        </p:spPr>
        <p:txBody>
          <a:bodyPr wrap="square">
            <a:spAutoFit/>
          </a:bodyPr>
          <a:lstStyle/>
          <a:p>
            <a:pPr algn="l"/>
            <a:r>
              <a:rPr sz="1200" b="0">
                <a:solidFill>
                  <a:srgbClr val="64748B"/>
                </a:solidFill>
                <a:latin typeface="Calibri"/>
              </a:rPr>
              <a:t>______________________</a:t>
            </a:r>
          </a:p>
        </p:txBody>
      </p:sp>
      <p:sp>
        <p:nvSpPr>
          <p:cNvPr id="35" name="Rounded Rectangle 34"/>
          <p:cNvSpPr/>
          <p:nvPr/>
        </p:nvSpPr>
        <p:spPr>
          <a:xfrm>
            <a:off x="41148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76072" y="5038344"/>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6072" y="5111496"/>
            <a:ext cx="502920" cy="365760"/>
          </a:xfrm>
          <a:prstGeom prst="rect">
            <a:avLst/>
          </a:prstGeom>
          <a:noFill/>
        </p:spPr>
        <p:txBody>
          <a:bodyPr wrap="square">
            <a:spAutoFit/>
          </a:bodyPr>
          <a:lstStyle/>
          <a:p>
            <a:pPr algn="ctr"/>
            <a:r>
              <a:rPr sz="1400" b="1">
                <a:solidFill>
                  <a:srgbClr val="0A2A6E"/>
                </a:solidFill>
                <a:latin typeface="Calibri"/>
              </a:rPr>
              <a:t>5</a:t>
            </a:r>
          </a:p>
        </p:txBody>
      </p:sp>
      <p:sp>
        <p:nvSpPr>
          <p:cNvPr id="38" name="TextBox 37"/>
          <p:cNvSpPr txBox="1"/>
          <p:nvPr/>
        </p:nvSpPr>
        <p:spPr>
          <a:xfrm>
            <a:off x="1216152" y="4837176"/>
            <a:ext cx="4572000" cy="457200"/>
          </a:xfrm>
          <a:prstGeom prst="rect">
            <a:avLst/>
          </a:prstGeom>
          <a:noFill/>
        </p:spPr>
        <p:txBody>
          <a:bodyPr wrap="square">
            <a:spAutoFit/>
          </a:bodyPr>
          <a:lstStyle/>
          <a:p>
            <a:pPr algn="l"/>
            <a:r>
              <a:rPr sz="1400" b="1">
                <a:solidFill>
                  <a:srgbClr val="0A2A6E"/>
                </a:solidFill>
                <a:latin typeface="Calibri"/>
              </a:rPr>
              <a:t>Why did Maya build a ramp?</a:t>
            </a:r>
          </a:p>
        </p:txBody>
      </p:sp>
      <p:sp>
        <p:nvSpPr>
          <p:cNvPr id="39" name="TextBox 38"/>
          <p:cNvSpPr txBox="1"/>
          <p:nvPr/>
        </p:nvSpPr>
        <p:spPr>
          <a:xfrm>
            <a:off x="1216152" y="5340096"/>
            <a:ext cx="4572000" cy="365760"/>
          </a:xfrm>
          <a:prstGeom prst="rect">
            <a:avLst/>
          </a:prstGeom>
          <a:noFill/>
        </p:spPr>
        <p:txBody>
          <a:bodyPr wrap="square">
            <a:spAutoFit/>
          </a:bodyPr>
          <a:lstStyle/>
          <a:p>
            <a:pPr algn="l"/>
            <a:r>
              <a:rPr sz="1200" b="0">
                <a:solidFill>
                  <a:srgbClr val="64748B"/>
                </a:solidFill>
                <a:latin typeface="Calibri"/>
              </a:rPr>
              <a:t>______________________</a:t>
            </a:r>
          </a:p>
        </p:txBody>
      </p:sp>
      <p:sp>
        <p:nvSpPr>
          <p:cNvPr id="40" name="Rounded Rectangle 39"/>
          <p:cNvSpPr/>
          <p:nvPr/>
        </p:nvSpPr>
        <p:spPr>
          <a:xfrm>
            <a:off x="6217920" y="4654296"/>
            <a:ext cx="553212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382512" y="5038344"/>
            <a:ext cx="502920" cy="50292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82512" y="5111496"/>
            <a:ext cx="502920" cy="365760"/>
          </a:xfrm>
          <a:prstGeom prst="rect">
            <a:avLst/>
          </a:prstGeom>
          <a:noFill/>
        </p:spPr>
        <p:txBody>
          <a:bodyPr wrap="square">
            <a:spAutoFit/>
          </a:bodyPr>
          <a:lstStyle/>
          <a:p>
            <a:pPr algn="ctr"/>
            <a:r>
              <a:rPr sz="1400" b="1">
                <a:solidFill>
                  <a:srgbClr val="0A2A6E"/>
                </a:solidFill>
                <a:latin typeface="Calibri"/>
              </a:rPr>
              <a:t>6</a:t>
            </a:r>
          </a:p>
        </p:txBody>
      </p:sp>
      <p:sp>
        <p:nvSpPr>
          <p:cNvPr id="43" name="TextBox 42"/>
          <p:cNvSpPr txBox="1"/>
          <p:nvPr/>
        </p:nvSpPr>
        <p:spPr>
          <a:xfrm>
            <a:off x="7022592" y="4837176"/>
            <a:ext cx="4572000" cy="457200"/>
          </a:xfrm>
          <a:prstGeom prst="rect">
            <a:avLst/>
          </a:prstGeom>
          <a:noFill/>
        </p:spPr>
        <p:txBody>
          <a:bodyPr wrap="square">
            <a:spAutoFit/>
          </a:bodyPr>
          <a:lstStyle/>
          <a:p>
            <a:pPr algn="l"/>
            <a:r>
              <a:rPr sz="1400" b="1">
                <a:solidFill>
                  <a:srgbClr val="0A2A6E"/>
                </a:solidFill>
                <a:latin typeface="Calibri"/>
              </a:rPr>
              <a:t>Make a FUTURE sentence about you.</a:t>
            </a:r>
          </a:p>
        </p:txBody>
      </p:sp>
      <p:sp>
        <p:nvSpPr>
          <p:cNvPr id="44" name="TextBox 43"/>
          <p:cNvSpPr txBox="1"/>
          <p:nvPr/>
        </p:nvSpPr>
        <p:spPr>
          <a:xfrm>
            <a:off x="7022592" y="5340096"/>
            <a:ext cx="4572000" cy="365760"/>
          </a:xfrm>
          <a:prstGeom prst="rect">
            <a:avLst/>
          </a:prstGeom>
          <a:noFill/>
        </p:spPr>
        <p:txBody>
          <a:bodyPr wrap="square">
            <a:spAutoFit/>
          </a:bodyPr>
          <a:lstStyle/>
          <a:p>
            <a:pPr algn="l"/>
            <a:r>
              <a:rPr sz="1200" b="0">
                <a:solidFill>
                  <a:srgbClr val="64748B"/>
                </a:solidFill>
                <a:latin typeface="Calibri"/>
              </a:rPr>
              <a:t>______________________</a:t>
            </a:r>
          </a:p>
        </p:txBody>
      </p:sp>
    </p:spTree>
  </p:cSld>
  <p:clrMapOvr>
    <a:masterClrMapping/>
  </p:clrMapOvr>
  <p:transition spd="med"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RECAP</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58–60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What Did We Learn Today?</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0214663"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Recap  |  58–60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31 / 37</a:t>
            </a:r>
          </a:p>
        </p:txBody>
      </p:sp>
      <p:sp>
        <p:nvSpPr>
          <p:cNvPr id="14" name="Rounded Rectangle 13"/>
          <p:cNvSpPr/>
          <p:nvPr/>
        </p:nvSpPr>
        <p:spPr>
          <a:xfrm>
            <a:off x="411480" y="1371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783080" y="1572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83080" y="1719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17" name="TextBox 16"/>
          <p:cNvSpPr txBox="1"/>
          <p:nvPr/>
        </p:nvSpPr>
        <p:spPr>
          <a:xfrm>
            <a:off x="548640" y="2468880"/>
            <a:ext cx="3337560" cy="365760"/>
          </a:xfrm>
          <a:prstGeom prst="rect">
            <a:avLst/>
          </a:prstGeom>
          <a:noFill/>
        </p:spPr>
        <p:txBody>
          <a:bodyPr wrap="square">
            <a:spAutoFit/>
          </a:bodyPr>
          <a:lstStyle/>
          <a:p>
            <a:pPr algn="ctr"/>
            <a:r>
              <a:rPr sz="1600" b="1">
                <a:solidFill>
                  <a:srgbClr val="009688"/>
                </a:solidFill>
                <a:latin typeface="Calibri"/>
              </a:rPr>
              <a:t>Reading</a:t>
            </a:r>
          </a:p>
        </p:txBody>
      </p:sp>
      <p:sp>
        <p:nvSpPr>
          <p:cNvPr id="18" name="TextBox 17"/>
          <p:cNvSpPr txBox="1"/>
          <p:nvPr/>
        </p:nvSpPr>
        <p:spPr>
          <a:xfrm>
            <a:off x="548640" y="2852928"/>
            <a:ext cx="3337560" cy="548640"/>
          </a:xfrm>
          <a:prstGeom prst="rect">
            <a:avLst/>
          </a:prstGeom>
          <a:noFill/>
        </p:spPr>
        <p:txBody>
          <a:bodyPr wrap="square">
            <a:spAutoFit/>
          </a:bodyPr>
          <a:lstStyle/>
          <a:p>
            <a:pPr algn="ctr"/>
            <a:r>
              <a:rPr sz="1200" b="0">
                <a:solidFill>
                  <a:srgbClr val="1F2937"/>
                </a:solidFill>
                <a:latin typeface="Calibri"/>
              </a:rPr>
              <a:t>You read a whole story
by yourself!</a:t>
            </a:r>
          </a:p>
        </p:txBody>
      </p:sp>
      <p:sp>
        <p:nvSpPr>
          <p:cNvPr id="19" name="Rounded Rectangle 18"/>
          <p:cNvSpPr/>
          <p:nvPr/>
        </p:nvSpPr>
        <p:spPr>
          <a:xfrm>
            <a:off x="4251960" y="1371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60" y="1572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1719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22" name="TextBox 21"/>
          <p:cNvSpPr txBox="1"/>
          <p:nvPr/>
        </p:nvSpPr>
        <p:spPr>
          <a:xfrm>
            <a:off x="4389120" y="2468880"/>
            <a:ext cx="3337560" cy="365760"/>
          </a:xfrm>
          <a:prstGeom prst="rect">
            <a:avLst/>
          </a:prstGeom>
          <a:noFill/>
        </p:spPr>
        <p:txBody>
          <a:bodyPr wrap="square">
            <a:spAutoFit/>
          </a:bodyPr>
          <a:lstStyle/>
          <a:p>
            <a:pPr algn="ctr"/>
            <a:r>
              <a:rPr sz="1600" b="1">
                <a:solidFill>
                  <a:srgbClr val="009688"/>
                </a:solidFill>
                <a:latin typeface="Calibri"/>
              </a:rPr>
              <a:t>Vocabulary</a:t>
            </a:r>
          </a:p>
        </p:txBody>
      </p:sp>
      <p:sp>
        <p:nvSpPr>
          <p:cNvPr id="23" name="TextBox 22"/>
          <p:cNvSpPr txBox="1"/>
          <p:nvPr/>
        </p:nvSpPr>
        <p:spPr>
          <a:xfrm>
            <a:off x="4389120" y="2852928"/>
            <a:ext cx="3337560" cy="548640"/>
          </a:xfrm>
          <a:prstGeom prst="rect">
            <a:avLst/>
          </a:prstGeom>
          <a:noFill/>
        </p:spPr>
        <p:txBody>
          <a:bodyPr wrap="square">
            <a:spAutoFit/>
          </a:bodyPr>
          <a:lstStyle/>
          <a:p>
            <a:pPr algn="ctr"/>
            <a:r>
              <a:rPr sz="1200" b="0">
                <a:solidFill>
                  <a:srgbClr val="1F2937"/>
                </a:solidFill>
                <a:latin typeface="Calibri"/>
              </a:rPr>
              <a:t>12 brand-new words
in your toolbox.</a:t>
            </a:r>
          </a:p>
        </p:txBody>
      </p:sp>
      <p:sp>
        <p:nvSpPr>
          <p:cNvPr id="24" name="Rounded Rectangle 23"/>
          <p:cNvSpPr/>
          <p:nvPr/>
        </p:nvSpPr>
        <p:spPr>
          <a:xfrm>
            <a:off x="8092440" y="1371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64040" y="1572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64040" y="1719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27" name="TextBox 26"/>
          <p:cNvSpPr txBox="1"/>
          <p:nvPr/>
        </p:nvSpPr>
        <p:spPr>
          <a:xfrm>
            <a:off x="8229600" y="2468880"/>
            <a:ext cx="3337560" cy="365760"/>
          </a:xfrm>
          <a:prstGeom prst="rect">
            <a:avLst/>
          </a:prstGeom>
          <a:noFill/>
        </p:spPr>
        <p:txBody>
          <a:bodyPr wrap="square">
            <a:spAutoFit/>
          </a:bodyPr>
          <a:lstStyle/>
          <a:p>
            <a:pPr algn="ctr"/>
            <a:r>
              <a:rPr sz="1600" b="1">
                <a:solidFill>
                  <a:srgbClr val="009688"/>
                </a:solidFill>
                <a:latin typeface="Calibri"/>
              </a:rPr>
              <a:t>Tenses</a:t>
            </a:r>
          </a:p>
        </p:txBody>
      </p:sp>
      <p:sp>
        <p:nvSpPr>
          <p:cNvPr id="28" name="TextBox 27"/>
          <p:cNvSpPr txBox="1"/>
          <p:nvPr/>
        </p:nvSpPr>
        <p:spPr>
          <a:xfrm>
            <a:off x="8229600" y="2852928"/>
            <a:ext cx="3337560" cy="548640"/>
          </a:xfrm>
          <a:prstGeom prst="rect">
            <a:avLst/>
          </a:prstGeom>
          <a:noFill/>
        </p:spPr>
        <p:txBody>
          <a:bodyPr wrap="square">
            <a:spAutoFit/>
          </a:bodyPr>
          <a:lstStyle/>
          <a:p>
            <a:pPr algn="ctr"/>
            <a:r>
              <a:rPr sz="1200" b="0">
                <a:solidFill>
                  <a:srgbClr val="1F2937"/>
                </a:solidFill>
                <a:latin typeface="Calibri"/>
              </a:rPr>
              <a:t>All 5 tenses on
one timeline.</a:t>
            </a:r>
          </a:p>
        </p:txBody>
      </p:sp>
      <p:sp>
        <p:nvSpPr>
          <p:cNvPr id="29" name="Rounded Rectangle 28"/>
          <p:cNvSpPr/>
          <p:nvPr/>
        </p:nvSpPr>
        <p:spPr>
          <a:xfrm>
            <a:off x="411480" y="3657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83080" y="3858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83080" y="4005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32" name="TextBox 31"/>
          <p:cNvSpPr txBox="1"/>
          <p:nvPr/>
        </p:nvSpPr>
        <p:spPr>
          <a:xfrm>
            <a:off x="548640" y="4754880"/>
            <a:ext cx="3337560" cy="365760"/>
          </a:xfrm>
          <a:prstGeom prst="rect">
            <a:avLst/>
          </a:prstGeom>
          <a:noFill/>
        </p:spPr>
        <p:txBody>
          <a:bodyPr wrap="square">
            <a:spAutoFit/>
          </a:bodyPr>
          <a:lstStyle/>
          <a:p>
            <a:pPr algn="ctr"/>
            <a:r>
              <a:rPr sz="1600" b="1">
                <a:solidFill>
                  <a:srgbClr val="009688"/>
                </a:solidFill>
                <a:latin typeface="Calibri"/>
              </a:rPr>
              <a:t>Detective</a:t>
            </a:r>
          </a:p>
        </p:txBody>
      </p:sp>
      <p:sp>
        <p:nvSpPr>
          <p:cNvPr id="33" name="TextBox 32"/>
          <p:cNvSpPr txBox="1"/>
          <p:nvPr/>
        </p:nvSpPr>
        <p:spPr>
          <a:xfrm>
            <a:off x="548640" y="5138928"/>
            <a:ext cx="3337560" cy="548640"/>
          </a:xfrm>
          <a:prstGeom prst="rect">
            <a:avLst/>
          </a:prstGeom>
          <a:noFill/>
        </p:spPr>
        <p:txBody>
          <a:bodyPr wrap="square">
            <a:spAutoFit/>
          </a:bodyPr>
          <a:lstStyle/>
          <a:p>
            <a:pPr algn="ctr"/>
            <a:r>
              <a:rPr sz="1200" b="0">
                <a:solidFill>
                  <a:srgbClr val="1F2937"/>
                </a:solidFill>
                <a:latin typeface="Calibri"/>
              </a:rPr>
              <a:t>You found tenses AND
fixed broken sentences.</a:t>
            </a:r>
          </a:p>
        </p:txBody>
      </p:sp>
      <p:sp>
        <p:nvSpPr>
          <p:cNvPr id="34" name="Rounded Rectangle 33"/>
          <p:cNvSpPr/>
          <p:nvPr/>
        </p:nvSpPr>
        <p:spPr>
          <a:xfrm>
            <a:off x="4251960" y="3657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623560" y="3858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23560" y="4005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37" name="TextBox 36"/>
          <p:cNvSpPr txBox="1"/>
          <p:nvPr/>
        </p:nvSpPr>
        <p:spPr>
          <a:xfrm>
            <a:off x="4389120" y="4754880"/>
            <a:ext cx="3337560" cy="365760"/>
          </a:xfrm>
          <a:prstGeom prst="rect">
            <a:avLst/>
          </a:prstGeom>
          <a:noFill/>
        </p:spPr>
        <p:txBody>
          <a:bodyPr wrap="square">
            <a:spAutoFit/>
          </a:bodyPr>
          <a:lstStyle/>
          <a:p>
            <a:pPr algn="ctr"/>
            <a:r>
              <a:rPr sz="1600" b="1">
                <a:solidFill>
                  <a:srgbClr val="009688"/>
                </a:solidFill>
                <a:latin typeface="Calibri"/>
              </a:rPr>
              <a:t>Storytelling</a:t>
            </a:r>
          </a:p>
        </p:txBody>
      </p:sp>
      <p:sp>
        <p:nvSpPr>
          <p:cNvPr id="38" name="TextBox 37"/>
          <p:cNvSpPr txBox="1"/>
          <p:nvPr/>
        </p:nvSpPr>
        <p:spPr>
          <a:xfrm>
            <a:off x="4389120" y="5138928"/>
            <a:ext cx="3337560" cy="548640"/>
          </a:xfrm>
          <a:prstGeom prst="rect">
            <a:avLst/>
          </a:prstGeom>
          <a:noFill/>
        </p:spPr>
        <p:txBody>
          <a:bodyPr wrap="square">
            <a:spAutoFit/>
          </a:bodyPr>
          <a:lstStyle/>
          <a:p>
            <a:pPr algn="ctr"/>
            <a:r>
              <a:rPr sz="1200" b="0">
                <a:solidFill>
                  <a:srgbClr val="1F2937"/>
                </a:solidFill>
                <a:latin typeface="Calibri"/>
              </a:rPr>
              <a:t>You invented your own
adventure story.</a:t>
            </a:r>
          </a:p>
        </p:txBody>
      </p:sp>
      <p:sp>
        <p:nvSpPr>
          <p:cNvPr id="39" name="Rounded Rectangle 38"/>
          <p:cNvSpPr/>
          <p:nvPr/>
        </p:nvSpPr>
        <p:spPr>
          <a:xfrm>
            <a:off x="8092440" y="3657600"/>
            <a:ext cx="36118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464040" y="3858768"/>
            <a:ext cx="822960" cy="822960"/>
          </a:xfrm>
          <a:prstGeom prst="ellipse">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64040" y="4005072"/>
            <a:ext cx="822960" cy="548640"/>
          </a:xfrm>
          <a:prstGeom prst="rect">
            <a:avLst/>
          </a:prstGeom>
          <a:noFill/>
        </p:spPr>
        <p:txBody>
          <a:bodyPr wrap="square">
            <a:spAutoFit/>
          </a:bodyPr>
          <a:lstStyle/>
          <a:p>
            <a:pPr algn="ctr"/>
            <a:r>
              <a:rPr sz="2400" b="0">
                <a:solidFill>
                  <a:srgbClr val="1F2937"/>
                </a:solidFill>
                <a:latin typeface="Calibri"/>
              </a:rPr>
              <a:t>🗣️</a:t>
            </a:r>
          </a:p>
        </p:txBody>
      </p:sp>
      <p:sp>
        <p:nvSpPr>
          <p:cNvPr id="42" name="TextBox 41"/>
          <p:cNvSpPr txBox="1"/>
          <p:nvPr/>
        </p:nvSpPr>
        <p:spPr>
          <a:xfrm>
            <a:off x="8229600" y="4754880"/>
            <a:ext cx="3337560" cy="365760"/>
          </a:xfrm>
          <a:prstGeom prst="rect">
            <a:avLst/>
          </a:prstGeom>
          <a:noFill/>
        </p:spPr>
        <p:txBody>
          <a:bodyPr wrap="square">
            <a:spAutoFit/>
          </a:bodyPr>
          <a:lstStyle/>
          <a:p>
            <a:pPr algn="ctr"/>
            <a:r>
              <a:rPr sz="1600" b="1">
                <a:solidFill>
                  <a:srgbClr val="009688"/>
                </a:solidFill>
                <a:latin typeface="Calibri"/>
              </a:rPr>
              <a:t>Speaking</a:t>
            </a:r>
          </a:p>
        </p:txBody>
      </p:sp>
      <p:sp>
        <p:nvSpPr>
          <p:cNvPr id="43" name="TextBox 42"/>
          <p:cNvSpPr txBox="1"/>
          <p:nvPr/>
        </p:nvSpPr>
        <p:spPr>
          <a:xfrm>
            <a:off x="8229600" y="5138928"/>
            <a:ext cx="3337560" cy="548640"/>
          </a:xfrm>
          <a:prstGeom prst="rect">
            <a:avLst/>
          </a:prstGeom>
          <a:noFill/>
        </p:spPr>
        <p:txBody>
          <a:bodyPr wrap="square">
            <a:spAutoFit/>
          </a:bodyPr>
          <a:lstStyle/>
          <a:p>
            <a:pPr algn="ctr"/>
            <a:r>
              <a:rPr sz="1200" b="0">
                <a:solidFill>
                  <a:srgbClr val="1F2937"/>
                </a:solidFill>
                <a:latin typeface="Calibri"/>
              </a:rPr>
              <a:t>You spoke in past,
present, AND future.</a:t>
            </a:r>
          </a:p>
        </p:txBody>
      </p:sp>
      <p:sp>
        <p:nvSpPr>
          <p:cNvPr id="44" name="TextBox 43"/>
          <p:cNvSpPr txBox="1"/>
          <p:nvPr/>
        </p:nvSpPr>
        <p:spPr>
          <a:xfrm>
            <a:off x="411480" y="5943600"/>
            <a:ext cx="8686800" cy="365760"/>
          </a:xfrm>
          <a:prstGeom prst="rect">
            <a:avLst/>
          </a:prstGeom>
          <a:noFill/>
        </p:spPr>
        <p:txBody>
          <a:bodyPr wrap="square">
            <a:spAutoFit/>
          </a:bodyPr>
          <a:lstStyle/>
          <a:p>
            <a:pPr algn="l"/>
            <a:r>
              <a:rPr sz="1500" b="1">
                <a:solidFill>
                  <a:srgbClr val="FF6F61"/>
                </a:solidFill>
                <a:latin typeface="Calibri"/>
              </a:rPr>
              <a:t>🏆 Six skills in sixty minutes. That is a LOT.</a:t>
            </a:r>
          </a:p>
        </p:txBody>
      </p:sp>
    </p:spTree>
  </p:cSld>
  <p:clrMapOvr>
    <a:masterClrMapping/>
  </p:clrMapOvr>
  <p:transition spd="med"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REFLECT</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58–60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How Do YOU Feel?</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0544168"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Reflection  |  58–60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32 / 37</a:t>
            </a:r>
          </a:p>
        </p:txBody>
      </p:sp>
      <p:sp>
        <p:nvSpPr>
          <p:cNvPr id="14" name="TextBox 13"/>
          <p:cNvSpPr txBox="1"/>
          <p:nvPr/>
        </p:nvSpPr>
        <p:spPr>
          <a:xfrm>
            <a:off x="411480" y="1207008"/>
            <a:ext cx="11338560" cy="365760"/>
          </a:xfrm>
          <a:prstGeom prst="rect">
            <a:avLst/>
          </a:prstGeom>
          <a:noFill/>
        </p:spPr>
        <p:txBody>
          <a:bodyPr wrap="square">
            <a:spAutoFit/>
          </a:bodyPr>
          <a:lstStyle/>
          <a:p>
            <a:pPr algn="l"/>
            <a:r>
              <a:rPr sz="1500" b="1">
                <a:solidFill>
                  <a:srgbClr val="0A2A6E"/>
                </a:solidFill>
                <a:latin typeface="Calibri"/>
              </a:rPr>
              <a:t>Point to the face that matches how you feel. There is no wrong answer!</a:t>
            </a:r>
          </a:p>
        </p:txBody>
      </p:sp>
      <p:sp>
        <p:nvSpPr>
          <p:cNvPr id="15" name="Rounded Rectangle 14"/>
          <p:cNvSpPr/>
          <p:nvPr/>
        </p:nvSpPr>
        <p:spPr>
          <a:xfrm>
            <a:off x="411480" y="1737360"/>
            <a:ext cx="384048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993392"/>
            <a:ext cx="3474720" cy="384048"/>
          </a:xfrm>
          <a:prstGeom prst="rect">
            <a:avLst/>
          </a:prstGeom>
          <a:noFill/>
        </p:spPr>
        <p:txBody>
          <a:bodyPr wrap="square">
            <a:spAutoFit/>
          </a:bodyPr>
          <a:lstStyle/>
          <a:p>
            <a:pPr algn="l"/>
            <a:r>
              <a:rPr sz="1500" b="1">
                <a:solidFill>
                  <a:srgbClr val="0A2A6E"/>
                </a:solidFill>
                <a:latin typeface="Calibri"/>
              </a:rPr>
              <a:t>Reading the story</a:t>
            </a:r>
          </a:p>
        </p:txBody>
      </p:sp>
      <p:sp>
        <p:nvSpPr>
          <p:cNvPr id="17" name="Rounded Rectangle 16"/>
          <p:cNvSpPr/>
          <p:nvPr/>
        </p:nvSpPr>
        <p:spPr>
          <a:xfrm>
            <a:off x="4480560" y="173736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1993392"/>
            <a:ext cx="2377440" cy="384048"/>
          </a:xfrm>
          <a:prstGeom prst="rect">
            <a:avLst/>
          </a:prstGeom>
          <a:noFill/>
        </p:spPr>
        <p:txBody>
          <a:bodyPr wrap="square">
            <a:spAutoFit/>
          </a:bodyPr>
          <a:lstStyle/>
          <a:p>
            <a:pPr algn="ctr"/>
            <a:r>
              <a:rPr sz="1300" b="1">
                <a:solidFill>
                  <a:srgbClr val="1F2937"/>
                </a:solidFill>
                <a:latin typeface="Calibri"/>
              </a:rPr>
              <a:t>😐 Still tricky</a:t>
            </a:r>
          </a:p>
        </p:txBody>
      </p:sp>
      <p:sp>
        <p:nvSpPr>
          <p:cNvPr id="19" name="Rounded Rectangle 18"/>
          <p:cNvSpPr/>
          <p:nvPr/>
        </p:nvSpPr>
        <p:spPr>
          <a:xfrm>
            <a:off x="6995160" y="173736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60" y="1993392"/>
            <a:ext cx="2377440" cy="384048"/>
          </a:xfrm>
          <a:prstGeom prst="rect">
            <a:avLst/>
          </a:prstGeom>
          <a:noFill/>
        </p:spPr>
        <p:txBody>
          <a:bodyPr wrap="square">
            <a:spAutoFit/>
          </a:bodyPr>
          <a:lstStyle/>
          <a:p>
            <a:pPr algn="ctr"/>
            <a:r>
              <a:rPr sz="1300" b="1">
                <a:solidFill>
                  <a:srgbClr val="1F2937"/>
                </a:solidFill>
                <a:latin typeface="Calibri"/>
              </a:rPr>
              <a:t>🙂 Getting there</a:t>
            </a:r>
          </a:p>
        </p:txBody>
      </p:sp>
      <p:sp>
        <p:nvSpPr>
          <p:cNvPr id="21" name="Rounded Rectangle 20"/>
          <p:cNvSpPr/>
          <p:nvPr/>
        </p:nvSpPr>
        <p:spPr>
          <a:xfrm>
            <a:off x="9509760" y="173736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0" y="1993392"/>
            <a:ext cx="2377440" cy="384048"/>
          </a:xfrm>
          <a:prstGeom prst="rect">
            <a:avLst/>
          </a:prstGeom>
          <a:noFill/>
        </p:spPr>
        <p:txBody>
          <a:bodyPr wrap="square">
            <a:spAutoFit/>
          </a:bodyPr>
          <a:lstStyle/>
          <a:p>
            <a:pPr algn="ctr"/>
            <a:r>
              <a:rPr sz="1300" b="1">
                <a:solidFill>
                  <a:srgbClr val="1F2937"/>
                </a:solidFill>
                <a:latin typeface="Calibri"/>
              </a:rPr>
              <a:t>😃 I've got this!</a:t>
            </a:r>
          </a:p>
        </p:txBody>
      </p:sp>
      <p:sp>
        <p:nvSpPr>
          <p:cNvPr id="23" name="Rounded Rectangle 22"/>
          <p:cNvSpPr/>
          <p:nvPr/>
        </p:nvSpPr>
        <p:spPr>
          <a:xfrm>
            <a:off x="411480" y="2788920"/>
            <a:ext cx="384048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044952"/>
            <a:ext cx="3474720" cy="384048"/>
          </a:xfrm>
          <a:prstGeom prst="rect">
            <a:avLst/>
          </a:prstGeom>
          <a:noFill/>
        </p:spPr>
        <p:txBody>
          <a:bodyPr wrap="square">
            <a:spAutoFit/>
          </a:bodyPr>
          <a:lstStyle/>
          <a:p>
            <a:pPr algn="l"/>
            <a:r>
              <a:rPr sz="1500" b="1">
                <a:solidFill>
                  <a:srgbClr val="0A2A6E"/>
                </a:solidFill>
                <a:latin typeface="Calibri"/>
              </a:rPr>
              <a:t>New words</a:t>
            </a:r>
          </a:p>
        </p:txBody>
      </p:sp>
      <p:sp>
        <p:nvSpPr>
          <p:cNvPr id="25" name="Rounded Rectangle 24"/>
          <p:cNvSpPr/>
          <p:nvPr/>
        </p:nvSpPr>
        <p:spPr>
          <a:xfrm>
            <a:off x="4480560" y="278892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60" y="3044952"/>
            <a:ext cx="2377440" cy="384048"/>
          </a:xfrm>
          <a:prstGeom prst="rect">
            <a:avLst/>
          </a:prstGeom>
          <a:noFill/>
        </p:spPr>
        <p:txBody>
          <a:bodyPr wrap="square">
            <a:spAutoFit/>
          </a:bodyPr>
          <a:lstStyle/>
          <a:p>
            <a:pPr algn="ctr"/>
            <a:r>
              <a:rPr sz="1300" b="1">
                <a:solidFill>
                  <a:srgbClr val="1F2937"/>
                </a:solidFill>
                <a:latin typeface="Calibri"/>
              </a:rPr>
              <a:t>😐 Still tricky</a:t>
            </a:r>
          </a:p>
        </p:txBody>
      </p:sp>
      <p:sp>
        <p:nvSpPr>
          <p:cNvPr id="27" name="Rounded Rectangle 26"/>
          <p:cNvSpPr/>
          <p:nvPr/>
        </p:nvSpPr>
        <p:spPr>
          <a:xfrm>
            <a:off x="6995160" y="278892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3044952"/>
            <a:ext cx="2377440" cy="384048"/>
          </a:xfrm>
          <a:prstGeom prst="rect">
            <a:avLst/>
          </a:prstGeom>
          <a:noFill/>
        </p:spPr>
        <p:txBody>
          <a:bodyPr wrap="square">
            <a:spAutoFit/>
          </a:bodyPr>
          <a:lstStyle/>
          <a:p>
            <a:pPr algn="ctr"/>
            <a:r>
              <a:rPr sz="1300" b="1">
                <a:solidFill>
                  <a:srgbClr val="1F2937"/>
                </a:solidFill>
                <a:latin typeface="Calibri"/>
              </a:rPr>
              <a:t>🙂 Getting there</a:t>
            </a:r>
          </a:p>
        </p:txBody>
      </p:sp>
      <p:sp>
        <p:nvSpPr>
          <p:cNvPr id="29" name="Rounded Rectangle 28"/>
          <p:cNvSpPr/>
          <p:nvPr/>
        </p:nvSpPr>
        <p:spPr>
          <a:xfrm>
            <a:off x="9509760" y="278892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09760" y="3044952"/>
            <a:ext cx="2377440" cy="384048"/>
          </a:xfrm>
          <a:prstGeom prst="rect">
            <a:avLst/>
          </a:prstGeom>
          <a:noFill/>
        </p:spPr>
        <p:txBody>
          <a:bodyPr wrap="square">
            <a:spAutoFit/>
          </a:bodyPr>
          <a:lstStyle/>
          <a:p>
            <a:pPr algn="ctr"/>
            <a:r>
              <a:rPr sz="1300" b="1">
                <a:solidFill>
                  <a:srgbClr val="1F2937"/>
                </a:solidFill>
                <a:latin typeface="Calibri"/>
              </a:rPr>
              <a:t>😃 I've got this!</a:t>
            </a:r>
          </a:p>
        </p:txBody>
      </p:sp>
      <p:sp>
        <p:nvSpPr>
          <p:cNvPr id="31" name="Rounded Rectangle 30"/>
          <p:cNvSpPr/>
          <p:nvPr/>
        </p:nvSpPr>
        <p:spPr>
          <a:xfrm>
            <a:off x="411480" y="3840479"/>
            <a:ext cx="384048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4096511"/>
            <a:ext cx="3474720" cy="384048"/>
          </a:xfrm>
          <a:prstGeom prst="rect">
            <a:avLst/>
          </a:prstGeom>
          <a:noFill/>
        </p:spPr>
        <p:txBody>
          <a:bodyPr wrap="square">
            <a:spAutoFit/>
          </a:bodyPr>
          <a:lstStyle/>
          <a:p>
            <a:pPr algn="l"/>
            <a:r>
              <a:rPr sz="1500" b="1">
                <a:solidFill>
                  <a:srgbClr val="0A2A6E"/>
                </a:solidFill>
                <a:latin typeface="Calibri"/>
              </a:rPr>
              <a:t>Tenses</a:t>
            </a:r>
          </a:p>
        </p:txBody>
      </p:sp>
      <p:sp>
        <p:nvSpPr>
          <p:cNvPr id="33" name="Rounded Rectangle 32"/>
          <p:cNvSpPr/>
          <p:nvPr/>
        </p:nvSpPr>
        <p:spPr>
          <a:xfrm>
            <a:off x="4480560" y="3840479"/>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80560" y="4096511"/>
            <a:ext cx="2377440" cy="384048"/>
          </a:xfrm>
          <a:prstGeom prst="rect">
            <a:avLst/>
          </a:prstGeom>
          <a:noFill/>
        </p:spPr>
        <p:txBody>
          <a:bodyPr wrap="square">
            <a:spAutoFit/>
          </a:bodyPr>
          <a:lstStyle/>
          <a:p>
            <a:pPr algn="ctr"/>
            <a:r>
              <a:rPr sz="1300" b="1">
                <a:solidFill>
                  <a:srgbClr val="1F2937"/>
                </a:solidFill>
                <a:latin typeface="Calibri"/>
              </a:rPr>
              <a:t>😐 Still tricky</a:t>
            </a:r>
          </a:p>
        </p:txBody>
      </p:sp>
      <p:sp>
        <p:nvSpPr>
          <p:cNvPr id="35" name="Rounded Rectangle 34"/>
          <p:cNvSpPr/>
          <p:nvPr/>
        </p:nvSpPr>
        <p:spPr>
          <a:xfrm>
            <a:off x="6995160" y="3840479"/>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95160" y="4096511"/>
            <a:ext cx="2377440" cy="384048"/>
          </a:xfrm>
          <a:prstGeom prst="rect">
            <a:avLst/>
          </a:prstGeom>
          <a:noFill/>
        </p:spPr>
        <p:txBody>
          <a:bodyPr wrap="square">
            <a:spAutoFit/>
          </a:bodyPr>
          <a:lstStyle/>
          <a:p>
            <a:pPr algn="ctr"/>
            <a:r>
              <a:rPr sz="1300" b="1">
                <a:solidFill>
                  <a:srgbClr val="1F2937"/>
                </a:solidFill>
                <a:latin typeface="Calibri"/>
              </a:rPr>
              <a:t>🙂 Getting there</a:t>
            </a:r>
          </a:p>
        </p:txBody>
      </p:sp>
      <p:sp>
        <p:nvSpPr>
          <p:cNvPr id="37" name="Rounded Rectangle 36"/>
          <p:cNvSpPr/>
          <p:nvPr/>
        </p:nvSpPr>
        <p:spPr>
          <a:xfrm>
            <a:off x="9509760" y="3840479"/>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09760" y="4096511"/>
            <a:ext cx="2377440" cy="384048"/>
          </a:xfrm>
          <a:prstGeom prst="rect">
            <a:avLst/>
          </a:prstGeom>
          <a:noFill/>
        </p:spPr>
        <p:txBody>
          <a:bodyPr wrap="square">
            <a:spAutoFit/>
          </a:bodyPr>
          <a:lstStyle/>
          <a:p>
            <a:pPr algn="ctr"/>
            <a:r>
              <a:rPr sz="1300" b="1">
                <a:solidFill>
                  <a:srgbClr val="1F2937"/>
                </a:solidFill>
                <a:latin typeface="Calibri"/>
              </a:rPr>
              <a:t>😃 I've got this!</a:t>
            </a:r>
          </a:p>
        </p:txBody>
      </p:sp>
      <p:sp>
        <p:nvSpPr>
          <p:cNvPr id="39" name="Rounded Rectangle 38"/>
          <p:cNvSpPr/>
          <p:nvPr/>
        </p:nvSpPr>
        <p:spPr>
          <a:xfrm>
            <a:off x="411480" y="4892040"/>
            <a:ext cx="384048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148072"/>
            <a:ext cx="3474720" cy="384048"/>
          </a:xfrm>
          <a:prstGeom prst="rect">
            <a:avLst/>
          </a:prstGeom>
          <a:noFill/>
        </p:spPr>
        <p:txBody>
          <a:bodyPr wrap="square">
            <a:spAutoFit/>
          </a:bodyPr>
          <a:lstStyle/>
          <a:p>
            <a:pPr algn="l"/>
            <a:r>
              <a:rPr sz="1500" b="1">
                <a:solidFill>
                  <a:srgbClr val="0A2A6E"/>
                </a:solidFill>
                <a:latin typeface="Calibri"/>
              </a:rPr>
              <a:t>Speaking out loud</a:t>
            </a:r>
          </a:p>
        </p:txBody>
      </p:sp>
      <p:sp>
        <p:nvSpPr>
          <p:cNvPr id="41" name="Rounded Rectangle 40"/>
          <p:cNvSpPr/>
          <p:nvPr/>
        </p:nvSpPr>
        <p:spPr>
          <a:xfrm>
            <a:off x="4480560" y="489204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80560" y="5148072"/>
            <a:ext cx="2377440" cy="384048"/>
          </a:xfrm>
          <a:prstGeom prst="rect">
            <a:avLst/>
          </a:prstGeom>
          <a:noFill/>
        </p:spPr>
        <p:txBody>
          <a:bodyPr wrap="square">
            <a:spAutoFit/>
          </a:bodyPr>
          <a:lstStyle/>
          <a:p>
            <a:pPr algn="ctr"/>
            <a:r>
              <a:rPr sz="1300" b="1">
                <a:solidFill>
                  <a:srgbClr val="1F2937"/>
                </a:solidFill>
                <a:latin typeface="Calibri"/>
              </a:rPr>
              <a:t>😐 Still tricky</a:t>
            </a:r>
          </a:p>
        </p:txBody>
      </p:sp>
      <p:sp>
        <p:nvSpPr>
          <p:cNvPr id="43" name="Rounded Rectangle 42"/>
          <p:cNvSpPr/>
          <p:nvPr/>
        </p:nvSpPr>
        <p:spPr>
          <a:xfrm>
            <a:off x="6995160" y="489204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95160" y="5148072"/>
            <a:ext cx="2377440" cy="384048"/>
          </a:xfrm>
          <a:prstGeom prst="rect">
            <a:avLst/>
          </a:prstGeom>
          <a:noFill/>
        </p:spPr>
        <p:txBody>
          <a:bodyPr wrap="square">
            <a:spAutoFit/>
          </a:bodyPr>
          <a:lstStyle/>
          <a:p>
            <a:pPr algn="ctr"/>
            <a:r>
              <a:rPr sz="1300" b="1">
                <a:solidFill>
                  <a:srgbClr val="1F2937"/>
                </a:solidFill>
                <a:latin typeface="Calibri"/>
              </a:rPr>
              <a:t>🙂 Getting there</a:t>
            </a:r>
          </a:p>
        </p:txBody>
      </p:sp>
      <p:sp>
        <p:nvSpPr>
          <p:cNvPr id="45" name="Rounded Rectangle 44"/>
          <p:cNvSpPr/>
          <p:nvPr/>
        </p:nvSpPr>
        <p:spPr>
          <a:xfrm>
            <a:off x="9509760" y="4892040"/>
            <a:ext cx="2377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09760" y="5148072"/>
            <a:ext cx="2377440" cy="384048"/>
          </a:xfrm>
          <a:prstGeom prst="rect">
            <a:avLst/>
          </a:prstGeom>
          <a:noFill/>
        </p:spPr>
        <p:txBody>
          <a:bodyPr wrap="square">
            <a:spAutoFit/>
          </a:bodyPr>
          <a:lstStyle/>
          <a:p>
            <a:pPr algn="ctr"/>
            <a:r>
              <a:rPr sz="1300" b="1">
                <a:solidFill>
                  <a:srgbClr val="1F2937"/>
                </a:solidFill>
                <a:latin typeface="Calibri"/>
              </a:rPr>
              <a:t>😃 I've got this!</a:t>
            </a:r>
          </a:p>
        </p:txBody>
      </p:sp>
      <p:sp>
        <p:nvSpPr>
          <p:cNvPr id="47" name="Rounded Rectangle 46"/>
          <p:cNvSpPr/>
          <p:nvPr/>
        </p:nvSpPr>
        <p:spPr>
          <a:xfrm>
            <a:off x="411480" y="6035040"/>
            <a:ext cx="11338560" cy="310896"/>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6053328"/>
            <a:ext cx="10881360" cy="274320"/>
          </a:xfrm>
          <a:prstGeom prst="rect">
            <a:avLst/>
          </a:prstGeom>
          <a:noFill/>
        </p:spPr>
        <p:txBody>
          <a:bodyPr wrap="square">
            <a:spAutoFit/>
          </a:bodyPr>
          <a:lstStyle/>
          <a:p>
            <a:pPr algn="l"/>
            <a:r>
              <a:rPr sz="1300" b="1">
                <a:solidFill>
                  <a:srgbClr val="0A2A6E"/>
                </a:solidFill>
                <a:latin typeface="Calibri"/>
              </a:rPr>
              <a:t>⭐ My favorite part of today was: ________________________________________</a:t>
            </a:r>
          </a:p>
        </p:txBody>
      </p:sp>
    </p:spTree>
  </p:cSld>
  <p:clrMapOvr>
    <a:masterClrMapping/>
  </p:clrMapOvr>
  <p:transition spd="med"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HOMEWORK</a:t>
            </a:r>
          </a:p>
        </p:txBody>
      </p:sp>
      <p:sp>
        <p:nvSpPr>
          <p:cNvPr id="6" name="Rounded Rectangle 5"/>
          <p:cNvSpPr/>
          <p:nvPr/>
        </p:nvSpPr>
        <p:spPr>
          <a:xfrm>
            <a:off x="9555480" y="237744"/>
            <a:ext cx="2286000" cy="347472"/>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58–60 min</a:t>
            </a:r>
          </a:p>
        </p:txBody>
      </p:sp>
      <p:sp>
        <p:nvSpPr>
          <p:cNvPr id="8" name="TextBox 7"/>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Fun Practice (Only If You Want!)</a:t>
            </a:r>
          </a:p>
        </p:txBody>
      </p:sp>
      <p:sp>
        <p:nvSpPr>
          <p:cNvPr id="9" name="Rectangle 8"/>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37376"/>
            <a:ext cx="10873673"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Homework  |  58–60 min</a:t>
            </a:r>
          </a:p>
        </p:txBody>
      </p:sp>
      <p:sp>
        <p:nvSpPr>
          <p:cNvPr id="13" name="TextBox 12"/>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33 / 37</a:t>
            </a:r>
          </a:p>
        </p:txBody>
      </p:sp>
      <p:sp>
        <p:nvSpPr>
          <p:cNvPr id="14" name="Rounded Rectangle 13"/>
          <p:cNvSpPr/>
          <p:nvPr/>
        </p:nvSpPr>
        <p:spPr>
          <a:xfrm>
            <a:off x="457200" y="1371600"/>
            <a:ext cx="54864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1920240"/>
            <a:ext cx="914400" cy="91440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10312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17" name="TextBox 16"/>
          <p:cNvSpPr txBox="1"/>
          <p:nvPr/>
        </p:nvSpPr>
        <p:spPr>
          <a:xfrm>
            <a:off x="1874520" y="1874520"/>
            <a:ext cx="3840480" cy="868680"/>
          </a:xfrm>
          <a:prstGeom prst="rect">
            <a:avLst/>
          </a:prstGeom>
          <a:noFill/>
        </p:spPr>
        <p:txBody>
          <a:bodyPr wrap="square">
            <a:spAutoFit/>
          </a:bodyPr>
          <a:lstStyle/>
          <a:p>
            <a:pPr algn="l"/>
            <a:r>
              <a:rPr sz="1500" b="1">
                <a:solidFill>
                  <a:srgbClr val="0A2A6E"/>
                </a:solidFill>
                <a:latin typeface="Calibri"/>
              </a:rPr>
              <a:t>Tell a family member the turtle story</a:t>
            </a:r>
          </a:p>
        </p:txBody>
      </p:sp>
      <p:sp>
        <p:nvSpPr>
          <p:cNvPr id="18" name="Rounded Rectangle 17"/>
          <p:cNvSpPr/>
          <p:nvPr/>
        </p:nvSpPr>
        <p:spPr>
          <a:xfrm>
            <a:off x="1874520" y="2743200"/>
            <a:ext cx="1554480" cy="365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74520" y="2798064"/>
            <a:ext cx="1554480" cy="292608"/>
          </a:xfrm>
          <a:prstGeom prst="rect">
            <a:avLst/>
          </a:prstGeom>
          <a:noFill/>
        </p:spPr>
        <p:txBody>
          <a:bodyPr wrap="square">
            <a:spAutoFit/>
          </a:bodyPr>
          <a:lstStyle/>
          <a:p>
            <a:pPr algn="ctr"/>
            <a:r>
              <a:rPr sz="1100" b="1">
                <a:solidFill>
                  <a:srgbClr val="0A2A6E"/>
                </a:solidFill>
                <a:latin typeface="Calibri"/>
              </a:rPr>
              <a:t>5 minutes</a:t>
            </a:r>
          </a:p>
        </p:txBody>
      </p:sp>
      <p:sp>
        <p:nvSpPr>
          <p:cNvPr id="20" name="Rounded Rectangle 19"/>
          <p:cNvSpPr/>
          <p:nvPr/>
        </p:nvSpPr>
        <p:spPr>
          <a:xfrm>
            <a:off x="6217920" y="1371600"/>
            <a:ext cx="54864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73952" y="1920240"/>
            <a:ext cx="914400" cy="91440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10312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23" name="TextBox 22"/>
          <p:cNvSpPr txBox="1"/>
          <p:nvPr/>
        </p:nvSpPr>
        <p:spPr>
          <a:xfrm>
            <a:off x="7635240" y="1874520"/>
            <a:ext cx="3840480" cy="868680"/>
          </a:xfrm>
          <a:prstGeom prst="rect">
            <a:avLst/>
          </a:prstGeom>
          <a:noFill/>
        </p:spPr>
        <p:txBody>
          <a:bodyPr wrap="square">
            <a:spAutoFit/>
          </a:bodyPr>
          <a:lstStyle/>
          <a:p>
            <a:pPr algn="l"/>
            <a:r>
              <a:rPr sz="1500" b="1">
                <a:solidFill>
                  <a:srgbClr val="0A2A6E"/>
                </a:solidFill>
                <a:latin typeface="Calibri"/>
              </a:rPr>
              <a:t>Write 3 sentences: yesterday, today, tomorrow</a:t>
            </a:r>
          </a:p>
        </p:txBody>
      </p:sp>
      <p:sp>
        <p:nvSpPr>
          <p:cNvPr id="24" name="Rounded Rectangle 23"/>
          <p:cNvSpPr/>
          <p:nvPr/>
        </p:nvSpPr>
        <p:spPr>
          <a:xfrm>
            <a:off x="7635240" y="2743200"/>
            <a:ext cx="1554480" cy="365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0" y="2798064"/>
            <a:ext cx="1554480" cy="292608"/>
          </a:xfrm>
          <a:prstGeom prst="rect">
            <a:avLst/>
          </a:prstGeom>
          <a:noFill/>
        </p:spPr>
        <p:txBody>
          <a:bodyPr wrap="square">
            <a:spAutoFit/>
          </a:bodyPr>
          <a:lstStyle/>
          <a:p>
            <a:pPr algn="ctr"/>
            <a:r>
              <a:rPr sz="1100" b="1">
                <a:solidFill>
                  <a:srgbClr val="0A2A6E"/>
                </a:solidFill>
                <a:latin typeface="Calibri"/>
              </a:rPr>
              <a:t>5 minutes</a:t>
            </a:r>
          </a:p>
        </p:txBody>
      </p:sp>
      <p:sp>
        <p:nvSpPr>
          <p:cNvPr id="26" name="Rounded Rectangle 25"/>
          <p:cNvSpPr/>
          <p:nvPr/>
        </p:nvSpPr>
        <p:spPr>
          <a:xfrm>
            <a:off x="457200" y="3611880"/>
            <a:ext cx="54864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13232" y="4160520"/>
            <a:ext cx="914400" cy="91440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434340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29" name="TextBox 28"/>
          <p:cNvSpPr txBox="1"/>
          <p:nvPr/>
        </p:nvSpPr>
        <p:spPr>
          <a:xfrm>
            <a:off x="1874520" y="4114800"/>
            <a:ext cx="3840480" cy="868680"/>
          </a:xfrm>
          <a:prstGeom prst="rect">
            <a:avLst/>
          </a:prstGeom>
          <a:noFill/>
        </p:spPr>
        <p:txBody>
          <a:bodyPr wrap="square">
            <a:spAutoFit/>
          </a:bodyPr>
          <a:lstStyle/>
          <a:p>
            <a:pPr algn="l"/>
            <a:r>
              <a:rPr sz="1500" b="1">
                <a:solidFill>
                  <a:srgbClr val="0A2A6E"/>
                </a:solidFill>
                <a:latin typeface="Calibri"/>
              </a:rPr>
              <a:t>Spot 5 past-tense verbs in any book</a:t>
            </a:r>
          </a:p>
        </p:txBody>
      </p:sp>
      <p:sp>
        <p:nvSpPr>
          <p:cNvPr id="30" name="Rounded Rectangle 29"/>
          <p:cNvSpPr/>
          <p:nvPr/>
        </p:nvSpPr>
        <p:spPr>
          <a:xfrm>
            <a:off x="1874520" y="4983480"/>
            <a:ext cx="1554480" cy="365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74520" y="5038344"/>
            <a:ext cx="1554480" cy="292608"/>
          </a:xfrm>
          <a:prstGeom prst="rect">
            <a:avLst/>
          </a:prstGeom>
          <a:noFill/>
        </p:spPr>
        <p:txBody>
          <a:bodyPr wrap="square">
            <a:spAutoFit/>
          </a:bodyPr>
          <a:lstStyle/>
          <a:p>
            <a:pPr algn="ctr"/>
            <a:r>
              <a:rPr sz="1100" b="1">
                <a:solidFill>
                  <a:srgbClr val="0A2A6E"/>
                </a:solidFill>
                <a:latin typeface="Calibri"/>
              </a:rPr>
              <a:t>10 minutes</a:t>
            </a:r>
          </a:p>
        </p:txBody>
      </p:sp>
      <p:sp>
        <p:nvSpPr>
          <p:cNvPr id="32" name="Rounded Rectangle 31"/>
          <p:cNvSpPr/>
          <p:nvPr/>
        </p:nvSpPr>
        <p:spPr>
          <a:xfrm>
            <a:off x="6217920" y="3611880"/>
            <a:ext cx="548640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73952" y="4160520"/>
            <a:ext cx="914400" cy="91440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3952" y="4343400"/>
            <a:ext cx="914400" cy="548640"/>
          </a:xfrm>
          <a:prstGeom prst="rect">
            <a:avLst/>
          </a:prstGeom>
          <a:noFill/>
        </p:spPr>
        <p:txBody>
          <a:bodyPr wrap="square">
            <a:spAutoFit/>
          </a:bodyPr>
          <a:lstStyle/>
          <a:p>
            <a:pPr algn="ctr"/>
            <a:r>
              <a:rPr sz="2400" b="0">
                <a:solidFill>
                  <a:srgbClr val="1F2937"/>
                </a:solidFill>
                <a:latin typeface="Calibri"/>
              </a:rPr>
              <a:t>🎨</a:t>
            </a:r>
          </a:p>
        </p:txBody>
      </p:sp>
      <p:sp>
        <p:nvSpPr>
          <p:cNvPr id="35" name="TextBox 34"/>
          <p:cNvSpPr txBox="1"/>
          <p:nvPr/>
        </p:nvSpPr>
        <p:spPr>
          <a:xfrm>
            <a:off x="7635240" y="4114800"/>
            <a:ext cx="3840480" cy="868680"/>
          </a:xfrm>
          <a:prstGeom prst="rect">
            <a:avLst/>
          </a:prstGeom>
          <a:noFill/>
        </p:spPr>
        <p:txBody>
          <a:bodyPr wrap="square">
            <a:spAutoFit/>
          </a:bodyPr>
          <a:lstStyle/>
          <a:p>
            <a:pPr algn="l"/>
            <a:r>
              <a:rPr sz="1500" b="1">
                <a:solidFill>
                  <a:srgbClr val="0A2A6E"/>
                </a:solidFill>
                <a:latin typeface="Calibri"/>
              </a:rPr>
              <a:t>Draw your favorite scene and label it</a:t>
            </a:r>
          </a:p>
        </p:txBody>
      </p:sp>
      <p:sp>
        <p:nvSpPr>
          <p:cNvPr id="36" name="Rounded Rectangle 35"/>
          <p:cNvSpPr/>
          <p:nvPr/>
        </p:nvSpPr>
        <p:spPr>
          <a:xfrm>
            <a:off x="7635240" y="4983480"/>
            <a:ext cx="1554480" cy="36576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35240" y="5038344"/>
            <a:ext cx="1554480" cy="292608"/>
          </a:xfrm>
          <a:prstGeom prst="rect">
            <a:avLst/>
          </a:prstGeom>
          <a:noFill/>
        </p:spPr>
        <p:txBody>
          <a:bodyPr wrap="square">
            <a:spAutoFit/>
          </a:bodyPr>
          <a:lstStyle/>
          <a:p>
            <a:pPr algn="ctr"/>
            <a:r>
              <a:rPr sz="1100" b="1">
                <a:solidFill>
                  <a:srgbClr val="0A2A6E"/>
                </a:solidFill>
                <a:latin typeface="Calibri"/>
              </a:rPr>
              <a:t>10 minutes</a:t>
            </a:r>
          </a:p>
        </p:txBody>
      </p:sp>
      <p:sp>
        <p:nvSpPr>
          <p:cNvPr id="38" name="TextBox 37"/>
          <p:cNvSpPr txBox="1"/>
          <p:nvPr/>
        </p:nvSpPr>
        <p:spPr>
          <a:xfrm>
            <a:off x="457200" y="5897880"/>
            <a:ext cx="8686800" cy="365760"/>
          </a:xfrm>
          <a:prstGeom prst="rect">
            <a:avLst/>
          </a:prstGeom>
          <a:noFill/>
        </p:spPr>
        <p:txBody>
          <a:bodyPr wrap="square">
            <a:spAutoFit/>
          </a:bodyPr>
          <a:lstStyle/>
          <a:p>
            <a:pPr algn="l"/>
            <a:r>
              <a:rPr sz="1400" b="1">
                <a:solidFill>
                  <a:srgbClr val="FF6F61"/>
                </a:solidFill>
                <a:latin typeface="Calibri"/>
              </a:rPr>
              <a:t>🎁 Pick just ONE. Doing one thing well beats doing four in a rush.</a:t>
            </a:r>
          </a:p>
        </p:txBody>
      </p:sp>
    </p:spTree>
  </p:cSld>
  <p:clrMapOvr>
    <a:masterClrMapping/>
  </p:clrMapOvr>
  <p:transition spd="med"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1188720"/>
            <a:ext cx="777240" cy="77724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7040" y="1463040"/>
            <a:ext cx="777240" cy="77724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45920" y="5120640"/>
            <a:ext cx="777240" cy="77724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058400" y="4937760"/>
            <a:ext cx="777240" cy="77724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051560"/>
            <a:ext cx="10972800" cy="640080"/>
          </a:xfrm>
          <a:prstGeom prst="rect">
            <a:avLst/>
          </a:prstGeom>
          <a:noFill/>
        </p:spPr>
        <p:txBody>
          <a:bodyPr wrap="square">
            <a:spAutoFit/>
          </a:bodyPr>
          <a:lstStyle/>
          <a:p>
            <a:pPr algn="ctr"/>
            <a:r>
              <a:rPr sz="4000" b="1">
                <a:solidFill>
                  <a:srgbClr val="FFD54F"/>
                </a:solidFill>
                <a:latin typeface="Georgia"/>
              </a:rPr>
              <a:t>🎉 CONGRATULATIONS! 🎉</a:t>
            </a:r>
          </a:p>
        </p:txBody>
      </p:sp>
      <p:sp>
        <p:nvSpPr>
          <p:cNvPr id="9" name="Oval 8"/>
          <p:cNvSpPr/>
          <p:nvPr/>
        </p:nvSpPr>
        <p:spPr>
          <a:xfrm>
            <a:off x="4956048" y="1965960"/>
            <a:ext cx="2286000" cy="228600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2514600"/>
            <a:ext cx="2286000" cy="1188720"/>
          </a:xfrm>
          <a:prstGeom prst="rect">
            <a:avLst/>
          </a:prstGeom>
          <a:noFill/>
        </p:spPr>
        <p:txBody>
          <a:bodyPr wrap="square">
            <a:spAutoFit/>
          </a:bodyPr>
          <a:lstStyle/>
          <a:p>
            <a:pPr algn="ctr"/>
            <a:r>
              <a:rPr sz="6000" b="0">
                <a:solidFill>
                  <a:srgbClr val="1F2937"/>
                </a:solidFill>
                <a:latin typeface="Calibri"/>
              </a:rPr>
              <a:t>🏆</a:t>
            </a:r>
          </a:p>
        </p:txBody>
      </p:sp>
      <p:sp>
        <p:nvSpPr>
          <p:cNvPr id="11" name="TextBox 10"/>
          <p:cNvSpPr txBox="1"/>
          <p:nvPr/>
        </p:nvSpPr>
        <p:spPr>
          <a:xfrm>
            <a:off x="640080" y="4526280"/>
            <a:ext cx="10972800" cy="457200"/>
          </a:xfrm>
          <a:prstGeom prst="rect">
            <a:avLst/>
          </a:prstGeom>
          <a:noFill/>
        </p:spPr>
        <p:txBody>
          <a:bodyPr wrap="square">
            <a:spAutoFit/>
          </a:bodyPr>
          <a:lstStyle/>
          <a:p>
            <a:pPr algn="ctr"/>
            <a:r>
              <a:rPr sz="2600" b="1">
                <a:solidFill>
                  <a:srgbClr val="FFFFFF"/>
                </a:solidFill>
                <a:latin typeface="Georgia"/>
              </a:rPr>
              <a:t>You are officially an ENGLISH ADVENTURER!</a:t>
            </a:r>
          </a:p>
        </p:txBody>
      </p:sp>
      <p:sp>
        <p:nvSpPr>
          <p:cNvPr id="12" name="TextBox 11"/>
          <p:cNvSpPr txBox="1"/>
          <p:nvPr/>
        </p:nvSpPr>
        <p:spPr>
          <a:xfrm>
            <a:off x="640080" y="5120640"/>
            <a:ext cx="10972800" cy="822960"/>
          </a:xfrm>
          <a:prstGeom prst="rect">
            <a:avLst/>
          </a:prstGeom>
          <a:noFill/>
        </p:spPr>
        <p:txBody>
          <a:bodyPr wrap="square">
            <a:spAutoFit/>
          </a:bodyPr>
          <a:lstStyle/>
          <a:p>
            <a:pPr algn="ctr"/>
            <a:r>
              <a:rPr sz="1600" b="0">
                <a:solidFill>
                  <a:srgbClr val="E1F5FE"/>
                </a:solidFill>
                <a:latin typeface="Calibri"/>
              </a:rPr>
              <a:t>You read a real story  •  Learned 12 new words  •  Mastered 5 tenses
Told your own adventure  •  Spoke with confidence</a:t>
            </a:r>
          </a:p>
        </p:txBody>
      </p:sp>
      <p:sp>
        <p:nvSpPr>
          <p:cNvPr id="13" name="Rectangle 12"/>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37376"/>
            <a:ext cx="11203179"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Reward  |  58–60 min</a:t>
            </a:r>
          </a:p>
        </p:txBody>
      </p:sp>
      <p:sp>
        <p:nvSpPr>
          <p:cNvPr id="17" name="TextBox 16"/>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34 / 37</a:t>
            </a:r>
          </a:p>
        </p:txBody>
      </p:sp>
    </p:spTree>
  </p:cSld>
  <p:clrMapOvr>
    <a:masterClrMapping/>
  </p:clrMapOvr>
  <p:transition spd="med"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TEACHER ONLY</a:t>
            </a:r>
          </a:p>
        </p:txBody>
      </p:sp>
      <p:sp>
        <p:nvSpPr>
          <p:cNvPr id="6" name="TextBox 5"/>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Teacher Assessment Rubric</a:t>
            </a:r>
          </a:p>
        </p:txBody>
      </p:sp>
      <p:sp>
        <p:nvSpPr>
          <p:cNvPr id="7" name="Rectangle 6"/>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37376"/>
            <a:ext cx="11532684"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Rubric</a:t>
            </a:r>
          </a:p>
        </p:txBody>
      </p:sp>
      <p:sp>
        <p:nvSpPr>
          <p:cNvPr id="11" name="TextBox 10"/>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35 / 37</a:t>
            </a:r>
          </a:p>
        </p:txBody>
      </p:sp>
      <p:sp>
        <p:nvSpPr>
          <p:cNvPr id="12" name="TextBox 11"/>
          <p:cNvSpPr txBox="1"/>
          <p:nvPr/>
        </p:nvSpPr>
        <p:spPr>
          <a:xfrm>
            <a:off x="411480" y="1188720"/>
            <a:ext cx="11338560" cy="320040"/>
          </a:xfrm>
          <a:prstGeom prst="rect">
            <a:avLst/>
          </a:prstGeom>
          <a:noFill/>
        </p:spPr>
        <p:txBody>
          <a:bodyPr wrap="square">
            <a:spAutoFit/>
          </a:bodyPr>
          <a:lstStyle/>
          <a:p>
            <a:pPr algn="l"/>
            <a:r>
              <a:rPr sz="1300" b="1">
                <a:solidFill>
                  <a:srgbClr val="FF6F61"/>
                </a:solidFill>
                <a:latin typeface="Calibri"/>
              </a:rPr>
              <a:t>Fill in after class. Do NOT show this slide to the student.</a:t>
            </a:r>
          </a:p>
        </p:txBody>
      </p:sp>
      <p:sp>
        <p:nvSpPr>
          <p:cNvPr id="13" name="Rounded Rectangle 12"/>
          <p:cNvSpPr/>
          <p:nvPr/>
        </p:nvSpPr>
        <p:spPr>
          <a:xfrm>
            <a:off x="411480" y="1627632"/>
            <a:ext cx="3840480" cy="457200"/>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709928"/>
            <a:ext cx="3566160" cy="320040"/>
          </a:xfrm>
          <a:prstGeom prst="rect">
            <a:avLst/>
          </a:prstGeom>
          <a:noFill/>
        </p:spPr>
        <p:txBody>
          <a:bodyPr wrap="square">
            <a:spAutoFit/>
          </a:bodyPr>
          <a:lstStyle/>
          <a:p>
            <a:pPr algn="l"/>
            <a:r>
              <a:rPr sz="1300" b="1">
                <a:solidFill>
                  <a:srgbClr val="FFFFFF"/>
                </a:solidFill>
                <a:latin typeface="Calibri"/>
              </a:rPr>
              <a:t>SKILL</a:t>
            </a:r>
          </a:p>
        </p:txBody>
      </p:sp>
      <p:sp>
        <p:nvSpPr>
          <p:cNvPr id="15" name="Rounded Rectangle 14"/>
          <p:cNvSpPr/>
          <p:nvPr/>
        </p:nvSpPr>
        <p:spPr>
          <a:xfrm>
            <a:off x="4389120" y="1627632"/>
            <a:ext cx="5120640" cy="457200"/>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728216"/>
            <a:ext cx="4754880" cy="292608"/>
          </a:xfrm>
          <a:prstGeom prst="rect">
            <a:avLst/>
          </a:prstGeom>
          <a:noFill/>
        </p:spPr>
        <p:txBody>
          <a:bodyPr wrap="square">
            <a:spAutoFit/>
          </a:bodyPr>
          <a:lstStyle/>
          <a:p>
            <a:pPr algn="ctr"/>
            <a:r>
              <a:rPr sz="1000" b="1">
                <a:solidFill>
                  <a:srgbClr val="FFFFFF"/>
                </a:solidFill>
                <a:latin typeface="Calibri"/>
              </a:rPr>
              <a:t>⭐  1 Beginning  ·  2 Developing  ·  3 Good  ·  4 Very Good  ·  5 Excellent</a:t>
            </a:r>
          </a:p>
        </p:txBody>
      </p:sp>
      <p:sp>
        <p:nvSpPr>
          <p:cNvPr id="17" name="Rounded Rectangle 16"/>
          <p:cNvSpPr/>
          <p:nvPr/>
        </p:nvSpPr>
        <p:spPr>
          <a:xfrm>
            <a:off x="9646920" y="1627632"/>
            <a:ext cx="2103120" cy="457200"/>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29800" y="1709928"/>
            <a:ext cx="1828800" cy="320040"/>
          </a:xfrm>
          <a:prstGeom prst="rect">
            <a:avLst/>
          </a:prstGeom>
          <a:noFill/>
        </p:spPr>
        <p:txBody>
          <a:bodyPr wrap="square">
            <a:spAutoFit/>
          </a:bodyPr>
          <a:lstStyle/>
          <a:p>
            <a:pPr algn="l"/>
            <a:r>
              <a:rPr sz="1300" b="1">
                <a:solidFill>
                  <a:srgbClr val="FFFFFF"/>
                </a:solidFill>
                <a:latin typeface="Calibri"/>
              </a:rPr>
              <a:t>NOTES</a:t>
            </a:r>
          </a:p>
        </p:txBody>
      </p:sp>
      <p:sp>
        <p:nvSpPr>
          <p:cNvPr id="19" name="Rounded Rectangle 18"/>
          <p:cNvSpPr/>
          <p:nvPr/>
        </p:nvSpPr>
        <p:spPr>
          <a:xfrm>
            <a:off x="411480" y="2176272"/>
            <a:ext cx="38404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295144"/>
            <a:ext cx="3566160" cy="320040"/>
          </a:xfrm>
          <a:prstGeom prst="rect">
            <a:avLst/>
          </a:prstGeom>
          <a:noFill/>
        </p:spPr>
        <p:txBody>
          <a:bodyPr wrap="square">
            <a:spAutoFit/>
          </a:bodyPr>
          <a:lstStyle/>
          <a:p>
            <a:pPr algn="l"/>
            <a:r>
              <a:rPr sz="1400" b="1">
                <a:solidFill>
                  <a:srgbClr val="0A2A6E"/>
                </a:solidFill>
                <a:latin typeface="Calibri"/>
              </a:rPr>
              <a:t>Reading</a:t>
            </a:r>
          </a:p>
        </p:txBody>
      </p:sp>
      <p:sp>
        <p:nvSpPr>
          <p:cNvPr id="21" name="Rounded Rectangle 20"/>
          <p:cNvSpPr/>
          <p:nvPr/>
        </p:nvSpPr>
        <p:spPr>
          <a:xfrm>
            <a:off x="4389120" y="2176272"/>
            <a:ext cx="512064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2295144"/>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23" name="Rounded Rectangle 22"/>
          <p:cNvSpPr/>
          <p:nvPr/>
        </p:nvSpPr>
        <p:spPr>
          <a:xfrm>
            <a:off x="9646920" y="2176272"/>
            <a:ext cx="210312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2798064"/>
            <a:ext cx="384048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916936"/>
            <a:ext cx="3566160" cy="320040"/>
          </a:xfrm>
          <a:prstGeom prst="rect">
            <a:avLst/>
          </a:prstGeom>
          <a:noFill/>
        </p:spPr>
        <p:txBody>
          <a:bodyPr wrap="square">
            <a:spAutoFit/>
          </a:bodyPr>
          <a:lstStyle/>
          <a:p>
            <a:pPr algn="l"/>
            <a:r>
              <a:rPr sz="1400" b="1">
                <a:solidFill>
                  <a:srgbClr val="0A2A6E"/>
                </a:solidFill>
                <a:latin typeface="Calibri"/>
              </a:rPr>
              <a:t>Vocabulary</a:t>
            </a:r>
          </a:p>
        </p:txBody>
      </p:sp>
      <p:sp>
        <p:nvSpPr>
          <p:cNvPr id="26" name="Rounded Rectangle 25"/>
          <p:cNvSpPr/>
          <p:nvPr/>
        </p:nvSpPr>
        <p:spPr>
          <a:xfrm>
            <a:off x="4389120" y="2798064"/>
            <a:ext cx="512064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916936"/>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28" name="Rounded Rectangle 27"/>
          <p:cNvSpPr/>
          <p:nvPr/>
        </p:nvSpPr>
        <p:spPr>
          <a:xfrm>
            <a:off x="9646920" y="2798064"/>
            <a:ext cx="210312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11480" y="3419856"/>
            <a:ext cx="38404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3538728"/>
            <a:ext cx="3566160" cy="320040"/>
          </a:xfrm>
          <a:prstGeom prst="rect">
            <a:avLst/>
          </a:prstGeom>
          <a:noFill/>
        </p:spPr>
        <p:txBody>
          <a:bodyPr wrap="square">
            <a:spAutoFit/>
          </a:bodyPr>
          <a:lstStyle/>
          <a:p>
            <a:pPr algn="l"/>
            <a:r>
              <a:rPr sz="1400" b="1">
                <a:solidFill>
                  <a:srgbClr val="0A2A6E"/>
                </a:solidFill>
                <a:latin typeface="Calibri"/>
              </a:rPr>
              <a:t>Grammar (Tenses)</a:t>
            </a:r>
          </a:p>
        </p:txBody>
      </p:sp>
      <p:sp>
        <p:nvSpPr>
          <p:cNvPr id="31" name="Rounded Rectangle 30"/>
          <p:cNvSpPr/>
          <p:nvPr/>
        </p:nvSpPr>
        <p:spPr>
          <a:xfrm>
            <a:off x="4389120" y="3419856"/>
            <a:ext cx="512064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0" y="3538728"/>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33" name="Rounded Rectangle 32"/>
          <p:cNvSpPr/>
          <p:nvPr/>
        </p:nvSpPr>
        <p:spPr>
          <a:xfrm>
            <a:off x="9646920" y="3419856"/>
            <a:ext cx="210312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11480" y="4041648"/>
            <a:ext cx="384048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4160520"/>
            <a:ext cx="3566160" cy="320040"/>
          </a:xfrm>
          <a:prstGeom prst="rect">
            <a:avLst/>
          </a:prstGeom>
          <a:noFill/>
        </p:spPr>
        <p:txBody>
          <a:bodyPr wrap="square">
            <a:spAutoFit/>
          </a:bodyPr>
          <a:lstStyle/>
          <a:p>
            <a:pPr algn="l"/>
            <a:r>
              <a:rPr sz="1400" b="1">
                <a:solidFill>
                  <a:srgbClr val="0A2A6E"/>
                </a:solidFill>
                <a:latin typeface="Calibri"/>
              </a:rPr>
              <a:t>Speaking</a:t>
            </a:r>
          </a:p>
        </p:txBody>
      </p:sp>
      <p:sp>
        <p:nvSpPr>
          <p:cNvPr id="36" name="Rounded Rectangle 35"/>
          <p:cNvSpPr/>
          <p:nvPr/>
        </p:nvSpPr>
        <p:spPr>
          <a:xfrm>
            <a:off x="4389120" y="4041648"/>
            <a:ext cx="512064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0" y="4160520"/>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38" name="Rounded Rectangle 37"/>
          <p:cNvSpPr/>
          <p:nvPr/>
        </p:nvSpPr>
        <p:spPr>
          <a:xfrm>
            <a:off x="9646920" y="4041648"/>
            <a:ext cx="210312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11480" y="4663440"/>
            <a:ext cx="38404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4782312"/>
            <a:ext cx="3566160" cy="320040"/>
          </a:xfrm>
          <a:prstGeom prst="rect">
            <a:avLst/>
          </a:prstGeom>
          <a:noFill/>
        </p:spPr>
        <p:txBody>
          <a:bodyPr wrap="square">
            <a:spAutoFit/>
          </a:bodyPr>
          <a:lstStyle/>
          <a:p>
            <a:pPr algn="l"/>
            <a:r>
              <a:rPr sz="1400" b="1">
                <a:solidFill>
                  <a:srgbClr val="0A2A6E"/>
                </a:solidFill>
                <a:latin typeface="Calibri"/>
              </a:rPr>
              <a:t>Pronunciation</a:t>
            </a:r>
          </a:p>
        </p:txBody>
      </p:sp>
      <p:sp>
        <p:nvSpPr>
          <p:cNvPr id="41" name="Rounded Rectangle 40"/>
          <p:cNvSpPr/>
          <p:nvPr/>
        </p:nvSpPr>
        <p:spPr>
          <a:xfrm>
            <a:off x="4389120" y="4663440"/>
            <a:ext cx="512064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0" y="4782312"/>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43" name="Rounded Rectangle 42"/>
          <p:cNvSpPr/>
          <p:nvPr/>
        </p:nvSpPr>
        <p:spPr>
          <a:xfrm>
            <a:off x="9646920" y="4663440"/>
            <a:ext cx="210312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11480" y="5285232"/>
            <a:ext cx="384048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5404104"/>
            <a:ext cx="3566160" cy="320040"/>
          </a:xfrm>
          <a:prstGeom prst="rect">
            <a:avLst/>
          </a:prstGeom>
          <a:noFill/>
        </p:spPr>
        <p:txBody>
          <a:bodyPr wrap="square">
            <a:spAutoFit/>
          </a:bodyPr>
          <a:lstStyle/>
          <a:p>
            <a:pPr algn="l"/>
            <a:r>
              <a:rPr sz="1400" b="1">
                <a:solidFill>
                  <a:srgbClr val="0A2A6E"/>
                </a:solidFill>
                <a:latin typeface="Calibri"/>
              </a:rPr>
              <a:t>Confidence</a:t>
            </a:r>
          </a:p>
        </p:txBody>
      </p:sp>
      <p:sp>
        <p:nvSpPr>
          <p:cNvPr id="46" name="Rounded Rectangle 45"/>
          <p:cNvSpPr/>
          <p:nvPr/>
        </p:nvSpPr>
        <p:spPr>
          <a:xfrm>
            <a:off x="4389120" y="5285232"/>
            <a:ext cx="512064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5404104"/>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48" name="Rounded Rectangle 47"/>
          <p:cNvSpPr/>
          <p:nvPr/>
        </p:nvSpPr>
        <p:spPr>
          <a:xfrm>
            <a:off x="9646920" y="5285232"/>
            <a:ext cx="2103120" cy="530352"/>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11480" y="5907024"/>
            <a:ext cx="38404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94360" y="6025896"/>
            <a:ext cx="3566160" cy="320040"/>
          </a:xfrm>
          <a:prstGeom prst="rect">
            <a:avLst/>
          </a:prstGeom>
          <a:noFill/>
        </p:spPr>
        <p:txBody>
          <a:bodyPr wrap="square">
            <a:spAutoFit/>
          </a:bodyPr>
          <a:lstStyle/>
          <a:p>
            <a:pPr algn="l"/>
            <a:r>
              <a:rPr sz="1400" b="1">
                <a:solidFill>
                  <a:srgbClr val="0A2A6E"/>
                </a:solidFill>
                <a:latin typeface="Calibri"/>
              </a:rPr>
              <a:t>Participation</a:t>
            </a:r>
          </a:p>
        </p:txBody>
      </p:sp>
      <p:sp>
        <p:nvSpPr>
          <p:cNvPr id="51" name="Rounded Rectangle 50"/>
          <p:cNvSpPr/>
          <p:nvPr/>
        </p:nvSpPr>
        <p:spPr>
          <a:xfrm>
            <a:off x="4389120" y="5907024"/>
            <a:ext cx="512064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0" y="6025896"/>
            <a:ext cx="4754880" cy="320040"/>
          </a:xfrm>
          <a:prstGeom prst="rect">
            <a:avLst/>
          </a:prstGeom>
          <a:noFill/>
        </p:spPr>
        <p:txBody>
          <a:bodyPr wrap="square">
            <a:spAutoFit/>
          </a:bodyPr>
          <a:lstStyle/>
          <a:p>
            <a:pPr algn="ctr"/>
            <a:r>
              <a:rPr sz="1500" b="0">
                <a:solidFill>
                  <a:srgbClr val="64748B"/>
                </a:solidFill>
                <a:latin typeface="Calibri"/>
              </a:rPr>
              <a:t>☆    ☆    ☆    ☆    ☆</a:t>
            </a:r>
          </a:p>
        </p:txBody>
      </p:sp>
      <p:sp>
        <p:nvSpPr>
          <p:cNvPr id="53" name="Rounded Rectangle 52"/>
          <p:cNvSpPr/>
          <p:nvPr/>
        </p:nvSpPr>
        <p:spPr>
          <a:xfrm>
            <a:off x="9646920" y="5907024"/>
            <a:ext cx="210312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TEACHER ONLY</a:t>
            </a:r>
          </a:p>
        </p:txBody>
      </p:sp>
      <p:sp>
        <p:nvSpPr>
          <p:cNvPr id="6" name="TextBox 5"/>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Answer Key — Reading &amp; Vocabulary</a:t>
            </a:r>
          </a:p>
        </p:txBody>
      </p:sp>
      <p:sp>
        <p:nvSpPr>
          <p:cNvPr id="7" name="Rectangle 6"/>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37376"/>
            <a:ext cx="11862189"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Answer key</a:t>
            </a:r>
          </a:p>
        </p:txBody>
      </p:sp>
      <p:sp>
        <p:nvSpPr>
          <p:cNvPr id="11" name="TextBox 10"/>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36 / 37</a:t>
            </a:r>
          </a:p>
        </p:txBody>
      </p:sp>
      <p:sp>
        <p:nvSpPr>
          <p:cNvPr id="12" name="TextBox 11"/>
          <p:cNvSpPr txBox="1"/>
          <p:nvPr/>
        </p:nvSpPr>
        <p:spPr>
          <a:xfrm>
            <a:off x="411480" y="1188720"/>
            <a:ext cx="11338560" cy="320040"/>
          </a:xfrm>
          <a:prstGeom prst="rect">
            <a:avLst/>
          </a:prstGeom>
          <a:noFill/>
        </p:spPr>
        <p:txBody>
          <a:bodyPr wrap="square">
            <a:spAutoFit/>
          </a:bodyPr>
          <a:lstStyle/>
          <a:p>
            <a:pPr algn="l"/>
            <a:r>
              <a:rPr sz="1300" b="1">
                <a:solidFill>
                  <a:srgbClr val="FF6F61"/>
                </a:solidFill>
                <a:latin typeface="Calibri"/>
              </a:rPr>
              <a:t>TEACHER ONLY — hide this slide before presenting.</a:t>
            </a:r>
          </a:p>
        </p:txBody>
      </p:sp>
      <p:sp>
        <p:nvSpPr>
          <p:cNvPr id="13" name="Rounded Rectangle 12"/>
          <p:cNvSpPr/>
          <p:nvPr/>
        </p:nvSpPr>
        <p:spPr>
          <a:xfrm>
            <a:off x="411480" y="1627632"/>
            <a:ext cx="55778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810512"/>
            <a:ext cx="5120640" cy="365760"/>
          </a:xfrm>
          <a:prstGeom prst="rect">
            <a:avLst/>
          </a:prstGeom>
          <a:noFill/>
        </p:spPr>
        <p:txBody>
          <a:bodyPr wrap="square">
            <a:spAutoFit/>
          </a:bodyPr>
          <a:lstStyle/>
          <a:p>
            <a:pPr algn="l"/>
            <a:r>
              <a:rPr sz="1600" b="1">
                <a:solidFill>
                  <a:srgbClr val="29B6F6"/>
                </a:solidFill>
                <a:latin typeface="Calibri"/>
              </a:rPr>
              <a:t>📖 Reading — Story Detective</a:t>
            </a:r>
          </a:p>
        </p:txBody>
      </p:sp>
      <p:sp>
        <p:nvSpPr>
          <p:cNvPr id="15" name="TextBox 14"/>
          <p:cNvSpPr txBox="1"/>
          <p:nvPr/>
        </p:nvSpPr>
        <p:spPr>
          <a:xfrm>
            <a:off x="640080" y="2240280"/>
            <a:ext cx="5120640" cy="3749039"/>
          </a:xfrm>
          <a:prstGeom prst="rect">
            <a:avLst/>
          </a:prstGeom>
          <a:noFill/>
        </p:spPr>
        <p:txBody>
          <a:bodyPr wrap="square">
            <a:spAutoFit/>
          </a:bodyPr>
          <a:lstStyle/>
          <a:p>
            <a:pPr>
              <a:spcAft>
                <a:spcPts val="700"/>
              </a:spcAft>
            </a:pPr>
            <a:r>
              <a:rPr sz="1200" b="0">
                <a:solidFill>
                  <a:srgbClr val="1F2937"/>
                </a:solidFill>
                <a:latin typeface="Calibri"/>
              </a:rPr>
              <a:t>•  MC: b) White light confuses baby turtles</a:t>
            </a:r>
          </a:p>
          <a:p>
            <a:pPr>
              <a:spcAft>
                <a:spcPts val="700"/>
              </a:spcAft>
            </a:pPr>
            <a:r>
              <a:rPr sz="1200" b="0">
                <a:solidFill>
                  <a:srgbClr val="1F2937"/>
                </a:solidFill>
                <a:latin typeface="Calibri"/>
              </a:rPr>
              <a:t>•  T/F: FALSE — she built a sand ramp</a:t>
            </a:r>
          </a:p>
          <a:p>
            <a:pPr>
              <a:spcAft>
                <a:spcPts val="700"/>
              </a:spcAft>
            </a:pPr>
            <a:r>
              <a:rPr sz="1200" b="0">
                <a:solidFill>
                  <a:srgbClr val="1F2937"/>
                </a:solidFill>
                <a:latin typeface="Calibri"/>
              </a:rPr>
              <a:t>•  Blank: ninety-two</a:t>
            </a:r>
          </a:p>
          <a:p>
            <a:pPr>
              <a:spcAft>
                <a:spcPts val="700"/>
              </a:spcAft>
            </a:pPr>
            <a:r>
              <a:rPr sz="1200" b="0">
                <a:solidFill>
                  <a:srgbClr val="1F2937"/>
                </a:solidFill>
                <a:latin typeface="Calibri"/>
              </a:rPr>
              <a:t>•  Order: 2, 1, 4, 3</a:t>
            </a:r>
          </a:p>
          <a:p>
            <a:pPr>
              <a:spcAft>
                <a:spcPts val="700"/>
              </a:spcAft>
            </a:pPr>
            <a:r>
              <a:rPr sz="1200" b="0">
                <a:solidFill>
                  <a:srgbClr val="1F2937"/>
                </a:solidFill>
                <a:latin typeface="Calibri"/>
              </a:rPr>
              <a:t>•  Problem: 3 hatchlings trapped in a tire track</a:t>
            </a:r>
          </a:p>
          <a:p>
            <a:pPr>
              <a:spcAft>
                <a:spcPts val="700"/>
              </a:spcAft>
            </a:pPr>
            <a:r>
              <a:rPr sz="1200" b="0">
                <a:solidFill>
                  <a:srgbClr val="1F2937"/>
                </a:solidFill>
                <a:latin typeface="Calibri"/>
              </a:rPr>
              <a:t>•  Main idea: b) A girl helps turtles reach the sea</a:t>
            </a:r>
          </a:p>
          <a:p>
            <a:pPr>
              <a:spcAft>
                <a:spcPts val="700"/>
              </a:spcAft>
            </a:pPr>
            <a:r>
              <a:rPr sz="1200" b="0">
                <a:solidFill>
                  <a:srgbClr val="1F2937"/>
                </a:solidFill>
                <a:latin typeface="Calibri"/>
              </a:rPr>
              <a:t>•  Inference: Maya always helps / Diego knows her well</a:t>
            </a:r>
          </a:p>
          <a:p>
            <a:pPr>
              <a:spcAft>
                <a:spcPts val="700"/>
              </a:spcAft>
            </a:pPr>
            <a:r>
              <a:rPr sz="1200" b="0">
                <a:solidFill>
                  <a:srgbClr val="1F2937"/>
                </a:solidFill>
                <a:latin typeface="Calibri"/>
              </a:rPr>
              <a:t>•  Opinion: any answer with a reason</a:t>
            </a:r>
          </a:p>
        </p:txBody>
      </p:sp>
      <p:sp>
        <p:nvSpPr>
          <p:cNvPr id="16" name="Rounded Rectangle 15"/>
          <p:cNvSpPr/>
          <p:nvPr/>
        </p:nvSpPr>
        <p:spPr>
          <a:xfrm>
            <a:off x="6172200" y="1627632"/>
            <a:ext cx="55778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810512"/>
            <a:ext cx="5120640" cy="365760"/>
          </a:xfrm>
          <a:prstGeom prst="rect">
            <a:avLst/>
          </a:prstGeom>
          <a:noFill/>
        </p:spPr>
        <p:txBody>
          <a:bodyPr wrap="square">
            <a:spAutoFit/>
          </a:bodyPr>
          <a:lstStyle/>
          <a:p>
            <a:pPr algn="l"/>
            <a:r>
              <a:rPr sz="1600" b="1">
                <a:solidFill>
                  <a:srgbClr val="009688"/>
                </a:solidFill>
                <a:latin typeface="Calibri"/>
              </a:rPr>
              <a:t>📚 Vocabulary Games</a:t>
            </a:r>
          </a:p>
        </p:txBody>
      </p:sp>
      <p:sp>
        <p:nvSpPr>
          <p:cNvPr id="18" name="TextBox 17"/>
          <p:cNvSpPr txBox="1"/>
          <p:nvPr/>
        </p:nvSpPr>
        <p:spPr>
          <a:xfrm>
            <a:off x="6400800" y="2240280"/>
            <a:ext cx="5120640" cy="3749039"/>
          </a:xfrm>
          <a:prstGeom prst="rect">
            <a:avLst/>
          </a:prstGeom>
          <a:noFill/>
        </p:spPr>
        <p:txBody>
          <a:bodyPr wrap="square">
            <a:spAutoFit/>
          </a:bodyPr>
          <a:lstStyle/>
          <a:p>
            <a:pPr>
              <a:spcAft>
                <a:spcPts val="1000"/>
              </a:spcAft>
            </a:pPr>
            <a:r>
              <a:rPr sz="1200" b="0">
                <a:solidFill>
                  <a:srgbClr val="1F2937"/>
                </a:solidFill>
                <a:latin typeface="Calibri"/>
              </a:rPr>
              <a:t>•  Guess the Word: hatchling, exhausted, volunteer, journey</a:t>
            </a:r>
          </a:p>
          <a:p>
            <a:pPr>
              <a:spcAft>
                <a:spcPts val="1000"/>
              </a:spcAft>
            </a:pPr>
            <a:r>
              <a:rPr sz="1200" b="0">
                <a:solidFill>
                  <a:srgbClr val="1F2937"/>
                </a:solidFill>
                <a:latin typeface="Calibri"/>
              </a:rPr>
              <a:t>•  Word Detective: exhausted, journey, canyon</a:t>
            </a:r>
          </a:p>
          <a:p>
            <a:pPr>
              <a:spcAft>
                <a:spcPts val="1000"/>
              </a:spcAft>
            </a:pPr>
            <a:r>
              <a:rPr sz="1200" b="0">
                <a:solidFill>
                  <a:srgbClr val="1F2937"/>
                </a:solidFill>
                <a:latin typeface="Calibri"/>
              </a:rPr>
              <a:t>•  Match It: 1–C, 2–E, 3–A, 4–B, 5–D</a:t>
            </a:r>
          </a:p>
          <a:p>
            <a:pPr>
              <a:spcAft>
                <a:spcPts val="1000"/>
              </a:spcAft>
            </a:pPr>
            <a:r>
              <a:rPr sz="1200" b="0">
                <a:solidFill>
                  <a:srgbClr val="1F2937"/>
                </a:solidFill>
                <a:latin typeface="Calibri"/>
              </a:rPr>
              <a:t>•  Use the Word: any correct full sentence</a:t>
            </a:r>
          </a:p>
          <a:p>
            <a:pPr>
              <a:spcAft>
                <a:spcPts val="1000"/>
              </a:spcAft>
            </a:pPr>
            <a:r>
              <a:rPr sz="1200" b="0">
                <a:solidFill>
                  <a:srgbClr val="1F2937"/>
                </a:solidFill>
                <a:latin typeface="Calibri"/>
              </a:rPr>
              <a:t>•  Vocabulary in context: exhausted = very tired</a:t>
            </a:r>
          </a:p>
        </p:txBody>
      </p:sp>
    </p:spTree>
  </p:cSld>
  <p:clrMapOvr>
    <a:masterClrMapping/>
  </p:clrMapOvr>
  <p:transition spd="med"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37744"/>
            <a:ext cx="2651760" cy="347472"/>
          </a:xfrm>
          <a:prstGeom prst="round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TEACHER ONLY</a:t>
            </a:r>
          </a:p>
        </p:txBody>
      </p:sp>
      <p:sp>
        <p:nvSpPr>
          <p:cNvPr id="6" name="TextBox 5"/>
          <p:cNvSpPr txBox="1"/>
          <p:nvPr/>
        </p:nvSpPr>
        <p:spPr>
          <a:xfrm>
            <a:off x="347472" y="694944"/>
            <a:ext cx="11338560" cy="502920"/>
          </a:xfrm>
          <a:prstGeom prst="rect">
            <a:avLst/>
          </a:prstGeom>
          <a:noFill/>
        </p:spPr>
        <p:txBody>
          <a:bodyPr wrap="square">
            <a:spAutoFit/>
          </a:bodyPr>
          <a:lstStyle/>
          <a:p>
            <a:pPr algn="l"/>
            <a:r>
              <a:rPr sz="2600" b="1">
                <a:solidFill>
                  <a:srgbClr val="0A2A6E"/>
                </a:solidFill>
                <a:latin typeface="Georgia"/>
              </a:rPr>
              <a:t>🔑 Answer Key — Grammar &amp; Tense Games</a:t>
            </a:r>
          </a:p>
        </p:txBody>
      </p:sp>
      <p:sp>
        <p:nvSpPr>
          <p:cNvPr id="7" name="Rectangle 6"/>
          <p:cNvSpPr/>
          <p:nvPr/>
        </p:nvSpPr>
        <p:spPr>
          <a:xfrm>
            <a:off x="0" y="6437376"/>
            <a:ext cx="12191695" cy="73152"/>
          </a:xfrm>
          <a:prstGeom prst="rect">
            <a:avLst/>
          </a:prstGeom>
          <a:solidFill>
            <a:srgbClr val="DDE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37376"/>
            <a:ext cx="12191695" cy="73152"/>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424160" cy="274320"/>
          </a:xfrm>
          <a:prstGeom prst="rect">
            <a:avLst/>
          </a:prstGeom>
          <a:noFill/>
        </p:spPr>
        <p:txBody>
          <a:bodyPr wrap="square">
            <a:spAutoFit/>
          </a:bodyPr>
          <a:lstStyle/>
          <a:p>
            <a:pPr algn="l"/>
            <a:r>
              <a:rPr sz="1000" b="0">
                <a:solidFill>
                  <a:srgbClr val="FFFFFF"/>
                </a:solidFill>
                <a:latin typeface="Calibri"/>
              </a:rPr>
              <a:t>Grade 5 English Adventure  |  60 min  |  Answer key</a:t>
            </a:r>
          </a:p>
        </p:txBody>
      </p:sp>
      <p:sp>
        <p:nvSpPr>
          <p:cNvPr id="11" name="TextBox 10"/>
          <p:cNvSpPr txBox="1"/>
          <p:nvPr/>
        </p:nvSpPr>
        <p:spPr>
          <a:xfrm>
            <a:off x="10881360" y="6537960"/>
            <a:ext cx="1051560" cy="274320"/>
          </a:xfrm>
          <a:prstGeom prst="rect">
            <a:avLst/>
          </a:prstGeom>
          <a:noFill/>
        </p:spPr>
        <p:txBody>
          <a:bodyPr wrap="square">
            <a:spAutoFit/>
          </a:bodyPr>
          <a:lstStyle/>
          <a:p>
            <a:pPr algn="r"/>
            <a:r>
              <a:rPr sz="1000" b="0">
                <a:solidFill>
                  <a:srgbClr val="FFFFFF"/>
                </a:solidFill>
                <a:latin typeface="Calibri"/>
              </a:rPr>
              <a:t>37 / 37</a:t>
            </a:r>
          </a:p>
        </p:txBody>
      </p:sp>
      <p:sp>
        <p:nvSpPr>
          <p:cNvPr id="12" name="TextBox 11"/>
          <p:cNvSpPr txBox="1"/>
          <p:nvPr/>
        </p:nvSpPr>
        <p:spPr>
          <a:xfrm>
            <a:off x="411480" y="1188720"/>
            <a:ext cx="11338560" cy="320040"/>
          </a:xfrm>
          <a:prstGeom prst="rect">
            <a:avLst/>
          </a:prstGeom>
          <a:noFill/>
        </p:spPr>
        <p:txBody>
          <a:bodyPr wrap="square">
            <a:spAutoFit/>
          </a:bodyPr>
          <a:lstStyle/>
          <a:p>
            <a:pPr algn="l"/>
            <a:r>
              <a:rPr sz="1300" b="1">
                <a:solidFill>
                  <a:srgbClr val="FF6F61"/>
                </a:solidFill>
                <a:latin typeface="Calibri"/>
              </a:rPr>
              <a:t>TEACHER ONLY — hide this slide before presenting.</a:t>
            </a:r>
          </a:p>
        </p:txBody>
      </p:sp>
      <p:sp>
        <p:nvSpPr>
          <p:cNvPr id="13" name="Rounded Rectangle 12"/>
          <p:cNvSpPr/>
          <p:nvPr/>
        </p:nvSpPr>
        <p:spPr>
          <a:xfrm>
            <a:off x="411480" y="1627632"/>
            <a:ext cx="55778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810512"/>
            <a:ext cx="5120640" cy="365760"/>
          </a:xfrm>
          <a:prstGeom prst="rect">
            <a:avLst/>
          </a:prstGeom>
          <a:noFill/>
        </p:spPr>
        <p:txBody>
          <a:bodyPr wrap="square">
            <a:spAutoFit/>
          </a:bodyPr>
          <a:lstStyle/>
          <a:p>
            <a:pPr algn="l"/>
            <a:r>
              <a:rPr sz="1500" b="1">
                <a:solidFill>
                  <a:srgbClr val="F06292"/>
                </a:solidFill>
                <a:latin typeface="Calibri"/>
              </a:rPr>
              <a:t>🕵️ Tense Detective &amp; Fix the Sentence</a:t>
            </a:r>
          </a:p>
        </p:txBody>
      </p:sp>
      <p:sp>
        <p:nvSpPr>
          <p:cNvPr id="15" name="TextBox 14"/>
          <p:cNvSpPr txBox="1"/>
          <p:nvPr/>
        </p:nvSpPr>
        <p:spPr>
          <a:xfrm>
            <a:off x="640080" y="2240280"/>
            <a:ext cx="5120640" cy="3749039"/>
          </a:xfrm>
          <a:prstGeom prst="rect">
            <a:avLst/>
          </a:prstGeom>
          <a:noFill/>
        </p:spPr>
        <p:txBody>
          <a:bodyPr wrap="square">
            <a:spAutoFit/>
          </a:bodyPr>
          <a:lstStyle/>
          <a:p>
            <a:pPr>
              <a:spcAft>
                <a:spcPts val="600"/>
              </a:spcAft>
            </a:pPr>
            <a:r>
              <a:rPr sz="1200" b="0">
                <a:solidFill>
                  <a:srgbClr val="1F2937"/>
                </a:solidFill>
                <a:latin typeface="Calibri"/>
              </a:rPr>
              <a:t>•  Detective: 1 Past, 2 Present Cont., 3 Future,</a:t>
            </a:r>
          </a:p>
          <a:p>
            <a:pPr>
              <a:spcAft>
                <a:spcPts val="600"/>
              </a:spcAft>
            </a:pPr>
            <a:r>
              <a:rPr sz="1200" b="0">
                <a:solidFill>
                  <a:srgbClr val="1F2937"/>
                </a:solidFill>
                <a:latin typeface="Calibri"/>
              </a:rPr>
              <a:t>•       4 Present, 5 Past Cont., 6 Present</a:t>
            </a:r>
          </a:p>
          <a:p>
            <a:pPr>
              <a:spcAft>
                <a:spcPts val="600"/>
              </a:spcAft>
            </a:pPr>
            <a:r>
              <a:rPr sz="1200" b="0">
                <a:solidFill>
                  <a:srgbClr val="1F2937"/>
                </a:solidFill>
                <a:latin typeface="Calibri"/>
              </a:rPr>
              <a:t>•  Fix 1: Yesterday, I went to the park.</a:t>
            </a:r>
          </a:p>
          <a:p>
            <a:pPr>
              <a:spcAft>
                <a:spcPts val="600"/>
              </a:spcAft>
            </a:pPr>
            <a:r>
              <a:rPr sz="1200" b="0">
                <a:solidFill>
                  <a:srgbClr val="1F2937"/>
                </a:solidFill>
                <a:latin typeface="Calibri"/>
              </a:rPr>
              <a:t>•  Fix 2: She is reading a book.</a:t>
            </a:r>
          </a:p>
          <a:p>
            <a:pPr>
              <a:spcAft>
                <a:spcPts val="600"/>
              </a:spcAft>
            </a:pPr>
            <a:r>
              <a:rPr sz="1200" b="0">
                <a:solidFill>
                  <a:srgbClr val="1F2937"/>
                </a:solidFill>
                <a:latin typeface="Calibri"/>
              </a:rPr>
              <a:t>•  Fix 3: Tomorrow we will go to the beach.</a:t>
            </a:r>
          </a:p>
          <a:p>
            <a:pPr>
              <a:spcAft>
                <a:spcPts val="600"/>
              </a:spcAft>
            </a:pPr>
            <a:r>
              <a:rPr sz="1200" b="0">
                <a:solidFill>
                  <a:srgbClr val="1F2937"/>
                </a:solidFill>
                <a:latin typeface="Calibri"/>
              </a:rPr>
              <a:t>•  Fix 4: He didn't go home.</a:t>
            </a:r>
          </a:p>
          <a:p>
            <a:pPr>
              <a:spcAft>
                <a:spcPts val="600"/>
              </a:spcAft>
            </a:pPr>
            <a:r>
              <a:rPr sz="1200" b="0">
                <a:solidFill>
                  <a:srgbClr val="1F2937"/>
                </a:solidFill>
                <a:latin typeface="Calibri"/>
              </a:rPr>
              <a:t>•  Fix 5: I know the answer.</a:t>
            </a:r>
          </a:p>
          <a:p>
            <a:pPr>
              <a:spcAft>
                <a:spcPts val="600"/>
              </a:spcAft>
            </a:pPr>
            <a:r>
              <a:rPr sz="1200" b="0">
                <a:solidFill>
                  <a:srgbClr val="1F2937"/>
                </a:solidFill>
                <a:latin typeface="Calibri"/>
              </a:rPr>
              <a:t>•  Fix 6: While I slept, the phone was ringing.</a:t>
            </a:r>
          </a:p>
        </p:txBody>
      </p:sp>
      <p:sp>
        <p:nvSpPr>
          <p:cNvPr id="16" name="Rounded Rectangle 15"/>
          <p:cNvSpPr/>
          <p:nvPr/>
        </p:nvSpPr>
        <p:spPr>
          <a:xfrm>
            <a:off x="6172200" y="1627632"/>
            <a:ext cx="55778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810512"/>
            <a:ext cx="5120640" cy="365760"/>
          </a:xfrm>
          <a:prstGeom prst="rect">
            <a:avLst/>
          </a:prstGeom>
          <a:noFill/>
        </p:spPr>
        <p:txBody>
          <a:bodyPr wrap="square">
            <a:spAutoFit/>
          </a:bodyPr>
          <a:lstStyle/>
          <a:p>
            <a:pPr algn="l"/>
            <a:r>
              <a:rPr sz="1500" b="1">
                <a:solidFill>
                  <a:srgbClr val="FFB300"/>
                </a:solidFill>
                <a:latin typeface="Calibri"/>
              </a:rPr>
              <a:t>🚀 Time Travel, Sorting, Sprint &amp; Quiz</a:t>
            </a:r>
          </a:p>
        </p:txBody>
      </p:sp>
      <p:sp>
        <p:nvSpPr>
          <p:cNvPr id="18" name="TextBox 17"/>
          <p:cNvSpPr txBox="1"/>
          <p:nvPr/>
        </p:nvSpPr>
        <p:spPr>
          <a:xfrm>
            <a:off x="6400800" y="2240280"/>
            <a:ext cx="5120640" cy="3749039"/>
          </a:xfrm>
          <a:prstGeom prst="rect">
            <a:avLst/>
          </a:prstGeom>
          <a:noFill/>
        </p:spPr>
        <p:txBody>
          <a:bodyPr wrap="square">
            <a:spAutoFit/>
          </a:bodyPr>
          <a:lstStyle/>
          <a:p>
            <a:pPr>
              <a:spcAft>
                <a:spcPts val="600"/>
              </a:spcAft>
            </a:pPr>
            <a:r>
              <a:rPr sz="1200" b="0">
                <a:solidFill>
                  <a:srgbClr val="1F2937"/>
                </a:solidFill>
                <a:latin typeface="Calibri"/>
              </a:rPr>
              <a:t>•  Time Travel: helped / is helping / will help</a:t>
            </a:r>
          </a:p>
          <a:p>
            <a:pPr>
              <a:spcAft>
                <a:spcPts val="600"/>
              </a:spcAft>
            </a:pPr>
            <a:r>
              <a:rPr sz="1200" b="0">
                <a:solidFill>
                  <a:srgbClr val="1F2937"/>
                </a:solidFill>
                <a:latin typeface="Calibri"/>
              </a:rPr>
              <a:t>•  Sorting: F, P, N, N, P, N</a:t>
            </a:r>
          </a:p>
          <a:p>
            <a:pPr>
              <a:spcAft>
                <a:spcPts val="600"/>
              </a:spcAft>
            </a:pPr>
            <a:r>
              <a:rPr sz="1200" b="0">
                <a:solidFill>
                  <a:srgbClr val="1F2937"/>
                </a:solidFill>
                <a:latin typeface="Calibri"/>
              </a:rPr>
              <a:t>•  Complete: 1c, 2b, 3c, 4a</a:t>
            </a:r>
          </a:p>
          <a:p>
            <a:pPr>
              <a:spcAft>
                <a:spcPts val="600"/>
              </a:spcAft>
            </a:pPr>
            <a:r>
              <a:rPr sz="1200" b="0">
                <a:solidFill>
                  <a:srgbClr val="1F2937"/>
                </a:solidFill>
                <a:latin typeface="Calibri"/>
              </a:rPr>
              <a:t>•  Sprint: past, pres. cont., future, present,</a:t>
            </a:r>
          </a:p>
          <a:p>
            <a:pPr>
              <a:spcAft>
                <a:spcPts val="600"/>
              </a:spcAft>
            </a:pPr>
            <a:r>
              <a:rPr sz="1200" b="0">
                <a:solidFill>
                  <a:srgbClr val="1F2937"/>
                </a:solidFill>
                <a:latin typeface="Calibri"/>
              </a:rPr>
              <a:t>•       past cont., present, future, past cont.</a:t>
            </a:r>
          </a:p>
          <a:p>
            <a:pPr>
              <a:spcAft>
                <a:spcPts val="600"/>
              </a:spcAft>
            </a:pPr>
            <a:r>
              <a:rPr sz="1200" b="0">
                <a:solidFill>
                  <a:srgbClr val="1F2937"/>
                </a:solidFill>
                <a:latin typeface="Calibri"/>
              </a:rPr>
              <a:t>•  Quiz: 1 watched, 2 I am running, 3 very tired,</a:t>
            </a:r>
          </a:p>
          <a:p>
            <a:pPr>
              <a:spcAft>
                <a:spcPts val="600"/>
              </a:spcAft>
            </a:pPr>
            <a:r>
              <a:rPr sz="1200" b="0">
                <a:solidFill>
                  <a:srgbClr val="1F2937"/>
                </a:solidFill>
                <a:latin typeface="Calibri"/>
              </a:rPr>
              <a:t>•       4 He doesn't like fish,</a:t>
            </a:r>
          </a:p>
          <a:p>
            <a:pPr>
              <a:spcAft>
                <a:spcPts val="600"/>
              </a:spcAft>
            </a:pPr>
            <a:r>
              <a:rPr sz="1200" b="0">
                <a:solidFill>
                  <a:srgbClr val="1F2937"/>
                </a:solidFill>
                <a:latin typeface="Calibri"/>
              </a:rPr>
              <a:t>•       5 so the hatchlings could climb out,</a:t>
            </a:r>
          </a:p>
          <a:p>
            <a:pPr>
              <a:spcAft>
                <a:spcPts val="600"/>
              </a:spcAft>
            </a:pPr>
            <a:r>
              <a:rPr sz="1200" b="0">
                <a:solidFill>
                  <a:srgbClr val="1F2937"/>
                </a:solidFill>
                <a:latin typeface="Calibri"/>
              </a:rPr>
              <a:t>•       6 any correct 'will' sentence</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