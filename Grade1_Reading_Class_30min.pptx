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30 seconds</a:t>
            </a:r>
          </a:p>
          <a:p/>
          <a:p>
            <a:r>
              <a:t>TEACHER SAYS: Hi! I am so happy to see you. Today we are going to read together and play lots of games. Are you ready to be a Super Reader?</a:t>
            </a:r>
          </a:p>
          <a:p/>
          <a:p>
            <a:r>
              <a:t>CHILD DOES: Says hello and shows they are ready — a wave, a smile, or a yes.</a:t>
            </a:r>
          </a:p>
          <a:p/>
          <a:p>
            <a:r>
              <a:t>EXPECTED ANSWER: Child greets the teacher and looks at the screen.</a:t>
            </a:r>
          </a:p>
          <a:p/>
          <a:p>
            <a:r>
              <a:t>IF THE CHILD STRUGGLES: If shy, smile and wave first and let them copy you. No talking needed yet.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1 minute</a:t>
            </a:r>
          </a:p>
          <a:p/>
          <a:p>
            <a:r>
              <a:t>TEACHER SAYS: Look at the picture. What do you see? Tell me in a big voice!</a:t>
            </a:r>
          </a:p>
          <a:p/>
          <a:p>
            <a:r>
              <a:t>CHILD DOES: Points at each picture and names it out loud.</a:t>
            </a:r>
          </a:p>
          <a:p/>
          <a:p>
            <a:r>
              <a:t>EXPECTED ANSWER: a cat  •  a ball  •  the sun. A one-word answer is fine to start.</a:t>
            </a:r>
          </a:p>
          <a:p/>
          <a:p>
            <a:r>
              <a:t>IF THE CHILD STRUGGLES: Give two choices: 'Is it a cat or a dog?' Then say the full sentence together.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1 minute 30 seconds</a:t>
            </a:r>
          </a:p>
          <a:p/>
          <a:p>
            <a:r>
              <a:t>TEACHER SAYS: Listen carefully. Ccc-cat. What sound do you hear FIRST in cat?</a:t>
            </a:r>
          </a:p>
          <a:p/>
          <a:p>
            <a:r>
              <a:t>CHILD DOES: Says the first sound, then points to the matching letter.</a:t>
            </a:r>
          </a:p>
          <a:p/>
          <a:p>
            <a:r>
              <a:t>EXPECTED ANSWER: cat = C  •  ball = B  •  sun = S</a:t>
            </a:r>
          </a:p>
          <a:p/>
          <a:p>
            <a:r>
              <a:t>IF THE CHILD STRUGGLES: Stretch the sound out loud: 'Ccccc-at.' Then say 'C!' and let them repeat it.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40 seconds</a:t>
            </a:r>
          </a:p>
          <a:p/>
          <a:p>
            <a:r>
              <a:t>TEACHER SAYS: Look at this word. Let's sound it out together: C - A - T... CAT! Now blend it fast: CAT.</a:t>
            </a:r>
          </a:p>
          <a:p/>
          <a:p>
            <a:r>
              <a:t>CHILD DOES: Looks at the word, says each sound, then blends and reads CAT alone.</a:t>
            </a:r>
          </a:p>
          <a:p/>
          <a:p>
            <a:r>
              <a:t>EXPECTED ANSWER: CAT</a:t>
            </a:r>
          </a:p>
          <a:p/>
          <a:p>
            <a:r>
              <a:t>IF THE CHILD STRUGGLES: Point to each letter as you say the sound. Read CAT first yourself, then say it together, then let the child try alone.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40 seconds</a:t>
            </a:r>
          </a:p>
          <a:p/>
          <a:p>
            <a:r>
              <a:t>TEACHER SAYS: Look at this word. Let's sound it out together: B - A - LL... BALL! Now blend it fast: BALL.</a:t>
            </a:r>
          </a:p>
          <a:p/>
          <a:p>
            <a:r>
              <a:t>CHILD DOES: Looks at the word, says each sound, then blends and reads BALL alone.</a:t>
            </a:r>
          </a:p>
          <a:p/>
          <a:p>
            <a:r>
              <a:t>EXPECTED ANSWER: BALL</a:t>
            </a:r>
          </a:p>
          <a:p/>
          <a:p>
            <a:r>
              <a:t>IF THE CHILD STRUGGLES: Point to each letter as you say the sound. Read BALL first yourself, then say it together, then let the child try alone.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40 seconds</a:t>
            </a:r>
          </a:p>
          <a:p/>
          <a:p>
            <a:r>
              <a:t>TEACHER SAYS: Look at this word. Let's sound it out together: R - E - D... RED! Now blend it fast: RED.</a:t>
            </a:r>
          </a:p>
          <a:p/>
          <a:p>
            <a:r>
              <a:t>CHILD DOES: Looks at the word, says each sound, then blends and reads RED alone.</a:t>
            </a:r>
          </a:p>
          <a:p/>
          <a:p>
            <a:r>
              <a:t>EXPECTED ANSWER: RED</a:t>
            </a:r>
          </a:p>
          <a:p/>
          <a:p>
            <a:r>
              <a:t>IF THE CHILD STRUGGLES: Point to each letter as you say the sound. Read RED first yourself, then say it together, then let the child try alone.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40 seconds</a:t>
            </a:r>
          </a:p>
          <a:p/>
          <a:p>
            <a:r>
              <a:t>TEACHER SAYS: Look at this word. Let's sound it out together: B - I - G... BIG! Now blend it fast: BIG.</a:t>
            </a:r>
          </a:p>
          <a:p/>
          <a:p>
            <a:r>
              <a:t>CHILD DOES: Looks at the word, says each sound, then blends and reads BIG alone.</a:t>
            </a:r>
          </a:p>
          <a:p/>
          <a:p>
            <a:r>
              <a:t>EXPECTED ANSWER: BIG</a:t>
            </a:r>
          </a:p>
          <a:p/>
          <a:p>
            <a:r>
              <a:t>IF THE CHILD STRUGGLES: Point to each letter as you say the sound. Read BIG first yourself, then say it together, then let the child try alone.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40 seconds</a:t>
            </a:r>
          </a:p>
          <a:p/>
          <a:p>
            <a:r>
              <a:t>TEACHER SAYS: Look at this word. Let's sound it out together: R - U - N... RUN! Now blend it fast: RUN.</a:t>
            </a:r>
          </a:p>
          <a:p/>
          <a:p>
            <a:r>
              <a:t>CHILD DOES: Looks at the word, says each sound, then blends and reads RUN alone.</a:t>
            </a:r>
          </a:p>
          <a:p/>
          <a:p>
            <a:r>
              <a:t>EXPECTED ANSWER: RUN</a:t>
            </a:r>
          </a:p>
          <a:p/>
          <a:p>
            <a:r>
              <a:t>IF THE CHILD STRUGGLES: Point to each letter as you say the sound. Read RUN first yourself, then say it together, then let the child try alone.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40 seconds</a:t>
            </a:r>
          </a:p>
          <a:p/>
          <a:p>
            <a:r>
              <a:t>TEACHER SAYS: Look at this word. Let's sound it out together: S - U - N... SUN! Now blend it fast: SUN.</a:t>
            </a:r>
          </a:p>
          <a:p/>
          <a:p>
            <a:r>
              <a:t>CHILD DOES: Looks at the word, says each sound, then blends and reads SUN alone.</a:t>
            </a:r>
          </a:p>
          <a:p/>
          <a:p>
            <a:r>
              <a:t>EXPECTED ANSWER: SUN</a:t>
            </a:r>
          </a:p>
          <a:p/>
          <a:p>
            <a:r>
              <a:t>IF THE CHILD STRUGGLES: Point to each letter as you say the sound. Read SUN first yourself, then say it together, then let the child try alone.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3 minutes</a:t>
            </a:r>
          </a:p>
          <a:p/>
          <a:p>
            <a:r>
              <a:t>TEACHER SAYS: Can you find the word CAT? Point to it! Great — now read it out loud.</a:t>
            </a:r>
          </a:p>
          <a:p/>
          <a:p>
            <a:r>
              <a:t>CHILD DOES: Points to the word on the grid and reads it aloud. Six rounds, one word at a time.</a:t>
            </a:r>
          </a:p>
          <a:p/>
          <a:p>
            <a:r>
              <a:t>EXPECTED ANSWER: CAT appears 3 times; BALL, SUN, RED, BIG and RUN each appear 2 times.</a:t>
            </a:r>
          </a:p>
          <a:p/>
          <a:p>
            <a:r>
              <a:t>IF THE CHILD STRUGGLES: Cover part of the grid with your hand so there are fewer words to search. Say the first sound as a hint.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30 seconds</a:t>
            </a:r>
          </a:p>
          <a:p/>
          <a:p>
            <a:r>
              <a:t>TEACHER SAYS: Let's check together! CAT is here, here, and here — that's three!</a:t>
            </a:r>
          </a:p>
          <a:p/>
          <a:p>
            <a:r>
              <a:t>CHILD DOES: Counts along with the teacher and points to each one.</a:t>
            </a:r>
          </a:p>
          <a:p/>
          <a:p>
            <a:r>
              <a:t>EXPECTED ANSWER: CAT 3  •  BALL 2  •  SUN 2  •  RED 2  •  BIG 2  •  RUN 2</a:t>
            </a:r>
          </a:p>
          <a:p/>
          <a:p>
            <a:r>
              <a:t>IF THE CHILD STRUGGLES: Count out loud together and touch each word as you count.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1 minute 20 seconds</a:t>
            </a:r>
          </a:p>
          <a:p/>
          <a:p>
            <a:r>
              <a:t>TEACHER SAYS: Listen first: "I see a cat." Now let's read it together. Ready? Great — now you read it all by yourself!</a:t>
            </a:r>
          </a:p>
          <a:p/>
          <a:p>
            <a:r>
              <a:t>CHILD DOES: Follows the words with a finger, reads with the teacher, then reads alone.</a:t>
            </a:r>
          </a:p>
          <a:p/>
          <a:p>
            <a:r>
              <a:t>EXPECTED ANSWER: I see a cat.</a:t>
            </a:r>
          </a:p>
          <a:p/>
          <a:p>
            <a:r>
              <a:t>IF THE CHILD STRUGGLES: Point under each word as you read so the child tracks left to right. Read just one word at a time and let them echo it.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1 minute 20 seconds</a:t>
            </a:r>
          </a:p>
          <a:p/>
          <a:p>
            <a:r>
              <a:t>TEACHER SAYS: Listen first: "The ball is red." Now let's read it together. Ready? Great — now you read it all by yourself!</a:t>
            </a:r>
          </a:p>
          <a:p/>
          <a:p>
            <a:r>
              <a:t>CHILD DOES: Follows the words with a finger, reads with the teacher, then reads alone.</a:t>
            </a:r>
          </a:p>
          <a:p/>
          <a:p>
            <a:r>
              <a:t>EXPECTED ANSWER: The ball is red.</a:t>
            </a:r>
          </a:p>
          <a:p/>
          <a:p>
            <a:r>
              <a:t>IF THE CHILD STRUGGLES: Point under each word as you read so the child tracks left to right. Read just one word at a time and let them echo it.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1 minute 20 seconds</a:t>
            </a:r>
          </a:p>
          <a:p/>
          <a:p>
            <a:r>
              <a:t>TEACHER SAYS: Listen first: "The cat can run." Now let's read it together. Ready? Great — now you read it all by yourself!</a:t>
            </a:r>
          </a:p>
          <a:p/>
          <a:p>
            <a:r>
              <a:t>CHILD DOES: Follows the words with a finger, reads with the teacher, then reads alone.</a:t>
            </a:r>
          </a:p>
          <a:p/>
          <a:p>
            <a:r>
              <a:t>EXPECTED ANSWER: The cat can run.</a:t>
            </a:r>
          </a:p>
          <a:p/>
          <a:p>
            <a:r>
              <a:t>IF THE CHILD STRUGGLES: Point under each word as you read so the child tracks left to right. Read just one word at a time and let them echo it.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3 minutes</a:t>
            </a:r>
          </a:p>
          <a:p/>
          <a:p>
            <a:r>
              <a:t>TEACHER SAYS: Uh oh, the words got mixed up! Can you put them in the right order? Which word comes first?</a:t>
            </a:r>
          </a:p>
          <a:p/>
          <a:p>
            <a:r>
              <a:t>CHILD DOES: Says the words in the correct order, then reads the whole sentence aloud.</a:t>
            </a:r>
          </a:p>
          <a:p/>
          <a:p>
            <a:r>
              <a:t>EXPECTED ANSWER: 1. I see a cat.   2. The ball is red.   3. The cat can run.</a:t>
            </a:r>
          </a:p>
          <a:p/>
          <a:p>
            <a:r>
              <a:t>IF THE CHILD STRUGGLES: Ask 'Which word has a capital letter? That one goes first!' Then find the word with the period — that goes last.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30 seconds</a:t>
            </a:r>
          </a:p>
          <a:p/>
          <a:p>
            <a:r>
              <a:t>TEACHER SAYS: Let's check! Listen: I see a cat. Does that sound right? Yes! Now read it with me.</a:t>
            </a:r>
          </a:p>
          <a:p/>
          <a:p>
            <a:r>
              <a:t>CHILD DOES: Reads each correct sentence out loud once.</a:t>
            </a:r>
          </a:p>
          <a:p/>
          <a:p>
            <a:r>
              <a:t>EXPECTED ANSWER: I see a cat.  •  The ball is red.  •  The cat can run.</a:t>
            </a:r>
          </a:p>
          <a:p/>
          <a:p>
            <a:r>
              <a:t>IF THE CHILD STRUGGLES: Read it first, then have the child echo it back.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2 minutes 30 seconds</a:t>
            </a:r>
          </a:p>
          <a:p/>
          <a:p>
            <a:r>
              <a:t>TEACHER SAYS: Here is a little story about Sam. I will read it first. Then we read it together. Then you can be the reader!</a:t>
            </a:r>
          </a:p>
          <a:p/>
          <a:p>
            <a:r>
              <a:t>CHILD DOES: Follows along with a finger, reads with the teacher, then reads the four lines alone.</a:t>
            </a:r>
          </a:p>
          <a:p/>
          <a:p>
            <a:r>
              <a:t>EXPECTED ANSWER: Sam has a red ball. Sam plays with the ball. The ball is big. The cat runs to Sam.</a:t>
            </a:r>
          </a:p>
          <a:p/>
          <a:p>
            <a:r>
              <a:t>IF THE CHILD STRUGGLES: Read one line at a time and let the child echo each line before moving on. Cover the lines below with your hand so only one line shows.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1 minute 30 seconds</a:t>
            </a:r>
          </a:p>
          <a:p/>
          <a:p>
            <a:r>
              <a:t>TEACHER SAYS: Let's think about the story. Who has the ball?</a:t>
            </a:r>
          </a:p>
          <a:p/>
          <a:p>
            <a:r>
              <a:t>CHILD DOES: Answers each question out loud, one at a time.</a:t>
            </a:r>
          </a:p>
          <a:p/>
          <a:p>
            <a:r>
              <a:t>EXPECTED ANSWER: Sam  •  Red  •  Big  •  The cat</a:t>
            </a:r>
          </a:p>
          <a:p/>
          <a:p>
            <a:r>
              <a:t>IF THE CHILD STRUGGLES: Point to the line in the story that has the answer and read it together again.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30 seconds</a:t>
            </a:r>
          </a:p>
          <a:p/>
          <a:p>
            <a:r>
              <a:t>TEACHER SAYS: You got it! Sam has the ball, and the ball is red and big.</a:t>
            </a:r>
          </a:p>
          <a:p/>
          <a:p>
            <a:r>
              <a:t>CHILD DOES: Listens and repeats each answer in a full sentence if able.</a:t>
            </a:r>
          </a:p>
          <a:p/>
          <a:p>
            <a:r>
              <a:t>EXPECTED ANSWER: Sam  •  Red  •  Big  •  The cat</a:t>
            </a:r>
          </a:p>
          <a:p/>
          <a:p>
            <a:r>
              <a:t>IF THE CHILD STRUGGLES: Model the full sentence: 'Sam has the ball.' Then let the child repeat it.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1 minute 30 seconds</a:t>
            </a:r>
          </a:p>
          <a:p/>
          <a:p>
            <a:r>
              <a:t>TEACHER SAYS: Look at the picture. Which word fits in the sentence? Point to it, then read the whole sentence out loud.</a:t>
            </a:r>
          </a:p>
          <a:p/>
          <a:p>
            <a:r>
              <a:t>CHILD DOES: Chooses one of the three words, then reads the full sentence.</a:t>
            </a:r>
          </a:p>
          <a:p/>
          <a:p>
            <a:r>
              <a:t>EXPECTED ANSWER: 1. CAT — I see a cat.   2. RED — The ball is red.</a:t>
            </a:r>
          </a:p>
          <a:p/>
          <a:p>
            <a:r>
              <a:t>IF THE CHILD STRUGGLES: Cover one wrong word with your hand so there are only two choices. Say the sentence with each option and ask 'Which one sounds right?'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1 minute 30 seconds</a:t>
            </a:r>
          </a:p>
          <a:p/>
          <a:p>
            <a:r>
              <a:t>TEACHER SAYS: Two more! Look at the picture first, then choose the word.</a:t>
            </a:r>
          </a:p>
          <a:p/>
          <a:p>
            <a:r>
              <a:t>CHILD DOES: Chooses the correct word and reads the complete sentence aloud.</a:t>
            </a:r>
          </a:p>
          <a:p/>
          <a:p>
            <a:r>
              <a:t>EXPECTED ANSWER: 3. RUN — The cat can run.   4. SUN — The sun is hot.</a:t>
            </a:r>
          </a:p>
          <a:p/>
          <a:p>
            <a:r>
              <a:t>IF THE CHILD STRUGGLES: Sound out each choice together, then try the sentence both ways.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30 seconds</a:t>
            </a:r>
          </a:p>
          <a:p/>
          <a:p>
            <a:r>
              <a:t>TEACHER SAYS: Let's read the finished sentences together. I see a cat!</a:t>
            </a:r>
          </a:p>
          <a:p/>
          <a:p>
            <a:r>
              <a:t>CHILD DOES: Reads each completed sentence with the teacher.</a:t>
            </a:r>
          </a:p>
          <a:p/>
          <a:p>
            <a:r>
              <a:t>EXPECTED ANSWER: CAT  •  RED  •  RUN  •  SUN</a:t>
            </a:r>
          </a:p>
          <a:p/>
          <a:p>
            <a:r>
              <a:t>IF THE CHILD STRUGGLES: Read it first, child echoes. Celebrate each one.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3 minutes</a:t>
            </a:r>
          </a:p>
          <a:p/>
          <a:p>
            <a:r>
              <a:t>TEACHER SAYS: Time for your challenge! Which level do you want to try first? You can do one, two, or all three!</a:t>
            </a:r>
          </a:p>
          <a:p/>
          <a:p>
            <a:r>
              <a:t>CHILD DOES: Chooses a level and reads the words or sentences out loud.</a:t>
            </a:r>
          </a:p>
          <a:p/>
          <a:p>
            <a:r>
              <a:t>EXPECTED ANSWER: Level 1: CAT, BALL.  Level 2: The ball is red.  Level 3: Sam has a big ball. The cat can run.</a:t>
            </a:r>
          </a:p>
          <a:p/>
          <a:p>
            <a:r>
              <a:t>IF THE CHILD STRUGGLES: Start at one star even if they pick three. Sound out the first word together, then let them continue. Clap after every level.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1 minute 30 seconds</a:t>
            </a:r>
          </a:p>
          <a:p/>
          <a:p>
            <a:r>
              <a:t>TEACHER SAYS: Fast game! If it is a word we learned today, read it in a big voice. If it is not, say SKIP!</a:t>
            </a:r>
          </a:p>
          <a:p/>
          <a:p>
            <a:r>
              <a:t>CHILD DOES: Looks at each word and either reads it or says 'skip'.</a:t>
            </a:r>
          </a:p>
          <a:p/>
          <a:p>
            <a:r>
              <a:t>EXPECTED ANSWER: READ: CAT, BALL, RED.  SKIP: TRAIN, ELEPHANT, MONKEY.</a:t>
            </a:r>
          </a:p>
          <a:p/>
          <a:p>
            <a:r>
              <a:t>IF THE CHILD STRUGGLES: Remind them of today's six words first: CAT, BALL, RED, BIG, RUN, SUN.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30 seconds</a:t>
            </a:r>
          </a:p>
          <a:p/>
          <a:p>
            <a:r>
              <a:t>TEACHER SAYS: Let's check! CAT — yes, that's ours, read it! TRAIN — we did not learn that one, skip!</a:t>
            </a:r>
          </a:p>
          <a:p/>
          <a:p>
            <a:r>
              <a:t>CHILD DOES: Confirms each answer and reads the three lesson words once more.</a:t>
            </a:r>
          </a:p>
          <a:p/>
          <a:p>
            <a:r>
              <a:t>EXPECTED ANSWER: READ: CAT, BALL, RED.  SKIP: TRAIN, ELEPHANT, MONKEY.</a:t>
            </a:r>
          </a:p>
          <a:p/>
          <a:p>
            <a:r>
              <a:t>IF THE CHILD STRUGGLES: Just read the three lesson words together again — that is the real goal here.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1 minute</a:t>
            </a:r>
          </a:p>
          <a:p/>
          <a:p>
            <a:r>
              <a:t>TEACHER SAYS: Last thing! Read this word for me... and now this sentence. Take your time, I know you can do it.</a:t>
            </a:r>
          </a:p>
          <a:p/>
          <a:p>
            <a:r>
              <a:t>CHILD DOES: Reads BALL, then reads 'The cat can run.' out loud.</a:t>
            </a:r>
          </a:p>
          <a:p/>
          <a:p>
            <a:r>
              <a:t>EXPECTED ANSWER: BALL  •  The cat can run.</a:t>
            </a:r>
          </a:p>
          <a:p/>
          <a:p>
            <a:r>
              <a:t>IF THE CHILD STRUGGLES: Sound out B-A-LL together first. For the sentence, point under each word as they read.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TIME: About 30 seconds</a:t>
            </a:r>
          </a:p>
          <a:p/>
          <a:p>
            <a:r>
              <a:t>TEACHER SAYS: You did it! You read words, you read sentences, and you read a whole story by yourself. Here is your star — you are a Super Reader!</a:t>
            </a:r>
          </a:p>
          <a:p/>
          <a:p>
            <a:r>
              <a:t>CHILD DOES: Celebrates, says goodbye, and takes the virtual star.</a:t>
            </a:r>
          </a:p>
          <a:p/>
          <a:p>
            <a:r>
              <a:t>EXPECTED ANSWER: Child smiles and says thank you or goodbye.</a:t>
            </a:r>
          </a:p>
          <a:p/>
          <a:p>
            <a:r>
              <a:t>IF THE CHILD STRUGGLES: Name one specific thing they did well, for example 'You sounded out BALL all by yourself!' so the praise feels real.</a:t>
            </a:r>
          </a:p>
          <a:p/>
          <a:p>
            <a:r>
              <a:t>REMEMBER: Say "Almost! Let's try it together" — never "Wrong." Give thinking time. Praise every attempt.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D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640080"/>
            <a:ext cx="777240" cy="777240"/>
          </a:xfrm>
          <a:prstGeom prst="ellipse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685800"/>
            <a:ext cx="777240" cy="777240"/>
          </a:xfrm>
          <a:prstGeom prst="ellipse">
            <a:avLst/>
          </a:prstGeom>
          <a:solidFill>
            <a:srgbClr val="F5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5349240"/>
            <a:ext cx="777240" cy="77724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080" y="5303520"/>
            <a:ext cx="777240" cy="777240"/>
          </a:xfrm>
          <a:prstGeom prst="ellipse">
            <a:avLst/>
          </a:prstGeom>
          <a:solidFill>
            <a:srgbClr val="FF8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Georgia"/>
              </a:rPr>
              <a:t>📖 Let's Read Together! 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3F6FF"/>
                </a:solidFill>
                <a:latin typeface="Calibri"/>
              </a:rPr>
              <a:t>Grade 1  •  Reading Class  •  30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291840"/>
            <a:ext cx="5943600" cy="1188720"/>
          </a:xfrm>
          <a:prstGeom prst="round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356616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You are going to be a
SUPER READER today! 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53D"/>
                </a:solidFill>
                <a:latin typeface="Calibri"/>
              </a:rPr>
              <a:t>👀 LOOK  →  🔊 SOUND  →  📖 READ  →  💡 UNDERSTAND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419088"/>
            <a:ext cx="451544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Hello  |  0–3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 / 27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WARM-UP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0–3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👀 What Do You See?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03088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Warm-up  |  0–3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54480" y="1965960"/>
            <a:ext cx="1828800" cy="1828800"/>
          </a:xfrm>
          <a:prstGeom prst="ellipse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286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222B38"/>
                </a:solidFill>
                <a:latin typeface="Calibri"/>
              </a:rPr>
              <a:t>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14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3A7B"/>
                </a:solidFill>
                <a:latin typeface="Calibri"/>
              </a:rPr>
              <a:t>What is it?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57799" y="1965960"/>
            <a:ext cx="1828800" cy="1828800"/>
          </a:xfrm>
          <a:prstGeom prst="ellipse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799" y="2286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222B38"/>
                </a:solidFill>
                <a:latin typeface="Calibri"/>
              </a:rPr>
              <a:t>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4114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3A7B"/>
                </a:solidFill>
                <a:latin typeface="Calibri"/>
              </a:rPr>
              <a:t>What is it?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61119" y="1965960"/>
            <a:ext cx="1828800" cy="1828800"/>
          </a:xfrm>
          <a:prstGeom prst="ellipse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19" y="22860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222B38"/>
                </a:solidFill>
                <a:latin typeface="Calibri"/>
              </a:rPr>
              <a:t>☀️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4114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3A7B"/>
                </a:solidFill>
                <a:latin typeface="Calibri"/>
              </a:rPr>
              <a:t>What is it?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6B5E"/>
                </a:solidFill>
                <a:latin typeface="Calibri"/>
              </a:rPr>
              <a:t>Say it out loud:  "I see ______."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5486400"/>
            <a:ext cx="3017520" cy="502920"/>
          </a:xfrm>
          <a:prstGeom prst="roundRect">
            <a:avLst/>
          </a:prstGeom>
          <a:solidFill>
            <a:srgbClr val="FFD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55686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3A7B"/>
                </a:solidFill>
                <a:latin typeface="Calibri"/>
              </a:rPr>
              <a:t>⭐ Great reading!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WARM-UP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0–3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🔊 First Sound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54632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Warm-up  |  0–3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481328"/>
            <a:ext cx="7680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664208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B38"/>
                </a:solidFill>
                <a:latin typeface="Calibri"/>
              </a:rPr>
              <a:t>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728216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8288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A8C"/>
                </a:solidFill>
                <a:latin typeface="Calibri"/>
              </a:rPr>
              <a:t>starts with . . .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16352"/>
            <a:ext cx="7680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999232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B38"/>
                </a:solidFill>
                <a:latin typeface="Calibri"/>
              </a:rPr>
              <a:t>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06324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7B"/>
                </a:solidFill>
                <a:latin typeface="Calibri"/>
              </a:rPr>
              <a:t>ball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6382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A8C"/>
                </a:solidFill>
                <a:latin typeface="Calibri"/>
              </a:rPr>
              <a:t>starts with . . .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151376"/>
            <a:ext cx="76809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34256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B38"/>
                </a:solidFill>
                <a:latin typeface="Calibri"/>
              </a:rPr>
              <a:t>☀️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39826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7B"/>
                </a:solidFill>
                <a:latin typeface="Calibri"/>
              </a:rPr>
              <a:t>sun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4988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A8C"/>
                </a:solidFill>
                <a:latin typeface="Calibri"/>
              </a:rPr>
              <a:t>starts with . . . 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1481328"/>
            <a:ext cx="2926080" cy="301752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A693"/>
                </a:solidFill>
                <a:latin typeface="Calibri"/>
              </a:rPr>
              <a:t>Pick a letter: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2240280"/>
            <a:ext cx="13716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230428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971800"/>
            <a:ext cx="13716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303580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6920" y="3703320"/>
            <a:ext cx="1371600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376732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A54A"/>
                </a:solidFill>
                <a:latin typeface="Calibri"/>
              </a:rPr>
              <a:t>✅ Answers:  cat = C      ball = B      sun = 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NEW 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📖 Word: CAT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806177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Word reading  |  3–7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27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1554480"/>
            <a:ext cx="2377440" cy="2377440"/>
          </a:xfrm>
          <a:prstGeom prst="ellipse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9659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0">
                <a:solidFill>
                  <a:srgbClr val="222B38"/>
                </a:solidFill>
                <a:latin typeface="Calibri"/>
              </a:rPr>
              <a:t>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6002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35B8F5"/>
                </a:solidFill>
                <a:latin typeface="Arial Black"/>
              </a:rPr>
              <a:t>CAT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9531" y="3520440"/>
            <a:ext cx="1417320" cy="9601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9531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09459" y="3520440"/>
            <a:ext cx="1417320" cy="9601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9459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9388" y="3520440"/>
            <a:ext cx="1417320" cy="9601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9388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800600"/>
            <a:ext cx="4846320" cy="105156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A7B"/>
                </a:solidFill>
                <a:latin typeface="Calibri"/>
              </a:rPr>
              <a:t>1️⃣  Teacher reads
2️⃣  Read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00600"/>
            <a:ext cx="4846320" cy="1051560"/>
          </a:xfrm>
          <a:prstGeom prst="roundRect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3️⃣  NOW YOU TRY!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NEW 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📖 Word: BALL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257721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Word reading  |  3–7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27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1554480"/>
            <a:ext cx="2377440" cy="2377440"/>
          </a:xfrm>
          <a:prstGeom prst="ellipse">
            <a:avLst/>
          </a:prstGeom>
          <a:solidFill>
            <a:srgbClr val="FF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9659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0">
                <a:solidFill>
                  <a:srgbClr val="222B38"/>
                </a:solidFill>
                <a:latin typeface="Calibri"/>
              </a:rPr>
              <a:t>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6002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FF6B5E"/>
                </a:solidFill>
                <a:latin typeface="Arial Black"/>
              </a:rPr>
              <a:t>BALL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9531" y="3520440"/>
            <a:ext cx="1417320" cy="960120"/>
          </a:xfrm>
          <a:prstGeom prst="roundRect">
            <a:avLst/>
          </a:prstGeom>
          <a:solidFill>
            <a:srgbClr val="FF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9531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09459" y="3520440"/>
            <a:ext cx="1417320" cy="960120"/>
          </a:xfrm>
          <a:prstGeom prst="roundRect">
            <a:avLst/>
          </a:prstGeom>
          <a:solidFill>
            <a:srgbClr val="FF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9459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9388" y="3520440"/>
            <a:ext cx="1417320" cy="960120"/>
          </a:xfrm>
          <a:prstGeom prst="roundRect">
            <a:avLst/>
          </a:prstGeom>
          <a:solidFill>
            <a:srgbClr val="FF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9388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800600"/>
            <a:ext cx="4846320" cy="105156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A7B"/>
                </a:solidFill>
                <a:latin typeface="Calibri"/>
              </a:rPr>
              <a:t>1️⃣  Teacher reads
2️⃣  Read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00600"/>
            <a:ext cx="4846320" cy="1051560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3️⃣  NOW YOU TRY!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F5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NEW 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📖 Word: 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709265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Word reading  |  3–7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27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1554480"/>
            <a:ext cx="2377440" cy="2377440"/>
          </a:xfrm>
          <a:prstGeom prst="ellipse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9659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0">
                <a:solidFill>
                  <a:srgbClr val="222B38"/>
                </a:solidFill>
                <a:latin typeface="Calibri"/>
              </a:rPr>
              <a:t>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6002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F55D9A"/>
                </a:solidFill>
                <a:latin typeface="Arial Black"/>
              </a:rPr>
              <a:t>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9531" y="3520440"/>
            <a:ext cx="1417320" cy="9601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9531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09459" y="3520440"/>
            <a:ext cx="1417320" cy="9601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9459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9388" y="3520440"/>
            <a:ext cx="1417320" cy="9601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9388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800600"/>
            <a:ext cx="4846320" cy="105156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A7B"/>
                </a:solidFill>
                <a:latin typeface="Calibri"/>
              </a:rPr>
              <a:t>1️⃣  Teacher reads
2️⃣  Read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00600"/>
            <a:ext cx="4846320" cy="1051560"/>
          </a:xfrm>
          <a:prstGeom prst="roundRect">
            <a:avLst/>
          </a:prstGeom>
          <a:solidFill>
            <a:srgbClr val="F5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3️⃣  NOW YOU TRY!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8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NEW 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📖 Word: BIG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160809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Word reading  |  3–7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27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1554480"/>
            <a:ext cx="2377440" cy="2377440"/>
          </a:xfrm>
          <a:prstGeom prst="ellipse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9659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0">
                <a:solidFill>
                  <a:srgbClr val="222B38"/>
                </a:solidFill>
                <a:latin typeface="Calibri"/>
              </a:rPr>
              <a:t>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6002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8A5CD6"/>
                </a:solidFill>
                <a:latin typeface="Arial Black"/>
              </a:rPr>
              <a:t>BIG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9531" y="3520440"/>
            <a:ext cx="1417320" cy="9601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9531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09459" y="3520440"/>
            <a:ext cx="1417320" cy="9601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9459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9388" y="3520440"/>
            <a:ext cx="1417320" cy="9601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9388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800600"/>
            <a:ext cx="4846320" cy="105156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A7B"/>
                </a:solidFill>
                <a:latin typeface="Calibri"/>
              </a:rPr>
              <a:t>1️⃣  Teacher reads
2️⃣  Read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00600"/>
            <a:ext cx="4846320" cy="1051560"/>
          </a:xfrm>
          <a:prstGeom prst="roundRect">
            <a:avLst/>
          </a:prstGeom>
          <a:solidFill>
            <a:srgbClr val="8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3️⃣  NOW YOU TRY!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NEW 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📖 Word: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612354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Word reading  |  3–7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27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1554480"/>
            <a:ext cx="2377440" cy="2377440"/>
          </a:xfrm>
          <a:prstGeom prst="ellipse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9659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0">
                <a:solidFill>
                  <a:srgbClr val="222B38"/>
                </a:solidFill>
                <a:latin typeface="Calibri"/>
              </a:rPr>
              <a:t>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6002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2FA54A"/>
                </a:solidFill>
                <a:latin typeface="Arial Black"/>
              </a:rPr>
              <a:t>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9531" y="3520440"/>
            <a:ext cx="1417320" cy="96012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9531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09459" y="3520440"/>
            <a:ext cx="1417320" cy="96012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9459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9388" y="3520440"/>
            <a:ext cx="1417320" cy="96012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9388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800600"/>
            <a:ext cx="4846320" cy="105156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A7B"/>
                </a:solidFill>
                <a:latin typeface="Calibri"/>
              </a:rPr>
              <a:t>1️⃣  Teacher reads
2️⃣  Read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00600"/>
            <a:ext cx="4846320" cy="1051560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3️⃣  NOW YOU TRY!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NEW 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📖 Word: SUN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63898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Word reading  |  3–7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27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1554480"/>
            <a:ext cx="2377440" cy="2377440"/>
          </a:xfrm>
          <a:prstGeom prst="ellipse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9659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0">
                <a:solidFill>
                  <a:srgbClr val="222B38"/>
                </a:solidFill>
                <a:latin typeface="Calibri"/>
              </a:rPr>
              <a:t>☀️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60020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FFB000"/>
                </a:solidFill>
                <a:latin typeface="Arial Black"/>
              </a:rPr>
              <a:t>SUN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9531" y="3520440"/>
            <a:ext cx="1417320" cy="96012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9531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09459" y="3520440"/>
            <a:ext cx="1417320" cy="96012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9459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9388" y="3520440"/>
            <a:ext cx="1417320" cy="96012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9388" y="36576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43A7B"/>
                </a:solidFill>
                <a:latin typeface="Calibri"/>
              </a:rPr>
              <a:t>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800600"/>
            <a:ext cx="4846320" cy="105156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A7B"/>
                </a:solidFill>
                <a:latin typeface="Calibri"/>
              </a:rPr>
              <a:t>1️⃣  Teacher reads
2️⃣  Read together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00600"/>
            <a:ext cx="4846320" cy="105156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3️⃣  NOW YOU TRY!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8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FF8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7–10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🎯 Game 1: Word Hunt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15442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Word hunt  |  7–10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6B5E"/>
                </a:solidFill>
                <a:latin typeface="Calibri"/>
              </a:rPr>
              <a:t>Point to the word I say!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828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084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67128" y="1828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7128" y="2084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DOG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22776" y="1828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22776" y="2084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SUN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78424" y="1828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78424" y="2084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34071" y="1828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34071" y="2084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BALL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971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27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67128" y="2971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67128" y="3227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BALL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22776" y="2971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22776" y="3227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BIG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8424" y="2971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78424" y="3227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RUN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34071" y="2971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34071" y="3227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4114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370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SUN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67128" y="4114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67128" y="4370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BIG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22776" y="4114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22776" y="4370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8424" y="4114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78424" y="4370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DOG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34071" y="4114800"/>
            <a:ext cx="162763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34071" y="4370832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43A7B"/>
                </a:solidFill>
                <a:latin typeface="Calibri"/>
              </a:rPr>
              <a:t>RUN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81160" y="1828800"/>
            <a:ext cx="2514600" cy="320040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20116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3A7B"/>
                </a:solidFill>
                <a:latin typeface="Calibri"/>
              </a:rPr>
              <a:t>Find these: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2487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B38"/>
                </a:solidFill>
                <a:latin typeface="Calibri"/>
              </a:rPr>
              <a:t>1.  CAT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28986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B38"/>
                </a:solidFill>
                <a:latin typeface="Calibri"/>
              </a:rPr>
              <a:t>2.  BALL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3310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B38"/>
                </a:solidFill>
                <a:latin typeface="Calibri"/>
              </a:rPr>
              <a:t>3.  SUN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3721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B38"/>
                </a:solidFill>
                <a:latin typeface="Calibri"/>
              </a:rPr>
              <a:t>4.  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4133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B38"/>
                </a:solidFill>
                <a:latin typeface="Calibri"/>
              </a:rPr>
              <a:t>5.  BIG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4544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B38"/>
                </a:solidFill>
                <a:latin typeface="Calibri"/>
              </a:rPr>
              <a:t>6.  RUN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54406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693"/>
                </a:solidFill>
                <a:latin typeface="Calibri"/>
              </a:rPr>
              <a:t>🔍 Can you find it? Point to it, then READ it out loud!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7–10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✅ Word Hunt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966986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Answers  |  7–10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7A8C"/>
                </a:solidFill>
                <a:latin typeface="Calibri"/>
              </a:rPr>
              <a:t>How many times does each word appear?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920240"/>
            <a:ext cx="3474720" cy="160020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17" name="Oval 16"/>
          <p:cNvSpPr/>
          <p:nvPr/>
        </p:nvSpPr>
        <p:spPr>
          <a:xfrm>
            <a:off x="3063240" y="2304288"/>
            <a:ext cx="777240" cy="777240"/>
          </a:xfrm>
          <a:prstGeom prst="ellipse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42316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443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A8C"/>
                </a:solidFill>
                <a:latin typeface="Calibri"/>
              </a:rPr>
              <a:t>appears 3 times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1920240"/>
            <a:ext cx="3474720" cy="160020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7B"/>
                </a:solidFill>
                <a:latin typeface="Calibri"/>
              </a:rPr>
              <a:t>BALL</a:t>
            </a:r>
          </a:p>
        </p:txBody>
      </p:sp>
      <p:sp>
        <p:nvSpPr>
          <p:cNvPr id="22" name="Oval 21"/>
          <p:cNvSpPr/>
          <p:nvPr/>
        </p:nvSpPr>
        <p:spPr>
          <a:xfrm>
            <a:off x="6812279" y="2304288"/>
            <a:ext cx="777240" cy="777240"/>
          </a:xfrm>
          <a:prstGeom prst="ellipse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79" y="242316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29443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A8C"/>
                </a:solidFill>
                <a:latin typeface="Calibri"/>
              </a:rPr>
              <a:t>appears 2 times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1920240"/>
            <a:ext cx="3474720" cy="160020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7B"/>
                </a:solidFill>
                <a:latin typeface="Calibri"/>
              </a:rPr>
              <a:t>SUN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19" y="2304288"/>
            <a:ext cx="777240" cy="777240"/>
          </a:xfrm>
          <a:prstGeom prst="ellipse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61319" y="242316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29443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A8C"/>
                </a:solidFill>
                <a:latin typeface="Calibri"/>
              </a:rPr>
              <a:t>appears 2 times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40480"/>
            <a:ext cx="3474720" cy="160020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14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7B"/>
                </a:solidFill>
                <a:latin typeface="Calibri"/>
              </a:rPr>
              <a:t>RED</a:t>
            </a:r>
          </a:p>
        </p:txBody>
      </p:sp>
      <p:sp>
        <p:nvSpPr>
          <p:cNvPr id="32" name="Oval 31"/>
          <p:cNvSpPr/>
          <p:nvPr/>
        </p:nvSpPr>
        <p:spPr>
          <a:xfrm>
            <a:off x="3063240" y="4224528"/>
            <a:ext cx="777240" cy="777240"/>
          </a:xfrm>
          <a:prstGeom prst="ellipse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34340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64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A8C"/>
                </a:solidFill>
                <a:latin typeface="Calibri"/>
              </a:rPr>
              <a:t>appears 2 times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79" y="3840480"/>
            <a:ext cx="3474720" cy="160020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59" y="4114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7B"/>
                </a:solidFill>
                <a:latin typeface="Calibri"/>
              </a:rPr>
              <a:t>BIG</a:t>
            </a:r>
          </a:p>
        </p:txBody>
      </p:sp>
      <p:sp>
        <p:nvSpPr>
          <p:cNvPr id="37" name="Oval 36"/>
          <p:cNvSpPr/>
          <p:nvPr/>
        </p:nvSpPr>
        <p:spPr>
          <a:xfrm>
            <a:off x="6812279" y="4224528"/>
            <a:ext cx="777240" cy="777240"/>
          </a:xfrm>
          <a:prstGeom prst="ellipse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79" y="434340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4864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A8C"/>
                </a:solidFill>
                <a:latin typeface="Calibri"/>
              </a:rPr>
              <a:t>appears 2 times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19" y="3840480"/>
            <a:ext cx="3474720" cy="160020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9" y="4114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3A7B"/>
                </a:solidFill>
                <a:latin typeface="Calibri"/>
              </a:rPr>
              <a:t>RUN</a:t>
            </a:r>
          </a:p>
        </p:txBody>
      </p:sp>
      <p:sp>
        <p:nvSpPr>
          <p:cNvPr id="42" name="Oval 41"/>
          <p:cNvSpPr/>
          <p:nvPr/>
        </p:nvSpPr>
        <p:spPr>
          <a:xfrm>
            <a:off x="10561319" y="4224528"/>
            <a:ext cx="777240" cy="777240"/>
          </a:xfrm>
          <a:prstGeom prst="ellipse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61319" y="434340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9" y="4864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A8C"/>
                </a:solidFill>
                <a:latin typeface="Calibri"/>
              </a:rPr>
              <a:t>appears 2 times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10–14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📚 Sentence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418531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Sentences  |  10–14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463040"/>
            <a:ext cx="110642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69164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B38"/>
                </a:solidFill>
                <a:latin typeface="Calibri"/>
              </a:rPr>
              <a:t>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874519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143A7B"/>
                </a:solidFill>
                <a:latin typeface="Arial Black"/>
              </a:rPr>
              <a:t>I see a cat.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3520440" cy="169164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3308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1️⃣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817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3A7B"/>
                </a:solidFill>
                <a:latin typeface="Calibri"/>
              </a:rPr>
              <a:t>TEACHER 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20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3A7B"/>
                </a:solidFill>
                <a:latin typeface="Calibri"/>
              </a:rPr>
              <a:t>Listen and follow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931920"/>
            <a:ext cx="3520440" cy="169164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39" y="413308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2️⃣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46817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3A7B"/>
                </a:solidFill>
                <a:latin typeface="Calibri"/>
              </a:rPr>
              <a:t>READ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5120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3A7B"/>
                </a:solidFill>
                <a:latin typeface="Calibri"/>
              </a:rPr>
              <a:t>Say it with 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931920"/>
            <a:ext cx="3520440" cy="1691640"/>
          </a:xfrm>
          <a:prstGeom prst="roundRect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413308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6817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YOU READ IT!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120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Your turn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10–14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📚 Sentence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870075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Sentences  |  10–14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463040"/>
            <a:ext cx="110642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69164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B38"/>
                </a:solidFill>
                <a:latin typeface="Calibri"/>
              </a:rPr>
              <a:t>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874519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143A7B"/>
                </a:solidFill>
                <a:latin typeface="Arial Black"/>
              </a:rPr>
              <a:t>The ball is 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3520440" cy="169164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3308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1️⃣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817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3A7B"/>
                </a:solidFill>
                <a:latin typeface="Calibri"/>
              </a:rPr>
              <a:t>TEACHER 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20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3A7B"/>
                </a:solidFill>
                <a:latin typeface="Calibri"/>
              </a:rPr>
              <a:t>Listen and follow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931920"/>
            <a:ext cx="3520440" cy="169164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39" y="413308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2️⃣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46817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3A7B"/>
                </a:solidFill>
                <a:latin typeface="Calibri"/>
              </a:rPr>
              <a:t>READ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5120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3A7B"/>
                </a:solidFill>
                <a:latin typeface="Calibri"/>
              </a:rPr>
              <a:t>Say it with 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931920"/>
            <a:ext cx="3520440" cy="1691640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413308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6817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YOU READ IT!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120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Your turn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10–14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📚 Sentence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321619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Sentences  |  10–14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463040"/>
            <a:ext cx="110642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69164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B38"/>
                </a:solidFill>
                <a:latin typeface="Calibri"/>
              </a:rPr>
              <a:t>🐱💨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874519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143A7B"/>
                </a:solidFill>
                <a:latin typeface="Arial Black"/>
              </a:rPr>
              <a:t>The cat can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3520440" cy="169164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3308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1️⃣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817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3A7B"/>
                </a:solidFill>
                <a:latin typeface="Calibri"/>
              </a:rPr>
              <a:t>TEACHER 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20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3A7B"/>
                </a:solidFill>
                <a:latin typeface="Calibri"/>
              </a:rPr>
              <a:t>Listen and follow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931920"/>
            <a:ext cx="3520440" cy="169164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39" y="413308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2️⃣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46817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43A7B"/>
                </a:solidFill>
                <a:latin typeface="Calibri"/>
              </a:rPr>
              <a:t>READ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5120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43A7B"/>
                </a:solidFill>
                <a:latin typeface="Calibri"/>
              </a:rPr>
              <a:t>Say it with 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931920"/>
            <a:ext cx="3520440" cy="1691640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413308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68172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YOU READ IT!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1206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Your turn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8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14–17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🎲 Game 2: Build the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773163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Build it  |  14–17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984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6B5E"/>
                </a:solidFill>
                <a:latin typeface="Calibri"/>
              </a:rPr>
              <a:t>Put the words in the right order!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828800"/>
            <a:ext cx="113842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221992"/>
            <a:ext cx="548640" cy="548640"/>
          </a:xfrm>
          <a:prstGeom prst="ellipse">
            <a:avLst/>
          </a:prstGeom>
          <a:solidFill>
            <a:srgbClr val="8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86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212140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25856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212140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25856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12140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25856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212140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25856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see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7A8C"/>
                </a:solidFill>
                <a:latin typeface="Calibri"/>
              </a:rPr>
              <a:t>➡️  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337560"/>
            <a:ext cx="113842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3730752"/>
            <a:ext cx="548640" cy="548640"/>
          </a:xfrm>
          <a:prstGeom prst="ellipse">
            <a:avLst/>
          </a:prstGeom>
          <a:solidFill>
            <a:srgbClr val="8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363016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376732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363016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76732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ball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363016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376732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363016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376732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The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3794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7A8C"/>
                </a:solidFill>
                <a:latin typeface="Calibri"/>
              </a:rPr>
              <a:t>➡️  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846320"/>
            <a:ext cx="113842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0080" y="5239512"/>
            <a:ext cx="548640" cy="548640"/>
          </a:xfrm>
          <a:prstGeom prst="ellipse">
            <a:avLst/>
          </a:prstGeom>
          <a:solidFill>
            <a:srgbClr val="8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303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63040" y="513892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3040" y="527608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run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11880" y="513892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527608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can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513892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527608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09560" y="5138928"/>
            <a:ext cx="1965960" cy="73152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527608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The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5303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7A8C"/>
                </a:solidFill>
                <a:latin typeface="Calibri"/>
              </a:rPr>
              <a:t>➡️  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309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B3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14–17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✅ Build the Sentence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224708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Answers  |  14–17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691640"/>
            <a:ext cx="10881360" cy="128016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2075688"/>
            <a:ext cx="566928" cy="566928"/>
          </a:xfrm>
          <a:prstGeom prst="ellipse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14884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01168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43A7B"/>
                </a:solidFill>
                <a:latin typeface="Arial Black"/>
              </a:rPr>
              <a:t>I see a cat.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00400"/>
            <a:ext cx="10881360" cy="128016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584448"/>
            <a:ext cx="566928" cy="566928"/>
          </a:xfrm>
          <a:prstGeom prst="ellipse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52044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43A7B"/>
                </a:solidFill>
                <a:latin typeface="Arial Black"/>
              </a:rPr>
              <a:t>The ball is 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10881360" cy="128016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093208"/>
            <a:ext cx="566928" cy="566928"/>
          </a:xfrm>
          <a:prstGeom prst="ellipse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02920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43A7B"/>
                </a:solidFill>
                <a:latin typeface="Arial Black"/>
              </a:rPr>
              <a:t>The cat can run.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63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B3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17–21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🔍 Reading Detective: Sam's Ball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76252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Story  |  17–21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417320"/>
            <a:ext cx="78638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78308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3A7B"/>
                </a:solidFill>
                <a:latin typeface="Calibri"/>
              </a:rPr>
              <a:t>Sam has a red ball.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07208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3A7B"/>
                </a:solidFill>
                <a:latin typeface="Calibri"/>
              </a:rPr>
              <a:t>Sam plays with the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6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3A7B"/>
                </a:solidFill>
                <a:latin typeface="Calibri"/>
              </a:rPr>
              <a:t>The ball is big.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55464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3A7B"/>
                </a:solidFill>
                <a:latin typeface="Calibri"/>
              </a:rPr>
              <a:t>The cat runs to Sam.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417320"/>
            <a:ext cx="3108960" cy="4480560"/>
          </a:xfrm>
          <a:prstGeom prst="roundRect">
            <a:avLst/>
          </a:prstGeom>
          <a:solidFill>
            <a:srgbClr val="FF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22B38"/>
                </a:solidFill>
                <a:latin typeface="Calibri"/>
              </a:rPr>
              <a:t>🧒⚽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566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43A7B"/>
                </a:solidFill>
                <a:latin typeface="Calibri"/>
              </a:rPr>
              <a:t>1️⃣ I read it
2️⃣ We read it
3️⃣ YOU read it!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17–21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💡 Story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6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Comprehension  |  17–21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18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600200"/>
            <a:ext cx="53949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2148840"/>
            <a:ext cx="960120" cy="960120"/>
          </a:xfrm>
          <a:prstGeom prst="ellipse">
            <a:avLst/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13432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B38"/>
                </a:solidFill>
                <a:latin typeface="Calibri"/>
              </a:rPr>
              <a:t>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25856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A7B"/>
                </a:solidFill>
                <a:latin typeface="Calibri"/>
              </a:rPr>
              <a:t>Who has the ball?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00200"/>
            <a:ext cx="53949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2148840"/>
            <a:ext cx="960120" cy="960120"/>
          </a:xfrm>
          <a:prstGeom prst="ellipse">
            <a:avLst/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13432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B38"/>
                </a:solidFill>
                <a:latin typeface="Calibri"/>
              </a:rPr>
              <a:t>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25856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A7B"/>
                </a:solidFill>
                <a:latin typeface="Calibri"/>
              </a:rPr>
              <a:t>What color is the ball?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53949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4389120"/>
            <a:ext cx="960120" cy="960120"/>
          </a:xfrm>
          <a:prstGeom prst="ellipse">
            <a:avLst/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53712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B38"/>
                </a:solidFill>
                <a:latin typeface="Calibri"/>
              </a:rPr>
              <a:t>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49884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A7B"/>
                </a:solidFill>
                <a:latin typeface="Calibri"/>
              </a:rPr>
              <a:t>Is the ball big or small?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40480"/>
            <a:ext cx="53949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92240" y="4389120"/>
            <a:ext cx="960120" cy="960120"/>
          </a:xfrm>
          <a:prstGeom prst="ellipse">
            <a:avLst/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553712"/>
            <a:ext cx="960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B38"/>
                </a:solidFill>
                <a:latin typeface="Calibri"/>
              </a:rPr>
              <a:t>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49884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A7B"/>
                </a:solidFill>
                <a:latin typeface="Calibri"/>
              </a:rPr>
              <a:t>Who runs to Sam?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80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B3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17–21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✅ Story Questions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579340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Answers  |  17–21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19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11064240" cy="100584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77393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81051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B38"/>
                </a:solidFill>
                <a:latin typeface="Calibri"/>
              </a:rPr>
              <a:t>Who has the ball?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755648"/>
            <a:ext cx="3474720" cy="603504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8470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11064240" cy="100584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4436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98094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B38"/>
                </a:solidFill>
                <a:latin typeface="Calibri"/>
              </a:rPr>
              <a:t>What color is the ball?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2926080"/>
            <a:ext cx="3474720" cy="603504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95344"/>
            <a:ext cx="11064240" cy="100584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1480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151376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B38"/>
                </a:solidFill>
                <a:latin typeface="Calibri"/>
              </a:rPr>
              <a:t>Is the ball big or small?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4096512"/>
            <a:ext cx="3474720" cy="603504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1879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Big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65776"/>
            <a:ext cx="11064240" cy="100584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28523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32180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22B38"/>
                </a:solidFill>
                <a:latin typeface="Calibri"/>
              </a:rPr>
              <a:t>Who runs to Sam?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5266944"/>
            <a:ext cx="3474720" cy="603504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53583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The cat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F5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21–24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🎮 Game 3: Pick the Right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030885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Pick the word  |  21–24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20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08760"/>
            <a:ext cx="11292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1965960"/>
            <a:ext cx="1188720" cy="1188720"/>
          </a:xfrm>
          <a:prstGeom prst="ellipse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67128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B38"/>
                </a:solidFill>
                <a:latin typeface="Calibri"/>
              </a:rPr>
              <a:t>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76479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A7B"/>
                </a:solidFill>
                <a:latin typeface="Calibri"/>
              </a:rPr>
              <a:t>1.  I see a ___.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651760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8072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2651760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8072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DOG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651760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8072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SUN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79"/>
            <a:ext cx="11292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297679"/>
            <a:ext cx="1188720" cy="1188720"/>
          </a:xfrm>
          <a:prstGeom prst="ellipse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98847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B38"/>
                </a:solidFill>
                <a:latin typeface="Calibri"/>
              </a:rPr>
              <a:t>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096511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A7B"/>
                </a:solidFill>
                <a:latin typeface="Calibri"/>
              </a:rPr>
              <a:t>2.  The ball is ___.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4983479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513892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4983479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513892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RUN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4983479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513892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BIG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F5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21–24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🎮 Pick the Right Word — More!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482429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Pick the word  |  21–24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21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08760"/>
            <a:ext cx="11292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1965960"/>
            <a:ext cx="1188720" cy="1188720"/>
          </a:xfrm>
          <a:prstGeom prst="ellipse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67128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B38"/>
                </a:solidFill>
                <a:latin typeface="Calibri"/>
              </a:rPr>
              <a:t>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76479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A7B"/>
                </a:solidFill>
                <a:latin typeface="Calibri"/>
              </a:rPr>
              <a:t>3.  The cat can ___.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651760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8072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SUN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2651760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8072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651760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8072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BIG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79"/>
            <a:ext cx="11292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297679"/>
            <a:ext cx="1188720" cy="1188720"/>
          </a:xfrm>
          <a:prstGeom prst="ellipse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98847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B38"/>
                </a:solidFill>
                <a:latin typeface="Calibri"/>
              </a:rPr>
              <a:t>☀️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096511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3A7B"/>
                </a:solidFill>
                <a:latin typeface="Calibri"/>
              </a:rPr>
              <a:t>4.  The ___ is hot.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4983479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513892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4983479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513892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BALL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4983479"/>
            <a:ext cx="2743200" cy="7315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5138927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3A7B"/>
                </a:solidFill>
                <a:latin typeface="Calibri"/>
              </a:rPr>
              <a:t>SUN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21–24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✅ Pick the Right Word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933973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Answers  |  21–24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22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11064240" cy="100584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77393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79222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A7B"/>
                </a:solidFill>
                <a:latin typeface="Calibri"/>
              </a:rPr>
              <a:t>I see a cat.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755648"/>
            <a:ext cx="2743200" cy="603504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8470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24912"/>
            <a:ext cx="11064240" cy="100584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4436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96265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A7B"/>
                </a:solidFill>
                <a:latin typeface="Calibri"/>
              </a:rPr>
              <a:t>The ball is 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2926080"/>
            <a:ext cx="2743200" cy="603504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95344"/>
            <a:ext cx="11064240" cy="100584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1480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13308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A7B"/>
                </a:solidFill>
                <a:latin typeface="Calibri"/>
              </a:rPr>
              <a:t>The cat can run.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4096512"/>
            <a:ext cx="2743200" cy="603504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187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65776"/>
            <a:ext cx="11064240" cy="100584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28523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☀️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30352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A7B"/>
                </a:solidFill>
                <a:latin typeface="Calibri"/>
              </a:rPr>
              <a:t>The sun is hot.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5266944"/>
            <a:ext cx="2743200" cy="603504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53583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SUN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24–27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⭐ Reading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385517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Challenge  |  24–27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23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984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6B5E"/>
                </a:solidFill>
                <a:latin typeface="Calibri"/>
              </a:rPr>
              <a:t>Pick your level. You can try them all!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3611880" cy="402336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828800"/>
            <a:ext cx="3611880" cy="109728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10312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7432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0A693"/>
                </a:solidFill>
                <a:latin typeface="Calibri"/>
              </a:rPr>
              <a:t>EASY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004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A8C"/>
                </a:solidFill>
                <a:latin typeface="Calibri"/>
              </a:rPr>
              <a:t>Read 2 words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19"/>
            <a:ext cx="32461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43A7B"/>
                </a:solidFill>
                <a:latin typeface="Calibri"/>
              </a:rPr>
              <a:t>CAT      BALL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828800"/>
            <a:ext cx="3611880" cy="4023360"/>
          </a:xfrm>
          <a:prstGeom prst="roundRect">
            <a:avLst/>
          </a:prstGeom>
          <a:solidFill>
            <a:srgbClr val="FFF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828800"/>
            <a:ext cx="3611880" cy="109728"/>
          </a:xfrm>
          <a:prstGeom prst="rect">
            <a:avLst/>
          </a:prstGeom>
          <a:solidFill>
            <a:srgbClr val="FF8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10312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⭐⭐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7432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8A33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2004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A8C"/>
                </a:solidFill>
                <a:latin typeface="Calibri"/>
              </a:rPr>
              <a:t>Read 1 sentence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703319"/>
            <a:ext cx="32461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0233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43A7B"/>
                </a:solidFill>
                <a:latin typeface="Calibri"/>
              </a:rPr>
              <a:t>The ball is red.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828800"/>
            <a:ext cx="3611880" cy="4023360"/>
          </a:xfrm>
          <a:prstGeom prst="roundRect">
            <a:avLst/>
          </a:prstGeom>
          <a:solidFill>
            <a:srgbClr val="F1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828800"/>
            <a:ext cx="3611880" cy="109728"/>
          </a:xfrm>
          <a:prstGeom prst="rect">
            <a:avLst/>
          </a:prstGeom>
          <a:solidFill>
            <a:srgbClr val="F5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10312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B38"/>
                </a:solidFill>
                <a:latin typeface="Calibri"/>
              </a:rPr>
              <a:t>⭐⭐⭐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7432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5D9A"/>
                </a:solidFill>
                <a:latin typeface="Calibri"/>
              </a:rPr>
              <a:t>SUPER READER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2004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A8C"/>
                </a:solidFill>
                <a:latin typeface="Calibri"/>
              </a:rPr>
              <a:t>Read 2 sentences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703319"/>
            <a:ext cx="32461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0233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43A7B"/>
                </a:solidFill>
                <a:latin typeface="Calibri"/>
              </a:rPr>
              <a:t>Sam has a big ball.
The cat can run.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8A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27–29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🧠 Quick Game: Read or Skip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837062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Review  |  27–29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24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984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6B5E"/>
                </a:solidFill>
                <a:latin typeface="Calibri"/>
              </a:rPr>
              <a:t>Is it a word from today?  👍 READ IT      ❌ SKIP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965960"/>
            <a:ext cx="35204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860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089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A8C"/>
                </a:solidFill>
                <a:latin typeface="Calibri"/>
              </a:rPr>
              <a:t>👍  or  ❌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965960"/>
            <a:ext cx="35204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2860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3A7B"/>
                </a:solidFill>
                <a:latin typeface="Calibri"/>
              </a:rPr>
              <a:t>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1089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A8C"/>
                </a:solidFill>
                <a:latin typeface="Calibri"/>
              </a:rPr>
              <a:t>👍  or  ❌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965960"/>
            <a:ext cx="35204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2860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3A7B"/>
                </a:solidFill>
                <a:latin typeface="Calibri"/>
              </a:rPr>
              <a:t>BALL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1089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A8C"/>
                </a:solidFill>
                <a:latin typeface="Calibri"/>
              </a:rPr>
              <a:t>👍  or  ❌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77639"/>
            <a:ext cx="35204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97679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3A7B"/>
                </a:solidFill>
                <a:latin typeface="Calibri"/>
              </a:rPr>
              <a:t>ELEPHANT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2063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A8C"/>
                </a:solidFill>
                <a:latin typeface="Calibri"/>
              </a:rPr>
              <a:t>👍  or  ❌ 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977639"/>
            <a:ext cx="35204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297679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3A7B"/>
                </a:solidFill>
                <a:latin typeface="Calibri"/>
              </a:rPr>
              <a:t>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12063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A8C"/>
                </a:solidFill>
                <a:latin typeface="Calibri"/>
              </a:rPr>
              <a:t>👍  or  ❌ 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977639"/>
            <a:ext cx="35204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4297679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3A7B"/>
                </a:solidFill>
                <a:latin typeface="Calibri"/>
              </a:rPr>
              <a:t>MONKEY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12063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A8C"/>
                </a:solidFill>
                <a:latin typeface="Calibri"/>
              </a:rPr>
              <a:t>👍  or  ❌ ?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27–29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✅ Read or Skip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288606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Answers  |  27–29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25 / 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874519"/>
            <a:ext cx="3520440" cy="173736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48839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43A7B"/>
                </a:solidFill>
                <a:latin typeface="Calibri"/>
              </a:rPr>
              <a:t>CAT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2926079"/>
            <a:ext cx="1965960" cy="548640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026663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👍 READ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874519"/>
            <a:ext cx="3520440" cy="1737360"/>
          </a:xfrm>
          <a:prstGeom prst="roundRect">
            <a:avLst/>
          </a:prstGeom>
          <a:solidFill>
            <a:srgbClr val="FF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148839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43A7B"/>
                </a:solidFill>
                <a:latin typeface="Calibri"/>
              </a:rPr>
              <a:t>TRAIN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926079"/>
            <a:ext cx="1965960" cy="548640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026663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❌ SKIP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874519"/>
            <a:ext cx="3520440" cy="173736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148839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43A7B"/>
                </a:solidFill>
                <a:latin typeface="Calibri"/>
              </a:rPr>
              <a:t>BALL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2926079"/>
            <a:ext cx="1965960" cy="548640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3026663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👍 READ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86200"/>
            <a:ext cx="3520440" cy="1737360"/>
          </a:xfrm>
          <a:prstGeom prst="roundRect">
            <a:avLst/>
          </a:prstGeom>
          <a:solidFill>
            <a:srgbClr val="FF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605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43A7B"/>
                </a:solidFill>
                <a:latin typeface="Calibri"/>
              </a:rPr>
              <a:t>ELEPHANT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937760"/>
            <a:ext cx="1965960" cy="548640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038344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❌ SKIP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886200"/>
            <a:ext cx="3520440" cy="1737360"/>
          </a:xfrm>
          <a:prstGeom prst="roundRect">
            <a:avLst/>
          </a:prstGeom>
          <a:solidFill>
            <a:srgbClr val="E6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1605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43A7B"/>
                </a:solidFill>
                <a:latin typeface="Calibri"/>
              </a:rPr>
              <a:t>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4937760"/>
            <a:ext cx="1965960" cy="548640"/>
          </a:xfrm>
          <a:prstGeom prst="roundRect">
            <a:avLst/>
          </a:prstGeom>
          <a:solidFill>
            <a:srgbClr val="2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5038344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👍 READ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886200"/>
            <a:ext cx="3520440" cy="1737360"/>
          </a:xfrm>
          <a:prstGeom prst="roundRect">
            <a:avLst/>
          </a:prstGeom>
          <a:solidFill>
            <a:srgbClr val="FF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41605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43A7B"/>
                </a:solidFill>
                <a:latin typeface="Calibri"/>
              </a:rPr>
              <a:t>MONKEY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4937760"/>
            <a:ext cx="1965960" cy="548640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5038344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❌ SKIP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2834640" cy="402336"/>
          </a:xfrm>
          <a:prstGeom prst="roundRect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237744"/>
            <a:ext cx="2377440" cy="402336"/>
          </a:xfrm>
          <a:prstGeom prst="round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9260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29–30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498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A7B"/>
                </a:solidFill>
                <a:latin typeface="Georgia"/>
              </a:rPr>
              <a:t>🎟️ Exit Ticket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740150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Exit ticket  |  29–30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26 / 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984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6B5E"/>
                </a:solidFill>
                <a:latin typeface="Calibri"/>
              </a:rPr>
              <a:t>Before we finish — read these two things for me!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874519"/>
            <a:ext cx="5303520" cy="3931920"/>
          </a:xfrm>
          <a:prstGeom prst="roundRect">
            <a:avLst/>
          </a:prstGeom>
          <a:solidFill>
            <a:srgbClr val="E3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48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3A7B"/>
                </a:solidFill>
                <a:latin typeface="Calibri"/>
              </a:rPr>
              <a:t>1️⃣  Read ONE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2834640"/>
            <a:ext cx="402336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2461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6B5E"/>
                </a:solidFill>
                <a:latin typeface="Arial Black"/>
              </a:rPr>
              <a:t>BALL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A8C"/>
                </a:solidFill>
                <a:latin typeface="Calibri"/>
              </a:rPr>
              <a:t>B – A – 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74519"/>
            <a:ext cx="5303520" cy="393192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48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3A7B"/>
                </a:solidFill>
                <a:latin typeface="Calibri"/>
              </a:rPr>
              <a:t>2️⃣  Read ONE sentence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834640"/>
            <a:ext cx="45720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2918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A693"/>
                </a:solidFill>
                <a:latin typeface="Arial Black"/>
              </a:rPr>
              <a:t>The cat can run.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00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A8C"/>
                </a:solidFill>
                <a:latin typeface="Calibri"/>
              </a:rPr>
              <a:t>Take your time 🌟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D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685800"/>
            <a:ext cx="777240" cy="777240"/>
          </a:xfrm>
          <a:prstGeom prst="ellipse">
            <a:avLst/>
          </a:prstGeom>
          <a:solidFill>
            <a:srgbClr val="3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731520"/>
            <a:ext cx="777240" cy="777240"/>
          </a:xfrm>
          <a:prstGeom prst="ellipse">
            <a:avLst/>
          </a:prstGeom>
          <a:solidFill>
            <a:srgbClr val="F5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5303520"/>
            <a:ext cx="777240" cy="77724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5640" y="5257800"/>
            <a:ext cx="777240" cy="777240"/>
          </a:xfrm>
          <a:prstGeom prst="ellipse">
            <a:avLst/>
          </a:prstGeom>
          <a:solidFill>
            <a:srgbClr val="FF8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53D"/>
                </a:solidFill>
                <a:latin typeface="Georgia"/>
              </a:rPr>
              <a:t>🎉 GREAT READING! 🎉</a:t>
            </a:r>
          </a:p>
        </p:txBody>
      </p:sp>
      <p:sp>
        <p:nvSpPr>
          <p:cNvPr id="9" name="Oval 8"/>
          <p:cNvSpPr/>
          <p:nvPr/>
        </p:nvSpPr>
        <p:spPr>
          <a:xfrm>
            <a:off x="4956048" y="2057400"/>
            <a:ext cx="2286000" cy="2286000"/>
          </a:xfrm>
          <a:prstGeom prst="ellipse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6060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22B38"/>
                </a:solidFill>
                <a:latin typeface="Calibri"/>
              </a:rPr>
              <a:t>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You are a SUPER READER!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6FF"/>
                </a:solidFill>
                <a:latin typeface="Calibri"/>
              </a:rPr>
              <a:t>You read words  •  You read sentences  •  You read a 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4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Grade 1 Reading  |  30 min  |  Celebrate  |  29–30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27 / 27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