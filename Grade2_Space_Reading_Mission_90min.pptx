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097280"/>
            <a:ext cx="82296" cy="82296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237744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0" y="1371600"/>
            <a:ext cx="73152" cy="73152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310896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448056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0" y="4937760"/>
            <a:ext cx="82296" cy="82296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0" y="91440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0" y="82296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291840"/>
            <a:ext cx="914400" cy="9144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868680"/>
            <a:ext cx="960120" cy="96012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74519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The Space Reading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D3E8"/>
                </a:solidFill>
                <a:latin typeface="Calibri"/>
              </a:rPr>
              <a:t>Grade 2  •  90 Minutes  •  Earth 🌎 → Moon 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3429000"/>
            <a:ext cx="5943600" cy="109728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675887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You are the READING ASTRONAUT.
Reading is how we fly!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892040"/>
            <a:ext cx="1508760" cy="82296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Earth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892040"/>
            <a:ext cx="1508760" cy="82296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Rocket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892040"/>
            <a:ext cx="1508760" cy="82296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892040"/>
            <a:ext cx="1508760" cy="82296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Space Station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4892040"/>
            <a:ext cx="1508760" cy="82296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4892040"/>
            <a:ext cx="1508760" cy="822960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497433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537667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Champion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419088"/>
            <a:ext cx="31260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  |  0–7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39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👨‍🚀 Meet Captain Nova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521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B5"/>
                </a:solidFill>
                <a:latin typeface="Calibri"/>
              </a:rPr>
              <a:t>Say hello to your crew!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20624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210312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3440" y="237744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21208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0" y="502920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43200" y="192024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33172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C530"/>
                </a:solidFill>
                <a:latin typeface="Arial Black"/>
              </a:rPr>
              <a:t>CAPTAIN NOVA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9D3E8"/>
                </a:solidFill>
                <a:latin typeface="Calibri"/>
              </a:rPr>
              <a:t>Your space buddy for today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1737360"/>
            <a:ext cx="6035040" cy="932688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0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99339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993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"Hi! I need your help today."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2816352"/>
            <a:ext cx="6035040" cy="932688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0" y="301752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07238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0723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"My rocket only flies when someone READS."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3895344"/>
            <a:ext cx="6035040" cy="932688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0" y="40965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15137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151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"Every mission you finish takes us higher."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4974336"/>
            <a:ext cx="6035040" cy="932688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0" y="517550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523036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230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"We read together. You are never alone."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🗺️ Mission Map — Earth to Champion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782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Six stops. One reading mission at each stop.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20116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0195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E9E5B"/>
                </a:solidFill>
                <a:latin typeface="Calibri"/>
              </a:rPr>
              <a:t>Earth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36499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0–17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3566160" cy="201168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90195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E2483C"/>
                </a:solidFill>
                <a:latin typeface="Calibri"/>
              </a:rPr>
              <a:t>Rocket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Words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336499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17–41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37360"/>
            <a:ext cx="3566160" cy="2011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0195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E6FD9"/>
                </a:solidFill>
                <a:latin typeface="Calibri"/>
              </a:rPr>
              <a:t>Moon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Sight words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36499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392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41–63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0965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EEA21A"/>
                </a:solidFill>
                <a:latin typeface="Calibri"/>
              </a:rPr>
              <a:t>Space Station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Sentences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555955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5586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63–75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40965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7B5CD6"/>
                </a:solidFill>
                <a:latin typeface="Calibri"/>
              </a:rPr>
              <a:t>Planet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Story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57800" y="555955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5586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75–87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409651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4800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0A8B5"/>
                </a:solidFill>
                <a:latin typeface="Calibri"/>
              </a:rPr>
              <a:t>Champion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230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You did it!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5559552"/>
            <a:ext cx="15544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5586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87–90 min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TALK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👀 Warm-Up: What Do You See?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25043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B5"/>
                </a:solidFill>
                <a:latin typeface="Calibri"/>
              </a:rPr>
              <a:t>Just look and talk. No reading yet!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370332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011680"/>
            <a:ext cx="73152" cy="73152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6160" y="301752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0" y="192024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0" y="274320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11680" y="493776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41280" y="484632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502920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329184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21031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574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874519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118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3832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9319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114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32120"/>
            <a:ext cx="11292840" cy="566928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5099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5A"/>
                </a:solidFill>
                <a:latin typeface="Calibri"/>
              </a:rPr>
              <a:t>🎤 Ask: "What do you see?"  ·  Let him name anything. Every answer counts.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📢 Our First 3 Space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6303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483C"/>
                </a:solidFill>
                <a:latin typeface="Calibri"/>
              </a:rPr>
              <a:t>I read it. You say it after me. That's all for now.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356616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3017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2483C"/>
                </a:solidFill>
                <a:latin typeface="Arial Black"/>
              </a:rPr>
              <a:t>ROCKET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526280"/>
            <a:ext cx="192024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599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Say it! 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3566160" cy="356616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9659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291840"/>
            <a:ext cx="3017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49300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E6FD9"/>
                </a:solidFill>
                <a:latin typeface="Arial Black"/>
              </a:rPr>
              <a:t>MOON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4526280"/>
            <a:ext cx="1920240" cy="45720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599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Say it! 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37360"/>
            <a:ext cx="3566160" cy="356616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196596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291840"/>
            <a:ext cx="3017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493008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530"/>
                </a:solidFill>
                <a:latin typeface="Arial Black"/>
              </a:rPr>
              <a:t>STAR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4526280"/>
            <a:ext cx="1920240" cy="457200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599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Say it! 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577840"/>
            <a:ext cx="356616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418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5577840"/>
            <a:ext cx="3566160" cy="45720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6418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5577840"/>
            <a:ext cx="356616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56418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 ·  Student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144768"/>
            <a:ext cx="11292840" cy="42062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99631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These 3 words come back in every mission today.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🔊 Game: Rocket Sound Blast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87564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2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What sound does the word START with?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1168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66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5681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9751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ROCKET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94767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20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/r/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94767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20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/m/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94767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2020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/s/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8892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06324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18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083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302666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MOON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299923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072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/s/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99923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072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/m/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299923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3072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/t/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79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114799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1696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059935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078223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STAR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4050791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12394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/p/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4050791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12394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/d/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4050791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9" y="412394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/s/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9204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516636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221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11149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512978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SUN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510235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5175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/s/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510235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5175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/b/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59" y="510235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59" y="5175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/f/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Stuck? Say the word slowly and stretch the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🔊 Sound Challenge — Round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8825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2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Four more. Listen to the very first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1168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66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5681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97510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194767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20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/n/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94767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020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/m/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94767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2020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/r/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8892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06324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18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083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302666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ROBOT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299923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072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/r/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99923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072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/t/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299923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59" y="307238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/c/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79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8368" y="4114799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16966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059935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078223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PLANET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4050791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12394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/b/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78040" y="4050791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12394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/p/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59" y="4050791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9" y="4123943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/d/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92040"/>
            <a:ext cx="1129284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8368" y="516636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221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11149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512978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FLAG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46320" y="510235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5175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A.  /f/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510235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5175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B.  /n/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59" y="5102352"/>
            <a:ext cx="2103120" cy="5486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59" y="5175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2A5A"/>
                </a:solidFill>
                <a:latin typeface="Calibri"/>
              </a:rPr>
              <a:t>C.  /t/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Our sounds today:  m  s  t  p  b  d  c  f  r  n   ·   a  e  i  o  u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👏 Syllable Mission — Big Words Break Apart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50086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3  |  17–24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  <a:latin typeface="Calibri"/>
              </a:rPr>
              <a:t>A long word is just small parts stuck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3852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7510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ROCKET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93852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02082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ROCK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93852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02082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1965960"/>
            <a:ext cx="1005840" cy="512064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039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👏👏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788920"/>
            <a:ext cx="1129284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9008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02666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PLANET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299008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07238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299008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07238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3017520"/>
            <a:ext cx="1005840" cy="512064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30906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👏👏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840479"/>
            <a:ext cx="1129284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041647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078223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ROBOT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114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40680" y="4041647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4123943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4041647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4123943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BOT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0" y="4069079"/>
            <a:ext cx="1005840" cy="512064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142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👏👏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892040"/>
            <a:ext cx="1129284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09320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512978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Arial Black"/>
              </a:rPr>
              <a:t>ASTRONAUT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Calibr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40680" y="509320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40680" y="517550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509320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517550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TRO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5093208"/>
            <a:ext cx="1554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5175504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9E5B"/>
                </a:solidFill>
                <a:latin typeface="Calibri"/>
              </a:rPr>
              <a:t>NAUT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15600" y="5120640"/>
            <a:ext cx="1005840" cy="512064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15600" y="51937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👏👏👏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Say it with him and clap on each part. Hands make it stick.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17–24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👏 Game: Clap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81346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3  |  17–24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  <a:latin typeface="Calibri"/>
              </a:rPr>
              <a:t>How many claps? Clap it, then say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476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ROCKET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5468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18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👏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178308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19476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PLANET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9312" y="315468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3218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👏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78308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19476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ROBOT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1384" y="315468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3218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👏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178308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3416" y="19476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6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ASTRONAUT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315468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3218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👏 👏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9651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00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HELMET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30352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36752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👏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9272" y="393192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409651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0712" y="4800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MOON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9312" y="530352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9312" y="536752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1344" y="3931920"/>
            <a:ext cx="2651760" cy="196596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81344" y="409651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4800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A5A"/>
                </a:solidFill>
                <a:latin typeface="Arial Black"/>
              </a:rPr>
              <a:t>SPACE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01384" y="5303520"/>
            <a:ext cx="20116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4" y="536752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👏 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24–34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🧪 Word-Building Lab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2607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4  |  24–34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FD9"/>
                </a:solidFill>
                <a:latin typeface="Calibri"/>
              </a:rPr>
              <a:t>Short words first. Then we grow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41148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55648"/>
            <a:ext cx="11292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 HERE — 3 letters, 3 sounds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12848"/>
            <a:ext cx="1737360" cy="15544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408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SUN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2212848"/>
            <a:ext cx="1737360" cy="15544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3408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29718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2212848"/>
            <a:ext cx="1737360" cy="15544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23408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✈️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9718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JET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2212848"/>
            <a:ext cx="1737360" cy="15544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23408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6" y="29718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2212848"/>
            <a:ext cx="1737360" cy="15544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23408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9718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2212848"/>
            <a:ext cx="1737360" cy="155448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2340864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97180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HOP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11292840" cy="411480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995928"/>
            <a:ext cx="11292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THEN THESE — a little longer, we break them into parts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53128"/>
            <a:ext cx="2651760" cy="150876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9379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5CD6"/>
                </a:solidFill>
                <a:latin typeface="Arial Black"/>
              </a:rPr>
              <a:t>STAR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9272" y="4453128"/>
            <a:ext cx="2651760" cy="150876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9272" y="519379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5CD6"/>
                </a:solidFill>
                <a:latin typeface="Arial Black"/>
              </a:rPr>
              <a:t>MOON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1344" y="4453128"/>
            <a:ext cx="2651760" cy="150876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344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519379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5CD6"/>
                </a:solidFill>
                <a:latin typeface="Arial Black"/>
              </a:rPr>
              <a:t>ROCKET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43416" y="4453128"/>
            <a:ext cx="2651760" cy="150876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43416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5193792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5CD6"/>
                </a:solidFill>
                <a:latin typeface="Arial Black"/>
              </a:rPr>
              <a:t>ROBOT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24–34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Game: Build the Space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43868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4  |  24–34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FD9"/>
                </a:solidFill>
                <a:latin typeface="Calibri"/>
              </a:rPr>
              <a:t>Say each sound. Then push them together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0665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EA21A"/>
                </a:solidFill>
                <a:latin typeface="Arial Black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15798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EA21A"/>
                </a:solidFill>
                <a:latin typeface="Arial Black"/>
              </a:rPr>
              <a:t>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15798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79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79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EA21A"/>
                </a:solidFill>
                <a:latin typeface="Arial Black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1396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97688"/>
                </a:solidFill>
                <a:latin typeface="Calibri"/>
              </a:rPr>
              <a:t>/s/  /u/  /n/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EA21A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2011680"/>
            <a:ext cx="26517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1031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EA21A"/>
                </a:solidFill>
                <a:latin typeface="Arial Black"/>
              </a:rPr>
              <a:t>SUN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54680"/>
            <a:ext cx="11292840" cy="1261872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48386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🗺️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344728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3538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57530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344728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3538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57530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79" y="344728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79" y="3538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9E5B"/>
                </a:solidFill>
                <a:latin typeface="Arial Black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557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97688"/>
                </a:solidFill>
                <a:latin typeface="Calibri"/>
              </a:rPr>
              <a:t>/m/  /a/  /p/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538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9E5B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3429000"/>
            <a:ext cx="26517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352044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9E5B"/>
                </a:solidFill>
                <a:latin typeface="Arial Black"/>
              </a:rPr>
              <a:t>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72000"/>
            <a:ext cx="11292840" cy="1261872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90118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✈️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37360" y="486460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37360" y="4956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99262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88920" y="486460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88920" y="4956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499262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79" y="486460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79" y="4956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9743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97688"/>
                </a:solidFill>
                <a:latin typeface="Calibri"/>
              </a:rPr>
              <a:t>/j/  /e/  /t/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956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4846320"/>
            <a:ext cx="26517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4937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FD9"/>
                </a:solidFill>
                <a:latin typeface="Arial Black"/>
              </a:rPr>
              <a:t>JET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60899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Slide your finger under the letters as he blends.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24–34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Word Challenge — Harder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51290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4  |  24–34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These have a two-letter team. I'll help more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6187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0665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530"/>
                </a:solidFill>
                <a:latin typeface="Arial Black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15798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530"/>
                </a:solidFill>
                <a:latin typeface="Arial Black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15798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79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79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530"/>
                </a:solidFill>
                <a:latin typeface="Arial Black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215798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202996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1214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530"/>
                </a:solidFill>
                <a:latin typeface="Arial Black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1396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97688"/>
                </a:solidFill>
                <a:latin typeface="Calibri"/>
              </a:rPr>
              <a:t>/s/  /t/  /ar/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530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2011680"/>
            <a:ext cx="26517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1031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530"/>
                </a:solidFill>
                <a:latin typeface="Arial Black"/>
              </a:rPr>
              <a:t>STAR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154680"/>
            <a:ext cx="11292840" cy="1261872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48386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344728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3538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357530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344728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3538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OO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57530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79" y="344728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79" y="353872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557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97688"/>
                </a:solidFill>
                <a:latin typeface="Calibri"/>
              </a:rPr>
              <a:t>/m/  /oo/  /n/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538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6FD9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3429000"/>
            <a:ext cx="26517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352044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FD9"/>
                </a:solidFill>
                <a:latin typeface="Arial Black"/>
              </a:rPr>
              <a:t>MOON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72000"/>
            <a:ext cx="11292840" cy="1261872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90118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37360" y="486460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37360" y="4956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5CD6"/>
                </a:solidFill>
                <a:latin typeface="Arial Black"/>
              </a:rPr>
              <a:t>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4992624"/>
            <a:ext cx="1463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97688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88920" y="4864608"/>
            <a:ext cx="914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88920" y="495604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B5CD6"/>
                </a:solidFill>
                <a:latin typeface="Arial Black"/>
              </a:rPr>
              <a:t>BOT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9743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97688"/>
                </a:solidFill>
                <a:latin typeface="Calibri"/>
              </a:rPr>
              <a:t>/ro/  /bot/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956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5CD6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4846320"/>
            <a:ext cx="26517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4937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7B5CD6"/>
                </a:solidFill>
                <a:latin typeface="Arial Black"/>
              </a:rPr>
              <a:t>ROBOT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60899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OO says /oo/ · AR says /ar/ · ROBOT is 2 chunks: RO + BOT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34–41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🔎 Game: Find the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06389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5  |  34–41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I call a word. You point to it. Then you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1292840" cy="406908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1920240"/>
            <a:ext cx="73152" cy="73152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80" y="182880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60" y="512064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237744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0" y="548640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539496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182880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6080" y="274320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01168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5740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8803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97180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2062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1089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29184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20040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2148840"/>
            <a:ext cx="1783080" cy="56692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224028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STAR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4160520"/>
            <a:ext cx="1783080" cy="56692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4251959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MOON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2103120"/>
            <a:ext cx="1783080" cy="56692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2194560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4617720"/>
            <a:ext cx="1783080" cy="56692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4709159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ROCKET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92640" y="4434840"/>
            <a:ext cx="1783080" cy="56692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4526279"/>
            <a:ext cx="1783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5274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👀 Five words are hiding: STAR · MOON · SUN · ROCKET · MAP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34–41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🔎 Hidden Word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7650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5  |  34–41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Find it → point to it → read it. One word at a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1938528"/>
            <a:ext cx="384048" cy="384048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75104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91109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Find MOON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892808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476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👉 Point to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1892808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9476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🔊 Sound it 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92808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9476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📖 Read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9464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2724912"/>
            <a:ext cx="384048" cy="384048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761488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69748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Find STAR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2679192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7340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👉 Point to 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679192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7340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🔊 Sound it 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2679192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73405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📖 Read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355848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3511296"/>
            <a:ext cx="384048" cy="384048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547872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348386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Find SUN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60" y="3465576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3520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👉 Point to 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465576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520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🔊 Sound it 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3465576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35204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📖 Read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42232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58368" y="4297680"/>
            <a:ext cx="384048" cy="384048"/>
          </a:xfrm>
          <a:prstGeom prst="ellipse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334256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427024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Find ROCKET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60" y="4251960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4306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👉 Point to 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0" y="4251960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4306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🔊 Sound it out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40" y="4251960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43068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📖 Read 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928616"/>
            <a:ext cx="11292840" cy="6766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8368" y="508406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5120640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720" y="505663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Find MAP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80560" y="5038344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0" y="5093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👉 Point to 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0" y="5038344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5093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🔊 Sound it out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35440" y="5038344"/>
            <a:ext cx="2194560" cy="4572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5093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97688"/>
                </a:solidFill>
                <a:latin typeface="Calibri"/>
              </a:rPr>
              <a:t>📖 Read it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897880"/>
            <a:ext cx="356616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9618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51960" y="5897880"/>
            <a:ext cx="3566160" cy="45720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1960" y="59618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6720" y="5897880"/>
            <a:ext cx="356616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0" y="59618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 ·  Student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41–45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🚀 Brain Break: Astronaut 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68911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6  |  41–45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B5"/>
                </a:solidFill>
                <a:latin typeface="Calibri"/>
              </a:rPr>
              <a:t>Stand up! Only move if I say "Astronaut says."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972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057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11226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122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Astronaut says touch your head.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972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20574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1226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1226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Astronaut says make a rocket sound!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63239"/>
            <a:ext cx="5440680" cy="10972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3375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392423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9242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Astronaut says point to the word STAR.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63239"/>
            <a:ext cx="5440680" cy="10972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2" y="3337559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392423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92423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Astronaut says read MOON.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5440680" cy="10972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725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6725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Astronaut says clap when you hear /s/.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43400"/>
            <a:ext cx="5440680" cy="109728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2" y="4617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6725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22A36"/>
                </a:solidFill>
                <a:latin typeface="Calibri"/>
              </a:rPr>
              <a:t>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72584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Astronaut says jump like an astronaut!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Two of these are reading tasks — that's the point. Keep it fast and silly.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45–54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🛰️ Sight Words — Words We Just Know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00172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7  |  45–54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FD9"/>
                </a:solidFill>
                <a:latin typeface="Calibri"/>
              </a:rPr>
              <a:t>We don't sound these out. We just know them. Five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 can 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34056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16936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6936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216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 am 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93792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the moon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0648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a star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64624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47504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4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It is 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343400"/>
            <a:ext cx="11292840" cy="1371600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8056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How we learn a sight word: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956048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👀 Look at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4956048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👂 I say 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4956048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🗣️ You say 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199" y="4956048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9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✍️ Trace it in the air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4956048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⚡ Read it fast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45–54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🛰️ Game: Space Station Password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1432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7  |  45–54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FD9"/>
                </a:solidFill>
                <a:latin typeface="Calibri"/>
              </a:rPr>
              <a:t>The door won't open until you read the password!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356616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🛰️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D3E8"/>
                </a:solidFill>
                <a:latin typeface="Calibri"/>
              </a:rPr>
              <a:t>PASSWORD: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017520"/>
            <a:ext cx="2651760" cy="1051560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51960"/>
            <a:ext cx="28346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7083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the moon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530"/>
                </a:solidFill>
                <a:latin typeface="Calibri"/>
              </a:rPr>
              <a:t>🔓 Read it → door opens!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783080"/>
            <a:ext cx="3566160" cy="356616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19659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🛰️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60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D3E8"/>
                </a:solidFill>
                <a:latin typeface="Calibri"/>
              </a:rPr>
              <a:t>PASSWORD: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017520"/>
            <a:ext cx="2651760" cy="105156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2461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4251960"/>
            <a:ext cx="28346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37083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 can go.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530"/>
                </a:solidFill>
                <a:latin typeface="Calibri"/>
              </a:rPr>
              <a:t>🔓 Read it → door opens!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783080"/>
            <a:ext cx="3566160" cy="356616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9659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🛰️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560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D3E8"/>
                </a:solidFill>
                <a:latin typeface="Calibri"/>
              </a:rPr>
              <a:t>PASSWORD: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3017520"/>
            <a:ext cx="2651760" cy="1051560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2461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4251960"/>
            <a:ext cx="28346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37083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 see a star.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937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530"/>
                </a:solidFill>
                <a:latin typeface="Calibri"/>
              </a:rPr>
              <a:t>🔓 Read it → door opens!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623560"/>
            <a:ext cx="11292840" cy="42062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7842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Too hard? Say "This word is the." He repeats. Ask again in 2 minutes.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45–54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⚡ Sight Word Challenge — 5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62693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7  |  45–54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6FD9"/>
                </a:solidFill>
                <a:latin typeface="Calibri"/>
              </a:rPr>
              <a:t>Read them fast. Then read all ten in a row.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my rocket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34056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16936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6936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216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 can see.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93792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I see a star.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0648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we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we 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64624" y="1783080"/>
            <a:ext cx="2103120" cy="228600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47504" y="2057400"/>
            <a:ext cx="1737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4" y="2240280"/>
            <a:ext cx="1737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6FD9"/>
                </a:solidFill>
                <a:latin typeface="Arial Black"/>
              </a:rPr>
              <a:t>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154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2A5A"/>
                </a:solidFill>
                <a:latin typeface="Calibri"/>
              </a:rPr>
              <a:t>Let's go!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343400"/>
            <a:ext cx="11292840" cy="132588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622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0"/>
                </a:solidFill>
                <a:latin typeface="Calibri"/>
              </a:rPr>
              <a:t>⚡ SPEED ROUND — all ten: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19656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9656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07791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1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the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95928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95928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84064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4064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199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199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my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60336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6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can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48472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48472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see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36608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36608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we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524744" y="4901184"/>
            <a:ext cx="9601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24744" y="5010912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FD9"/>
                </a:solidFill>
                <a:latin typeface="Calibri"/>
              </a:rPr>
              <a:t>go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760720"/>
            <a:ext cx="11292840" cy="42062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81558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Missed one? Put it back in the deck and ask again at the end.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54–63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🚀 Sentence Rocket — How We Read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93954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8  |  54–63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483C"/>
                </a:solidFill>
                <a:latin typeface="Calibri"/>
              </a:rPr>
              <a:t>You never read a new sentence alone the first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260604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2011680"/>
            <a:ext cx="1554480" cy="47548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2483C"/>
                </a:solidFill>
                <a:latin typeface="Arial Black"/>
              </a:rPr>
              <a:t>I read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A5A"/>
                </a:solidFill>
                <a:latin typeface="Calibri"/>
              </a:rPr>
              <a:t>Teacher reads. Student listens.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26060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57800" y="2011680"/>
            <a:ext cx="1554480" cy="47548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C530"/>
                </a:solidFill>
                <a:latin typeface="Arial Black"/>
              </a:rPr>
              <a:t>We 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A5A"/>
                </a:solidFill>
                <a:latin typeface="Calibri"/>
              </a:rPr>
              <a:t>Teacher and student read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26060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011680"/>
            <a:ext cx="1554480" cy="47548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ROUND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6517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9E5B"/>
                </a:solidFill>
                <a:latin typeface="Arial Black"/>
              </a:rPr>
              <a:t>You read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310128"/>
            <a:ext cx="301752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47472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A5A"/>
                </a:solidFill>
                <a:latin typeface="Calibri"/>
              </a:rPr>
              <a:t>Student reads one sentence.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17720"/>
            <a:ext cx="11292840" cy="114300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530"/>
                </a:solidFill>
                <a:latin typeface="Calibri"/>
              </a:rPr>
              <a:t>If a word is hard, we do this — never skip it, never rush it: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75504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486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A5A"/>
                </a:solidFill>
                <a:latin typeface="Calibri"/>
              </a:rPr>
              <a:t>1. BREAK THE WORD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5175504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2486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A5A"/>
                </a:solidFill>
                <a:latin typeface="Calibri"/>
              </a:rPr>
              <a:t>2. SOUND IT 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5175504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2486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A5A"/>
                </a:solidFill>
                <a:latin typeface="Calibri"/>
              </a:rPr>
              <a:t>3. BLEND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199" y="5175504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9" y="52486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A5A"/>
                </a:solidFill>
                <a:latin typeface="Calibri"/>
              </a:rPr>
              <a:t>4. READ TOGETHER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5175504"/>
            <a:ext cx="2011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52486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2A5A"/>
                </a:solidFill>
                <a:latin typeface="Calibri"/>
              </a:rPr>
              <a:t>5. TRY AGAIN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54–63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📕 Echo Reading — I Read, You Echo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5215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8  |  54–63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483C"/>
                </a:solidFill>
                <a:latin typeface="Calibri"/>
              </a:rPr>
              <a:t>I read the line. You say it right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1887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8483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03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A5A"/>
                </a:solidFill>
                <a:latin typeface="Calibri"/>
              </a:rPr>
              <a:t>I see a star.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148840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221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530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00400"/>
            <a:ext cx="11292840" cy="118872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5643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74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A5A"/>
                </a:solidFill>
                <a:latin typeface="Calibri"/>
              </a:rPr>
              <a:t>I see the moon.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520440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93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6FD9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72000"/>
            <a:ext cx="11292840" cy="118872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846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2A5A"/>
                </a:solidFill>
                <a:latin typeface="Calibri"/>
              </a:rPr>
              <a:t>The sun is hot.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892040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965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EA21A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Point to each word as you read. His eyes should follow you.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54–63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📗 Sentence Reading — Your Turn Grows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564758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8  |  54–63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  <a:latin typeface="Calibri"/>
              </a:rPr>
              <a:t>Pick the one you want to read by yourself!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6012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9339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011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Calibri"/>
              </a:rPr>
              <a:t>The rocket is 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057400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305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2483C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34639"/>
            <a:ext cx="11292840" cy="96012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1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10895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Calibri"/>
              </a:rPr>
              <a:t>I can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154679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2278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9E5B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31920"/>
            <a:ext cx="11292840" cy="960120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795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206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Calibri"/>
              </a:rPr>
              <a:t>We can go.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251960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A8B5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29200"/>
            <a:ext cx="11292840" cy="96012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03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A5A"/>
                </a:solidFill>
                <a:latin typeface="Calibri"/>
              </a:rPr>
              <a:t>The robot is big.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5349240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54223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B5CD6"/>
                </a:solidFill>
                <a:latin typeface="Calibri"/>
              </a:rPr>
              <a:t>I · WE · YOU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9846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Let him choose. Choosing is what makes him brave.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63–70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Game: Build the Rocket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7736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9  |  63–70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The words fell out of order. Put them back!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48840"/>
            <a:ext cx="457200" cy="457200"/>
          </a:xfrm>
          <a:prstGeom prst="ellipse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112264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2075688"/>
            <a:ext cx="1234440" cy="60350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FD9"/>
                </a:solidFill>
                <a:latin typeface="Calibri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2075688"/>
            <a:ext cx="1234440" cy="60350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FD9"/>
                </a:solidFill>
                <a:latin typeface="Calibri"/>
              </a:rPr>
              <a:t>see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075688"/>
            <a:ext cx="1234440" cy="60350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FD9"/>
                </a:solidFill>
                <a:latin typeface="Calibri"/>
              </a:rPr>
              <a:t>the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075688"/>
            <a:ext cx="1234440" cy="603504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6FD9"/>
                </a:solidFill>
                <a:latin typeface="Calibri"/>
              </a:rPr>
              <a:t>moon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269748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520440"/>
            <a:ext cx="457200" cy="457200"/>
          </a:xfrm>
          <a:prstGeom prst="ellipse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483864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447288"/>
            <a:ext cx="1234440" cy="603504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483C"/>
                </a:solidFill>
                <a:latin typeface="Calibri"/>
              </a:rPr>
              <a:t>The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3447288"/>
            <a:ext cx="1234440" cy="603504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483C"/>
                </a:solidFill>
                <a:latin typeface="Calibri"/>
              </a:rPr>
              <a:t>rocket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3447288"/>
            <a:ext cx="1234440" cy="603504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483C"/>
                </a:solidFill>
                <a:latin typeface="Calibri"/>
              </a:rPr>
              <a:t>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447288"/>
            <a:ext cx="1234440" cy="603504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2483C"/>
                </a:solidFill>
                <a:latin typeface="Calibri"/>
              </a:rPr>
              <a:t>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06908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262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8368" y="4892040"/>
            <a:ext cx="457200" cy="457200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4855464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8840" y="48188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48840" y="49011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530"/>
                </a:solidFill>
                <a:latin typeface="Calibri"/>
              </a:rPr>
              <a:t>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48188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40" y="49011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530"/>
                </a:solidFill>
                <a:latin typeface="Calibri"/>
              </a:rPr>
              <a:t>can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2040" y="48188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49011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530"/>
                </a:solidFill>
                <a:latin typeface="Calibri"/>
              </a:rPr>
              <a:t>see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48188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49011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530"/>
                </a:solidFill>
                <a:latin typeface="Calibri"/>
              </a:rPr>
              <a:t>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35240" y="48188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49011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530"/>
                </a:solidFill>
                <a:latin typeface="Calibri"/>
              </a:rPr>
              <a:t>star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44068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0899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Hint: the first word always wears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63–70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🧩 Sentence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189973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9  |  63–70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Two more — then you build one of your 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148840"/>
            <a:ext cx="457200" cy="457200"/>
          </a:xfrm>
          <a:prstGeom prst="ellipse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112264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20756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A21A"/>
                </a:solidFill>
                <a:latin typeface="Calibri"/>
              </a:rPr>
              <a:t>The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20756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A21A"/>
                </a:solidFill>
                <a:latin typeface="Calibri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0756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A21A"/>
                </a:solidFill>
                <a:latin typeface="Calibri"/>
              </a:rPr>
              <a:t>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075688"/>
            <a:ext cx="1234440" cy="603504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1579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EA21A"/>
                </a:solidFill>
                <a:latin typeface="Calibri"/>
              </a:rPr>
              <a:t>big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269748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154680"/>
            <a:ext cx="11292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" y="3520440"/>
            <a:ext cx="457200" cy="457200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483864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447288"/>
            <a:ext cx="1234440" cy="60350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8B5"/>
                </a:solidFill>
                <a:latin typeface="Calibri"/>
              </a:rPr>
              <a:t>We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0440" y="3447288"/>
            <a:ext cx="1234440" cy="60350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8B5"/>
                </a:solidFill>
                <a:latin typeface="Calibri"/>
              </a:rPr>
              <a:t>can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3447288"/>
            <a:ext cx="1234440" cy="60350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8B5"/>
                </a:solidFill>
                <a:latin typeface="Calibri"/>
              </a:rPr>
              <a:t>go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447288"/>
            <a:ext cx="1234440" cy="60350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52958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A8B5"/>
                </a:solidFill>
                <a:latin typeface="Calibri"/>
              </a:rPr>
              <a:t>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06908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Put them in order, then read it out loud.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92840" cy="1463040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00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⭐ YOUR OWN SENTENCE — pick any words you like: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303520"/>
            <a:ext cx="1074420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4132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I  see  ______________ 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🌌 Space Vocabulary — Picture, Word, Parts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50258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10  |  70–75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Six words that show up in our story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0195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B5CD6"/>
                </a:solidFill>
                <a:latin typeface="Arial Black"/>
              </a:rPr>
              <a:t>ASTRONAUT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3591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688"/>
                </a:solidFill>
                <a:latin typeface="Calibri"/>
              </a:rPr>
              <a:t>AS · TRO · NAUT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43200"/>
            <a:ext cx="3200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7121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A person who goes to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90195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B5CD6"/>
                </a:solidFill>
                <a:latin typeface="Arial Black"/>
              </a:rPr>
              <a:t>ROCKET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3591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688"/>
                </a:solidFill>
                <a:latin typeface="Calibri"/>
              </a:rPr>
              <a:t>ROCK · 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2743200"/>
            <a:ext cx="3200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87121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It flies up to space.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3736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190195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B5CD6"/>
                </a:solidFill>
                <a:latin typeface="Arial Black"/>
              </a:rPr>
              <a:t>PLANET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3591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688"/>
                </a:solidFill>
                <a:latin typeface="Calibri"/>
              </a:rPr>
              <a:t>PLAN · 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43200"/>
            <a:ext cx="3200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87121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A big round world in space.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09651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B5CD6"/>
                </a:solidFill>
                <a:latin typeface="Arial Black"/>
              </a:rPr>
              <a:t>HELMET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5537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688"/>
                </a:solidFill>
                <a:latin typeface="Calibri"/>
              </a:rPr>
              <a:t>HEL · MET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937760"/>
            <a:ext cx="3200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06577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It keeps your head safe.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93192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09651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B5CD6"/>
                </a:solidFill>
                <a:latin typeface="Arial Black"/>
              </a:rPr>
              <a:t>ROBOT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5537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688"/>
                </a:solidFill>
                <a:latin typeface="Calibri"/>
              </a:rPr>
              <a:t>RO · BOT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4937760"/>
            <a:ext cx="3200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506577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A machine that can move.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931920"/>
            <a:ext cx="3566160" cy="2011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4096512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22A36"/>
                </a:solidFill>
                <a:latin typeface="Calibri"/>
              </a:rPr>
              <a:t>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B5CD6"/>
                </a:solidFill>
                <a:latin typeface="Arial Black"/>
              </a:rPr>
              <a:t>SPACE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55371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7688"/>
                </a:solidFill>
                <a:latin typeface="Calibri"/>
              </a:rPr>
              <a:t>SPACE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4937760"/>
            <a:ext cx="320040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5065776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A5A"/>
                </a:solidFill>
                <a:latin typeface="Calibri"/>
              </a:rPr>
              <a:t>The dark place past the sky.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70–75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🌎 Game: Space Vocabulary Hunt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1518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10  |  70–75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5CD6"/>
                </a:solidFill>
                <a:latin typeface="Calibri"/>
              </a:rPr>
              <a:t>Which word finishes the sentence? Say the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2039112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093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8424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03911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______ is in space.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70632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3026664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081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97180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026664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______ is 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5818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4014216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95935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014216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The ______ is big.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457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5001768"/>
            <a:ext cx="457200" cy="457200"/>
          </a:xfrm>
          <a:prstGeom prst="ellipse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566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946904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001768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A5A"/>
                </a:solidFill>
                <a:latin typeface="Calibri"/>
              </a:rPr>
              <a:t>I see my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52160"/>
            <a:ext cx="2651760" cy="47548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934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5CD6"/>
                </a:solidFill>
                <a:latin typeface="Calibri"/>
              </a:rPr>
              <a:t>ASTRONAUT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19272" y="5852160"/>
            <a:ext cx="2651760" cy="47548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5934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5CD6"/>
                </a:solidFill>
                <a:latin typeface="Calibri"/>
              </a:rPr>
              <a:t>ROCKET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5852160"/>
            <a:ext cx="2651760" cy="47548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4" y="5934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5CD6"/>
                </a:solidFill>
                <a:latin typeface="Calibri"/>
              </a:rPr>
              <a:t>ROBOT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3416" y="5852160"/>
            <a:ext cx="2651760" cy="475488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3416" y="5934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B5CD6"/>
                </a:solidFill>
                <a:latin typeface="Calibri"/>
              </a:rPr>
              <a:t>HELMET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Story Time: Leo's Space Trip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12779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11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Four short pages. We read each one four times.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120640" cy="4023360"/>
          </a:xfrm>
          <a:prstGeom prst="round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10312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46320" y="228600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512064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3440" y="521208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317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530"/>
                </a:solidFill>
                <a:latin typeface="Arial Black"/>
              </a:rPr>
              <a:t>LEO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9D3E8"/>
                </a:solidFill>
                <a:latin typeface="Calibri"/>
              </a:rPr>
              <a:t>A boy with a red rocket.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737360"/>
            <a:ext cx="5852160" cy="877824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1956816"/>
            <a:ext cx="1280160" cy="438912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02082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86537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2483C"/>
                </a:solidFill>
                <a:latin typeface="Calibri"/>
              </a:rPr>
              <a:t>I 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40280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Teacher reads. Student follows with a finger.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761488"/>
            <a:ext cx="5852160" cy="877824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2980944"/>
            <a:ext cx="1280160" cy="438912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0449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889504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A21A"/>
                </a:solidFill>
                <a:latin typeface="Calibri"/>
              </a:rPr>
              <a:t>Echo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26440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Teacher reads one line. Student echoes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3785616"/>
            <a:ext cx="5852160" cy="877824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6480" y="4005072"/>
            <a:ext cx="1280160" cy="438912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0690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91363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6FD9"/>
                </a:solidFill>
                <a:latin typeface="Calibri"/>
              </a:rPr>
              <a:t>We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2885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Both read the page out loud together.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80" y="4809744"/>
            <a:ext cx="5852160" cy="877824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26480" y="5029200"/>
            <a:ext cx="1280160" cy="438912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0932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PASS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9377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You read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312664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688"/>
                </a:solidFill>
                <a:latin typeface="Calibri"/>
              </a:rPr>
              <a:t>Student reads the 2 easiest lines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Leo's Space Trip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4040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11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/ 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is a boy.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has a red rocket.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992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The rocket is big.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12463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puts on his helmet.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25696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gets in the rocket.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356616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52160"/>
            <a:ext cx="3566160" cy="45720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52160"/>
            <a:ext cx="356616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 ·  Student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Leo's Space Trip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753011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11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/ 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222A36"/>
                </a:solidFill>
                <a:latin typeface="Calibri"/>
              </a:rPr>
              <a:t>☀️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The rocket goes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Up, up, up!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992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can see the sun.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12463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The sun is hot.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25696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can see stars.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356616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52160"/>
            <a:ext cx="3566160" cy="45720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52160"/>
            <a:ext cx="356616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 ·  Student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Leo's Space Trip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6561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11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/ 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sees the moon.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The moon is big.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992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He sees a bright star.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12463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sees a small planet.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25696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is happy.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356616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52160"/>
            <a:ext cx="3566160" cy="45720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52160"/>
            <a:ext cx="356616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 ·  Student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📖 Leo's Space Trip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378226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11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/ 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4114800" cy="4297680"/>
          </a:xfrm>
          <a:prstGeom prst="roundRect">
            <a:avLst/>
          </a:prstGeom>
          <a:solidFill>
            <a:srgbClr val="EEE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222A36"/>
                </a:solidFill>
                <a:latin typeface="Calibri"/>
              </a:rPr>
              <a:t>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37160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A robot waves at Leo.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waves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99232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Leo flies back home.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12463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He tells his mom about space.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25696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E2A5A"/>
                </a:solidFill>
                <a:latin typeface="Calibri"/>
              </a:rPr>
              <a:t>It was a great space trip!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3566160" cy="45720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852160"/>
            <a:ext cx="3566160" cy="45720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852160"/>
            <a:ext cx="3566160" cy="4572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YOU READ  ·  Student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⭐ Story Reading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69083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11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  <a:latin typeface="Calibri"/>
              </a:rPr>
              <a:t>Pick TWO lines you want to read all by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1556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939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9397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Leo is a boy.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1556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939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671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9397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The rocket is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81528"/>
            <a:ext cx="5440680" cy="111556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39242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655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9242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Up, up, up!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81528"/>
            <a:ext cx="5440680" cy="111556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39242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655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9242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The sun is hot.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79976"/>
            <a:ext cx="5440680" cy="111556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6908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64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69087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The moon is big.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79976"/>
            <a:ext cx="5440680" cy="111556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69087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764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69087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2A5A"/>
                </a:solidFill>
                <a:latin typeface="Calibri"/>
              </a:rPr>
              <a:t>Leo waves back.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He chooses. If he freezes, read the first word for him and wait.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83–87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🕵️ Game: Story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0344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12  |  83–87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B5"/>
                </a:solidFill>
                <a:latin typeface="Calibri"/>
              </a:rPr>
              <a:t>Think about Leo's trip. Which one is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267712"/>
            <a:ext cx="475488" cy="47548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2257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3113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67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Where does Leo go?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157984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A. The park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157984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B. 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157984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C. School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39"/>
            <a:ext cx="112928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187951"/>
            <a:ext cx="475488" cy="47548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42815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151375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8795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What color is the rocket?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4078223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4178807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A. 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4078223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4178807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B. Blue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4078223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178807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C. Green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Can't remember? Flip back a page and read it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83–87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🕵️ Comprehension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31604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12  |  83–87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33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B5"/>
                </a:solidFill>
                <a:latin typeface="Calibri"/>
              </a:rPr>
              <a:t>Two more. Answer in a whole sentence if you can.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267712"/>
            <a:ext cx="475488" cy="47548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2257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23113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67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What does Leo see?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157984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A. A moon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157984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B. A train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157984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258568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C. A dog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39"/>
            <a:ext cx="112928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187951"/>
            <a:ext cx="475488" cy="475488"/>
          </a:xfrm>
          <a:prstGeom prst="ellipse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42815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151375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22A36"/>
                </a:solidFill>
                <a:latin typeface="Calibri"/>
              </a:rPr>
              <a:t>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8795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2A5A"/>
                </a:solidFill>
                <a:latin typeface="Calibri"/>
              </a:rPr>
              <a:t>How does Leo feel?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4078223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4178807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A. Happy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4078223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4178807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B. Angry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4078223"/>
            <a:ext cx="1920240" cy="7132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178807"/>
            <a:ext cx="1920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2A5A"/>
                </a:solidFill>
                <a:latin typeface="Calibri"/>
              </a:rPr>
              <a:t>C. Sleepy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806440"/>
            <a:ext cx="11292840" cy="420624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61303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A5A"/>
                </a:solidFill>
                <a:latin typeface="Calibri"/>
              </a:rPr>
              <a:t>Bonus: "How do YOU feel about going to space?" Any answer is right.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87–89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🌙 Final: Moon Landing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2865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Moon Mission  |  87–89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34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EA21A"/>
                </a:solidFill>
                <a:latin typeface="Calibri"/>
              </a:rPr>
              <a:t>Read these to land the rocket. I'm right here with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920240"/>
          </a:xfrm>
          <a:prstGeom prst="roundRect">
            <a:avLst/>
          </a:prstGeom>
          <a:solidFill>
            <a:srgbClr val="FD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194560"/>
            <a:ext cx="2103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340864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2483C"/>
                </a:solidFill>
                <a:latin typeface="Arial Black"/>
              </a:rPr>
              <a:t>ROCKET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154680"/>
            <a:ext cx="26517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0040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 it! 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1920240"/>
          </a:xfrm>
          <a:prstGeom prst="roundRect">
            <a:avLst/>
          </a:prstGeom>
          <a:solidFill>
            <a:srgbClr val="E4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2194560"/>
            <a:ext cx="2103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340864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FD9"/>
                </a:solidFill>
                <a:latin typeface="Arial Black"/>
              </a:rPr>
              <a:t>MOON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154680"/>
            <a:ext cx="2651760" cy="38404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20040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 it! 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1920240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10312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22A36"/>
                </a:solidFill>
                <a:latin typeface="Calibri"/>
              </a:rPr>
              <a:t>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194560"/>
            <a:ext cx="2103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340864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C530"/>
                </a:solidFill>
                <a:latin typeface="Arial Black"/>
              </a:rPr>
              <a:t>STAR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3154680"/>
            <a:ext cx="2651760" cy="384048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 it! 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931920"/>
            <a:ext cx="11292840" cy="89611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09651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1148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I see the moon.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4151376"/>
            <a:ext cx="1920240" cy="457200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4215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🚀 Landing!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956048"/>
            <a:ext cx="11292840" cy="896112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12064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22A36"/>
                </a:solidFill>
                <a:latin typeface="Calibri"/>
              </a:rPr>
              <a:t>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138928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Calibri"/>
              </a:rPr>
              <a:t>The rocket is red.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5175504"/>
            <a:ext cx="1920240" cy="457200"/>
          </a:xfrm>
          <a:prstGeom prst="round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0" y="5239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🚀 Landing!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89–90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✅ What Can I Read Now?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941264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14  |  89–90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35 /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5B"/>
                </a:solidFill>
                <a:latin typeface="Calibri"/>
              </a:rPr>
              <a:t>Look how much you did today. Read this list with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99339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88366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Sounds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2677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m s t p b d c f r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99339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88366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Word parts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2677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ROCK · 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34639"/>
            <a:ext cx="544068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3035807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090671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980943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New words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364991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sun · map · star · moon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834639"/>
            <a:ext cx="544068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28232" y="3035807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3090671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🛰️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980943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Sight words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364991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I  am  the  a  is  my  can  see  we  go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931920"/>
            <a:ext cx="544068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3232" y="413308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18795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07822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Sentences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4622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I see the moon.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931920"/>
            <a:ext cx="544068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28232" y="413308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418795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07822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A 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4622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Leo's Space Trip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029200"/>
            <a:ext cx="11292840" cy="932688"/>
          </a:xfrm>
          <a:prstGeom prst="roundRect">
            <a:avLst/>
          </a:prstGeom>
          <a:solidFill>
            <a:srgbClr val="E3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523036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28523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22A36"/>
                </a:solidFill>
                <a:latin typeface="Calibri"/>
              </a:rPr>
              <a:t>🕵️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5175504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9E5B"/>
                </a:solidFill>
                <a:latin typeface="Calibri"/>
              </a:rPr>
              <a:t>Questions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559552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I answered them!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280160"/>
            <a:ext cx="82296" cy="82296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1188720"/>
            <a:ext cx="73152" cy="73152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5120640"/>
            <a:ext cx="64008" cy="64008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5303520"/>
            <a:ext cx="82296" cy="82296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91840" y="914400"/>
            <a:ext cx="45720" cy="45720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100584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10896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0" y="3291840"/>
            <a:ext cx="54864" cy="54864"/>
          </a:xfrm>
          <a:prstGeom prst="ellipse">
            <a:avLst/>
          </a:prstGeom>
          <a:solidFill>
            <a:srgbClr val="C9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530"/>
                </a:solidFill>
                <a:latin typeface="Georgia"/>
              </a:rPr>
              <a:t>🏆 READING ASTRONAUT BADGE 🏆</a:t>
            </a:r>
          </a:p>
        </p:txBody>
      </p:sp>
      <p:sp>
        <p:nvSpPr>
          <p:cNvPr id="13" name="Oval 12"/>
          <p:cNvSpPr/>
          <p:nvPr/>
        </p:nvSpPr>
        <p:spPr>
          <a:xfrm>
            <a:off x="4956048" y="1600200"/>
            <a:ext cx="2286000" cy="2286000"/>
          </a:xfrm>
          <a:prstGeom prst="ellipse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210312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22A36"/>
                </a:solidFill>
                <a:latin typeface="Calibri"/>
              </a:rPr>
              <a:t>👨‍🚀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Georgia"/>
              </a:rPr>
              <a:t>MISSION COMPLETE!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C9D3E8"/>
                </a:solidFill>
                <a:latin typeface="Calibri"/>
              </a:rPr>
              <a:t>You are a READING ASTRONAUT. 🌎 → 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440680"/>
            <a:ext cx="1508760" cy="566928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🌎 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440680"/>
            <a:ext cx="1508760" cy="566928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🚀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5440680"/>
            <a:ext cx="1508760" cy="566928"/>
          </a:xfrm>
          <a:prstGeom prst="roundRect">
            <a:avLst/>
          </a:prstGeom>
          <a:solidFill>
            <a:srgbClr val="2E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🌙 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5440680"/>
            <a:ext cx="1508760" cy="566928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⭐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5440680"/>
            <a:ext cx="1508760" cy="566928"/>
          </a:xfrm>
          <a:prstGeom prst="roundRect">
            <a:avLst/>
          </a:prstGeom>
          <a:solidFill>
            <a:srgbClr val="7B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🪐 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440680"/>
            <a:ext cx="1508760" cy="566928"/>
          </a:xfrm>
          <a:prstGeom prst="roundRect">
            <a:avLst/>
          </a:prstGeom>
          <a:solidFill>
            <a:srgbClr val="00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555040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🏆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1253872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Mission Complete  |  89–90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36 / 39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🧰 Support Levels &amp; Word Rescue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566479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37 /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83C"/>
                </a:solidFill>
                <a:latin typeface="Calibri"/>
              </a:rPr>
              <a:t>TEACHER ONLY — move between levels based on his response, not the clock.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64208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1847088"/>
            <a:ext cx="1188720" cy="411480"/>
          </a:xfrm>
          <a:prstGeom prst="roundRect">
            <a:avLst/>
          </a:prstGeom>
          <a:solidFill>
            <a:srgbClr val="E24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191109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8836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83C"/>
                </a:solidFill>
                <a:latin typeface="Calibri"/>
              </a:rPr>
              <a:t>FULL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35915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Teacher reads it. Student repeats.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2962656"/>
            <a:ext cx="3246120" cy="47548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05409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"This word is moon. Your turn."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664208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53128" y="1847088"/>
            <a:ext cx="1188720" cy="411480"/>
          </a:xfrm>
          <a:prstGeom prst="roundRect">
            <a:avLst/>
          </a:prstGeom>
          <a:solidFill>
            <a:srgbClr val="EEA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191109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18836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EA21A"/>
                </a:solidFill>
                <a:latin typeface="Calibri"/>
              </a:rPr>
              <a:t>PARTIAL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35915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Give the first sound, or two choices.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8" y="2962656"/>
            <a:ext cx="3246120" cy="47548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05409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"It starts with /m/... moon or map?"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664208"/>
            <a:ext cx="36576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93608" y="1847088"/>
            <a:ext cx="1188720" cy="41148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1911095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LEVEL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18836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9E5B"/>
                </a:solidFill>
                <a:latin typeface="Calibri"/>
              </a:rPr>
              <a:t>INDEPENDENT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235915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A5A"/>
                </a:solidFill>
                <a:latin typeface="Calibri"/>
              </a:rPr>
              <a:t>Student reads or builds it alone.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93608" y="2962656"/>
            <a:ext cx="3246120" cy="475488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305409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7688"/>
                </a:solidFill>
                <a:latin typeface="Calibri"/>
              </a:rPr>
              <a:t>"Your turn — read it by yourself."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749039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A5A"/>
                </a:solidFill>
                <a:latin typeface="Calibri"/>
              </a:rPr>
              <a:t>When a word stops him — run these five steps in order: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4224528"/>
            <a:ext cx="2148840" cy="11704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3425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B5"/>
                </a:solidFill>
                <a:latin typeface="Calibri"/>
              </a:rPr>
              <a:t>1. BREAK THE WORD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00016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5A"/>
                </a:solidFill>
                <a:latin typeface="Calibri"/>
              </a:rPr>
              <a:t>Cover part of it. Show one chunk.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15768" y="4224528"/>
            <a:ext cx="2148840" cy="11704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52928" y="433425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B5"/>
                </a:solidFill>
                <a:latin typeface="Calibri"/>
              </a:rPr>
              <a:t>2. SOUND IT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4700016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5A"/>
                </a:solidFill>
                <a:latin typeface="Calibri"/>
              </a:rPr>
              <a:t>Point under each letter. /m/ /oo/ /n/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0056" y="4224528"/>
            <a:ext cx="2148840" cy="11704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57216" y="433425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B5"/>
                </a:solidFill>
                <a:latin typeface="Calibri"/>
              </a:rPr>
              <a:t>3. BLEND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57216" y="4700016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5A"/>
                </a:solidFill>
                <a:latin typeface="Calibri"/>
              </a:rPr>
              <a:t>Slide your finger and say it fast.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24344" y="4224528"/>
            <a:ext cx="2148840" cy="11704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61504" y="433425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B5"/>
                </a:solidFill>
                <a:latin typeface="Calibri"/>
              </a:rPr>
              <a:t>4. READ TOGETHER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1504" y="4700016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5A"/>
                </a:solidFill>
                <a:latin typeface="Calibri"/>
              </a:rPr>
              <a:t>Say it with him, then fade your voice.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28632" y="4224528"/>
            <a:ext cx="2148840" cy="1170432"/>
          </a:xfrm>
          <a:prstGeom prst="roundRect">
            <a:avLst/>
          </a:prstGeom>
          <a:solidFill>
            <a:srgbClr val="D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65792" y="433425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B5"/>
                </a:solidFill>
                <a:latin typeface="Calibri"/>
              </a:rPr>
              <a:t>5. TRY AGAIN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4700016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A5A"/>
                </a:solidFill>
                <a:latin typeface="Calibri"/>
              </a:rPr>
              <a:t>Let him say the whole word alone.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504688"/>
            <a:ext cx="11338560" cy="859536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55955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Say these out loud — never "no", never "wrong":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8338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"Let's solve it together."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8338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"Take your time."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83387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"Let's look at the first sound."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607161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"You got the first part!"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607161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"Great try!"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07161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688"/>
                </a:solidFill>
                <a:latin typeface="Calibri"/>
              </a:rPr>
              <a:t>"You're becoming a stronger reader."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🔒 TEACHER ONLY —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879087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38 /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2529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83C"/>
                </a:solidFill>
                <a:latin typeface="Calibri"/>
              </a:rPr>
              <a:t>Hide this slide before presenting, or keep it on a second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627632"/>
            <a:ext cx="557784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A21A"/>
                </a:solidFill>
                <a:latin typeface="Calibri"/>
              </a:rPr>
              <a:t>🔊 Sounds · 👏 Syllables · 🧩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Sound Blast 1–4: A /r/, B /m/, C /s/, A /s/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Sound Blast 5–8: B /m/, A /r/, B /p/, A /f/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Syllables: ROCK·ET, PLAN·ET, RO·BOT,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AS·TRO·NAUT, HEL·MET, MOON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Claps: 2, 2, 2, 3, 2, 1  (SPACE = 1)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Build A: S-U-N, M-A-P, J-E-T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Build B: S-T-AR, M-OO-N, RO-BOT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Word Hunt: STAR top-left, MOON center,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SUN top-right, ROCKET lower-left,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MAP lower-right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Sight words: I am the a is my can see we 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27632"/>
            <a:ext cx="557784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73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5CD6"/>
                </a:solidFill>
                <a:latin typeface="Calibri"/>
              </a:rPr>
              <a:t>🧩 Sentences · 🌌 Vocabulary · 📖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1: I see the moon.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2: The rocket is red.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3: I can see a star.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4: The sun is big.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Puzzle 5: We can go up.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Vocab Hunt: ASTRONAUT, ROCKET, ROBOT,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HELMET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Story Detective 1–2: B Space, A Red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Story Detective 3–4: A A moon, A Happy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Final words: ROCKET, MOON, STAR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•  Final sentences: I see the moon. /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22A36"/>
                </a:solidFill>
                <a:latin typeface="Calibri"/>
              </a:rPr>
              <a:t>      The rocket is red.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108960" cy="384048"/>
          </a:xfrm>
          <a:prstGeom prst="roundRect">
            <a:avLst/>
          </a:prstGeom>
          <a:solidFill>
            <a:srgbClr val="2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A5A"/>
                </a:solidFill>
                <a:latin typeface="Georgia"/>
              </a:rPr>
              <a:t>📋 TEACHER ONLY — Reading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FFC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🚀 The Space Reading Mission  |  Grade 2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39 / 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483C"/>
                </a:solidFill>
                <a:latin typeface="Calibri"/>
              </a:rPr>
              <a:t>Record where he is today, not where he should be. Fill this in right after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54480"/>
            <a:ext cx="3931920" cy="384048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184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READING 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554480"/>
            <a:ext cx="2377440" cy="384048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18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Needs Significant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554480"/>
            <a:ext cx="2194560" cy="384048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6184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554480"/>
            <a:ext cx="2286000" cy="384048"/>
          </a:xfrm>
          <a:prstGeom prst="roundRect">
            <a:avLst/>
          </a:prstGeom>
          <a:solidFill>
            <a:srgbClr val="1E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618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993392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0208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Letter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993392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002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993392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002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1993392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002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322576"/>
            <a:ext cx="393192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3500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Blending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2322576"/>
            <a:ext cx="237744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2322576"/>
            <a:ext cx="219456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2322576"/>
            <a:ext cx="228600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651760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6791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CVC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651760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26609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2651760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2651760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6609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2980944"/>
            <a:ext cx="393192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0083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Longer words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2980944"/>
            <a:ext cx="237744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2990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2980944"/>
            <a:ext cx="219456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2990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64040" y="2980944"/>
            <a:ext cx="228600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990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310128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3375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Sight words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6280" y="3310128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3319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3310128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33192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64040" y="3310128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319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3639311"/>
            <a:ext cx="393192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66674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Sentence reading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3639311"/>
            <a:ext cx="237744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364845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3639311"/>
            <a:ext cx="219456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3648455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64040" y="3639311"/>
            <a:ext cx="228600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4040" y="36484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3968496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9959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Story reading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6280" y="3968496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86600" y="3968496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3977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4040" y="3968496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297680"/>
            <a:ext cx="393192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43251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Comprehension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26280" y="4297680"/>
            <a:ext cx="237744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6280" y="43068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4297680"/>
            <a:ext cx="219456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6600" y="43068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4040" y="4297680"/>
            <a:ext cx="228600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64040" y="4306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626864"/>
            <a:ext cx="39319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465429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Vocabulary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26280" y="4626864"/>
            <a:ext cx="2377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4636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86600" y="4626864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86600" y="4636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64040" y="4626864"/>
            <a:ext cx="2286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64040" y="4636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4956048"/>
            <a:ext cx="393192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" y="49834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A5A"/>
                </a:solidFill>
                <a:latin typeface="Calibri"/>
              </a:rPr>
              <a:t>Confidence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26280" y="4956048"/>
            <a:ext cx="237744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26280" y="4965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86600" y="4956048"/>
            <a:ext cx="219456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86600" y="4965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464040" y="4956048"/>
            <a:ext cx="2286000" cy="310896"/>
          </a:xfrm>
          <a:prstGeom prst="round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6404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97688"/>
                </a:solidFill>
                <a:latin typeface="Calibri"/>
              </a:rPr>
              <a:t>☐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1480" y="5431536"/>
            <a:ext cx="11338560" cy="219456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544068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A5A"/>
                </a:solidFill>
                <a:latin typeface="Calibri"/>
              </a:rPr>
              <a:t>Words the student read independently: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11480" y="5678424"/>
            <a:ext cx="11338560" cy="219456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4360" y="56875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A5A"/>
                </a:solidFill>
                <a:latin typeface="Calibri"/>
              </a:rPr>
              <a:t>Words requiring support: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11480" y="5925312"/>
            <a:ext cx="11338560" cy="219456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360" y="593445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A5A"/>
                </a:solidFill>
                <a:latin typeface="Calibri"/>
              </a:rPr>
              <a:t>Main difficulty observed: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11480" y="6172200"/>
            <a:ext cx="11338560" cy="219456"/>
          </a:xfrm>
          <a:prstGeom prst="roundRect">
            <a:avLst/>
          </a:prstGeom>
          <a:solidFill>
            <a:srgbClr val="FFF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4360" y="618134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A5A"/>
                </a:solidFill>
                <a:latin typeface="Calibri"/>
              </a:rPr>
              <a:t>Recommended next lesson: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