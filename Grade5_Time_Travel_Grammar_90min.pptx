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731520"/>
            <a:ext cx="731520" cy="73152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7080" y="777240"/>
            <a:ext cx="731520" cy="731520"/>
          </a:xfrm>
          <a:prstGeom prst="ellipse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5303520"/>
            <a:ext cx="731520" cy="731520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1360" y="5257800"/>
            <a:ext cx="731520" cy="731520"/>
          </a:xfrm>
          <a:prstGeom prst="ellipse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22A36"/>
                </a:solidFill>
                <a:latin typeface="Calibri"/>
              </a:rPr>
              <a:t>🕰️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933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Georgia"/>
              </a:rPr>
              <a:t>The Time Travel Grammar 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16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7D6F2"/>
                </a:solidFill>
                <a:latin typeface="Calibri"/>
              </a:rPr>
              <a:t>Welcome, Grammar Time Traveler!  •  Grade 5  •  90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3520440"/>
            <a:ext cx="6400800" cy="1143000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3749039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The time machine is broken.
Solve the grammar challenges to repair it!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5029200"/>
            <a:ext cx="2377440" cy="658368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517550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🟢  PRESENT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5029200"/>
            <a:ext cx="2377440" cy="658368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17550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🔵  PAST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5029200"/>
            <a:ext cx="2377440" cy="658368"/>
          </a:xfrm>
          <a:prstGeom prst="roundRect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517550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🟣  FUTURE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419088"/>
            <a:ext cx="30479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Welcome  |  0–7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 / 40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🕰️ Meet the Time Machine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09584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Time machine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4937760" cy="452628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0574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>
                <a:solidFill>
                  <a:srgbClr val="222A36"/>
                </a:solidFill>
                <a:latin typeface="Calibri"/>
              </a:rPr>
              <a:t>🕰️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77639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9B95"/>
                </a:solidFill>
                <a:latin typeface="Arial Black"/>
              </a:rPr>
              <a:t>CHRONO-5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97688"/>
                </a:solidFill>
                <a:latin typeface="Calibri"/>
              </a:rPr>
              <a:t>Your time machine for today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1463040"/>
            <a:ext cx="603504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0" y="1682496"/>
            <a:ext cx="530352" cy="530352"/>
          </a:xfrm>
          <a:prstGeom prst="ellipse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1737360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Chrono-5 is broken. It cannot travel.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2578608"/>
            <a:ext cx="603504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0" y="2798064"/>
            <a:ext cx="530352" cy="530352"/>
          </a:xfrm>
          <a:prstGeom prst="ellipse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852928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8529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Each grammar challenge repairs one part.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0" y="3694176"/>
            <a:ext cx="603504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0" y="3913632"/>
            <a:ext cx="530352" cy="530352"/>
          </a:xfrm>
          <a:prstGeom prst="ellipse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3968496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96849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Three zones to unlock: Present, Past, Future.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15000" y="4809744"/>
            <a:ext cx="603504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43600" y="5029200"/>
            <a:ext cx="530352" cy="530352"/>
          </a:xfrm>
          <a:prstGeom prst="ellipse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5084064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08406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Finish all three and you earn your badge.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🗺️ Today's Mission — 3 Time Zones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14377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Mission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Repair one zone at a time. Each zone has lessons, games and a challenge.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283464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97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9E5B"/>
                </a:solidFill>
                <a:latin typeface="Calibri"/>
              </a:rPr>
              <a:t>ZONE 1 — 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461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What happens again and again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3931920"/>
            <a:ext cx="14630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398678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97688"/>
                </a:solidFill>
                <a:latin typeface="Calibri"/>
              </a:rPr>
              <a:t>22–42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737360"/>
            <a:ext cx="3566160" cy="283464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19659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697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6FD9"/>
                </a:solidFill>
                <a:latin typeface="Calibri"/>
              </a:rPr>
              <a:t>ZONE 2 — PAST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2461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What already happened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3931920"/>
            <a:ext cx="14630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398678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97688"/>
                </a:solidFill>
                <a:latin typeface="Calibri"/>
              </a:rPr>
              <a:t>42–58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737360"/>
            <a:ext cx="3566160" cy="283464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19659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2697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4FC8"/>
                </a:solidFill>
                <a:latin typeface="Calibri"/>
              </a:rPr>
              <a:t>ZONE 3 — FUTURE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2461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What has not happened yet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3931920"/>
            <a:ext cx="14630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398678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97688"/>
                </a:solidFill>
                <a:latin typeface="Calibri"/>
              </a:rPr>
              <a:t>58–70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754880"/>
            <a:ext cx="2706624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892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A36"/>
                </a:solidFill>
                <a:latin typeface="Calibri"/>
              </a:rPr>
              <a:t>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48920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46"/>
                </a:solidFill>
                <a:latin typeface="Calibri"/>
              </a:rPr>
              <a:t>Tense Transformation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2669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8"/>
                </a:solidFill>
                <a:latin typeface="Calibri"/>
              </a:rPr>
              <a:t>70–77 min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46704" y="4754880"/>
            <a:ext cx="2706624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9584" y="4892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A36"/>
                </a:solidFill>
                <a:latin typeface="Calibri"/>
              </a:rPr>
              <a:t>🕵️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23944" y="48920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46"/>
                </a:solidFill>
                <a:latin typeface="Calibri"/>
              </a:rPr>
              <a:t>Grammar Detective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23944" y="52669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8"/>
                </a:solidFill>
                <a:latin typeface="Calibri"/>
              </a:rPr>
              <a:t>77–82 min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6208" y="4754880"/>
            <a:ext cx="2706624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4892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A36"/>
                </a:solidFill>
                <a:latin typeface="Calibri"/>
              </a:rPr>
              <a:t>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3448" y="48920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46"/>
                </a:solidFill>
                <a:latin typeface="Calibri"/>
              </a:rPr>
              <a:t>Maya's Story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3448" y="52669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8"/>
                </a:solidFill>
                <a:latin typeface="Calibri"/>
              </a:rPr>
              <a:t>82–87 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25712" y="4754880"/>
            <a:ext cx="2706624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08592" y="4892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A36"/>
                </a:solidFill>
                <a:latin typeface="Calibri"/>
              </a:rPr>
              <a:t>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02952" y="48920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46"/>
                </a:solidFill>
                <a:latin typeface="Calibri"/>
              </a:rPr>
              <a:t>Tense Champion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2952" y="52669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8"/>
                </a:solidFill>
                <a:latin typeface="Calibri"/>
              </a:rPr>
              <a:t>87–90 min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💬 Quick Talk — Tell Me About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219169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Icebreaker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No grammar rules yet. Just answer in your own words!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121408"/>
            <a:ext cx="566928" cy="566928"/>
          </a:xfrm>
          <a:prstGeom prst="ellipse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94560"/>
            <a:ext cx="5669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157984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E46"/>
                </a:solidFill>
                <a:latin typeface="Calibri"/>
              </a:rPr>
              <a:t>What do you usually do after school?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2148840"/>
            <a:ext cx="2011680" cy="530352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21284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54680"/>
            <a:ext cx="112928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3447288"/>
            <a:ext cx="566928" cy="566928"/>
          </a:xfrm>
          <a:prstGeom prst="ellipse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20440"/>
            <a:ext cx="5669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483864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E46"/>
                </a:solidFill>
                <a:latin typeface="Calibri"/>
              </a:rPr>
              <a:t>What did you do yesterday?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3474720"/>
            <a:ext cx="2011680" cy="530352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353872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480560"/>
            <a:ext cx="112928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4773168"/>
            <a:ext cx="566928" cy="566928"/>
          </a:xfrm>
          <a:prstGeom prst="ellipse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46320"/>
            <a:ext cx="5669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809744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E46"/>
                </a:solidFill>
                <a:latin typeface="Calibri"/>
              </a:rPr>
              <a:t>What will you do this weekend?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4800600"/>
            <a:ext cx="2011680" cy="530352"/>
          </a:xfrm>
          <a:prstGeom prst="roundRect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48646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06440"/>
            <a:ext cx="11292840" cy="50292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46"/>
                </a:solidFill>
                <a:latin typeface="Calibri"/>
              </a:rPr>
              <a:t>🎤 Teacher answers first — it makes speaking feel safe. Do not correct yet.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7–15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⏳ Now, Before, Later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523961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Now/Before/Later  |  7–15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You already used all three tenses when you answered. Look!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3977639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97688"/>
                </a:solidFill>
                <a:latin typeface="Calibri"/>
              </a:rPr>
              <a:t>BEFORE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0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6FD9"/>
                </a:solidFill>
                <a:latin typeface="Arial Black"/>
              </a:rPr>
              <a:t>PAST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It already happened.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60520"/>
            <a:ext cx="3200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I played soccer yesterday.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737360"/>
            <a:ext cx="3566160" cy="3977639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19202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97688"/>
                </a:solidFill>
                <a:latin typeface="Calibri"/>
              </a:rPr>
              <a:t>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926080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9E5B"/>
                </a:solidFill>
                <a:latin typeface="Arial Black"/>
              </a:rPr>
              <a:t>PRESENT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It happens again and again.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4160520"/>
            <a:ext cx="3200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I play soccer every Saturday.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737360"/>
            <a:ext cx="3566160" cy="3977639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19202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97688"/>
                </a:solidFill>
                <a:latin typeface="Calibri"/>
              </a:rPr>
              <a:t>LATER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2926080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B4FC8"/>
                </a:solidFill>
                <a:latin typeface="Arial Black"/>
              </a:rPr>
              <a:t>FUTURE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It has not happened yet.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4160520"/>
            <a:ext cx="3200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I will play soccer tomorrow.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7–15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📚 What Is a Tense?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828754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What is a tense  |  7–15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25880"/>
            <a:ext cx="11292840" cy="7772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8132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E46"/>
                </a:solidFill>
                <a:latin typeface="Calibri"/>
              </a:rPr>
              <a:t>A tense tells us WHEN something happens.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2816352"/>
            <a:ext cx="9966960" cy="82296"/>
          </a:xfrm>
          <a:prstGeom prst="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34440" y="2578608"/>
            <a:ext cx="566928" cy="566928"/>
          </a:xfrm>
          <a:prstGeom prst="ellipse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103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🔵 PAST</a:t>
            </a:r>
          </a:p>
        </p:txBody>
      </p:sp>
      <p:sp>
        <p:nvSpPr>
          <p:cNvPr id="19" name="Oval 18"/>
          <p:cNvSpPr/>
          <p:nvPr/>
        </p:nvSpPr>
        <p:spPr>
          <a:xfrm>
            <a:off x="5852160" y="2578608"/>
            <a:ext cx="566928" cy="56692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2103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9E5B"/>
                </a:solidFill>
                <a:latin typeface="Calibri"/>
              </a:rPr>
              <a:t>🟢 NOW</a:t>
            </a:r>
          </a:p>
        </p:txBody>
      </p:sp>
      <p:sp>
        <p:nvSpPr>
          <p:cNvPr id="21" name="Oval 20"/>
          <p:cNvSpPr/>
          <p:nvPr/>
        </p:nvSpPr>
        <p:spPr>
          <a:xfrm>
            <a:off x="10469880" y="2578608"/>
            <a:ext cx="566928" cy="566928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103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4FC8"/>
                </a:solidFill>
                <a:latin typeface="Calibri"/>
              </a:rPr>
              <a:t>🟣 FUTURE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5237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3A5C"/>
                </a:solidFill>
                <a:latin typeface="Calibri"/>
              </a:rPr>
              <a:t>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25237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3A5C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520440"/>
            <a:ext cx="3566160" cy="22860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703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6FD9"/>
                </a:solidFill>
                <a:latin typeface="Calibri"/>
              </a:rPr>
              <a:t>🔵 PAST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062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I played soccer yesterday.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20" y="5166360"/>
            <a:ext cx="16459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52395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6FD9"/>
                </a:solidFill>
                <a:latin typeface="Calibri"/>
              </a:rPr>
              <a:t>played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3520440"/>
            <a:ext cx="3566160" cy="228600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703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9E5B"/>
                </a:solidFill>
                <a:latin typeface="Calibri"/>
              </a:rPr>
              <a:t>🟢 PRESENT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2062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I play soccer every Saturday.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12080" y="5166360"/>
            <a:ext cx="16459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52395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9E5B"/>
                </a:solidFill>
                <a:latin typeface="Calibri"/>
              </a:rPr>
              <a:t>play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520440"/>
            <a:ext cx="3566160" cy="228600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3703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B4FC8"/>
                </a:solidFill>
                <a:latin typeface="Calibri"/>
              </a:rPr>
              <a:t>🟣 FUTURE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2062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I will play soccer tomorrow.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06840" y="5166360"/>
            <a:ext cx="16459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6840" y="52395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B4FC8"/>
                </a:solidFill>
                <a:latin typeface="Calibri"/>
              </a:rPr>
              <a:t>will play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15–22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🕵️ Game: Time Detective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133546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Time detective  |  15–22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Read the sentence. When did it happen? Find the time word first!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50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1993392"/>
            <a:ext cx="457200" cy="457200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0482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18653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41E46"/>
                </a:solidFill>
                <a:latin typeface="Calibri"/>
              </a:rPr>
              <a:t>I visited my grandma yesterday.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28600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688"/>
                </a:solidFill>
                <a:latin typeface="Calibri"/>
              </a:rPr>
              <a:t>⏱ time word: yesterday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938528"/>
            <a:ext cx="1645920" cy="54864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00253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9E5B"/>
                </a:solidFill>
                <a:latin typeface="Calibri"/>
              </a:rPr>
              <a:t>🟢 PRESENT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11312" y="1938528"/>
            <a:ext cx="1645920" cy="54864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200253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6FD9"/>
                </a:solidFill>
                <a:latin typeface="Calibri"/>
              </a:rPr>
              <a:t>🔵 PAST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21824" y="1938528"/>
            <a:ext cx="1645920" cy="54864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21824" y="200253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4FC8"/>
                </a:solidFill>
                <a:latin typeface="Calibri"/>
              </a:rPr>
              <a:t>🟣 FUTURE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798063"/>
            <a:ext cx="11292840" cy="950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" y="3054095"/>
            <a:ext cx="457200" cy="457200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1089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29260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41E46"/>
                </a:solidFill>
                <a:latin typeface="Calibri"/>
              </a:rPr>
              <a:t>I will visit my grandma tomorrow.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346703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688"/>
                </a:solidFill>
                <a:latin typeface="Calibri"/>
              </a:rPr>
              <a:t>⏱ time word: tomorrow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999231"/>
            <a:ext cx="1645920" cy="54864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063239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9E5B"/>
                </a:solidFill>
                <a:latin typeface="Calibri"/>
              </a:rPr>
              <a:t>🟢 PRESENT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11312" y="2999231"/>
            <a:ext cx="1645920" cy="54864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3063239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6FD9"/>
                </a:solidFill>
                <a:latin typeface="Calibri"/>
              </a:rPr>
              <a:t>🔵 PAST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21824" y="2999231"/>
            <a:ext cx="1645920" cy="54864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21824" y="3063239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4FC8"/>
                </a:solidFill>
                <a:latin typeface="Calibri"/>
              </a:rPr>
              <a:t>🟣 FUTURE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858768"/>
            <a:ext cx="11292840" cy="950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8368" y="4114800"/>
            <a:ext cx="457200" cy="457200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1696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39867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41E46"/>
                </a:solidFill>
                <a:latin typeface="Calibri"/>
              </a:rPr>
              <a:t>I visit my grandma every Sunday.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40740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688"/>
                </a:solidFill>
                <a:latin typeface="Calibri"/>
              </a:rPr>
              <a:t>⏱ time word: every Sunday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059936"/>
            <a:ext cx="1645920" cy="54864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12394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9E5B"/>
                </a:solidFill>
                <a:latin typeface="Calibri"/>
              </a:rPr>
              <a:t>🟢 PRESENT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11312" y="4059936"/>
            <a:ext cx="1645920" cy="54864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11312" y="412394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6FD9"/>
                </a:solidFill>
                <a:latin typeface="Calibri"/>
              </a:rPr>
              <a:t>🔵 PAST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21824" y="4059936"/>
            <a:ext cx="1645920" cy="54864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21824" y="412394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4FC8"/>
                </a:solidFill>
                <a:latin typeface="Calibri"/>
              </a:rPr>
              <a:t>🟣 FUTURE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919471"/>
            <a:ext cx="11292840" cy="950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8368" y="5175503"/>
            <a:ext cx="457200" cy="457200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523036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25880" y="5047487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41E46"/>
                </a:solidFill>
                <a:latin typeface="Calibri"/>
              </a:rPr>
              <a:t>She plays soccer every Saturday.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25880" y="5468111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688"/>
                </a:solidFill>
                <a:latin typeface="Calibri"/>
              </a:rPr>
              <a:t>⏱ time word: every Saturday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5120639"/>
            <a:ext cx="1645920" cy="54864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518464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9E5B"/>
                </a:solidFill>
                <a:latin typeface="Calibri"/>
              </a:rPr>
              <a:t>🟢 PRESENT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11312" y="5120639"/>
            <a:ext cx="1645920" cy="54864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11312" y="518464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6FD9"/>
                </a:solidFill>
                <a:latin typeface="Calibri"/>
              </a:rPr>
              <a:t>🔵 PAST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021824" y="5120639"/>
            <a:ext cx="1645920" cy="54864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21824" y="518464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4FC8"/>
                </a:solidFill>
                <a:latin typeface="Calibri"/>
              </a:rPr>
              <a:t>🟣 FUTURE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15–22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🕵️ Time Detective — Round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438339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Time detective  |  15–22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Four more. The time word is your biggest clue.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50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1993392"/>
            <a:ext cx="457200" cy="457200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0482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18653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41E46"/>
                </a:solidFill>
                <a:latin typeface="Calibri"/>
              </a:rPr>
              <a:t>We watched a movie last night.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28600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688"/>
                </a:solidFill>
                <a:latin typeface="Calibri"/>
              </a:rPr>
              <a:t>⏱ time word: last night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938528"/>
            <a:ext cx="1645920" cy="54864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00253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9E5B"/>
                </a:solidFill>
                <a:latin typeface="Calibri"/>
              </a:rPr>
              <a:t>🟢 PRESENT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11312" y="1938528"/>
            <a:ext cx="1645920" cy="54864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200253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6FD9"/>
                </a:solidFill>
                <a:latin typeface="Calibri"/>
              </a:rPr>
              <a:t>🔵 PAST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21824" y="1938528"/>
            <a:ext cx="1645920" cy="54864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21824" y="200253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4FC8"/>
                </a:solidFill>
                <a:latin typeface="Calibri"/>
              </a:rPr>
              <a:t>🟣 FUTURE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798063"/>
            <a:ext cx="11292840" cy="950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" y="3054095"/>
            <a:ext cx="457200" cy="457200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1089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29260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41E46"/>
                </a:solidFill>
                <a:latin typeface="Calibri"/>
              </a:rPr>
              <a:t>They will go to the park next week.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346703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688"/>
                </a:solidFill>
                <a:latin typeface="Calibri"/>
              </a:rPr>
              <a:t>⏱ time word: next week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999231"/>
            <a:ext cx="1645920" cy="54864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063239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9E5B"/>
                </a:solidFill>
                <a:latin typeface="Calibri"/>
              </a:rPr>
              <a:t>🟢 PRESENT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11312" y="2999231"/>
            <a:ext cx="1645920" cy="54864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3063239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6FD9"/>
                </a:solidFill>
                <a:latin typeface="Calibri"/>
              </a:rPr>
              <a:t>🔵 PAST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21824" y="2999231"/>
            <a:ext cx="1645920" cy="54864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21824" y="3063239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4FC8"/>
                </a:solidFill>
                <a:latin typeface="Calibri"/>
              </a:rPr>
              <a:t>🟣 FUTURE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858768"/>
            <a:ext cx="11292840" cy="950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8368" y="4114800"/>
            <a:ext cx="457200" cy="457200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1696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39867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41E46"/>
                </a:solidFill>
                <a:latin typeface="Calibri"/>
              </a:rPr>
              <a:t>He reads books every night.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40740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688"/>
                </a:solidFill>
                <a:latin typeface="Calibri"/>
              </a:rPr>
              <a:t>⏱ time word: every night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059936"/>
            <a:ext cx="1645920" cy="54864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12394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9E5B"/>
                </a:solidFill>
                <a:latin typeface="Calibri"/>
              </a:rPr>
              <a:t>🟢 PRESENT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11312" y="4059936"/>
            <a:ext cx="1645920" cy="54864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11312" y="412394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6FD9"/>
                </a:solidFill>
                <a:latin typeface="Calibri"/>
              </a:rPr>
              <a:t>🔵 PAST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21824" y="4059936"/>
            <a:ext cx="1645920" cy="54864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21824" y="412394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4FC8"/>
                </a:solidFill>
                <a:latin typeface="Calibri"/>
              </a:rPr>
              <a:t>🟣 FUTURE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919471"/>
            <a:ext cx="11292840" cy="950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8368" y="5175503"/>
            <a:ext cx="457200" cy="457200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523036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25880" y="5047487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41E46"/>
                </a:solidFill>
                <a:latin typeface="Calibri"/>
              </a:rPr>
              <a:t>I ate pizza two days ago.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25880" y="5468111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688"/>
                </a:solidFill>
                <a:latin typeface="Calibri"/>
              </a:rPr>
              <a:t>⏱ time word: two days ago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5120639"/>
            <a:ext cx="1645920" cy="54864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518464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9E5B"/>
                </a:solidFill>
                <a:latin typeface="Calibri"/>
              </a:rPr>
              <a:t>🟢 PRESENT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11312" y="5120639"/>
            <a:ext cx="1645920" cy="54864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11312" y="518464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6FD9"/>
                </a:solidFill>
                <a:latin typeface="Calibri"/>
              </a:rPr>
              <a:t>🔵 PAST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021824" y="5120639"/>
            <a:ext cx="1645920" cy="54864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21824" y="518464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4FC8"/>
                </a:solidFill>
                <a:latin typeface="Calibri"/>
              </a:rPr>
              <a:t>🟣 FUTURE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PRESENT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22–32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🟢 ZONE 1 — Present 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743131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Present simple  |  22–32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We use Present Simple for things that happen again and again.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20116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37744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51460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A36"/>
                </a:solidFill>
                <a:latin typeface="Calibri"/>
              </a:rPr>
              <a:t>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16712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9E5B"/>
                </a:solidFill>
                <a:latin typeface="Calibri"/>
              </a:rPr>
              <a:t>Habits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83080" y="2770632"/>
            <a:ext cx="3886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28803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46"/>
                </a:solidFill>
                <a:latin typeface="Calibri"/>
              </a:rPr>
              <a:t>I brush my teeth every morning.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783080"/>
            <a:ext cx="5440680" cy="20116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237744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51460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A36"/>
                </a:solidFill>
                <a:latin typeface="Calibri"/>
              </a:rPr>
              <a:t>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216712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9E5B"/>
                </a:solidFill>
                <a:latin typeface="Calibri"/>
              </a:rPr>
              <a:t>Routines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0" y="2770632"/>
            <a:ext cx="3886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28803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46"/>
                </a:solidFill>
                <a:latin typeface="Calibri"/>
              </a:rPr>
              <a:t>School starts at 8 o'clock.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77639"/>
            <a:ext cx="5440680" cy="20116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4571999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709159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A36"/>
                </a:solidFill>
                <a:latin typeface="Calibri"/>
              </a:rPr>
              <a:t>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361687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9E5B"/>
                </a:solidFill>
                <a:latin typeface="Calibri"/>
              </a:rPr>
              <a:t>Facts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83080" y="4965191"/>
            <a:ext cx="3886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5074919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46"/>
                </a:solidFill>
                <a:latin typeface="Calibri"/>
              </a:rPr>
              <a:t>The sun rises in the east.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977639"/>
            <a:ext cx="5440680" cy="20116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46520" y="4571999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709159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4361687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9E5B"/>
                </a:solidFill>
                <a:latin typeface="Calibri"/>
              </a:rPr>
              <a:t>Repeated actions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0" y="4965191"/>
            <a:ext cx="3886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5074919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46"/>
                </a:solidFill>
                <a:latin typeface="Calibri"/>
              </a:rPr>
              <a:t>She plays soccer on Saturdays.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PRESENT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22–32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🟢 Present Simple — Look at the Verb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047923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Present examples  |  22–32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Same verb, but it changes for He / She / It. Watch the ending!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20116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1984248"/>
            <a:ext cx="1371600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482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00253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9E5B"/>
                </a:solidFill>
                <a:latin typeface="Calibri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06040"/>
            <a:ext cx="31089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E46"/>
                </a:solidFill>
                <a:latin typeface="Calibri"/>
              </a:rPr>
              <a:t>I play soccer.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783080"/>
            <a:ext cx="3566160" cy="20116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80560" y="1984248"/>
            <a:ext cx="1371600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20482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00253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9E5B"/>
                </a:solidFill>
                <a:latin typeface="Calibri"/>
              </a:rPr>
              <a:t>read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2606040"/>
            <a:ext cx="31089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E46"/>
                </a:solidFill>
                <a:latin typeface="Calibri"/>
              </a:rPr>
              <a:t>You read books.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783080"/>
            <a:ext cx="3566160" cy="20116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75320" y="1984248"/>
            <a:ext cx="1371600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20482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We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00253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9E5B"/>
                </a:solidFill>
                <a:latin typeface="Calibri"/>
              </a:rPr>
              <a:t>go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2606040"/>
            <a:ext cx="31089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E46"/>
                </a:solidFill>
                <a:latin typeface="Calibri"/>
              </a:rPr>
              <a:t>We go to school.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977639"/>
            <a:ext cx="3566160" cy="20116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5800" y="4178807"/>
            <a:ext cx="1371600" cy="457200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24281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She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4197095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5554C"/>
                </a:solidFill>
                <a:latin typeface="Calibri"/>
              </a:rPr>
              <a:t>plays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800599"/>
            <a:ext cx="31089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02919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E46"/>
                </a:solidFill>
                <a:latin typeface="Calibri"/>
              </a:rPr>
              <a:t>She plays soccer.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60" y="3977639"/>
            <a:ext cx="3566160" cy="20116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80560" y="4178807"/>
            <a:ext cx="1371600" cy="457200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424281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4197095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5554C"/>
                </a:solidFill>
                <a:latin typeface="Calibri"/>
              </a:rPr>
              <a:t>reads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80560" y="4800599"/>
            <a:ext cx="31089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7720" y="502919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E46"/>
                </a:solidFill>
                <a:latin typeface="Calibri"/>
              </a:rPr>
              <a:t>He reads books.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3977639"/>
            <a:ext cx="3566160" cy="20116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75320" y="4178807"/>
            <a:ext cx="1371600" cy="457200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424281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4197095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5554C"/>
                </a:solidFill>
                <a:latin typeface="Calibri"/>
              </a:rPr>
              <a:t>runs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75320" y="4800599"/>
            <a:ext cx="31089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0" y="502919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E46"/>
                </a:solidFill>
                <a:latin typeface="Calibri"/>
              </a:rPr>
              <a:t>The dog runs fast.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22–32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🎯 Game: Routine Detective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352716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Routine detective  |  22–32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What does she do EVERY DAY? Make a full sentence for each picture.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20116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788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E9E5B"/>
                </a:solidFill>
                <a:latin typeface="Calibri"/>
              </a:rPr>
              <a:t>wake 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264408"/>
            <a:ext cx="28346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32841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97688"/>
                </a:solidFill>
                <a:latin typeface="Calibri"/>
              </a:rPr>
              <a:t>She ______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1783080"/>
            <a:ext cx="3566160" cy="20116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196596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788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E9E5B"/>
                </a:solidFill>
                <a:latin typeface="Calibri"/>
              </a:rPr>
              <a:t>eat breakfast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3264408"/>
            <a:ext cx="28346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32841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97688"/>
                </a:solidFill>
                <a:latin typeface="Calibri"/>
              </a:rPr>
              <a:t>She ______ 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783080"/>
            <a:ext cx="3566160" cy="20116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196596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2788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E9E5B"/>
                </a:solidFill>
                <a:latin typeface="Calibri"/>
              </a:rPr>
              <a:t>go to school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3264408"/>
            <a:ext cx="28346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32841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97688"/>
                </a:solidFill>
                <a:latin typeface="Calibri"/>
              </a:rPr>
              <a:t>She ______ 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977639"/>
            <a:ext cx="3566160" cy="20116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160519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9834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E9E5B"/>
                </a:solidFill>
                <a:latin typeface="Calibri"/>
              </a:rPr>
              <a:t>play soccer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458967"/>
            <a:ext cx="28346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522975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97688"/>
                </a:solidFill>
                <a:latin typeface="Calibri"/>
              </a:rPr>
              <a:t>She ______ 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3977639"/>
            <a:ext cx="3566160" cy="20116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4160519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9834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E9E5B"/>
                </a:solidFill>
                <a:latin typeface="Calibri"/>
              </a:rPr>
              <a:t>read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17720" y="5458967"/>
            <a:ext cx="28346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5522975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97688"/>
                </a:solidFill>
                <a:latin typeface="Calibri"/>
              </a:rPr>
              <a:t>She ______ 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977639"/>
            <a:ext cx="3566160" cy="20116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4160519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49834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E9E5B"/>
                </a:solidFill>
                <a:latin typeface="Calibri"/>
              </a:rPr>
              <a:t>sleep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0" y="5458967"/>
            <a:ext cx="28346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5522975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97688"/>
                </a:solidFill>
                <a:latin typeface="Calibri"/>
              </a:rPr>
              <a:t>She ______ 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PRESENT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32–38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🟢 The -s Rule: He / She /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657508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He/She/It  |  32–38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This is the mistake almost everyone makes. Let's beat it!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440680" cy="265176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92024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1E46"/>
                </a:solidFill>
                <a:latin typeface="Calibri"/>
              </a:rPr>
              <a:t>I / You / We / They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2423160"/>
            <a:ext cx="1600200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24963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NO -s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017520"/>
            <a:ext cx="45262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054096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E46"/>
                </a:solidFill>
                <a:latin typeface="Calibri"/>
              </a:rPr>
              <a:t>I play.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438144"/>
            <a:ext cx="45262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74720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E46"/>
                </a:solidFill>
                <a:latin typeface="Calibri"/>
              </a:rPr>
              <a:t>They read.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858768"/>
            <a:ext cx="45262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895344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E46"/>
                </a:solidFill>
                <a:latin typeface="Calibri"/>
              </a:rPr>
              <a:t>We go.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737360"/>
            <a:ext cx="5440680" cy="265176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92024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1E46"/>
                </a:solidFill>
                <a:latin typeface="Calibri"/>
              </a:rPr>
              <a:t>He / She /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2423160"/>
            <a:ext cx="1600200" cy="457200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4963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ADD -s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017520"/>
            <a:ext cx="45262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054096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E46"/>
                </a:solidFill>
                <a:latin typeface="Calibri"/>
              </a:rPr>
              <a:t>He plays.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3438144"/>
            <a:ext cx="45262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474720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E46"/>
                </a:solidFill>
                <a:latin typeface="Calibri"/>
              </a:rPr>
              <a:t>She reads.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3858768"/>
            <a:ext cx="45262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895344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E46"/>
                </a:solidFill>
                <a:latin typeface="Calibri"/>
              </a:rPr>
              <a:t>The dog runs.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572000"/>
            <a:ext cx="11292840" cy="128016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68172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Ends in ch, sh, s, x or o?  Add -es instead: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138928"/>
            <a:ext cx="25603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21208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5554C"/>
                </a:solidFill>
                <a:latin typeface="Calibri"/>
              </a:rPr>
              <a:t>watch → watches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4720" y="5138928"/>
            <a:ext cx="25603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521208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5554C"/>
                </a:solidFill>
                <a:latin typeface="Calibri"/>
              </a:rPr>
              <a:t>go → goes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138928"/>
            <a:ext cx="25603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521208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5554C"/>
                </a:solidFill>
                <a:latin typeface="Calibri"/>
              </a:rPr>
              <a:t>fix → fixes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1120" y="5138928"/>
            <a:ext cx="25603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0" y="521208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5554C"/>
                </a:solidFill>
                <a:latin typeface="Calibri"/>
              </a:rPr>
              <a:t>wash → washes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32–38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🏃 Game: Add the Missing 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962300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Missing S  |  32–38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Who is doing the action? That tells you if you need the -s.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002536"/>
            <a:ext cx="457200" cy="457200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02996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1E46"/>
                </a:solidFill>
                <a:latin typeface="Calibri"/>
              </a:rPr>
              <a:t>She ___ to school every day.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2651760" cy="53035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201168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A.  go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1965960"/>
            <a:ext cx="2651760" cy="53035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201168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B.  goes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926080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" y="3099816"/>
            <a:ext cx="457200" cy="457200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154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12724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1E46"/>
                </a:solidFill>
                <a:latin typeface="Calibri"/>
              </a:rPr>
              <a:t>He ___ football after class.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3063240"/>
            <a:ext cx="2651760" cy="53035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310896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A.  play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3063240"/>
            <a:ext cx="2651760" cy="53035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310896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B.  plays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023360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8368" y="4197096"/>
            <a:ext cx="457200" cy="457200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42245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1E46"/>
                </a:solidFill>
                <a:latin typeface="Calibri"/>
              </a:rPr>
              <a:t>The dog ___ very fast.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0" y="4160520"/>
            <a:ext cx="2651760" cy="53035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0" y="420624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A.  run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49640" y="4160520"/>
            <a:ext cx="2651760" cy="53035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420624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B.  runs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120640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8368" y="5294376"/>
            <a:ext cx="457200" cy="457200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349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532180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1E46"/>
                </a:solidFill>
                <a:latin typeface="Calibri"/>
              </a:rPr>
              <a:t>I ___ books every night.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0" y="5257800"/>
            <a:ext cx="2651760" cy="53035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0" y="530352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A.  read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49640" y="5257800"/>
            <a:ext cx="2651760" cy="53035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9640" y="530352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B.  reads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32–38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🏃 Add the Missing S — Round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267093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Present challenge  |  32–38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Careful — two of these do NOT need the -s.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002536"/>
            <a:ext cx="457200" cy="457200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02996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1E46"/>
                </a:solidFill>
                <a:latin typeface="Calibri"/>
              </a:rPr>
              <a:t>She ___ TV after dinner.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2651760" cy="53035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201168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A.  watch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1965960"/>
            <a:ext cx="2651760" cy="53035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201168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B.  watches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926080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" y="3099816"/>
            <a:ext cx="457200" cy="457200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154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12724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1E46"/>
                </a:solidFill>
                <a:latin typeface="Calibri"/>
              </a:rPr>
              <a:t>They ___ soccer on Sunday.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3063240"/>
            <a:ext cx="2651760" cy="53035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310896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A.  play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3063240"/>
            <a:ext cx="2651760" cy="53035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310896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B.  plays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023360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8368" y="4197096"/>
            <a:ext cx="457200" cy="457200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42245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1E46"/>
                </a:solidFill>
                <a:latin typeface="Calibri"/>
              </a:rPr>
              <a:t>My mom ___ to work at 8.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0" y="4160520"/>
            <a:ext cx="2651760" cy="53035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0" y="420624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A.  go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49640" y="4160520"/>
            <a:ext cx="2651760" cy="53035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420624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B.  goes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120640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8368" y="5294376"/>
            <a:ext cx="457200" cy="457200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349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532180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1E46"/>
                </a:solidFill>
                <a:latin typeface="Calibri"/>
              </a:rPr>
              <a:t>We ___ our homework every day.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0" y="5257800"/>
            <a:ext cx="2651760" cy="53035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0" y="530352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A.  do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49640" y="5257800"/>
            <a:ext cx="2651760" cy="53035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9640" y="530352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E46"/>
                </a:solidFill>
                <a:latin typeface="Calibri"/>
              </a:rPr>
              <a:t>B.  does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38–42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🎮 Brain Break: Tense Action 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57188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Action game  |  38–42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I call a tense — you do the action or say the sentence!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260604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80160" y="1993392"/>
            <a:ext cx="1920240" cy="50292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075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🟢 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97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Do the action now!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30175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520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9E5B"/>
                </a:solidFill>
                <a:latin typeface="Calibri"/>
              </a:rPr>
              <a:t>Walk in place.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783080"/>
            <a:ext cx="3566160" cy="260604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74920" y="1993392"/>
            <a:ext cx="1920240" cy="502920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075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🔵 PAST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697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Say it happened before.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337560"/>
            <a:ext cx="30175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520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6FD9"/>
                </a:solidFill>
                <a:latin typeface="Calibri"/>
              </a:rPr>
              <a:t>"I walked yesterday."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783080"/>
            <a:ext cx="3566160" cy="260604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69680" y="1993392"/>
            <a:ext cx="1920240" cy="502920"/>
          </a:xfrm>
          <a:prstGeom prst="roundRect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2075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🟣 FUTURE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697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Say it will happen later.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337560"/>
            <a:ext cx="30175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520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B4FC8"/>
                </a:solidFill>
                <a:latin typeface="Calibri"/>
              </a:rPr>
              <a:t>"I will walk tomorrow."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663440"/>
            <a:ext cx="11292840" cy="118872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80060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Do all three tenses for each verb: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230368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E46"/>
                </a:solidFill>
                <a:latin typeface="Calibri"/>
              </a:rPr>
              <a:t>walk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26080" y="5230368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E46"/>
                </a:solidFill>
                <a:latin typeface="Calibri"/>
              </a:rPr>
              <a:t>dance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5230368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E46"/>
                </a:solidFill>
                <a:latin typeface="Calibri"/>
              </a:rPr>
              <a:t>read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199" y="5230368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E46"/>
                </a:solidFill>
                <a:latin typeface="Calibri"/>
              </a:rPr>
              <a:t>run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60" y="5230368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E46"/>
                </a:solidFill>
                <a:latin typeface="Calibri"/>
              </a:rPr>
              <a:t>eat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42–52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🔵 ZONE 2 — Past 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876678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Past simple  |  42–52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Past Simple = the action already finished. It is over.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18872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856231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⏱ These time words tell you it is PAST: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28600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359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6FD9"/>
                </a:solidFill>
                <a:latin typeface="Calibri"/>
              </a:rPr>
              <a:t>yesterday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228600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2359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6FD9"/>
                </a:solidFill>
                <a:latin typeface="Calibri"/>
              </a:rPr>
              <a:t>last night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228600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359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6FD9"/>
                </a:solidFill>
                <a:latin typeface="Calibri"/>
              </a:rPr>
              <a:t>last week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199" y="228600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199" y="2359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6FD9"/>
                </a:solidFill>
                <a:latin typeface="Calibri"/>
              </a:rPr>
              <a:t>last Sunday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228600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359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6FD9"/>
                </a:solidFill>
                <a:latin typeface="Calibri"/>
              </a:rPr>
              <a:t>two days ago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154680"/>
            <a:ext cx="11292840" cy="86868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3558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E46"/>
                </a:solidFill>
                <a:latin typeface="Calibri"/>
              </a:rPr>
              <a:t>I played soccer yesterday.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3337560"/>
            <a:ext cx="2377440" cy="502920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34107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played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42232"/>
            <a:ext cx="11292840" cy="86868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34340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E46"/>
                </a:solidFill>
                <a:latin typeface="Calibri"/>
              </a:rPr>
              <a:t>She watched a movie last night.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4325112"/>
            <a:ext cx="2377440" cy="502920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3982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watched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129784"/>
            <a:ext cx="11292840" cy="86868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330952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E46"/>
                </a:solidFill>
                <a:latin typeface="Calibri"/>
              </a:rPr>
              <a:t>We visited the zoo last Sunday.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2560" y="5312664"/>
            <a:ext cx="2377440" cy="502920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538581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visited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42–52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🔵 Regular Verbs — Just Add -ed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181470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Regular verbs  |  42–52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These are the easy ones. The ending is always -ed.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201168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86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97688"/>
                </a:solidFill>
                <a:latin typeface="Calibri"/>
              </a:rPr>
              <a:t>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FD9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2240280"/>
            <a:ext cx="12801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235000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FD9"/>
                </a:solidFill>
                <a:latin typeface="Arial Black"/>
              </a:rPr>
              <a:t>played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154680"/>
            <a:ext cx="30175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186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46"/>
                </a:solidFill>
                <a:latin typeface="Calibri"/>
              </a:rPr>
              <a:t>I played yesterday.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783080"/>
            <a:ext cx="3566160" cy="201168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2286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97688"/>
                </a:solidFill>
                <a:latin typeface="Calibri"/>
              </a:rPr>
              <a:t>walk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FD9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240280"/>
            <a:ext cx="12801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35000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FD9"/>
                </a:solidFill>
                <a:latin typeface="Arial Black"/>
              </a:rPr>
              <a:t>walked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154680"/>
            <a:ext cx="30175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2186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46"/>
                </a:solidFill>
                <a:latin typeface="Calibri"/>
              </a:rPr>
              <a:t>I walked yesterday.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783080"/>
            <a:ext cx="3566160" cy="201168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2286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97688"/>
                </a:solidFill>
                <a:latin typeface="Calibri"/>
              </a:rPr>
              <a:t>watch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FD9"/>
                </a:solidFill>
                <a:latin typeface="Calibr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2240280"/>
            <a:ext cx="12801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235000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FD9"/>
                </a:solidFill>
                <a:latin typeface="Arial Black"/>
              </a:rPr>
              <a:t>watched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154680"/>
            <a:ext cx="30175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2186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46"/>
                </a:solidFill>
                <a:latin typeface="Calibri"/>
              </a:rPr>
              <a:t>I watched yesterday.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977639"/>
            <a:ext cx="3566160" cy="201168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48055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97688"/>
                </a:solidFill>
                <a:latin typeface="Calibri"/>
              </a:rPr>
              <a:t>visit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45262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FD9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0" y="4434839"/>
            <a:ext cx="12801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0" y="4544567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FD9"/>
                </a:solidFill>
                <a:latin typeface="Arial Black"/>
              </a:rPr>
              <a:t>visited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349239"/>
            <a:ext cx="30175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413247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46"/>
                </a:solidFill>
                <a:latin typeface="Calibri"/>
              </a:rPr>
              <a:t>I visited yesterday.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51960" y="3977639"/>
            <a:ext cx="3566160" cy="201168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4840" y="448055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97688"/>
                </a:solidFill>
                <a:latin typeface="Calibri"/>
              </a:rPr>
              <a:t>cook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45262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FD9"/>
                </a:solidFill>
                <a:latin typeface="Calibri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4434839"/>
            <a:ext cx="12801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4544567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FD9"/>
                </a:solidFill>
                <a:latin typeface="Arial Black"/>
              </a:rPr>
              <a:t>cooked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26280" y="5349239"/>
            <a:ext cx="30175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26280" y="5413247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46"/>
                </a:solidFill>
                <a:latin typeface="Calibri"/>
              </a:rPr>
              <a:t>I cooked yesterday.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977639"/>
            <a:ext cx="3566160" cy="201168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448055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97688"/>
                </a:solidFill>
                <a:latin typeface="Calibri"/>
              </a:rPr>
              <a:t>help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45262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FD9"/>
                </a:solidFill>
                <a:latin typeface="Calibri"/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49840" y="4434839"/>
            <a:ext cx="12801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49840" y="4544567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FD9"/>
                </a:solidFill>
                <a:latin typeface="Arial Black"/>
              </a:rPr>
              <a:t>helped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21040" y="5349239"/>
            <a:ext cx="30175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5413247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46"/>
                </a:solidFill>
                <a:latin typeface="Calibri"/>
              </a:rPr>
              <a:t>I helped yesterday.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42–52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🔵 Irregular Verbs — They Change Completely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48626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Irregular verbs  |  42–52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No -ed here. These six just have to be remembered.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20116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86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97688"/>
                </a:solidFill>
                <a:latin typeface="Calibri"/>
              </a:rPr>
              <a:t>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5554C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2240280"/>
            <a:ext cx="12801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235000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5554C"/>
                </a:solidFill>
                <a:latin typeface="Arial Black"/>
              </a:rPr>
              <a:t>went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154680"/>
            <a:ext cx="30175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186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46"/>
                </a:solidFill>
                <a:latin typeface="Calibri"/>
              </a:rPr>
              <a:t>I went yesterday.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783080"/>
            <a:ext cx="3566160" cy="20116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2286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97688"/>
                </a:solidFill>
                <a:latin typeface="Calibri"/>
              </a:rPr>
              <a:t>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5554C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240280"/>
            <a:ext cx="12801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35000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5554C"/>
                </a:solidFill>
                <a:latin typeface="Arial Black"/>
              </a:rPr>
              <a:t>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154680"/>
            <a:ext cx="30175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2186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46"/>
                </a:solidFill>
                <a:latin typeface="Calibri"/>
              </a:rPr>
              <a:t>I ate yesterday.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783080"/>
            <a:ext cx="3566160" cy="20116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2286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97688"/>
                </a:solidFill>
                <a:latin typeface="Calibri"/>
              </a:rPr>
              <a:t>see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5554C"/>
                </a:solidFill>
                <a:latin typeface="Calibr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2240280"/>
            <a:ext cx="12801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235000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5554C"/>
                </a:solidFill>
                <a:latin typeface="Arial Black"/>
              </a:rPr>
              <a:t>saw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154680"/>
            <a:ext cx="30175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2186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46"/>
                </a:solidFill>
                <a:latin typeface="Calibri"/>
              </a:rPr>
              <a:t>I saw yesterday.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977639"/>
            <a:ext cx="3566160" cy="20116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48055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97688"/>
                </a:solidFill>
                <a:latin typeface="Calibri"/>
              </a:rPr>
              <a:t>come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45262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5554C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0" y="4434839"/>
            <a:ext cx="12801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0" y="4544567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5554C"/>
                </a:solidFill>
                <a:latin typeface="Arial Black"/>
              </a:rPr>
              <a:t>came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349239"/>
            <a:ext cx="30175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413247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46"/>
                </a:solidFill>
                <a:latin typeface="Calibri"/>
              </a:rPr>
              <a:t>I came yesterday.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51960" y="3977639"/>
            <a:ext cx="3566160" cy="20116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4840" y="448055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97688"/>
                </a:solidFill>
                <a:latin typeface="Calibri"/>
              </a:rPr>
              <a:t>have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45262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5554C"/>
                </a:solidFill>
                <a:latin typeface="Calibri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4434839"/>
            <a:ext cx="12801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4544567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5554C"/>
                </a:solidFill>
                <a:latin typeface="Arial Black"/>
              </a:rPr>
              <a:t>had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26280" y="5349239"/>
            <a:ext cx="30175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26280" y="5413247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46"/>
                </a:solidFill>
                <a:latin typeface="Calibri"/>
              </a:rPr>
              <a:t>I had yesterday.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977639"/>
            <a:ext cx="3566160" cy="20116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448055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97688"/>
                </a:solidFill>
                <a:latin typeface="Calibri"/>
              </a:rPr>
              <a:t>run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45262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5554C"/>
                </a:solidFill>
                <a:latin typeface="Calibri"/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49840" y="4434839"/>
            <a:ext cx="12801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49840" y="4544567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5554C"/>
                </a:solidFill>
                <a:latin typeface="Arial Black"/>
              </a:rPr>
              <a:t>ran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21040" y="5349239"/>
            <a:ext cx="30175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5413247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46"/>
                </a:solidFill>
                <a:latin typeface="Calibri"/>
              </a:rPr>
              <a:t>I ran yesterday.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52–58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🕵️ Game: What Happened Yesterday?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79105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What happened  |  52–58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The question is about the PAST. Which answer matches?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194560"/>
            <a:ext cx="457200" cy="457200"/>
          </a:xfrm>
          <a:prstGeom prst="ellipse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494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167128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46"/>
                </a:solidFill>
                <a:latin typeface="Calibri"/>
              </a:rPr>
              <a:t>What did Mia do yesterday?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075688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16712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A. She reads a book.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075688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216712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B. She read a book.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2075688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16712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C. She will read a book.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291839"/>
            <a:ext cx="112928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" y="3703319"/>
            <a:ext cx="457200" cy="457200"/>
          </a:xfrm>
          <a:prstGeom prst="ellipse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75818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675887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7033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46"/>
                </a:solidFill>
                <a:latin typeface="Calibri"/>
              </a:rPr>
              <a:t>What did Tom do yesterday?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3584447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3675887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A. He played soccer.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3584447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3675887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B. He plays soccer.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3584447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3675887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C. He will play soccer.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800600"/>
            <a:ext cx="112928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8368" y="5212080"/>
            <a:ext cx="457200" cy="457200"/>
          </a:xfrm>
          <a:prstGeom prst="ellipse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2669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5184648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5212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46"/>
                </a:solidFill>
                <a:latin typeface="Calibri"/>
              </a:rPr>
              <a:t>What did they do last night?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5093208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518464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A. They watch a movie.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60920" y="5093208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518464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B. They will watch a movie.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0" y="5093208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0" y="518464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C. They watched a movie.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52–58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🕵️ Past Tense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095847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What happened  |  52–58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20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The question is about the PAST. Which answer matches?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194560"/>
            <a:ext cx="457200" cy="457200"/>
          </a:xfrm>
          <a:prstGeom prst="ellipse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494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167128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46"/>
                </a:solidFill>
                <a:latin typeface="Calibri"/>
              </a:rPr>
              <a:t>What did the class do last Sunday?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075688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16712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A. They visited the zoo.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075688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216712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B. They visit the zoo.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2075688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16712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C. They will visit the zoo.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291839"/>
            <a:ext cx="112928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" y="3703319"/>
            <a:ext cx="457200" cy="457200"/>
          </a:xfrm>
          <a:prstGeom prst="ellipse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75818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675887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7033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46"/>
                </a:solidFill>
                <a:latin typeface="Calibri"/>
              </a:rPr>
              <a:t>What did Sam do two days ago?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3584447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3675887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A. He eats pizza.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3584447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3675887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B. He ate pizza.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3584447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3675887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C. He will eat pizza.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800600"/>
            <a:ext cx="112928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8368" y="5212080"/>
            <a:ext cx="457200" cy="457200"/>
          </a:xfrm>
          <a:prstGeom prst="ellipse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2669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5184648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5212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46"/>
                </a:solidFill>
                <a:latin typeface="Calibri"/>
              </a:rPr>
              <a:t>What did Ana do yesterday?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5093208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518464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A. She goes to school.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60920" y="5093208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518464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B. She went to school.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0" y="5093208"/>
            <a:ext cx="2057400" cy="7315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0" y="518464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46"/>
                </a:solidFill>
                <a:latin typeface="Calibri"/>
              </a:rPr>
              <a:t>C. She will go to school.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58–65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🟣 ZONE 3 — Future 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400639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Future simple  |  58–65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21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One little word does all the work: WILL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60020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87451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4FC8"/>
                </a:solidFill>
                <a:latin typeface="Calibri"/>
              </a:rPr>
              <a:t>THE FORMULA:   SUBJECT  +  WILL  +  BASE VERB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42316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420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3A5C"/>
                </a:solidFill>
                <a:latin typeface="Calibri"/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9928" y="2560320"/>
            <a:ext cx="155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20" y="242316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20" y="25420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8B4FC8"/>
                </a:solidFill>
                <a:latin typeface="Calibri"/>
              </a:rPr>
              <a:t>will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2560320"/>
            <a:ext cx="155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242316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25420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9E5B"/>
                </a:solidFill>
                <a:latin typeface="Calibri"/>
              </a:rPr>
              <a:t>play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242316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5420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3A5C"/>
                </a:solidFill>
                <a:latin typeface="Calibri"/>
              </a:rPr>
              <a:t>She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3248" y="2560320"/>
            <a:ext cx="155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242316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25420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8B4FC8"/>
                </a:solidFill>
                <a:latin typeface="Calibri"/>
              </a:rPr>
              <a:t>will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2560320"/>
            <a:ext cx="155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242316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25420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9E5B"/>
                </a:solidFill>
                <a:latin typeface="Calibri"/>
              </a:rPr>
              <a:t>read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242316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25420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3A5C"/>
                </a:solidFill>
                <a:latin typeface="Calibri"/>
              </a:rPr>
              <a:t>They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8" y="2560320"/>
            <a:ext cx="155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81160" y="242316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25420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8B4FC8"/>
                </a:solidFill>
                <a:latin typeface="Calibri"/>
              </a:rPr>
              <a:t>will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9568" y="2560320"/>
            <a:ext cx="155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24160" y="242316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60" y="25420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9E5B"/>
                </a:solidFill>
                <a:latin typeface="Calibri"/>
              </a:rPr>
              <a:t>go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520440"/>
            <a:ext cx="5577840" cy="228600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6576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⏱ Future time words: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1148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6"/>
                </a:solidFill>
                <a:latin typeface="Calibri"/>
              </a:rPr>
              <a:t>•  tomorrow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4398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6"/>
                </a:solidFill>
                <a:latin typeface="Calibri"/>
              </a:rPr>
              <a:t>•  next week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7731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6"/>
                </a:solidFill>
                <a:latin typeface="Calibri"/>
              </a:rPr>
              <a:t>•  next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10235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6"/>
                </a:solidFill>
                <a:latin typeface="Calibri"/>
              </a:rPr>
              <a:t>•  later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43153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6"/>
                </a:solidFill>
                <a:latin typeface="Calibri"/>
              </a:rPr>
              <a:t>•  soon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520440"/>
            <a:ext cx="557784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36576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4FC8"/>
                </a:solidFill>
                <a:latin typeface="Calibri"/>
              </a:rPr>
              <a:t>Examples: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46"/>
                </a:solidFill>
                <a:latin typeface="Calibri"/>
              </a:rPr>
              <a:t>•  I will visit my friend.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451713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46"/>
                </a:solidFill>
                <a:latin typeface="Calibri"/>
              </a:rPr>
              <a:t>•  She will play soccer.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49194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46"/>
                </a:solidFill>
                <a:latin typeface="Calibri"/>
              </a:rPr>
              <a:t>•  We will watch a movie.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3218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46"/>
                </a:solidFill>
                <a:latin typeface="Calibri"/>
              </a:rPr>
              <a:t>•  They will go to the park.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65–70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🔮 Game: Future Predictor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70543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Future predictor  |  65–70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22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What will YOU do? Answer in a full sentence using WILL.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14300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05740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093976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Tomorrow is Saturday.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2057400"/>
            <a:ext cx="47548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21671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4FC8"/>
                </a:solidFill>
                <a:latin typeface="Calibri"/>
              </a:rPr>
              <a:t>I will ______.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08960"/>
            <a:ext cx="11292840" cy="114300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832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419856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Next week is your birthday.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3383280"/>
            <a:ext cx="47548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34930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4FC8"/>
                </a:solidFill>
                <a:latin typeface="Calibri"/>
              </a:rPr>
              <a:t>I will ______.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34840"/>
            <a:ext cx="11292840" cy="114300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0916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🌧️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745736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It will rain later today.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4709160"/>
            <a:ext cx="47548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4818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4FC8"/>
                </a:solidFill>
                <a:latin typeface="Calibri"/>
              </a:rPr>
              <a:t>I will ______.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06440"/>
            <a:ext cx="11292840" cy="50292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46"/>
                </a:solidFill>
                <a:latin typeface="Calibri"/>
              </a:rPr>
              <a:t>🎤 Sentence starter if she is stuck: "I will ___ with my ___."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65–70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🟣 Future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010224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Future challenge  |  65–70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23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Remember: after WILL, the verb never changes.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1911096"/>
            <a:ext cx="457200" cy="457200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19385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E46"/>
                </a:solidFill>
                <a:latin typeface="Calibri"/>
              </a:rPr>
              <a:t>Tomorrow, I ___ visit the park.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1874520"/>
            <a:ext cx="2011680" cy="530352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1920240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A.  will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1874520"/>
            <a:ext cx="2011680" cy="530352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1920240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B.  did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1874520"/>
            <a:ext cx="2011680" cy="530352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920240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C.  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670048"/>
            <a:ext cx="11292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" y="2843784"/>
            <a:ext cx="457200" cy="457200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28986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287121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E46"/>
                </a:solidFill>
                <a:latin typeface="Calibri"/>
              </a:rPr>
              <a:t>Next week we ___ go to the zoo.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0" y="2807208"/>
            <a:ext cx="2011680" cy="530352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0" y="285292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A.  will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2807208"/>
            <a:ext cx="2011680" cy="530352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285292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B.  went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2807208"/>
            <a:ext cx="2011680" cy="530352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285292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C.  going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602736"/>
            <a:ext cx="11292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8368" y="3776472"/>
            <a:ext cx="457200" cy="457200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38313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380390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E46"/>
                </a:solidFill>
                <a:latin typeface="Calibri"/>
              </a:rPr>
              <a:t>She will ___ a movie tonight.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94960" y="3739896"/>
            <a:ext cx="2011680" cy="530352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0" y="3785616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A.  watches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89520" y="3739896"/>
            <a:ext cx="2011680" cy="530352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0" y="3785616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B.  watch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84080" y="3739896"/>
            <a:ext cx="2011680" cy="530352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0" y="3785616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C.  watched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535424"/>
            <a:ext cx="11292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8368" y="4709160"/>
            <a:ext cx="457200" cy="457200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47640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" y="4736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E46"/>
                </a:solidFill>
                <a:latin typeface="Calibri"/>
              </a:rPr>
              <a:t>They will ___ to school by bus.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94960" y="4672584"/>
            <a:ext cx="2011680" cy="530352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0" y="4718304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A.  go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89520" y="4672584"/>
            <a:ext cx="2011680" cy="530352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89520" y="4718304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B.  goes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84080" y="4672584"/>
            <a:ext cx="2011680" cy="530352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84080" y="4718304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C.  went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468112"/>
            <a:ext cx="11292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58368" y="5641848"/>
            <a:ext cx="457200" cy="457200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56967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2588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E46"/>
                </a:solidFill>
                <a:latin typeface="Calibri"/>
              </a:rPr>
              <a:t>I will ___ my homework later.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394960" y="5605272"/>
            <a:ext cx="2011680" cy="530352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94960" y="56509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A.  did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589520" y="5605272"/>
            <a:ext cx="2011680" cy="530352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89520" y="56509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B.  do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784080" y="5605272"/>
            <a:ext cx="2011680" cy="530352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84080" y="56509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C.  does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6400800"/>
            <a:ext cx="11292840" cy="9144"/>
          </a:xfrm>
          <a:prstGeom prst="round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70–77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🔄 Tense Transformation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315017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Transformation  |  70–77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24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One sentence, three time zones. Only the verb changes!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18872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130552"/>
            <a:ext cx="1920240" cy="50292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0370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🟢 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093976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E46"/>
                </a:solidFill>
                <a:latin typeface="Calibri"/>
              </a:rPr>
              <a:t>I play soccer.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130552"/>
            <a:ext cx="22860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2037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9E5B"/>
                </a:solidFill>
                <a:latin typeface="Calibri"/>
              </a:rPr>
              <a:t>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9169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7688"/>
                </a:solidFill>
                <a:latin typeface="Calibri"/>
              </a:rPr>
              <a:t>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154680"/>
            <a:ext cx="11292840" cy="11887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502152"/>
            <a:ext cx="1920240" cy="502920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57530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🔵 PAST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465576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E46"/>
                </a:solidFill>
                <a:latin typeface="Calibri"/>
              </a:rPr>
              <a:t>I played soccer.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3502152"/>
            <a:ext cx="22860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35753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played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2885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7688"/>
                </a:solidFill>
                <a:latin typeface="Calibri"/>
              </a:rPr>
              <a:t>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526280"/>
            <a:ext cx="11292840" cy="118872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4873752"/>
            <a:ext cx="1920240" cy="502920"/>
          </a:xfrm>
          <a:prstGeom prst="roundRect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94690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🟣 FUTURE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837176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E46"/>
                </a:solidFill>
                <a:latin typeface="Calibri"/>
              </a:rPr>
              <a:t>I will play soccer.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4873752"/>
            <a:ext cx="22860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49469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4FC8"/>
                </a:solidFill>
                <a:latin typeface="Calibri"/>
              </a:rPr>
              <a:t>will play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70–77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🔄 Transformation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619809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Transform it  |  70–77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25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I give you PRESENT. You give me PAST and FUTURE.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457200"/>
          </a:xfrm>
          <a:prstGeom prst="round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773936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🟢 PRESENT (given)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77393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🔵 PAST (you say)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77393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🟣 FUTURE (you say)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286000"/>
            <a:ext cx="1129284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1792" y="2441448"/>
            <a:ext cx="384048" cy="384048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2478024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2377440"/>
            <a:ext cx="3703320" cy="493776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243230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46"/>
                </a:solidFill>
                <a:latin typeface="Calibri"/>
              </a:rPr>
              <a:t>She reads a book.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2377440"/>
            <a:ext cx="3291840" cy="493776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243230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___________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2377440"/>
            <a:ext cx="3108960" cy="493776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243230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___________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063240"/>
            <a:ext cx="1129284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3218688"/>
            <a:ext cx="384048" cy="384048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255264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3154680"/>
            <a:ext cx="3703320" cy="493776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320954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46"/>
                </a:solidFill>
                <a:latin typeface="Calibri"/>
              </a:rPr>
              <a:t>We watch TV.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3154680"/>
            <a:ext cx="3291840" cy="493776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320954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___________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3154680"/>
            <a:ext cx="3108960" cy="493776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320954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___________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840480"/>
            <a:ext cx="1129284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1792" y="3995928"/>
            <a:ext cx="384048" cy="384048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4032504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3931920"/>
            <a:ext cx="3703320" cy="493776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398678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46"/>
                </a:solidFill>
                <a:latin typeface="Calibri"/>
              </a:rPr>
              <a:t>He goes to the park.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0" y="3931920"/>
            <a:ext cx="3291840" cy="493776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0" y="398678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___________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03920" y="3931920"/>
            <a:ext cx="3108960" cy="493776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398678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___________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617720"/>
            <a:ext cx="1129284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1792" y="4773168"/>
            <a:ext cx="384048" cy="384048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4809744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43000" y="4709160"/>
            <a:ext cx="3703320" cy="493776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80160" y="476402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46"/>
                </a:solidFill>
                <a:latin typeface="Calibri"/>
              </a:rPr>
              <a:t>They visit grandma.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0" y="4709160"/>
            <a:ext cx="3291840" cy="493776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0" y="47640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___________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03920" y="4709160"/>
            <a:ext cx="3108960" cy="493776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476402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___________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394960"/>
            <a:ext cx="1129284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21792" y="5550408"/>
            <a:ext cx="384048" cy="384048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" y="5586984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43000" y="5486400"/>
            <a:ext cx="3703320" cy="493776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80160" y="554126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46"/>
                </a:solidFill>
                <a:latin typeface="Calibri"/>
              </a:rPr>
              <a:t>I eat pizza.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0" y="5486400"/>
            <a:ext cx="3291840" cy="493776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0" y="55412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___________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03920" y="5486400"/>
            <a:ext cx="3108960" cy="493776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3920" y="554126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___________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6263640"/>
            <a:ext cx="11292840" cy="45720"/>
          </a:xfrm>
          <a:prstGeom prst="round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77–82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🕵️ Catch the Grammar Mistake!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924601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Find the mistake  |  77–82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26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Every sentence has ONE mistake. Find it and fix it out loud!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94560"/>
            <a:ext cx="475488" cy="475488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494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1984248"/>
            <a:ext cx="6949440" cy="62179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057400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❌  She go to school every day.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2660904"/>
            <a:ext cx="69494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2679192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97688"/>
                </a:solidFill>
                <a:latin typeface="Calibri"/>
              </a:rPr>
              <a:t>✅  ______________________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2130552"/>
            <a:ext cx="3017520" cy="60350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240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46"/>
                </a:solidFill>
                <a:latin typeface="Calibri"/>
              </a:rPr>
              <a:t>💡 He / She / It needs -s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64408"/>
            <a:ext cx="1129284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3675888"/>
            <a:ext cx="475488" cy="475488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73075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3465576"/>
            <a:ext cx="6949440" cy="62179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3538728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❌  Yesterday I go to the park.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4142232"/>
            <a:ext cx="69494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4160520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97688"/>
                </a:solidFill>
                <a:latin typeface="Calibri"/>
              </a:rPr>
              <a:t>✅  ______________________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3611880"/>
            <a:ext cx="3017520" cy="60350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37216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46"/>
                </a:solidFill>
                <a:latin typeface="Calibri"/>
              </a:rPr>
              <a:t>💡 "Yesterday" = past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745736"/>
            <a:ext cx="1129284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5800" y="5157216"/>
            <a:ext cx="475488" cy="475488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21208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1600" y="4946904"/>
            <a:ext cx="6949440" cy="62179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5020056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❌  Tomorrow I went to the zoo.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5623560"/>
            <a:ext cx="69494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5641848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97688"/>
                </a:solidFill>
                <a:latin typeface="Calibri"/>
              </a:rPr>
              <a:t>✅  ______________________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49640" y="5093208"/>
            <a:ext cx="3017520" cy="60350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520293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46"/>
                </a:solidFill>
                <a:latin typeface="Calibri"/>
              </a:rPr>
              <a:t>💡 "Tomorrow" = future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77–82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🕵️ Fix the Sentence — Round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229394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Find the mistake  |  77–82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27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Every sentence has ONE mistake. Find it and fix it out loud!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94560"/>
            <a:ext cx="475488" cy="475488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494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1984248"/>
            <a:ext cx="6949440" cy="62179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057400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❌  I will goes home now.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2660904"/>
            <a:ext cx="69494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2679192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97688"/>
                </a:solidFill>
                <a:latin typeface="Calibri"/>
              </a:rPr>
              <a:t>✅  ______________________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2130552"/>
            <a:ext cx="3017520" cy="60350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240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46"/>
                </a:solidFill>
                <a:latin typeface="Calibri"/>
              </a:rPr>
              <a:t>💡 After WILL use the base verb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64408"/>
            <a:ext cx="1129284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3675888"/>
            <a:ext cx="475488" cy="475488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73075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3465576"/>
            <a:ext cx="6949440" cy="62179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3538728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❌  He watch TV every night.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4142232"/>
            <a:ext cx="69494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4160520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97688"/>
                </a:solidFill>
                <a:latin typeface="Calibri"/>
              </a:rPr>
              <a:t>✅  ______________________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3611880"/>
            <a:ext cx="3017520" cy="60350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37216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46"/>
                </a:solidFill>
                <a:latin typeface="Calibri"/>
              </a:rPr>
              <a:t>💡 watch → watches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745736"/>
            <a:ext cx="1129284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5800" y="5157216"/>
            <a:ext cx="475488" cy="475488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21208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1600" y="4946904"/>
            <a:ext cx="6949440" cy="621792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5020056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❌  Last week we visit the museum.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5623560"/>
            <a:ext cx="69494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5641848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97688"/>
                </a:solidFill>
                <a:latin typeface="Calibri"/>
              </a:rPr>
              <a:t>✅  ______________________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49640" y="5093208"/>
            <a:ext cx="3017520" cy="60350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520293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46"/>
                </a:solidFill>
                <a:latin typeface="Calibri"/>
              </a:rPr>
              <a:t>💡 "Last week" = past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77–82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📋 One Verb, Three Tenses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534186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3-tense verbs  |  77–82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28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Your cheat sheet. Same verb, three different jobs.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19072"/>
            <a:ext cx="2743200" cy="457200"/>
          </a:xfrm>
          <a:prstGeom prst="round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0136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719072"/>
            <a:ext cx="2743200" cy="457200"/>
          </a:xfrm>
          <a:prstGeom prst="round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80136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🟢 PRESENT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19072"/>
            <a:ext cx="2743200" cy="457200"/>
          </a:xfrm>
          <a:prstGeom prst="round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80136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🔵 PAST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719072"/>
            <a:ext cx="2651760" cy="457200"/>
          </a:xfrm>
          <a:prstGeom prst="round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80136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🟣 FUTURE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286000"/>
            <a:ext cx="2743200" cy="566928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37744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⚽  play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2286000"/>
            <a:ext cx="2743200" cy="56692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237744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9E5B"/>
                </a:solidFill>
                <a:latin typeface="Calibri"/>
              </a:rPr>
              <a:t>play / plays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286000"/>
            <a:ext cx="2743200" cy="566928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37744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played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2286000"/>
            <a:ext cx="2651760" cy="566928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2377440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4FC8"/>
                </a:solidFill>
                <a:latin typeface="Calibri"/>
              </a:rPr>
              <a:t>will play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944368"/>
            <a:ext cx="2743200" cy="566928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03580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📺  watch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2944368"/>
            <a:ext cx="2743200" cy="56692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303580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9E5B"/>
                </a:solidFill>
                <a:latin typeface="Calibri"/>
              </a:rPr>
              <a:t>watch / watches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2944368"/>
            <a:ext cx="2743200" cy="566928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03580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watched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2944368"/>
            <a:ext cx="2651760" cy="566928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280" y="303580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4FC8"/>
                </a:solidFill>
                <a:latin typeface="Calibri"/>
              </a:rPr>
              <a:t>will watch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602736"/>
            <a:ext cx="2743200" cy="566928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69417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📚  read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37560" y="3602736"/>
            <a:ext cx="2743200" cy="56692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37560" y="369417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9E5B"/>
                </a:solidFill>
                <a:latin typeface="Calibri"/>
              </a:rPr>
              <a:t>read / reads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602736"/>
            <a:ext cx="2743200" cy="566928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369417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read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98280" y="3602736"/>
            <a:ext cx="2651760" cy="566928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369417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4FC8"/>
                </a:solidFill>
                <a:latin typeface="Calibri"/>
              </a:rPr>
              <a:t>will read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4261104"/>
            <a:ext cx="2743200" cy="566928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352544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🏫  go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37560" y="4261104"/>
            <a:ext cx="2743200" cy="56692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37560" y="4352544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9E5B"/>
                </a:solidFill>
                <a:latin typeface="Calibri"/>
              </a:rPr>
              <a:t>go / goes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4261104"/>
            <a:ext cx="2743200" cy="566928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4352544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went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98280" y="4261104"/>
            <a:ext cx="2651760" cy="566928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98280" y="4352544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4FC8"/>
                </a:solidFill>
                <a:latin typeface="Calibri"/>
              </a:rPr>
              <a:t>will go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4919472"/>
            <a:ext cx="2743200" cy="566928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01091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🍕  eat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337560" y="4919472"/>
            <a:ext cx="2743200" cy="56692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37560" y="501091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9E5B"/>
                </a:solidFill>
                <a:latin typeface="Calibri"/>
              </a:rPr>
              <a:t>eat / eats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4919472"/>
            <a:ext cx="2743200" cy="566928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0" y="501091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ate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98280" y="4919472"/>
            <a:ext cx="2651760" cy="566928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98280" y="501091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4FC8"/>
                </a:solidFill>
                <a:latin typeface="Calibri"/>
              </a:rPr>
              <a:t>will eat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577840"/>
            <a:ext cx="2743200" cy="566928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66928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👵  visit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337560" y="5577840"/>
            <a:ext cx="2743200" cy="56692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37560" y="566928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9E5B"/>
                </a:solidFill>
                <a:latin typeface="Calibri"/>
              </a:rPr>
              <a:t>visit / visits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17920" y="5577840"/>
            <a:ext cx="2743200" cy="566928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0" y="566928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visited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098280" y="5577840"/>
            <a:ext cx="2651760" cy="566928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98280" y="5669280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4FC8"/>
                </a:solidFill>
                <a:latin typeface="Calibri"/>
              </a:rPr>
              <a:t>will visit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82–87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📖 Story Mission: Maya's Three-Day Adventure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838978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Story intro  |  82–87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29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All three tenses are hiding in this story. Your job is to spot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120640" cy="402336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>
                <a:solidFill>
                  <a:srgbClr val="222A36"/>
                </a:solidFill>
                <a:latin typeface="Calibri"/>
              </a:rPr>
              <a:t>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EA21A"/>
                </a:solidFill>
                <a:latin typeface="Arial Black"/>
              </a:rPr>
              <a:t>MAYA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97688"/>
                </a:solidFill>
                <a:latin typeface="Calibri"/>
              </a:rPr>
              <a:t>She is 10. She loves soccer.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1737360"/>
            <a:ext cx="5852160" cy="118872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0574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22A36"/>
                </a:solidFill>
                <a:latin typeface="Calibri"/>
              </a:rPr>
              <a:t>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97510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9E5B"/>
                </a:solidFill>
                <a:latin typeface="Calibri"/>
              </a:rPr>
              <a:t>Find the PRESENT sentences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43230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6"/>
                </a:solidFill>
                <a:latin typeface="Calibri"/>
              </a:rPr>
              <a:t>What she does every week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3108960"/>
            <a:ext cx="5852160" cy="11887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3429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22A36"/>
                </a:solidFill>
                <a:latin typeface="Calibri"/>
              </a:rPr>
              <a:t>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34670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6FD9"/>
                </a:solidFill>
                <a:latin typeface="Calibri"/>
              </a:rPr>
              <a:t>Find the PAST sentences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80390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6"/>
                </a:solidFill>
                <a:latin typeface="Calibri"/>
              </a:rPr>
              <a:t>What happened yesterday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4480560"/>
            <a:ext cx="5852160" cy="118872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48006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22A36"/>
                </a:solidFill>
                <a:latin typeface="Calibri"/>
              </a:rPr>
              <a:t>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71830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8B4FC8"/>
                </a:solidFill>
                <a:latin typeface="Calibri"/>
              </a:rPr>
              <a:t>Find the FUTURE sentences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517550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6"/>
                </a:solidFill>
                <a:latin typeface="Calibri"/>
              </a:rPr>
              <a:t>What she will do next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82–87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📖 Maya's Three-Day Adventure — Part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143771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Part 1  |  82–87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30 / 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25880"/>
            <a:ext cx="1129284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1618488"/>
            <a:ext cx="201168" cy="20116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15087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Maya is ten years old.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075688"/>
            <a:ext cx="201168" cy="20116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19659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Every Saturday, she plays soccer in the park.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2532888"/>
            <a:ext cx="201168" cy="20116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24231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She wakes up early and eats breakfast with her family.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2990088"/>
            <a:ext cx="201168" cy="20116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28803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Her best friend Zoe always comes with her.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3447288"/>
            <a:ext cx="201168" cy="20116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3375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Maya loves soccer because it makes her happy.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3904488"/>
            <a:ext cx="201168" cy="201168"/>
          </a:xfrm>
          <a:prstGeom prst="ellipse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37947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Yesterday was different.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4361688"/>
            <a:ext cx="201168" cy="201168"/>
          </a:xfrm>
          <a:prstGeom prst="ellipse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2519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Maya played a big game against another school.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4818888"/>
            <a:ext cx="201168" cy="201168"/>
          </a:xfrm>
          <a:prstGeom prst="ellipse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7091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She ran fast and scored two goals.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5276088"/>
            <a:ext cx="201168" cy="201168"/>
          </a:xfrm>
          <a:prstGeom prst="ellipse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51663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Her team won! After the game, Zoe and Maya ate pizza together.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3566160" cy="420624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9984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9E5B"/>
                </a:solidFill>
                <a:latin typeface="Calibri"/>
              </a:rPr>
              <a:t>🟢  PRESENT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5943600"/>
            <a:ext cx="3566160" cy="420624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59984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6FD9"/>
                </a:solidFill>
                <a:latin typeface="Calibri"/>
              </a:rPr>
              <a:t>🔵  PAST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5943600"/>
            <a:ext cx="3566160" cy="420624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59984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4FC8"/>
                </a:solidFill>
                <a:latin typeface="Calibri"/>
              </a:rPr>
              <a:t>🟣  FUTURE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82–87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📖 Maya's Three-Day Adventure — Part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448563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Part 2  |  82–87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31 / 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25880"/>
            <a:ext cx="1129284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1618488"/>
            <a:ext cx="201168" cy="201168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15087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Tomorrow, Maya will visit her grandmother.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121408"/>
            <a:ext cx="201168" cy="201168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20116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They will bake cookies and watch a movie.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2624328"/>
            <a:ext cx="201168" cy="201168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25146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Maya will tell her all about the big game.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127248"/>
            <a:ext cx="201168" cy="20116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0175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She is very excited.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3630168"/>
            <a:ext cx="201168" cy="201168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5204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Next week, Maya will play another match.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133088"/>
            <a:ext cx="201168" cy="201168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0233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She will practice every day.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4636008"/>
            <a:ext cx="201168" cy="201168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5262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Her coach says she will become a great player.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5138928"/>
            <a:ext cx="201168" cy="20116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029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46"/>
                </a:solidFill>
                <a:latin typeface="Calibri"/>
              </a:rPr>
              <a:t>Maya smiles. Every day brings something new.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43600"/>
            <a:ext cx="3566160" cy="420624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9984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9E5B"/>
                </a:solidFill>
                <a:latin typeface="Calibri"/>
              </a:rPr>
              <a:t>🟢  PRESENT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60" y="5943600"/>
            <a:ext cx="3566160" cy="420624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60" y="59984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6FD9"/>
                </a:solidFill>
                <a:latin typeface="Calibri"/>
              </a:rPr>
              <a:t>🔵  PAST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5943600"/>
            <a:ext cx="3566160" cy="420624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59984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4FC8"/>
                </a:solidFill>
                <a:latin typeface="Calibri"/>
              </a:rPr>
              <a:t>🟣  FUTURE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82–87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🔍 Story Grammar Hunt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753356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Grammar hunt  |  82–87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32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Which tense is each sentence? Point to your answer.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1883664"/>
            <a:ext cx="384048" cy="384048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920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1883664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Every Saturday, she plays soccer.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837944"/>
            <a:ext cx="1691640" cy="45720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88366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9E5B"/>
                </a:solidFill>
                <a:latin typeface="Calibri"/>
              </a:rPr>
              <a:t>🟢 PRESENT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837944"/>
            <a:ext cx="1691640" cy="4572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88366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6FD9"/>
                </a:solidFill>
                <a:latin typeface="Calibri"/>
              </a:rPr>
              <a:t>🔵 PAST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1837944"/>
            <a:ext cx="1691640" cy="45720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188366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B4FC8"/>
                </a:solidFill>
                <a:latin typeface="Calibri"/>
              </a:rPr>
              <a:t>🟣 FUTURE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505456"/>
            <a:ext cx="112928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2651760"/>
            <a:ext cx="384048" cy="384048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68833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651760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Maya played a big game.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606040"/>
            <a:ext cx="1691640" cy="45720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6517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9E5B"/>
                </a:solidFill>
                <a:latin typeface="Calibri"/>
              </a:rPr>
              <a:t>🟢 PRESENT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2606040"/>
            <a:ext cx="1691640" cy="4572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26517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6FD9"/>
                </a:solidFill>
                <a:latin typeface="Calibri"/>
              </a:rPr>
              <a:t>🔵 PAST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60" y="2606040"/>
            <a:ext cx="1691640" cy="45720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26517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B4FC8"/>
                </a:solidFill>
                <a:latin typeface="Calibri"/>
              </a:rPr>
              <a:t>🟣 FUTURE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273552"/>
            <a:ext cx="112928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" y="3419856"/>
            <a:ext cx="384048" cy="384048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456432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341985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Tomorrow, Maya will visit her grandmother.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3374136"/>
            <a:ext cx="1691640" cy="45720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41985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9E5B"/>
                </a:solidFill>
                <a:latin typeface="Calibri"/>
              </a:rPr>
              <a:t>🟢 PRESENT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3374136"/>
            <a:ext cx="1691640" cy="4572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341985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6FD9"/>
                </a:solidFill>
                <a:latin typeface="Calibri"/>
              </a:rPr>
              <a:t>🔵 PAST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66960" y="3374136"/>
            <a:ext cx="1691640" cy="45720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66960" y="341985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B4FC8"/>
                </a:solidFill>
                <a:latin typeface="Calibri"/>
              </a:rPr>
              <a:t>🟣 FUTURE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041648"/>
            <a:ext cx="112928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0080" y="4187952"/>
            <a:ext cx="384048" cy="384048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224528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4187952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She wakes up early.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4142232"/>
            <a:ext cx="1691640" cy="45720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418795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9E5B"/>
                </a:solidFill>
                <a:latin typeface="Calibri"/>
              </a:rPr>
              <a:t>🟢 PRESENT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38160" y="4142232"/>
            <a:ext cx="1691640" cy="4572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8160" y="418795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6FD9"/>
                </a:solidFill>
                <a:latin typeface="Calibri"/>
              </a:rPr>
              <a:t>🔵 PAST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66960" y="4142232"/>
            <a:ext cx="1691640" cy="45720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66960" y="418795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B4FC8"/>
                </a:solidFill>
                <a:latin typeface="Calibri"/>
              </a:rPr>
              <a:t>🟣 FUTURE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4809744"/>
            <a:ext cx="112928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40080" y="4956048"/>
            <a:ext cx="384048" cy="384048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4992624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8720" y="4956048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She ran fast and scored two goals.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09360" y="4910328"/>
            <a:ext cx="1691640" cy="45720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495604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9E5B"/>
                </a:solidFill>
                <a:latin typeface="Calibri"/>
              </a:rPr>
              <a:t>🟢 PRESENT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38160" y="4910328"/>
            <a:ext cx="1691640" cy="4572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38160" y="495604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6FD9"/>
                </a:solidFill>
                <a:latin typeface="Calibri"/>
              </a:rPr>
              <a:t>🔵 PAST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966960" y="4910328"/>
            <a:ext cx="1691640" cy="45720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66960" y="495604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B4FC8"/>
                </a:solidFill>
                <a:latin typeface="Calibri"/>
              </a:rPr>
              <a:t>🟣 FUTURE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5577840"/>
            <a:ext cx="112928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40080" y="5724144"/>
            <a:ext cx="384048" cy="384048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576072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88720" y="5724144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She will practice every day.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09360" y="5678424"/>
            <a:ext cx="1691640" cy="45720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09360" y="572414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9E5B"/>
                </a:solidFill>
                <a:latin typeface="Calibri"/>
              </a:rPr>
              <a:t>🟢 PRESENT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38160" y="5678424"/>
            <a:ext cx="1691640" cy="4572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38160" y="572414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6FD9"/>
                </a:solidFill>
                <a:latin typeface="Calibri"/>
              </a:rPr>
              <a:t>🔵 PAST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966960" y="5678424"/>
            <a:ext cx="1691640" cy="45720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966960" y="572414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B4FC8"/>
                </a:solidFill>
                <a:latin typeface="Calibri"/>
              </a:rPr>
              <a:t>🟣 FUTURE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6355080"/>
            <a:ext cx="11292840" cy="18288"/>
          </a:xfrm>
          <a:prstGeom prst="round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82–87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💬 Story Questions — Say It in a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058148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Story questions  |  82–87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33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Answer in a FULL sentence, using the right tense.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039112"/>
            <a:ext cx="475488" cy="475488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93976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057400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41E46"/>
                </a:solidFill>
                <a:latin typeface="Calibri"/>
              </a:rPr>
              <a:t>What does Maya do every Saturday?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2039112"/>
            <a:ext cx="2743200" cy="50292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21122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46"/>
                </a:solidFill>
                <a:latin typeface="Calibri"/>
              </a:rPr>
              <a:t>🟢 Present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26080"/>
            <a:ext cx="112928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3182112"/>
            <a:ext cx="475488" cy="475488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236976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200400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41E46"/>
                </a:solidFill>
                <a:latin typeface="Calibri"/>
              </a:rPr>
              <a:t>What did Maya do yesterday?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3182112"/>
            <a:ext cx="2743200" cy="50292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32552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46"/>
                </a:solidFill>
                <a:latin typeface="Calibri"/>
              </a:rPr>
              <a:t>🔵 Past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069080"/>
            <a:ext cx="112928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325112"/>
            <a:ext cx="475488" cy="475488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379976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343400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41E46"/>
                </a:solidFill>
                <a:latin typeface="Calibri"/>
              </a:rPr>
              <a:t>What will Maya do tomorrow?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4325112"/>
            <a:ext cx="2743200" cy="50292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43982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46"/>
                </a:solidFill>
                <a:latin typeface="Calibri"/>
              </a:rPr>
              <a:t>🟣 Future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212080"/>
            <a:ext cx="112928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5800" y="5468112"/>
            <a:ext cx="475488" cy="475488"/>
          </a:xfrm>
          <a:prstGeom prst="ellipse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522976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486400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41E46"/>
                </a:solidFill>
                <a:latin typeface="Calibri"/>
              </a:rPr>
              <a:t>Which tense is "She will practice every day."?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8240" y="5468112"/>
            <a:ext cx="2743200" cy="50292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55412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46"/>
                </a:solidFill>
                <a:latin typeface="Calibri"/>
              </a:rPr>
              <a:t>🟣 Future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355080"/>
            <a:ext cx="11292840" cy="18288"/>
          </a:xfrm>
          <a:prstGeom prst="round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87–89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🎲 Roll &amp; Create  +  🎤 3-Tense Talk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362940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Roll &amp; talk  |  87–89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34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Pick a number, then make all THREE sentences with that verb.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11887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048256"/>
            <a:ext cx="566928" cy="566928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121408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066544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A36"/>
                </a:solidFill>
                <a:latin typeface="Calibri"/>
              </a:rPr>
              <a:t>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0848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1E46"/>
                </a:solidFill>
                <a:latin typeface="Arial Black"/>
              </a:rPr>
              <a:t>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1737360"/>
            <a:ext cx="3566160" cy="11887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53128" y="2048256"/>
            <a:ext cx="566928" cy="566928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2121408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066544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A36"/>
                </a:solidFill>
                <a:latin typeface="Calibri"/>
              </a:rPr>
              <a:t>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20848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1E46"/>
                </a:solidFill>
                <a:latin typeface="Arial Black"/>
              </a:rPr>
              <a:t>watch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737360"/>
            <a:ext cx="3566160" cy="11887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47888" y="2048256"/>
            <a:ext cx="566928" cy="566928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2121408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066544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A36"/>
                </a:solidFill>
                <a:latin typeface="Calibri"/>
              </a:rPr>
              <a:t>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0848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1E46"/>
                </a:solidFill>
                <a:latin typeface="Arial Black"/>
              </a:rPr>
              <a:t>go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108960"/>
            <a:ext cx="3566160" cy="11887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8368" y="3419856"/>
            <a:ext cx="566928" cy="566928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493008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3438144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A36"/>
                </a:solidFill>
                <a:latin typeface="Calibri"/>
              </a:rPr>
              <a:t>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34564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1E46"/>
                </a:solidFill>
                <a:latin typeface="Arial Black"/>
              </a:rPr>
              <a:t>eat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3108960"/>
            <a:ext cx="3566160" cy="11887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53128" y="3419856"/>
            <a:ext cx="566928" cy="566928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53128" y="3493008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438144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A36"/>
                </a:solidFill>
                <a:latin typeface="Calibri"/>
              </a:rPr>
              <a:t>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34564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1E46"/>
                </a:solidFill>
                <a:latin typeface="Arial Black"/>
              </a:rPr>
              <a:t>visit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108960"/>
            <a:ext cx="3566160" cy="11887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47888" y="3419856"/>
            <a:ext cx="566928" cy="566928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47888" y="3493008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3438144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A36"/>
                </a:solidFill>
                <a:latin typeface="Calibri"/>
              </a:rPr>
              <a:t>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34564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1E46"/>
                </a:solidFill>
                <a:latin typeface="Arial Black"/>
              </a:rPr>
              <a:t>read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526280"/>
            <a:ext cx="3566160" cy="137160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463040" y="4709160"/>
            <a:ext cx="1554480" cy="41148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3040" y="476402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🟢 PRESENT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257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E46"/>
                </a:solidFill>
                <a:latin typeface="Calibri"/>
              </a:rPr>
              <a:t>Every day I ______.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51960" y="4526280"/>
            <a:ext cx="3566160" cy="13716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257800" y="4709160"/>
            <a:ext cx="1554480" cy="411480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57800" y="476402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🔵 PAST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34840" y="5257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E46"/>
                </a:solidFill>
                <a:latin typeface="Calibri"/>
              </a:rPr>
              <a:t>Yesterday I ______.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46720" y="4526280"/>
            <a:ext cx="3566160" cy="137160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052560" y="4709160"/>
            <a:ext cx="1554480" cy="411480"/>
          </a:xfrm>
          <a:prstGeom prst="roundRect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52560" y="476402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🟣 FUTURE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5257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E46"/>
                </a:solidFill>
                <a:latin typeface="Calibri"/>
              </a:rPr>
              <a:t>Tomorrow I will ______.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87–89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🏆 Final Game: Tense Champion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667733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Tense champion  |  87–89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35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Five rapid-fire challenges. Celebrate every single one!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1911096"/>
            <a:ext cx="457200" cy="457200"/>
          </a:xfrm>
          <a:prstGeom prst="ellipse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19385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E46"/>
                </a:solidFill>
                <a:latin typeface="Calibri"/>
              </a:rPr>
              <a:t>Every day I ___ to school.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1874520"/>
            <a:ext cx="2011680" cy="53035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1920240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A.  go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1874520"/>
            <a:ext cx="2011680" cy="53035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1920240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B.  went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1874520"/>
            <a:ext cx="2011680" cy="53035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920240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C.  will go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670048"/>
            <a:ext cx="11292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" y="2843784"/>
            <a:ext cx="457200" cy="457200"/>
          </a:xfrm>
          <a:prstGeom prst="ellipse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28986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287121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E46"/>
                </a:solidFill>
                <a:latin typeface="Calibri"/>
              </a:rPr>
              <a:t>Yesterday I ___ a movie.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0" y="2807208"/>
            <a:ext cx="2011680" cy="53035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0" y="285292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A.  watch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2807208"/>
            <a:ext cx="2011680" cy="53035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285292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B.  watched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2807208"/>
            <a:ext cx="2011680" cy="53035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285292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C.  will watch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602736"/>
            <a:ext cx="11292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8368" y="3776472"/>
            <a:ext cx="457200" cy="457200"/>
          </a:xfrm>
          <a:prstGeom prst="ellipse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38313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380390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E46"/>
                </a:solidFill>
                <a:latin typeface="Calibri"/>
              </a:rPr>
              <a:t>Tomorrow I ___ my friend.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94960" y="3739896"/>
            <a:ext cx="2011680" cy="53035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0" y="3785616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A.  visit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89520" y="3739896"/>
            <a:ext cx="2011680" cy="53035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0" y="3785616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B.  visited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84080" y="3739896"/>
            <a:ext cx="2011680" cy="53035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0" y="3785616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C.  will visit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535424"/>
            <a:ext cx="11292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8368" y="4709160"/>
            <a:ext cx="457200" cy="457200"/>
          </a:xfrm>
          <a:prstGeom prst="ellipse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47640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" y="4736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E46"/>
                </a:solidFill>
                <a:latin typeface="Calibri"/>
              </a:rPr>
              <a:t>She ___ soccer every Saturday.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94960" y="4672584"/>
            <a:ext cx="2011680" cy="53035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0" y="4718304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A.  play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89520" y="4672584"/>
            <a:ext cx="2011680" cy="53035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89520" y="4718304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B.  plays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84080" y="4672584"/>
            <a:ext cx="2011680" cy="53035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84080" y="4718304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C.  played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468112"/>
            <a:ext cx="11292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58368" y="5641848"/>
            <a:ext cx="457200" cy="457200"/>
          </a:xfrm>
          <a:prstGeom prst="ellipse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56967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2588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E46"/>
                </a:solidFill>
                <a:latin typeface="Calibri"/>
              </a:rPr>
              <a:t>Last week we ___ the zoo.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394960" y="5605272"/>
            <a:ext cx="2011680" cy="53035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94960" y="56509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A.  visit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589520" y="5605272"/>
            <a:ext cx="2011680" cy="53035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89520" y="56509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B.  visited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784080" y="5605272"/>
            <a:ext cx="2011680" cy="53035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84080" y="56509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46"/>
                </a:solidFill>
                <a:latin typeface="Calibri"/>
              </a:rPr>
              <a:t>C.  will visit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5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89–90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🎟️ Exit Ticket — Make Your Own Sentences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97252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Exit ticket  |  89–90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36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554C"/>
                </a:solidFill>
                <a:latin typeface="Calibri"/>
              </a:rPr>
              <a:t>Three sentences, all your own. Any verb you like!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8016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167128"/>
            <a:ext cx="2011680" cy="530352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24942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🟢 PRESENT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2057400"/>
            <a:ext cx="83210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1945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1E46"/>
                </a:solidFill>
                <a:latin typeface="Calibri"/>
              </a:rPr>
              <a:t>I ______ every day.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46120"/>
            <a:ext cx="11292840" cy="128016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3630168"/>
            <a:ext cx="2011680" cy="530352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71246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🔵 PAST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3520440"/>
            <a:ext cx="83210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6576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1E46"/>
                </a:solidFill>
                <a:latin typeface="Calibri"/>
              </a:rPr>
              <a:t>Yesterday, I ______.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709160"/>
            <a:ext cx="11292840" cy="1280160"/>
          </a:xfrm>
          <a:prstGeom prst="roundRect">
            <a:avLst/>
          </a:prstGeom>
          <a:solidFill>
            <a:srgbClr val="F0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5093208"/>
            <a:ext cx="2011680" cy="530352"/>
          </a:xfrm>
          <a:prstGeom prst="roundRect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7550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🟣 FUTURE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4983480"/>
            <a:ext cx="83210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5120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1E46"/>
                </a:solidFill>
                <a:latin typeface="Calibri"/>
              </a:rPr>
              <a:t>Tomorrow, I will ______.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777240"/>
            <a:ext cx="731520" cy="73152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777240"/>
            <a:ext cx="731520" cy="731520"/>
          </a:xfrm>
          <a:prstGeom prst="ellipse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5257800"/>
            <a:ext cx="731520" cy="731520"/>
          </a:xfrm>
          <a:prstGeom prst="ellipse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5640" y="5212080"/>
            <a:ext cx="731520" cy="731520"/>
          </a:xfrm>
          <a:prstGeom prst="ellipse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C530"/>
                </a:solidFill>
                <a:latin typeface="Georgia"/>
              </a:rPr>
              <a:t>⭐ GRAMMAR TIME TRAVELER ⭐</a:t>
            </a:r>
          </a:p>
        </p:txBody>
      </p:sp>
      <p:sp>
        <p:nvSpPr>
          <p:cNvPr id="9" name="Oval 8"/>
          <p:cNvSpPr/>
          <p:nvPr/>
        </p:nvSpPr>
        <p:spPr>
          <a:xfrm>
            <a:off x="4956048" y="1691640"/>
            <a:ext cx="2286000" cy="2286000"/>
          </a:xfrm>
          <a:prstGeom prst="ellipse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21945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22A36"/>
                </a:solidFill>
                <a:latin typeface="Calibri"/>
              </a:rPr>
              <a:t>🕰️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You completed the mission!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28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Calibri"/>
              </a:rPr>
              <a:t>Chrono-5 is repaired. All three time zones unlocked.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5440680"/>
            <a:ext cx="2377440" cy="566928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555040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🟢  PRESENT  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5440680"/>
            <a:ext cx="2377440" cy="566928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55040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🔵  PAST  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5440680"/>
            <a:ext cx="2377440" cy="566928"/>
          </a:xfrm>
          <a:prstGeom prst="roundRect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555040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🟣  FUTURE 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419088"/>
            <a:ext cx="11277317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Badge  |  89–90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37 / 40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🧰 Support Ladder — If She Gets Stuck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582110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38 / 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554C"/>
                </a:solidFill>
                <a:latin typeface="Calibri"/>
              </a:rPr>
              <a:t>TEACHER ONLY — do not reveal the answer. Climb these hints one step at a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691640"/>
            <a:ext cx="27432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1874519"/>
            <a:ext cx="1188720" cy="411480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938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Hint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95728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Look at the TIME WORD.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688"/>
                </a:solidFill>
                <a:latin typeface="Calibri"/>
              </a:rPr>
              <a:t>yesterday · every day · tomorrow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9272" y="1691640"/>
            <a:ext cx="27432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02152" y="1874519"/>
            <a:ext cx="1188720" cy="411480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1938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Hint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2395728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Now, before, or later?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2152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688"/>
                </a:solidFill>
                <a:latin typeface="Calibri"/>
              </a:rPr>
              <a:t>When does it happen?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1691640"/>
            <a:ext cx="27432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9944" y="1874519"/>
            <a:ext cx="1188720" cy="41148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1938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Hint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395728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Look at the VERB.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688"/>
                </a:solidFill>
                <a:latin typeface="Calibri"/>
              </a:rPr>
              <a:t>go · went · will go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34856" y="1691640"/>
            <a:ext cx="27432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1874519"/>
            <a:ext cx="1188720" cy="411480"/>
          </a:xfrm>
          <a:prstGeom prst="roundRect">
            <a:avLst/>
          </a:prstGeom>
          <a:solidFill>
            <a:srgbClr val="8B4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1938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Hint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2395728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Let's say it together.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688"/>
                </a:solidFill>
                <a:latin typeface="Calibri"/>
              </a:rPr>
              <a:t>Then she tries alone.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3822191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46"/>
                </a:solidFill>
                <a:latin typeface="Calibri"/>
              </a:rPr>
              <a:t>Then lower the difficulty until she succeeds: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4297680"/>
            <a:ext cx="2743200" cy="182880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4462272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95"/>
                </a:solidFill>
                <a:latin typeface="Calibri"/>
              </a:rPr>
              <a:t>FULL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" y="4892040"/>
            <a:ext cx="2414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A36"/>
                </a:solidFill>
                <a:latin typeface="Calibri"/>
              </a:rPr>
              <a:t>Teacher models the whole sentence.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72" y="5468112"/>
            <a:ext cx="2414016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5559552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E46"/>
                </a:solidFill>
                <a:latin typeface="Calibri"/>
              </a:rPr>
              <a:t>"I played soccer yesterday."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19272" y="4297680"/>
            <a:ext cx="2743200" cy="182880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83864" y="4462272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95"/>
                </a:solidFill>
                <a:latin typeface="Calibri"/>
              </a:rPr>
              <a:t>PARTIAL SUPPORT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83864" y="4892040"/>
            <a:ext cx="2414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A36"/>
                </a:solidFill>
                <a:latin typeface="Calibri"/>
              </a:rPr>
              <a:t>Give two choices only.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83864" y="5468112"/>
            <a:ext cx="2414016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75304" y="5559552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E46"/>
                </a:solidFill>
                <a:latin typeface="Calibri"/>
              </a:rPr>
              <a:t>go  or  went 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7064" y="4297680"/>
            <a:ext cx="2743200" cy="182880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91656" y="4462272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95"/>
                </a:solidFill>
                <a:latin typeface="Calibri"/>
              </a:rPr>
              <a:t>LESS 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1656" y="4892040"/>
            <a:ext cx="2414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A36"/>
                </a:solidFill>
                <a:latin typeface="Calibri"/>
              </a:rPr>
              <a:t>Give the sentence with a blank.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91656" y="5468112"/>
            <a:ext cx="2414016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83096" y="5559552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E46"/>
                </a:solidFill>
                <a:latin typeface="Calibri"/>
              </a:rPr>
              <a:t>Yesterday I ___ soccer.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34856" y="4297680"/>
            <a:ext cx="2743200" cy="182880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99448" y="4462272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95"/>
                </a:solidFill>
                <a:latin typeface="Calibri"/>
              </a:rPr>
              <a:t>INDEPENDENT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99448" y="4892040"/>
            <a:ext cx="2414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A36"/>
                </a:solidFill>
                <a:latin typeface="Calibri"/>
              </a:rPr>
              <a:t>Student builds her own sentence.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99448" y="5468112"/>
            <a:ext cx="2414016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90888" y="5559552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E46"/>
                </a:solidFill>
                <a:latin typeface="Calibri"/>
              </a:rPr>
              <a:t>Your turn — any verb!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🔒 TEACHER ONLY — Answer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88690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Answer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39 / 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554C"/>
                </a:solidFill>
                <a:latin typeface="Calibri"/>
              </a:rPr>
              <a:t>Hide this slide before presenting, or keep it on a second screen.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627632"/>
            <a:ext cx="557784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739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9E5B"/>
                </a:solidFill>
                <a:latin typeface="Calibri"/>
              </a:rPr>
              <a:t>🕵️ Time Detective  &amp;  🟢 Present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Time Detective 1–4: Past, Future, Present, Present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Time Detective 5–8: Past, Future, Present, Past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Missing S 1–4: goes, plays, runs, read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Missing S 5–8: watches, play, goes, do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Routine: wakes / eats / goes / plays / reads / sleeps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-es after ch, sh, s, x, o (watches, goes, fixes,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      washes)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Irregular past: went, ate, saw, came, had, ran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Yesterday 1–3: B, A, C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Yesterday 4–6: A, B,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627632"/>
            <a:ext cx="557784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739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4FC8"/>
                </a:solidFill>
                <a:latin typeface="Calibri"/>
              </a:rPr>
              <a:t>🟣 Future · 🔄 Transform · 🕵️ Mistakes · 📖 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76272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Future Challenge 1–5: will, will, watch, go, do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Transform: She read / She will read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      We watched / We will watch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      He went / He will go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      They visited / They will visit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      I ate / I will eat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Mistakes: She goes · Yesterday I went ·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      Tomorrow I will go · I will go ·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      He watches · Last week we visited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Grammar Hunt: Present, Past, Future,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      Present, Past, Future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Champion 1–5: go, watched, will visit,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      plays, visited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46"/>
                </a:solidFill>
                <a:latin typeface="Georgia"/>
              </a:rPr>
              <a:t>📋 TEACHER ONLY — End-of-Class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🕰️ The Time Travel Grammar Mission  |  Grade 5  |  90 min  | 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40 / 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554C"/>
                </a:solidFill>
                <a:latin typeface="Calibri"/>
              </a:rPr>
              <a:t>Record progress, not failure. Complete this within five minutes of finishing.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645920"/>
            <a:ext cx="4206240" cy="420624"/>
          </a:xfrm>
          <a:prstGeom prst="round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71907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645920"/>
            <a:ext cx="2148840" cy="420624"/>
          </a:xfrm>
          <a:prstGeom prst="round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7190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Needs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645920"/>
            <a:ext cx="2148840" cy="420624"/>
          </a:xfrm>
          <a:prstGeom prst="round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17190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Developing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1645920"/>
            <a:ext cx="2194560" cy="420624"/>
          </a:xfrm>
          <a:prstGeom prst="roundRect">
            <a:avLst/>
          </a:prstGeom>
          <a:solidFill>
            <a:srgbClr val="14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17190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Confident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139696"/>
            <a:ext cx="4206240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18541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46"/>
                </a:solidFill>
                <a:latin typeface="Calibri"/>
              </a:rPr>
              <a:t>Identifies tense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2139696"/>
            <a:ext cx="2148840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2167128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2139696"/>
            <a:ext cx="2148840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2167128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5480" y="2139696"/>
            <a:ext cx="2194560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16712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542032"/>
            <a:ext cx="4206240" cy="35661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5877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46"/>
                </a:solidFill>
                <a:latin typeface="Calibri"/>
              </a:rPr>
              <a:t>Present Simple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2542032"/>
            <a:ext cx="2148840" cy="35661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2569464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2542032"/>
            <a:ext cx="2148840" cy="35661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2569464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55480" y="2542032"/>
            <a:ext cx="2194560" cy="35661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2569464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2944368"/>
            <a:ext cx="4206240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29900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46"/>
                </a:solidFill>
                <a:latin typeface="Calibri"/>
              </a:rPr>
              <a:t>Past Simple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00600" y="2944368"/>
            <a:ext cx="2148840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00600" y="2971800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78040" y="2944368"/>
            <a:ext cx="2148840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2971800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55480" y="2944368"/>
            <a:ext cx="2194560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55480" y="297180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3346704"/>
            <a:ext cx="4206240" cy="35661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339242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46"/>
                </a:solidFill>
                <a:latin typeface="Calibri"/>
              </a:rPr>
              <a:t>Future Simple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00600" y="3346704"/>
            <a:ext cx="2148840" cy="35661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00600" y="3374136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78040" y="3346704"/>
            <a:ext cx="2148840" cy="35661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78040" y="3374136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55480" y="3346704"/>
            <a:ext cx="2194560" cy="35661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55480" y="3374136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3749040"/>
            <a:ext cx="4206240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37947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46"/>
                </a:solidFill>
                <a:latin typeface="Calibri"/>
              </a:rPr>
              <a:t>Uses correct verbs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00600" y="3749040"/>
            <a:ext cx="2148840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00600" y="3776472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178040" y="3749040"/>
            <a:ext cx="2148840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78040" y="3776472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555480" y="3749040"/>
            <a:ext cx="2194560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55480" y="377647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4151376"/>
            <a:ext cx="4206240" cy="35661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41970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46"/>
                </a:solidFill>
                <a:latin typeface="Calibri"/>
              </a:rPr>
              <a:t>Corrects mistakes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00600" y="4151376"/>
            <a:ext cx="2148840" cy="35661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00600" y="4178808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178040" y="4151376"/>
            <a:ext cx="2148840" cy="35661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78040" y="4178808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555480" y="4151376"/>
            <a:ext cx="2194560" cy="35661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55480" y="417880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4553712"/>
            <a:ext cx="4206240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459943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46"/>
                </a:solidFill>
                <a:latin typeface="Calibri"/>
              </a:rPr>
              <a:t>Creates sentences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800600" y="4553712"/>
            <a:ext cx="2148840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00600" y="4581144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178040" y="4553712"/>
            <a:ext cx="2148840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78040" y="4581144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555480" y="4553712"/>
            <a:ext cx="2194560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55480" y="4581144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11480" y="4956048"/>
            <a:ext cx="4206240" cy="35661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500176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46"/>
                </a:solidFill>
                <a:latin typeface="Calibri"/>
              </a:rPr>
              <a:t>Speaking confidence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00600" y="4956048"/>
            <a:ext cx="2148840" cy="35661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800600" y="4983480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178040" y="4956048"/>
            <a:ext cx="2148840" cy="35661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78040" y="4983480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555480" y="4956048"/>
            <a:ext cx="2194560" cy="35661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555480" y="498348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1480" y="5413248"/>
            <a:ext cx="11338560" cy="28346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5431536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46"/>
                </a:solidFill>
                <a:latin typeface="Calibri"/>
              </a:rPr>
              <a:t>Grammar areas needing more practice: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11480" y="5742432"/>
            <a:ext cx="11338560" cy="28346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576072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46"/>
                </a:solidFill>
                <a:latin typeface="Calibri"/>
              </a:rPr>
              <a:t>Words / verbs she struggled with: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11480" y="6071616"/>
            <a:ext cx="11338560" cy="28346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4360" y="6089904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46"/>
                </a:solidFill>
                <a:latin typeface="Calibri"/>
              </a:rPr>
              <a:t>Recommended next lesson: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