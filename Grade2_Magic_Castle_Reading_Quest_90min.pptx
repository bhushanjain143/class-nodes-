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 i="0">
                <a:solidFill>
                  <a:srgbClr val="2E3744"/>
                </a:solidFill>
                <a:latin typeface="Calibri"/>
              </a:rPr>
              <a:t>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Georgia"/>
              </a:rPr>
              <a:t>THE MAGIC CASTLE READING 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E6C57A"/>
                </a:solidFill>
                <a:latin typeface="Calibri"/>
              </a:rPr>
              <a:t>"Can You Become a Castle Reading Champion?"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3337560"/>
            <a:ext cx="1463040" cy="1371600"/>
          </a:xfrm>
          <a:prstGeom prst="roundRect">
            <a:avLst/>
          </a:prstGeom>
          <a:solidFill>
            <a:srgbClr val="24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5204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744"/>
                </a:solidFill>
                <a:latin typeface="Calibri"/>
              </a:rPr>
              <a:t>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206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C57A"/>
                </a:solidFill>
                <a:latin typeface="Calibri"/>
              </a:rPr>
              <a:t>castle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62072" y="3337560"/>
            <a:ext cx="1463040" cy="1371600"/>
          </a:xfrm>
          <a:prstGeom prst="roundRect">
            <a:avLst/>
          </a:prstGeom>
          <a:solidFill>
            <a:srgbClr val="24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62072" y="35204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744"/>
                </a:solidFill>
                <a:latin typeface="Calibri"/>
              </a:rPr>
              <a:t>🗝️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2072" y="4206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C57A"/>
                </a:solidFill>
                <a:latin typeface="Calibri"/>
              </a:rPr>
              <a:t>keys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3337560"/>
            <a:ext cx="1463040" cy="1371600"/>
          </a:xfrm>
          <a:prstGeom prst="roundRect">
            <a:avLst/>
          </a:prstGeom>
          <a:solidFill>
            <a:srgbClr val="24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9704" y="35204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744"/>
                </a:solidFill>
                <a:latin typeface="Calibri"/>
              </a:rPr>
              <a:t>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4206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C57A"/>
                </a:solidFill>
                <a:latin typeface="Calibri"/>
              </a:rPr>
              <a:t>doors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17336" y="3337560"/>
            <a:ext cx="1463040" cy="1371600"/>
          </a:xfrm>
          <a:prstGeom prst="roundRect">
            <a:avLst/>
          </a:prstGeom>
          <a:solidFill>
            <a:srgbClr val="24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17336" y="35204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744"/>
                </a:solidFill>
                <a:latin typeface="Calibri"/>
              </a:rPr>
              <a:t>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7336" y="4206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C57A"/>
                </a:solidFill>
                <a:latin typeface="Calibri"/>
              </a:rPr>
              <a:t>books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44968" y="3337560"/>
            <a:ext cx="1463040" cy="1371600"/>
          </a:xfrm>
          <a:prstGeom prst="roundRect">
            <a:avLst/>
          </a:prstGeom>
          <a:solidFill>
            <a:srgbClr val="24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35204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744"/>
                </a:solidFill>
                <a:latin typeface="Calibri"/>
              </a:rPr>
              <a:t>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4206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C57A"/>
                </a:solidFill>
                <a:latin typeface="Calibri"/>
              </a:rPr>
              <a:t>mirrors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72600" y="3337560"/>
            <a:ext cx="1463040" cy="1371600"/>
          </a:xfrm>
          <a:prstGeom prst="roundRect">
            <a:avLst/>
          </a:prstGeom>
          <a:solidFill>
            <a:srgbClr val="24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35204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744"/>
                </a:solidFill>
                <a:latin typeface="Calibri"/>
              </a:rPr>
              <a:t>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4206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C57A"/>
                </a:solidFill>
                <a:latin typeface="Calibri"/>
              </a:rPr>
              <a:t>crown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4937760"/>
            <a:ext cx="6492240" cy="914400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5138928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Grade 2  •  90 Minutes  •  Reading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419088"/>
            <a:ext cx="167009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Castle Gate  |  0–7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 / 73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WELCOME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⭐ Today You Are a Junior Castle Reader!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34019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Castle Gate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3FA0"/>
                </a:solidFill>
                <a:latin typeface="Calibri"/>
              </a:rPr>
              <a:t>Here is everything you will do inside the castle today.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5440680" cy="1828800"/>
          </a:xfrm>
          <a:prstGeom prst="roundRect">
            <a:avLst/>
          </a:prstGeom>
          <a:solidFill>
            <a:srgbClr val="F1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201168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139696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E3744"/>
                </a:solidFill>
                <a:latin typeface="Calibri"/>
              </a:rPr>
              <a:t>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1031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91F2B"/>
                </a:solidFill>
                <a:latin typeface="Calibri"/>
              </a:rPr>
              <a:t>Read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6060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3744"/>
                </a:solidFill>
                <a:latin typeface="Calibri"/>
              </a:rPr>
              <a:t>Words, sentences and a real story.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3063240"/>
            <a:ext cx="237744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31089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3FA0"/>
                </a:solidFill>
                <a:latin typeface="Calibri"/>
              </a:rPr>
              <a:t>MISSION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737360"/>
            <a:ext cx="5440680" cy="1828800"/>
          </a:xfrm>
          <a:prstGeom prst="roundRect">
            <a:avLst/>
          </a:prstGeom>
          <a:solidFill>
            <a:srgbClr val="F1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92240" y="201168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139696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E3744"/>
                </a:solidFill>
                <a:latin typeface="Calibri"/>
              </a:rPr>
              <a:t>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21031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91F2B"/>
                </a:solidFill>
                <a:latin typeface="Calibri"/>
              </a:rPr>
              <a:t>Build words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26060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3744"/>
                </a:solidFill>
                <a:latin typeface="Calibri"/>
              </a:rPr>
              <a:t>Push the sounds together.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3063240"/>
            <a:ext cx="237744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31089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3FA0"/>
                </a:solidFill>
                <a:latin typeface="Calibri"/>
              </a:rPr>
              <a:t>MISSION 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749039"/>
            <a:ext cx="5440680" cy="1828800"/>
          </a:xfrm>
          <a:prstGeom prst="roundRect">
            <a:avLst/>
          </a:prstGeom>
          <a:solidFill>
            <a:srgbClr val="F1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7240" y="4023359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151375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E3744"/>
                </a:solidFill>
                <a:latin typeface="Calibri"/>
              </a:rPr>
              <a:t>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11479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91F2B"/>
                </a:solidFill>
                <a:latin typeface="Calibri"/>
              </a:rPr>
              <a:t>Play games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461771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3744"/>
                </a:solidFill>
                <a:latin typeface="Calibri"/>
              </a:rPr>
              <a:t>Matching, sorting and unlocking doors.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28800" y="5074919"/>
            <a:ext cx="237744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0" y="5120639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3FA0"/>
                </a:solidFill>
                <a:latin typeface="Calibri"/>
              </a:rPr>
              <a:t>MISSION 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49039"/>
            <a:ext cx="5440680" cy="1828800"/>
          </a:xfrm>
          <a:prstGeom prst="roundRect">
            <a:avLst/>
          </a:prstGeom>
          <a:solidFill>
            <a:srgbClr val="F1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92240" y="4023359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151375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E3744"/>
                </a:solidFill>
                <a:latin typeface="Calibri"/>
              </a:rPr>
              <a:t>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411479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91F2B"/>
                </a:solidFill>
                <a:latin typeface="Calibri"/>
              </a:rPr>
              <a:t>Solve puzzles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461771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3744"/>
                </a:solidFill>
                <a:latin typeface="Calibri"/>
              </a:rPr>
              <a:t>Put mixed-up words back in order.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43800" y="5074919"/>
            <a:ext cx="237744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43800" y="5120639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3FA0"/>
                </a:solidFill>
                <a:latin typeface="Calibri"/>
              </a:rPr>
              <a:t>MISSION 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806440"/>
            <a:ext cx="11292840" cy="457200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897880"/>
            <a:ext cx="11292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Finish every room and you become a 🏆 CASTLE READING CHAMPION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4A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WELCOME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🗺️ Your Castle Mission 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01028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Castle Gate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5A73"/>
                </a:solidFill>
                <a:latin typeface="Calibri"/>
              </a:rPr>
              <a:t>Six rooms. One reading mission in each 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737360" cy="3566160"/>
          </a:xfrm>
          <a:prstGeom prst="round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1737360"/>
            <a:ext cx="1737360" cy="402336"/>
          </a:xfrm>
          <a:prstGeom prst="roundRect">
            <a:avLst/>
          </a:prstGeom>
          <a:solidFill>
            <a:srgbClr val="4A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792224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ROOM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2860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2E3744"/>
                </a:solidFill>
                <a:latin typeface="Calibri"/>
              </a:rPr>
              <a:t>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20040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91F2B"/>
                </a:solidFill>
                <a:latin typeface="Calibri"/>
              </a:rPr>
              <a:t>Castle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84048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3744"/>
                </a:solidFill>
                <a:latin typeface="Calibri"/>
              </a:rPr>
              <a:t>First sounds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17720"/>
            <a:ext cx="13716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7258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A5A73"/>
                </a:solidFill>
                <a:latin typeface="Calibri"/>
              </a:rPr>
              <a:t>7–17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21408" y="3063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E8793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68296" y="1737360"/>
            <a:ext cx="1737360" cy="356616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368296" y="1737360"/>
            <a:ext cx="1737360" cy="402336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68296" y="1792224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ROOM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68296" y="22860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2E3744"/>
                </a:solidFill>
                <a:latin typeface="Calibri"/>
              </a:rPr>
              <a:t>🗝️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59736" y="320040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91F2B"/>
                </a:solidFill>
                <a:latin typeface="Calibri"/>
              </a:rPr>
              <a:t>Key Room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59736" y="384048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3744"/>
                </a:solidFill>
                <a:latin typeface="Calibri"/>
              </a:rPr>
              <a:t>Short vowels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51176" y="4617720"/>
            <a:ext cx="13716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51176" y="467258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28B0B"/>
                </a:solidFill>
                <a:latin typeface="Calibri"/>
              </a:rPr>
              <a:t>17–27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32504" y="3063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E8793"/>
                </a:solidFill>
                <a:latin typeface="Calibr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79392" y="1737360"/>
            <a:ext cx="1737360" cy="3566160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279392" y="1737360"/>
            <a:ext cx="1737360" cy="402336"/>
          </a:xfrm>
          <a:prstGeom prst="round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79392" y="1792224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ROOM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79392" y="22860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2E3744"/>
                </a:solidFill>
                <a:latin typeface="Calibri"/>
              </a:rPr>
              <a:t>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70832" y="320040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91F2B"/>
                </a:solidFill>
                <a:latin typeface="Calibri"/>
              </a:rPr>
              <a:t>Mirror Hall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0832" y="384048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3744"/>
                </a:solidFill>
                <a:latin typeface="Calibri"/>
              </a:rPr>
              <a:t>Building words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62272" y="4617720"/>
            <a:ext cx="13716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62272" y="467258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45FA6"/>
                </a:solidFill>
                <a:latin typeface="Calibri"/>
              </a:rPr>
              <a:t>27–37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3063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E8793"/>
                </a:solidFill>
                <a:latin typeface="Calibri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0488" y="1737360"/>
            <a:ext cx="1737360" cy="3566160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190488" y="1737360"/>
            <a:ext cx="1737360" cy="402336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0488" y="1792224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ROOM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0488" y="22860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2E3744"/>
                </a:solidFill>
                <a:latin typeface="Calibri"/>
              </a:rPr>
              <a:t>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81928" y="320040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91F2B"/>
                </a:solidFill>
                <a:latin typeface="Calibri"/>
              </a:rPr>
              <a:t>Magic Library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81928" y="384048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3744"/>
                </a:solidFill>
                <a:latin typeface="Calibri"/>
              </a:rPr>
              <a:t>Families &amp; sight words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73368" y="4617720"/>
            <a:ext cx="13716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73368" y="467258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7A5A"/>
                </a:solidFill>
                <a:latin typeface="Calibri"/>
              </a:rPr>
              <a:t>37–58 min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54696" y="3063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E8793"/>
                </a:solidFill>
                <a:latin typeface="Calibri"/>
              </a:rP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01583" y="1737360"/>
            <a:ext cx="1737360" cy="3566160"/>
          </a:xfrm>
          <a:prstGeom prst="roundRect">
            <a:avLst/>
          </a:prstGeom>
          <a:solidFill>
            <a:srgbClr val="F1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101583" y="1737360"/>
            <a:ext cx="1737360" cy="402336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01583" y="1792224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ROOM 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01583" y="22860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2E3744"/>
                </a:solidFill>
                <a:latin typeface="Calibri"/>
              </a:rPr>
              <a:t>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3" y="320040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91F2B"/>
                </a:solidFill>
                <a:latin typeface="Calibri"/>
              </a:rPr>
              <a:t>Puzzle Room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93023" y="384048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3744"/>
                </a:solidFill>
                <a:latin typeface="Calibri"/>
              </a:rPr>
              <a:t>Sentences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84463" y="4617720"/>
            <a:ext cx="13716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84463" y="467258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3FA0"/>
                </a:solidFill>
                <a:latin typeface="Calibri"/>
              </a:rPr>
              <a:t>58–67 min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65791" y="3063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E8793"/>
                </a:solidFill>
                <a:latin typeface="Calibri"/>
              </a:rPr>
              <a:t>→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012680" y="1737360"/>
            <a:ext cx="1737360" cy="3566160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0012680" y="1737360"/>
            <a:ext cx="1737360" cy="402336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12680" y="1792224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ROOM 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12680" y="22860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2E3744"/>
                </a:solidFill>
                <a:latin typeface="Calibri"/>
              </a:rPr>
              <a:t>👑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04120" y="320040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91F2B"/>
                </a:solidFill>
                <a:latin typeface="Calibri"/>
              </a:rPr>
              <a:t>King's Room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04120" y="384048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3744"/>
                </a:solidFill>
                <a:latin typeface="Calibri"/>
              </a:rPr>
              <a:t>Story &amp; questions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195560" y="4617720"/>
            <a:ext cx="13716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95560" y="467258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8342F"/>
                </a:solidFill>
                <a:latin typeface="Calibri"/>
              </a:rPr>
              <a:t>67–90 min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7200" y="5532120"/>
            <a:ext cx="11292840" cy="77724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5650992"/>
            <a:ext cx="11292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28B0B"/>
                </a:solidFill>
                <a:latin typeface="Calibri"/>
              </a:rPr>
              <a:t>🏆 AT THE END OF THE QUEST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5943600"/>
            <a:ext cx="11292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91F2B"/>
                </a:solidFill>
                <a:latin typeface="Calibri"/>
              </a:rPr>
              <a:t>You read words, sentences and a whole story — and you become a Castle Reading Champion.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TALKING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🏰 Castle Talk — Just Look and Tell Me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68038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Castle Gate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A5A"/>
                </a:solidFill>
                <a:latin typeface="Calibri"/>
              </a:rPr>
              <a:t>No reading yet. Look at the castle and talk to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754880" cy="4023360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11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0" i="0">
                <a:solidFill>
                  <a:srgbClr val="2E3744"/>
                </a:solidFill>
                <a:latin typeface="Calibri"/>
              </a:rPr>
              <a:t>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B7A5A"/>
                </a:solidFill>
                <a:latin typeface="Calibri"/>
              </a:rPr>
              <a:t>Point to what you can see.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7E8793"/>
                </a:solidFill>
                <a:latin typeface="Calibri"/>
              </a:rPr>
              <a:t>There is no wrong answer here.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32120" y="1737360"/>
            <a:ext cx="29718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1938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3744"/>
                </a:solidFill>
                <a:latin typeface="Calibri"/>
              </a:rPr>
              <a:t>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93852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91F2B"/>
                </a:solidFill>
                <a:latin typeface="Calibri"/>
              </a:rPr>
              <a:t>What do you see?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1737360"/>
            <a:ext cx="29718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1938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3744"/>
                </a:solidFill>
                <a:latin typeface="Calibri"/>
              </a:rPr>
              <a:t>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193852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91F2B"/>
                </a:solidFill>
                <a:latin typeface="Calibri"/>
              </a:rPr>
              <a:t>Can you find the door?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32120" y="2788920"/>
            <a:ext cx="29718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2990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3744"/>
                </a:solidFill>
                <a:latin typeface="Calibri"/>
              </a:rPr>
              <a:t>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9900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91F2B"/>
                </a:solidFill>
                <a:latin typeface="Calibri"/>
              </a:rPr>
              <a:t>Can you find the flag?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2788920"/>
            <a:ext cx="29718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2990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3744"/>
                </a:solidFill>
                <a:latin typeface="Calibri"/>
              </a:rPr>
              <a:t>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9900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91F2B"/>
                </a:solidFill>
                <a:latin typeface="Calibri"/>
              </a:rPr>
              <a:t>What colour is the castle?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388620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7A5A"/>
                </a:solidFill>
                <a:latin typeface="Calibri"/>
              </a:rPr>
              <a:t>SAY IT LIKE THIS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32120" y="4279392"/>
            <a:ext cx="6217920" cy="457200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06440" y="432511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91F2B"/>
                </a:solidFill>
                <a:latin typeface="Georgia"/>
              </a:rPr>
              <a:t>I see a ______.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32120" y="4828031"/>
            <a:ext cx="6217920" cy="457200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06440" y="4873751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91F2B"/>
                </a:solidFill>
                <a:latin typeface="Georgia"/>
              </a:rPr>
              <a:t>The castle is ______.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32120" y="5376672"/>
            <a:ext cx="6217920" cy="457200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06440" y="542239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91F2B"/>
                </a:solidFill>
                <a:latin typeface="Georgia"/>
              </a:rPr>
              <a:t>I like the ______.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99846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598932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Say your own answer first. He will copy the pattern.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SOUNDS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K  is for  KEY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35047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Castle Gate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28B0B"/>
                </a:solidFill>
                <a:latin typeface="Calibri"/>
              </a:rPr>
              <a:t>K makes the /k/ sound. Say it with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931920" cy="402336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20240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 i="0">
                <a:solidFill>
                  <a:srgbClr val="2E3744"/>
                </a:solidFill>
                <a:latin typeface="Calibri"/>
              </a:rPr>
              <a:t>🗝️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86200"/>
            <a:ext cx="30175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C28B0B"/>
                </a:solidFill>
                <a:latin typeface="Arial Black"/>
              </a:rPr>
              <a:t>KEY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691640"/>
            <a:ext cx="70408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178308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E8793"/>
                </a:solidFill>
                <a:latin typeface="Calibri"/>
              </a:rPr>
              <a:t>THE LETTER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103120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00" b="1" i="0">
                <a:solidFill>
                  <a:srgbClr val="191F2B"/>
                </a:solidFill>
                <a:latin typeface="Arial Black"/>
              </a:rPr>
              <a:t>K 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3657600"/>
            <a:ext cx="3383280" cy="1005840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3776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THE SOUND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06908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 Black"/>
              </a:rPr>
              <a:t>/k/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3657600"/>
            <a:ext cx="3383280" cy="100584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776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E8793"/>
                </a:solidFill>
                <a:latin typeface="Calibri"/>
              </a:rPr>
              <a:t>STRETCH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6908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91F2B"/>
                </a:solidFill>
                <a:latin typeface="Calibri"/>
              </a:rPr>
              <a:t>kkk - ey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4800600"/>
            <a:ext cx="7040880" cy="82296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4892040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28B0B"/>
                </a:solidFill>
                <a:latin typeface="Calibri"/>
              </a:rPr>
              <a:t>⭐ YOUR TURN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175504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F2B"/>
                </a:solidFill>
                <a:latin typeface="Calibri"/>
              </a:rPr>
              <a:t>Say /k/ three times, then say KEY.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Say the word slowly and hold the very first sound: kkk - ey.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SOUNDS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C  is for  CROWN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02057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Castle Gate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8342F"/>
                </a:solidFill>
                <a:latin typeface="Calibri"/>
              </a:rPr>
              <a:t>C makes the /c/ sound. Say it with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931920" cy="4023360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20240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 i="0">
                <a:solidFill>
                  <a:srgbClr val="2E3744"/>
                </a:solidFill>
                <a:latin typeface="Calibri"/>
              </a:rPr>
              <a:t>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86200"/>
            <a:ext cx="30175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B8342F"/>
                </a:solidFill>
                <a:latin typeface="Arial Black"/>
              </a:rPr>
              <a:t>CROWN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691640"/>
            <a:ext cx="70408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178308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E8793"/>
                </a:solidFill>
                <a:latin typeface="Calibri"/>
              </a:rPr>
              <a:t>THE LETTER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103120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00" b="1" i="0">
                <a:solidFill>
                  <a:srgbClr val="191F2B"/>
                </a:solidFill>
                <a:latin typeface="Arial Black"/>
              </a:rPr>
              <a:t>C 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3657600"/>
            <a:ext cx="3383280" cy="1005840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3776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THE SOUND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06908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 Black"/>
              </a:rPr>
              <a:t>/c/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3657600"/>
            <a:ext cx="3383280" cy="100584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776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E8793"/>
                </a:solidFill>
                <a:latin typeface="Calibri"/>
              </a:rPr>
              <a:t>STRETCH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6908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91F2B"/>
                </a:solidFill>
                <a:latin typeface="Calibri"/>
              </a:rPr>
              <a:t>ccc - rown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4800600"/>
            <a:ext cx="7040880" cy="82296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4892040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8342F"/>
                </a:solidFill>
                <a:latin typeface="Calibri"/>
              </a:rPr>
              <a:t>⭐ YOUR TURN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175504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F2B"/>
                </a:solidFill>
                <a:latin typeface="Calibri"/>
              </a:rPr>
              <a:t>Say /c/ three times, then say CROWN.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Say the word slowly and hold the very first sound: ccc - rown.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4A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SOUNDS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D  is for  DOOR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169066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Castle Gate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5A73"/>
                </a:solidFill>
                <a:latin typeface="Calibri"/>
              </a:rPr>
              <a:t>D makes the /d/ sound. Say it with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931920" cy="4023360"/>
          </a:xfrm>
          <a:prstGeom prst="round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20240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 i="0">
                <a:solidFill>
                  <a:srgbClr val="2E3744"/>
                </a:solidFill>
                <a:latin typeface="Calibri"/>
              </a:rPr>
              <a:t>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86200"/>
            <a:ext cx="30175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4A5A73"/>
                </a:solidFill>
                <a:latin typeface="Arial Black"/>
              </a:rPr>
              <a:t>DOOR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691640"/>
            <a:ext cx="70408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178308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E8793"/>
                </a:solidFill>
                <a:latin typeface="Calibri"/>
              </a:rPr>
              <a:t>THE LETTER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103120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00" b="1" i="0">
                <a:solidFill>
                  <a:srgbClr val="191F2B"/>
                </a:solidFill>
                <a:latin typeface="Arial Black"/>
              </a:rPr>
              <a:t>D 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3657600"/>
            <a:ext cx="3383280" cy="1005840"/>
          </a:xfrm>
          <a:prstGeom prst="roundRect">
            <a:avLst/>
          </a:prstGeom>
          <a:solidFill>
            <a:srgbClr val="4A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3776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THE SOUND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06908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 Black"/>
              </a:rPr>
              <a:t>/d/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3657600"/>
            <a:ext cx="3383280" cy="100584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776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E8793"/>
                </a:solidFill>
                <a:latin typeface="Calibri"/>
              </a:rPr>
              <a:t>STRETCH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6908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91F2B"/>
                </a:solidFill>
                <a:latin typeface="Calibri"/>
              </a:rPr>
              <a:t>ddd - oor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4800600"/>
            <a:ext cx="7040880" cy="82296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4892040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5A73"/>
                </a:solidFill>
                <a:latin typeface="Calibri"/>
              </a:rPr>
              <a:t>⭐ YOUR TURN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175504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F2B"/>
                </a:solidFill>
                <a:latin typeface="Calibri"/>
              </a:rPr>
              <a:t>Say /d/ three times, then say DOOR.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Say the word slowly and hold the very first sound: ddd - oor.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SOUNDS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B  is for  BELL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336076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Castle Gate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8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45FA6"/>
                </a:solidFill>
                <a:latin typeface="Calibri"/>
              </a:rPr>
              <a:t>B makes the /b/ sound. Say it with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931920" cy="4023360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20240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 i="0">
                <a:solidFill>
                  <a:srgbClr val="2E3744"/>
                </a:solidFill>
                <a:latin typeface="Calibri"/>
              </a:rPr>
              <a:t>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86200"/>
            <a:ext cx="30175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245FA6"/>
                </a:solidFill>
                <a:latin typeface="Arial Black"/>
              </a:rPr>
              <a:t>BELL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691640"/>
            <a:ext cx="70408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178308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E8793"/>
                </a:solidFill>
                <a:latin typeface="Calibri"/>
              </a:rPr>
              <a:t>THE LETTER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103120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00" b="1" i="0">
                <a:solidFill>
                  <a:srgbClr val="191F2B"/>
                </a:solidFill>
                <a:latin typeface="Arial Black"/>
              </a:rPr>
              <a:t>B 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3657600"/>
            <a:ext cx="3383280" cy="1005840"/>
          </a:xfrm>
          <a:prstGeom prst="round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3776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THE SOUND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06908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 Black"/>
              </a:rPr>
              <a:t>/b/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3657600"/>
            <a:ext cx="3383280" cy="100584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776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E8793"/>
                </a:solidFill>
                <a:latin typeface="Calibri"/>
              </a:rPr>
              <a:t>STRETCH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6908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91F2B"/>
                </a:solidFill>
                <a:latin typeface="Calibri"/>
              </a:rPr>
              <a:t>bbb - ell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4800600"/>
            <a:ext cx="7040880" cy="82296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4892040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45FA6"/>
                </a:solidFill>
                <a:latin typeface="Calibri"/>
              </a:rPr>
              <a:t>⭐ YOUR TURN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175504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F2B"/>
                </a:solidFill>
                <a:latin typeface="Calibri"/>
              </a:rPr>
              <a:t>Say /b/ three times, then say BELL.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Say the word slowly and hold the very first sound: bbb - ell.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SOUNDS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F  is for  FLAG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503085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Castle Gate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9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A5A"/>
                </a:solidFill>
                <a:latin typeface="Calibri"/>
              </a:rPr>
              <a:t>F makes the /f/ sound. Say it with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931920" cy="4023360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20240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 i="0">
                <a:solidFill>
                  <a:srgbClr val="2E3744"/>
                </a:solidFill>
                <a:latin typeface="Calibri"/>
              </a:rPr>
              <a:t>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86200"/>
            <a:ext cx="30175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B7A5A"/>
                </a:solidFill>
                <a:latin typeface="Arial Black"/>
              </a:rPr>
              <a:t>FLAG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691640"/>
            <a:ext cx="70408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178308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E8793"/>
                </a:solidFill>
                <a:latin typeface="Calibri"/>
              </a:rPr>
              <a:t>THE LETTER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103120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00" b="1" i="0">
                <a:solidFill>
                  <a:srgbClr val="191F2B"/>
                </a:solidFill>
                <a:latin typeface="Arial Black"/>
              </a:rPr>
              <a:t>F 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3657600"/>
            <a:ext cx="3383280" cy="1005840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3776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THE SOUND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06908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 Black"/>
              </a:rPr>
              <a:t>/f/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3657600"/>
            <a:ext cx="3383280" cy="100584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776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E8793"/>
                </a:solidFill>
                <a:latin typeface="Calibri"/>
              </a:rPr>
              <a:t>STRETCH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6908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91F2B"/>
                </a:solidFill>
                <a:latin typeface="Calibri"/>
              </a:rPr>
              <a:t>fff - lag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4800600"/>
            <a:ext cx="7040880" cy="82296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4892040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7A5A"/>
                </a:solidFill>
                <a:latin typeface="Calibri"/>
              </a:rPr>
              <a:t>⭐ YOUR TURN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175504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F2B"/>
                </a:solidFill>
                <a:latin typeface="Calibri"/>
              </a:rPr>
              <a:t>Say /f/ three times, then say FLAG.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Say the word slowly and hold the very first sound: fff - lag.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LISTENING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👂 Which One Starts With /k/?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670095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Castle Gate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10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28B0B"/>
                </a:solidFill>
                <a:latin typeface="Calibri"/>
              </a:rPr>
              <a:t>Name each picture out loud, then listen to the first sound.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1645920"/>
            <a:ext cx="3246120" cy="1051560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73736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FIND THE SOUND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029968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 Black"/>
              </a:rPr>
              <a:t>/k/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2926080"/>
            <a:ext cx="3291840" cy="265176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20040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E3744"/>
                </a:solidFill>
                <a:latin typeface="Calibri"/>
              </a:rPr>
              <a:t>🗝️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4892040"/>
            <a:ext cx="914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4983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2926080"/>
            <a:ext cx="3291840" cy="265176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20040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E3744"/>
                </a:solidFill>
                <a:latin typeface="Calibri"/>
              </a:rPr>
              <a:t>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4892040"/>
            <a:ext cx="914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0" y="4983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2926080"/>
            <a:ext cx="3291840" cy="265176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320040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E3744"/>
                </a:solidFill>
                <a:latin typeface="Calibri"/>
              </a:rPr>
              <a:t>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26880" y="4892040"/>
            <a:ext cx="914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4983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99846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98932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Say all three names slowly, holding the first sound.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LISTENING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👂 Which One Starts With /b/?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837104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Castle Gate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11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45FA6"/>
                </a:solidFill>
                <a:latin typeface="Calibri"/>
              </a:rPr>
              <a:t>Name each picture out loud, then listen to the first sound.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1645920"/>
            <a:ext cx="3246120" cy="1051560"/>
          </a:xfrm>
          <a:prstGeom prst="round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73736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FIND THE SOUND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029968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 Black"/>
              </a:rPr>
              <a:t>/b/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2926080"/>
            <a:ext cx="3291840" cy="265176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20040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E3744"/>
                </a:solidFill>
                <a:latin typeface="Calibri"/>
              </a:rPr>
              <a:t>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4892040"/>
            <a:ext cx="914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4983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2926080"/>
            <a:ext cx="3291840" cy="265176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20040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E3744"/>
                </a:solidFill>
                <a:latin typeface="Calibri"/>
              </a:rPr>
              <a:t>🗝️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4892040"/>
            <a:ext cx="914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0" y="4983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2926080"/>
            <a:ext cx="3291840" cy="265176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320040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E3744"/>
                </a:solidFill>
                <a:latin typeface="Calibri"/>
              </a:rPr>
              <a:t>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26880" y="4892040"/>
            <a:ext cx="914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4983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99846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98932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Press your lips together for /b/. He will hear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4A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🎮 Game — Unlock the Door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004114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Castle Gate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12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5A73"/>
                </a:solidFill>
                <a:latin typeface="Calibri"/>
              </a:rPr>
              <a:t>Every right sound unlocks one castle door.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67128"/>
            <a:ext cx="457200" cy="457200"/>
          </a:xfrm>
          <a:prstGeom prst="ellipse">
            <a:avLst/>
          </a:prstGeom>
          <a:solidFill>
            <a:srgbClr val="4A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219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546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538728"/>
            <a:ext cx="457200" cy="457200"/>
          </a:xfrm>
          <a:prstGeom prst="ellipse">
            <a:avLst/>
          </a:prstGeom>
          <a:solidFill>
            <a:srgbClr val="4A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935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5262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910328"/>
            <a:ext cx="457200" cy="457200"/>
          </a:xfrm>
          <a:prstGeom prst="ellipse">
            <a:avLst/>
          </a:prstGeom>
          <a:solidFill>
            <a:srgbClr val="4A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651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0160" y="2039112"/>
            <a:ext cx="2286000" cy="713232"/>
          </a:xfrm>
          <a:prstGeom prst="roundRect">
            <a:avLst/>
          </a:prstGeom>
          <a:solidFill>
            <a:srgbClr val="4A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20848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STARTS WITH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23317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/d/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3360" y="1938528"/>
            <a:ext cx="2286000" cy="91440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0" y="19842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744"/>
                </a:solidFill>
                <a:latin typeface="Calibri"/>
              </a:rPr>
              <a:t>🚪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37960" y="1938528"/>
            <a:ext cx="2286000" cy="91440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19842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744"/>
                </a:solidFill>
                <a:latin typeface="Calibri"/>
              </a:rPr>
              <a:t>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1938528"/>
            <a:ext cx="2286000" cy="91440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0" y="19842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744"/>
                </a:solidFill>
                <a:latin typeface="Calibri"/>
              </a:rPr>
              <a:t>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80160" y="3410712"/>
            <a:ext cx="2286000" cy="713232"/>
          </a:xfrm>
          <a:prstGeom prst="roundRect">
            <a:avLst/>
          </a:prstGeom>
          <a:solidFill>
            <a:srgbClr val="4A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34564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STARTS WITH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37033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/f/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23360" y="3310128"/>
            <a:ext cx="2286000" cy="91440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23360" y="33558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744"/>
                </a:solidFill>
                <a:latin typeface="Calibri"/>
              </a:rPr>
              <a:t>🗝️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37960" y="3310128"/>
            <a:ext cx="2286000" cy="91440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33558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744"/>
                </a:solidFill>
                <a:latin typeface="Calibri"/>
              </a:rPr>
              <a:t>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52560" y="3310128"/>
            <a:ext cx="2286000" cy="91440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2560" y="33558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744"/>
                </a:solidFill>
                <a:latin typeface="Calibri"/>
              </a:rPr>
              <a:t>🚪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80160" y="4782312"/>
            <a:ext cx="2286000" cy="713232"/>
          </a:xfrm>
          <a:prstGeom prst="roundRect">
            <a:avLst/>
          </a:prstGeom>
          <a:solidFill>
            <a:srgbClr val="4A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80160" y="48280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STARTS WITH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50749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/c/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023360" y="4681728"/>
            <a:ext cx="2286000" cy="91440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23360" y="47274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744"/>
                </a:solidFill>
                <a:latin typeface="Calibri"/>
              </a:rPr>
              <a:t>🔔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37960" y="4681728"/>
            <a:ext cx="2286000" cy="91440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47274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744"/>
                </a:solidFill>
                <a:latin typeface="Calibri"/>
              </a:rPr>
              <a:t>🚪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52560" y="4681728"/>
            <a:ext cx="2286000" cy="91440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0" y="47274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744"/>
                </a:solidFill>
                <a:latin typeface="Calibri"/>
              </a:rPr>
              <a:t>👑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599846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0" y="598932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Name the pictures first, then say the sound again.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🎮 Game — Two Doors Left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171123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Castle Gate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13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8342F"/>
                </a:solidFill>
                <a:latin typeface="Calibri"/>
              </a:rPr>
              <a:t>Two more doors and the gate is open.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92024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304288"/>
            <a:ext cx="457200" cy="457200"/>
          </a:xfrm>
          <a:prstGeom prst="ellipse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3591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29184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675888"/>
            <a:ext cx="457200" cy="457200"/>
          </a:xfrm>
          <a:prstGeom prst="ellipse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7307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80160" y="2176272"/>
            <a:ext cx="2286000" cy="713232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22219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STARTS WITH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24688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/k/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23360" y="2075688"/>
            <a:ext cx="2286000" cy="91440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212140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744"/>
                </a:solidFill>
                <a:latin typeface="Calibri"/>
              </a:rPr>
              <a:t>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2075688"/>
            <a:ext cx="2286000" cy="91440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12140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744"/>
                </a:solidFill>
                <a:latin typeface="Calibri"/>
              </a:rPr>
              <a:t>🗝️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2075688"/>
            <a:ext cx="2286000" cy="91440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212140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744"/>
                </a:solidFill>
                <a:latin typeface="Calibri"/>
              </a:rPr>
              <a:t>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80160" y="3547872"/>
            <a:ext cx="2286000" cy="713232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35935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STARTS WITH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8404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/b/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23360" y="3447288"/>
            <a:ext cx="2286000" cy="91440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23360" y="349300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744"/>
                </a:solidFill>
                <a:latin typeface="Calibri"/>
              </a:rPr>
              <a:t>🚪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960" y="3447288"/>
            <a:ext cx="2286000" cy="91440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349300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744"/>
                </a:solidFill>
                <a:latin typeface="Calibri"/>
              </a:rPr>
              <a:t>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52560" y="3447288"/>
            <a:ext cx="2286000" cy="91440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0" y="349300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744"/>
                </a:solidFill>
                <a:latin typeface="Calibri"/>
              </a:rPr>
              <a:t>🗝️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846320"/>
            <a:ext cx="11292840" cy="77724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4956048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28B0B"/>
                </a:solidFill>
                <a:latin typeface="Calibri"/>
              </a:rPr>
              <a:t>⭐ ROYAL CHALLENGE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248656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91F2B"/>
                </a:solidFill>
                <a:latin typeface="Calibri"/>
              </a:rPr>
              <a:t>Say all five castle sounds in a row:  /k/  /c/  /d/  /b/  /f/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99846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598932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If he picks the wrong picture, say both names slowly together.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4A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WELL DONE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🚪 The Castle Gate Is Open!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338133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Castle Gate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14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5A73"/>
                </a:solidFill>
                <a:latin typeface="Calibri"/>
              </a:rPr>
              <a:t>You know five castle sounds now.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206240" cy="4023360"/>
          </a:xfrm>
          <a:prstGeom prst="round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57400"/>
            <a:ext cx="4206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0">
                <a:solidFill>
                  <a:srgbClr val="2E3744"/>
                </a:solidFill>
                <a:latin typeface="Calibri"/>
              </a:rPr>
              <a:t>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977639"/>
            <a:ext cx="3108960" cy="777240"/>
          </a:xfrm>
          <a:prstGeom prst="roundRect">
            <a:avLst/>
          </a:prstGeom>
          <a:solidFill>
            <a:srgbClr val="4A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33087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KEY 1 EARNED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7E8793"/>
                </a:solidFill>
                <a:latin typeface="Calibri"/>
              </a:rPr>
              <a:t>One more room unlocked!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1691640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57800" y="1819656"/>
            <a:ext cx="475488" cy="475488"/>
          </a:xfrm>
          <a:prstGeom prst="ellipse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187452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3744"/>
                </a:solidFill>
                <a:latin typeface="Calibri"/>
              </a:rPr>
              <a:t>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185623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91F2B"/>
                </a:solidFill>
                <a:latin typeface="Calibri"/>
              </a:rPr>
              <a:t>K, C, D, B and F.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80" y="2560320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57800" y="2688336"/>
            <a:ext cx="475488" cy="475488"/>
          </a:xfrm>
          <a:prstGeom prst="ellipse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274320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3744"/>
                </a:solidFill>
                <a:latin typeface="Calibri"/>
              </a:rPr>
              <a:t>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72491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91F2B"/>
                </a:solidFill>
                <a:latin typeface="Calibri"/>
              </a:rPr>
              <a:t>You heard the first sound in a word.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3429000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57800" y="3557016"/>
            <a:ext cx="475488" cy="475488"/>
          </a:xfrm>
          <a:prstGeom prst="ellipse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57800" y="361188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3744"/>
                </a:solidFill>
                <a:latin typeface="Calibri"/>
              </a:rPr>
              <a:t>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59359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91F2B"/>
                </a:solidFill>
                <a:latin typeface="Calibri"/>
              </a:rPr>
              <a:t>Five doors unlocked, all correct.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83480" y="4297679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257800" y="4425695"/>
            <a:ext cx="475488" cy="475488"/>
          </a:xfrm>
          <a:prstGeom prst="ellipse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57800" y="4480559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3744"/>
                </a:solidFill>
                <a:latin typeface="Calibri"/>
              </a:rPr>
              <a:t>🗣️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4462271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91F2B"/>
                </a:solidFill>
                <a:latin typeface="Calibri"/>
              </a:rPr>
              <a:t>You said every sound out loud.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83480" y="5212080"/>
            <a:ext cx="6766560" cy="475488"/>
          </a:xfrm>
          <a:prstGeom prst="roundRect">
            <a:avLst/>
          </a:prstGeom>
          <a:solidFill>
            <a:srgbClr val="4A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57800" y="530352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NEXT:  🗝️ The Key Room — the sounds in the middle.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SHORT VOWELS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🗝️ Short A  —  /a/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505142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Key Room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15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8342F"/>
                </a:solidFill>
                <a:latin typeface="Calibri"/>
              </a:rPr>
              <a:t>A in the middle says /a/.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200400" cy="4023360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B8342F"/>
                </a:solidFill>
                <a:latin typeface="Arial Black"/>
              </a:rPr>
              <a:t>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657600"/>
            <a:ext cx="2468880" cy="731520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7647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 Black"/>
              </a:rPr>
              <a:t>/a/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526280"/>
            <a:ext cx="24688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E8793"/>
                </a:solidFill>
                <a:latin typeface="Calibri"/>
              </a:rPr>
              <a:t>STRETCH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91F2B"/>
                </a:solidFill>
                <a:latin typeface="Calibri"/>
              </a:rPr>
              <a:t>c - aaa - 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77639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E3744"/>
                </a:solidFill>
                <a:latin typeface="Calibri"/>
              </a:rPr>
              <a:t>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39" y="3429000"/>
            <a:ext cx="2011680" cy="868680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39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B8342F"/>
                </a:solidFill>
                <a:latin typeface="Arial Black"/>
              </a:rPr>
              <a:t>CAT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9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91F2B"/>
                </a:solidFill>
                <a:latin typeface="Calibri"/>
              </a:rPr>
              <a:t>/c/ - /a/ - /t/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9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E8793"/>
                </a:solidFill>
                <a:latin typeface="Calibri"/>
              </a:rPr>
              <a:t>☐ I read 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400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E3744"/>
                </a:solidFill>
                <a:latin typeface="Calibri"/>
              </a:rPr>
              <a:t>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3429000"/>
            <a:ext cx="2011680" cy="868680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B8342F"/>
                </a:solidFill>
                <a:latin typeface="Arial Black"/>
              </a:rPr>
              <a:t>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91F2B"/>
                </a:solidFill>
                <a:latin typeface="Calibri"/>
              </a:rPr>
              <a:t>/h/ - /a/ - /t/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E8793"/>
                </a:solidFill>
                <a:latin typeface="Calibri"/>
              </a:rPr>
              <a:t>☐ I read 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81159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59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E3744"/>
                </a:solidFill>
                <a:latin typeface="Calibri"/>
              </a:rPr>
              <a:t>🗺️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3429000"/>
            <a:ext cx="2011680" cy="868680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59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B8342F"/>
                </a:solidFill>
                <a:latin typeface="Arial Black"/>
              </a:rPr>
              <a:t>MAP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19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91F2B"/>
                </a:solidFill>
                <a:latin typeface="Calibri"/>
              </a:rPr>
              <a:t>/m/ - /a/ - /p/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19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E8793"/>
                </a:solidFill>
                <a:latin typeface="Calibri"/>
              </a:rPr>
              <a:t>☐ I read 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Read the three words in a row. The middle sound never changes: /a/.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SHORT VOWELS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🗝️ Short E  —  /e/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672152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Key Room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16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A5A"/>
                </a:solidFill>
                <a:latin typeface="Calibri"/>
              </a:rPr>
              <a:t>E in the middle says /e/.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200400" cy="4023360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1B7A5A"/>
                </a:solidFill>
                <a:latin typeface="Arial Black"/>
              </a:rPr>
              <a:t>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657600"/>
            <a:ext cx="2468880" cy="731520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7647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 Black"/>
              </a:rPr>
              <a:t>/e/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526280"/>
            <a:ext cx="24688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E8793"/>
                </a:solidFill>
                <a:latin typeface="Calibri"/>
              </a:rPr>
              <a:t>STRETCH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91F2B"/>
                </a:solidFill>
                <a:latin typeface="Calibri"/>
              </a:rPr>
              <a:t>r - eee - 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77639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E3744"/>
                </a:solidFill>
                <a:latin typeface="Calibri"/>
              </a:rPr>
              <a:t>🍎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39" y="3429000"/>
            <a:ext cx="2011680" cy="868680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39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7A5A"/>
                </a:solidFill>
                <a:latin typeface="Arial Black"/>
              </a:rPr>
              <a:t>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9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91F2B"/>
                </a:solidFill>
                <a:latin typeface="Calibri"/>
              </a:rPr>
              <a:t>/r/ - /e/ - /d/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9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E8793"/>
                </a:solidFill>
                <a:latin typeface="Calibri"/>
              </a:rPr>
              <a:t>☐ I read 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400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E3744"/>
                </a:solidFill>
                <a:latin typeface="Calibri"/>
              </a:rPr>
              <a:t>🛏️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3429000"/>
            <a:ext cx="2011680" cy="868680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7A5A"/>
                </a:solidFill>
                <a:latin typeface="Arial Black"/>
              </a:rPr>
              <a:t>BED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91F2B"/>
                </a:solidFill>
                <a:latin typeface="Calibri"/>
              </a:rPr>
              <a:t>/b/ - /e/ - /d/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E8793"/>
                </a:solidFill>
                <a:latin typeface="Calibri"/>
              </a:rPr>
              <a:t>☐ I read 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81159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59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E3744"/>
                </a:solidFill>
                <a:latin typeface="Calibri"/>
              </a:rPr>
              <a:t>🕸️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3429000"/>
            <a:ext cx="2011680" cy="868680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59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7A5A"/>
                </a:solidFill>
                <a:latin typeface="Arial Black"/>
              </a:rPr>
              <a:t>WEB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19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91F2B"/>
                </a:solidFill>
                <a:latin typeface="Calibri"/>
              </a:rPr>
              <a:t>/w/ - /e/ - /b/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19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E8793"/>
                </a:solidFill>
                <a:latin typeface="Calibri"/>
              </a:rPr>
              <a:t>☐ I read 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Read the three words in a row. The middle sound never changes: /e/.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SHORT VOWELS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🗝️ Short I  —  /i/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839161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Key Room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17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45FA6"/>
                </a:solidFill>
                <a:latin typeface="Calibri"/>
              </a:rPr>
              <a:t>I in the middle says /i/.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200400" cy="4023360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245FA6"/>
                </a:solidFill>
                <a:latin typeface="Arial Black"/>
              </a:rPr>
              <a:t>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657600"/>
            <a:ext cx="2468880" cy="731520"/>
          </a:xfrm>
          <a:prstGeom prst="round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7647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 Black"/>
              </a:rPr>
              <a:t>/i/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526280"/>
            <a:ext cx="24688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E8793"/>
                </a:solidFill>
                <a:latin typeface="Calibri"/>
              </a:rPr>
              <a:t>STRETCH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91F2B"/>
                </a:solidFill>
                <a:latin typeface="Calibri"/>
              </a:rPr>
              <a:t>b - iii - 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77639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E3744"/>
                </a:solidFill>
                <a:latin typeface="Calibri"/>
              </a:rPr>
              <a:t>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39" y="3429000"/>
            <a:ext cx="2011680" cy="868680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39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45FA6"/>
                </a:solidFill>
                <a:latin typeface="Arial Black"/>
              </a:rPr>
              <a:t>BIG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9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91F2B"/>
                </a:solidFill>
                <a:latin typeface="Calibri"/>
              </a:rPr>
              <a:t>/b/ - /i/ - /g/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9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E8793"/>
                </a:solidFill>
                <a:latin typeface="Calibri"/>
              </a:rPr>
              <a:t>☐ I read 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400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E3744"/>
                </a:solidFill>
                <a:latin typeface="Calibri"/>
              </a:rPr>
              <a:t>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3429000"/>
            <a:ext cx="2011680" cy="868680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45FA6"/>
                </a:solidFill>
                <a:latin typeface="Arial Black"/>
              </a:rPr>
              <a:t>SIT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91F2B"/>
                </a:solidFill>
                <a:latin typeface="Calibri"/>
              </a:rPr>
              <a:t>/s/ - /i/ - /t/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E8793"/>
                </a:solidFill>
                <a:latin typeface="Calibri"/>
              </a:rPr>
              <a:t>☐ I read 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81159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59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E3744"/>
                </a:solidFill>
                <a:latin typeface="Calibri"/>
              </a:rPr>
              <a:t>🥇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3429000"/>
            <a:ext cx="2011680" cy="868680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59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45FA6"/>
                </a:solidFill>
                <a:latin typeface="Arial Black"/>
              </a:rPr>
              <a:t>WIN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19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91F2B"/>
                </a:solidFill>
                <a:latin typeface="Calibri"/>
              </a:rPr>
              <a:t>/w/ - /i/ - /n/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19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E8793"/>
                </a:solidFill>
                <a:latin typeface="Calibri"/>
              </a:rPr>
              <a:t>☐ I read 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Read the three words in a row. The middle sound never changes: /i/.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SHORT VOWELS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🗝️ Short O  —  /o/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006171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Key Room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18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28B0B"/>
                </a:solidFill>
                <a:latin typeface="Calibri"/>
              </a:rPr>
              <a:t>O in the middle says /o/.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200400" cy="402336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C28B0B"/>
                </a:solidFill>
                <a:latin typeface="Arial Black"/>
              </a:rPr>
              <a:t>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657600"/>
            <a:ext cx="2468880" cy="731520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7647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 Black"/>
              </a:rPr>
              <a:t>/o/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526280"/>
            <a:ext cx="24688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E8793"/>
                </a:solidFill>
                <a:latin typeface="Calibri"/>
              </a:rPr>
              <a:t>STRETCH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91F2B"/>
                </a:solidFill>
                <a:latin typeface="Calibri"/>
              </a:rPr>
              <a:t>f - ooo - 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77639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E3744"/>
                </a:solidFill>
                <a:latin typeface="Calibri"/>
              </a:rPr>
              <a:t>🦊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39" y="3429000"/>
            <a:ext cx="2011680" cy="86868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39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28B0B"/>
                </a:solidFill>
                <a:latin typeface="Arial Black"/>
              </a:rPr>
              <a:t>FOX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9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91F2B"/>
                </a:solidFill>
                <a:latin typeface="Calibri"/>
              </a:rPr>
              <a:t>/f/ - /o/ - /x/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9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E8793"/>
                </a:solidFill>
                <a:latin typeface="Calibri"/>
              </a:rPr>
              <a:t>☐ I read 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400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E3744"/>
                </a:solidFill>
                <a:latin typeface="Calibri"/>
              </a:rPr>
              <a:t>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3429000"/>
            <a:ext cx="2011680" cy="86868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28B0B"/>
                </a:solidFill>
                <a:latin typeface="Arial Black"/>
              </a:rPr>
              <a:t>BOX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91F2B"/>
                </a:solidFill>
                <a:latin typeface="Calibri"/>
              </a:rPr>
              <a:t>/b/ - /o/ - /x/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E8793"/>
                </a:solidFill>
                <a:latin typeface="Calibri"/>
              </a:rPr>
              <a:t>☐ I read 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81159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59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E3744"/>
                </a:solidFill>
                <a:latin typeface="Calibri"/>
              </a:rPr>
              <a:t>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3429000"/>
            <a:ext cx="2011680" cy="86868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59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28B0B"/>
                </a:solidFill>
                <a:latin typeface="Arial Black"/>
              </a:rPr>
              <a:t>HOT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19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91F2B"/>
                </a:solidFill>
                <a:latin typeface="Calibri"/>
              </a:rPr>
              <a:t>/h/ - /o/ - /t/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19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E8793"/>
                </a:solidFill>
                <a:latin typeface="Calibri"/>
              </a:rPr>
              <a:t>☐ I read 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Read the three words in a row. The middle sound never changes: /o/.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🗝️ Vowel Key Sort — Four Castle Doors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173180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Key Room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19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28B0B"/>
                </a:solidFill>
                <a:latin typeface="Calibri"/>
              </a:rPr>
              <a:t>Read each word, then send it through the right door.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2651760" cy="2606040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1691640"/>
            <a:ext cx="2651760" cy="685800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773936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 Black"/>
              </a:rPr>
              <a:t>🚪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14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B8342F"/>
                </a:solidFill>
                <a:latin typeface="Calibri"/>
              </a:rPr>
              <a:t>/a/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9718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E8793"/>
                </a:solidFill>
                <a:latin typeface="Calibri"/>
              </a:rPr>
              <a:t>____________
____________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00984" y="1691640"/>
            <a:ext cx="2651760" cy="2606040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300984" y="1691640"/>
            <a:ext cx="2651760" cy="685800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00984" y="1773936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 Black"/>
              </a:rPr>
              <a:t>🚪 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00984" y="2514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B7A5A"/>
                </a:solidFill>
                <a:latin typeface="Calibri"/>
              </a:rPr>
              <a:t>/e/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5304" y="29718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E8793"/>
                </a:solidFill>
                <a:latin typeface="Calibri"/>
              </a:rPr>
              <a:t>____________
____________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1691640"/>
            <a:ext cx="2651760" cy="2606040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651760" cy="685800"/>
          </a:xfrm>
          <a:prstGeom prst="round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4768" y="1773936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 Black"/>
              </a:rPr>
              <a:t>🚪 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2514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45FA6"/>
                </a:solidFill>
                <a:latin typeface="Calibri"/>
              </a:rPr>
              <a:t>/i/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29718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E8793"/>
                </a:solidFill>
                <a:latin typeface="Calibri"/>
              </a:rPr>
              <a:t>____________
____________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88552" y="1691640"/>
            <a:ext cx="2651760" cy="260604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988552" y="1691640"/>
            <a:ext cx="2651760" cy="685800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88552" y="1773936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 Black"/>
              </a:rPr>
              <a:t>🚪 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88552" y="2514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28B0B"/>
                </a:solidFill>
                <a:latin typeface="Calibri"/>
              </a:rPr>
              <a:t>/o/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2872" y="29718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E8793"/>
                </a:solidFill>
                <a:latin typeface="Calibri"/>
              </a:rPr>
              <a:t>____________
____________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434840"/>
            <a:ext cx="11292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WORDS TO SORT — read each one out loud first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846320"/>
            <a:ext cx="17373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015483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91F2B"/>
                </a:solidFill>
                <a:latin typeface="Arial Black"/>
              </a:rPr>
              <a:t>CAT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50008" y="4846320"/>
            <a:ext cx="17373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50008" y="5015483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91F2B"/>
                </a:solidFill>
                <a:latin typeface="Arial Black"/>
              </a:rPr>
              <a:t>RED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42816" y="4846320"/>
            <a:ext cx="17373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42816" y="5015483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91F2B"/>
                </a:solidFill>
                <a:latin typeface="Arial Black"/>
              </a:rPr>
              <a:t>BIG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35623" y="4846320"/>
            <a:ext cx="17373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3" y="5015483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91F2B"/>
                </a:solidFill>
                <a:latin typeface="Arial Black"/>
              </a:rPr>
              <a:t>BOX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28431" y="4846320"/>
            <a:ext cx="17373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28431" y="5015483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91F2B"/>
                </a:solidFill>
                <a:latin typeface="Arial Black"/>
              </a:rPr>
              <a:t>HAT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21240" y="4846320"/>
            <a:ext cx="17373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21240" y="5015483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91F2B"/>
                </a:solidFill>
                <a:latin typeface="Arial Black"/>
              </a:rPr>
              <a:t>HOT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Say the word slowly and listen for the sound in the middle.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🎮 Which Key Opens the Word?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340190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Key Room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20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45FA6"/>
                </a:solidFill>
                <a:latin typeface="Calibri"/>
              </a:rPr>
              <a:t>The picture tells you the word. Pick the middle letter.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67128"/>
            <a:ext cx="457200" cy="457200"/>
          </a:xfrm>
          <a:prstGeom prst="ellipse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219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546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538728"/>
            <a:ext cx="457200" cy="457200"/>
          </a:xfrm>
          <a:prstGeom prst="ellipse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935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5262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910328"/>
            <a:ext cx="457200" cy="457200"/>
          </a:xfrm>
          <a:prstGeom prst="ellipse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651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2020824"/>
            <a:ext cx="1005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E3744"/>
                </a:solidFill>
                <a:latin typeface="Calibri"/>
              </a:rPr>
              <a:t>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2057400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91F2B"/>
                </a:solidFill>
                <a:latin typeface="Arial Black"/>
              </a:rPr>
              <a:t>B _ 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2057400"/>
            <a:ext cx="1691640" cy="676656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21305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45FA6"/>
                </a:solidFill>
                <a:latin typeface="Arial Black"/>
              </a:rPr>
              <a:t>🗝️ 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2057400"/>
            <a:ext cx="1691640" cy="676656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79" y="21305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45FA6"/>
                </a:solidFill>
                <a:latin typeface="Arial Black"/>
              </a:rPr>
              <a:t>🗝️ 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75520" y="2057400"/>
            <a:ext cx="1691640" cy="676656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0" y="21305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45FA6"/>
                </a:solidFill>
                <a:latin typeface="Arial Black"/>
              </a:rPr>
              <a:t>🗝️ 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392424"/>
            <a:ext cx="1005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E3744"/>
                </a:solidFill>
                <a:latin typeface="Calibri"/>
              </a:rPr>
              <a:t>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3429000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91F2B"/>
                </a:solidFill>
                <a:latin typeface="Arial Black"/>
              </a:rPr>
              <a:t>H _ 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0" y="3429000"/>
            <a:ext cx="1691640" cy="676656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35021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45FA6"/>
                </a:solidFill>
                <a:latin typeface="Arial Black"/>
              </a:rPr>
              <a:t>🗝️ 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79" y="3429000"/>
            <a:ext cx="1691640" cy="676656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79" y="35021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45FA6"/>
                </a:solidFill>
                <a:latin typeface="Arial Black"/>
              </a:rPr>
              <a:t>🗝️ 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75520" y="3429000"/>
            <a:ext cx="1691640" cy="676656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0" y="35021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45FA6"/>
                </a:solidFill>
                <a:latin typeface="Arial Black"/>
              </a:rPr>
              <a:t>🗝️ 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4764024"/>
            <a:ext cx="1005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E3744"/>
                </a:solidFill>
                <a:latin typeface="Calibri"/>
              </a:rPr>
              <a:t>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4800600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91F2B"/>
                </a:solidFill>
                <a:latin typeface="Arial Black"/>
              </a:rPr>
              <a:t>C _ 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35040" y="4800600"/>
            <a:ext cx="1691640" cy="676656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48737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45FA6"/>
                </a:solidFill>
                <a:latin typeface="Arial Black"/>
              </a:rPr>
              <a:t>🗝️ 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55279" y="4800600"/>
            <a:ext cx="1691640" cy="676656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79" y="48737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45FA6"/>
                </a:solidFill>
                <a:latin typeface="Arial Black"/>
              </a:rPr>
              <a:t>🗝️ 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875520" y="4800600"/>
            <a:ext cx="1691640" cy="676656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75520" y="48737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45FA6"/>
                </a:solidFill>
                <a:latin typeface="Arial Black"/>
              </a:rPr>
              <a:t>🗝️ 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Say the word, then say only the middle sound on its own.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🎮 Two More Locks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507199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Key Room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21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8342F"/>
                </a:solidFill>
                <a:latin typeface="Calibri"/>
              </a:rPr>
              <a:t>Last two keys. Look at the picture, then choose.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920240"/>
            <a:ext cx="112928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331719"/>
            <a:ext cx="457200" cy="457200"/>
          </a:xfrm>
          <a:prstGeom prst="ellipse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3865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383280"/>
            <a:ext cx="112928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794759"/>
            <a:ext cx="457200" cy="457200"/>
          </a:xfrm>
          <a:prstGeom prst="ellipse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8496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157984"/>
            <a:ext cx="1005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E3744"/>
                </a:solidFill>
                <a:latin typeface="Calibri"/>
              </a:rPr>
              <a:t>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2194560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91F2B"/>
                </a:solidFill>
                <a:latin typeface="Arial Black"/>
              </a:rPr>
              <a:t>F _ 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2194560"/>
            <a:ext cx="1691640" cy="676656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226771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B8342F"/>
                </a:solidFill>
                <a:latin typeface="Arial Black"/>
              </a:rPr>
              <a:t>🗝️ 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2194560"/>
            <a:ext cx="1691640" cy="676656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9" y="226771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B8342F"/>
                </a:solidFill>
                <a:latin typeface="Arial Black"/>
              </a:rPr>
              <a:t>🗝️ 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75520" y="2194560"/>
            <a:ext cx="1691640" cy="676656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0" y="226771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B8342F"/>
                </a:solidFill>
                <a:latin typeface="Arial Black"/>
              </a:rPr>
              <a:t>🗝️ 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621024"/>
            <a:ext cx="1005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E3744"/>
                </a:solidFill>
                <a:latin typeface="Calibri"/>
              </a:rPr>
              <a:t>🛏️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3657600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91F2B"/>
                </a:solidFill>
                <a:latin typeface="Arial Black"/>
              </a:rPr>
              <a:t>B _ 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3657600"/>
            <a:ext cx="1691640" cy="676656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37307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B8342F"/>
                </a:solidFill>
                <a:latin typeface="Arial Black"/>
              </a:rPr>
              <a:t>🗝️ 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79" y="3657600"/>
            <a:ext cx="1691640" cy="676656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79" y="37307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B8342F"/>
                </a:solidFill>
                <a:latin typeface="Arial Black"/>
              </a:rPr>
              <a:t>🗝️ 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75520" y="3657600"/>
            <a:ext cx="1691640" cy="676656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0" y="37307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B8342F"/>
                </a:solidFill>
                <a:latin typeface="Arial Black"/>
              </a:rPr>
              <a:t>🗝️ 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846320"/>
            <a:ext cx="11292840" cy="777240"/>
          </a:xfrm>
          <a:prstGeom prst="roundRect">
            <a:avLst/>
          </a:prstGeom>
          <a:solidFill>
            <a:srgbClr val="F1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956048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3FA0"/>
                </a:solidFill>
                <a:latin typeface="Calibri"/>
              </a:rPr>
              <a:t>⭐ ROYAL CHALLENGE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248656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91F2B"/>
                </a:solidFill>
                <a:latin typeface="Calibri"/>
              </a:rPr>
              <a:t>Read all four vowel sounds in a row:  /a/  /e/  /i/  /o/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If he picks the wrong key, read his word back to him.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WELL DONE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🗝️ The Key Room Is Yours!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674209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Key Room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22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28B0B"/>
                </a:solidFill>
                <a:latin typeface="Calibri"/>
              </a:rPr>
              <a:t>You know the four short vowel sounds.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206240" cy="402336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57400"/>
            <a:ext cx="4206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0">
                <a:solidFill>
                  <a:srgbClr val="2E3744"/>
                </a:solidFill>
                <a:latin typeface="Calibri"/>
              </a:rPr>
              <a:t>🗝️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977639"/>
            <a:ext cx="3108960" cy="777240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33087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KEY 2 EARNED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7E8793"/>
                </a:solidFill>
                <a:latin typeface="Calibri"/>
              </a:rPr>
              <a:t>One more room unlocked!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1691640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57800" y="1819656"/>
            <a:ext cx="475488" cy="475488"/>
          </a:xfrm>
          <a:prstGeom prst="ellipse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187452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3744"/>
                </a:solidFill>
                <a:latin typeface="Calibri"/>
              </a:rPr>
              <a:t>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185623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91F2B"/>
                </a:solidFill>
                <a:latin typeface="Calibri"/>
              </a:rPr>
              <a:t>A, E, I and O in the middle.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80" y="2560320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57800" y="2688336"/>
            <a:ext cx="475488" cy="475488"/>
          </a:xfrm>
          <a:prstGeom prst="ellipse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274320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3744"/>
                </a:solidFill>
                <a:latin typeface="Calibri"/>
              </a:rPr>
              <a:t>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72491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91F2B"/>
                </a:solidFill>
                <a:latin typeface="Calibri"/>
              </a:rPr>
              <a:t>Six words sent through the right door.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3429000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57800" y="3557016"/>
            <a:ext cx="475488" cy="475488"/>
          </a:xfrm>
          <a:prstGeom prst="ellipse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57800" y="361188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3744"/>
                </a:solidFill>
                <a:latin typeface="Calibri"/>
              </a:rPr>
              <a:t>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59359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91F2B"/>
                </a:solidFill>
                <a:latin typeface="Calibri"/>
              </a:rPr>
              <a:t>Five missing vowels found.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83480" y="4297679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257800" y="4425695"/>
            <a:ext cx="475488" cy="475488"/>
          </a:xfrm>
          <a:prstGeom prst="ellipse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57800" y="4480559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3744"/>
                </a:solidFill>
                <a:latin typeface="Calibri"/>
              </a:rPr>
              <a:t>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4462271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91F2B"/>
                </a:solidFill>
                <a:latin typeface="Calibri"/>
              </a:rPr>
              <a:t>You heard the middle sound on its own.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83480" y="5212080"/>
            <a:ext cx="6766560" cy="475488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57800" y="530352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NEXT:  🪞 The Mirror Hall — pushing sounds together.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BLENDING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🪞 C – A – T   →   CAT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841218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Mirror Hall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23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8342F"/>
                </a:solidFill>
                <a:latin typeface="Calibri"/>
              </a:rPr>
              <a:t>Touch each letter, say the sound, then push them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691640"/>
            <a:ext cx="2103120" cy="1828800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B8342F"/>
                </a:solidFill>
                <a:latin typeface="Arial Black"/>
              </a:rPr>
              <a:t>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91F2B"/>
                </a:solidFill>
                <a:latin typeface="Calibri"/>
              </a:rPr>
              <a:t>/c/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1691640"/>
            <a:ext cx="2103120" cy="1828800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B8342F"/>
                </a:solidFill>
                <a:latin typeface="Arial Black"/>
              </a:rPr>
              <a:t>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91F2B"/>
                </a:solidFill>
                <a:latin typeface="Calibri"/>
              </a:rPr>
              <a:t>/a/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79" y="1691640"/>
            <a:ext cx="2103120" cy="1828800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79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B8342F"/>
                </a:solidFill>
                <a:latin typeface="Arial Black"/>
              </a:rPr>
              <a:t>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39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39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91F2B"/>
                </a:solidFill>
                <a:latin typeface="Calibri"/>
              </a:rPr>
              <a:t>/t/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1031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7E8793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1691640"/>
            <a:ext cx="3063240" cy="1828800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1764792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E3744"/>
                </a:solidFill>
                <a:latin typeface="Calibri"/>
              </a:rPr>
              <a:t>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487168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 Black"/>
              </a:rPr>
              <a:t>CAT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703320"/>
            <a:ext cx="11201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79476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E8793"/>
                </a:solidFill>
                <a:latin typeface="Calibri"/>
              </a:rPr>
              <a:t>SLOW, THEN FAST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8736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91F2B"/>
                </a:solidFill>
                <a:latin typeface="Calibri"/>
              </a:rPr>
              <a:t>/c/ … /a/ … /t/      →      cat      →      CAT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754880"/>
            <a:ext cx="11201400" cy="868680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8463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8342F"/>
                </a:solidFill>
                <a:latin typeface="Calibri"/>
              </a:rPr>
              <a:t>NOW READ THE WHOLE SENTENCE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138928"/>
            <a:ext cx="10607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91F2B"/>
                </a:solidFill>
                <a:latin typeface="Georgia"/>
              </a:rPr>
              <a:t>The cat is big.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Stuck? Blend the first two only: ca … then add /t/.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BLENDING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🪞 H – A – T   →   HAT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008228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Mirror Hall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24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28B0B"/>
                </a:solidFill>
                <a:latin typeface="Calibri"/>
              </a:rPr>
              <a:t>Touch each letter, say the sound, then push them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691640"/>
            <a:ext cx="2103120" cy="182880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28B0B"/>
                </a:solidFill>
                <a:latin typeface="Arial Black"/>
              </a:rPr>
              <a:t>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91F2B"/>
                </a:solidFill>
                <a:latin typeface="Calibri"/>
              </a:rPr>
              <a:t>/h/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1691640"/>
            <a:ext cx="2103120" cy="182880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28B0B"/>
                </a:solidFill>
                <a:latin typeface="Arial Black"/>
              </a:rPr>
              <a:t>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91F2B"/>
                </a:solidFill>
                <a:latin typeface="Calibri"/>
              </a:rPr>
              <a:t>/a/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79" y="1691640"/>
            <a:ext cx="2103120" cy="182880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79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28B0B"/>
                </a:solidFill>
                <a:latin typeface="Arial Black"/>
              </a:rPr>
              <a:t>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39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39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91F2B"/>
                </a:solidFill>
                <a:latin typeface="Calibri"/>
              </a:rPr>
              <a:t>/t/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1031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7E8793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1691640"/>
            <a:ext cx="3063240" cy="1828800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1764792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E3744"/>
                </a:solidFill>
                <a:latin typeface="Calibri"/>
              </a:rPr>
              <a:t>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487168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 Black"/>
              </a:rPr>
              <a:t>HAT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703320"/>
            <a:ext cx="11201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79476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E8793"/>
                </a:solidFill>
                <a:latin typeface="Calibri"/>
              </a:rPr>
              <a:t>SLOW, THEN FAST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8736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91F2B"/>
                </a:solidFill>
                <a:latin typeface="Calibri"/>
              </a:rPr>
              <a:t>/h/ … /a/ … /t/      →      hat      →      HAT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754880"/>
            <a:ext cx="11201400" cy="86868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8463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28B0B"/>
                </a:solidFill>
                <a:latin typeface="Calibri"/>
              </a:rPr>
              <a:t>NOW READ THE WHOLE SENTENCE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138928"/>
            <a:ext cx="10607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91F2B"/>
                </a:solidFill>
                <a:latin typeface="Georgia"/>
              </a:rPr>
              <a:t>My hat is red.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Stuck? Blend the first two only: ha … then add /t/.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BLENDING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🪞 B – I – G   →   BIG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175238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Mirror Hall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25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45FA6"/>
                </a:solidFill>
                <a:latin typeface="Calibri"/>
              </a:rPr>
              <a:t>Touch each letter, say the sound, then push them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691640"/>
            <a:ext cx="2103120" cy="1828800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245FA6"/>
                </a:solidFill>
                <a:latin typeface="Arial Black"/>
              </a:rPr>
              <a:t>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91F2B"/>
                </a:solidFill>
                <a:latin typeface="Calibri"/>
              </a:rPr>
              <a:t>/b/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1691640"/>
            <a:ext cx="2103120" cy="1828800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245FA6"/>
                </a:solidFill>
                <a:latin typeface="Arial Black"/>
              </a:rPr>
              <a:t>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91F2B"/>
                </a:solidFill>
                <a:latin typeface="Calibri"/>
              </a:rPr>
              <a:t>/i/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79" y="1691640"/>
            <a:ext cx="2103120" cy="1828800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79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245FA6"/>
                </a:solidFill>
                <a:latin typeface="Arial Black"/>
              </a:rPr>
              <a:t>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39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39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91F2B"/>
                </a:solidFill>
                <a:latin typeface="Calibri"/>
              </a:rPr>
              <a:t>/g/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1031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7E8793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1691640"/>
            <a:ext cx="3063240" cy="1828800"/>
          </a:xfrm>
          <a:prstGeom prst="round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1764792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E3744"/>
                </a:solidFill>
                <a:latin typeface="Calibri"/>
              </a:rPr>
              <a:t>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487168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 Black"/>
              </a:rPr>
              <a:t>BIG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703320"/>
            <a:ext cx="11201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79476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E8793"/>
                </a:solidFill>
                <a:latin typeface="Calibri"/>
              </a:rPr>
              <a:t>SLOW, THEN FAST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8736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91F2B"/>
                </a:solidFill>
                <a:latin typeface="Calibri"/>
              </a:rPr>
              <a:t>/b/ … /i/ … /g/      →      big      →      BIG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754880"/>
            <a:ext cx="11201400" cy="868680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8463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45FA6"/>
                </a:solidFill>
                <a:latin typeface="Calibri"/>
              </a:rPr>
              <a:t>NOW READ THE WHOLE SENTENCE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138928"/>
            <a:ext cx="10607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91F2B"/>
                </a:solidFill>
                <a:latin typeface="Georgia"/>
              </a:rPr>
              <a:t>I see a big door.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Stuck? Blend the first two only: bi … then add /g/.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BLENDING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🪞 S – I – T   →   SIT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342247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Mirror Hall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26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A5A"/>
                </a:solidFill>
                <a:latin typeface="Calibri"/>
              </a:rPr>
              <a:t>Touch each letter, say the sound, then push them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691640"/>
            <a:ext cx="2103120" cy="1828800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B7A5A"/>
                </a:solidFill>
                <a:latin typeface="Arial Black"/>
              </a:rPr>
              <a:t>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91F2B"/>
                </a:solidFill>
                <a:latin typeface="Calibri"/>
              </a:rPr>
              <a:t>/s/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1691640"/>
            <a:ext cx="2103120" cy="1828800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B7A5A"/>
                </a:solidFill>
                <a:latin typeface="Arial Black"/>
              </a:rPr>
              <a:t>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91F2B"/>
                </a:solidFill>
                <a:latin typeface="Calibri"/>
              </a:rPr>
              <a:t>/i/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79" y="1691640"/>
            <a:ext cx="2103120" cy="1828800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79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B7A5A"/>
                </a:solidFill>
                <a:latin typeface="Arial Black"/>
              </a:rPr>
              <a:t>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39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39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91F2B"/>
                </a:solidFill>
                <a:latin typeface="Calibri"/>
              </a:rPr>
              <a:t>/t/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1031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7E8793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1691640"/>
            <a:ext cx="3063240" cy="1828800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1764792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E3744"/>
                </a:solidFill>
                <a:latin typeface="Calibri"/>
              </a:rPr>
              <a:t>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487168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 Black"/>
              </a:rPr>
              <a:t>SIT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703320"/>
            <a:ext cx="11201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79476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E8793"/>
                </a:solidFill>
                <a:latin typeface="Calibri"/>
              </a:rPr>
              <a:t>SLOW, THEN FAST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8736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91F2B"/>
                </a:solidFill>
                <a:latin typeface="Calibri"/>
              </a:rPr>
              <a:t>/s/ … /i/ … /t/      →      sit      →      SIT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754880"/>
            <a:ext cx="11201400" cy="868680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8463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7A5A"/>
                </a:solidFill>
                <a:latin typeface="Calibri"/>
              </a:rPr>
              <a:t>NOW READ THE WHOLE SENTENCE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138928"/>
            <a:ext cx="10607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91F2B"/>
                </a:solidFill>
                <a:latin typeface="Georgia"/>
              </a:rPr>
              <a:t>I can sit here.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Stuck? Blend the first two only: si … then add /t/.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BLENDING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🪞 F – O – X   →   FOX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509257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Mirror Hall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27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3FA0"/>
                </a:solidFill>
                <a:latin typeface="Calibri"/>
              </a:rPr>
              <a:t>Touch each letter, say the sound, then push them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691640"/>
            <a:ext cx="2103120" cy="1828800"/>
          </a:xfrm>
          <a:prstGeom prst="roundRect">
            <a:avLst/>
          </a:prstGeom>
          <a:solidFill>
            <a:srgbClr val="F1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6B3FA0"/>
                </a:solidFill>
                <a:latin typeface="Arial Black"/>
              </a:rPr>
              <a:t>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91F2B"/>
                </a:solidFill>
                <a:latin typeface="Calibri"/>
              </a:rPr>
              <a:t>/f/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1691640"/>
            <a:ext cx="2103120" cy="1828800"/>
          </a:xfrm>
          <a:prstGeom prst="roundRect">
            <a:avLst/>
          </a:prstGeom>
          <a:solidFill>
            <a:srgbClr val="F1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6B3FA0"/>
                </a:solidFill>
                <a:latin typeface="Arial Black"/>
              </a:rPr>
              <a:t>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91F2B"/>
                </a:solidFill>
                <a:latin typeface="Calibri"/>
              </a:rPr>
              <a:t>/o/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79" y="1691640"/>
            <a:ext cx="2103120" cy="1828800"/>
          </a:xfrm>
          <a:prstGeom prst="roundRect">
            <a:avLst/>
          </a:prstGeom>
          <a:solidFill>
            <a:srgbClr val="F1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79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6B3FA0"/>
                </a:solidFill>
                <a:latin typeface="Arial Black"/>
              </a:rPr>
              <a:t>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39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39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91F2B"/>
                </a:solidFill>
                <a:latin typeface="Calibri"/>
              </a:rPr>
              <a:t>/x/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1031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7E8793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1691640"/>
            <a:ext cx="3063240" cy="1828800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1764792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E3744"/>
                </a:solidFill>
                <a:latin typeface="Calibri"/>
              </a:rPr>
              <a:t>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487168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 Black"/>
              </a:rPr>
              <a:t>FOX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703320"/>
            <a:ext cx="11201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79476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E8793"/>
                </a:solidFill>
                <a:latin typeface="Calibri"/>
              </a:rPr>
              <a:t>SLOW, THEN FAST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8736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91F2B"/>
                </a:solidFill>
                <a:latin typeface="Calibri"/>
              </a:rPr>
              <a:t>/f/ … /o/ … /x/      →      fox      →      FOX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754880"/>
            <a:ext cx="11201400" cy="868680"/>
          </a:xfrm>
          <a:prstGeom prst="roundRect">
            <a:avLst/>
          </a:prstGeom>
          <a:solidFill>
            <a:srgbClr val="F1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8463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3FA0"/>
                </a:solidFill>
                <a:latin typeface="Calibri"/>
              </a:rPr>
              <a:t>NOW READ THE WHOLE SENTENCE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138928"/>
            <a:ext cx="10607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91F2B"/>
                </a:solidFill>
                <a:latin typeface="Georgia"/>
              </a:rPr>
              <a:t>The fox can run.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Stuck? Blend the first two only: fo … then add /x/.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4A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BLENDING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🪞 B – O – X   →   BOX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676266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Mirror Hall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28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5A73"/>
                </a:solidFill>
                <a:latin typeface="Calibri"/>
              </a:rPr>
              <a:t>Touch each letter, say the sound, then push them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691640"/>
            <a:ext cx="2103120" cy="1828800"/>
          </a:xfrm>
          <a:prstGeom prst="round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4A5A73"/>
                </a:solidFill>
                <a:latin typeface="Arial Black"/>
              </a:rPr>
              <a:t>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91F2B"/>
                </a:solidFill>
                <a:latin typeface="Calibri"/>
              </a:rPr>
              <a:t>/b/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1691640"/>
            <a:ext cx="2103120" cy="1828800"/>
          </a:xfrm>
          <a:prstGeom prst="round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4A5A73"/>
                </a:solidFill>
                <a:latin typeface="Arial Black"/>
              </a:rPr>
              <a:t>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91F2B"/>
                </a:solidFill>
                <a:latin typeface="Calibri"/>
              </a:rPr>
              <a:t>/o/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79" y="1691640"/>
            <a:ext cx="2103120" cy="1828800"/>
          </a:xfrm>
          <a:prstGeom prst="round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79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4A5A73"/>
                </a:solidFill>
                <a:latin typeface="Arial Black"/>
              </a:rPr>
              <a:t>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39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39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91F2B"/>
                </a:solidFill>
                <a:latin typeface="Calibri"/>
              </a:rPr>
              <a:t>/x/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1031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7E8793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1691640"/>
            <a:ext cx="3063240" cy="1828800"/>
          </a:xfrm>
          <a:prstGeom prst="roundRect">
            <a:avLst/>
          </a:prstGeom>
          <a:solidFill>
            <a:srgbClr val="4A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1764792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E3744"/>
                </a:solidFill>
                <a:latin typeface="Calibri"/>
              </a:rPr>
              <a:t>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487168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 Black"/>
              </a:rPr>
              <a:t>BOX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703320"/>
            <a:ext cx="11201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79476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E8793"/>
                </a:solidFill>
                <a:latin typeface="Calibri"/>
              </a:rPr>
              <a:t>SLOW, THEN FAST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8736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91F2B"/>
                </a:solidFill>
                <a:latin typeface="Calibri"/>
              </a:rPr>
              <a:t>/b/ … /o/ … /x/      →      box      →      BOX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754880"/>
            <a:ext cx="11201400" cy="868680"/>
          </a:xfrm>
          <a:prstGeom prst="round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8463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5A73"/>
                </a:solidFill>
                <a:latin typeface="Calibri"/>
              </a:rPr>
              <a:t>NOW READ THE WHOLE SENTENCE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138928"/>
            <a:ext cx="10607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91F2B"/>
                </a:solidFill>
                <a:latin typeface="Georgia"/>
              </a:rPr>
              <a:t>My box is red.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Stuck? Blend the first two only: bo … then add /x/.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🪞 Magic Mirror Game — Which Word Matches?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843276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Mirror Hall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29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45FA6"/>
                </a:solidFill>
                <a:latin typeface="Calibri"/>
              </a:rPr>
              <a:t>The mirror copied the word twice and changed it. Only one matches the picture.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188720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148840"/>
            <a:ext cx="457200" cy="457200"/>
          </a:xfrm>
          <a:prstGeom prst="ellipse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2037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057400"/>
            <a:ext cx="1005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E3744"/>
                </a:solidFill>
                <a:latin typeface="Calibri"/>
              </a:rPr>
              <a:t>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2039112"/>
            <a:ext cx="2697480" cy="6949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2148840"/>
            <a:ext cx="26974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91F2B"/>
                </a:solidFill>
                <a:latin typeface="Arial Black"/>
              </a:rPr>
              <a:t>FOX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06440" y="2039112"/>
            <a:ext cx="2697480" cy="6949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2148840"/>
            <a:ext cx="26974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91F2B"/>
                </a:solidFill>
                <a:latin typeface="Arial Black"/>
              </a:rPr>
              <a:t>FOS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2039112"/>
            <a:ext cx="2697480" cy="6949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148840"/>
            <a:ext cx="26974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91F2B"/>
                </a:solidFill>
                <a:latin typeface="Arial Black"/>
              </a:rPr>
              <a:t>FIX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154680"/>
            <a:ext cx="11292840" cy="1188720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" y="3520440"/>
            <a:ext cx="457200" cy="457200"/>
          </a:xfrm>
          <a:prstGeom prst="ellipse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5753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3429000"/>
            <a:ext cx="1005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E3744"/>
                </a:solidFill>
                <a:latin typeface="Calibri"/>
              </a:rPr>
              <a:t>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26080" y="3410712"/>
            <a:ext cx="2697480" cy="6949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0" y="3520440"/>
            <a:ext cx="26974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91F2B"/>
                </a:solidFill>
                <a:latin typeface="Arial Black"/>
              </a:rPr>
              <a:t>BOS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06440" y="3410712"/>
            <a:ext cx="2697480" cy="6949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06440" y="3520440"/>
            <a:ext cx="26974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91F2B"/>
                </a:solidFill>
                <a:latin typeface="Arial Black"/>
              </a:rPr>
              <a:t>BOX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0" y="3410712"/>
            <a:ext cx="2697480" cy="6949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0" y="3520440"/>
            <a:ext cx="26974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91F2B"/>
                </a:solidFill>
                <a:latin typeface="Arial Black"/>
              </a:rPr>
              <a:t>BAX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526280"/>
            <a:ext cx="11292840" cy="1188720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31520" y="4892040"/>
            <a:ext cx="457200" cy="457200"/>
          </a:xfrm>
          <a:prstGeom prst="ellipse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9469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4800600"/>
            <a:ext cx="1005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E3744"/>
                </a:solidFill>
                <a:latin typeface="Calibri"/>
              </a:rPr>
              <a:t>🐱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926080" y="4782312"/>
            <a:ext cx="2697480" cy="6949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6080" y="4892040"/>
            <a:ext cx="26974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91F2B"/>
                </a:solidFill>
                <a:latin typeface="Arial Black"/>
              </a:rPr>
              <a:t>CAT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06440" y="4782312"/>
            <a:ext cx="2697480" cy="6949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06440" y="4892040"/>
            <a:ext cx="26974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91F2B"/>
                </a:solidFill>
                <a:latin typeface="Arial Black"/>
              </a:rPr>
              <a:t>COT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86800" y="4782312"/>
            <a:ext cx="2697480" cy="6949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0" y="4892040"/>
            <a:ext cx="26974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91F2B"/>
                </a:solidFill>
                <a:latin typeface="Arial Black"/>
              </a:rPr>
              <a:t>CUT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Read all three out loud. Only one will sound like the picture's name.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🔤 Missing Magic Letter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010285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Mirror Hall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30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3FA0"/>
                </a:solidFill>
                <a:latin typeface="Calibri"/>
              </a:rPr>
              <a:t>One letter vanished. Which key brings it back?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67128"/>
            <a:ext cx="457200" cy="457200"/>
          </a:xfrm>
          <a:prstGeom prst="ellipse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219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546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538728"/>
            <a:ext cx="457200" cy="457200"/>
          </a:xfrm>
          <a:prstGeom prst="ellipse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935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5262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910328"/>
            <a:ext cx="457200" cy="457200"/>
          </a:xfrm>
          <a:prstGeom prst="ellipse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651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2020824"/>
            <a:ext cx="1005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E3744"/>
                </a:solidFill>
                <a:latin typeface="Calibri"/>
              </a:rPr>
              <a:t>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2057400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91F2B"/>
                </a:solidFill>
                <a:latin typeface="Arial Black"/>
              </a:rPr>
              <a:t>F _ 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2057400"/>
            <a:ext cx="1691640" cy="676656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21305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B3FA0"/>
                </a:solidFill>
                <a:latin typeface="Arial Black"/>
              </a:rPr>
              <a:t>🗝️ 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2057400"/>
            <a:ext cx="1691640" cy="676656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79" y="21305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B3FA0"/>
                </a:solidFill>
                <a:latin typeface="Arial Black"/>
              </a:rPr>
              <a:t>🗝️ 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75520" y="2057400"/>
            <a:ext cx="1691640" cy="676656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0" y="21305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B3FA0"/>
                </a:solidFill>
                <a:latin typeface="Arial Black"/>
              </a:rPr>
              <a:t>🗝️ 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392424"/>
            <a:ext cx="1005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E3744"/>
                </a:solidFill>
                <a:latin typeface="Calibri"/>
              </a:rPr>
              <a:t>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3429000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91F2B"/>
                </a:solidFill>
                <a:latin typeface="Arial Black"/>
              </a:rPr>
              <a:t>C _ 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0" y="3429000"/>
            <a:ext cx="1691640" cy="676656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35021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B3FA0"/>
                </a:solidFill>
                <a:latin typeface="Arial Black"/>
              </a:rPr>
              <a:t>🗝️ 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79" y="3429000"/>
            <a:ext cx="1691640" cy="676656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79" y="35021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B3FA0"/>
                </a:solidFill>
                <a:latin typeface="Arial Black"/>
              </a:rPr>
              <a:t>🗝️ 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75520" y="3429000"/>
            <a:ext cx="1691640" cy="676656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0" y="35021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B3FA0"/>
                </a:solidFill>
                <a:latin typeface="Arial Black"/>
              </a:rPr>
              <a:t>🗝️ 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4764024"/>
            <a:ext cx="1005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E3744"/>
                </a:solidFill>
                <a:latin typeface="Calibri"/>
              </a:rPr>
              <a:t>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4800600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91F2B"/>
                </a:solidFill>
                <a:latin typeface="Arial Black"/>
              </a:rPr>
              <a:t>B _ LL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35040" y="4800600"/>
            <a:ext cx="1691640" cy="676656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48737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B3FA0"/>
                </a:solidFill>
                <a:latin typeface="Arial Black"/>
              </a:rPr>
              <a:t>🗝️ 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55279" y="4800600"/>
            <a:ext cx="1691640" cy="676656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79" y="48737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B3FA0"/>
                </a:solidFill>
                <a:latin typeface="Arial Black"/>
              </a:rPr>
              <a:t>🗝️ 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875520" y="4800600"/>
            <a:ext cx="1691640" cy="676656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75520" y="48737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B3FA0"/>
                </a:solidFill>
                <a:latin typeface="Arial Black"/>
              </a:rPr>
              <a:t>🗝️ 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Try each letter in the gap and say the word. One sounds right.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🧩 Mixed-Up Spell — Put the Letters 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177295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Mirror Hall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31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A5A"/>
                </a:solidFill>
                <a:latin typeface="Calibri"/>
              </a:rPr>
              <a:t>The spell scrambled the letters. The picture is your clue.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5440680" cy="192024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1901952"/>
            <a:ext cx="457200" cy="457200"/>
          </a:xfrm>
          <a:prstGeom prst="ellipse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19568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01168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2E3744"/>
                </a:solidFill>
                <a:latin typeface="Calibri"/>
              </a:rPr>
              <a:t>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2011680"/>
            <a:ext cx="914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2139696"/>
            <a:ext cx="914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91F2B"/>
                </a:solidFill>
                <a:latin typeface="Arial Black"/>
              </a:rPr>
              <a:t>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31720" y="2011680"/>
            <a:ext cx="914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31720" y="2139696"/>
            <a:ext cx="914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91F2B"/>
                </a:solidFill>
                <a:latin typeface="Arial Black"/>
              </a:rPr>
              <a:t>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3279" y="2011680"/>
            <a:ext cx="914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79" y="2139696"/>
            <a:ext cx="914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91F2B"/>
                </a:solidFill>
                <a:latin typeface="Arial Black"/>
              </a:rPr>
              <a:t>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80160" y="2971800"/>
            <a:ext cx="43434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8760" y="307238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E8793"/>
                </a:solidFill>
                <a:latin typeface="Calibri"/>
              </a:rPr>
              <a:t>write it here:  ______________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1737360"/>
            <a:ext cx="5440680" cy="192024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1901952"/>
            <a:ext cx="457200" cy="457200"/>
          </a:xfrm>
          <a:prstGeom prst="ellipse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19568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201168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2E3744"/>
                </a:solidFill>
                <a:latin typeface="Calibri"/>
              </a:rPr>
              <a:t>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95160" y="2011680"/>
            <a:ext cx="914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95160" y="2139696"/>
            <a:ext cx="914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91F2B"/>
                </a:solidFill>
                <a:latin typeface="Arial Black"/>
              </a:rPr>
              <a:t>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2011680"/>
            <a:ext cx="914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2139696"/>
            <a:ext cx="914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91F2B"/>
                </a:solidFill>
                <a:latin typeface="Arial Black"/>
              </a:rPr>
              <a:t>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98280" y="2011680"/>
            <a:ext cx="914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80" y="2139696"/>
            <a:ext cx="914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91F2B"/>
                </a:solidFill>
                <a:latin typeface="Arial Black"/>
              </a:rPr>
              <a:t>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95160" y="2971800"/>
            <a:ext cx="43434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60" y="307238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E8793"/>
                </a:solidFill>
                <a:latin typeface="Calibri"/>
              </a:rPr>
              <a:t>write it here:  ______________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3840479"/>
            <a:ext cx="5440680" cy="192024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85800" y="4005071"/>
            <a:ext cx="457200" cy="457200"/>
          </a:xfrm>
          <a:prstGeom prst="ellipse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059935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92040" y="4114799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2E3744"/>
                </a:solidFill>
                <a:latin typeface="Calibri"/>
              </a:rPr>
              <a:t>📦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80160" y="4114799"/>
            <a:ext cx="914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80160" y="4242815"/>
            <a:ext cx="914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91F2B"/>
                </a:solidFill>
                <a:latin typeface="Arial Black"/>
              </a:rPr>
              <a:t>X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331720" y="4114799"/>
            <a:ext cx="914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31720" y="4242815"/>
            <a:ext cx="914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91F2B"/>
                </a:solidFill>
                <a:latin typeface="Arial Black"/>
              </a:rPr>
              <a:t>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83279" y="4114799"/>
            <a:ext cx="914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83279" y="4242815"/>
            <a:ext cx="914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91F2B"/>
                </a:solidFill>
                <a:latin typeface="Arial Black"/>
              </a:rPr>
              <a:t>B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280160" y="5074919"/>
            <a:ext cx="43434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8760" y="5175503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E8793"/>
                </a:solidFill>
                <a:latin typeface="Calibri"/>
              </a:rPr>
              <a:t>write it here:  ______________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72200" y="3840479"/>
            <a:ext cx="5440680" cy="192024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400800" y="4005071"/>
            <a:ext cx="457200" cy="457200"/>
          </a:xfrm>
          <a:prstGeom prst="ellipse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4059935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07040" y="4114799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2E3744"/>
                </a:solidFill>
                <a:latin typeface="Calibri"/>
              </a:rPr>
              <a:t>☀️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95160" y="4114799"/>
            <a:ext cx="914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95160" y="4242815"/>
            <a:ext cx="914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91F2B"/>
                </a:solidFill>
                <a:latin typeface="Arial Black"/>
              </a:rPr>
              <a:t>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46720" y="4114799"/>
            <a:ext cx="914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20" y="4242815"/>
            <a:ext cx="914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91F2B"/>
                </a:solidFill>
                <a:latin typeface="Arial Black"/>
              </a:rPr>
              <a:t>U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98280" y="4114799"/>
            <a:ext cx="914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98280" y="4242815"/>
            <a:ext cx="914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91F2B"/>
                </a:solidFill>
                <a:latin typeface="Arial Black"/>
              </a:rPr>
              <a:t>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995160" y="5074919"/>
            <a:ext cx="43434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23760" y="5175503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E8793"/>
                </a:solidFill>
                <a:latin typeface="Calibri"/>
              </a:rPr>
              <a:t>write it here:  ______________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6035040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6089903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00400" y="6080759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Ask which letter comes first. The first sound unlocks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WELL DONE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🪞 The Mirror Hall Is Clear!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344304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Mirror Hall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32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45FA6"/>
                </a:solidFill>
                <a:latin typeface="Calibri"/>
              </a:rPr>
              <a:t>You can push three sounds into one word.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206240" cy="4023360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57400"/>
            <a:ext cx="4206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0">
                <a:solidFill>
                  <a:srgbClr val="2E3744"/>
                </a:solidFill>
                <a:latin typeface="Calibri"/>
              </a:rPr>
              <a:t>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977639"/>
            <a:ext cx="3108960" cy="777240"/>
          </a:xfrm>
          <a:prstGeom prst="round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33087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KEY 3 EARNED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7E8793"/>
                </a:solidFill>
                <a:latin typeface="Calibri"/>
              </a:rPr>
              <a:t>One more room unlocked!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1691640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57800" y="1819656"/>
            <a:ext cx="475488" cy="475488"/>
          </a:xfrm>
          <a:prstGeom prst="ellipse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187452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3744"/>
                </a:solidFill>
                <a:latin typeface="Calibri"/>
              </a:rPr>
              <a:t>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185623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91F2B"/>
                </a:solidFill>
                <a:latin typeface="Calibri"/>
              </a:rPr>
              <a:t>Six words blended: cat, hat, big, sit, fox, box.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80" y="2560320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57800" y="2688336"/>
            <a:ext cx="475488" cy="475488"/>
          </a:xfrm>
          <a:prstGeom prst="ellipse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274320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3744"/>
                </a:solidFill>
                <a:latin typeface="Calibri"/>
              </a:rPr>
              <a:t>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72491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91F2B"/>
                </a:solidFill>
                <a:latin typeface="Calibri"/>
              </a:rPr>
              <a:t>Three real words spotted among the fakes.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3429000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57800" y="3557016"/>
            <a:ext cx="475488" cy="475488"/>
          </a:xfrm>
          <a:prstGeom prst="ellipse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57800" y="361188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3744"/>
                </a:solidFill>
                <a:latin typeface="Calibri"/>
              </a:rPr>
              <a:t>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59359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91F2B"/>
                </a:solidFill>
                <a:latin typeface="Calibri"/>
              </a:rPr>
              <a:t>Three missing letters found.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83480" y="4297679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257800" y="4425695"/>
            <a:ext cx="475488" cy="475488"/>
          </a:xfrm>
          <a:prstGeom prst="ellipse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57800" y="4480559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3744"/>
                </a:solidFill>
                <a:latin typeface="Calibri"/>
              </a:rPr>
              <a:t>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4462271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91F2B"/>
                </a:solidFill>
                <a:latin typeface="Calibri"/>
              </a:rPr>
              <a:t>Four scrambled spells fixed.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83480" y="5212080"/>
            <a:ext cx="6766560" cy="475488"/>
          </a:xfrm>
          <a:prstGeom prst="round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57800" y="530352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NEXT:  📚 The Magic Library — words that rhyme.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WORD FAMILIES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37–44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📚 The -AT Family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511314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Magic Library  |  37–44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33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8342F"/>
                </a:solidFill>
                <a:latin typeface="Calibri"/>
              </a:rPr>
              <a:t>Every word on this shelf ends the same way: -AT. They all rhyme.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2926080" cy="4023360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945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0" b="1" i="0">
                <a:solidFill>
                  <a:srgbClr val="FFFFFF"/>
                </a:solidFill>
                <a:latin typeface="Arial Black"/>
              </a:rPr>
              <a:t>-AT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say it: 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23774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E8793"/>
                </a:solidFill>
                <a:latin typeface="Calibri"/>
              </a:rPr>
              <a:t>ON THIS SHELF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8342F"/>
                </a:solidFill>
                <a:latin typeface="Calibri"/>
              </a:rPr>
              <a:t>4 words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1691640"/>
            <a:ext cx="1908810" cy="4023360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2103120"/>
            <a:ext cx="190881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E3744"/>
                </a:solidFill>
                <a:latin typeface="Calibri"/>
              </a:rPr>
              <a:t>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3474720"/>
            <a:ext cx="154305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3657600"/>
            <a:ext cx="154305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91F2B"/>
                </a:solidFill>
                <a:latin typeface="Arial Black"/>
              </a:rPr>
              <a:t>CAT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4572000"/>
            <a:ext cx="17259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8342F"/>
                </a:solidFill>
                <a:latin typeface="Calibri"/>
              </a:rPr>
              <a:t>c + 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5029200"/>
            <a:ext cx="17259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E8793"/>
                </a:solidFill>
                <a:latin typeface="Calibri"/>
              </a:rPr>
              <a:t>☐ I read 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9290" y="1691640"/>
            <a:ext cx="1908810" cy="4023360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49290" y="2103120"/>
            <a:ext cx="190881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E3744"/>
                </a:solidFill>
                <a:latin typeface="Calibri"/>
              </a:rPr>
              <a:t>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32170" y="3474720"/>
            <a:ext cx="154305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32170" y="3657600"/>
            <a:ext cx="154305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91F2B"/>
                </a:solidFill>
                <a:latin typeface="Arial Black"/>
              </a:rPr>
              <a:t>HAT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0730" y="4572000"/>
            <a:ext cx="17259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8342F"/>
                </a:solidFill>
                <a:latin typeface="Calibri"/>
              </a:rPr>
              <a:t>h + 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0730" y="5029200"/>
            <a:ext cx="17259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E8793"/>
                </a:solidFill>
                <a:latin typeface="Calibri"/>
              </a:rPr>
              <a:t>☐ I read 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40979" y="1691640"/>
            <a:ext cx="1908810" cy="4023360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0979" y="2103120"/>
            <a:ext cx="190881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E3744"/>
                </a:solidFill>
                <a:latin typeface="Calibri"/>
              </a:rPr>
              <a:t>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23859" y="3474720"/>
            <a:ext cx="154305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23859" y="3657600"/>
            <a:ext cx="154305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91F2B"/>
                </a:solidFill>
                <a:latin typeface="Arial Black"/>
              </a:rPr>
              <a:t>BAT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32419" y="4572000"/>
            <a:ext cx="17259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8342F"/>
                </a:solidFill>
                <a:latin typeface="Calibri"/>
              </a:rPr>
              <a:t>b + 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32419" y="5029200"/>
            <a:ext cx="17259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E8793"/>
                </a:solidFill>
                <a:latin typeface="Calibri"/>
              </a:rPr>
              <a:t>☐ I read 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32670" y="1691640"/>
            <a:ext cx="1908810" cy="4023360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32670" y="2103120"/>
            <a:ext cx="190881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E3744"/>
                </a:solidFill>
                <a:latin typeface="Calibri"/>
              </a:rPr>
              <a:t>🟫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15550" y="3474720"/>
            <a:ext cx="154305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15550" y="3657600"/>
            <a:ext cx="154305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91F2B"/>
                </a:solidFill>
                <a:latin typeface="Arial Black"/>
              </a:rPr>
              <a:t>MAT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24110" y="4572000"/>
            <a:ext cx="17259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8342F"/>
                </a:solidFill>
                <a:latin typeface="Calibri"/>
              </a:rPr>
              <a:t>m + 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24110" y="5029200"/>
            <a:ext cx="17259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E8793"/>
                </a:solidFill>
                <a:latin typeface="Calibri"/>
              </a:rPr>
              <a:t>☐ I read it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Cover the first letter, read the ending, then uncover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WORD FAMILIES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37–44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📚 The -IG Family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678323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Magic Library  |  37–44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34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45FA6"/>
                </a:solidFill>
                <a:latin typeface="Calibri"/>
              </a:rPr>
              <a:t>Every word on this shelf ends the same way: -IG. They all rhyme.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2926080" cy="4023360"/>
          </a:xfrm>
          <a:prstGeom prst="round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945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0" b="1" i="0">
                <a:solidFill>
                  <a:srgbClr val="FFFFFF"/>
                </a:solidFill>
                <a:latin typeface="Arial Black"/>
              </a:rPr>
              <a:t>-IG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say it: ig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23774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E8793"/>
                </a:solidFill>
                <a:latin typeface="Calibri"/>
              </a:rPr>
              <a:t>ON THIS SHELF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45FA6"/>
                </a:solidFill>
                <a:latin typeface="Calibri"/>
              </a:rPr>
              <a:t>3 words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1691640"/>
            <a:ext cx="2606040" cy="4023360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2103120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E3744"/>
                </a:solidFill>
                <a:latin typeface="Calibri"/>
              </a:rPr>
              <a:t>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3474720"/>
            <a:ext cx="2240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3657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91F2B"/>
                </a:solidFill>
                <a:latin typeface="Arial Black"/>
              </a:rPr>
              <a:t>BIG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4572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45FA6"/>
                </a:solidFill>
                <a:latin typeface="Calibri"/>
              </a:rPr>
              <a:t>b + ig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5029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E8793"/>
                </a:solidFill>
                <a:latin typeface="Calibri"/>
              </a:rPr>
              <a:t>☐ I read 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1691640"/>
            <a:ext cx="2606040" cy="4023360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103120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E3744"/>
                </a:solidFill>
                <a:latin typeface="Calibri"/>
              </a:rPr>
              <a:t>⛏️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474720"/>
            <a:ext cx="2240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3657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91F2B"/>
                </a:solidFill>
                <a:latin typeface="Arial Black"/>
              </a:rPr>
              <a:t>DIG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572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45FA6"/>
                </a:solidFill>
                <a:latin typeface="Calibri"/>
              </a:rPr>
              <a:t>d + ig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029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E8793"/>
                </a:solidFill>
                <a:latin typeface="Calibri"/>
              </a:rPr>
              <a:t>☐ I read 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1691640"/>
            <a:ext cx="2606040" cy="4023360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2103120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E3744"/>
                </a:solidFill>
                <a:latin typeface="Calibri"/>
              </a:rPr>
              <a:t>🐷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18320" y="3474720"/>
            <a:ext cx="2240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3657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91F2B"/>
                </a:solidFill>
                <a:latin typeface="Arial Black"/>
              </a:rPr>
              <a:t>PIG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572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45FA6"/>
                </a:solidFill>
                <a:latin typeface="Calibri"/>
              </a:rPr>
              <a:t>p + ig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5029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E8793"/>
                </a:solidFill>
                <a:latin typeface="Calibri"/>
              </a:rPr>
              <a:t>☐ I read 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Cover the first letter, read the ending, then uncover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WORD FAMILIES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37–44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📚 The -OX Family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845333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Magic Library  |  37–44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35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28B0B"/>
                </a:solidFill>
                <a:latin typeface="Calibri"/>
              </a:rPr>
              <a:t>Every word on this shelf ends the same way: -OX. They all rhyme.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2926080" cy="4023360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945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0" b="1" i="0">
                <a:solidFill>
                  <a:srgbClr val="FFFFFF"/>
                </a:solidFill>
                <a:latin typeface="Arial Black"/>
              </a:rPr>
              <a:t>-OX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say it: ox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23774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E8793"/>
                </a:solidFill>
                <a:latin typeface="Calibri"/>
              </a:rPr>
              <a:t>ON THIS SHELF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28B0B"/>
                </a:solidFill>
                <a:latin typeface="Calibri"/>
              </a:rPr>
              <a:t>2 words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1691640"/>
            <a:ext cx="4000500" cy="402336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2103120"/>
            <a:ext cx="40005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E3744"/>
                </a:solidFill>
                <a:latin typeface="Calibri"/>
              </a:rPr>
              <a:t>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3474720"/>
            <a:ext cx="36347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3657600"/>
            <a:ext cx="36347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91F2B"/>
                </a:solidFill>
                <a:latin typeface="Arial Black"/>
              </a:rPr>
              <a:t>FOX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4572000"/>
            <a:ext cx="38176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28B0B"/>
                </a:solidFill>
                <a:latin typeface="Calibri"/>
              </a:rPr>
              <a:t>f + ox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5029200"/>
            <a:ext cx="38176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E8793"/>
                </a:solidFill>
                <a:latin typeface="Calibri"/>
              </a:rPr>
              <a:t>☐ I read 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40979" y="1691640"/>
            <a:ext cx="4000500" cy="402336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40979" y="2103120"/>
            <a:ext cx="40005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E3744"/>
                </a:solidFill>
                <a:latin typeface="Calibri"/>
              </a:rPr>
              <a:t>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23859" y="3474720"/>
            <a:ext cx="36347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23859" y="3657600"/>
            <a:ext cx="36347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91F2B"/>
                </a:solidFill>
                <a:latin typeface="Arial Black"/>
              </a:rPr>
              <a:t>BOX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32419" y="4572000"/>
            <a:ext cx="38176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28B0B"/>
                </a:solidFill>
                <a:latin typeface="Calibri"/>
              </a:rPr>
              <a:t>b + ox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32419" y="5029200"/>
            <a:ext cx="38176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E8793"/>
                </a:solidFill>
                <a:latin typeface="Calibri"/>
              </a:rPr>
              <a:t>☐ I read 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Cover the first letter, read the ending, then uncover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WORD FAMILIES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37–44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📚 The -UN Family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012342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Magic Library  |  37–44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36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A5A"/>
                </a:solidFill>
                <a:latin typeface="Calibri"/>
              </a:rPr>
              <a:t>Every word on this shelf ends the same way: -UN. They all rhyme.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2926080" cy="4023360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945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0" b="1" i="0">
                <a:solidFill>
                  <a:srgbClr val="FFFFFF"/>
                </a:solidFill>
                <a:latin typeface="Arial Black"/>
              </a:rPr>
              <a:t>-UN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say it: 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23774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E8793"/>
                </a:solidFill>
                <a:latin typeface="Calibri"/>
              </a:rPr>
              <a:t>ON THIS SHELF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7A5A"/>
                </a:solidFill>
                <a:latin typeface="Calibri"/>
              </a:rPr>
              <a:t>3 words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1691640"/>
            <a:ext cx="2606040" cy="4023360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2103120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E3744"/>
                </a:solidFill>
                <a:latin typeface="Calibri"/>
              </a:rPr>
              <a:t>☀️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3474720"/>
            <a:ext cx="2240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3657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91F2B"/>
                </a:solidFill>
                <a:latin typeface="Arial Black"/>
              </a:rPr>
              <a:t>SUN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4572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7A5A"/>
                </a:solidFill>
                <a:latin typeface="Calibri"/>
              </a:rPr>
              <a:t>s + 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5029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E8793"/>
                </a:solidFill>
                <a:latin typeface="Calibri"/>
              </a:rPr>
              <a:t>☐ I read 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1691640"/>
            <a:ext cx="2606040" cy="4023360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103120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E3744"/>
                </a:solidFill>
                <a:latin typeface="Calibri"/>
              </a:rPr>
              <a:t>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474720"/>
            <a:ext cx="2240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3657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91F2B"/>
                </a:solidFill>
                <a:latin typeface="Arial Black"/>
              </a:rPr>
              <a:t>RUN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572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7A5A"/>
                </a:solidFill>
                <a:latin typeface="Calibri"/>
              </a:rPr>
              <a:t>r + 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029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E8793"/>
                </a:solidFill>
                <a:latin typeface="Calibri"/>
              </a:rPr>
              <a:t>☐ I read 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1691640"/>
            <a:ext cx="2606040" cy="4023360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2103120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E3744"/>
                </a:solidFill>
                <a:latin typeface="Calibri"/>
              </a:rPr>
              <a:t>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18320" y="3474720"/>
            <a:ext cx="2240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3657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91F2B"/>
                </a:solidFill>
                <a:latin typeface="Arial Black"/>
              </a:rPr>
              <a:t>FUN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572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7A5A"/>
                </a:solidFill>
                <a:latin typeface="Calibri"/>
              </a:rPr>
              <a:t>f + un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5029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E8793"/>
                </a:solidFill>
                <a:latin typeface="Calibri"/>
              </a:rPr>
              <a:t>☐ I read 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Cover the first letter, read the ending, then uncover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37–44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📚 Library Book Sort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179352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Magic Library  |  37–44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37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A5A"/>
                </a:solidFill>
                <a:latin typeface="Calibri"/>
              </a:rPr>
              <a:t>Read each book, then put it on the right shelf.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5440680" cy="2377440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1691640"/>
            <a:ext cx="5440680" cy="603504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783080"/>
            <a:ext cx="5440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-AT  shelf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423160"/>
            <a:ext cx="5440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744"/>
                </a:solidFill>
                <a:latin typeface="Calibri"/>
              </a:rPr>
              <a:t>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063240"/>
            <a:ext cx="4343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E8793"/>
                </a:solidFill>
                <a:latin typeface="Calibri"/>
              </a:rPr>
              <a:t>____________      ____________
____________      ____________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691640"/>
            <a:ext cx="5440680" cy="2377440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72200" y="1691640"/>
            <a:ext cx="5440680" cy="603504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783080"/>
            <a:ext cx="5440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-UN  shelf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423160"/>
            <a:ext cx="5440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744"/>
                </a:solidFill>
                <a:latin typeface="Calibri"/>
              </a:rPr>
              <a:t>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063240"/>
            <a:ext cx="4343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E8793"/>
                </a:solidFill>
                <a:latin typeface="Calibri"/>
              </a:rPr>
              <a:t>____________      ____________
____________      ____________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06240"/>
            <a:ext cx="11292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7A5A"/>
                </a:solidFill>
                <a:latin typeface="Calibri"/>
              </a:rPr>
              <a:t>BOOKS TO SHELVE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617720"/>
            <a:ext cx="17373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709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3744"/>
                </a:solidFill>
                <a:latin typeface="Calibri"/>
              </a:rPr>
              <a:t>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0749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7A5A"/>
                </a:solidFill>
                <a:latin typeface="Arial Black"/>
              </a:rPr>
              <a:t>CAT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50008" y="4617720"/>
            <a:ext cx="17373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50008" y="4709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3744"/>
                </a:solidFill>
                <a:latin typeface="Calibri"/>
              </a:rPr>
              <a:t>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50008" y="50749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7A5A"/>
                </a:solidFill>
                <a:latin typeface="Arial Black"/>
              </a:rPr>
              <a:t>RUN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42816" y="4617720"/>
            <a:ext cx="17373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42816" y="4709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3744"/>
                </a:solidFill>
                <a:latin typeface="Calibri"/>
              </a:rPr>
              <a:t>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42816" y="50749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7A5A"/>
                </a:solidFill>
                <a:latin typeface="Arial Black"/>
              </a:rPr>
              <a:t>HAT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35623" y="4617720"/>
            <a:ext cx="17373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35623" y="4709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3744"/>
                </a:solidFill>
                <a:latin typeface="Calibri"/>
              </a:rPr>
              <a:t>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35623" y="50749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7A5A"/>
                </a:solidFill>
                <a:latin typeface="Arial Black"/>
              </a:rPr>
              <a:t>SUN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28431" y="4617720"/>
            <a:ext cx="17373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28431" y="4709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3744"/>
                </a:solidFill>
                <a:latin typeface="Calibri"/>
              </a:rPr>
              <a:t>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28431" y="50749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7A5A"/>
                </a:solidFill>
                <a:latin typeface="Arial Black"/>
              </a:rPr>
              <a:t>BAT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21240" y="4617720"/>
            <a:ext cx="17373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21240" y="4709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3744"/>
                </a:solidFill>
                <a:latin typeface="Calibri"/>
              </a:rPr>
              <a:t>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21240" y="50749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7A5A"/>
                </a:solidFill>
                <a:latin typeface="Arial Black"/>
              </a:rPr>
              <a:t>FUN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Say two words together. If they rhyme, they share a shelf.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37–44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🎮 Who Does Not Belong?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346361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Magic Library  |  37–44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38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3FA0"/>
                </a:solidFill>
                <a:latin typeface="Calibri"/>
              </a:rPr>
              <a:t>Read all three out loud, then cross out the odd 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18872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148840"/>
            <a:ext cx="457200" cy="457200"/>
          </a:xfrm>
          <a:prstGeom prst="ellipse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2037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54480" y="2020824"/>
            <a:ext cx="246888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213055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91F2B"/>
                </a:solidFill>
                <a:latin typeface="Arial Black"/>
              </a:rPr>
              <a:t>FOX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020824"/>
            <a:ext cx="246888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213055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91F2B"/>
                </a:solidFill>
                <a:latin typeface="Arial Black"/>
              </a:rPr>
              <a:t>BOX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2020824"/>
            <a:ext cx="246888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213055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91F2B"/>
                </a:solidFill>
                <a:latin typeface="Arial Black"/>
              </a:rPr>
              <a:t>SUN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66960" y="2020824"/>
            <a:ext cx="155448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216712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E8793"/>
                </a:solidFill>
                <a:latin typeface="Calibri"/>
              </a:rPr>
              <a:t>✗ odd 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154680"/>
            <a:ext cx="11292840" cy="118872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3520440"/>
            <a:ext cx="457200" cy="457200"/>
          </a:xfrm>
          <a:prstGeom prst="ellipse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5753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54480" y="3392424"/>
            <a:ext cx="246888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54480" y="350215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91F2B"/>
                </a:solidFill>
                <a:latin typeface="Arial Black"/>
              </a:rPr>
              <a:t>CAT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3392424"/>
            <a:ext cx="246888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0" y="350215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91F2B"/>
                </a:solidFill>
                <a:latin typeface="Arial Black"/>
              </a:rPr>
              <a:t>HAT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3392424"/>
            <a:ext cx="246888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0" y="350215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91F2B"/>
                </a:solidFill>
                <a:latin typeface="Arial Black"/>
              </a:rPr>
              <a:t>BIG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66960" y="3392424"/>
            <a:ext cx="155448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66960" y="353872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E8793"/>
                </a:solidFill>
                <a:latin typeface="Calibri"/>
              </a:rPr>
              <a:t>✗ odd one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526280"/>
            <a:ext cx="11292840" cy="118872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31520" y="4892040"/>
            <a:ext cx="457200" cy="457200"/>
          </a:xfrm>
          <a:prstGeom prst="ellipse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9469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54480" y="4764024"/>
            <a:ext cx="246888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54480" y="487375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91F2B"/>
                </a:solidFill>
                <a:latin typeface="Arial Black"/>
              </a:rPr>
              <a:t>SUN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97680" y="4764024"/>
            <a:ext cx="246888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97680" y="487375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91F2B"/>
                </a:solidFill>
                <a:latin typeface="Arial Black"/>
              </a:rPr>
              <a:t>RUN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40880" y="4764024"/>
            <a:ext cx="246888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40880" y="487375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91F2B"/>
                </a:solidFill>
                <a:latin typeface="Arial Black"/>
              </a:rPr>
              <a:t>MAP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66960" y="4764024"/>
            <a:ext cx="155448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66960" y="491032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E8793"/>
                </a:solidFill>
                <a:latin typeface="Calibri"/>
              </a:rPr>
              <a:t>✗ odd one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Two of them rhyme. Say them as a pair and the odd one pops out.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37–44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⭐ Rhyme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513371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Magic Library  |  37–44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39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28B0B"/>
                </a:solidFill>
                <a:latin typeface="Calibri"/>
              </a:rPr>
              <a:t>Which word rhymes? Read all three before you choose.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0574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E3744"/>
                </a:solidFill>
                <a:latin typeface="Calibri"/>
              </a:rPr>
              <a:t>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37360" y="2039112"/>
            <a:ext cx="2194560" cy="676656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214884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 Black"/>
              </a:rPr>
              <a:t>CAT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16712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E8793"/>
                </a:solidFill>
                <a:latin typeface="Calibri"/>
              </a:rPr>
              <a:t>rhymes with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32120" y="2039112"/>
            <a:ext cx="1920240" cy="676656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32120" y="214884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91F2B"/>
                </a:solidFill>
                <a:latin typeface="Calibri"/>
              </a:rPr>
              <a:t>HAT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2039112"/>
            <a:ext cx="1920240" cy="676656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214884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91F2B"/>
                </a:solidFill>
                <a:latin typeface="Calibri"/>
              </a:rPr>
              <a:t>FOX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20" y="2039112"/>
            <a:ext cx="1920240" cy="676656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46920" y="214884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91F2B"/>
                </a:solidFill>
                <a:latin typeface="Calibri"/>
              </a:rPr>
              <a:t>BIG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154680"/>
            <a:ext cx="112928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4290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E3744"/>
                </a:solidFill>
                <a:latin typeface="Calibri"/>
              </a:rPr>
              <a:t>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737360" y="3410712"/>
            <a:ext cx="2194560" cy="676656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0" y="352044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 Black"/>
              </a:rPr>
              <a:t>BOX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353872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E8793"/>
                </a:solidFill>
                <a:latin typeface="Calibri"/>
              </a:rPr>
              <a:t>rhymes with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32120" y="3410712"/>
            <a:ext cx="1920240" cy="676656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32120" y="352044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91F2B"/>
                </a:solidFill>
                <a:latin typeface="Calibri"/>
              </a:rPr>
              <a:t>FOX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0" y="3410712"/>
            <a:ext cx="1920240" cy="676656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0" y="352044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91F2B"/>
                </a:solidFill>
                <a:latin typeface="Calibri"/>
              </a:rPr>
              <a:t>CAT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46920" y="3410712"/>
            <a:ext cx="1920240" cy="676656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6920" y="352044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91F2B"/>
                </a:solidFill>
                <a:latin typeface="Calibri"/>
              </a:rPr>
              <a:t>SUN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526280"/>
            <a:ext cx="112928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8006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E3744"/>
                </a:solidFill>
                <a:latin typeface="Calibri"/>
              </a:rPr>
              <a:t>🏃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37360" y="4782312"/>
            <a:ext cx="2194560" cy="676656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37360" y="489204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 Black"/>
              </a:rPr>
              <a:t>RUN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491032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E8793"/>
                </a:solidFill>
                <a:latin typeface="Calibri"/>
              </a:rPr>
              <a:t>rhymes with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532120" y="4782312"/>
            <a:ext cx="1920240" cy="676656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32120" y="489204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91F2B"/>
                </a:solidFill>
                <a:latin typeface="Calibri"/>
              </a:rPr>
              <a:t>SUN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89520" y="4782312"/>
            <a:ext cx="1920240" cy="676656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89520" y="489204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91F2B"/>
                </a:solidFill>
                <a:latin typeface="Calibri"/>
              </a:rPr>
              <a:t>BED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46920" y="4782312"/>
            <a:ext cx="1920240" cy="676656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46920" y="489204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91F2B"/>
                </a:solidFill>
                <a:latin typeface="Calibri"/>
              </a:rPr>
              <a:t>MAP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A rhyme sounds the same at the end. Say both words twice.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WELL DONE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37–44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📚 The Magic Library Is Sorted!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680380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Magic Library  |  37–44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40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A5A"/>
                </a:solidFill>
                <a:latin typeface="Calibri"/>
              </a:rPr>
              <a:t>You can hear which words rhyme.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206240" cy="4023360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57400"/>
            <a:ext cx="4206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0">
                <a:solidFill>
                  <a:srgbClr val="2E3744"/>
                </a:solidFill>
                <a:latin typeface="Calibri"/>
              </a:rPr>
              <a:t>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977639"/>
            <a:ext cx="3108960" cy="777240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33087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KEY 4 EARNED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7E8793"/>
                </a:solidFill>
                <a:latin typeface="Calibri"/>
              </a:rPr>
              <a:t>One more room unlocked!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1691640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57800" y="1819656"/>
            <a:ext cx="475488" cy="475488"/>
          </a:xfrm>
          <a:prstGeom prst="ellipse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187452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3744"/>
                </a:solidFill>
                <a:latin typeface="Calibri"/>
              </a:rPr>
              <a:t>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185623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91F2B"/>
                </a:solidFill>
                <a:latin typeface="Calibri"/>
              </a:rPr>
              <a:t>Four families: -at, -ig, -ox, -un.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80" y="2560320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57800" y="2688336"/>
            <a:ext cx="475488" cy="475488"/>
          </a:xfrm>
          <a:prstGeom prst="ellipse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274320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3744"/>
                </a:solidFill>
                <a:latin typeface="Calibri"/>
              </a:rPr>
              <a:t>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72491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91F2B"/>
                </a:solidFill>
                <a:latin typeface="Calibri"/>
              </a:rPr>
              <a:t>Six books on the right shelf.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3429000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57800" y="3557016"/>
            <a:ext cx="475488" cy="475488"/>
          </a:xfrm>
          <a:prstGeom prst="ellipse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57800" y="361188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3744"/>
                </a:solidFill>
                <a:latin typeface="Calibri"/>
              </a:rPr>
              <a:t>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59359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91F2B"/>
                </a:solidFill>
                <a:latin typeface="Calibri"/>
              </a:rPr>
              <a:t>Three odd words found.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83480" y="4297679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257800" y="4425695"/>
            <a:ext cx="475488" cy="475488"/>
          </a:xfrm>
          <a:prstGeom prst="ellipse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57800" y="4480559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3744"/>
                </a:solidFill>
                <a:latin typeface="Calibri"/>
              </a:rPr>
              <a:t>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4462271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91F2B"/>
                </a:solidFill>
                <a:latin typeface="Calibri"/>
              </a:rPr>
              <a:t>Three rhymes matched.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83480" y="5212080"/>
            <a:ext cx="6766560" cy="475488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57800" y="530352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NEXT:  A short break, then the sight-word doors.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BREAK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44–49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👑 Brain Break — King Says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847390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Magic Library  |  44–49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41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8342F"/>
                </a:solidFill>
                <a:latin typeface="Calibri"/>
              </a:rPr>
              <a:t>Stay beside your chair. Only move if I say "King says".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291840" cy="4023360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8600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E3744"/>
                </a:solidFill>
                <a:latin typeface="Calibri"/>
              </a:rPr>
              <a:t>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77639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8342F"/>
                </a:solidFill>
                <a:latin typeface="Georgia"/>
              </a:rPr>
              <a:t>5 MINUTES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091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E8793"/>
                </a:solidFill>
                <a:latin typeface="Calibri"/>
              </a:rPr>
              <a:t>then sight words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7639" y="1691640"/>
            <a:ext cx="777240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51960" y="1819656"/>
            <a:ext cx="457200" cy="457200"/>
          </a:xfrm>
          <a:prstGeom prst="ellipse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187452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E3744"/>
                </a:solidFill>
                <a:latin typeface="Calibri"/>
              </a:rPr>
              <a:t>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1837944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91F2B"/>
                </a:solidFill>
                <a:latin typeface="Calibri"/>
              </a:rPr>
              <a:t>King says clap twice.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77639" y="2514600"/>
            <a:ext cx="777240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51960" y="2642616"/>
            <a:ext cx="457200" cy="457200"/>
          </a:xfrm>
          <a:prstGeom prst="ellipse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269748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E3744"/>
                </a:solidFill>
                <a:latin typeface="Calibri"/>
              </a:rPr>
              <a:t>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2660904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91F2B"/>
                </a:solidFill>
                <a:latin typeface="Calibri"/>
              </a:rPr>
              <a:t>King says point to the door.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77639" y="3337560"/>
            <a:ext cx="777240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51960" y="3465576"/>
            <a:ext cx="457200" cy="457200"/>
          </a:xfrm>
          <a:prstGeom prst="ellipse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51960" y="352044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E3744"/>
                </a:solidFill>
                <a:latin typeface="Calibri"/>
              </a:rPr>
              <a:t>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3483864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91F2B"/>
                </a:solidFill>
                <a:latin typeface="Calibri"/>
              </a:rPr>
              <a:t>King says touch your head.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77639" y="4160520"/>
            <a:ext cx="777240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251960" y="4288536"/>
            <a:ext cx="457200" cy="457200"/>
          </a:xfrm>
          <a:prstGeom prst="ellipse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51960" y="434340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E3744"/>
                </a:solidFill>
                <a:latin typeface="Calibri"/>
              </a:rPr>
              <a:t>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80" y="4306824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91F2B"/>
                </a:solidFill>
                <a:latin typeface="Calibri"/>
              </a:rPr>
              <a:t>King says make a royal crown.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77639" y="4983480"/>
            <a:ext cx="777240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251960" y="5111496"/>
            <a:ext cx="457200" cy="457200"/>
          </a:xfrm>
          <a:prstGeom prst="ellipse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51960" y="516636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E3744"/>
                </a:solidFill>
                <a:latin typeface="Calibri"/>
              </a:rPr>
              <a:t>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3480" y="5129784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91F2B"/>
                </a:solidFill>
                <a:latin typeface="Calibri"/>
              </a:rPr>
              <a:t>King says freeze!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527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594360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Mix the order so he has to listen instead of guessing.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BREAK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44–49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👑 King Says — Now Read One Word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014399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Magic Library  |  44–49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42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45FA6"/>
                </a:solidFill>
                <a:latin typeface="Calibri"/>
              </a:rPr>
              <a:t>After each move, the king gives one small reading job.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27432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874519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744"/>
                </a:solidFill>
                <a:latin typeface="Calibri"/>
              </a:rPr>
              <a:t>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880360"/>
            <a:ext cx="2103120" cy="777240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035808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45FA6"/>
                </a:solidFill>
                <a:latin typeface="Arial Black"/>
              </a:rPr>
              <a:t>CAT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92424" y="1691640"/>
            <a:ext cx="27432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92424" y="1874519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744"/>
                </a:solidFill>
                <a:latin typeface="Calibri"/>
              </a:rPr>
              <a:t>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12464" y="2880360"/>
            <a:ext cx="2103120" cy="777240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12464" y="3035808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45FA6"/>
                </a:solidFill>
                <a:latin typeface="Arial Black"/>
              </a:rPr>
              <a:t>HAT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7648" y="1691640"/>
            <a:ext cx="27432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1874519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744"/>
                </a:solidFill>
                <a:latin typeface="Calibri"/>
              </a:rPr>
              <a:t>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47688" y="2880360"/>
            <a:ext cx="2103120" cy="777240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3035808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45FA6"/>
                </a:solidFill>
                <a:latin typeface="Arial Black"/>
              </a:rPr>
              <a:t>BOX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62872" y="1691640"/>
            <a:ext cx="27432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2872" y="1874519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744"/>
                </a:solidFill>
                <a:latin typeface="Calibri"/>
              </a:rPr>
              <a:t>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82912" y="2880360"/>
            <a:ext cx="2103120" cy="777240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82912" y="3035808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45FA6"/>
                </a:solidFill>
                <a:latin typeface="Arial Black"/>
              </a:rPr>
              <a:t>BIG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114800"/>
            <a:ext cx="5440680" cy="713232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2611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E3744"/>
                </a:solidFill>
                <a:latin typeface="Calibri"/>
              </a:rPr>
              <a:t>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261104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91F2B"/>
                </a:solidFill>
                <a:latin typeface="Calibri"/>
              </a:rPr>
              <a:t>King says read CAT.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4114800"/>
            <a:ext cx="5440680" cy="713232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2611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E3744"/>
                </a:solidFill>
                <a:latin typeface="Calibri"/>
              </a:rPr>
              <a:t>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261104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91F2B"/>
                </a:solidFill>
                <a:latin typeface="Calibri"/>
              </a:rPr>
              <a:t>King says find HAT.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937760"/>
            <a:ext cx="5440680" cy="713232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0840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E3744"/>
                </a:solidFill>
                <a:latin typeface="Calibri"/>
              </a:rPr>
              <a:t>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084064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91F2B"/>
                </a:solidFill>
                <a:latin typeface="Calibri"/>
              </a:rPr>
              <a:t>King says point to BOX.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4937760"/>
            <a:ext cx="5440680" cy="713232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50840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E3744"/>
                </a:solidFill>
                <a:latin typeface="Calibri"/>
              </a:rPr>
              <a:t>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5084064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91F2B"/>
                </a:solidFill>
                <a:latin typeface="Calibri"/>
              </a:rPr>
              <a:t>King says read BIG.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9527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594360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Two jobs are pointing and two are reading. Keep it quick.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BREAK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44–49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👑 King Says — Royal Freeze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181409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Magic Library  |  44–49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43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3FA0"/>
                </a:solidFill>
                <a:latin typeface="Calibri"/>
              </a:rPr>
              <a:t>One of these is a trick. Listen for "King says".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896112"/>
          </a:xfrm>
          <a:prstGeom prst="roundRect">
            <a:avLst/>
          </a:prstGeom>
          <a:solidFill>
            <a:srgbClr val="F1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1984248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39112"/>
            <a:ext cx="493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E3744"/>
                </a:solidFill>
                <a:latin typeface="Calibri"/>
              </a:rPr>
              <a:t>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1984248"/>
            <a:ext cx="6035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91F2B"/>
                </a:solidFill>
                <a:latin typeface="Calibri"/>
              </a:rPr>
              <a:t>King says stand like a king.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2002536"/>
            <a:ext cx="370332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075688"/>
            <a:ext cx="3703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B3FA0"/>
                </a:solidFill>
                <a:latin typeface="Calibri"/>
              </a:rPr>
              <a:t>royal pose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807208"/>
            <a:ext cx="11292840" cy="896112"/>
          </a:xfrm>
          <a:prstGeom prst="roundRect">
            <a:avLst/>
          </a:prstGeom>
          <a:solidFill>
            <a:srgbClr val="F1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3008376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063240"/>
            <a:ext cx="493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E3744"/>
                </a:solidFill>
                <a:latin typeface="Calibri"/>
              </a:rPr>
              <a:t>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008376"/>
            <a:ext cx="6035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91F2B"/>
                </a:solidFill>
                <a:latin typeface="Calibri"/>
              </a:rPr>
              <a:t>Ring a pretend bell.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3026664"/>
            <a:ext cx="370332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3099816"/>
            <a:ext cx="3703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B3FA0"/>
                </a:solidFill>
                <a:latin typeface="Calibri"/>
              </a:rPr>
              <a:t>listen before you move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831336"/>
            <a:ext cx="11292840" cy="896112"/>
          </a:xfrm>
          <a:prstGeom prst="roundRect">
            <a:avLst/>
          </a:prstGeom>
          <a:solidFill>
            <a:srgbClr val="F1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4032504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087368"/>
            <a:ext cx="493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E3744"/>
                </a:solidFill>
                <a:latin typeface="Calibri"/>
              </a:rPr>
              <a:t>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032504"/>
            <a:ext cx="6035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91F2B"/>
                </a:solidFill>
                <a:latin typeface="Calibri"/>
              </a:rPr>
              <a:t>King says put on your crown.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4050792"/>
            <a:ext cx="370332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4123944"/>
            <a:ext cx="3703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B3FA0"/>
                </a:solidFill>
                <a:latin typeface="Calibri"/>
              </a:rPr>
              <a:t>hands on head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855464"/>
            <a:ext cx="11292840" cy="896112"/>
          </a:xfrm>
          <a:prstGeom prst="roundRect">
            <a:avLst/>
          </a:prstGeom>
          <a:solidFill>
            <a:srgbClr val="F1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1520" y="505663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111496"/>
            <a:ext cx="493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E3744"/>
                </a:solidFill>
                <a:latin typeface="Calibri"/>
              </a:rPr>
              <a:t>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" y="5056632"/>
            <a:ext cx="6035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91F2B"/>
                </a:solidFill>
                <a:latin typeface="Calibri"/>
              </a:rPr>
              <a:t>King says freeze!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5074920"/>
            <a:ext cx="370332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0" y="5148072"/>
            <a:ext cx="3703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B3FA0"/>
                </a:solidFill>
                <a:latin typeface="Calibri"/>
              </a:rPr>
              <a:t>hold still and count to three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9846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598932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One of these four has no "King says". Read them out of order and do not point it out.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SIGHT 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49–58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🚪 Sight Word — 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348418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Magic Library  |  49–58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44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8342F"/>
                </a:solidFill>
                <a:latin typeface="Calibri"/>
              </a:rPr>
              <a:t>This word is a key. We know it by looking, not by sounding it out.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572000" cy="2377440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574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FFFFFF"/>
                </a:solidFill>
                <a:latin typeface="Arial Black"/>
              </a:rPr>
              <a:t>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51960"/>
            <a:ext cx="4572000" cy="146304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389120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8342F"/>
                </a:solidFill>
                <a:latin typeface="Calibri"/>
              </a:rPr>
              <a:t>SAY IT THREE TIMES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4800600"/>
            <a:ext cx="9144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956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40280" y="4800600"/>
            <a:ext cx="9144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40280" y="4956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4800600"/>
            <a:ext cx="9144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4956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1691640"/>
            <a:ext cx="64465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178308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8342F"/>
                </a:solidFill>
                <a:latin typeface="Calibri"/>
              </a:rPr>
              <a:t>WHAT IT DOES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21031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91F2B"/>
                </a:solidFill>
                <a:latin typeface="Calibri"/>
              </a:rPr>
              <a:t>You say this word about yourself.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2880360"/>
            <a:ext cx="6446520" cy="1188720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0" y="2999232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8342F"/>
                </a:solidFill>
                <a:latin typeface="Calibri"/>
              </a:rPr>
              <a:t>READ IT IN A SENTENCE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337560"/>
            <a:ext cx="5943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91F2B"/>
                </a:solidFill>
                <a:latin typeface="Georgia"/>
              </a:rPr>
              <a:t>I can run.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0" y="4206240"/>
            <a:ext cx="64465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0" y="431596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8342F"/>
                </a:solidFill>
                <a:latin typeface="Calibri"/>
              </a:rPr>
              <a:t>⭐ FIND IT — point to it in this row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77840" y="4709160"/>
            <a:ext cx="914400" cy="658368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0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B8342F"/>
                </a:solidFill>
                <a:latin typeface="Arial Black"/>
              </a:rPr>
              <a:t>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65392" y="4709160"/>
            <a:ext cx="914400" cy="658368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5392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B8342F"/>
                </a:solidFill>
                <a:latin typeface="Arial Black"/>
              </a:rPr>
              <a:t>see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52944" y="4709160"/>
            <a:ext cx="914400" cy="658368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52944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B8342F"/>
                </a:solidFill>
                <a:latin typeface="Arial Black"/>
              </a:rPr>
              <a:t>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40496" y="4709160"/>
            <a:ext cx="914400" cy="658368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40496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B8342F"/>
                </a:solidFill>
                <a:latin typeface="Arial Black"/>
              </a:rPr>
              <a:t>the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28048" y="4709160"/>
            <a:ext cx="914400" cy="658368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28048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B8342F"/>
                </a:solidFill>
                <a:latin typeface="Arial Black"/>
              </a:rPr>
              <a:t>is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515600" y="4709160"/>
            <a:ext cx="914400" cy="658368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15600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B8342F"/>
                </a:solidFill>
                <a:latin typeface="Arial Black"/>
              </a:rPr>
              <a:t>my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Say it, clap it, then hunt for the same shape in the row.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SIGHT 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49–58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🚪 Sight Word — SEE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515428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Magic Library  |  49–58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45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45FA6"/>
                </a:solidFill>
                <a:latin typeface="Calibri"/>
              </a:rPr>
              <a:t>This word is a key. We know it by looking, not by sounding it out.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572000" cy="2377440"/>
          </a:xfrm>
          <a:prstGeom prst="round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574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FFFFFF"/>
                </a:solidFill>
                <a:latin typeface="Arial Black"/>
              </a:rPr>
              <a:t>see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51960"/>
            <a:ext cx="4572000" cy="146304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389120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45FA6"/>
                </a:solidFill>
                <a:latin typeface="Calibri"/>
              </a:rPr>
              <a:t>SAY IT THREE TIMES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4800600"/>
            <a:ext cx="9144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956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40280" y="4800600"/>
            <a:ext cx="9144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40280" y="4956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4800600"/>
            <a:ext cx="9144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4956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1691640"/>
            <a:ext cx="64465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178308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45FA6"/>
                </a:solidFill>
                <a:latin typeface="Calibri"/>
              </a:rPr>
              <a:t>WHAT IT DOES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21031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91F2B"/>
                </a:solidFill>
                <a:latin typeface="Calibri"/>
              </a:rPr>
              <a:t>This word is about your eyes.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2880360"/>
            <a:ext cx="6446520" cy="1188720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0" y="2999232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45FA6"/>
                </a:solidFill>
                <a:latin typeface="Calibri"/>
              </a:rPr>
              <a:t>READ IT IN A SENTENCE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337560"/>
            <a:ext cx="5943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91F2B"/>
                </a:solidFill>
                <a:latin typeface="Georgia"/>
              </a:rPr>
              <a:t>I see a cat.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0" y="4206240"/>
            <a:ext cx="64465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0" y="431596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45FA6"/>
                </a:solidFill>
                <a:latin typeface="Calibri"/>
              </a:rPr>
              <a:t>⭐ FIND IT — point to it in this row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77840" y="4709160"/>
            <a:ext cx="914400" cy="658368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0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45FA6"/>
                </a:solidFill>
                <a:latin typeface="Arial Black"/>
              </a:rPr>
              <a:t>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65392" y="4709160"/>
            <a:ext cx="914400" cy="658368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5392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45FA6"/>
                </a:solidFill>
                <a:latin typeface="Arial Black"/>
              </a:rPr>
              <a:t>see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52944" y="4709160"/>
            <a:ext cx="914400" cy="658368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52944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45FA6"/>
                </a:solidFill>
                <a:latin typeface="Arial Black"/>
              </a:rPr>
              <a:t>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40496" y="4709160"/>
            <a:ext cx="914400" cy="658368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40496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45FA6"/>
                </a:solidFill>
                <a:latin typeface="Arial Black"/>
              </a:rPr>
              <a:t>the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28048" y="4709160"/>
            <a:ext cx="914400" cy="658368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28048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45FA6"/>
                </a:solidFill>
                <a:latin typeface="Arial Black"/>
              </a:rPr>
              <a:t>is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515600" y="4709160"/>
            <a:ext cx="914400" cy="658368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15600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45FA6"/>
                </a:solidFill>
                <a:latin typeface="Arial Black"/>
              </a:rPr>
              <a:t>my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Say it, clap it, then hunt for the same shape in the row.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SIGHT 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49–58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🚪 Sight Word — A  ·  THE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682437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Magic Library  |  49–58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46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A5A"/>
                </a:solidFill>
                <a:latin typeface="Calibri"/>
              </a:rPr>
              <a:t>These words are keys. We know them by looking, not by sounding them out.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572000" cy="1828800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4884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Arial Black"/>
              </a:rPr>
              <a:t>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86200"/>
            <a:ext cx="4572000" cy="1828800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34340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Arial Black"/>
              </a:rPr>
              <a:t>the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1691640"/>
            <a:ext cx="64465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178308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7A5A"/>
                </a:solidFill>
                <a:latin typeface="Calibri"/>
              </a:rPr>
              <a:t>WHAT IT DOES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21031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91F2B"/>
                </a:solidFill>
                <a:latin typeface="Calibri"/>
              </a:rPr>
              <a:t>Two small words. They come before a naming word.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2880360"/>
            <a:ext cx="6446520" cy="1188720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0" y="2999232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7A5A"/>
                </a:solidFill>
                <a:latin typeface="Calibri"/>
              </a:rPr>
              <a:t>READ IT IN A SENTENCE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337560"/>
            <a:ext cx="5943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91F2B"/>
                </a:solidFill>
                <a:latin typeface="Georgia"/>
              </a:rPr>
              <a:t>I see a cat.  ·  I see the cat.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4206240"/>
            <a:ext cx="64465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431596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7A5A"/>
                </a:solidFill>
                <a:latin typeface="Calibri"/>
              </a:rPr>
              <a:t>⭐ FIND IT — point to it in this row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77840" y="4709160"/>
            <a:ext cx="914400" cy="658368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0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B7A5A"/>
                </a:solidFill>
                <a:latin typeface="Arial Black"/>
              </a:rPr>
              <a:t>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65392" y="4709160"/>
            <a:ext cx="914400" cy="658368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65392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B7A5A"/>
                </a:solidFill>
                <a:latin typeface="Arial Black"/>
              </a:rPr>
              <a:t>see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4709160"/>
            <a:ext cx="914400" cy="658368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52944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B7A5A"/>
                </a:solidFill>
                <a:latin typeface="Arial Black"/>
              </a:rPr>
              <a:t>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40496" y="4709160"/>
            <a:ext cx="914400" cy="658368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0496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B7A5A"/>
                </a:solidFill>
                <a:latin typeface="Arial Black"/>
              </a:rPr>
              <a:t>the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28048" y="4709160"/>
            <a:ext cx="914400" cy="658368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28048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B7A5A"/>
                </a:solidFill>
                <a:latin typeface="Arial Black"/>
              </a:rPr>
              <a:t>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15600" y="4709160"/>
            <a:ext cx="914400" cy="658368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0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B7A5A"/>
                </a:solidFill>
                <a:latin typeface="Arial Black"/>
              </a:rPr>
              <a:t>my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Say it, clap it, then hunt for the same shape in the row.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SIGHT 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49–58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🚪 Sight Word — IS  ·  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849447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Magic Library  |  49–58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47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28B0B"/>
                </a:solidFill>
                <a:latin typeface="Calibri"/>
              </a:rPr>
              <a:t>These words are keys. We know them by looking, not by sounding them out.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572000" cy="1828800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4884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Arial Black"/>
              </a:rPr>
              <a:t>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86200"/>
            <a:ext cx="4572000" cy="1828800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34340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Arial Black"/>
              </a:rPr>
              <a:t>my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1691640"/>
            <a:ext cx="64465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178308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28B0B"/>
                </a:solidFill>
                <a:latin typeface="Calibri"/>
              </a:rPr>
              <a:t>WHAT IT DOES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21031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91F2B"/>
                </a:solidFill>
                <a:latin typeface="Calibri"/>
              </a:rPr>
              <a:t>One word joins. One word says it belongs to you.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2880360"/>
            <a:ext cx="6446520" cy="118872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0" y="2999232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28B0B"/>
                </a:solidFill>
                <a:latin typeface="Calibri"/>
              </a:rPr>
              <a:t>READ IT IN A SENTENCE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337560"/>
            <a:ext cx="5943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91F2B"/>
                </a:solidFill>
                <a:latin typeface="Georgia"/>
              </a:rPr>
              <a:t>My hat is red.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4206240"/>
            <a:ext cx="64465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431596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28B0B"/>
                </a:solidFill>
                <a:latin typeface="Calibri"/>
              </a:rPr>
              <a:t>⭐ FIND IT — point to it in this row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77840" y="4709160"/>
            <a:ext cx="914400" cy="658368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0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28B0B"/>
                </a:solidFill>
                <a:latin typeface="Arial Black"/>
              </a:rPr>
              <a:t>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65392" y="4709160"/>
            <a:ext cx="914400" cy="658368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65392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28B0B"/>
                </a:solidFill>
                <a:latin typeface="Arial Black"/>
              </a:rPr>
              <a:t>see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4709160"/>
            <a:ext cx="914400" cy="658368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52944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28B0B"/>
                </a:solidFill>
                <a:latin typeface="Arial Black"/>
              </a:rPr>
              <a:t>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40496" y="4709160"/>
            <a:ext cx="914400" cy="658368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0496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28B0B"/>
                </a:solidFill>
                <a:latin typeface="Arial Black"/>
              </a:rPr>
              <a:t>the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28048" y="4709160"/>
            <a:ext cx="914400" cy="658368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28048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28B0B"/>
                </a:solidFill>
                <a:latin typeface="Arial Black"/>
              </a:rPr>
              <a:t>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15600" y="4709160"/>
            <a:ext cx="914400" cy="658368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0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28B0B"/>
                </a:solidFill>
                <a:latin typeface="Arial Black"/>
              </a:rPr>
              <a:t>my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Say it, clap it, then hunt for the same shape in the row.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SENTENCES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49–58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🧩 Build It —  I see a cat.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016456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Magic Library  |  49–58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48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8342F"/>
                </a:solidFill>
                <a:latin typeface="Calibri"/>
              </a:rPr>
              <a:t>Read each card, then read the whole sentence.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017520" cy="2743200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116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2E3744"/>
                </a:solidFill>
                <a:latin typeface="Calibri"/>
              </a:rPr>
              <a:t>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94835" y="1874519"/>
            <a:ext cx="548640" cy="548640"/>
          </a:xfrm>
          <a:prstGeom prst="ellipse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4835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91F2B"/>
                </a:solidFill>
                <a:latin typeface="Arial Black"/>
              </a:rP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26429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17944" y="1874519"/>
            <a:ext cx="548640" cy="548640"/>
          </a:xfrm>
          <a:prstGeom prst="ellipse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7944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26429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91F2B"/>
                </a:solidFill>
                <a:latin typeface="Arial Black"/>
              </a:rPr>
              <a:t>see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26429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49540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41055" y="1874519"/>
            <a:ext cx="548640" cy="548640"/>
          </a:xfrm>
          <a:prstGeom prst="ellipse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41055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49540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91F2B"/>
                </a:solidFill>
                <a:latin typeface="Arial Black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9540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72650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464165" y="1874519"/>
            <a:ext cx="548640" cy="548640"/>
          </a:xfrm>
          <a:prstGeom prst="ellipse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64165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72650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91F2B"/>
                </a:solidFill>
                <a:latin typeface="Arial Black"/>
              </a:rPr>
              <a:t>cat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72650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92840" cy="1051560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864608"/>
            <a:ext cx="11292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Georgia"/>
              </a:rPr>
              <a:t>I see a cat.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 first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Your turn!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SENTENCES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49–58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🧩 Build It —  The cat is big.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183466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Magic Library  |  49–58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49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45FA6"/>
                </a:solidFill>
                <a:latin typeface="Calibri"/>
              </a:rPr>
              <a:t>Read each card, then read the whole sentence.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017520" cy="2743200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116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2E3744"/>
                </a:solidFill>
                <a:latin typeface="Calibri"/>
              </a:rPr>
              <a:t>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94835" y="1874519"/>
            <a:ext cx="548640" cy="548640"/>
          </a:xfrm>
          <a:prstGeom prst="ellipse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4835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91F2B"/>
                </a:solidFill>
                <a:latin typeface="Arial Black"/>
              </a:rPr>
              <a:t>The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26429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17944" y="1874519"/>
            <a:ext cx="548640" cy="548640"/>
          </a:xfrm>
          <a:prstGeom prst="ellipse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7944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26429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91F2B"/>
                </a:solidFill>
                <a:latin typeface="Arial Black"/>
              </a:rPr>
              <a:t>cat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26429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49540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41055" y="1874519"/>
            <a:ext cx="548640" cy="548640"/>
          </a:xfrm>
          <a:prstGeom prst="ellipse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41055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49540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91F2B"/>
                </a:solidFill>
                <a:latin typeface="Arial Black"/>
              </a:rPr>
              <a:t>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9540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72650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464165" y="1874519"/>
            <a:ext cx="548640" cy="548640"/>
          </a:xfrm>
          <a:prstGeom prst="ellipse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64165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72650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91F2B"/>
                </a:solidFill>
                <a:latin typeface="Arial Black"/>
              </a:rPr>
              <a:t>big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72650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92840" cy="1051560"/>
          </a:xfrm>
          <a:prstGeom prst="round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864608"/>
            <a:ext cx="11292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Georgia"/>
              </a:rPr>
              <a:t>The cat is big.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 first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Your turn!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SENTENCES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49–58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🧩 Build It —  My hat is 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350476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Magic Library  |  49–58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50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28B0B"/>
                </a:solidFill>
                <a:latin typeface="Calibri"/>
              </a:rPr>
              <a:t>Read each card, then read the whole sentence.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017520" cy="274320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116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2E3744"/>
                </a:solidFill>
                <a:latin typeface="Calibri"/>
              </a:rPr>
              <a:t>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94835" y="1874519"/>
            <a:ext cx="548640" cy="548640"/>
          </a:xfrm>
          <a:prstGeom prst="ellipse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4835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91F2B"/>
                </a:solidFill>
                <a:latin typeface="Arial Black"/>
              </a:rPr>
              <a:t>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26429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17944" y="1874519"/>
            <a:ext cx="548640" cy="548640"/>
          </a:xfrm>
          <a:prstGeom prst="ellipse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7944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26429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91F2B"/>
                </a:solidFill>
                <a:latin typeface="Arial Black"/>
              </a:rPr>
              <a:t>hat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26429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49540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41055" y="1874519"/>
            <a:ext cx="548640" cy="548640"/>
          </a:xfrm>
          <a:prstGeom prst="ellipse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41055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49540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91F2B"/>
                </a:solidFill>
                <a:latin typeface="Arial Black"/>
              </a:rPr>
              <a:t>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9540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72650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464165" y="1874519"/>
            <a:ext cx="548640" cy="548640"/>
          </a:xfrm>
          <a:prstGeom prst="ellipse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64165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72650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91F2B"/>
                </a:solidFill>
                <a:latin typeface="Arial Black"/>
              </a:rPr>
              <a:t>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72650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92840" cy="1051560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864608"/>
            <a:ext cx="11292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Georgia"/>
              </a:rPr>
              <a:t>My hat is red.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 first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Your turn!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49–58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🚪 Magic Door Game — Read to Open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517485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Magic Library  |  49–58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51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3FA0"/>
                </a:solidFill>
                <a:latin typeface="Calibri"/>
              </a:rPr>
              <a:t>Read the word on each door. Every word opens one door.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2103120" cy="2834640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874519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E3744"/>
                </a:solidFill>
                <a:latin typeface="Calibri"/>
              </a:rPr>
              <a:t>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697480"/>
            <a:ext cx="1737360" cy="822960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5292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3703320"/>
            <a:ext cx="100584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81304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61488" y="1691640"/>
            <a:ext cx="2103120" cy="2834640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61488" y="1874519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E3744"/>
                </a:solidFill>
                <a:latin typeface="Calibri"/>
              </a:rPr>
              <a:t>🚪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44368" y="2697480"/>
            <a:ext cx="1737360" cy="822960"/>
          </a:xfrm>
          <a:prstGeom prst="round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44368" y="285292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see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10128" y="3703320"/>
            <a:ext cx="100584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0128" y="381304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65776" y="1691640"/>
            <a:ext cx="2103120" cy="2834640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65776" y="1874519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E3744"/>
                </a:solidFill>
                <a:latin typeface="Calibri"/>
              </a:rPr>
              <a:t>🚪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48656" y="2697480"/>
            <a:ext cx="1737360" cy="822960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48656" y="285292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the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14416" y="3703320"/>
            <a:ext cx="100584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14416" y="381304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70064" y="1691640"/>
            <a:ext cx="2103120" cy="283464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70064" y="1874519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E3744"/>
                </a:solidFill>
                <a:latin typeface="Calibri"/>
              </a:rPr>
              <a:t>🚪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52944" y="2697480"/>
            <a:ext cx="1737360" cy="822960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52944" y="285292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big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18704" y="3703320"/>
            <a:ext cx="100584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18704" y="381304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74352" y="1691640"/>
            <a:ext cx="2103120" cy="2834640"/>
          </a:xfrm>
          <a:prstGeom prst="roundRect">
            <a:avLst/>
          </a:prstGeom>
          <a:solidFill>
            <a:srgbClr val="F1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74352" y="1874519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E3744"/>
                </a:solidFill>
                <a:latin typeface="Calibri"/>
              </a:rPr>
              <a:t>🚪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57232" y="2697480"/>
            <a:ext cx="1737360" cy="822960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57232" y="285292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cat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22992" y="3703320"/>
            <a:ext cx="100584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22992" y="381304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709160"/>
            <a:ext cx="11292840" cy="960120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4800600"/>
            <a:ext cx="11292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ALL FIVE DOORS OPEN — NOW READ THE WHOLE SENTENCE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102352"/>
            <a:ext cx="11292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Georgia"/>
              </a:rPr>
              <a:t>I see the big cat.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If a door sticks, read it together, then let him read it alone.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PUZZLE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58–67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🧩 Castle Sentence Puzzles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684495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Puzzle Room  |  58–67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52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3FA0"/>
                </a:solidFill>
                <a:latin typeface="Calibri"/>
              </a:rPr>
              <a:t>The words are jumbled. Put them in an order that makes sense.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920240"/>
          </a:xfrm>
          <a:prstGeom prst="roundRect">
            <a:avLst/>
          </a:prstGeom>
          <a:solidFill>
            <a:srgbClr val="F1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1965960"/>
            <a:ext cx="475488" cy="475488"/>
          </a:xfrm>
          <a:prstGeom prst="ellipse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20824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197510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3FA0"/>
                </a:solidFill>
                <a:latin typeface="Calibri"/>
              </a:rPr>
              <a:t>MIXED-UP WORDS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2340864"/>
            <a:ext cx="2103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246888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91F2B"/>
                </a:solidFill>
                <a:latin typeface="Arial Black"/>
              </a:rPr>
              <a:t>see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2340864"/>
            <a:ext cx="2103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246888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91F2B"/>
                </a:solidFill>
                <a:latin typeface="Arial Black"/>
              </a:rPr>
              <a:t>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2340864"/>
            <a:ext cx="2103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246888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91F2B"/>
                </a:solidFill>
                <a:latin typeface="Arial Black"/>
              </a:rPr>
              <a:t>cat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2340864"/>
            <a:ext cx="2103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246888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91F2B"/>
                </a:solidFill>
                <a:latin typeface="Arial Black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2240280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2E3744"/>
                </a:solidFill>
                <a:latin typeface="Calibri"/>
              </a:rPr>
              <a:t>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3127248"/>
            <a:ext cx="859536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3182112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8793"/>
                </a:solidFill>
                <a:latin typeface="Calibri"/>
              </a:rPr>
              <a:t>say it in order:  ______________________________________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840479"/>
            <a:ext cx="11292840" cy="1920240"/>
          </a:xfrm>
          <a:prstGeom prst="roundRect">
            <a:avLst/>
          </a:prstGeom>
          <a:solidFill>
            <a:srgbClr val="F1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1520" y="4069079"/>
            <a:ext cx="475488" cy="475488"/>
          </a:xfrm>
          <a:prstGeom prst="ellipse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123943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078223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3FA0"/>
                </a:solidFill>
                <a:latin typeface="Calibri"/>
              </a:rPr>
              <a:t>MIXED-UP WORDS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71600" y="4443983"/>
            <a:ext cx="2103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71600" y="4571999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91F2B"/>
                </a:solidFill>
                <a:latin typeface="Arial Black"/>
              </a:rPr>
              <a:t>big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11880" y="4443983"/>
            <a:ext cx="2103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11880" y="4571999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91F2B"/>
                </a:solidFill>
                <a:latin typeface="Arial Black"/>
              </a:rPr>
              <a:t>is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52160" y="4443983"/>
            <a:ext cx="2103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0" y="4571999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91F2B"/>
                </a:solidFill>
                <a:latin typeface="Arial Black"/>
              </a:rPr>
              <a:t>cat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92440" y="4443983"/>
            <a:ext cx="2103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92440" y="4571999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91F2B"/>
                </a:solidFill>
                <a:latin typeface="Arial Black"/>
              </a:rPr>
              <a:t>The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4343399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2E3744"/>
                </a:solidFill>
                <a:latin typeface="Calibri"/>
              </a:rPr>
              <a:t>🐘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371600" y="5230367"/>
            <a:ext cx="859536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00200" y="5285231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8793"/>
                </a:solidFill>
                <a:latin typeface="Calibri"/>
              </a:rPr>
              <a:t>say it in order:  ______________________________________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035040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6089903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6080759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Which word would you say first? A sentence starts with a capital letter.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PUZZLE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58–67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🧩 Two More Puzzles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851504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Puzzle Room  |  58–67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53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45FA6"/>
                </a:solidFill>
                <a:latin typeface="Calibri"/>
              </a:rPr>
              <a:t>Last two. Read your sentence back to me when you finish.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920240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1965960"/>
            <a:ext cx="475488" cy="475488"/>
          </a:xfrm>
          <a:prstGeom prst="ellipse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20824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197510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45FA6"/>
                </a:solidFill>
                <a:latin typeface="Calibri"/>
              </a:rPr>
              <a:t>MIXED-UP WORDS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2340864"/>
            <a:ext cx="2103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246888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91F2B"/>
                </a:solidFill>
                <a:latin typeface="Arial Black"/>
              </a:rPr>
              <a:t>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2340864"/>
            <a:ext cx="2103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246888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91F2B"/>
                </a:solidFill>
                <a:latin typeface="Arial Black"/>
              </a:rPr>
              <a:t>My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2340864"/>
            <a:ext cx="2103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246888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91F2B"/>
                </a:solidFill>
                <a:latin typeface="Arial Black"/>
              </a:rPr>
              <a:t>hat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2340864"/>
            <a:ext cx="2103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246888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91F2B"/>
                </a:solidFill>
                <a:latin typeface="Arial Black"/>
              </a:rPr>
              <a:t>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2240280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2E3744"/>
                </a:solidFill>
                <a:latin typeface="Calibri"/>
              </a:rPr>
              <a:t>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3127248"/>
            <a:ext cx="859536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3182112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8793"/>
                </a:solidFill>
                <a:latin typeface="Calibri"/>
              </a:rPr>
              <a:t>say it in order:  ______________________________________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840479"/>
            <a:ext cx="11292840" cy="1920240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1520" y="4069079"/>
            <a:ext cx="475488" cy="475488"/>
          </a:xfrm>
          <a:prstGeom prst="ellipse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123943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078223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45FA6"/>
                </a:solidFill>
                <a:latin typeface="Calibri"/>
              </a:rPr>
              <a:t>MIXED-UP WORDS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71600" y="4443983"/>
            <a:ext cx="2103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71600" y="4571999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91F2B"/>
                </a:solidFill>
                <a:latin typeface="Arial Black"/>
              </a:rPr>
              <a:t>can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11880" y="4443983"/>
            <a:ext cx="2103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11880" y="4571999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91F2B"/>
                </a:solidFill>
                <a:latin typeface="Arial Black"/>
              </a:rPr>
              <a:t>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52160" y="4443983"/>
            <a:ext cx="2103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0" y="4571999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91F2B"/>
                </a:solidFill>
                <a:latin typeface="Arial Black"/>
              </a:rPr>
              <a:t>run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20" y="4343399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2E3744"/>
                </a:solidFill>
                <a:latin typeface="Calibri"/>
              </a:rPr>
              <a:t>🏃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371600" y="5230367"/>
            <a:ext cx="859536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00200" y="5285231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8793"/>
                </a:solidFill>
                <a:latin typeface="Calibri"/>
              </a:rPr>
              <a:t>say it in order:  ______________________________________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6035040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089903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6080759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Move one card at a time. Read it out loud after every move.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58–67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🖼️ Sentence and Picture Match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018514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Puzzle Room  |  58–67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54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A5A"/>
                </a:solidFill>
                <a:latin typeface="Calibri"/>
              </a:rPr>
              <a:t>Read the sentence, then point to the picture it tells about.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96596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1965960"/>
            <a:ext cx="45720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148840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 i="0">
                <a:solidFill>
                  <a:srgbClr val="191F2B"/>
                </a:solidFill>
                <a:latin typeface="Georgia"/>
              </a:rPr>
              <a:t>I see a big fox.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926080"/>
            <a:ext cx="4572000" cy="457200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999232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 READ  →  WE READ  →  YOU READ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2011680"/>
            <a:ext cx="1828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21945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 i="0">
                <a:solidFill>
                  <a:srgbClr val="2E3744"/>
                </a:solidFill>
                <a:latin typeface="Calibri"/>
              </a:rPr>
              <a:t>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03580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2011680"/>
            <a:ext cx="1828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1945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 i="0">
                <a:solidFill>
                  <a:srgbClr val="2E3744"/>
                </a:solidFill>
                <a:latin typeface="Calibri"/>
              </a:rPr>
              <a:t>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03580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2011680"/>
            <a:ext cx="1828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21945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 i="0">
                <a:solidFill>
                  <a:srgbClr val="2E3744"/>
                </a:solidFill>
                <a:latin typeface="Calibri"/>
              </a:rPr>
              <a:t>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03580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886200"/>
            <a:ext cx="11292840" cy="196596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4114800"/>
            <a:ext cx="45720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297680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 i="0">
                <a:solidFill>
                  <a:srgbClr val="191F2B"/>
                </a:solidFill>
                <a:latin typeface="Georgia"/>
              </a:rPr>
              <a:t>The king has a crown.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074920"/>
            <a:ext cx="4572000" cy="457200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148072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 READ  →  WE READ  →  YOU READ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4160520"/>
            <a:ext cx="1828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0" y="43434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 i="0">
                <a:solidFill>
                  <a:srgbClr val="2E3744"/>
                </a:solidFill>
                <a:latin typeface="Calibri"/>
              </a:rPr>
              <a:t>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51846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4160520"/>
            <a:ext cx="1828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0" y="43434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 i="0">
                <a:solidFill>
                  <a:srgbClr val="2E3744"/>
                </a:solidFill>
                <a:latin typeface="Calibri"/>
              </a:rPr>
              <a:t>🗝️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51846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84080" y="4160520"/>
            <a:ext cx="1828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84080" y="43434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 i="0">
                <a:solidFill>
                  <a:srgbClr val="2E3744"/>
                </a:solidFill>
                <a:latin typeface="Calibri"/>
              </a:rPr>
              <a:t>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51846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6035040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089903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6080759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Read the sentence twice. The last word usually decides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58–67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✅ True or Silly?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185523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Puzzle Room  |  58–67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55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28B0B"/>
                </a:solidFill>
                <a:latin typeface="Calibri"/>
              </a:rPr>
              <a:t>Read it, then tell me: does that make sense?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8778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1984248"/>
            <a:ext cx="457200" cy="457200"/>
          </a:xfrm>
          <a:prstGeom prst="ellipse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391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1965960"/>
            <a:ext cx="5852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91F2B"/>
                </a:solidFill>
                <a:latin typeface="Georgia"/>
              </a:rPr>
              <a:t>The king has a crown.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1993392"/>
            <a:ext cx="1783080" cy="457200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2066544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7A5A"/>
                </a:solidFill>
                <a:latin typeface="Calibri"/>
              </a:rPr>
              <a:t>✅ MAKES SENSE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6920" y="1993392"/>
            <a:ext cx="1783080" cy="457200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2066544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8342F"/>
                </a:solidFill>
                <a:latin typeface="Calibri"/>
              </a:rPr>
              <a:t>❌ SILLY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807208"/>
            <a:ext cx="11292840" cy="8778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008376"/>
            <a:ext cx="457200" cy="457200"/>
          </a:xfrm>
          <a:prstGeom prst="ellipse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063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2990088"/>
            <a:ext cx="5852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91F2B"/>
                </a:solidFill>
                <a:latin typeface="Georgia"/>
              </a:rPr>
              <a:t>The crown has a king.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0" y="3017520"/>
            <a:ext cx="1783080" cy="457200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3090672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7A5A"/>
                </a:solidFill>
                <a:latin typeface="Calibri"/>
              </a:rPr>
              <a:t>✅ MAKES SENSE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46920" y="3017520"/>
            <a:ext cx="1783080" cy="457200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46920" y="3090672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8342F"/>
                </a:solidFill>
                <a:latin typeface="Calibri"/>
              </a:rPr>
              <a:t>❌ SILLY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831336"/>
            <a:ext cx="11292840" cy="8778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1520" y="4032504"/>
            <a:ext cx="457200" cy="457200"/>
          </a:xfrm>
          <a:prstGeom prst="ellipse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0873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4014216"/>
            <a:ext cx="5852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91F2B"/>
                </a:solidFill>
                <a:latin typeface="Georgia"/>
              </a:rPr>
              <a:t>I see a big castle.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80960" y="4041648"/>
            <a:ext cx="1783080" cy="457200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0" y="411480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7A5A"/>
                </a:solidFill>
                <a:latin typeface="Calibri"/>
              </a:rPr>
              <a:t>✅ MAKES SENSE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46920" y="4041648"/>
            <a:ext cx="1783080" cy="457200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46920" y="411480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8342F"/>
                </a:solidFill>
                <a:latin typeface="Calibri"/>
              </a:rPr>
              <a:t>❌ SILLY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855464"/>
            <a:ext cx="11292840" cy="8778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31520" y="5056632"/>
            <a:ext cx="457200" cy="457200"/>
          </a:xfrm>
          <a:prstGeom prst="ellipse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11149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5038344"/>
            <a:ext cx="5852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91F2B"/>
                </a:solidFill>
                <a:latin typeface="Georgia"/>
              </a:rPr>
              <a:t>The castle sits on my hat.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80960" y="5065776"/>
            <a:ext cx="1783080" cy="457200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60" y="5138928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7A5A"/>
                </a:solidFill>
                <a:latin typeface="Calibri"/>
              </a:rPr>
              <a:t>✅ MAKES SENSE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46920" y="5065776"/>
            <a:ext cx="1783080" cy="457200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46920" y="5138928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8342F"/>
                </a:solidFill>
                <a:latin typeface="Calibri"/>
              </a:rPr>
              <a:t>❌ SILLY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925312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🗝️ CASTLE HINT — For a silly one ask: "Can a crown really eat lunch?" Then laugh about it together.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WELL DONE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58–67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🧩 The Puzzle Room Is Solved!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352533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Puzzle Room  |  58–67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56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3FA0"/>
                </a:solidFill>
                <a:latin typeface="Calibri"/>
              </a:rPr>
              <a:t>You can read and build whole sentences.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206240" cy="4023360"/>
          </a:xfrm>
          <a:prstGeom prst="roundRect">
            <a:avLst/>
          </a:prstGeom>
          <a:solidFill>
            <a:srgbClr val="F1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57400"/>
            <a:ext cx="4206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0">
                <a:solidFill>
                  <a:srgbClr val="2E3744"/>
                </a:solidFill>
                <a:latin typeface="Calibri"/>
              </a:rPr>
              <a:t>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977639"/>
            <a:ext cx="3108960" cy="777240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33087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KEY 5 EARNED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7E8793"/>
                </a:solidFill>
                <a:latin typeface="Calibri"/>
              </a:rPr>
              <a:t>One more room unlocked!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1691640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57800" y="1819656"/>
            <a:ext cx="475488" cy="475488"/>
          </a:xfrm>
          <a:prstGeom prst="ellipse">
            <a:avLst/>
          </a:prstGeom>
          <a:solidFill>
            <a:srgbClr val="F1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187452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3744"/>
                </a:solidFill>
                <a:latin typeface="Calibri"/>
              </a:rPr>
              <a:t>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185623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91F2B"/>
                </a:solidFill>
                <a:latin typeface="Calibri"/>
              </a:rPr>
              <a:t>Six sight words you know by looking.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80" y="2560320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57800" y="2688336"/>
            <a:ext cx="475488" cy="475488"/>
          </a:xfrm>
          <a:prstGeom prst="ellipse">
            <a:avLst/>
          </a:prstGeom>
          <a:solidFill>
            <a:srgbClr val="F1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274320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3744"/>
                </a:solidFill>
                <a:latin typeface="Calibri"/>
              </a:rPr>
              <a:t>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72491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91F2B"/>
                </a:solidFill>
                <a:latin typeface="Calibri"/>
              </a:rPr>
              <a:t>Four jumbled sentences put back in order.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3429000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57800" y="3557016"/>
            <a:ext cx="475488" cy="475488"/>
          </a:xfrm>
          <a:prstGeom prst="ellipse">
            <a:avLst/>
          </a:prstGeom>
          <a:solidFill>
            <a:srgbClr val="F1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57800" y="361188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3744"/>
                </a:solidFill>
                <a:latin typeface="Calibri"/>
              </a:rPr>
              <a:t>🖼️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59359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91F2B"/>
                </a:solidFill>
                <a:latin typeface="Calibri"/>
              </a:rPr>
              <a:t>Two sentences matched to the right picture.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83480" y="4297679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257800" y="4425695"/>
            <a:ext cx="475488" cy="475488"/>
          </a:xfrm>
          <a:prstGeom prst="ellipse">
            <a:avLst/>
          </a:prstGeom>
          <a:solidFill>
            <a:srgbClr val="F1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57800" y="4480559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3744"/>
                </a:solidFill>
                <a:latin typeface="Calibri"/>
              </a:rPr>
              <a:t>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4462271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91F2B"/>
                </a:solidFill>
                <a:latin typeface="Calibri"/>
              </a:rPr>
              <a:t>You spotted the silly sentences.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83480" y="5212080"/>
            <a:ext cx="6766560" cy="475488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57800" y="530352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NEXT:  👑 The King's Room — a real story.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67–77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📖 Story Time — The Lost Crown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519542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King's Room  |  67–77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57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8342F"/>
                </a:solidFill>
                <a:latin typeface="Calibri"/>
              </a:rPr>
              <a:t>Before we read: what do you think is missing?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5120640" cy="4023360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1168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0" b="0" i="0">
                <a:solidFill>
                  <a:srgbClr val="2E3744"/>
                </a:solidFill>
                <a:latin typeface="Calibri"/>
              </a:rPr>
              <a:t>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947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B8342F"/>
                </a:solidFill>
                <a:latin typeface="Georgia"/>
              </a:rPr>
              <a:t>THE LOST CROWN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E8793"/>
                </a:solidFill>
                <a:latin typeface="Calibri"/>
              </a:rPr>
              <a:t>five short parts  ·  I read first, then we read together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1737360"/>
            <a:ext cx="5897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342F"/>
                </a:solidFill>
                <a:latin typeface="Calibri"/>
              </a:rPr>
              <a:t>🤔 WHAT DO YOU THINK IS MISSING?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2194560"/>
            <a:ext cx="5897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E8793"/>
                </a:solidFill>
                <a:latin typeface="Calibri"/>
              </a:rPr>
              <a:t>Point to your guess. Any guess is a good guess.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2697480"/>
            <a:ext cx="58978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2880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E3744"/>
                </a:solidFill>
                <a:latin typeface="Calibri"/>
              </a:rPr>
              <a:t>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89864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91F2B"/>
                </a:solidFill>
                <a:latin typeface="Calibri"/>
              </a:rPr>
              <a:t>a crown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0" y="3703320"/>
            <a:ext cx="58978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38862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E3744"/>
                </a:solidFill>
                <a:latin typeface="Calibri"/>
              </a:rPr>
              <a:t>🗝️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90448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91F2B"/>
                </a:solidFill>
                <a:latin typeface="Calibri"/>
              </a:rPr>
              <a:t>a key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0" y="4709160"/>
            <a:ext cx="58978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48920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E3744"/>
                </a:solidFill>
                <a:latin typeface="Calibri"/>
              </a:rPr>
              <a:t>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91032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91F2B"/>
                </a:solidFill>
                <a:latin typeface="Calibri"/>
              </a:rPr>
              <a:t>a book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5870448"/>
            <a:ext cx="589788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5934456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28B0B"/>
                </a:solidFill>
                <a:latin typeface="Calibri"/>
              </a:rPr>
              <a:t>Remember your guess. We check it at the end!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67–77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👑 The Lost Crown — Part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686552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King's Room  |  67–77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58 / 73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98448"/>
            <a:ext cx="3200400" cy="438912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6002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E3744"/>
                </a:solidFill>
                <a:latin typeface="Calibri"/>
              </a:rPr>
              <a:t>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200400"/>
            <a:ext cx="2011680" cy="457200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27355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PART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26517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502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28B0B"/>
                </a:solidFill>
                <a:latin typeface="Calibri"/>
              </a:rPr>
              <a:t>💬 QUICK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61104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91F2B"/>
                </a:solidFill>
                <a:latin typeface="Calibri"/>
              </a:rPr>
              <a:t>What does King Ben wear every day?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1298448"/>
            <a:ext cx="786384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148132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91F2B"/>
                </a:solidFill>
                <a:latin typeface="Georgia"/>
              </a:rPr>
              <a:t>King Ben has a gold crown.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231136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91F2B"/>
                </a:solidFill>
                <a:latin typeface="Georgia"/>
              </a:rPr>
              <a:t>He wears it every 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980944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91F2B"/>
                </a:solidFill>
                <a:latin typeface="Georgia"/>
              </a:rPr>
              <a:t>One morning, Ben looks for his crown.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73075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91F2B"/>
                </a:solidFill>
                <a:latin typeface="Georgia"/>
              </a:rPr>
              <a:t>It is not on the table. It is not on his bed.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4617720"/>
            <a:ext cx="7863840" cy="105156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471830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28B0B"/>
                </a:solidFill>
                <a:latin typeface="Calibri"/>
              </a:rPr>
              <a:t>⭐ YOU READ THIS LINE ON YOUR 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91F2B"/>
                </a:solidFill>
                <a:latin typeface="Georgia"/>
              </a:rPr>
              <a:t>He wears it every day.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 first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Your turn!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67–77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👑 The Lost Crown — Part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853561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King's Room  |  67–77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59 / 73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98448"/>
            <a:ext cx="3200400" cy="4389120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6002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E3744"/>
                </a:solidFill>
                <a:latin typeface="Calibri"/>
              </a:rPr>
              <a:t>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200400"/>
            <a:ext cx="2011680" cy="457200"/>
          </a:xfrm>
          <a:prstGeom prst="round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27355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PART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26517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502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45FA6"/>
                </a:solidFill>
                <a:latin typeface="Calibri"/>
              </a:rPr>
              <a:t>💬 QUICK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61104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91F2B"/>
                </a:solidFill>
                <a:latin typeface="Calibri"/>
              </a:rPr>
              <a:t>Name one place Ben looks.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1298448"/>
            <a:ext cx="786384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148132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91F2B"/>
                </a:solidFill>
                <a:latin typeface="Georgia"/>
              </a:rPr>
              <a:t>"Where is my crown?" says Ben.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231136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91F2B"/>
                </a:solidFill>
                <a:latin typeface="Georgia"/>
              </a:rPr>
              <a:t>He looks in the big room.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980944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91F2B"/>
                </a:solidFill>
                <a:latin typeface="Georgia"/>
              </a:rPr>
              <a:t>He looks near the red chair.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73075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91F2B"/>
                </a:solidFill>
                <a:latin typeface="Georgia"/>
              </a:rPr>
              <a:t>He looks under the rug. The crown is not there.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4617720"/>
            <a:ext cx="7863840" cy="1051560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471830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45FA6"/>
                </a:solidFill>
                <a:latin typeface="Calibri"/>
              </a:rPr>
              <a:t>⭐ YOU READ THIS LINE ON YOUR 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91F2B"/>
                </a:solidFill>
                <a:latin typeface="Georgia"/>
              </a:rPr>
              <a:t>He looks in the big room.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 first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Your turn!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4A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67–77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👑 The Lost Crown — Part 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020571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King's Room  |  67–77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60 / 73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98448"/>
            <a:ext cx="3200400" cy="4389120"/>
          </a:xfrm>
          <a:prstGeom prst="round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6002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E3744"/>
                </a:solidFill>
                <a:latin typeface="Calibri"/>
              </a:rPr>
              <a:t>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200400"/>
            <a:ext cx="2011680" cy="457200"/>
          </a:xfrm>
          <a:prstGeom prst="roundRect">
            <a:avLst/>
          </a:prstGeom>
          <a:solidFill>
            <a:srgbClr val="4A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27355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PART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26517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502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5A73"/>
                </a:solidFill>
                <a:latin typeface="Calibri"/>
              </a:rPr>
              <a:t>💬 QUICK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61104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91F2B"/>
                </a:solidFill>
                <a:latin typeface="Calibri"/>
              </a:rPr>
              <a:t>Who helps King Ben?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1298448"/>
            <a:ext cx="786384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148132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91F2B"/>
                </a:solidFill>
                <a:latin typeface="Georgia"/>
              </a:rPr>
              <a:t>Ben asks his helper, Max.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231136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91F2B"/>
                </a:solidFill>
                <a:latin typeface="Georgia"/>
              </a:rPr>
              <a:t>"Can you help me?" says Ben.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980944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91F2B"/>
                </a:solidFill>
                <a:latin typeface="Georgia"/>
              </a:rPr>
              <a:t>Max and Ben look near the door.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73075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91F2B"/>
                </a:solidFill>
                <a:latin typeface="Georgia"/>
              </a:rPr>
              <a:t>They look up at the tall tower. They do not see the crown.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4617720"/>
            <a:ext cx="7863840" cy="1051560"/>
          </a:xfrm>
          <a:prstGeom prst="round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471830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5A73"/>
                </a:solidFill>
                <a:latin typeface="Calibri"/>
              </a:rPr>
              <a:t>⭐ YOU READ THIS LINE ON YOUR 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91F2B"/>
                </a:solidFill>
                <a:latin typeface="Georgia"/>
              </a:rPr>
              <a:t>Max and Ben look near the door.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 first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Your turn!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67–77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👑 The Lost Crown — Part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187580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King's Room  |  67–77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61 / 73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98448"/>
            <a:ext cx="3200400" cy="4389120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6002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E3744"/>
                </a:solidFill>
                <a:latin typeface="Calibri"/>
              </a:rPr>
              <a:t>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200400"/>
            <a:ext cx="2011680" cy="457200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27355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PART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26517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502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342F"/>
                </a:solidFill>
                <a:latin typeface="Calibri"/>
              </a:rPr>
              <a:t>💬 QUICK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61104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91F2B"/>
                </a:solidFill>
                <a:latin typeface="Calibri"/>
              </a:rPr>
              <a:t>Where is the crown?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1298448"/>
            <a:ext cx="786384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148132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91F2B"/>
                </a:solidFill>
                <a:latin typeface="Georgia"/>
              </a:rPr>
              <a:t>Then they hear a sound. Ring! Ring!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231136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91F2B"/>
                </a:solidFill>
                <a:latin typeface="Georgia"/>
              </a:rPr>
              <a:t>It comes from the big room.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980944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91F2B"/>
                </a:solidFill>
                <a:latin typeface="Georgia"/>
              </a:rPr>
              <a:t>They look behind a box.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73075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91F2B"/>
                </a:solidFill>
                <a:latin typeface="Georgia"/>
              </a:rPr>
              <a:t>The gold crown is there! A little cat sits next to it.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4617720"/>
            <a:ext cx="7863840" cy="1051560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471830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8342F"/>
                </a:solidFill>
                <a:latin typeface="Calibri"/>
              </a:rPr>
              <a:t>⭐ YOU READ THIS LINE ON YOUR 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91F2B"/>
                </a:solidFill>
                <a:latin typeface="Georgia"/>
              </a:rPr>
              <a:t>They look behind a box.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 first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Your turn!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67–77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👑 The Lost Crown — Part 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354590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King's Room  |  67–77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62 / 73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98448"/>
            <a:ext cx="3200400" cy="4389120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6002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E3744"/>
                </a:solidFill>
                <a:latin typeface="Calibri"/>
              </a:rPr>
              <a:t>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200400"/>
            <a:ext cx="2011680" cy="457200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27355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PART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26517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502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7A5A"/>
                </a:solidFill>
                <a:latin typeface="Calibri"/>
              </a:rPr>
              <a:t>💬 QUICK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61104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91F2B"/>
                </a:solidFill>
                <a:latin typeface="Calibri"/>
              </a:rPr>
              <a:t>How does the king feel at the end?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1298448"/>
            <a:ext cx="786384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148132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91F2B"/>
                </a:solidFill>
                <a:latin typeface="Georgia"/>
              </a:rPr>
              <a:t>Ben smiles. He puts the crown on his head.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231136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91F2B"/>
                </a:solidFill>
                <a:latin typeface="Georgia"/>
              </a:rPr>
              <a:t>"Thank you, Max!" he says.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980944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91F2B"/>
                </a:solidFill>
                <a:latin typeface="Georgia"/>
              </a:rPr>
              <a:t>Everyone laughs at the little cat.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73075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91F2B"/>
                </a:solidFill>
                <a:latin typeface="Georgia"/>
              </a:rPr>
              <a:t>The king is happy to find his crown.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4617720"/>
            <a:ext cx="7863840" cy="1051560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471830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7A5A"/>
                </a:solidFill>
                <a:latin typeface="Calibri"/>
              </a:rPr>
              <a:t>⭐ YOU READ THIS LINE ON YOUR 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91F2B"/>
                </a:solidFill>
                <a:latin typeface="Georgia"/>
              </a:rPr>
              <a:t>Ben smiles.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 first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Your turn!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COMPREHENSION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77–85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🔎 Castle Story Detective — Question 1 and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521599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King's Room  |  77–85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63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8342F"/>
                </a:solidFill>
                <a:latin typeface="Calibri"/>
              </a:rPr>
              <a:t>Point to your answer. You can look back at the 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32304"/>
            <a:ext cx="457200" cy="457200"/>
          </a:xfrm>
          <a:prstGeom prst="ellipse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4871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58184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4407408"/>
            <a:ext cx="457200" cy="457200"/>
          </a:xfrm>
          <a:prstGeom prst="ellipse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62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01168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E3744"/>
                </a:solidFill>
                <a:latin typeface="Calibri"/>
              </a:rPr>
              <a:t>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196596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91F2B"/>
                </a:solidFill>
                <a:latin typeface="Calibri"/>
              </a:rPr>
              <a:t>Who is in the story?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94560" y="2788920"/>
            <a:ext cx="1828800" cy="402336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84378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look in Part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2167128"/>
            <a:ext cx="1691640" cy="100584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2860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8342F"/>
                </a:solidFill>
                <a:latin typeface="Calibri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569464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91F2B"/>
                </a:solidFill>
                <a:latin typeface="Calibri"/>
              </a:rPr>
              <a:t>King Ben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2167128"/>
            <a:ext cx="1691640" cy="100584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22860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8342F"/>
                </a:solidFill>
                <a:latin typeface="Calibri"/>
              </a:rPr>
              <a:t>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569464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91F2B"/>
                </a:solidFill>
                <a:latin typeface="Calibri"/>
              </a:rPr>
              <a:t>Sam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66960" y="2167128"/>
            <a:ext cx="1691640" cy="100584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22860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8342F"/>
                </a:solidFill>
                <a:latin typeface="Calibri"/>
              </a:rPr>
              <a:t>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569464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91F2B"/>
                </a:solidFill>
                <a:latin typeface="Calibri"/>
              </a:rPr>
              <a:t>Mia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3986784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E3744"/>
                </a:solidFill>
                <a:latin typeface="Calibri"/>
              </a:rPr>
              <a:t>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3941064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91F2B"/>
                </a:solidFill>
                <a:latin typeface="Calibri"/>
              </a:rPr>
              <a:t>What is missing?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94560" y="4764024"/>
            <a:ext cx="1828800" cy="402336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94560" y="481888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look in Part 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4142232"/>
            <a:ext cx="1691640" cy="100584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426110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8342F"/>
                </a:solidFill>
                <a:latin typeface="Calibri"/>
              </a:rPr>
              <a:t>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544568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91F2B"/>
                </a:solidFill>
                <a:latin typeface="Calibri"/>
              </a:rPr>
              <a:t>A crown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4142232"/>
            <a:ext cx="1691640" cy="100584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38160" y="426110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8342F"/>
                </a:solidFill>
                <a:latin typeface="Calibri"/>
              </a:rPr>
              <a:t>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4544568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91F2B"/>
                </a:solidFill>
                <a:latin typeface="Calibri"/>
              </a:rPr>
              <a:t>A book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66960" y="4142232"/>
            <a:ext cx="1691640" cy="100584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66960" y="426110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8342F"/>
                </a:solidFill>
                <a:latin typeface="Calibri"/>
              </a:rPr>
              <a:t>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4544568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91F2B"/>
                </a:solidFill>
                <a:latin typeface="Calibri"/>
              </a:rPr>
              <a:t>A key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Read the question again slowly, then read each choice.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COMPREHENSION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77–85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🔎 Castle Story Detective — Question 3 and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688609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King's Room  |  77–85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64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45FA6"/>
                </a:solidFill>
                <a:latin typeface="Calibri"/>
              </a:rPr>
              <a:t>Two more. Go back to the part if you need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32304"/>
            <a:ext cx="457200" cy="457200"/>
          </a:xfrm>
          <a:prstGeom prst="ellipse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4871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58184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4407408"/>
            <a:ext cx="457200" cy="457200"/>
          </a:xfrm>
          <a:prstGeom prst="ellipse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62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01168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E3744"/>
                </a:solidFill>
                <a:latin typeface="Calibri"/>
              </a:rPr>
              <a:t>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196596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91F2B"/>
                </a:solidFill>
                <a:latin typeface="Calibri"/>
              </a:rPr>
              <a:t>Where was the crown found?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94560" y="2788920"/>
            <a:ext cx="1828800" cy="402336"/>
          </a:xfrm>
          <a:prstGeom prst="round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84378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look in Part 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2167128"/>
            <a:ext cx="1691640" cy="100584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2860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5FA6"/>
                </a:solidFill>
                <a:latin typeface="Calibri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569464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91F2B"/>
                </a:solidFill>
                <a:latin typeface="Calibri"/>
              </a:rPr>
              <a:t>Near a box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2167128"/>
            <a:ext cx="1691640" cy="100584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22860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5FA6"/>
                </a:solidFill>
                <a:latin typeface="Calibri"/>
              </a:rPr>
              <a:t>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569464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91F2B"/>
                </a:solidFill>
                <a:latin typeface="Calibri"/>
              </a:rPr>
              <a:t>Outside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66960" y="2167128"/>
            <a:ext cx="1691640" cy="100584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22860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5FA6"/>
                </a:solidFill>
                <a:latin typeface="Calibri"/>
              </a:rPr>
              <a:t>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569464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91F2B"/>
                </a:solidFill>
                <a:latin typeface="Calibri"/>
              </a:rPr>
              <a:t>In a bag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3986784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E3744"/>
                </a:solidFill>
                <a:latin typeface="Calibri"/>
              </a:rPr>
              <a:t>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3941064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91F2B"/>
                </a:solidFill>
                <a:latin typeface="Calibri"/>
              </a:rPr>
              <a:t>What did Ben do when he found it?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94560" y="4764024"/>
            <a:ext cx="1828800" cy="402336"/>
          </a:xfrm>
          <a:prstGeom prst="round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94560" y="481888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look in Part 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4142232"/>
            <a:ext cx="1691640" cy="100584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426110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5FA6"/>
                </a:solidFill>
                <a:latin typeface="Calibri"/>
              </a:rPr>
              <a:t>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544568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91F2B"/>
                </a:solidFill>
                <a:latin typeface="Calibri"/>
              </a:rPr>
              <a:t>He cried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4142232"/>
            <a:ext cx="1691640" cy="100584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38160" y="426110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5FA6"/>
                </a:solidFill>
                <a:latin typeface="Calibri"/>
              </a:rPr>
              <a:t>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4544568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91F2B"/>
                </a:solidFill>
                <a:latin typeface="Calibri"/>
              </a:rPr>
              <a:t>He put it 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66960" y="4142232"/>
            <a:ext cx="1691640" cy="100584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66960" y="426110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5FA6"/>
                </a:solidFill>
                <a:latin typeface="Calibri"/>
              </a:rPr>
              <a:t>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4544568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91F2B"/>
                </a:solidFill>
                <a:latin typeface="Calibri"/>
              </a:rPr>
              <a:t>He hid it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Cover one wrong choice. Two choices is still good thinking.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COMPREHENSION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77–85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🧩 Put the Story in Order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855618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King's Room  |  77–85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65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3FA0"/>
                </a:solidFill>
                <a:latin typeface="Calibri"/>
              </a:rPr>
              <a:t>These four things are mixed up. Number them 1 to 4.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2743200" cy="3017520"/>
          </a:xfrm>
          <a:prstGeom prst="roundRect">
            <a:avLst/>
          </a:prstGeom>
          <a:solidFill>
            <a:srgbClr val="F1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600200" y="1920240"/>
            <a:ext cx="457200" cy="457200"/>
          </a:xfrm>
          <a:prstGeom prst="ellipse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200" y="19751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146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E3744"/>
                </a:solidFill>
                <a:latin typeface="Calibri"/>
              </a:rPr>
              <a:t>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01568"/>
            <a:ext cx="2377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91F2B"/>
                </a:solidFill>
                <a:latin typeface="Calibri"/>
              </a:rPr>
              <a:t>Ben puts the crown on his head.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0" y="4160520"/>
            <a:ext cx="10972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251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E8793"/>
                </a:solidFill>
                <a:latin typeface="Calibri"/>
              </a:rPr>
              <a:t>___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92424" y="1737360"/>
            <a:ext cx="2743200" cy="3017520"/>
          </a:xfrm>
          <a:prstGeom prst="roundRect">
            <a:avLst/>
          </a:prstGeom>
          <a:solidFill>
            <a:srgbClr val="F1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35424" y="1920240"/>
            <a:ext cx="457200" cy="457200"/>
          </a:xfrm>
          <a:prstGeom prst="ellipse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5424" y="19751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92424" y="25146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E3744"/>
                </a:solidFill>
                <a:latin typeface="Calibri"/>
              </a:rPr>
              <a:t>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75304" y="3401568"/>
            <a:ext cx="2377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91F2B"/>
                </a:solidFill>
                <a:latin typeface="Calibri"/>
              </a:rPr>
              <a:t>Ben looks for his crown.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15384" y="4160520"/>
            <a:ext cx="10972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15384" y="4251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E8793"/>
                </a:solidFill>
                <a:latin typeface="Calibri"/>
              </a:rPr>
              <a:t>___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27648" y="1737360"/>
            <a:ext cx="2743200" cy="3017520"/>
          </a:xfrm>
          <a:prstGeom prst="roundRect">
            <a:avLst/>
          </a:prstGeom>
          <a:solidFill>
            <a:srgbClr val="F1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470648" y="1920240"/>
            <a:ext cx="457200" cy="457200"/>
          </a:xfrm>
          <a:prstGeom prst="ellipse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70648" y="19751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25146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E3744"/>
                </a:solidFill>
                <a:latin typeface="Calibri"/>
              </a:rPr>
              <a:t>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3401568"/>
            <a:ext cx="2377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91F2B"/>
                </a:solidFill>
                <a:latin typeface="Calibri"/>
              </a:rPr>
              <a:t>Ben hears a sound.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50608" y="4160520"/>
            <a:ext cx="10972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50608" y="4251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E8793"/>
                </a:solidFill>
                <a:latin typeface="Calibri"/>
              </a:rPr>
              <a:t>___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62872" y="1737360"/>
            <a:ext cx="2743200" cy="3017520"/>
          </a:xfrm>
          <a:prstGeom prst="roundRect">
            <a:avLst/>
          </a:prstGeom>
          <a:solidFill>
            <a:srgbClr val="F1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405872" y="1920240"/>
            <a:ext cx="457200" cy="457200"/>
          </a:xfrm>
          <a:prstGeom prst="ellipse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05872" y="19751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62872" y="25146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E3744"/>
                </a:solidFill>
                <a:latin typeface="Calibri"/>
              </a:rPr>
              <a:t>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45752" y="3401568"/>
            <a:ext cx="2377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91F2B"/>
                </a:solidFill>
                <a:latin typeface="Calibri"/>
              </a:rPr>
              <a:t>Ben finds the crown behind a box.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85832" y="4160520"/>
            <a:ext cx="10972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85832" y="4251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E8793"/>
                </a:solidFill>
                <a:latin typeface="Calibri"/>
              </a:rPr>
              <a:t>___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937760"/>
            <a:ext cx="112928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02920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3FA0"/>
                </a:solidFill>
                <a:latin typeface="Calibri"/>
              </a:rPr>
              <a:t>NOW WRITE THE ORDER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32180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7E8793"/>
                </a:solidFill>
                <a:latin typeface="Calibri"/>
              </a:rPr>
              <a:t>____  →  ____  →  ____  →  ____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Ask what happened at the very start of the story.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COMPREHENSION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77–85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🔎 Show Me the 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1022628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King's Room  |  77–85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66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A5A"/>
                </a:solidFill>
                <a:latin typeface="Calibri"/>
              </a:rPr>
              <a:t>Do not just tell me. Point to the line in the 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121408"/>
            <a:ext cx="475488" cy="475488"/>
          </a:xfrm>
          <a:prstGeom prst="ellipse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176272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1883664"/>
            <a:ext cx="42976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91F2B"/>
                </a:solidFill>
                <a:latin typeface="Calibri"/>
              </a:rPr>
              <a:t>How do you know where the crown was?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2542032"/>
            <a:ext cx="164592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25877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8342F"/>
                </a:solidFill>
                <a:latin typeface="Calibri"/>
              </a:rPr>
              <a:t>look in Part 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2011680"/>
            <a:ext cx="562356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210312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342F"/>
                </a:solidFill>
                <a:latin typeface="Calibri"/>
              </a:rPr>
              <a:t>🔎  Go back and put your finger on the line.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239572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8793"/>
                </a:solidFill>
                <a:latin typeface="Calibri"/>
              </a:rPr>
              <a:t>☐ found 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3493008"/>
            <a:ext cx="475488" cy="475488"/>
          </a:xfrm>
          <a:prstGeom prst="ellipse">
            <a:avLst/>
          </a:prstGeom>
          <a:solidFill>
            <a:srgbClr val="4A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547872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3255264"/>
            <a:ext cx="42976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91F2B"/>
                </a:solidFill>
                <a:latin typeface="Calibri"/>
              </a:rPr>
              <a:t>How do you know who helped Ben?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17320" y="3913632"/>
            <a:ext cx="164592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7320" y="39593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5A73"/>
                </a:solidFill>
                <a:latin typeface="Calibri"/>
              </a:rPr>
              <a:t>look in Part 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3383280"/>
            <a:ext cx="562356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347472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5A73"/>
                </a:solidFill>
                <a:latin typeface="Calibri"/>
              </a:rPr>
              <a:t>🔎  Go back and put your finger on the line.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376732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8793"/>
                </a:solidFill>
                <a:latin typeface="Calibri"/>
              </a:rPr>
              <a:t>☐ found 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1520" y="4864608"/>
            <a:ext cx="475488" cy="475488"/>
          </a:xfrm>
          <a:prstGeom prst="ellipse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919472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4626864"/>
            <a:ext cx="42976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91F2B"/>
                </a:solidFill>
                <a:latin typeface="Calibri"/>
              </a:rPr>
              <a:t>How do you know the king was happy?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17320" y="5285232"/>
            <a:ext cx="164592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17320" y="53309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7A5A"/>
                </a:solidFill>
                <a:latin typeface="Calibri"/>
              </a:rPr>
              <a:t>look in Part 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52160" y="4754880"/>
            <a:ext cx="562356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484632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7A5A"/>
                </a:solidFill>
                <a:latin typeface="Calibri"/>
              </a:rPr>
              <a:t>🔎  Go back and put your finger on the line.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513892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8793"/>
                </a:solidFill>
                <a:latin typeface="Calibri"/>
              </a:rPr>
              <a:t>☐ found it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907024"/>
            <a:ext cx="11292840" cy="402336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971032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7A5A"/>
                </a:solidFill>
                <a:latin typeface="Calibri"/>
              </a:rPr>
              <a:t>Finding the line in the story is the real skill here — not remembering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85–88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👑 The King's Reading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1189637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King's Room  |  85–88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67 / 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28B0B"/>
                </a:solidFill>
                <a:latin typeface="Calibri"/>
              </a:rPr>
              <a:t>Five last jobs. You already know all of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2103120" cy="4023360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1691640"/>
            <a:ext cx="2103120" cy="457200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76479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READ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2860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2E3744"/>
                </a:solidFill>
                <a:latin typeface="Calibri"/>
              </a:rPr>
              <a:t>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200400"/>
            <a:ext cx="18288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493008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i="0">
                <a:solidFill>
                  <a:srgbClr val="191F2B"/>
                </a:solidFill>
                <a:latin typeface="Arial Black"/>
              </a:rPr>
              <a:t>CROWN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6817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E8793"/>
                </a:solidFill>
                <a:latin typeface="Calibri"/>
              </a:rPr>
              <a:t>one word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5074920"/>
            <a:ext cx="10058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17550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B8342F"/>
                </a:solidFill>
                <a:latin typeface="Calibri"/>
              </a:rPr>
              <a:t>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61488" y="1691640"/>
            <a:ext cx="2103120" cy="4023360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761488" y="1691640"/>
            <a:ext cx="2103120" cy="457200"/>
          </a:xfrm>
          <a:prstGeom prst="round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61488" y="176479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READ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61488" y="22860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2E3744"/>
                </a:solidFill>
                <a:latin typeface="Calibri"/>
              </a:rPr>
              <a:t>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98648" y="3200400"/>
            <a:ext cx="18288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44368" y="3493008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91F2B"/>
                </a:solidFill>
                <a:latin typeface="Arial Black"/>
              </a:rPr>
              <a:t>BIG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98648" y="46817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E8793"/>
                </a:solidFill>
                <a:latin typeface="Calibri"/>
              </a:rPr>
              <a:t>one word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10128" y="5074920"/>
            <a:ext cx="10058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10128" y="517550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245FA6"/>
                </a:solidFill>
                <a:latin typeface="Calibri"/>
              </a:rPr>
              <a:t>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65776" y="1691640"/>
            <a:ext cx="2103120" cy="402336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65776" y="1691640"/>
            <a:ext cx="2103120" cy="457200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65776" y="176479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BLEND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65776" y="22860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2E3744"/>
                </a:solidFill>
                <a:latin typeface="Calibri"/>
              </a:rPr>
              <a:t>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02936" y="3200400"/>
            <a:ext cx="18288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48656" y="3493008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91F2B"/>
                </a:solidFill>
                <a:latin typeface="Calibri"/>
              </a:rPr>
              <a:t>B – O – 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02936" y="46817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E8793"/>
                </a:solidFill>
                <a:latin typeface="Calibri"/>
              </a:rPr>
              <a:t>three sounds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14416" y="5074920"/>
            <a:ext cx="10058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14416" y="517550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28B0B"/>
                </a:solidFill>
                <a:latin typeface="Calibri"/>
              </a:rPr>
              <a:t>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70064" y="1691640"/>
            <a:ext cx="2103120" cy="4023360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370064" y="1691640"/>
            <a:ext cx="2103120" cy="457200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70064" y="176479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READ 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70064" y="22860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2E3744"/>
                </a:solidFill>
                <a:latin typeface="Calibri"/>
              </a:rPr>
              <a:t>🐱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07224" y="3200400"/>
            <a:ext cx="18288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338328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91F2B"/>
                </a:solidFill>
                <a:latin typeface="Calibri"/>
              </a:rPr>
              <a:t>The cat is big.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07224" y="46817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E8793"/>
                </a:solidFill>
                <a:latin typeface="Calibri"/>
              </a:rPr>
              <a:t>one sentence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18704" y="5074920"/>
            <a:ext cx="10058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18704" y="517550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B7A5A"/>
                </a:solidFill>
                <a:latin typeface="Calibri"/>
              </a:rPr>
              <a:t>☐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74352" y="1691640"/>
            <a:ext cx="2103120" cy="4023360"/>
          </a:xfrm>
          <a:prstGeom prst="roundRect">
            <a:avLst/>
          </a:prstGeom>
          <a:solidFill>
            <a:srgbClr val="F1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674352" y="1691640"/>
            <a:ext cx="2103120" cy="457200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74352" y="176479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ANSWER 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74352" y="22860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2E3744"/>
                </a:solidFill>
                <a:latin typeface="Calibri"/>
              </a:rPr>
              <a:t>🔎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811512" y="3200400"/>
            <a:ext cx="18288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57232" y="338328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91F2B"/>
                </a:solidFill>
                <a:latin typeface="Calibri"/>
              </a:rPr>
              <a:t>What was missing in the story?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11512" y="46817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E8793"/>
                </a:solidFill>
                <a:latin typeface="Calibri"/>
              </a:rPr>
              <a:t>from the story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222992" y="5074920"/>
            <a:ext cx="10058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222992" y="517550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6B3FA0"/>
                </a:solidFill>
                <a:latin typeface="Calibri"/>
              </a:rPr>
              <a:t>☐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59527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00400" y="594360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Hints are still allowed here. Finishing is what matters.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35661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E3744"/>
                </a:solidFill>
                <a:latin typeface="Calibri"/>
              </a:rPr>
              <a:t>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5661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E3744"/>
                </a:solidFill>
                <a:latin typeface="Calibri"/>
              </a:rPr>
              <a:t>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E3744"/>
                </a:solidFill>
                <a:latin typeface="Calibri"/>
              </a:rPr>
              <a:t>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49377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E3744"/>
                </a:solidFill>
                <a:latin typeface="Calibri"/>
              </a:rPr>
              <a:t>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7315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E3744"/>
                </a:solidFill>
                <a:latin typeface="Calibri"/>
              </a:rPr>
              <a:t>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Georgia"/>
              </a:rPr>
              <a:t>CASTLE READING CHAMPION!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E6C57A"/>
                </a:solidFill>
                <a:latin typeface="Calibri"/>
              </a:rPr>
              <a:t>Look what you did today 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3246120"/>
            <a:ext cx="1783080" cy="1371600"/>
          </a:xfrm>
          <a:prstGeom prst="roundRect">
            <a:avLst/>
          </a:prstGeom>
          <a:solidFill>
            <a:srgbClr val="24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401568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E3744"/>
                </a:solidFill>
                <a:latin typeface="Calibri"/>
              </a:rPr>
              <a:t>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3950208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You read words!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3246120"/>
            <a:ext cx="1783080" cy="1371600"/>
          </a:xfrm>
          <a:prstGeom prst="roundRect">
            <a:avLst/>
          </a:prstGeom>
          <a:solidFill>
            <a:srgbClr val="24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3401568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E3744"/>
                </a:solidFill>
                <a:latin typeface="Calibri"/>
              </a:rPr>
              <a:t>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3950208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You blended sounds!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3246120"/>
            <a:ext cx="1783080" cy="1371600"/>
          </a:xfrm>
          <a:prstGeom prst="roundRect">
            <a:avLst/>
          </a:prstGeom>
          <a:solidFill>
            <a:srgbClr val="24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3401568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E3744"/>
                </a:solidFill>
                <a:latin typeface="Calibri"/>
              </a:rPr>
              <a:t>✏️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6088" y="3950208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You built sentences!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19" y="3246120"/>
            <a:ext cx="1783080" cy="1371600"/>
          </a:xfrm>
          <a:prstGeom prst="roundRect">
            <a:avLst/>
          </a:prstGeom>
          <a:solidFill>
            <a:srgbClr val="24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19" y="3401568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E3744"/>
                </a:solidFill>
                <a:latin typeface="Calibri"/>
              </a:rPr>
              <a:t>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42047" y="3950208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You read a story!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3246120"/>
            <a:ext cx="1783080" cy="1371600"/>
          </a:xfrm>
          <a:prstGeom prst="roundRect">
            <a:avLst/>
          </a:prstGeom>
          <a:solidFill>
            <a:srgbClr val="24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3401568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E3744"/>
                </a:solidFill>
                <a:latin typeface="Calibri"/>
              </a:rPr>
              <a:t>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8" y="3950208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You answered questions!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51760" y="4800600"/>
            <a:ext cx="6858000" cy="1005840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0" y="5029200"/>
            <a:ext cx="6858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Georgia"/>
              </a:rPr>
              <a:t>⭐  "I CAN READ!"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943600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C57A"/>
                </a:solidFill>
                <a:latin typeface="Calibri"/>
              </a:rPr>
              <a:t>READING IS SOMETHING I CAN DO!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19088"/>
            <a:ext cx="11356647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King's Room  |  88–90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68 / 73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🎲 Extra Game Bank — If There Is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523656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King's 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69 / 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45FA6"/>
                </a:solidFill>
                <a:latin typeface="Calibri"/>
              </a:rPr>
              <a:t>Seven spare games. Play any of them, in any order.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737360"/>
            <a:ext cx="2651760" cy="393192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1737360"/>
            <a:ext cx="2651760" cy="457200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81051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GAME 1 — MISSING LETTER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28600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744"/>
                </a:solidFill>
                <a:latin typeface="Calibri"/>
              </a:rPr>
              <a:t>🗝️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91F2B"/>
                </a:solidFill>
                <a:latin typeface="Calibri"/>
              </a:rPr>
              <a:t>Which key finishes the word?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11880"/>
            <a:ext cx="21945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4903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28B0B"/>
                </a:solidFill>
                <a:latin typeface="Calibri"/>
              </a:rPr>
              <a:t>C _ 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389120"/>
            <a:ext cx="21945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52627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28B0B"/>
                </a:solidFill>
                <a:latin typeface="Calibri"/>
              </a:rPr>
              <a:t>A  ·  E  ·  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00984" y="1737360"/>
            <a:ext cx="2651760" cy="3931920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00984" y="1737360"/>
            <a:ext cx="2651760" cy="457200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00984" y="181051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GAME 2 — ROYAL WORD MATCH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00984" y="228600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744"/>
                </a:solidFill>
                <a:latin typeface="Calibri"/>
              </a:rPr>
              <a:t>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83864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91F2B"/>
                </a:solidFill>
                <a:latin typeface="Calibri"/>
              </a:rPr>
              <a:t>Match each word to its picture.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9584" y="3611880"/>
            <a:ext cx="21945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9584" y="374903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8342F"/>
                </a:solidFill>
                <a:latin typeface="Calibri"/>
              </a:rPr>
              <a:t>KING · CROWN · DOOR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9584" y="4389120"/>
            <a:ext cx="21945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9584" y="452627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8342F"/>
                </a:solidFill>
                <a:latin typeface="Calibri"/>
              </a:rPr>
              <a:t>🤴   👑   🚪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1737360"/>
            <a:ext cx="2651760" cy="3931920"/>
          </a:xfrm>
          <a:prstGeom prst="roundRect">
            <a:avLst/>
          </a:prstGeom>
          <a:solidFill>
            <a:srgbClr val="E4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44768" y="1737360"/>
            <a:ext cx="2651760" cy="457200"/>
          </a:xfrm>
          <a:prstGeom prst="round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44768" y="181051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GAME 3 — MIRROR WORD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228600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744"/>
                </a:solidFill>
                <a:latin typeface="Calibri"/>
              </a:rPr>
              <a:t>🪞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91F2B"/>
                </a:solidFill>
                <a:latin typeface="Calibri"/>
              </a:rPr>
              <a:t>Read it, then break it apart.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73368" y="3611880"/>
            <a:ext cx="21945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3368" y="374903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45FA6"/>
                </a:solidFill>
                <a:latin typeface="Calibri"/>
              </a:rPr>
              <a:t>BAG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73368" y="4389120"/>
            <a:ext cx="21945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73368" y="452627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45FA6"/>
                </a:solidFill>
                <a:latin typeface="Calibri"/>
              </a:rPr>
              <a:t>B – A – 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88552" y="1737360"/>
            <a:ext cx="2651760" cy="3931920"/>
          </a:xfrm>
          <a:prstGeom prst="roundRect">
            <a:avLst/>
          </a:prstGeom>
          <a:solidFill>
            <a:srgbClr val="F1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88552" y="1737360"/>
            <a:ext cx="2651760" cy="457200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88552" y="181051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GAME 4 — SENTENCE FIX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88552" y="228600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744"/>
                </a:solidFill>
                <a:latin typeface="Calibri"/>
              </a:rPr>
              <a:t>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71432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91F2B"/>
                </a:solidFill>
                <a:latin typeface="Calibri"/>
              </a:rPr>
              <a:t>Put the words in order.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17152" y="3611880"/>
            <a:ext cx="21945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17152" y="374903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B3FA0"/>
                </a:solidFill>
                <a:latin typeface="Calibri"/>
              </a:rPr>
              <a:t>big / is / king / The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17152" y="4389120"/>
            <a:ext cx="21945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17152" y="452627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B3FA0"/>
                </a:solidFill>
                <a:latin typeface="Calibri"/>
              </a:rPr>
              <a:t>____________________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59527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0" y="594360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Every game uses today's words only. Nothing new to learn.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🎲 Extra Game Bank — Three More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690666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King's 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70 / 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3FA0"/>
                </a:solidFill>
                <a:latin typeface="Calibri"/>
              </a:rPr>
              <a:t>Three more, plus when to use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737360"/>
            <a:ext cx="2651760" cy="3931920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1737360"/>
            <a:ext cx="2651760" cy="457200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81051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GAME 5 — FIND THE WORD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28600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744"/>
                </a:solidFill>
                <a:latin typeface="Calibri"/>
              </a:rPr>
              <a:t>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91F2B"/>
                </a:solidFill>
                <a:latin typeface="Calibri"/>
              </a:rPr>
              <a:t>Point to one word only.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11880"/>
            <a:ext cx="21945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4903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7A5A"/>
                </a:solidFill>
                <a:latin typeface="Calibri"/>
              </a:rPr>
              <a:t>I see a big castle.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389120"/>
            <a:ext cx="21945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52627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7A5A"/>
                </a:solidFill>
                <a:latin typeface="Calibri"/>
              </a:rPr>
              <a:t>Find CASTLE.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00984" y="1737360"/>
            <a:ext cx="2651760" cy="3931920"/>
          </a:xfrm>
          <a:prstGeom prst="round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00984" y="1737360"/>
            <a:ext cx="2651760" cy="457200"/>
          </a:xfrm>
          <a:prstGeom prst="roundRect">
            <a:avLst/>
          </a:prstGeom>
          <a:solidFill>
            <a:srgbClr val="4A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00984" y="181051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GAME 6 — RHYME CASTLE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00984" y="228600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744"/>
                </a:solidFill>
                <a:latin typeface="Calibri"/>
              </a:rPr>
              <a:t>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83864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91F2B"/>
                </a:solidFill>
                <a:latin typeface="Calibri"/>
              </a:rPr>
              <a:t>Which one rhymes?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9584" y="3611880"/>
            <a:ext cx="21945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9584" y="374903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5A73"/>
                </a:solidFill>
                <a:latin typeface="Calibri"/>
              </a:rPr>
              <a:t>HAT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9584" y="4389120"/>
            <a:ext cx="21945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9584" y="452627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5A73"/>
                </a:solidFill>
                <a:latin typeface="Calibri"/>
              </a:rPr>
              <a:t>CAT · BOX · SUN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1737360"/>
            <a:ext cx="2651760" cy="3931920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44768" y="1737360"/>
            <a:ext cx="2651760" cy="457200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44768" y="181051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GAME 7 — REAL OR SILLY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228600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744"/>
                </a:solidFill>
                <a:latin typeface="Calibri"/>
              </a:rPr>
              <a:t>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91F2B"/>
                </a:solidFill>
                <a:latin typeface="Calibri"/>
              </a:rPr>
              <a:t>Which one makes sense?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73368" y="3611880"/>
            <a:ext cx="21945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3368" y="374903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8342F"/>
                </a:solidFill>
                <a:latin typeface="Calibri"/>
              </a:rPr>
              <a:t>The king has a crown.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73368" y="4389120"/>
            <a:ext cx="21945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73368" y="452627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8342F"/>
                </a:solidFill>
                <a:latin typeface="Calibri"/>
              </a:rPr>
              <a:t>The crown eats lunch.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88552" y="1737360"/>
            <a:ext cx="2761488" cy="393192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8972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3FA0"/>
                </a:solidFill>
                <a:latin typeface="Calibri"/>
              </a:rPr>
              <a:t>WHEN TO USE THESE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237744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2E3744"/>
                </a:solidFill>
                <a:latin typeface="Calibri"/>
              </a:rPr>
              <a:t>•  He finishes a mission early.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2E3744"/>
                </a:solidFill>
                <a:latin typeface="Calibri"/>
              </a:rPr>
              <a:t>•  His focus starts to drop.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2E3744"/>
                </a:solidFill>
                <a:latin typeface="Calibri"/>
              </a:rPr>
              <a:t>•  One sound needs more practice.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2E3744"/>
                </a:solidFill>
                <a:latin typeface="Calibri"/>
              </a:rPr>
              <a:t>•  You have five spare minutes.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2E3744"/>
                </a:solidFill>
                <a:latin typeface="Calibri"/>
              </a:rPr>
              <a:t>•  He asks to play one more.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9527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8B0B"/>
                </a:solidFill>
                <a:latin typeface="Calibri"/>
              </a:rPr>
              <a:t>🗝️ CASTLE HINT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594360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F2B"/>
                </a:solidFill>
                <a:latin typeface="Calibri"/>
              </a:rPr>
              <a:t>Stop a game while he is still enjoying it, not after.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4A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🧰 Support System — For the Teacher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857675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King's 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71 / 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5A73"/>
                </a:solidFill>
                <a:latin typeface="Calibri"/>
              </a:rPr>
              <a:t>Levels, the hint ladder, and how to handle a hard sentence.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691640"/>
            <a:ext cx="3566160" cy="2057400"/>
          </a:xfrm>
          <a:prstGeom prst="roundRect">
            <a:avLst/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47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E3744"/>
                </a:solidFill>
                <a:latin typeface="Calibri"/>
              </a:rPr>
              <a:t>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184708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7A5A"/>
                </a:solidFill>
                <a:latin typeface="Calibri"/>
              </a:rPr>
              <a:t>CASTLE HINT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3744"/>
                </a:solidFill>
                <a:latin typeface="Calibri"/>
              </a:rPr>
              <a:t>Needs a picture and a first sound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880360"/>
            <a:ext cx="30175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980944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F2B"/>
                </a:solidFill>
                <a:latin typeface="Calibri"/>
              </a:rPr>
              <a:t>Point at the picture, then the first letter.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1691640"/>
            <a:ext cx="3566160" cy="205740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847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E3744"/>
                </a:solidFill>
                <a:latin typeface="Calibri"/>
              </a:rPr>
              <a:t>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184708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28B0B"/>
                </a:solidFill>
                <a:latin typeface="Calibri"/>
              </a:rPr>
              <a:t>CASTLE MISSION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3744"/>
                </a:solidFill>
                <a:latin typeface="Calibri"/>
              </a:rPr>
              <a:t>Reads it with a little help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2880360"/>
            <a:ext cx="30175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2980944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F2B"/>
                </a:solidFill>
                <a:latin typeface="Calibri"/>
              </a:rPr>
              <a:t>Ask one small question, then go quiet and wait.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1691640"/>
            <a:ext cx="3566160" cy="2057400"/>
          </a:xfrm>
          <a:prstGeom prst="roundRect">
            <a:avLst/>
          </a:prstGeom>
          <a:solidFill>
            <a:srgbClr val="F1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1847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E3744"/>
                </a:solidFill>
                <a:latin typeface="Calibri"/>
              </a:rPr>
              <a:t>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184708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3FA0"/>
                </a:solidFill>
                <a:latin typeface="Calibri"/>
              </a:rPr>
              <a:t>ROYAL CHALLENGE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3744"/>
                </a:solidFill>
                <a:latin typeface="Calibri"/>
              </a:rPr>
              <a:t>Reads it on his own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2880360"/>
            <a:ext cx="30175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2980944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F2B"/>
                </a:solidFill>
                <a:latin typeface="Calibri"/>
              </a:rPr>
              <a:t>Ask him to build a new sentence with the word.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886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5A73"/>
                </a:solidFill>
                <a:latin typeface="Calibri"/>
              </a:rPr>
              <a:t>HINT LADDER — never reveal the answer first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261104"/>
            <a:ext cx="5486400" cy="384048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6928" y="4306824"/>
            <a:ext cx="1097280" cy="292608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43251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HINT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4306824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91F2B"/>
                </a:solidFill>
                <a:latin typeface="Calibri"/>
              </a:rPr>
              <a:t>Look at the first letter.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681728"/>
            <a:ext cx="5486400" cy="384048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66928" y="4727448"/>
            <a:ext cx="1097280" cy="292608"/>
          </a:xfrm>
          <a:prstGeom prst="round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47457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HINT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472744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91F2B"/>
                </a:solidFill>
                <a:latin typeface="Calibri"/>
              </a:rPr>
              <a:t>Say each sound.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102352"/>
            <a:ext cx="5486400" cy="384048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66928" y="5148072"/>
            <a:ext cx="1097280" cy="292608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51663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HINT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14807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91F2B"/>
                </a:solidFill>
                <a:latin typeface="Calibri"/>
              </a:rPr>
              <a:t>Blend the sounds together.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522976"/>
            <a:ext cx="5486400" cy="384048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66928" y="5568696"/>
            <a:ext cx="1097280" cy="292608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55869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HINT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28800" y="556869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91F2B"/>
                </a:solidFill>
                <a:latin typeface="Calibri"/>
              </a:rPr>
              <a:t>Let's read it together.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943600"/>
            <a:ext cx="5486400" cy="384048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66928" y="5989320"/>
            <a:ext cx="1097280" cy="292608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" y="600760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HINT 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98932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91F2B"/>
                </a:solidFill>
                <a:latin typeface="Calibri"/>
              </a:rPr>
              <a:t>I read it, then you read it.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886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45FA6"/>
                </a:solidFill>
                <a:latin typeface="Calibri"/>
              </a:rPr>
              <a:t>A HARD SENTENCE, STEP BY STEP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4315968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2E3744"/>
                </a:solidFill>
                <a:latin typeface="Calibri"/>
              </a:rPr>
              <a:t>•  Read the whole sentence out loud yourself.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2E3744"/>
                </a:solidFill>
                <a:latin typeface="Calibri"/>
              </a:rPr>
              <a:t>•  Point to each word as you read it again.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2E3744"/>
                </a:solidFill>
                <a:latin typeface="Calibri"/>
              </a:rPr>
              <a:t>•  Explain one hard word with a picture.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2E3744"/>
                </a:solidFill>
                <a:latin typeface="Calibri"/>
              </a:rPr>
              <a:t>•  Read it together, at his speed.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2E3744"/>
                </a:solidFill>
                <a:latin typeface="Calibri"/>
              </a:rPr>
              <a:t>•  Let him try one short sentence alone.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2E3744"/>
                </a:solidFill>
                <a:latin typeface="Calibri"/>
              </a:rPr>
              <a:t>•  Praise the effort, not just the answer.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26880" y="3886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7A5A"/>
                </a:solidFill>
                <a:latin typeface="Calibri"/>
              </a:rPr>
              <a:t>SAY THIS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80" y="4315968"/>
            <a:ext cx="2423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1B7A5A"/>
                </a:solidFill>
                <a:latin typeface="Calibri"/>
              </a:rPr>
              <a:t>•  "Good try!"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B7A5A"/>
                </a:solidFill>
                <a:latin typeface="Calibri"/>
              </a:rPr>
              <a:t>•  "Let's unlock this word."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B7A5A"/>
                </a:solidFill>
                <a:latin typeface="Calibri"/>
              </a:rPr>
              <a:t>•  "You found the first sound!"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B7A5A"/>
                </a:solidFill>
                <a:latin typeface="Calibri"/>
              </a:rPr>
              <a:t>•  "Great blending!"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B7A5A"/>
                </a:solidFill>
                <a:latin typeface="Calibri"/>
              </a:rPr>
              <a:t>•  "Try it one more time."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B7A5A"/>
                </a:solidFill>
                <a:latin typeface="Calibri"/>
              </a:rPr>
              <a:t>•  "You solved that clue!"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📋 End-of-Class Assessment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024685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King's 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72 / 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28B0B"/>
                </a:solidFill>
                <a:latin typeface="Calibri"/>
              </a:rPr>
              <a:t>Tick one box per skill right after the lesson.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64208"/>
            <a:ext cx="11292840" cy="384048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700784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SKILL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700784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INDEPENDENT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700784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WITH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1700784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NEEDS MORE PRACTICE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03120"/>
            <a:ext cx="112928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1214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91F2B"/>
                </a:solidFill>
                <a:latin typeface="Calibri"/>
              </a:rPr>
              <a:t>Beginning sounds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1122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1122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21122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423160"/>
            <a:ext cx="11292840" cy="301752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441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91F2B"/>
                </a:solidFill>
                <a:latin typeface="Calibri"/>
              </a:rPr>
              <a:t>Short vowels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24323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24323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4323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743200"/>
            <a:ext cx="112928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27614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91F2B"/>
                </a:solidFill>
                <a:latin typeface="Calibri"/>
              </a:rPr>
              <a:t>CVC words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27523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27523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27523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063239"/>
            <a:ext cx="11292840" cy="301752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081527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91F2B"/>
                </a:solidFill>
                <a:latin typeface="Calibri"/>
              </a:rPr>
              <a:t>Blending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307238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307238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307238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383279"/>
            <a:ext cx="112928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401567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91F2B"/>
                </a:solidFill>
                <a:latin typeface="Calibri"/>
              </a:rPr>
              <a:t>Word families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60" y="339242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339242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55480" y="339242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703320"/>
            <a:ext cx="11292840" cy="301752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37216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91F2B"/>
                </a:solidFill>
                <a:latin typeface="Calibri"/>
              </a:rPr>
              <a:t>Sight words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37124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37124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55480" y="37124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023359"/>
            <a:ext cx="112928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041647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91F2B"/>
                </a:solidFill>
                <a:latin typeface="Calibri"/>
              </a:rPr>
              <a:t>Phrase reading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66360" y="403250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20" y="403250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55480" y="403250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343400"/>
            <a:ext cx="11292840" cy="301752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43616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91F2B"/>
                </a:solidFill>
                <a:latin typeface="Calibri"/>
              </a:rPr>
              <a:t>Sentence reading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66360" y="43525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60920" y="43525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55480" y="43525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4663440"/>
            <a:ext cx="112928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46817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91F2B"/>
                </a:solidFill>
                <a:latin typeface="Calibri"/>
              </a:rPr>
              <a:t>Story reading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66360" y="467258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60920" y="467258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55480" y="467258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983479"/>
            <a:ext cx="11292840" cy="301752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5001767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91F2B"/>
                </a:solidFill>
                <a:latin typeface="Calibri"/>
              </a:rPr>
              <a:t>Sequencing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66360" y="499262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60920" y="499262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55480" y="499262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5303520"/>
            <a:ext cx="112928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" y="53218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91F2B"/>
                </a:solidFill>
                <a:latin typeface="Calibri"/>
              </a:rPr>
              <a:t>Comprehension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66360" y="53126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60920" y="53126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55480" y="53126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8793"/>
                </a:solidFill>
                <a:latin typeface="Calibri"/>
              </a:rPr>
              <a:t>☐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7200" y="5715000"/>
            <a:ext cx="11292840" cy="621792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1520" y="5897880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91F2B"/>
                </a:solidFill>
                <a:latin typeface="Calibri"/>
              </a:rPr>
              <a:t>WORDS TO REVIEW:  ____________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80559" y="5897880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91F2B"/>
                </a:solidFill>
                <a:latin typeface="Calibri"/>
              </a:rPr>
              <a:t>SIGHT WORDS TO REVIEW:  ____________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29600" y="5897880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91F2B"/>
                </a:solidFill>
                <a:latin typeface="Calibri"/>
              </a:rPr>
              <a:t>READING SKILL FOR NEXT CLASS:  ____________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F2B"/>
                </a:solidFill>
                <a:latin typeface="Georgia"/>
              </a:rPr>
              <a:t>🔑 Answer Key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3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🏰 The Magic Castle Reading Quest  |  Grade 2  |  90 min  |  King's 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73 / 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8342F"/>
                </a:solidFill>
                <a:latin typeface="Calibri"/>
              </a:rPr>
              <a:t>For the teacher only.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691640"/>
            <a:ext cx="5440680" cy="201168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1691640"/>
            <a:ext cx="5440680" cy="420624"/>
          </a:xfrm>
          <a:prstGeom prst="roundRect">
            <a:avLst/>
          </a:prstGeom>
          <a:solidFill>
            <a:srgbClr val="C28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746504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SOUNDS AND VOWELS (10–21)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221992"/>
            <a:ext cx="4983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2E3744"/>
                </a:solidFill>
                <a:latin typeface="Calibri"/>
              </a:rPr>
              <a:t>•  Starts with /k/: the key · /b/: the bell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744"/>
                </a:solidFill>
                <a:latin typeface="Calibri"/>
              </a:rPr>
              <a:t>•  Unlock: door · flag · crown · key · bell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744"/>
                </a:solidFill>
                <a:latin typeface="Calibri"/>
              </a:rPr>
              <a:t>•  Vowel sort: A cat, hat · E red ·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744"/>
                </a:solidFill>
                <a:latin typeface="Calibri"/>
              </a:rPr>
              <a:t>      I big · O box, hot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744"/>
                </a:solidFill>
                <a:latin typeface="Calibri"/>
              </a:rPr>
              <a:t>•  Which key: I · O · A · O · 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691640"/>
            <a:ext cx="5440680" cy="201168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1691640"/>
            <a:ext cx="5440680" cy="420624"/>
          </a:xfrm>
          <a:prstGeom prst="roundRect">
            <a:avLst/>
          </a:prstGeom>
          <a:solidFill>
            <a:srgbClr val="24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746504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BLENDING AND FAMILIES (29–39)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21992"/>
            <a:ext cx="4983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2E3744"/>
                </a:solidFill>
                <a:latin typeface="Calibri"/>
              </a:rPr>
              <a:t>•  Mirror: FOX · BOX · CAT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744"/>
                </a:solidFill>
                <a:latin typeface="Calibri"/>
              </a:rPr>
              <a:t>•  Missing letter: O · A · 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744"/>
                </a:solidFill>
                <a:latin typeface="Calibri"/>
              </a:rPr>
              <a:t>•  Spells: HAT · BIG · BOX · SUN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744"/>
                </a:solidFill>
                <a:latin typeface="Calibri"/>
              </a:rPr>
              <a:t>•  Book sort: -AT cat, hat, bat ·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744"/>
                </a:solidFill>
                <a:latin typeface="Calibri"/>
              </a:rPr>
              <a:t>      -UN run, sun, fun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744"/>
                </a:solidFill>
                <a:latin typeface="Calibri"/>
              </a:rPr>
              <a:t>•  Odd one: SUN · BIG · MAP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744"/>
                </a:solidFill>
                <a:latin typeface="Calibri"/>
              </a:rPr>
              <a:t>•  Rhymes: HAT · FOX · SUN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86200"/>
            <a:ext cx="5440680" cy="201168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3886200"/>
            <a:ext cx="5440680" cy="420624"/>
          </a:xfrm>
          <a:prstGeom prst="round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941064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SENTENCES (51–55)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416552"/>
            <a:ext cx="4983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2E3744"/>
                </a:solidFill>
                <a:latin typeface="Calibri"/>
              </a:rPr>
              <a:t>•  Puzzles: I see a cat. · The cat is big.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744"/>
                </a:solidFill>
                <a:latin typeface="Calibri"/>
              </a:rPr>
              <a:t>      My hat is red. · I can run.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744"/>
                </a:solidFill>
                <a:latin typeface="Calibri"/>
              </a:rPr>
              <a:t>•  Picture match: the fox · the crown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744"/>
                </a:solidFill>
                <a:latin typeface="Calibri"/>
              </a:rPr>
              <a:t>•  True or silly: sense · silly · sense · silly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744"/>
                </a:solidFill>
                <a:latin typeface="Calibri"/>
              </a:rPr>
              <a:t>•  Sight words: I, see, a, the, is, my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886200"/>
            <a:ext cx="5440680" cy="2011680"/>
          </a:xfrm>
          <a:prstGeom prst="roundRect">
            <a:avLst/>
          </a:prstGeom>
          <a:solidFill>
            <a:srgbClr val="F1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72200" y="3886200"/>
            <a:ext cx="5440680" cy="420624"/>
          </a:xfrm>
          <a:prstGeom prst="roundRect">
            <a:avLst/>
          </a:prstGeom>
          <a:solidFill>
            <a:srgbClr val="B8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941064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STORY AND QUESTIONS (58–67)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416552"/>
            <a:ext cx="4983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2E3744"/>
                </a:solidFill>
                <a:latin typeface="Calibri"/>
              </a:rPr>
              <a:t>•  Q1 King Ben · Q2 A crown ·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744"/>
                </a:solidFill>
                <a:latin typeface="Calibri"/>
              </a:rPr>
              <a:t>      Q3 Near a box · Q4 He put it on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744"/>
                </a:solidFill>
                <a:latin typeface="Calibri"/>
              </a:rPr>
              <a:t>•  Order: B → C → D → A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744"/>
                </a:solidFill>
                <a:latin typeface="Calibri"/>
              </a:rPr>
              <a:t>•  Evidence: behind a box (Part 4) ·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744"/>
                </a:solidFill>
                <a:latin typeface="Calibri"/>
              </a:rPr>
              <a:t>      Max (Part 3) · Ben smiles (Part 5)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744"/>
                </a:solidFill>
                <a:latin typeface="Calibri"/>
              </a:rPr>
              <a:t>•  Story words: 147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126480"/>
            <a:ext cx="11292840" cy="384048"/>
          </a:xfrm>
          <a:prstGeom prst="roundRect">
            <a:avLst/>
          </a:prstGeom>
          <a:solidFill>
            <a:srgbClr val="FA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6181344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8342F"/>
                </a:solidFill>
                <a:latin typeface="Calibri"/>
              </a:rPr>
              <a:t>Accept any sensible answer for the rhyme challenge, the castle talk and the speaking tasks.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