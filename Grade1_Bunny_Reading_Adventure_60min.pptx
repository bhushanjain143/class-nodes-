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731520"/>
            <a:ext cx="731520" cy="731520"/>
          </a:xfrm>
          <a:prstGeom prst="ellipse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777240"/>
            <a:ext cx="731520" cy="73152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303520"/>
            <a:ext cx="731520" cy="731520"/>
          </a:xfrm>
          <a:prstGeom prst="ellipse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5257800"/>
            <a:ext cx="731520" cy="731520"/>
          </a:xfrm>
          <a:prstGeom prst="ellipse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Bunny's Reading Adventure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4FD"/>
                </a:solidFill>
                <a:latin typeface="Calibri"/>
              </a:rPr>
              <a:t>Grade 1  •  60 Minutes  •  You are the Reading Explorer!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657600"/>
            <a:ext cx="5943600" cy="11430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88620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Bunny needs a reading buddy today.
Are you ready? 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733"/>
                </a:solidFill>
                <a:latin typeface="Calibri"/>
              </a:rPr>
              <a:t>🔤 Sounds  →  🧩 Words  →  📖 Sentences  →  📚 A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40638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Welcome  |  0–5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Meet Bunny and Friends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Meet Bunny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2706624" cy="3017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C62C6"/>
                </a:solidFill>
                <a:latin typeface="Arial Black"/>
              </a:rPr>
              <a:t>Bunny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1463040"/>
            <a:ext cx="2706624" cy="3017520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7A38"/>
                </a:solidFill>
                <a:latin typeface="Arial Black"/>
              </a:rPr>
              <a:t>Bear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463040"/>
            <a:ext cx="2706624" cy="3017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C93"/>
                </a:solidFill>
                <a:latin typeface="Arial Black"/>
              </a:rPr>
              <a:t>Puppy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5712" y="1463040"/>
            <a:ext cx="2706624" cy="30175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1783080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971800"/>
            <a:ext cx="2706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3A6E8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61188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88A"/>
                </a:solidFill>
                <a:latin typeface="Calibri"/>
              </a:rPr>
              <a:t>Loves to nap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11292840" cy="10972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These four friends will help you all class long. Say hello to each one! 👋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Point and Say!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1916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Point &amp; say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Point to each picture and tell me what it 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8308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2697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42C38"/>
                </a:solidFill>
                <a:latin typeface="Calibri"/>
              </a:rPr>
              <a:t>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Apple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279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8853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What is your name?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160520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4279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8853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What is your favorite animal?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73752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9926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001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Do you like stories?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873752"/>
            <a:ext cx="5394960" cy="5943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9926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001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Can you make a bunny sound?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🔤 Letter Sound Warm-Up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62555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Letter sounds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I say the sound → You say the sound. Then I point → You tell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55648"/>
            <a:ext cx="2743200" cy="2029968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E85C86"/>
                </a:solidFill>
                <a:latin typeface="Arial Black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/m/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755648"/>
            <a:ext cx="2743200" cy="202996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6B21B"/>
                </a:solidFill>
                <a:latin typeface="Arial Black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755648"/>
            <a:ext cx="2743200" cy="202996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3F9E5C"/>
                </a:solidFill>
                <a:latin typeface="Arial Black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/t/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tree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755648"/>
            <a:ext cx="2743200" cy="2029968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847088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E85C86"/>
                </a:solidFill>
                <a:latin typeface="Arial Black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20482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6" y="2816352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299008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pig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68496"/>
            <a:ext cx="2743200" cy="2029968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33A6E8"/>
                </a:solidFill>
                <a:latin typeface="Arial Black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/k/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68496"/>
            <a:ext cx="2743200" cy="2029968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07A38"/>
                </a:solidFill>
                <a:latin typeface="Arial Black"/>
              </a:rPr>
              <a:t>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/b/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56432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bear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68496"/>
            <a:ext cx="2743200" cy="2029968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09C93"/>
                </a:solidFill>
                <a:latin typeface="Arial Black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4384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/d/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64224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1384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2904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68496"/>
            <a:ext cx="2743200" cy="2029968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4059936"/>
            <a:ext cx="1188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8C62C6"/>
                </a:solidFill>
                <a:latin typeface="Arial Black"/>
              </a:rP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52176" y="426110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/r/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72016" y="502920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09176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0696" y="5202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560"/>
                </a:solidFill>
                <a:latin typeface="Calibri"/>
              </a:rPr>
              <a:t>rabbit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🎯 Game: Sound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3194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Sound detective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What sound do you hear at the BEGINNING?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/k/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/s/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850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/m/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/b/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22122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2395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/s/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/d/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🎯 Sound Detective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Sound detective  |  5–12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What sound do you hear at the BEGINNING?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/t/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/s/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93976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212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850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703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/b/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/p/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630168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/t/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22122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2395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A.  /d/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B.  /k/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166360"/>
            <a:ext cx="2011680" cy="7315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52852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C.  /m/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12–20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🎵 Sounds Hold Hands: Blending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4472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Blending  |  12–20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3A6E8"/>
                </a:solidFill>
                <a:latin typeface="Arial Black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/k/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5C86"/>
                </a:solidFill>
                <a:latin typeface="Arial Black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103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691640"/>
            <a:ext cx="1737360" cy="16459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10512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F9E5C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10312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691640"/>
            <a:ext cx="2514600" cy="16459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18105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97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3566160" cy="13716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I blend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Listen and follow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31920"/>
            <a:ext cx="356616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We blend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Say it with 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31920"/>
            <a:ext cx="3566160" cy="13716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blend it!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321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🐢 Slow:  /k/ ... /a/ ... /t/        🐇 Fast:  CAT!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12–20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🔤 Game: Build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5111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Build the word  |  12–20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Say each sound, then push them together!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4" y="2011680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288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/a/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011680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901952"/>
            <a:ext cx="1325880" cy="694944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193852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5C86"/>
                </a:solidFill>
                <a:latin typeface="Arial Black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23042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993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901952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751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568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1993392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066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907791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66544" y="3182111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04288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04288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/u/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3182111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77056" y="3072383"/>
            <a:ext cx="1325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6" y="3108959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B21B"/>
                </a:solidFill>
                <a:latin typeface="Arial Black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7056" y="34747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/n/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163823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3072383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145535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127247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7000" y="3163823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23697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078224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1520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/p/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6544" y="4352544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04288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04288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288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/i/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39312" y="4352544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77056" y="4242816"/>
            <a:ext cx="1325880" cy="694944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7056" y="427939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7A38"/>
                </a:solidFill>
                <a:latin typeface="Arial Black"/>
              </a:rPr>
              <a:t>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77056" y="464515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43342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92240" y="4242816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3159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4297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87000" y="4334256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87000" y="44074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248656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20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/d/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66544" y="5522976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04288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04288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4288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/o/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39312" y="5522976"/>
            <a:ext cx="237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A"/>
                </a:solidFill>
                <a:latin typeface="Calibri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77056" y="5413248"/>
            <a:ext cx="1325880" cy="694944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77056" y="54498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C93"/>
                </a:solidFill>
                <a:latin typeface="Arial Black"/>
              </a:rPr>
              <a:t>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77056" y="581558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88A"/>
                </a:solidFill>
                <a:latin typeface="Calibri"/>
              </a:rPr>
              <a:t>/g/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77840" y="55046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7A38"/>
                </a:solidFill>
                <a:latin typeface="Calibri"/>
              </a:rPr>
              <a:t>➡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2240" y="5413248"/>
            <a:ext cx="2468880" cy="69494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54864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35440" y="546811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287000" y="5504688"/>
            <a:ext cx="1280160" cy="5029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87000" y="5577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Word Families — Words That Rhyme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5750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Word families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Change the first sound and you get a brand new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21408" cy="3977639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606040"/>
            <a:ext cx="1389888" cy="502920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53712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mat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11496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7550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sat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1783080"/>
            <a:ext cx="2121408" cy="3977639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2606040"/>
            <a:ext cx="1389888" cy="50292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1783080"/>
            <a:ext cx="2121408" cy="3977639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2606040"/>
            <a:ext cx="1389888" cy="502920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1783080"/>
            <a:ext cx="2121408" cy="3977639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2606040"/>
            <a:ext cx="1389888" cy="502920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big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1783080"/>
            <a:ext cx="2121408" cy="3977639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1965960"/>
            <a:ext cx="21214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0" y="2606040"/>
            <a:ext cx="1389888" cy="502920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2688336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- 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84080" y="3246120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33101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hen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84080" y="3867911"/>
            <a:ext cx="175564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3931919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Calibri"/>
              </a:rPr>
              <a:t>pen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Game: Feed the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Feed the bunny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070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Bunny is hungry! Find the right word and feed it to Bunny.  ⭐ 5 stars to win!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6420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28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84708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18836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59" y="179222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18470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2432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788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80720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8437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SUN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MAT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59" y="275234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2807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8444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749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76732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38039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BIG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371246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37673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HEN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4456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709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72744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7640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RUN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467258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59" y="4727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BAT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504688"/>
            <a:ext cx="112928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669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6875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48840" y="572414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Find  HEN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0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0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LOG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78040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78040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HEN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09759" y="5632704"/>
            <a:ext cx="2103120" cy="585216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59" y="56875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B3560"/>
                </a:solidFill>
                <a:latin typeface="Arial Black"/>
              </a:rPr>
              <a:t>PEN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20–28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Game: Match the Word to the Picture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47028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Match it  |  20–28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 words got mixed up! Match each picture to its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783080"/>
            <a:ext cx="2560320" cy="178308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PIG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93"/>
                </a:solidFill>
                <a:latin typeface="Calibri"/>
              </a:rPr>
              <a:t>Draw a line in the air from each picture to its word! ✏️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Sight Words — Just Know Them!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Sight words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These words we do NOT sound out. We just know them by sight!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148840"/>
            <a:ext cx="1371600" cy="50292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93"/>
                </a:solidFill>
                <a:latin typeface="Arial Black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18688"/>
            <a:ext cx="11292840" cy="137160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630168"/>
            <a:ext cx="1371600" cy="502920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the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C86"/>
                </a:solidFill>
                <a:latin typeface="Arial Black"/>
              </a:rPr>
              <a:t>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0016"/>
            <a:ext cx="11292840" cy="137160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5111496"/>
            <a:ext cx="1371600" cy="502920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Set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C62C6"/>
                </a:solidFill>
                <a:latin typeface="Arial Black"/>
              </a:rPr>
              <a:t>can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C62C6"/>
                </a:solidFill>
                <a:latin typeface="Arial Black"/>
              </a:rPr>
              <a:t>see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Game: Catch the Sight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8306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Catch the word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Careful — the other words look almost the same!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the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this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28–35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👀 Catch the Sight Word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8945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Catch the word  |  28–35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Careful — the other words look almost the same!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85416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58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093976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car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9272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721608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630168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375818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man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11292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30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C93"/>
                </a:solidFill>
                <a:latin typeface="Calibri"/>
              </a:rPr>
              <a:t>Find  see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sea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saw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5166360"/>
            <a:ext cx="1783080" cy="73152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2943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560"/>
                </a:solidFill>
                <a:latin typeface="Calibri"/>
              </a:rPr>
              <a:t>so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35–38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🐰 Brain Break: Bunny Says!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Bunny says  |  35–38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Do it only if Bunny says! Stay by your desk. 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00253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391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touch your nose.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78308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200253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5740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0391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clap 3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34639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054095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0895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90671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hop like a bunny.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834639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0" y="3054095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10895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090671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point to the letter 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8620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410565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605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make the /m/ sound.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886200"/>
            <a:ext cx="3977639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46320" y="4105656"/>
            <a:ext cx="438912" cy="438912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1605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41422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Bunny says read the word CAT.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1783080"/>
            <a:ext cx="2834640" cy="32461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1938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Point to these: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39572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24688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03580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31089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675887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3749039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CAT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315968"/>
            <a:ext cx="23774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4389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560"/>
                </a:solidFill>
                <a:latin typeface="Arial Black"/>
              </a:rPr>
              <a:t>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93"/>
                </a:solidFill>
                <a:latin typeface="Calibri"/>
              </a:rPr>
              <a:t>🎵 Fast and silly — three minutes only, then back to reading!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📖 Now We Read Sentences!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0223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37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6596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B3560"/>
                </a:solidFill>
                <a:latin typeface="Arial Black"/>
              </a:rPr>
              <a:t>I am Sam.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3566160" cy="13716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I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77639"/>
            <a:ext cx="3566160" cy="137160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560"/>
                </a:solidFill>
                <a:latin typeface="Calibri"/>
              </a:rPr>
              <a:t>We read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3560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977639"/>
            <a:ext cx="3566160" cy="1371600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7A38"/>
                </a:solidFill>
                <a:latin typeface="Calibri"/>
              </a:rPr>
              <a:t>👉 Point under each word as you read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🤝 Read With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0862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see a 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The dog is big.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38–45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⭐ Your Turn to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Sentences  |  38–45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FD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can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560"/>
                </a:solidFill>
                <a:latin typeface="Arial Black"/>
              </a:rPr>
              <a:t>I see the sun.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🔎 Game: Read and Find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72140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Read &amp; find  |  45–50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Look at the park. Read the sentence, then find it in the picture!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64208"/>
            <a:ext cx="5760720" cy="416052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24528"/>
            <a:ext cx="5760720" cy="160020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05740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9768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160520"/>
            <a:ext cx="1188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🌳 The Park — can you find the dog?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783080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208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The dog is big.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1947672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20025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834639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072383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I see the sun.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2999231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305409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886200"/>
            <a:ext cx="5303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1239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3560"/>
                </a:solidFill>
                <a:latin typeface="Calibri"/>
              </a:rPr>
              <a:t>The cat is on the mat.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0" y="4050792"/>
            <a:ext cx="914400" cy="56692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41056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983480"/>
            <a:ext cx="5303520" cy="82296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1389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560"/>
                </a:solidFill>
                <a:latin typeface="Calibri"/>
              </a:rPr>
              <a:t>Which sentence tells us about the dog?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C6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VOCAB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Story Words — Get Ready for Bunny's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Story words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These words are in Bunny's story. Let's meet them first!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bunny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bun - ny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Bunny can hop.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p - ar - 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see the park.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dog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d - o - 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The dog is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691640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ball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b - 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6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see a ball.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r - e - 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My ball is 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0712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r - u - 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56432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can run.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504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play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4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p - l - ay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4224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We can play.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77639"/>
            <a:ext cx="2743200" cy="2103120"/>
          </a:xfrm>
          <a:prstGeom prst="roundRect">
            <a:avLst/>
          </a:prstGeom>
          <a:solidFill>
            <a:srgbClr val="F0E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6296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6296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C62C6"/>
                </a:solidFill>
                <a:latin typeface="Arial Black"/>
              </a:rPr>
              <a:t>happy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6296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88A"/>
                </a:solidFill>
                <a:latin typeface="Calibri"/>
              </a:rPr>
              <a:t>hap - 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72016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Bunny is happy.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3418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1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goes to the park.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sun is big.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can hop.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sees a dog.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is big.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4057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2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has a red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runs to the dog.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"Can I play?" says Bunny.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"Yes!" says the dog.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can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50–56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📚 Bunny Goes to the Park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4696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Part 3  |  50–56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6276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They play with the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can run and hop.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It is a fun day!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Bunny is happy.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Calibri"/>
              </a:rPr>
              <a:t>The dog is happy too.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1️⃣  I read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2️⃣  We read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560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56–58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🧩 Story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Comprehension  |  56–58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17320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1874520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8928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Where does Bunny go?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School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73352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44952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502152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753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520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What does the dog have?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ball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book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300984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 hat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672584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" y="5129784"/>
            <a:ext cx="548640" cy="54864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20293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1480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0"/>
                </a:solidFill>
                <a:latin typeface="Calibri"/>
              </a:rPr>
              <a:t>How does Bunny feel?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Happy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Sad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4928616"/>
            <a:ext cx="2011680" cy="960120"/>
          </a:xfrm>
          <a:prstGeom prst="roundRect">
            <a:avLst/>
          </a:prstGeom>
          <a:solidFill>
            <a:srgbClr val="FD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Angry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⭐ Reading Superhero Challenge!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5974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Final challenge  |  58–60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Read as many as you can. Every one counts! 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8288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3 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286000"/>
            <a:ext cx="3383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468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7A38"/>
                </a:solidFill>
                <a:latin typeface="Arial Black"/>
              </a:rPr>
              <a:t>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11292840" cy="1965960"/>
          </a:xfrm>
          <a:prstGeom prst="roundRect">
            <a:avLst/>
          </a:prstGeom>
          <a:solidFill>
            <a:srgbClr val="D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560"/>
                </a:solidFill>
                <a:latin typeface="Calibri"/>
              </a:rPr>
              <a:t>1 SENTENCE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43400"/>
            <a:ext cx="10652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17720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3560"/>
                </a:solidFill>
                <a:latin typeface="Arial Black"/>
              </a:rPr>
              <a:t>I see a dog.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5806440"/>
            <a:ext cx="2423160" cy="457200"/>
          </a:xfrm>
          <a:prstGeom prst="round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8795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3560"/>
                </a:solidFill>
                <a:latin typeface="Calibri"/>
              </a:rPr>
              <a:t>⭐ Every one counts!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F0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58–60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✅ Today I Can...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56613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Recap  |  58–60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Say letter sounds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2356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Blend sounds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0" y="170992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8379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51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2880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sentences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356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Read a 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70332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18320" y="3904488"/>
            <a:ext cx="822960" cy="822960"/>
          </a:xfrm>
          <a:prstGeom prst="ellipse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0325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9E5C"/>
                </a:solidFill>
                <a:latin typeface="Calibri"/>
              </a:rPr>
              <a:t>Answer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A38"/>
                </a:solidFill>
                <a:latin typeface="Calibri"/>
              </a:rPr>
              <a:t>🗣️ What was your favorite game today? What word do you remember?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777240"/>
            <a:ext cx="731520" cy="731520"/>
          </a:xfrm>
          <a:prstGeom prst="ellipse">
            <a:avLst/>
          </a:prstGeom>
          <a:solidFill>
            <a:srgbClr val="33A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77240"/>
            <a:ext cx="731520" cy="731520"/>
          </a:xfrm>
          <a:prstGeom prst="ellipse">
            <a:avLst/>
          </a:prstGeom>
          <a:solidFill>
            <a:srgbClr val="E8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3F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12080"/>
            <a:ext cx="731520" cy="731520"/>
          </a:xfrm>
          <a:prstGeom prst="ellipse">
            <a:avLst/>
          </a:prstGeom>
          <a:solidFill>
            <a:srgbClr val="F6B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C733"/>
                </a:solidFill>
                <a:latin typeface="Georgia"/>
              </a:rPr>
              <a:t>🏅 READING SUPERSTAR 🏅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783080"/>
            <a:ext cx="2286000" cy="2286000"/>
          </a:xfrm>
          <a:prstGeom prst="ellipse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2402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42C38"/>
                </a:solidFill>
                <a:latin typeface="Calibri"/>
              </a:rPr>
              <a:t>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Great job, Reading Explorer!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You helped Bunny finish every reading challenge!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68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3F4FD"/>
                </a:solidFill>
                <a:latin typeface="Calibri"/>
              </a:rPr>
              <a:t>Sounds ⭐ Words ⭐ Sentences ⭐ A Whole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1097252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Badge  |  58–60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📋 How Did We Do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37891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ONLY — do not show this slide to the child. Record progress, not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42062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3736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645920"/>
            <a:ext cx="21488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Emerging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645920"/>
            <a:ext cx="21488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73736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45920"/>
            <a:ext cx="2377440" cy="457200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3736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194560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Letter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194560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194560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94560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2677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761488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85292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Blending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761488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834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761488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2834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761488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328415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19855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328415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401567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3328415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401567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328415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40156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895344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98678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Sight words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895344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9684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3895344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39684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3895344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9684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4462272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55371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0" y="4462272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453542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4462272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453542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26880" y="4462272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0" y="45354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029200"/>
            <a:ext cx="42062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12064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Comprehension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54880" y="5029200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51023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40880" y="5029200"/>
            <a:ext cx="21488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510235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26880" y="5029200"/>
            <a:ext cx="2377440" cy="493776"/>
          </a:xfrm>
          <a:prstGeom prst="roundRect">
            <a:avLst/>
          </a:prstGeom>
          <a:solidFill>
            <a:srgbClr val="E3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0" y="5102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596127"/>
            <a:ext cx="42062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687567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560"/>
                </a:solidFill>
                <a:latin typeface="Calibri"/>
              </a:rPr>
              <a:t>Confidence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54880" y="5596127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56692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40880" y="5596127"/>
            <a:ext cx="21488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56692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26880" y="5596127"/>
            <a:ext cx="237744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56692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88A"/>
                </a:solidFill>
                <a:latin typeface="Calibri"/>
              </a:rPr>
              <a:t>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NOT SHOW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🔑 Teacher Answer Key — 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8530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ANSWER KEY — DO NOT SHOW STUDENT. Hide this slide before presenting.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C86"/>
                </a:solidFill>
                <a:latin typeface="Calibri"/>
              </a:rPr>
              <a:t>🎯 Phonics &amp; Blending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1. CAT = /k/  (B)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2. MAP = /m/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3. SUN = /s/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4. TREE = /t/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5. PIG = /p/  (B)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Detective 6. DOG = /d/  (A)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the Word: MAT, SUN, PIG, 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Letter sounds: m s t p c b d 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C93"/>
                </a:solidFill>
                <a:latin typeface="Calibri"/>
              </a:rPr>
              <a:t>🐰 Word &amp; Sight Word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Feed the Bunny: CAT, SUN, DOG, PIG, HEN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Match the Word: cat=CAT, sun=SUN,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pig=PIG, dog=DOG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1. I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2. am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3. the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4. can (1st)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5. my (2nd)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Catch the Sight Word 6. see (2nd)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 NOT SHOW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560"/>
                </a:solidFill>
                <a:latin typeface="Georgia"/>
              </a:rPr>
              <a:t>🔑 Teacher Answer Key — 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🐰 Bunny's Reading Adventure  |  Grade 1  |  60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7A38"/>
                </a:solidFill>
                <a:latin typeface="Calibri"/>
              </a:rPr>
              <a:t>TEACHER ANSWER KEY — DO NOT SHOW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A6E8"/>
                </a:solidFill>
                <a:latin typeface="Calibri"/>
              </a:rPr>
              <a:t>📖 Sentences &amp; Read and 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Sentences taught: I am Sam. / I see a cat. 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The dog is big. / I can run. 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My cat is red. / I see the sun.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Read &amp; Find scene: sun, tree, dog, ball, cat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"The dog is big." → the dog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"I see the sun." → the sun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"The cat is on the mat." → the cat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Final challenge: CAT, SUN, DOG,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"I see a dog."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9E5C"/>
                </a:solidFill>
                <a:latin typeface="Calibri"/>
              </a:rPr>
              <a:t>📚 Story &amp; Comprehension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Story: "Bunny Goes to the Park" (61 words)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Q1. Where does Bunny go?  →  B. Park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Q2. What does the dog have?  →  A. A ball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Q3. How does Bunny feel?  →  A. Happy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Story words: bunny, park, dog, ball,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red, run, play, happy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Accept any reasonable spoken phrasing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for the comprehension answers.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