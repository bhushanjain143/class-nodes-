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" y="731520"/>
            <a:ext cx="731520" cy="731520"/>
          </a:xfrm>
          <a:prstGeom prst="ellipse">
            <a:avLst/>
          </a:prstGeom>
          <a:solidFill>
            <a:srgbClr val="33A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27080" y="777240"/>
            <a:ext cx="731520" cy="731520"/>
          </a:xfrm>
          <a:prstGeom prst="ellipse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5303520"/>
            <a:ext cx="731520" cy="731520"/>
          </a:xfrm>
          <a:prstGeom prst="ellipse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81360" y="5257800"/>
            <a:ext cx="731520" cy="731520"/>
          </a:xfrm>
          <a:prstGeom prst="ellipse">
            <a:avLst/>
          </a:prstGeom>
          <a:solidFill>
            <a:srgbClr val="F6B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972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0">
                <a:solidFill>
                  <a:srgbClr val="242C38"/>
                </a:solidFill>
                <a:latin typeface="Calibri"/>
              </a:rPr>
              <a:t>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Georgia"/>
              </a:rPr>
              <a:t>Bunny's Reading Adventure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71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3F4FD"/>
                </a:solidFill>
                <a:latin typeface="Calibri"/>
              </a:rPr>
              <a:t>Grade 1  •  60 Minutes  •  You are the Reading Explorer!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3657600"/>
            <a:ext cx="5943600" cy="1143000"/>
          </a:xfrm>
          <a:prstGeom prst="roundRect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3886200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Bunny needs a reading buddy today.
Are you ready? 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C733"/>
                </a:solidFill>
                <a:latin typeface="Calibri"/>
              </a:rPr>
              <a:t>🔤 Sounds  →  🧩 Words  →  📖 Sentences  →  📚 A 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419088"/>
            <a:ext cx="406389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Welcome  |  0–5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 / 30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MEET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0–5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🐰 Meet Bunny and Friends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812779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Meet Bunny  |  0–5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 /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463040"/>
            <a:ext cx="2706624" cy="3017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783080"/>
            <a:ext cx="27066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>
                <a:solidFill>
                  <a:srgbClr val="242C38"/>
                </a:solidFill>
                <a:latin typeface="Calibri"/>
              </a:rPr>
              <a:t>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71800"/>
            <a:ext cx="27066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8C62C6"/>
                </a:solidFill>
                <a:latin typeface="Arial Black"/>
              </a:rPr>
              <a:t>Bunny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611880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88A"/>
                </a:solidFill>
                <a:latin typeface="Calibri"/>
              </a:rPr>
              <a:t>Loves to hop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46704" y="1463040"/>
            <a:ext cx="2706624" cy="3017520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46704" y="1783080"/>
            <a:ext cx="27066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>
                <a:solidFill>
                  <a:srgbClr val="242C38"/>
                </a:solidFill>
                <a:latin typeface="Calibri"/>
              </a:rPr>
              <a:t>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6704" y="2971800"/>
            <a:ext cx="27066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07A38"/>
                </a:solidFill>
                <a:latin typeface="Arial Black"/>
              </a:rPr>
              <a:t>Bear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864" y="3611880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88A"/>
                </a:solidFill>
                <a:latin typeface="Calibri"/>
              </a:rPr>
              <a:t>Loves stories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463040"/>
            <a:ext cx="2706624" cy="3017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8" y="1783080"/>
            <a:ext cx="27066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8" y="2971800"/>
            <a:ext cx="27066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09C93"/>
                </a:solidFill>
                <a:latin typeface="Arial Black"/>
              </a:rPr>
              <a:t>Puppy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3611880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88A"/>
                </a:solidFill>
                <a:latin typeface="Calibri"/>
              </a:rPr>
              <a:t>Loves to run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25712" y="1463040"/>
            <a:ext cx="2706624" cy="3017520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5712" y="1783080"/>
            <a:ext cx="27066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5712" y="2971800"/>
            <a:ext cx="27066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33A6E8"/>
                </a:solidFill>
                <a:latin typeface="Arial Black"/>
              </a:rPr>
              <a:t>Cat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2872" y="3611880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88A"/>
                </a:solidFill>
                <a:latin typeface="Calibri"/>
              </a:rPr>
              <a:t>Loves to nap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709160"/>
            <a:ext cx="11292840" cy="1097280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93776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These four friends will help you all class long. Say hello to each one! 👋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WARM-UP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0–5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👀 Point and Say!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1219169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Point &amp; say  |  0–5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8016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07A38"/>
                </a:solidFill>
                <a:latin typeface="Calibri"/>
              </a:rPr>
              <a:t>Point to each picture and tell me what it 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1783080"/>
            <a:ext cx="269748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011680"/>
            <a:ext cx="2697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15468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B3560"/>
                </a:solidFill>
                <a:latin typeface="Arial Black"/>
              </a:rPr>
              <a:t>Dog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3280" y="1783080"/>
            <a:ext cx="269748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2011680"/>
            <a:ext cx="2697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15468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B3560"/>
                </a:solidFill>
                <a:latin typeface="Arial Black"/>
              </a:rPr>
              <a:t>Cat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783080"/>
            <a:ext cx="269748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2011680"/>
            <a:ext cx="2697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15468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B3560"/>
                </a:solidFill>
                <a:latin typeface="Arial Black"/>
              </a:rPr>
              <a:t>Sun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1783080"/>
            <a:ext cx="269748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2011680"/>
            <a:ext cx="2697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>
                <a:solidFill>
                  <a:srgbClr val="242C38"/>
                </a:solidFill>
                <a:latin typeface="Calibri"/>
              </a:rPr>
              <a:t>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15468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B3560"/>
                </a:solidFill>
                <a:latin typeface="Arial Black"/>
              </a:rPr>
              <a:t>Apple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160520"/>
            <a:ext cx="5394960" cy="59436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4279392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42C38"/>
                </a:solidFill>
                <a:latin typeface="Calibri"/>
              </a:rPr>
              <a:t>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4288536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560"/>
                </a:solidFill>
                <a:latin typeface="Calibri"/>
              </a:rPr>
              <a:t>What is your name?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4160520"/>
            <a:ext cx="5394960" cy="59436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3368" y="4279392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42C38"/>
                </a:solidFill>
                <a:latin typeface="Calibri"/>
              </a:rPr>
              <a:t>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4288536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560"/>
                </a:solidFill>
                <a:latin typeface="Calibri"/>
              </a:rPr>
              <a:t>What is your favorite animal?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873752"/>
            <a:ext cx="5394960" cy="59436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4992624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42C38"/>
                </a:solidFill>
                <a:latin typeface="Calibri"/>
              </a:rPr>
              <a:t>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001768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560"/>
                </a:solidFill>
                <a:latin typeface="Calibri"/>
              </a:rPr>
              <a:t>Do you like stories?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4873752"/>
            <a:ext cx="5394960" cy="59436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3368" y="4992624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42C38"/>
                </a:solidFill>
                <a:latin typeface="Calibri"/>
              </a:rPr>
              <a:t>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5001768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560"/>
                </a:solidFill>
                <a:latin typeface="Calibri"/>
              </a:rPr>
              <a:t>Can you make a bunny sound?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PHONICS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5–12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🔤 Letter Sound Warm-Up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1625559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Letter sounds  |  5–12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4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I say the sound → You say the sound. Then I point → You tell me!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755648"/>
            <a:ext cx="2743200" cy="2029968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1847088"/>
            <a:ext cx="1188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E85C86"/>
                </a:solidFill>
                <a:latin typeface="Arial Black"/>
              </a:rPr>
              <a:t>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048256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/m/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816352"/>
            <a:ext cx="246888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95351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🗺️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299008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B3560"/>
                </a:solidFill>
                <a:latin typeface="Calibri"/>
              </a:rPr>
              <a:t>map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9272" y="1755648"/>
            <a:ext cx="2743200" cy="2029968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29000" y="1847088"/>
            <a:ext cx="1188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F6B21B"/>
                </a:solidFill>
                <a:latin typeface="Arial Black"/>
              </a:rPr>
              <a:t>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2048256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/s/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56432" y="2816352"/>
            <a:ext cx="246888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93592" y="295351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5112" y="299008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B3560"/>
                </a:solidFill>
                <a:latin typeface="Calibri"/>
              </a:rPr>
              <a:t>sun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27064" y="1755648"/>
            <a:ext cx="2743200" cy="2029968"/>
          </a:xfrm>
          <a:prstGeom prst="round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6792" y="1847088"/>
            <a:ext cx="1188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3F9E5C"/>
                </a:solidFill>
                <a:latin typeface="Arial Black"/>
              </a:rPr>
              <a:t>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44384" y="2048256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/t/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64224" y="2816352"/>
            <a:ext cx="246888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4" y="295351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32904" y="299008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B3560"/>
                </a:solidFill>
                <a:latin typeface="Calibri"/>
              </a:rPr>
              <a:t>tree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34856" y="1755648"/>
            <a:ext cx="2743200" cy="2029968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44584" y="1847088"/>
            <a:ext cx="1188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E85C86"/>
                </a:solidFill>
                <a:latin typeface="Arial Black"/>
              </a:rPr>
              <a:t>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52176" y="2048256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/p/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72016" y="2816352"/>
            <a:ext cx="246888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09176" y="295351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0696" y="299008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B3560"/>
                </a:solidFill>
                <a:latin typeface="Calibri"/>
              </a:rPr>
              <a:t>pig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3968496"/>
            <a:ext cx="2743200" cy="2029968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4059936"/>
            <a:ext cx="1188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33A6E8"/>
                </a:solidFill>
                <a:latin typeface="Arial Black"/>
              </a:rPr>
              <a:t>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4261104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/k/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029200"/>
            <a:ext cx="246888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166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5202936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B3560"/>
                </a:solidFill>
                <a:latin typeface="Calibri"/>
              </a:rPr>
              <a:t>cat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19272" y="3968496"/>
            <a:ext cx="2743200" cy="2029968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29000" y="4059936"/>
            <a:ext cx="1188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F07A38"/>
                </a:solidFill>
                <a:latin typeface="Arial Black"/>
              </a:rPr>
              <a:t>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36592" y="4261104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/b/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56432" y="5029200"/>
            <a:ext cx="246888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93592" y="5166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25112" y="5202936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B3560"/>
                </a:solidFill>
                <a:latin typeface="Calibri"/>
              </a:rPr>
              <a:t>bear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27064" y="3968496"/>
            <a:ext cx="2743200" cy="2029968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36792" y="4059936"/>
            <a:ext cx="1188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009C93"/>
                </a:solidFill>
                <a:latin typeface="Arial Black"/>
              </a:rPr>
              <a:t>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44384" y="4261104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/d/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64224" y="5029200"/>
            <a:ext cx="246888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01384" y="5166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32904" y="5202936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B3560"/>
                </a:solidFill>
                <a:latin typeface="Calibri"/>
              </a:rPr>
              <a:t>dog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134856" y="3968496"/>
            <a:ext cx="2743200" cy="2029968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44584" y="4059936"/>
            <a:ext cx="1188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8C62C6"/>
                </a:solidFill>
                <a:latin typeface="Arial Black"/>
              </a:rPr>
              <a:t>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52176" y="4261104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/r/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272016" y="5029200"/>
            <a:ext cx="246888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409176" y="5166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40696" y="5202936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B3560"/>
                </a:solidFill>
                <a:latin typeface="Calibri"/>
              </a:rPr>
              <a:t>rabbit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5–12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🎯 Game: Sound Detective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2031949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Sound detective  |  5–12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5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07A38"/>
                </a:solidFill>
                <a:latin typeface="Calibri"/>
              </a:rPr>
              <a:t>What sound do you hear at the BEGINNING?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83080"/>
            <a:ext cx="1129284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2185416"/>
            <a:ext cx="548640" cy="548640"/>
          </a:xfrm>
          <a:prstGeom prst="ellipse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25856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1488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2167128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560"/>
                </a:solidFill>
                <a:latin typeface="Arial Black"/>
              </a:rPr>
              <a:t>CAT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2093976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0" y="221284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A.  /m/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093976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60920" y="221284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B.  /k/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0" y="2093976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221284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C.  /s/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319272"/>
            <a:ext cx="1129284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5800" y="3721608"/>
            <a:ext cx="548640" cy="548640"/>
          </a:xfrm>
          <a:prstGeom prst="ellipse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7947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3685032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242C38"/>
                </a:solidFill>
                <a:latin typeface="Calibri"/>
              </a:rPr>
              <a:t>🗺️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60320" y="37033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560"/>
                </a:solidFill>
                <a:latin typeface="Arial Black"/>
              </a:rPr>
              <a:t>MAP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20640" y="3630168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749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A.  /m/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60920" y="3630168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60920" y="3749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B.  /p/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01200" y="3630168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0" y="3749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C.  /b/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855464"/>
            <a:ext cx="1129284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85800" y="5257800"/>
            <a:ext cx="548640" cy="548640"/>
          </a:xfrm>
          <a:prstGeom prst="ellipse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33095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63040" y="5221224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60320" y="523951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560"/>
                </a:solidFill>
                <a:latin typeface="Arial Black"/>
              </a:rPr>
              <a:t>SUN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120640" y="5166360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20640" y="528523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A.  /s/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60920" y="5166360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60920" y="528523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B.  /p/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601200" y="5166360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01200" y="528523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C.  /d/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5–12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🎯 Sound Detective — Round 2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2438339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Sound detective  |  5–12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6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07A38"/>
                </a:solidFill>
                <a:latin typeface="Calibri"/>
              </a:rPr>
              <a:t>What sound do you hear at the BEGINNING?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83080"/>
            <a:ext cx="1129284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2185416"/>
            <a:ext cx="548640" cy="548640"/>
          </a:xfrm>
          <a:prstGeom prst="ellipse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25856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1488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242C38"/>
                </a:solidFill>
                <a:latin typeface="Calibri"/>
              </a:rPr>
              <a:t>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2167128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560"/>
                </a:solidFill>
                <a:latin typeface="Arial Black"/>
              </a:rPr>
              <a:t>TREE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2093976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0" y="221284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A.  /t/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093976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60920" y="221284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B.  /s/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0" y="2093976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221284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C.  /m/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319272"/>
            <a:ext cx="1129284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5800" y="3721608"/>
            <a:ext cx="548640" cy="548640"/>
          </a:xfrm>
          <a:prstGeom prst="ellipse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7947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3685032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242C38"/>
                </a:solidFill>
                <a:latin typeface="Calibri"/>
              </a:rPr>
              <a:t>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60320" y="37033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560"/>
                </a:solidFill>
                <a:latin typeface="Arial Black"/>
              </a:rPr>
              <a:t>PIG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20640" y="3630168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749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A.  /b/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60920" y="3630168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60920" y="3749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B.  /p/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01200" y="3630168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0" y="3749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C.  /t/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855464"/>
            <a:ext cx="1129284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85800" y="5257800"/>
            <a:ext cx="548640" cy="548640"/>
          </a:xfrm>
          <a:prstGeom prst="ellipse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33095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63040" y="5221224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60320" y="523951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560"/>
                </a:solidFill>
                <a:latin typeface="Arial Black"/>
              </a:rPr>
              <a:t>DOG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120640" y="5166360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20640" y="528523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A.  /d/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60920" y="5166360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60920" y="528523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B.  /k/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601200" y="5166360"/>
            <a:ext cx="2011680" cy="7315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01200" y="528523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C.  /m/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PHONICS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12–20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🎵 Sounds Hold Hands: Blending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2844728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Blending  |  12–20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7 /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371600"/>
            <a:ext cx="1129284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34440" y="1691640"/>
            <a:ext cx="1737360" cy="1645920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1810512"/>
            <a:ext cx="1737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33A6E8"/>
                </a:solidFill>
                <a:latin typeface="Arial Black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6974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/k/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9232" y="2103120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6B788A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1691640"/>
            <a:ext cx="1737360" cy="1645920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0440" y="1810512"/>
            <a:ext cx="1737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E85C86"/>
                </a:solidFill>
                <a:latin typeface="Arial Black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974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/a/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85232" y="2103120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6B788A"/>
                </a:solidFill>
                <a:latin typeface="Calibr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06440" y="1691640"/>
            <a:ext cx="1737360" cy="1645920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6440" y="1810512"/>
            <a:ext cx="1737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3F9E5C"/>
                </a:solidFill>
                <a:latin typeface="Arial Black"/>
              </a:rPr>
              <a:t>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26974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/t/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2103120"/>
            <a:ext cx="731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07A38"/>
                </a:solidFill>
                <a:latin typeface="Calibri"/>
              </a:rPr>
              <a:t>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9680" y="1691640"/>
            <a:ext cx="2514600" cy="1645920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0" y="1810512"/>
            <a:ext cx="2514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1B3560"/>
                </a:solidFill>
                <a:latin typeface="Arial Black"/>
              </a:rPr>
              <a:t>CAT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269748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931920"/>
            <a:ext cx="3566160" cy="1371600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05993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1️⃣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4988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B3560"/>
                </a:solidFill>
                <a:latin typeface="Calibri"/>
              </a:rPr>
              <a:t>I blend 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901184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B3560"/>
                </a:solidFill>
                <a:latin typeface="Calibri"/>
              </a:rPr>
              <a:t>Listen and follow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0" y="3931920"/>
            <a:ext cx="3566160" cy="137160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405993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2️⃣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4988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B3560"/>
                </a:solidFill>
                <a:latin typeface="Calibri"/>
              </a:rPr>
              <a:t>We blend 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34840" y="4901184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B3560"/>
                </a:solidFill>
                <a:latin typeface="Calibri"/>
              </a:rPr>
              <a:t>Say it with me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2440" y="3931920"/>
            <a:ext cx="3566160" cy="1371600"/>
          </a:xfrm>
          <a:prstGeom prst="roundRect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0" y="405993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3️⃣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44988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YOU blend it!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4901184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Your turn 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5532120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07A38"/>
                </a:solidFill>
                <a:latin typeface="Calibri"/>
              </a:rPr>
              <a:t>🐢 Slow:  /k/ ... /a/ ... /t/        🐇 Fast:  CAT!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3A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33A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12–20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🔤 Game: Build the Word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3251118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Build the word  |  12–20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8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Say each sound, then push them together!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37360"/>
            <a:ext cx="11292840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1901952"/>
            <a:ext cx="1325880" cy="694944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1938528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85C86"/>
                </a:solidFill>
                <a:latin typeface="Arial Black"/>
              </a:rPr>
              <a:t>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30428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88A"/>
                </a:solidFill>
                <a:latin typeface="Calibri"/>
              </a:rPr>
              <a:t>/m/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66544" y="2011680"/>
            <a:ext cx="237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88A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04288" y="1901952"/>
            <a:ext cx="1325880" cy="694944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04288" y="1938528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85C86"/>
                </a:solidFill>
                <a:latin typeface="Arial Black"/>
              </a:rPr>
              <a:t>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4288" y="230428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88A"/>
                </a:solidFill>
                <a:latin typeface="Calibri"/>
              </a:rPr>
              <a:t>/a/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011680"/>
            <a:ext cx="237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88A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77056" y="1901952"/>
            <a:ext cx="1325880" cy="694944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77056" y="1938528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85C86"/>
                </a:solidFill>
                <a:latin typeface="Arial Black"/>
              </a:rPr>
              <a:t>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77056" y="230428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88A"/>
                </a:solidFill>
                <a:latin typeface="Calibri"/>
              </a:rPr>
              <a:t>/t/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77840" y="1993392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07A38"/>
                </a:solidFill>
                <a:latin typeface="Calibri"/>
              </a:rPr>
              <a:t>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1901952"/>
            <a:ext cx="2468880" cy="694944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1975104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B3560"/>
                </a:solidFill>
                <a:latin typeface="Arial Black"/>
              </a:rPr>
              <a:t>MAT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195681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87000" y="1993392"/>
            <a:ext cx="1280160" cy="5029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87000" y="2066544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42C38"/>
                </a:solidFill>
                <a:latin typeface="Calibri"/>
              </a:rPr>
              <a:t>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2907791"/>
            <a:ext cx="11292840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31520" y="3072383"/>
            <a:ext cx="1325880" cy="694944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108959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6B21B"/>
                </a:solidFill>
                <a:latin typeface="Arial Black"/>
              </a:rPr>
              <a:t>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34747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88A"/>
                </a:solidFill>
                <a:latin typeface="Calibri"/>
              </a:rPr>
              <a:t>/s/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66544" y="3182111"/>
            <a:ext cx="237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88A"/>
                </a:solidFill>
                <a:latin typeface="Calibri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304288" y="3072383"/>
            <a:ext cx="1325880" cy="694944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04288" y="3108959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6B21B"/>
                </a:solidFill>
                <a:latin typeface="Arial Black"/>
              </a:rPr>
              <a:t>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04288" y="34747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88A"/>
                </a:solidFill>
                <a:latin typeface="Calibri"/>
              </a:rPr>
              <a:t>/u/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9312" y="3182111"/>
            <a:ext cx="237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88A"/>
                </a:solidFill>
                <a:latin typeface="Calibri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77056" y="3072383"/>
            <a:ext cx="1325880" cy="694944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77056" y="3108959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6B21B"/>
                </a:solidFill>
                <a:latin typeface="Arial Black"/>
              </a:rPr>
              <a:t>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77056" y="34747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88A"/>
                </a:solidFill>
                <a:latin typeface="Calibri"/>
              </a:rPr>
              <a:t>/n/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77840" y="3163823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07A38"/>
                </a:solidFill>
                <a:latin typeface="Calibri"/>
              </a:rPr>
              <a:t>➡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92240" y="3072383"/>
            <a:ext cx="2468880" cy="694944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92240" y="3145535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B3560"/>
                </a:solidFill>
                <a:latin typeface="Arial Black"/>
              </a:rPr>
              <a:t>SUN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35440" y="3127247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287000" y="3163823"/>
            <a:ext cx="1280160" cy="5029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287000" y="3236975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42C38"/>
                </a:solidFill>
                <a:latin typeface="Calibri"/>
              </a:rPr>
              <a:t>⭐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4078224"/>
            <a:ext cx="11292840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31520" y="4242816"/>
            <a:ext cx="1325880" cy="694944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4279392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07A38"/>
                </a:solidFill>
                <a:latin typeface="Arial Black"/>
              </a:rPr>
              <a:t>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4645152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88A"/>
                </a:solidFill>
                <a:latin typeface="Calibri"/>
              </a:rPr>
              <a:t>/p/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66544" y="4352544"/>
            <a:ext cx="237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88A"/>
                </a:solidFill>
                <a:latin typeface="Calibri"/>
              </a:rPr>
              <a:t>→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04288" y="4242816"/>
            <a:ext cx="1325880" cy="694944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04288" y="4279392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07A38"/>
                </a:solidFill>
                <a:latin typeface="Arial Black"/>
              </a:rPr>
              <a:t>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304288" y="4645152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88A"/>
                </a:solidFill>
                <a:latin typeface="Calibri"/>
              </a:rPr>
              <a:t>/i/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39312" y="4352544"/>
            <a:ext cx="237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88A"/>
                </a:solidFill>
                <a:latin typeface="Calibri"/>
              </a:rPr>
              <a:t>→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877056" y="4242816"/>
            <a:ext cx="1325880" cy="694944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877056" y="4279392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07A38"/>
                </a:solidFill>
                <a:latin typeface="Arial Black"/>
              </a:rPr>
              <a:t>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77056" y="4645152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88A"/>
                </a:solidFill>
                <a:latin typeface="Calibri"/>
              </a:rPr>
              <a:t>/g/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77840" y="433425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07A38"/>
                </a:solidFill>
                <a:latin typeface="Calibri"/>
              </a:rPr>
              <a:t>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492240" y="4242816"/>
            <a:ext cx="2468880" cy="694944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92240" y="4315968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B3560"/>
                </a:solidFill>
                <a:latin typeface="Arial Black"/>
              </a:rPr>
              <a:t>PIG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235440" y="429768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🐷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287000" y="4334256"/>
            <a:ext cx="1280160" cy="5029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287000" y="440740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42C38"/>
                </a:solidFill>
                <a:latin typeface="Calibri"/>
              </a:rPr>
              <a:t>⭐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5248656"/>
            <a:ext cx="11292840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31520" y="5413248"/>
            <a:ext cx="1325880" cy="694944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520" y="5449824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C93"/>
                </a:solidFill>
                <a:latin typeface="Arial Black"/>
              </a:rPr>
              <a:t>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581558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88A"/>
                </a:solidFill>
                <a:latin typeface="Calibri"/>
              </a:rPr>
              <a:t>/d/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66544" y="5522976"/>
            <a:ext cx="237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88A"/>
                </a:solidFill>
                <a:latin typeface="Calibri"/>
              </a:rPr>
              <a:t>→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304288" y="5413248"/>
            <a:ext cx="1325880" cy="694944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304288" y="5449824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C93"/>
                </a:solidFill>
                <a:latin typeface="Arial Black"/>
              </a:rPr>
              <a:t>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04288" y="581558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88A"/>
                </a:solidFill>
                <a:latin typeface="Calibri"/>
              </a:rPr>
              <a:t>/o/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39312" y="5522976"/>
            <a:ext cx="237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88A"/>
                </a:solidFill>
                <a:latin typeface="Calibri"/>
              </a:rPr>
              <a:t>→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877056" y="5413248"/>
            <a:ext cx="1325880" cy="694944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877056" y="5449824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C93"/>
                </a:solidFill>
                <a:latin typeface="Arial Black"/>
              </a:rPr>
              <a:t>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77056" y="581558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88A"/>
                </a:solidFill>
                <a:latin typeface="Calibri"/>
              </a:rPr>
              <a:t>/g/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77840" y="550468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07A38"/>
                </a:solidFill>
                <a:latin typeface="Calibri"/>
              </a:rPr>
              <a:t>➡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492240" y="5413248"/>
            <a:ext cx="2468880" cy="694944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492240" y="5486400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B3560"/>
                </a:solidFill>
                <a:latin typeface="Arial Black"/>
              </a:rPr>
              <a:t>DOG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35440" y="5468112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287000" y="5504688"/>
            <a:ext cx="1280160" cy="5029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287000" y="55778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42C38"/>
                </a:solidFill>
                <a:latin typeface="Calibri"/>
              </a:rPr>
              <a:t>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READING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20–28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🧩 Word Families — Words That Rhyme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3657508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Word families  |  20–28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9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Change the first sound and you get a brand new word!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83080"/>
            <a:ext cx="2121408" cy="3977639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965960"/>
            <a:ext cx="21214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2606040"/>
            <a:ext cx="1389888" cy="502920"/>
          </a:xfrm>
          <a:prstGeom prst="roundRect">
            <a:avLst/>
          </a:prstGeom>
          <a:solidFill>
            <a:srgbClr val="33A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688336"/>
            <a:ext cx="13898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- at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46120"/>
            <a:ext cx="175564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0128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cat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867911"/>
            <a:ext cx="175564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31919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bat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489704"/>
            <a:ext cx="175564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553712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mat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111496"/>
            <a:ext cx="175564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175504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sat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0" y="1783080"/>
            <a:ext cx="2121408" cy="3977639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0" y="1965960"/>
            <a:ext cx="21214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08960" y="2606040"/>
            <a:ext cx="1389888" cy="502920"/>
          </a:xfrm>
          <a:prstGeom prst="round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08960" y="2688336"/>
            <a:ext cx="13898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- og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26080" y="3246120"/>
            <a:ext cx="175564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26080" y="3310128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dog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26080" y="3867911"/>
            <a:ext cx="175564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26080" y="3931919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log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0" y="1783080"/>
            <a:ext cx="2121408" cy="3977639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1965960"/>
            <a:ext cx="21214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94960" y="2606040"/>
            <a:ext cx="1389888" cy="502920"/>
          </a:xfrm>
          <a:prstGeom prst="roundRect">
            <a:avLst/>
          </a:prstGeom>
          <a:solidFill>
            <a:srgbClr val="F6B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94960" y="2688336"/>
            <a:ext cx="13898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- un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212080" y="3246120"/>
            <a:ext cx="175564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0" y="3310128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sun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212080" y="3867911"/>
            <a:ext cx="175564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0" y="3931919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run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0" y="1783080"/>
            <a:ext cx="2121408" cy="3977639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1965960"/>
            <a:ext cx="21214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🐷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680960" y="2606040"/>
            <a:ext cx="1389888" cy="502920"/>
          </a:xfrm>
          <a:prstGeom prst="roundRect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80960" y="2688336"/>
            <a:ext cx="13898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- ig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98080" y="3246120"/>
            <a:ext cx="175564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98080" y="3310128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pig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498080" y="3867911"/>
            <a:ext cx="175564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98080" y="3931919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big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601200" y="1783080"/>
            <a:ext cx="2121408" cy="3977639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01200" y="1965960"/>
            <a:ext cx="21214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🐔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66960" y="2606040"/>
            <a:ext cx="1389888" cy="502920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66960" y="2688336"/>
            <a:ext cx="13898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- en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784080" y="3246120"/>
            <a:ext cx="175564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84080" y="3310128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hen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784080" y="3867911"/>
            <a:ext cx="175564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84080" y="3931919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Calibri"/>
              </a:rPr>
              <a:t>pen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20–28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🐰 Game: Feed the Bunny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4063898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Feed the bunny  |  20–28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10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070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Bunny is hungry! Find the right word and feed it to Bunny.  ⭐ 5 stars to win!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664208"/>
            <a:ext cx="1129284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182880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1847088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1883664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07A38"/>
                </a:solidFill>
                <a:latin typeface="Calibri"/>
              </a:rPr>
              <a:t>Find  CAT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179222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18470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CAT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179222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8040" y="18470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DOG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59" y="179222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59" y="18470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SUN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624328"/>
            <a:ext cx="1129284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278892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807208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2843784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07A38"/>
                </a:solidFill>
                <a:latin typeface="Calibri"/>
              </a:rPr>
              <a:t>Find  SUN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46320" y="275234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2807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MAT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78040" y="275234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78040" y="2807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SUN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09759" y="275234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759" y="2807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PIG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3584448"/>
            <a:ext cx="1129284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" y="374904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767328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48840" y="3803904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07A38"/>
                </a:solidFill>
                <a:latin typeface="Calibri"/>
              </a:rPr>
              <a:t>Find  DOG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46320" y="371246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46320" y="3767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DOG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78040" y="371246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78040" y="3767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BIG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09759" y="371246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09759" y="3767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HEN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4544568"/>
            <a:ext cx="1129284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" y="470916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4727448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42C38"/>
                </a:solidFill>
                <a:latin typeface="Calibri"/>
              </a:rPr>
              <a:t>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48840" y="4764024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07A38"/>
                </a:solidFill>
                <a:latin typeface="Calibri"/>
              </a:rPr>
              <a:t>Find  PIG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846320" y="467258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46320" y="472744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RUN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178040" y="467258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78040" y="472744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PIG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509759" y="467258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09759" y="472744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BAT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7200" y="5504688"/>
            <a:ext cx="1129284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" y="566928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71600" y="5687568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42C38"/>
                </a:solidFill>
                <a:latin typeface="Calibri"/>
              </a:rPr>
              <a:t>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48840" y="5724144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07A38"/>
                </a:solidFill>
                <a:latin typeface="Calibri"/>
              </a:rPr>
              <a:t>Find  HEN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846320" y="563270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846320" y="56875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LOG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178040" y="563270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178040" y="56875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HEN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509759" y="5632704"/>
            <a:ext cx="2103120" cy="585216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509759" y="56875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B3560"/>
                </a:solidFill>
                <a:latin typeface="Arial Black"/>
              </a:rPr>
              <a:t>PEN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20–28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🧩 Game: Match the Word to the Picture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4470288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Match it  |  20–28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11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The words got mixed up! Match each picture to its word.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1783080"/>
            <a:ext cx="2560320" cy="178308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0312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1783080"/>
            <a:ext cx="2560320" cy="178308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210312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783080"/>
            <a:ext cx="2560320" cy="178308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10312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59" y="1783080"/>
            <a:ext cx="2560320" cy="178308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59" y="210312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977639"/>
            <a:ext cx="25603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2062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B3560"/>
                </a:solidFill>
                <a:latin typeface="Arial Black"/>
              </a:rPr>
              <a:t>DOG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74720" y="3977639"/>
            <a:ext cx="25603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42062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B3560"/>
                </a:solidFill>
                <a:latin typeface="Arial Black"/>
              </a:rPr>
              <a:t>PIG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977639"/>
            <a:ext cx="25603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42062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B3560"/>
                </a:solidFill>
                <a:latin typeface="Arial Black"/>
              </a:rPr>
              <a:t>CAT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2559" y="3977639"/>
            <a:ext cx="25603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59" y="42062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B3560"/>
                </a:solidFill>
                <a:latin typeface="Arial Black"/>
              </a:rPr>
              <a:t>SUN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257800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9C93"/>
                </a:solidFill>
                <a:latin typeface="Calibri"/>
              </a:rPr>
              <a:t>Draw a line in the air from each picture to its word! ✏️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SIGHT WORDS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28–35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👀 Sight Words — Just Know Them!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4876678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Sight words  |  28–35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12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These words we do NOT sound out. We just know them by sight!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37360"/>
            <a:ext cx="11292840" cy="137160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2148840"/>
            <a:ext cx="1371600" cy="502920"/>
          </a:xfrm>
          <a:prstGeom prst="round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23113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Set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7440" y="2011680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2148840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9C93"/>
                </a:solidFill>
                <a:latin typeface="Arial Black"/>
              </a:rPr>
              <a:t>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09160" y="2011680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09160" y="2148840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9C93"/>
                </a:solidFill>
                <a:latin typeface="Arial Black"/>
              </a:rPr>
              <a:t>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0879" y="2011680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79" y="2148840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9C93"/>
                </a:solidFill>
                <a:latin typeface="Arial Black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218688"/>
            <a:ext cx="11292840" cy="137160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8368" y="3630168"/>
            <a:ext cx="1371600" cy="502920"/>
          </a:xfrm>
          <a:prstGeom prst="roundRect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71246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Set 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77440" y="3493008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77440" y="3630168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5C86"/>
                </a:solidFill>
                <a:latin typeface="Arial Black"/>
              </a:rPr>
              <a:t>the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09160" y="3493008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09160" y="3630168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5C86"/>
                </a:solidFill>
                <a:latin typeface="Arial Black"/>
              </a:rPr>
              <a:t>is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40879" y="3493008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79" y="3630168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5C86"/>
                </a:solidFill>
                <a:latin typeface="Arial Black"/>
              </a:rPr>
              <a:t>my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700016"/>
            <a:ext cx="11292840" cy="137160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8368" y="5111496"/>
            <a:ext cx="1371600" cy="502920"/>
          </a:xfrm>
          <a:prstGeom prst="roundRect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519379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Set 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77440" y="4974336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77440" y="5111496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8C62C6"/>
                </a:solidFill>
                <a:latin typeface="Arial Black"/>
              </a:rPr>
              <a:t>can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09160" y="4974336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09160" y="5111496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8C62C6"/>
                </a:solidFill>
                <a:latin typeface="Arial Black"/>
              </a:rPr>
              <a:t>see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28–35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👀 Game: Catch the Sight Word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5283067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Catch the word  |  28–35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13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Careful — the other words look almost the same!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83080"/>
            <a:ext cx="1129284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2185416"/>
            <a:ext cx="548640" cy="548640"/>
          </a:xfrm>
          <a:prstGeom prst="ellipse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25856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1945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9C93"/>
                </a:solidFill>
                <a:latin typeface="Calibri"/>
              </a:rPr>
              <a:t>Find  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093976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cat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2093976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2093976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dog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12680" y="2093976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12680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sun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319272"/>
            <a:ext cx="1129284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5800" y="3721608"/>
            <a:ext cx="548640" cy="548640"/>
          </a:xfrm>
          <a:prstGeom prst="ellipse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7947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373075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9C93"/>
                </a:solidFill>
                <a:latin typeface="Calibri"/>
              </a:rPr>
              <a:t>Find  am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0" y="3630168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3758184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an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80760" y="3630168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3758184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am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46720" y="3630168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3758184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at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12680" y="3630168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12680" y="3758184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and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855464"/>
            <a:ext cx="1129284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5800" y="5257800"/>
            <a:ext cx="548640" cy="548640"/>
          </a:xfrm>
          <a:prstGeom prst="ellipse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533095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63040" y="526694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9C93"/>
                </a:solidFill>
                <a:latin typeface="Calibri"/>
              </a:rPr>
              <a:t>Find  the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0" y="5166360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0" y="5294376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then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80760" y="5166360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5294376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the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46720" y="5166360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0" y="5294376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they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012680" y="5166360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12680" y="5294376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this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28–35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👀 Catch the Sight Word — Round 2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5689457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Catch the word  |  28–35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14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Careful — the other words look almost the same!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83080"/>
            <a:ext cx="1129284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2185416"/>
            <a:ext cx="548640" cy="548640"/>
          </a:xfrm>
          <a:prstGeom prst="ellipse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25856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1945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9C93"/>
                </a:solidFill>
                <a:latin typeface="Calibri"/>
              </a:rPr>
              <a:t>Find  can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093976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can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2093976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cat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2093976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cap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12680" y="2093976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12680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car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319272"/>
            <a:ext cx="1129284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5800" y="3721608"/>
            <a:ext cx="548640" cy="548640"/>
          </a:xfrm>
          <a:prstGeom prst="ellipse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7947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373075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9C93"/>
                </a:solidFill>
                <a:latin typeface="Calibri"/>
              </a:rPr>
              <a:t>Find  my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0" y="3630168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3758184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me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80760" y="3630168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3758184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my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46720" y="3630168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3758184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may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12680" y="3630168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12680" y="3758184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man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855464"/>
            <a:ext cx="1129284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5800" y="5257800"/>
            <a:ext cx="548640" cy="548640"/>
          </a:xfrm>
          <a:prstGeom prst="ellipse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533095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63040" y="526694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9C93"/>
                </a:solidFill>
                <a:latin typeface="Calibri"/>
              </a:rPr>
              <a:t>Find  see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0" y="5166360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0" y="5294376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sea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80760" y="5166360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5294376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see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46720" y="5166360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0" y="5294376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saw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012680" y="5166360"/>
            <a:ext cx="1783080" cy="73152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12680" y="5294376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3560"/>
                </a:solidFill>
                <a:latin typeface="Calibri"/>
              </a:rPr>
              <a:t>so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BREAK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35–38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🐰 Brain Break: Bunny Says!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6095847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Bunny says  |  35–38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15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Do it only if Bunny says! Stay by your desk. 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83080"/>
            <a:ext cx="3977639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2002536"/>
            <a:ext cx="438912" cy="438912"/>
          </a:xfrm>
          <a:prstGeom prst="ellipse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057400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039112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Bunny says touch your nose.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1783080"/>
            <a:ext cx="3977639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846320" y="2002536"/>
            <a:ext cx="438912" cy="438912"/>
          </a:xfrm>
          <a:prstGeom prst="ellipse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2057400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2039112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Bunny says clap 3 times.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834639"/>
            <a:ext cx="3977639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" y="3054095"/>
            <a:ext cx="438912" cy="438912"/>
          </a:xfrm>
          <a:prstGeom prst="ellipse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108959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3090671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Bunny says hop like a bunny.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2834639"/>
            <a:ext cx="3977639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46320" y="3054095"/>
            <a:ext cx="438912" cy="438912"/>
          </a:xfrm>
          <a:prstGeom prst="ellipse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0" y="3108959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3090671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Bunny says point to the letter B.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3886200"/>
            <a:ext cx="3977639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0080" y="4105656"/>
            <a:ext cx="438912" cy="438912"/>
          </a:xfrm>
          <a:prstGeom prst="ellipse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160520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4142232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Bunny says make the /m/ sound.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63440" y="3886200"/>
            <a:ext cx="3977639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846320" y="4105656"/>
            <a:ext cx="438912" cy="438912"/>
          </a:xfrm>
          <a:prstGeom prst="ellipse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46320" y="4160520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80" y="4142232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Bunny says read the word CAT.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400" y="1783080"/>
            <a:ext cx="2834640" cy="3246120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193852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560"/>
                </a:solidFill>
                <a:latin typeface="Calibri"/>
              </a:rPr>
              <a:t>Point to these: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0" y="2395728"/>
            <a:ext cx="237744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246888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Arial Black"/>
              </a:rPr>
              <a:t>B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44000" y="3035808"/>
            <a:ext cx="237744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0" y="310896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Arial Black"/>
              </a:rPr>
              <a:t>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0" y="3675887"/>
            <a:ext cx="237744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0" y="3749039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Arial Black"/>
              </a:rPr>
              <a:t>CAT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44000" y="4315968"/>
            <a:ext cx="237744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0" y="438912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560"/>
                </a:solidFill>
                <a:latin typeface="Arial Black"/>
              </a:rPr>
              <a:t>SUN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16636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9C93"/>
                </a:solidFill>
                <a:latin typeface="Calibri"/>
              </a:rPr>
              <a:t>🎵 Fast and silly — three minutes only, then back to reading!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3A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33A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READING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38–45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📖 Now We Read Sentences!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6502237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Sentences  |  38–45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16 /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371600"/>
            <a:ext cx="11292840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783080"/>
            <a:ext cx="1371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>
                <a:solidFill>
                  <a:srgbClr val="242C38"/>
                </a:solidFill>
                <a:latin typeface="Calibri"/>
              </a:rPr>
              <a:t>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1965960"/>
            <a:ext cx="9052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1B3560"/>
                </a:solidFill>
                <a:latin typeface="Arial Black"/>
              </a:rPr>
              <a:t>I am Sam.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977639"/>
            <a:ext cx="3566160" cy="1371600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105655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1️⃣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44567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B3560"/>
                </a:solidFill>
                <a:latin typeface="Calibri"/>
              </a:rPr>
              <a:t>I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46903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B3560"/>
                </a:solidFill>
                <a:latin typeface="Calibri"/>
              </a:rPr>
              <a:t>Listen and follow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3977639"/>
            <a:ext cx="3566160" cy="137160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4105655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2️⃣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544567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B3560"/>
                </a:solidFill>
                <a:latin typeface="Calibri"/>
              </a:rPr>
              <a:t>We read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4946903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B3560"/>
                </a:solidFill>
                <a:latin typeface="Calibri"/>
              </a:rPr>
              <a:t>Say it with me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3977639"/>
            <a:ext cx="3566160" cy="1371600"/>
          </a:xfrm>
          <a:prstGeom prst="roundRect">
            <a:avLst/>
          </a:prstGeom>
          <a:solidFill>
            <a:srgbClr val="33A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4105655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3️⃣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544567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YOU read it!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946903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Your turn 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577840"/>
            <a:ext cx="8412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07A38"/>
                </a:solidFill>
                <a:latin typeface="Calibri"/>
              </a:rPr>
              <a:t>👉 Point under each word as you read it.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READING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38–45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🤝 Read With Me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6908627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Sentences  |  38–45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17 /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463040"/>
            <a:ext cx="11292840" cy="214884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011680"/>
            <a:ext cx="1280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1965960"/>
            <a:ext cx="7315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B3560"/>
                </a:solidFill>
                <a:latin typeface="Arial Black"/>
              </a:rPr>
              <a:t>I see a cat.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2148840"/>
            <a:ext cx="1828800" cy="685800"/>
          </a:xfrm>
          <a:prstGeom prst="round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286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YOU read 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840480"/>
            <a:ext cx="11292840" cy="2148840"/>
          </a:xfrm>
          <a:prstGeom prst="round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389120"/>
            <a:ext cx="1280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343400"/>
            <a:ext cx="7315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B3560"/>
                </a:solidFill>
                <a:latin typeface="Arial Black"/>
              </a:rPr>
              <a:t>The dog is big.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92640" y="4526280"/>
            <a:ext cx="1828800" cy="685800"/>
          </a:xfrm>
          <a:prstGeom prst="roundRect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0" y="4663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YOU read 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009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READING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38–45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⭐ Your Turn to Read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7315017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Sentences  |  38–45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18 /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463040"/>
            <a:ext cx="11292840" cy="2148840"/>
          </a:xfrm>
          <a:prstGeom prst="roundRect">
            <a:avLst/>
          </a:prstGeom>
          <a:solidFill>
            <a:srgbClr val="FD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011680"/>
            <a:ext cx="1280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1965960"/>
            <a:ext cx="7315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B3560"/>
                </a:solidFill>
                <a:latin typeface="Arial Black"/>
              </a:rPr>
              <a:t>I can run.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2148840"/>
            <a:ext cx="1828800" cy="685800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286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YOU read 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840480"/>
            <a:ext cx="11292840" cy="2148840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389120"/>
            <a:ext cx="1280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343400"/>
            <a:ext cx="7315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B3560"/>
                </a:solidFill>
                <a:latin typeface="Arial Black"/>
              </a:rPr>
              <a:t>I see the sun.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92640" y="4526280"/>
            <a:ext cx="1828800" cy="685800"/>
          </a:xfrm>
          <a:prstGeom prst="roundRect">
            <a:avLst/>
          </a:prstGeom>
          <a:solidFill>
            <a:srgbClr val="F6B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0" y="4663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YOU read 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45–50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🔎 Game: Read and Find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7721406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Read &amp; find  |  45–50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19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2529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Look at the park. Read the sentence, then find it in the picture!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664208"/>
            <a:ext cx="5760720" cy="4160520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4224528"/>
            <a:ext cx="5760720" cy="1600200"/>
          </a:xfrm>
          <a:prstGeom prst="round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2057400"/>
            <a:ext cx="1188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794760"/>
            <a:ext cx="1188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>
                <a:solidFill>
                  <a:srgbClr val="242C38"/>
                </a:solidFill>
                <a:latin typeface="Calibri"/>
              </a:rPr>
              <a:t>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069080"/>
            <a:ext cx="1188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4297680"/>
            <a:ext cx="1188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>
                <a:solidFill>
                  <a:srgbClr val="242C38"/>
                </a:solidFill>
                <a:latin typeface="Calibri"/>
              </a:rPr>
              <a:t>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4160520"/>
            <a:ext cx="1188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1324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🌳 The Park — can you find the dog?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6520" y="1783080"/>
            <a:ext cx="5303520" cy="8961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2020824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B3560"/>
                </a:solidFill>
                <a:latin typeface="Calibri"/>
              </a:rPr>
              <a:t>The dog is big.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07040" y="1947672"/>
            <a:ext cx="914400" cy="566928"/>
          </a:xfrm>
          <a:prstGeom prst="round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0" y="2002536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6520" y="2834639"/>
            <a:ext cx="5303520" cy="8961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3072383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B3560"/>
                </a:solidFill>
                <a:latin typeface="Calibri"/>
              </a:rPr>
              <a:t>I see the sun.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07040" y="2999231"/>
            <a:ext cx="914400" cy="566928"/>
          </a:xfrm>
          <a:prstGeom prst="round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07040" y="3054095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6520" y="3886200"/>
            <a:ext cx="5303520" cy="8961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75120" y="4123944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B3560"/>
                </a:solidFill>
                <a:latin typeface="Calibri"/>
              </a:rPr>
              <a:t>The cat is on the mat.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607040" y="4050792"/>
            <a:ext cx="914400" cy="566928"/>
          </a:xfrm>
          <a:prstGeom prst="round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607040" y="4105656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46520" y="4983480"/>
            <a:ext cx="5303520" cy="822960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0" y="5138928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560"/>
                </a:solidFill>
                <a:latin typeface="Calibri"/>
              </a:rPr>
              <a:t>Which sentence tells us about the dog?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8C6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VOCAB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50–56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📚 Story Words — Get Ready for Bunny's Story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8127796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Story words  |  50–56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20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43584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These words are in Bunny's story. Let's meet them first!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691640"/>
            <a:ext cx="2743200" cy="21031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80136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377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8C62C6"/>
                </a:solidFill>
                <a:latin typeface="Arial Black"/>
              </a:rPr>
              <a:t>bunny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926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88A"/>
                </a:solidFill>
                <a:latin typeface="Calibri"/>
              </a:rPr>
              <a:t>bun - ny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264408"/>
            <a:ext cx="24688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32841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42C38"/>
                </a:solidFill>
                <a:latin typeface="Calibri"/>
              </a:rPr>
              <a:t>Bunny can hop.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9272" y="1691640"/>
            <a:ext cx="2743200" cy="21031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0712" y="180136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2377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8C62C6"/>
                </a:solidFill>
                <a:latin typeface="Arial Black"/>
              </a:rPr>
              <a:t>park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2926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88A"/>
                </a:solidFill>
                <a:latin typeface="Calibri"/>
              </a:rPr>
              <a:t>p - ar - 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56432" y="3264408"/>
            <a:ext cx="24688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56432" y="332841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42C38"/>
                </a:solidFill>
                <a:latin typeface="Calibri"/>
              </a:rPr>
              <a:t>I see the park.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27064" y="1691640"/>
            <a:ext cx="2743200" cy="21031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180136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2377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8C62C6"/>
                </a:solidFill>
                <a:latin typeface="Arial Black"/>
              </a:rPr>
              <a:t>dog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2926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88A"/>
                </a:solidFill>
                <a:latin typeface="Calibri"/>
              </a:rPr>
              <a:t>d - o - 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3264408"/>
            <a:ext cx="24688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64224" y="332841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42C38"/>
                </a:solidFill>
                <a:latin typeface="Calibri"/>
              </a:rPr>
              <a:t>The dog is big.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34856" y="1691640"/>
            <a:ext cx="2743200" cy="21031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26296" y="180136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26296" y="2377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8C62C6"/>
                </a:solidFill>
                <a:latin typeface="Arial Black"/>
              </a:rPr>
              <a:t>ball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26296" y="2926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88A"/>
                </a:solidFill>
                <a:latin typeface="Calibri"/>
              </a:rPr>
              <a:t>b - all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72016" y="3264408"/>
            <a:ext cx="24688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72016" y="332841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42C38"/>
                </a:solidFill>
                <a:latin typeface="Calibri"/>
              </a:rPr>
              <a:t>I see a ball.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3977639"/>
            <a:ext cx="2743200" cy="21031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4087367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66343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8C62C6"/>
                </a:solidFill>
                <a:latin typeface="Arial Black"/>
              </a:rPr>
              <a:t>red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521207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88A"/>
                </a:solidFill>
                <a:latin typeface="Calibri"/>
              </a:rPr>
              <a:t>r - e - 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550407"/>
            <a:ext cx="24688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614415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42C38"/>
                </a:solidFill>
                <a:latin typeface="Calibri"/>
              </a:rPr>
              <a:t>My ball is red.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19272" y="3977639"/>
            <a:ext cx="2743200" cy="21031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10712" y="4087367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🏃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10712" y="466343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8C62C6"/>
                </a:solidFill>
                <a:latin typeface="Arial Black"/>
              </a:rPr>
              <a:t>run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10712" y="521207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88A"/>
                </a:solidFill>
                <a:latin typeface="Calibri"/>
              </a:rPr>
              <a:t>r - u - 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56432" y="5550407"/>
            <a:ext cx="24688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56432" y="5614415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42C38"/>
                </a:solidFill>
                <a:latin typeface="Calibri"/>
              </a:rPr>
              <a:t>I can run.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27064" y="3977639"/>
            <a:ext cx="2743200" cy="21031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18504" y="4087367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18504" y="466343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8C62C6"/>
                </a:solidFill>
                <a:latin typeface="Arial Black"/>
              </a:rPr>
              <a:t>play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18504" y="521207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88A"/>
                </a:solidFill>
                <a:latin typeface="Calibri"/>
              </a:rPr>
              <a:t>p - l - ay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64224" y="5550407"/>
            <a:ext cx="24688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64224" y="5614415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42C38"/>
                </a:solidFill>
                <a:latin typeface="Calibri"/>
              </a:rPr>
              <a:t>We can play.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134856" y="3977639"/>
            <a:ext cx="2743200" cy="2103120"/>
          </a:xfrm>
          <a:prstGeom prst="roundRect">
            <a:avLst/>
          </a:prstGeom>
          <a:solidFill>
            <a:srgbClr val="F0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26296" y="4087367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26296" y="466343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8C62C6"/>
                </a:solidFill>
                <a:latin typeface="Arial Black"/>
              </a:rPr>
              <a:t>happy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26296" y="521207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88A"/>
                </a:solidFill>
                <a:latin typeface="Calibri"/>
              </a:rPr>
              <a:t>hap - py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272016" y="5550407"/>
            <a:ext cx="24688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72016" y="5614415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42C38"/>
                </a:solidFill>
                <a:latin typeface="Calibri"/>
              </a:rPr>
              <a:t>Bunny is happy.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50–56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📚 Bunny Goes to the Park — Part 1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8534186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Part 1  |  50–56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21 /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371600"/>
            <a:ext cx="813816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627632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Bunny goes to the park.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468880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The sun is big.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310128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Bunny can hop.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51376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Bunny sees a dog.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92624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The dog is big.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60" y="1371600"/>
            <a:ext cx="2926080" cy="4526280"/>
          </a:xfrm>
          <a:prstGeom prst="round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192024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0">
                <a:solidFill>
                  <a:srgbClr val="242C38"/>
                </a:solidFill>
                <a:latin typeface="Calibri"/>
              </a:rPr>
              <a:t>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3611880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371246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560"/>
                </a:solidFill>
                <a:latin typeface="Calibri"/>
              </a:rPr>
              <a:t>1️⃣  I read 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60" y="4270248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60" y="43708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560"/>
                </a:solidFill>
                <a:latin typeface="Calibri"/>
              </a:rPr>
              <a:t>2️⃣  We read 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0" y="4928616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5029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560"/>
                </a:solidFill>
                <a:latin typeface="Calibri"/>
              </a:rPr>
              <a:t>3️⃣  You pick ONE line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3A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33A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50–56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📚 Bunny Goes to the Park — Part 2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8940576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Part 2  |  50–56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22 /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371600"/>
            <a:ext cx="813816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627632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The dog has a red ball.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468880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Bunny runs to the dog.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310128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"Can I play?" says Bunny.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51376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"Yes!" says the dog.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92624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The dog can run.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60" y="1371600"/>
            <a:ext cx="2926080" cy="4526280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192024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0">
                <a:solidFill>
                  <a:srgbClr val="242C38"/>
                </a:solidFill>
                <a:latin typeface="Calibri"/>
              </a:rPr>
              <a:t>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3611880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371246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560"/>
                </a:solidFill>
                <a:latin typeface="Calibri"/>
              </a:rPr>
              <a:t>1️⃣  I read 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60" y="4270248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60" y="43708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560"/>
                </a:solidFill>
                <a:latin typeface="Calibri"/>
              </a:rPr>
              <a:t>2️⃣  We read 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0" y="4928616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5029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560"/>
                </a:solidFill>
                <a:latin typeface="Calibri"/>
              </a:rPr>
              <a:t>3️⃣  You pick ONE line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6B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F6B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50–56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📚 Bunny Goes to the Park — Part 3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9346966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Part 3  |  50–56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23 /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371600"/>
            <a:ext cx="813816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627632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They play with the ball.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468880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Bunny can run and hop.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310128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It is a fun day!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51376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Bunny is happy.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92624"/>
            <a:ext cx="7406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Calibri"/>
              </a:rPr>
              <a:t>The dog is happy too.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60" y="1371600"/>
            <a:ext cx="2926080" cy="4526280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192024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0">
                <a:solidFill>
                  <a:srgbClr val="242C38"/>
                </a:solidFill>
                <a:latin typeface="Calibri"/>
              </a:rPr>
              <a:t>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3611880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371246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560"/>
                </a:solidFill>
                <a:latin typeface="Calibri"/>
              </a:rPr>
              <a:t>1️⃣  I read 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60" y="4270248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60" y="43708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560"/>
                </a:solidFill>
                <a:latin typeface="Calibri"/>
              </a:rPr>
              <a:t>2️⃣  We read 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0" y="4928616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5029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560"/>
                </a:solidFill>
                <a:latin typeface="Calibri"/>
              </a:rPr>
              <a:t>3️⃣  You pick ONE line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THINK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56–58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🧩 Story Questions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9753356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Comprehension  |  56–58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24 /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417320"/>
            <a:ext cx="112928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1874520"/>
            <a:ext cx="548640" cy="548640"/>
          </a:xfrm>
          <a:prstGeom prst="ellipse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194767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189280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3560"/>
                </a:solidFill>
                <a:latin typeface="Calibri"/>
              </a:rPr>
              <a:t>Where does Bunny go?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12080" y="1673352"/>
            <a:ext cx="2011680" cy="96012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0" y="176479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20370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School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06640" y="1673352"/>
            <a:ext cx="2011680" cy="96012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0" y="176479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0" y="220370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Park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0" y="1673352"/>
            <a:ext cx="2011680" cy="96012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176479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220370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Store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044952"/>
            <a:ext cx="112928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" y="3502152"/>
            <a:ext cx="548640" cy="548640"/>
          </a:xfrm>
          <a:prstGeom prst="ellipse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575304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3520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3560"/>
                </a:solidFill>
                <a:latin typeface="Calibri"/>
              </a:rPr>
              <a:t>What does the dog have?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212080" y="3300984"/>
            <a:ext cx="2011680" cy="96012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12080" y="3392424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0" y="383133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A ball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06640" y="3300984"/>
            <a:ext cx="2011680" cy="96012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3392424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0" y="383133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A book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01200" y="3300984"/>
            <a:ext cx="2011680" cy="96012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0" y="3392424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383133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A hat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672584"/>
            <a:ext cx="112928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58368" y="5129784"/>
            <a:ext cx="548640" cy="548640"/>
          </a:xfrm>
          <a:prstGeom prst="ellipse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5202936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20" y="5148072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3560"/>
                </a:solidFill>
                <a:latin typeface="Calibri"/>
              </a:rPr>
              <a:t>How does Bunny feel?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212080" y="4928616"/>
            <a:ext cx="2011680" cy="96012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12080" y="502005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03520" y="545896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Happy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06640" y="4928616"/>
            <a:ext cx="2011680" cy="96012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06640" y="502005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80" y="545896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Sad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01200" y="4928616"/>
            <a:ext cx="2011680" cy="960120"/>
          </a:xfrm>
          <a:prstGeom prst="roundRect">
            <a:avLst/>
          </a:prstGeom>
          <a:solidFill>
            <a:srgbClr val="FD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01200" y="502005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😠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92640" y="545896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Angry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CHALLENGE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58–60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⭐ Reading Superhero Challenge!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10159745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Final challenge  |  58–60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25 /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43584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Read as many as you can. Every one counts! 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691640"/>
            <a:ext cx="11292840" cy="1828800"/>
          </a:xfrm>
          <a:prstGeom prst="roundRect">
            <a:avLst/>
          </a:prstGeom>
          <a:solidFill>
            <a:srgbClr val="FFF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18470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560"/>
                </a:solidFill>
                <a:latin typeface="Calibri"/>
              </a:rPr>
              <a:t>3 WORDS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286000"/>
            <a:ext cx="338328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4688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07A38"/>
                </a:solidFill>
                <a:latin typeface="Arial Black"/>
              </a:rPr>
              <a:t>CAT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2286000"/>
            <a:ext cx="338328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24688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07A38"/>
                </a:solidFill>
                <a:latin typeface="Arial Black"/>
              </a:rPr>
              <a:t>SUN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2286000"/>
            <a:ext cx="338328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4688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07A38"/>
                </a:solidFill>
                <a:latin typeface="Arial Black"/>
              </a:rPr>
              <a:t>DOG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03320"/>
            <a:ext cx="11292840" cy="1965960"/>
          </a:xfrm>
          <a:prstGeom prst="roundRect">
            <a:avLst/>
          </a:prstGeom>
          <a:solidFill>
            <a:srgbClr val="DD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8587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560"/>
                </a:solidFill>
                <a:latin typeface="Calibri"/>
              </a:rPr>
              <a:t>1 SENTENCE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343400"/>
            <a:ext cx="1065276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617720"/>
            <a:ext cx="10195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B3560"/>
                </a:solidFill>
                <a:latin typeface="Arial Black"/>
              </a:rPr>
              <a:t>I see a dog.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20" y="5806440"/>
            <a:ext cx="2423160" cy="457200"/>
          </a:xfrm>
          <a:prstGeom prst="round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587959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560"/>
                </a:solidFill>
                <a:latin typeface="Calibri"/>
              </a:rPr>
              <a:t>⭐ Every one counts!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F07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58–60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✅ Today I Can...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10566135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Recap  |  58–60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26 /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508760"/>
            <a:ext cx="356616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28800" y="1709928"/>
            <a:ext cx="822960" cy="822960"/>
          </a:xfrm>
          <a:prstGeom prst="ellipse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0" y="1837944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6517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9E5C"/>
                </a:solidFill>
                <a:latin typeface="Calibri"/>
              </a:rPr>
              <a:t>Say letter sounds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1508760"/>
            <a:ext cx="356616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23560" y="1709928"/>
            <a:ext cx="822960" cy="822960"/>
          </a:xfrm>
          <a:prstGeom prst="ellipse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23560" y="1837944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26517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9E5C"/>
                </a:solidFill>
                <a:latin typeface="Calibri"/>
              </a:rPr>
              <a:t>Blend sounds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1508760"/>
            <a:ext cx="356616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418320" y="1709928"/>
            <a:ext cx="822960" cy="822960"/>
          </a:xfrm>
          <a:prstGeom prst="ellipse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0" y="1837944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6517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9E5C"/>
                </a:solidFill>
                <a:latin typeface="Calibri"/>
              </a:rPr>
              <a:t>Read words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03320"/>
            <a:ext cx="356616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828800" y="3904488"/>
            <a:ext cx="822960" cy="822960"/>
          </a:xfrm>
          <a:prstGeom prst="ellipse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0" y="4032504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8463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9E5C"/>
                </a:solidFill>
                <a:latin typeface="Calibri"/>
              </a:rPr>
              <a:t>Read sentences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51960" y="3703320"/>
            <a:ext cx="356616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623560" y="3904488"/>
            <a:ext cx="822960" cy="822960"/>
          </a:xfrm>
          <a:prstGeom prst="ellipse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23560" y="4032504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48463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9E5C"/>
                </a:solidFill>
                <a:latin typeface="Calibri"/>
              </a:rPr>
              <a:t>Read a story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3703320"/>
            <a:ext cx="356616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418320" y="3904488"/>
            <a:ext cx="822960" cy="822960"/>
          </a:xfrm>
          <a:prstGeom prst="ellipse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0" y="4032504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48463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9E5C"/>
                </a:solidFill>
                <a:latin typeface="Calibri"/>
              </a:rPr>
              <a:t>Answer questions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943600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A38"/>
                </a:solidFill>
                <a:latin typeface="Calibri"/>
              </a:rPr>
              <a:t>🗣️ What was your favorite game today? What word do you remember?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777240"/>
            <a:ext cx="731520" cy="731520"/>
          </a:xfrm>
          <a:prstGeom prst="ellipse">
            <a:avLst/>
          </a:prstGeom>
          <a:solidFill>
            <a:srgbClr val="33A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81360" y="777240"/>
            <a:ext cx="731520" cy="731520"/>
          </a:xfrm>
          <a:prstGeom prst="ellipse">
            <a:avLst/>
          </a:prstGeom>
          <a:solidFill>
            <a:srgbClr val="E8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5257800"/>
            <a:ext cx="731520" cy="731520"/>
          </a:xfrm>
          <a:prstGeom prst="ellipse">
            <a:avLst/>
          </a:prstGeom>
          <a:solidFill>
            <a:srgbClr val="3F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35640" y="5212080"/>
            <a:ext cx="731520" cy="731520"/>
          </a:xfrm>
          <a:prstGeom prst="ellipse">
            <a:avLst/>
          </a:prstGeom>
          <a:solidFill>
            <a:srgbClr val="F6B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C733"/>
                </a:solidFill>
                <a:latin typeface="Georgia"/>
              </a:rPr>
              <a:t>🏅 READING SUPERSTAR 🏅</a:t>
            </a:r>
          </a:p>
        </p:txBody>
      </p:sp>
      <p:sp>
        <p:nvSpPr>
          <p:cNvPr id="9" name="Oval 8"/>
          <p:cNvSpPr/>
          <p:nvPr/>
        </p:nvSpPr>
        <p:spPr>
          <a:xfrm>
            <a:off x="4956048" y="1783080"/>
            <a:ext cx="2286000" cy="2286000"/>
          </a:xfrm>
          <a:prstGeom prst="ellipse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56048" y="22402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0">
                <a:solidFill>
                  <a:srgbClr val="242C38"/>
                </a:solidFill>
                <a:latin typeface="Calibri"/>
              </a:rPr>
              <a:t>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Georgia"/>
              </a:rPr>
              <a:t>Great job, Reading Explorer!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92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"/>
              </a:rPr>
              <a:t>You helped Bunny finish every reading challenge!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6811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3F4FD"/>
                </a:solidFill>
                <a:latin typeface="Calibri"/>
              </a:rPr>
              <a:t>Sounds ⭐ Words ⭐ Sentences ⭐ A Whole 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419088"/>
            <a:ext cx="10972525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Badge  |  58–60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27 / 30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TEACHER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📋 How Did We Do Today?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1378915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Assessment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28 /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225296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7A38"/>
                </a:solidFill>
                <a:latin typeface="Calibri"/>
              </a:rPr>
              <a:t>TEACHER ONLY — do not show this slide to the child. Record progress, not failure.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1645920"/>
            <a:ext cx="4206240" cy="457200"/>
          </a:xfrm>
          <a:prstGeom prst="round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737360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SKILL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1645920"/>
            <a:ext cx="2148840" cy="457200"/>
          </a:xfrm>
          <a:prstGeom prst="round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1737360"/>
            <a:ext cx="2148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Emerging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0" y="1645920"/>
            <a:ext cx="2148840" cy="457200"/>
          </a:xfrm>
          <a:prstGeom prst="round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0" y="1737360"/>
            <a:ext cx="2148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Developing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6880" y="1645920"/>
            <a:ext cx="2377440" cy="457200"/>
          </a:xfrm>
          <a:prstGeom prst="round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1737360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Good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194560"/>
            <a:ext cx="42062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286000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Letter sounds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0" y="2194560"/>
            <a:ext cx="21488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0" y="2267712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0" y="2194560"/>
            <a:ext cx="21488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0" y="2267712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26880" y="2194560"/>
            <a:ext cx="23774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226771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2761488"/>
            <a:ext cx="4206240" cy="493776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852928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Blending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0" y="2761488"/>
            <a:ext cx="2148840" cy="493776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0" y="2834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40880" y="2761488"/>
            <a:ext cx="2148840" cy="493776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0" y="2834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26880" y="2761488"/>
            <a:ext cx="2377440" cy="493776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0" y="2834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3328415"/>
            <a:ext cx="42062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419855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CVC words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754880" y="3328415"/>
            <a:ext cx="21488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0" y="3401567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40880" y="3328415"/>
            <a:ext cx="21488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0880" y="3401567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26880" y="3328415"/>
            <a:ext cx="23774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0" y="3401567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3895344"/>
            <a:ext cx="4206240" cy="493776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3986784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Sight words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754880" y="3895344"/>
            <a:ext cx="2148840" cy="493776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4880" y="3968496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040880" y="3895344"/>
            <a:ext cx="2148840" cy="493776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40880" y="3968496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26880" y="3895344"/>
            <a:ext cx="2377440" cy="493776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26880" y="3968496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1480" y="4462272"/>
            <a:ext cx="42062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4553712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Sentence reading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754880" y="4462272"/>
            <a:ext cx="21488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754880" y="4535424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040880" y="4462272"/>
            <a:ext cx="21488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40880" y="4535424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326880" y="4462272"/>
            <a:ext cx="23774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326880" y="453542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1480" y="5029200"/>
            <a:ext cx="4206240" cy="493776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120640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Comprehension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754880" y="5029200"/>
            <a:ext cx="2148840" cy="493776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54880" y="5102352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040880" y="5029200"/>
            <a:ext cx="2148840" cy="493776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40880" y="5102352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326880" y="5029200"/>
            <a:ext cx="2377440" cy="493776"/>
          </a:xfrm>
          <a:prstGeom prst="roundRect">
            <a:avLst/>
          </a:prstGeom>
          <a:solidFill>
            <a:srgbClr val="E3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26880" y="510235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11480" y="5596127"/>
            <a:ext cx="42062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5687567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560"/>
                </a:solidFill>
                <a:latin typeface="Calibri"/>
              </a:rPr>
              <a:t>Confidence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754880" y="5596127"/>
            <a:ext cx="21488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754880" y="5669279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040880" y="5596127"/>
            <a:ext cx="21488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40880" y="5669279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326880" y="5596127"/>
            <a:ext cx="2377440" cy="4937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0" y="5669279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88A"/>
                </a:solidFill>
                <a:latin typeface="Calibri"/>
              </a:rPr>
              <a:t>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DO NOT SHOW 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🔑 Teacher Answer Key — Part 1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1785305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Answer 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29 /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225296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7A38"/>
                </a:solidFill>
                <a:latin typeface="Calibri"/>
              </a:rPr>
              <a:t>TEACHER ANSWER KEY — DO NOT SHOW STUDENT. Hide this slide before presenting.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1572768"/>
            <a:ext cx="557784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5C86"/>
                </a:solidFill>
                <a:latin typeface="Calibri"/>
              </a:rPr>
              <a:t>🎯 Phonics &amp; Blending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4884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Sound Detective 1. CAT = /k/  (B)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Sound Detective 2. MAP = /m/  (A)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Sound Detective 3. SUN = /s/  (A)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Sound Detective 4. TREE = /t/  (A)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Sound Detective 5. PIG = /p/  (B)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Sound Detective 6. DOG = /d/  (A)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Build the Word: MAT, SUN, PIG, DOG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Letter sounds: m s t p c b d 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572768"/>
            <a:ext cx="557784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9C93"/>
                </a:solidFill>
                <a:latin typeface="Calibri"/>
              </a:rPr>
              <a:t>🐰 Word &amp; Sight Word Games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Feed the Bunny: CAT, SUN, DOG, PIG, HEN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Match the Word: cat=CAT, sun=SUN,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     pig=PIG, dog=DOG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Catch the Sight Word 1. I (2nd)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Catch the Sight Word 2. am (2nd)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Catch the Sight Word 3. the (2nd)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Catch the Sight Word 4. can (1st)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Catch the Sight Word 5. my (2nd)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Catch the Sight Word 6. see (2nd)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DO NOT SHOW 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560"/>
                </a:solidFill>
                <a:latin typeface="Georgia"/>
              </a:rPr>
              <a:t>🔑 Teacher Answer Key — Part 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FFC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🐰 Bunny's Reading Adventure  |  Grade 1  |  60 min  |  Answer 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30 /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225296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7A38"/>
                </a:solidFill>
                <a:latin typeface="Calibri"/>
              </a:rPr>
              <a:t>TEACHER ANSWER KEY — DO NOT SHOW STUDENT.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1572768"/>
            <a:ext cx="557784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A6E8"/>
                </a:solidFill>
                <a:latin typeface="Calibri"/>
              </a:rPr>
              <a:t>📖 Sentences &amp; Read and Find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4884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Sentences taught: I am Sam. / I see a cat. /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     The dog is big. / I can run. /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     My cat is red. / I see the sun.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Read &amp; Find scene: sun, tree, dog, ball, cat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"The dog is big." → the dog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"I see the sun." → the sun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"The cat is on the mat." → the cat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Final challenge: CAT, SUN, DOG,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     "I see a dog."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572768"/>
            <a:ext cx="557784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E5C"/>
                </a:solidFill>
                <a:latin typeface="Calibri"/>
              </a:rPr>
              <a:t>📚 Story &amp; Comprehension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Story: "Bunny Goes to the Park" (61 words)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Q1. Where does Bunny go?  →  B. Park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Q2. What does the dog have?  →  A. A ball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Q3. How does Bunny feel?  →  A. Happy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Story words: bunny, park, dog, ball,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     red, run, play, happy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Accept any reasonable spoken phrasing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     for the comprehension answers.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