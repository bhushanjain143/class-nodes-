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731520"/>
            <a:ext cx="731520" cy="731520"/>
          </a:xfrm>
          <a:prstGeom prst="ellipse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777240"/>
            <a:ext cx="731520" cy="731520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5303520"/>
            <a:ext cx="731520" cy="73152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5257800"/>
            <a:ext cx="731520" cy="731520"/>
          </a:xfrm>
          <a:prstGeom prst="ellipse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32B38"/>
                </a:solidFill>
                <a:latin typeface="Calibri"/>
              </a:rPr>
              <a:t>🕵️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Georgia"/>
              </a:rPr>
              <a:t>The Great Reading Adventure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52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3FD"/>
                </a:solidFill>
                <a:latin typeface="Calibri"/>
              </a:rPr>
              <a:t>Welcome, Reading Detective!  •  Grade 2  •  90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566160"/>
            <a:ext cx="6126480" cy="1188720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79476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🐶 Puppy lost his backpack.
Read the clues and help him find it!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C530"/>
                </a:solidFill>
                <a:latin typeface="Calibri"/>
              </a:rPr>
              <a:t>🔤 Sounds → 🎵 Blending → 🧩 Words → 💎 Sight Words → 📖 Sentences → 📚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19088"/>
            <a:ext cx="32950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Welcome  |  0–7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37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🐶 Meet Puppy, Your Partner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901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Meet Puppy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5120640" cy="45262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9B95"/>
                </a:solidFill>
                <a:latin typeface="Arial Black"/>
              </a:rPr>
              <a:t>PUPPY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Your reading partner today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463040"/>
            <a:ext cx="58521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0" y="1682496"/>
            <a:ext cx="530352" cy="530352"/>
          </a:xfrm>
          <a:prstGeom prst="ellipse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737360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B38"/>
                </a:solidFill>
                <a:latin typeface="Calibri"/>
              </a:rPr>
              <a:t>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Puppy lost his red backpack.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2578608"/>
            <a:ext cx="58521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0" y="2798064"/>
            <a:ext cx="530352" cy="530352"/>
          </a:xfrm>
          <a:prstGeom prst="ellipse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852928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B38"/>
                </a:solidFill>
                <a:latin typeface="Calibri"/>
              </a:rPr>
              <a:t>🏞️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529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He lost it somewhere in the park.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3694176"/>
            <a:ext cx="58521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0" y="3913632"/>
            <a:ext cx="530352" cy="530352"/>
          </a:xfrm>
          <a:prstGeom prst="ellipse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968496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B38"/>
                </a:solidFill>
                <a:latin typeface="Calibri"/>
              </a:rPr>
              <a:t>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684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Every clue is a word to read.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4809744"/>
            <a:ext cx="58521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0" y="5029200"/>
            <a:ext cx="530352" cy="530352"/>
          </a:xfrm>
          <a:prstGeom prst="ellipse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5084064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B38"/>
                </a:solidFill>
                <a:latin typeface="Calibri"/>
              </a:rPr>
              <a:t>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08406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You are the Reading Detective!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🗺️ Today's Mission — 7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8851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Mission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Finish a level, unlock the next one. 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90471" y="1920240"/>
            <a:ext cx="640080" cy="640080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0471" y="20208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670048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B788A"/>
                </a:solidFill>
                <a:latin typeface="Calibri"/>
              </a:rPr>
              <a:t>LEVEL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63240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8584F"/>
                </a:solidFill>
                <a:latin typeface="Calibri"/>
              </a:rPr>
              <a:t>Sounds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1737360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79975" y="1920240"/>
            <a:ext cx="640080" cy="640080"/>
          </a:xfrm>
          <a:prstGeom prst="ellipse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5" y="20208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2670048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B788A"/>
                </a:solidFill>
                <a:latin typeface="Calibri"/>
              </a:rPr>
              <a:t>LEVEL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063240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FA41C"/>
                </a:solidFill>
                <a:latin typeface="Calibri"/>
              </a:rPr>
              <a:t>Blending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737360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69479" y="1920240"/>
            <a:ext cx="640080" cy="64008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20208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670048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B788A"/>
                </a:solidFill>
                <a:latin typeface="Calibri"/>
              </a:rPr>
              <a:t>LEVEL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063240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9B95"/>
                </a:solidFill>
                <a:latin typeface="Calibri"/>
              </a:rPr>
              <a:t>Words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25712" y="1737360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58983" y="1920240"/>
            <a:ext cx="640080" cy="64008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58983" y="20208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670048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B788A"/>
                </a:solidFill>
                <a:latin typeface="Calibri"/>
              </a:rPr>
              <a:t>LEVEL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063240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8256C4"/>
                </a:solidFill>
                <a:latin typeface="Calibri"/>
              </a:rPr>
              <a:t>Sight Words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77639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90471" y="4160519"/>
            <a:ext cx="640080" cy="640080"/>
          </a:xfrm>
          <a:prstGeom prst="ellipse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90471" y="4261103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910327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B788A"/>
                </a:solidFill>
                <a:latin typeface="Calibri"/>
              </a:rPr>
              <a:t>LEVEL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303519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CA5E6"/>
                </a:solidFill>
                <a:latin typeface="Calibri"/>
              </a:rPr>
              <a:t>Sentences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6704" y="3977639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79975" y="4160519"/>
            <a:ext cx="640080" cy="640080"/>
          </a:xfrm>
          <a:prstGeom prst="ellipse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9975" y="4261103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4910327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B788A"/>
                </a:solidFill>
                <a:latin typeface="Calibri"/>
              </a:rPr>
              <a:t>LEVEL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6432" y="5303519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D9B5A"/>
                </a:solidFill>
                <a:latin typeface="Calibri"/>
              </a:rPr>
              <a:t>Story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6208" y="3977639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69479" y="4160519"/>
            <a:ext cx="640080" cy="640080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79" y="4261103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🕵️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4910327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B788A"/>
                </a:solidFill>
                <a:latin typeface="Calibri"/>
              </a:rPr>
              <a:t>LEVEL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5303519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05486"/>
                </a:solidFill>
                <a:latin typeface="Calibri"/>
              </a:rPr>
              <a:t>Detective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3977639"/>
            <a:ext cx="2606040" cy="201168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43434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120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READING
DETECTIVE BADGE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💬 Warm-Up — Let's Talk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1802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Warm-up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No reading yet. Just tell me about you!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20240"/>
            <a:ext cx="502920" cy="502920"/>
          </a:xfrm>
          <a:prstGeom prst="ellipse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97510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B38"/>
                </a:solidFill>
                <a:latin typeface="Calibri"/>
              </a:rPr>
              <a:t>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938528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What is your favorite animal?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928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2926080"/>
            <a:ext cx="502920" cy="502920"/>
          </a:xfrm>
          <a:prstGeom prst="ellipse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9809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B38"/>
                </a:solidFill>
                <a:latin typeface="Calibri"/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944368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What is your favorite color?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112928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931919"/>
            <a:ext cx="502920" cy="502920"/>
          </a:xfrm>
          <a:prstGeom prst="ellipse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98678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B38"/>
                </a:solidFill>
                <a:latin typeface="Calibri"/>
              </a:rPr>
              <a:t>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950207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What do you like to play?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754880"/>
            <a:ext cx="112928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937760"/>
            <a:ext cx="502920" cy="502920"/>
          </a:xfrm>
          <a:prstGeom prst="ellipse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9926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B38"/>
                </a:solidFill>
                <a:latin typeface="Calibri"/>
              </a:rPr>
              <a:t>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956048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What do you see in the picture?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42432"/>
            <a:ext cx="11292840" cy="54864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83387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⭐ Teacher answers first, then the student — it makes talking feel safe.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👀 Mini Game: I Spy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64752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I spy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I spy something... can you find it? Then read its word!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45920"/>
            <a:ext cx="5760720" cy="416052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5760720" cy="1600200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87452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39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8620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16052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97764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🏞️ The Park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737360"/>
            <a:ext cx="530352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901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A5A"/>
                </a:solidFill>
                <a:latin typeface="Calibri"/>
              </a:rPr>
              <a:t>I spy a dog.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340864"/>
            <a:ext cx="1920240" cy="41148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38658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A5E6"/>
                </a:solidFill>
                <a:latin typeface="Arial Black"/>
              </a:rPr>
              <a:t>DOG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07040" y="2011680"/>
            <a:ext cx="914400" cy="566928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20665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035808"/>
            <a:ext cx="530352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A5A"/>
                </a:solidFill>
                <a:latin typeface="Calibri"/>
              </a:rPr>
              <a:t>I spy a cat.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639312"/>
            <a:ext cx="1920240" cy="41148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68503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A5E6"/>
                </a:solidFill>
                <a:latin typeface="Arial Black"/>
              </a:rPr>
              <a:t>CAT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07040" y="3310128"/>
            <a:ext cx="914400" cy="566928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0" y="3364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334256"/>
            <a:ext cx="530352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4988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A5A"/>
                </a:solidFill>
                <a:latin typeface="Calibri"/>
              </a:rPr>
              <a:t>I spy the sun.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937760"/>
            <a:ext cx="1920240" cy="41148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9834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A5E6"/>
                </a:solidFill>
                <a:latin typeface="Arial Black"/>
              </a:rPr>
              <a:t>SUN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07040" y="4608576"/>
            <a:ext cx="914400" cy="566928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5623560"/>
            <a:ext cx="5303520" cy="6583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5760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5A"/>
                </a:solidFill>
                <a:latin typeface="Calibri"/>
              </a:rPr>
              <a:t>⭐ Point first, then say the word out loud.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🔤 LEVEL 1 — Phonics 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7703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Letter sounds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I say the sound → You say it back. Then I point → You tell 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37360"/>
            <a:ext cx="2121408" cy="20299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792224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05486"/>
                </a:solidFill>
                <a:latin typeface="Arial Black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46888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/m/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" y="2871216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926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33009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1737360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1792224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FA41C"/>
                </a:solidFill>
                <a:latin typeface="Arial Black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46888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43784" y="2871216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43784" y="2926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3784" y="33009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sun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1737360"/>
            <a:ext cx="2121408" cy="2029968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1792224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D9B5A"/>
                </a:solidFill>
                <a:latin typeface="Arial Black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46888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/t/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9784" y="2871216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9784" y="2926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4" y="33009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tree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1737360"/>
            <a:ext cx="2121408" cy="2029968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1792224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8584F"/>
                </a:solidFill>
                <a:latin typeface="Arial Black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46888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/p/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15784" y="2871216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15784" y="2926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4" y="33009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pig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1737360"/>
            <a:ext cx="2121408" cy="2029968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1792224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8256C4"/>
                </a:solidFill>
                <a:latin typeface="Arial Black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2468880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/b/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01784" y="2871216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01784" y="2926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1784" y="33009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bag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950208"/>
            <a:ext cx="2121408" cy="202996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005072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A5E6"/>
                </a:solidFill>
                <a:latin typeface="Arial Black"/>
              </a:rPr>
              <a:t>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468172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/k/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7784" y="5084064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" y="5138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" y="55138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cat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97480" y="3950208"/>
            <a:ext cx="2121408" cy="2029968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80" y="4005072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9B95"/>
                </a:solidFill>
                <a:latin typeface="Arial Black"/>
              </a:rP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468172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/d/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43784" y="5084064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43784" y="5138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43784" y="55138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dog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83480" y="3950208"/>
            <a:ext cx="2121408" cy="2029968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83480" y="4005072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8584F"/>
                </a:solidFill>
                <a:latin typeface="Arial Black"/>
              </a:rPr>
              <a:t>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83480" y="468172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/f/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29784" y="5084064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9784" y="5138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9784" y="55138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fox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69480" y="3950208"/>
            <a:ext cx="2121408" cy="20299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480" y="4005072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05486"/>
                </a:solidFill>
                <a:latin typeface="Arial Black"/>
              </a:rP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468172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/n/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15784" y="5084064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15784" y="5138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15784" y="55138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nose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55480" y="3950208"/>
            <a:ext cx="2121408" cy="2029968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55480" y="4005072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D9B5A"/>
                </a:solidFill>
                <a:latin typeface="Arial Black"/>
              </a:rPr>
              <a:t>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55480" y="4681728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/r/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01784" y="5084064"/>
            <a:ext cx="1828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01784" y="5138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01784" y="55138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A5A"/>
                </a:solidFill>
                <a:latin typeface="Calibri"/>
              </a:rPr>
              <a:t>red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🔎 Game: Sound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30653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Sound detective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What sound does the word START with?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993392"/>
            <a:ext cx="502920" cy="50292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574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9751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19933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DOG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938528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993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A.  /m/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938528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1993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B.  /d/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1938528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1993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C.  /s/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871215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127247"/>
            <a:ext cx="502920" cy="50292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191255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10895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12724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CAT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072383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12724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A.  /k/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3072383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12724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B.  /t/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3072383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59" y="312724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C.  /n/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005072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261104"/>
            <a:ext cx="502920" cy="50292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32511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2428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2611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SUN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4206240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261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A.  /p/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78040" y="4206240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261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B.  /f/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4206240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59" y="4261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C.  /s/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66360"/>
            <a:ext cx="11292840" cy="105156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32180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5A"/>
                </a:solidFill>
                <a:latin typeface="Calibri"/>
              </a:rPr>
              <a:t>🔎 Detective tip: stretch the first sound — "ddddog" — then ask again.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70585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A5A"/>
                </a:solidFill>
                <a:latin typeface="Calibri"/>
              </a:rPr>
              <a:t>Still tricky? Cover one wrong answer so only two are left.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🔎 Sound Detective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3604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Sound detective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These clues are a little harder, Detective!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993392"/>
            <a:ext cx="502920" cy="50292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574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9751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19933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BAG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938528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993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A.  /b/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938528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1993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B.  /d/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1938528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1993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C.  /r/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871215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127247"/>
            <a:ext cx="502920" cy="50292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191255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10895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12724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FOX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072383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12724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A.  /s/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3072383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12724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B.  /f/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3072383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59" y="312724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C.  /m/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005072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261104"/>
            <a:ext cx="502920" cy="50292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32511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2428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2611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TREE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4206240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261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A.  /t/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78040" y="4206240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261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B.  /p/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4206240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59" y="4261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C.  /n/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38927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" y="5394959"/>
            <a:ext cx="502920" cy="50292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45896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376671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🗺️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539495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MAP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46320" y="5340095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53949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A.  /n/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5340095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53949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B.  /r/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59" y="5340095"/>
            <a:ext cx="2103120" cy="58521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59" y="53949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C.  /m/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🎵 LEVEL 2 — Sounds Hold Hands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96554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Blending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11292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1691640"/>
            <a:ext cx="1737360" cy="164592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CA5E6"/>
                </a:solidFill>
                <a:latin typeface="Arial Black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/k/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103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1691640"/>
            <a:ext cx="1737360" cy="164592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584F"/>
                </a:solidFill>
                <a:latin typeface="Arial Black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/a/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103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691640"/>
            <a:ext cx="1737360" cy="164592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D9B5A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10312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84F"/>
                </a:solidFill>
                <a:latin typeface="Calibri"/>
              </a:rPr>
              <a:t>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691640"/>
            <a:ext cx="2514600" cy="164592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181051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E2A5A"/>
                </a:solidFill>
                <a:latin typeface="Arial Black"/>
              </a:rPr>
              <a:t>CAT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697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31920"/>
            <a:ext cx="3566160" cy="13716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32B38"/>
                </a:solidFill>
                <a:latin typeface="Calibri"/>
              </a:rPr>
              <a:t>1️⃣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I blend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Listen and follow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931920"/>
            <a:ext cx="3566160" cy="137160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32B38"/>
                </a:solidFill>
                <a:latin typeface="Calibri"/>
              </a:rPr>
              <a:t>2️⃣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We blend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Say it with 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931920"/>
            <a:ext cx="3566160" cy="1371600"/>
          </a:xfrm>
          <a:prstGeom prst="round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32B38"/>
                </a:solidFill>
                <a:latin typeface="Calibri"/>
              </a:rPr>
              <a:t>3️⃣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 blend it!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Your turn 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3212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84F"/>
                </a:solidFill>
                <a:latin typeface="Calibri"/>
              </a:rPr>
              <a:t>🐢 Slow:  /k/ ... /a/ ... /t/        🐇 Fast:  CAT!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🚂 Game: Sound 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9505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Sound train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Each car holds one sound. Push them together and read the word!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965960"/>
            <a:ext cx="1417320" cy="84124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02082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A5E6"/>
                </a:solidFill>
                <a:latin typeface="Arial Black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688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/k/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2130552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1965960"/>
            <a:ext cx="1417320" cy="84124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202082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A5E6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4688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/a/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2130552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1965960"/>
            <a:ext cx="1417320" cy="84124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202082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A5E6"/>
                </a:solidFill>
                <a:latin typeface="Arial Black"/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4688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112264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84F"/>
                </a:solidFill>
                <a:latin typeface="Calibri"/>
              </a:rPr>
              <a:t>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1965960"/>
            <a:ext cx="265176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057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E2A5A"/>
                </a:solidFill>
                <a:latin typeface="Arial Black"/>
              </a:rPr>
              <a:t>CAT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0574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44200" y="2130552"/>
            <a:ext cx="100584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22037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B38"/>
                </a:solidFill>
                <a:latin typeface="Calibri"/>
              </a:rPr>
              <a:t>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264408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3447288"/>
            <a:ext cx="1417320" cy="84124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50215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05486"/>
                </a:solidFill>
                <a:latin typeface="Arial Black"/>
              </a:rPr>
              <a:t>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9502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/m/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848" y="36118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68880" y="3447288"/>
            <a:ext cx="1417320" cy="84124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350215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05486"/>
                </a:solidFill>
                <a:latin typeface="Arial Black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39502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/a/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4488" y="36118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3447288"/>
            <a:ext cx="1417320" cy="84124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350215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05486"/>
                </a:solidFill>
                <a:latin typeface="Arial Black"/>
              </a:rP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39502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/t/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35935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84F"/>
                </a:solidFill>
                <a:latin typeface="Calibri"/>
              </a:rPr>
              <a:t>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3447288"/>
            <a:ext cx="265176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353872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E2A5A"/>
                </a:solidFill>
                <a:latin typeface="Arial Black"/>
              </a:rPr>
              <a:t>MAT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353872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🟫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744200" y="3611880"/>
            <a:ext cx="100584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44200" y="36850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B38"/>
                </a:solidFill>
                <a:latin typeface="Calibri"/>
              </a:rPr>
              <a:t>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745736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77240" y="4928616"/>
            <a:ext cx="141732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49834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4315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12848" y="5093208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68880" y="4928616"/>
            <a:ext cx="141732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80" y="49834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54315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/u/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4488" y="5093208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60520" y="4928616"/>
            <a:ext cx="141732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0520" y="49834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60520" y="54315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/n/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0" y="50749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84F"/>
                </a:solidFill>
                <a:latin typeface="Calibri"/>
              </a:rPr>
              <a:t>➡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66560" y="4928616"/>
            <a:ext cx="265176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0" y="5020056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E2A5A"/>
                </a:solidFill>
                <a:latin typeface="Arial Black"/>
              </a:rPr>
              <a:t>SUN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5020056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744200" y="5093208"/>
            <a:ext cx="100584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44200" y="51663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B38"/>
                </a:solidFill>
                <a:latin typeface="Calibri"/>
              </a:rPr>
              <a:t>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🔤 Game: Build the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62455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Build the word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Say each sound, then blend them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965960"/>
            <a:ext cx="1417320" cy="841248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02082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84F"/>
                </a:solidFill>
                <a:latin typeface="Arial Black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688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/p/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2130552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1965960"/>
            <a:ext cx="1417320" cy="841248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202082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84F"/>
                </a:solidFill>
                <a:latin typeface="Arial Black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4688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/i/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2130552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1965960"/>
            <a:ext cx="1417320" cy="841248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202082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84F"/>
                </a:solidFill>
                <a:latin typeface="Arial Black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4688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/g/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112264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84F"/>
                </a:solidFill>
                <a:latin typeface="Calibri"/>
              </a:rPr>
              <a:t>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1965960"/>
            <a:ext cx="265176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057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E2A5A"/>
                </a:solidFill>
                <a:latin typeface="Arial Black"/>
              </a:rPr>
              <a:t>PIG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0574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44200" y="2130552"/>
            <a:ext cx="100584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22037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B38"/>
                </a:solidFill>
                <a:latin typeface="Calibri"/>
              </a:rPr>
              <a:t>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264408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3447288"/>
            <a:ext cx="1417320" cy="841248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50215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B95"/>
                </a:solidFill>
                <a:latin typeface="Arial Black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9502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/d/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848" y="36118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68880" y="3447288"/>
            <a:ext cx="1417320" cy="841248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350215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B95"/>
                </a:solidFill>
                <a:latin typeface="Arial Black"/>
              </a:rP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39502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/o/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4488" y="36118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3447288"/>
            <a:ext cx="1417320" cy="841248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350215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B95"/>
                </a:solidFill>
                <a:latin typeface="Arial Black"/>
              </a:rPr>
              <a:t>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39502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/g/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35935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84F"/>
                </a:solidFill>
                <a:latin typeface="Calibri"/>
              </a:rPr>
              <a:t>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3447288"/>
            <a:ext cx="265176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353872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E2A5A"/>
                </a:solidFill>
                <a:latin typeface="Arial Black"/>
              </a:rPr>
              <a:t>DOG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353872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744200" y="3611880"/>
            <a:ext cx="100584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44200" y="36850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B38"/>
                </a:solidFill>
                <a:latin typeface="Calibri"/>
              </a:rPr>
              <a:t>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745736"/>
            <a:ext cx="112928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77240" y="4928616"/>
            <a:ext cx="1417320" cy="841248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49834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D9B5A"/>
                </a:solidFill>
                <a:latin typeface="Arial Black"/>
              </a:rP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4315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/r/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12848" y="5093208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68880" y="4928616"/>
            <a:ext cx="1417320" cy="841248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80" y="49834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D9B5A"/>
                </a:solidFill>
                <a:latin typeface="Arial Black"/>
              </a:rPr>
              <a:t>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54315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/u/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4488" y="5093208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60520" y="4928616"/>
            <a:ext cx="1417320" cy="841248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0520" y="49834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D9B5A"/>
                </a:solidFill>
                <a:latin typeface="Arial Black"/>
              </a:rPr>
              <a:t>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60520" y="54315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/n/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0" y="50749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84F"/>
                </a:solidFill>
                <a:latin typeface="Calibri"/>
              </a:rPr>
              <a:t>➡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66560" y="4928616"/>
            <a:ext cx="2651760" cy="84124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0" y="5020056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E2A5A"/>
                </a:solidFill>
                <a:latin typeface="Arial Black"/>
              </a:rPr>
              <a:t>RUN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5020056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🏃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744200" y="5093208"/>
            <a:ext cx="100584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44200" y="51663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B38"/>
                </a:solidFill>
                <a:latin typeface="Calibri"/>
              </a:rPr>
              <a:t>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🧩 LEVEL 3 — CVC Words &amp; Word Families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95406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Word families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Change the first sound and you get a brand new word!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706624" cy="406908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38528"/>
            <a:ext cx="27066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0432" y="2633472"/>
            <a:ext cx="1280160" cy="530352"/>
          </a:xfrm>
          <a:prstGeom prst="round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27249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- 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10128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64992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31920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86784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bat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53712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08576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mat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75504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30368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sat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46704" y="1737360"/>
            <a:ext cx="2706624" cy="40690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6704" y="1938528"/>
            <a:ext cx="27066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59936" y="2633472"/>
            <a:ext cx="1280160" cy="530352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9936" y="27249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- 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66744" y="3310128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6744" y="3364992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dog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66744" y="3931920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6744" y="3986784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1737360"/>
            <a:ext cx="2706624" cy="406908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1938528"/>
            <a:ext cx="27066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2633472"/>
            <a:ext cx="1280160" cy="530352"/>
          </a:xfrm>
          <a:prstGeom prst="round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27249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- 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56248" y="3310128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3364992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sun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56248" y="3931920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3986784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run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25712" y="1737360"/>
            <a:ext cx="2706624" cy="40690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1938528"/>
            <a:ext cx="27066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32B38"/>
                </a:solidFill>
                <a:latin typeface="Calibri"/>
              </a:rPr>
              <a:t>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38944" y="2633472"/>
            <a:ext cx="1280160" cy="530352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38944" y="27249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- ig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45752" y="3310128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5752" y="3364992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pig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45752" y="3931920"/>
            <a:ext cx="2066543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45752" y="3986784"/>
            <a:ext cx="206654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big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👾 Game: Feed the Reading Monster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28356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Feed the monster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The monster only eats the RIGHT word. Find it and read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1837944"/>
            <a:ext cx="420624" cy="420624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83664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18196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18562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84F"/>
                </a:solidFill>
                <a:latin typeface="Calibri"/>
              </a:rPr>
              <a:t>Monster wants  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792224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82880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CAT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792224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182880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DOG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1792224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182880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SUN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459736"/>
            <a:ext cx="11292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2606040"/>
            <a:ext cx="420624" cy="420624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651760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25877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262432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84F"/>
                </a:solidFill>
                <a:latin typeface="Calibri"/>
              </a:rPr>
              <a:t>Monster wants  DOG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2560320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59689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MAT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2560320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259689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DOG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2560320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59" y="259689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PIG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27832"/>
            <a:ext cx="11292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" y="3374136"/>
            <a:ext cx="420624" cy="420624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19856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3355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33924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84F"/>
                </a:solidFill>
                <a:latin typeface="Calibri"/>
              </a:rPr>
              <a:t>Monster wants  SUN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3328416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3649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SUN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78040" y="3328416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33649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BAT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3328416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59" y="33649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RUN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95928"/>
            <a:ext cx="11292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0080" y="4142232"/>
            <a:ext cx="420624" cy="420624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187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412394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1680" y="416052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84F"/>
                </a:solidFill>
                <a:latin typeface="Calibri"/>
              </a:rPr>
              <a:t>Monster wants  PIG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46320" y="4096512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41330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BIG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4096512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41330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PIG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59" y="4096512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59" y="41330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LOG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4764024"/>
            <a:ext cx="11292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0080" y="4910328"/>
            <a:ext cx="420624" cy="420624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956048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34440" y="4892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492861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84F"/>
                </a:solidFill>
                <a:latin typeface="Calibri"/>
              </a:rPr>
              <a:t>Monster wants  BAG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46320" y="4864608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6320" y="490118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BAG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78040" y="4864608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78040" y="490118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BIG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09759" y="4864608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59" y="490118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BAT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532120"/>
            <a:ext cx="11292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40080" y="5678424"/>
            <a:ext cx="420624" cy="420624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5724144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34440" y="566013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🏃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11680" y="569671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84F"/>
                </a:solidFill>
                <a:latin typeface="Calibri"/>
              </a:rPr>
              <a:t>Monster wants  RUN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46320" y="5632704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46320" y="566928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SUN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178040" y="5632704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78040" y="566928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FUN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09759" y="5632704"/>
            <a:ext cx="2103120" cy="512064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09759" y="566928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RUN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🐾 Game: Word Hunt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61307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Word hunt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Point to the word I say — then read it out loud!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12848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2848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SUN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8496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DOG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144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BAG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9792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BIG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12848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12848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CAT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68496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68496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MAT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24144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24144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SUN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PIG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DOG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12848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12848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68496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8496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BAG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24144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24144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RUN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79792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9792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A5A"/>
                </a:solidFill>
                <a:latin typeface="Calibri"/>
              </a:rPr>
              <a:t>BIG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2600" y="1737360"/>
            <a:ext cx="2377440" cy="3465576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5480" y="18836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Find these: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2359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B38"/>
                </a:solidFill>
                <a:latin typeface="Calibri"/>
              </a:rPr>
              <a:t>1.  CAT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27980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B38"/>
                </a:solidFill>
                <a:latin typeface="Calibri"/>
              </a:rPr>
              <a:t>2.  SUN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32369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B38"/>
                </a:solidFill>
                <a:latin typeface="Calibri"/>
              </a:rPr>
              <a:t>3.  DOG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20" y="3675887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B38"/>
                </a:solidFill>
                <a:latin typeface="Calibri"/>
              </a:rPr>
              <a:t>4.  BAG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4114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B38"/>
                </a:solidFill>
                <a:latin typeface="Calibri"/>
              </a:rPr>
              <a:t>5.  RUN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5537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B38"/>
                </a:solidFill>
                <a:latin typeface="Calibri"/>
              </a:rPr>
              <a:t>6.  BIG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440680"/>
            <a:ext cx="8549640" cy="54864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53212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5A"/>
                </a:solidFill>
                <a:latin typeface="Calibri"/>
              </a:rPr>
              <a:t>⭐ Every word is hidden TWICE. Can you find both?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37–42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🎮 Brain Break: Read &amp; Move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94257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Read &amp; move  |  37–42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Read the word first — then do the move!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057400"/>
            <a:ext cx="1691640" cy="6858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2A5A"/>
                </a:solidFill>
                <a:latin typeface="Arial Black"/>
              </a:rPr>
              <a:t>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305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B38"/>
                </a:solidFill>
                <a:latin typeface="Calibri"/>
              </a:rPr>
              <a:t>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clap 2 times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783080"/>
            <a:ext cx="54406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2057400"/>
            <a:ext cx="1691640" cy="6858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2A5A"/>
                </a:solidFill>
                <a:latin typeface="Arial Black"/>
              </a:rPr>
              <a:t>DOG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1671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1305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B38"/>
                </a:solidFill>
                <a:latin typeface="Calibri"/>
              </a:rPr>
              <a:t>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touch your head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00400"/>
            <a:ext cx="54406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474720"/>
            <a:ext cx="1691640" cy="6858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661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2A5A"/>
                </a:solidFill>
                <a:latin typeface="Arial Black"/>
              </a:rPr>
              <a:t>SUN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584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5478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B38"/>
                </a:solidFill>
                <a:latin typeface="Calibri"/>
              </a:rPr>
              <a:t>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3611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stand 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200400"/>
            <a:ext cx="54406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3474720"/>
            <a:ext cx="1691640" cy="6858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5661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2A5A"/>
                </a:solidFill>
                <a:latin typeface="Arial Black"/>
              </a:rPr>
              <a:t>PIG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584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5478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B38"/>
                </a:solidFill>
                <a:latin typeface="Calibri"/>
              </a:rPr>
              <a:t>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3611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give yourself a high five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617720"/>
            <a:ext cx="54406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4892040"/>
            <a:ext cx="1691640" cy="6858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9834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2A5A"/>
                </a:solidFill>
                <a:latin typeface="Arial Black"/>
              </a:rPr>
              <a:t>BAG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001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4965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B38"/>
                </a:solidFill>
                <a:latin typeface="Calibri"/>
              </a:rPr>
              <a:t>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5029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tap the table 3 times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4617720"/>
            <a:ext cx="54406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55080" y="4892040"/>
            <a:ext cx="1691640" cy="6858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9834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2A5A"/>
                </a:solidFill>
                <a:latin typeface="Arial Black"/>
              </a:rPr>
              <a:t>RUN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001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A"/>
                </a:solidFill>
                <a:latin typeface="Calibri"/>
              </a:rPr>
              <a:t>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9651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B38"/>
                </a:solidFill>
                <a:latin typeface="Calibri"/>
              </a:rPr>
              <a:t>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5029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run in place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42–52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💎 LEVEL 4 — Sight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7208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Sight words  |  42–52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We do NOT sound these out. We just know them by sight!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7160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148840"/>
            <a:ext cx="1463040" cy="502920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311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Group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B95"/>
                </a:solidFill>
                <a:latin typeface="Arial Black"/>
              </a:rP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B95"/>
                </a:solidFill>
                <a:latin typeface="Arial Black"/>
              </a:rPr>
              <a:t>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B95"/>
                </a:solidFill>
                <a:latin typeface="Arial Black"/>
              </a:rPr>
              <a:t>the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B95"/>
                </a:solidFill>
                <a:latin typeface="Arial Black"/>
              </a:rPr>
              <a:t>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18688"/>
            <a:ext cx="11292840" cy="137160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3630168"/>
            <a:ext cx="1463040" cy="502920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71246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Group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84F"/>
                </a:solidFill>
                <a:latin typeface="Arial Black"/>
              </a:rPr>
              <a:t>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84F"/>
                </a:solidFill>
                <a:latin typeface="Arial Black"/>
              </a:rPr>
              <a:t>my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84F"/>
                </a:solidFill>
                <a:latin typeface="Arial Black"/>
              </a:rPr>
              <a:t>can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00016"/>
            <a:ext cx="11292840" cy="1371600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5111496"/>
            <a:ext cx="1463040" cy="502920"/>
          </a:xfrm>
          <a:prstGeom prst="round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1937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Group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6888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256C4"/>
                </a:solidFill>
                <a:latin typeface="Arial Black"/>
              </a:rPr>
              <a:t>see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0060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256C4"/>
                </a:solidFill>
                <a:latin typeface="Arial Black"/>
              </a:rPr>
              <a:t>you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256C4"/>
                </a:solidFill>
                <a:latin typeface="Arial Black"/>
              </a:rPr>
              <a:t>we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32B3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42–52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💎 Game: Sight Word Treasure Hunt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0158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Treasure hunt  |  42–52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Find the word to unlock the next spot on the map!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847088"/>
            <a:ext cx="420624" cy="42062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92808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828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1865376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95"/>
                </a:solidFill>
                <a:latin typeface="Calibri"/>
              </a:rPr>
              <a:t>Find  the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801368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83794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801368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183794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dog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1801368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183794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sun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532888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2688336"/>
            <a:ext cx="420624" cy="42062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734056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2670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270662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95"/>
                </a:solidFill>
                <a:latin typeface="Calibri"/>
              </a:rPr>
              <a:t>Find  can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2642616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6791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cat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2642616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26791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can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2642616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59" y="26791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374136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3529584"/>
            <a:ext cx="420624" cy="42062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3575304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5112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🗺️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547872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95"/>
                </a:solidFill>
                <a:latin typeface="Calibri"/>
              </a:rPr>
              <a:t>Find  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3483864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5204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78040" y="3483864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35204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3483864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59" y="35204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215384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" y="4370832"/>
            <a:ext cx="420624" cy="42062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4165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435254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🗺️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4389120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95"/>
                </a:solidFill>
                <a:latin typeface="Calibri"/>
              </a:rPr>
              <a:t>Find  my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46320" y="4325112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43616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4325112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43616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my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59" y="4325112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59" y="43616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may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056632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8368" y="5212080"/>
            <a:ext cx="420624" cy="42062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5257800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5193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🗺️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523036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95"/>
                </a:solidFill>
                <a:latin typeface="Calibri"/>
              </a:rPr>
              <a:t>Find  see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46320" y="5166360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6320" y="520293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see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78040" y="5166360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78040" y="520293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sea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09759" y="5166360"/>
            <a:ext cx="2103120" cy="512064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59" y="520293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A5A"/>
                </a:solidFill>
                <a:latin typeface="Calibri"/>
              </a:rPr>
              <a:t>so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897880"/>
            <a:ext cx="11292840" cy="4572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5980176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5A"/>
                </a:solidFill>
                <a:latin typeface="Calibri"/>
              </a:rPr>
              <a:t>🏴 Five stops found — the treasure is the next game!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42–52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🎲 Game: Roll &amp;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93109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Roll &amp; read  |  42–52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Pick a number, read that word. Read all six to win!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9397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286000"/>
            <a:ext cx="2286000" cy="1051560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4688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05486"/>
                </a:solidFill>
                <a:latin typeface="Arial Black"/>
              </a:rPr>
              <a:t>the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78308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80560" y="2011680"/>
            <a:ext cx="640080" cy="640080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09397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286000"/>
            <a:ext cx="2286000" cy="1051560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24688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05486"/>
                </a:solidFill>
                <a:latin typeface="Arial Black"/>
              </a:rPr>
              <a:t>can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78308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2011680"/>
            <a:ext cx="640080" cy="640080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09397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2286000"/>
            <a:ext cx="2286000" cy="1051560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24688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05486"/>
                </a:solidFill>
                <a:latin typeface="Arial Black"/>
              </a:rPr>
              <a:t>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4160520"/>
            <a:ext cx="640080" cy="640080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428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08760" y="4434840"/>
            <a:ext cx="2286000" cy="1051560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8760" y="4617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05486"/>
                </a:solidFill>
                <a:latin typeface="Arial Black"/>
              </a:rPr>
              <a:t>you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93192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80560" y="4160520"/>
            <a:ext cx="640080" cy="640080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2428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4434840"/>
            <a:ext cx="2286000" cy="1051560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4617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05486"/>
                </a:solidFill>
                <a:latin typeface="Arial Black"/>
              </a:rPr>
              <a:t>we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93192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75320" y="4160520"/>
            <a:ext cx="640080" cy="640080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42428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4434840"/>
            <a:ext cx="2286000" cy="1051560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4617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05486"/>
                </a:solidFill>
                <a:latin typeface="Arial Black"/>
              </a:rPr>
              <a:t>is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52–62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📖 LEVEL 5 — Now We Read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26060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Sentences  |  52–62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1129284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783080"/>
            <a:ext cx="137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965960"/>
            <a:ext cx="9052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E2A5A"/>
                </a:solidFill>
                <a:latin typeface="Arial Black"/>
              </a:rPr>
              <a:t>I see a dog.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3566160" cy="13716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32B38"/>
                </a:solidFill>
                <a:latin typeface="Calibri"/>
              </a:rPr>
              <a:t>1️⃣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I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Listen and follow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77639"/>
            <a:ext cx="3566160" cy="137160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32B38"/>
                </a:solidFill>
                <a:latin typeface="Calibri"/>
              </a:rPr>
              <a:t>2️⃣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We read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Say it with 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977639"/>
            <a:ext cx="3566160" cy="1371600"/>
          </a:xfrm>
          <a:prstGeom prst="round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32B38"/>
                </a:solidFill>
                <a:latin typeface="Calibri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 read it!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Your turn 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84F"/>
                </a:solidFill>
                <a:latin typeface="Calibri"/>
              </a:rPr>
              <a:t>👉 Point under each word as you read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52–62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🧩 Game: Build the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9010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Build it  |  52–62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The words fell out of order! Put them back, then read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847088"/>
            <a:ext cx="420624" cy="420624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92808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828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1801368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183794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dog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801368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83794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59" y="1801368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183794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801368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837944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see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532888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2688336"/>
            <a:ext cx="420624" cy="420624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734056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2670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03120" y="2642616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26791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2642616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6791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The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59" y="2642616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59" y="26791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2642616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267919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dog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374136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" y="3529584"/>
            <a:ext cx="420624" cy="420624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575304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5112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3483864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35204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big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4840" y="3483864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35204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66559" y="3483864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59" y="35204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The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8280" y="3483864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8280" y="352044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cat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215384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8368" y="4370832"/>
            <a:ext cx="420624" cy="420624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44165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435254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🏃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03120" y="4325112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03120" y="43616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run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34840" y="4325112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43616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66559" y="4325112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66559" y="43616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can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056632"/>
            <a:ext cx="11292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8368" y="5212080"/>
            <a:ext cx="420624" cy="420624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5257800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" y="5193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03120" y="5166360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03120" y="520293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hot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34840" y="5166360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520293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The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66559" y="5166360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66559" y="520293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98280" y="5166360"/>
            <a:ext cx="2103120" cy="512064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98280" y="5202936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Calibri"/>
              </a:rPr>
              <a:t>sun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897880"/>
            <a:ext cx="11292840" cy="45720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980176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5A"/>
                </a:solidFill>
                <a:latin typeface="Calibri"/>
              </a:rPr>
              <a:t>🔎 Clue: the first word has a CAPITAL letter. The last word has the period.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52–62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⭐ Sentence Reading — Your 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1961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Sentences  |  52–62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I read → We read → YOU read. Take your time!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00584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56816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938528"/>
            <a:ext cx="7589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Arial Black"/>
              </a:rPr>
              <a:t>The dog can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993392"/>
            <a:ext cx="1920240" cy="502920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075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11292840" cy="100584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9816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081528"/>
            <a:ext cx="7589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Arial Black"/>
              </a:rPr>
              <a:t>The cat is big.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3136392"/>
            <a:ext cx="1920240" cy="502920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11292840" cy="1005840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42816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32B38"/>
                </a:solidFill>
                <a:latin typeface="Calibri"/>
              </a:rPr>
              <a:t>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224528"/>
            <a:ext cx="7589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Arial Black"/>
              </a:rPr>
              <a:t>I can run.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4279392"/>
            <a:ext cx="1920240" cy="502920"/>
          </a:xfrm>
          <a:prstGeom prst="round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4361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66360"/>
            <a:ext cx="11292840" cy="100584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85816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367528"/>
            <a:ext cx="7589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Arial Black"/>
              </a:rPr>
              <a:t>The sun is hot.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5422392"/>
            <a:ext cx="1920240" cy="502920"/>
          </a:xfrm>
          <a:prstGeom prst="round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5504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355080"/>
            <a:ext cx="11292840" cy="18288"/>
          </a:xfrm>
          <a:prstGeom prst="round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🏞️ Picture Scene — What Do You See?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24911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Picture scene  |  62–70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Point to each thing and say its name out 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6949440" cy="420624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6949440" cy="1600200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87452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19" y="425196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02336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93192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32B38"/>
                </a:solidFill>
                <a:latin typeface="Calibri"/>
              </a:rPr>
              <a:t>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406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🏞️ Puppy's Park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91640"/>
            <a:ext cx="4114800" cy="4206240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A5A"/>
                </a:solidFill>
                <a:latin typeface="Calibri"/>
              </a:rPr>
              <a:t>I can see: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37744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4323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🐶 dog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92608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9809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🐱 cat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47472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35295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⚽ ball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02336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40782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🌳 tree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57200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6268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☀️ sun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512064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51755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👦 boy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🕵️ Game: Read the Clue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57862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Read the clue  |  62–70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Read the clue, then point to the right picture!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11680"/>
            <a:ext cx="475488" cy="475488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6654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The dog is big.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920240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97510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920240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97510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920240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97510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07791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" y="3182111"/>
            <a:ext cx="475488" cy="475488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236975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182111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I see a ball.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3090671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145535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3090671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145535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3090671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3145535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078224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" y="4352544"/>
            <a:ext cx="475488" cy="475488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40740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3525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The boy can run.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4261104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4315968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4261104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315968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4261104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4315968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48656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8368" y="5522976"/>
            <a:ext cx="475488" cy="475488"/>
          </a:xfrm>
          <a:prstGeom prst="ellipse">
            <a:avLst/>
          </a:prstGeom>
          <a:solidFill>
            <a:srgbClr val="E0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5778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5229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The sun is hot.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0" y="5431536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5486400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⚽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58200" y="5431536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5486400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5431536"/>
            <a:ext cx="1463040" cy="658368"/>
          </a:xfrm>
          <a:prstGeom prst="roundRect">
            <a:avLst/>
          </a:prstGeom>
          <a:solidFill>
            <a:srgbClr val="FD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40" y="5486400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VOCAB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📚 Story Words — Get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90812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Story words  |  70–80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Picture → Word → Sounds. These words are all in Puppy's story!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37360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865376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578608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dog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" y="3182112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246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/d/ /o/ /g/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1737360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865376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578608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cat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43784" y="3182112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43784" y="3246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/k/ /a/ /t/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1737360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1865376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578608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bag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9784" y="3182112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9784" y="3246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/b/ /a/ /g/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9480" y="1737360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1865376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578608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tree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15784" y="3182112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15784" y="3246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t - ree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5480" y="1737360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1865376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🏞️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2578608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park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01784" y="3182112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3246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p - ar - 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3950208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078224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☀️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479145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sun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784" y="5394960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/s/ /u/ /n/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97480" y="3950208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4078224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479145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run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43784" y="5394960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43784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/r/ /u/ /n/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3950208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80" y="4078224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479145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big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29784" y="5394960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29784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/b/ /i/ /g/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69480" y="3950208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9480" y="4078224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80" y="479145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red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15784" y="5394960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15784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/r/ /e/ /d/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55480" y="3950208"/>
            <a:ext cx="2121408" cy="2029968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55480" y="4078224"/>
            <a:ext cx="2121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4791456"/>
            <a:ext cx="2121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A41C"/>
                </a:solidFill>
                <a:latin typeface="Arial Black"/>
              </a:rPr>
              <a:t>happy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01784" y="5394960"/>
            <a:ext cx="1828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01784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88A"/>
                </a:solidFill>
                <a:latin typeface="Calibri"/>
              </a:rPr>
              <a:t>hap - py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📖 How We Read Puppy's 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23763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Reading method  |  70–80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Four rounds. You never have to read it alone the first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201168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039112"/>
            <a:ext cx="1417320" cy="457200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122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Teacher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8"/>
                </a:solidFill>
                <a:latin typeface="Calibri"/>
              </a:rPr>
              <a:t>I read it. You just listen.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83080"/>
            <a:ext cx="5440680" cy="20116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2039112"/>
            <a:ext cx="1417320" cy="457200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122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51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Echo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8"/>
                </a:solidFill>
                <a:latin typeface="Calibri"/>
              </a:rPr>
              <a:t>I read one line. You say it 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77639"/>
            <a:ext cx="5440680" cy="201168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233671"/>
            <a:ext cx="1417320" cy="457200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0682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463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Choral Reading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949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8"/>
                </a:solidFill>
                <a:latin typeface="Calibri"/>
              </a:rPr>
              <a:t>We read it together.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77639"/>
            <a:ext cx="544068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6520" y="4233671"/>
            <a:ext cx="1417320" cy="457200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30682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463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Independent 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3949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B38"/>
                </a:solidFill>
                <a:latin typeface="Calibri"/>
              </a:rPr>
              <a:t>You pick an easy line and read it.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📚 Puppy's Lost Backpack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56713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Part 1  |  70–80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goes to the park.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has a red bag.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The bag is big.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can run.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is happy.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429000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511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032504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2️⃣  You echo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636008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7183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3️⃣  We read together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5239512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5321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4️⃣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📚 Puppy's Lost Backpack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9664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Part 2  |  70–80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Calibri"/>
              </a:rPr>
              <a:t>Puppy sees a big tree.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0720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Calibri"/>
              </a:rPr>
              <a:t>Puppy can run and play.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3133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Calibri"/>
              </a:rPr>
              <a:t>Puppy sees a cat.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5546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Calibri"/>
              </a:rPr>
              <a:t>The cat can run too.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429000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511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1️⃣  I read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032504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2️⃣  You echo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636008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47183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3️⃣  We read together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239512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5321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4️⃣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📚 Puppy's Lost Backpack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22614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Part 3  |  70–80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Look! The bag is gone!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can not see the bag.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Where is the red bag?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looks and looks.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is sad.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32B38"/>
                </a:solidFill>
                <a:latin typeface="Calibri"/>
              </a:rPr>
              <a:t>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429000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511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032504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2️⃣  You echo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636008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7183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3️⃣  We read together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5239512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5321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4️⃣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📚 Puppy's Lost Backpack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5565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Part 4  |  70–80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Calibri"/>
              </a:rPr>
              <a:t>Puppy looks at the tree.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0720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Calibri"/>
              </a:rPr>
              <a:t>The bag is under the tree!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3133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Calibri"/>
              </a:rPr>
              <a:t>The cat sits on the bag.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5546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A5A"/>
                </a:solidFill>
                <a:latin typeface="Calibri"/>
              </a:rPr>
              <a:t>Look at that cat!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32B38"/>
                </a:solidFill>
                <a:latin typeface="Calibri"/>
              </a:rPr>
              <a:t>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429000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511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1️⃣  I read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032504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2️⃣  You echo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636008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47183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3️⃣  We read together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239512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5321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4️⃣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📚 Puppy's Lost Backpack — Part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88515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Part 5  |  70–80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sees the red bag.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and the cat play.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The sun is big and hot.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It is a fun day!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Puppy is happy!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32B38"/>
                </a:solidFill>
                <a:latin typeface="Calibri"/>
              </a:rPr>
              <a:t>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429000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511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032504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2️⃣  You echo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636008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7183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3️⃣  We read together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5239512"/>
            <a:ext cx="246888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5321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A5A"/>
                </a:solidFill>
                <a:latin typeface="Calibri"/>
              </a:rPr>
              <a:t>4️⃣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DETECTIVE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80–86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🕵️ LEVEL 7 — Story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21466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Comprehension  |  80–86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31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11292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286000"/>
            <a:ext cx="594360" cy="59436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77440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30428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Where did Puppy go?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783080"/>
            <a:ext cx="2011680" cy="1554480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School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783080"/>
            <a:ext cx="2011680" cy="1554480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🏞️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Park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783080"/>
            <a:ext cx="2011680" cy="1554480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Home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86200"/>
            <a:ext cx="11292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709160"/>
            <a:ext cx="594360" cy="594360"/>
          </a:xfrm>
          <a:prstGeom prst="ellipse">
            <a:avLst/>
          </a:prstGeom>
          <a:solidFill>
            <a:srgbClr val="82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2744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What color was the bag?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4206240"/>
            <a:ext cx="2011680" cy="1554480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4389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206240"/>
            <a:ext cx="2011680" cy="1554480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4389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Blue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4206240"/>
            <a:ext cx="2011680" cy="1554480"/>
          </a:xfrm>
          <a:prstGeom prst="roundRect">
            <a:avLst/>
          </a:prstGeom>
          <a:solidFill>
            <a:srgbClr val="EF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4389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Green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DETECTIVE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80–86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🧩 Comprehension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54416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Comprehension  |  80–86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32 /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11292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286000"/>
            <a:ext cx="594360" cy="59436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77440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30428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Where was the bag?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783080"/>
            <a:ext cx="2011680" cy="15544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Under the tree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783080"/>
            <a:ext cx="2011680" cy="15544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In the house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783080"/>
            <a:ext cx="2011680" cy="15544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At school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86200"/>
            <a:ext cx="11292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709160"/>
            <a:ext cx="594360" cy="59436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594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2744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How did Puppy feel at the end?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4206240"/>
            <a:ext cx="2011680" cy="15544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4389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Happy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206240"/>
            <a:ext cx="2011680" cy="15544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4389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Angry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4206240"/>
            <a:ext cx="2011680" cy="155448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4389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32B38"/>
                </a:solidFill>
                <a:latin typeface="Calibri"/>
              </a:rPr>
              <a:t>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Sad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86–88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⭐ Reading Detective — Final 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7367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Final mission  |  86–88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33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Read as many as you can. Every single one counts! 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92024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5A"/>
                </a:solidFill>
                <a:latin typeface="Calibri"/>
              </a:rPr>
              <a:t>3 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331720"/>
            <a:ext cx="3383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4203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8584F"/>
                </a:solidFill>
                <a:latin typeface="Arial Black"/>
              </a:rPr>
              <a:t>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331720"/>
            <a:ext cx="3383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54203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8584F"/>
                </a:solidFill>
                <a:latin typeface="Arial Black"/>
              </a:rPr>
              <a:t>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331720"/>
            <a:ext cx="33832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54203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8584F"/>
                </a:solidFill>
                <a:latin typeface="Arial Black"/>
              </a:rPr>
              <a:t>DOG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94760"/>
            <a:ext cx="11292840" cy="1920240"/>
          </a:xfrm>
          <a:prstGeom prst="roundRect">
            <a:avLst/>
          </a:prstGeom>
          <a:solidFill>
            <a:srgbClr val="DD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50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5A"/>
                </a:solidFill>
                <a:latin typeface="Calibri"/>
              </a:rPr>
              <a:t>2 SENTENCES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434840"/>
            <a:ext cx="106527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489704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I see a dog.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56631"/>
            <a:ext cx="1065276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11495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The cat can run.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52160"/>
            <a:ext cx="11292840" cy="457200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2531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⭐ Not a test — a celebration. Count every success out loud!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3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88–90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✅ What I Learned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20317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Recap  |  88–90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34 / 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84F"/>
                </a:solidFill>
                <a:latin typeface="Calibri"/>
              </a:rPr>
              <a:t>Look at everything you can do now!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90471" y="1938528"/>
            <a:ext cx="640080" cy="640080"/>
          </a:xfrm>
          <a:prstGeom prst="ellipse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0471" y="2039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74320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D9B5A"/>
                </a:solidFill>
                <a:latin typeface="Calibri"/>
              </a:rPr>
              <a:t>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182112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Sounds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1737360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79975" y="1938528"/>
            <a:ext cx="640080" cy="640080"/>
          </a:xfrm>
          <a:prstGeom prst="ellipse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5" y="2039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274320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D9B5A"/>
                </a:solidFill>
                <a:latin typeface="Calibri"/>
              </a:rPr>
              <a:t>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182112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Blending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737360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69479" y="1938528"/>
            <a:ext cx="640080" cy="640080"/>
          </a:xfrm>
          <a:prstGeom prst="ellipse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2039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74320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D9B5A"/>
                </a:solidFill>
                <a:latin typeface="Calibri"/>
              </a:rPr>
              <a:t>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182112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Words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25712" y="1737360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58983" y="1938528"/>
            <a:ext cx="640080" cy="640080"/>
          </a:xfrm>
          <a:prstGeom prst="ellipse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58983" y="2039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74320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D9B5A"/>
                </a:solidFill>
                <a:latin typeface="Calibri"/>
              </a:rPr>
              <a:t>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182112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Sight words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77639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90471" y="4178807"/>
            <a:ext cx="640080" cy="640080"/>
          </a:xfrm>
          <a:prstGeom prst="ellipse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90471" y="42793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983479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D9B5A"/>
                </a:solidFill>
                <a:latin typeface="Calibri"/>
              </a:rPr>
              <a:t>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422391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Sentences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6704" y="3977639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79975" y="4178807"/>
            <a:ext cx="640080" cy="640080"/>
          </a:xfrm>
          <a:prstGeom prst="ellipse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9975" y="42793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4983479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D9B5A"/>
                </a:solidFill>
                <a:latin typeface="Calibri"/>
              </a:rPr>
              <a:t>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6432" y="5422391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Story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6208" y="3977639"/>
            <a:ext cx="2706624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69479" y="4178807"/>
            <a:ext cx="640080" cy="640080"/>
          </a:xfrm>
          <a:prstGeom prst="ellipse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79" y="42793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B38"/>
                </a:solidFill>
                <a:latin typeface="Calibri"/>
              </a:rPr>
              <a:t>🕵️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4983479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D9B5A"/>
                </a:solidFill>
                <a:latin typeface="Calibri"/>
              </a:rPr>
              <a:t>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5422391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Comprehension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3977639"/>
            <a:ext cx="2606040" cy="2011680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420624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2A5A"/>
                </a:solidFill>
                <a:latin typeface="Calibri"/>
              </a:rPr>
              <a:t>🗣️ What was your favorite game today?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777240"/>
            <a:ext cx="731520" cy="731520"/>
          </a:xfrm>
          <a:prstGeom prst="ellipse">
            <a:avLst/>
          </a:prstGeom>
          <a:solidFill>
            <a:srgbClr val="2C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777240"/>
            <a:ext cx="731520" cy="731520"/>
          </a:xfrm>
          <a:prstGeom prst="ellipse">
            <a:avLst/>
          </a:prstGeom>
          <a:solidFill>
            <a:srgbClr val="E85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5257800"/>
            <a:ext cx="731520" cy="731520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5640" y="5212080"/>
            <a:ext cx="731520" cy="731520"/>
          </a:xfrm>
          <a:prstGeom prst="ellipse">
            <a:avLst/>
          </a:prstGeom>
          <a:solidFill>
            <a:srgbClr val="EFA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530"/>
                </a:solidFill>
                <a:latin typeface="Georgia"/>
              </a:rPr>
              <a:t>🏅 I AM A READING DETECTIVE! 🏅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1737360"/>
            <a:ext cx="2286000" cy="2286000"/>
          </a:xfrm>
          <a:prstGeom prst="ellipse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1945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32B38"/>
                </a:solidFill>
                <a:latin typeface="Calibri"/>
              </a:rPr>
              <a:t>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You worked hard today!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64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FFFFFF"/>
                </a:solidFill>
                <a:latin typeface="Calibri"/>
              </a:rPr>
              <a:t>Every word you read makes you stronger!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3F3FD"/>
                </a:solidFill>
                <a:latin typeface="Calibri"/>
              </a:rPr>
              <a:t>You helped Puppy find his backpack. Mission complete! 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19088"/>
            <a:ext cx="1153268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Badge  |  88–90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35 / 37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🧰 If the Student Is Struggling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6218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36 / 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84F"/>
                </a:solidFill>
                <a:latin typeface="Calibri"/>
              </a:rPr>
              <a:t>TEACHER ONLY — eight quick moves. Use them instead of giving the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91640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1874520"/>
            <a:ext cx="512064" cy="51206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29384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963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Reduce the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9008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Calibri"/>
              </a:rPr>
              <a:t>Show 2 words instead of 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2" y="1691640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02152" y="1874520"/>
            <a:ext cx="512064" cy="51206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1929384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24963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Use the picture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299008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Calibri"/>
              </a:rPr>
              <a:t>Let the picture give the clue first.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1691640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9944" y="1874520"/>
            <a:ext cx="512064" cy="51206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1929384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4963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Sound it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299008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Calibri"/>
              </a:rPr>
              <a:t>Break it: /d/ /o/ /g/ — then blend.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1691640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17736" y="1874520"/>
            <a:ext cx="512064" cy="51206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1929384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4963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Echo reading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299008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Calibri"/>
              </a:rPr>
              <a:t>You read the line, child repeats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977639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4160519"/>
            <a:ext cx="512064" cy="51206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215383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782311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Read together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276087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Calibri"/>
              </a:rPr>
              <a:t>Say it at the same time, same speed.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9272" y="3977639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02152" y="4160519"/>
            <a:ext cx="512064" cy="51206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02152" y="4215383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2152" y="4782311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Two choices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152" y="5276087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Calibri"/>
              </a:rPr>
              <a:t>Give 2 answer options, not 3.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7064" y="3977639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9944" y="4160519"/>
            <a:ext cx="512064" cy="51206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4215383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4782311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Repeat the word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9944" y="5276087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Calibri"/>
              </a:rPr>
              <a:t>Bring the same word back in another game.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34856" y="3977639"/>
            <a:ext cx="2743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17736" y="4160519"/>
            <a:ext cx="512064" cy="512064"/>
          </a:xfrm>
          <a:prstGeom prst="ellipse">
            <a:avLst/>
          </a:prstGeom>
          <a:solidFill>
            <a:srgbClr val="009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17736" y="4215383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17736" y="4782311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2A5A"/>
                </a:solidFill>
                <a:latin typeface="Calibri"/>
              </a:rPr>
              <a:t>Praise the effort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17736" y="5276087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B38"/>
                </a:solidFill>
                <a:latin typeface="Calibri"/>
              </a:rPr>
              <a:t>"Great try!" even when it is not correct.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🔒 Teacher Assessment &amp;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🕵️ The Great Reading Adventure  |  Grade 2  |  90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37 / 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84F"/>
                </a:solidFill>
                <a:latin typeface="Calibri"/>
              </a:rPr>
              <a:t>TEACHER ONLY — ANSWER KEY. Hide this slide before presenting.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27632"/>
            <a:ext cx="2743200" cy="402336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91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627632"/>
            <a:ext cx="1371600" cy="402336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6916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1627632"/>
            <a:ext cx="1371600" cy="402336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6916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627632"/>
            <a:ext cx="1280160" cy="402336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916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084832"/>
            <a:ext cx="27432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121408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Letter sounds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2084832"/>
            <a:ext cx="13716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1031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084832"/>
            <a:ext cx="13716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1031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084832"/>
            <a:ext cx="128016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103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468879"/>
            <a:ext cx="27432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505455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Blending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2468879"/>
            <a:ext cx="13716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248716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2468879"/>
            <a:ext cx="13716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248716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468879"/>
            <a:ext cx="128016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487167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852927"/>
            <a:ext cx="27432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889503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CVC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0" y="2852927"/>
            <a:ext cx="13716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287121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00600" y="2852927"/>
            <a:ext cx="13716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287121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2852927"/>
            <a:ext cx="128016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871215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236976"/>
            <a:ext cx="27432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273552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Sight words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1840" y="3236976"/>
            <a:ext cx="13716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32552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00600" y="3236976"/>
            <a:ext cx="13716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600" y="32552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3236976"/>
            <a:ext cx="128016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32552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621023"/>
            <a:ext cx="27432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657599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Sentence reading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91840" y="3621023"/>
            <a:ext cx="13716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0" y="363931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00600" y="3621023"/>
            <a:ext cx="13716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0" y="363931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3621023"/>
            <a:ext cx="128016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639311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4005072"/>
            <a:ext cx="27432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041648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Story reading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91840" y="4005072"/>
            <a:ext cx="13716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40233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00600" y="4005072"/>
            <a:ext cx="13716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40233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09360" y="4005072"/>
            <a:ext cx="128016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4023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4389120"/>
            <a:ext cx="27432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4425696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Comprehension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91840" y="4389120"/>
            <a:ext cx="13716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91840" y="44074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00600" y="4389120"/>
            <a:ext cx="13716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0600" y="44074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9360" y="4389120"/>
            <a:ext cx="128016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9360" y="44074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" y="4773168"/>
            <a:ext cx="27432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809744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Confidence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291840" y="4773168"/>
            <a:ext cx="13716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1840" y="4791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800600" y="4773168"/>
            <a:ext cx="137160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00600" y="4791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09360" y="4773168"/>
            <a:ext cx="1280160" cy="338328"/>
          </a:xfrm>
          <a:prstGeom prst="roundRect">
            <a:avLst/>
          </a:prstGeom>
          <a:solidFill>
            <a:srgbClr val="E3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47914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5230368"/>
            <a:ext cx="7178040" cy="329184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5266944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Words read independently: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1480" y="5614416"/>
            <a:ext cx="7178040" cy="329184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5650992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Words needing support: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11480" y="5998464"/>
            <a:ext cx="7178040" cy="329184"/>
          </a:xfrm>
          <a:prstGeom prst="roundRect">
            <a:avLst/>
          </a:prstGeom>
          <a:solidFill>
            <a:srgbClr val="FFF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603504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Next lesson focus: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772400" y="1627632"/>
            <a:ext cx="3977639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01000" y="17739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84F"/>
                </a:solidFill>
                <a:latin typeface="Calibri"/>
              </a:rPr>
              <a:t>🔑 ANSWER KEY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2176272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Sound Detective: d, k, s, b, f, t, m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Sound Train: CAT, MAT, SUN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Build the Word: PIG, DOG, RUN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Families: -at -og -un -ig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Monster: CAT DOG SUN PIG BAG RUN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Word Hunt: each word appears 2x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Treasure: the, can, I, my, see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Sentences: I see a dog. / The dog can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     run. / The cat is big. / I can run. /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     The sun is hot.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Clues: dog, ball, boy, sun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Story Q: Park / Red / Under the tree /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     Happy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32B38"/>
                </a:solidFill>
                <a:latin typeface="Calibri"/>
              </a:rPr>
              <a:t>•  Final: CAT SUN DOG + 2 sentences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