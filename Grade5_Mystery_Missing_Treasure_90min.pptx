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7492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18520" y="5029200"/>
            <a:ext cx="777240" cy="777240"/>
          </a:xfrm>
          <a:prstGeom prst="ellipse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32538"/>
                </a:solidFill>
                <a:latin typeface="Calibri"/>
              </a:rPr>
              <a:t>🕵️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</a:rPr>
              <a:t>The Mystery of the Missing Treasure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C9960C"/>
                </a:solidFill>
                <a:latin typeface="Calibri"/>
              </a:rPr>
              <a:t>Can You Solve the Mystery?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337560"/>
            <a:ext cx="1508760" cy="128016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5204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1480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FE2"/>
                </a:solidFill>
                <a:latin typeface="Calibri"/>
              </a:rPr>
              <a:t>an old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337560"/>
            <a:ext cx="1508760" cy="128016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5204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11480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FE2"/>
                </a:solidFill>
                <a:latin typeface="Calibri"/>
              </a:rPr>
              <a:t>a 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337560"/>
            <a:ext cx="1508760" cy="128016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5204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11480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FE2"/>
                </a:solidFill>
                <a:latin typeface="Calibri"/>
              </a:rPr>
              <a:t>a treasure chest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337560"/>
            <a:ext cx="1508760" cy="128016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5204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1480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FE2"/>
                </a:solidFill>
                <a:latin typeface="Calibri"/>
              </a:rPr>
              <a:t>footprints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337560"/>
            <a:ext cx="1508760" cy="128016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5204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11480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FE2"/>
                </a:solidFill>
                <a:latin typeface="Calibri"/>
              </a:rPr>
              <a:t>a door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337560"/>
            <a:ext cx="1508760" cy="128016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5204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11480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FE2"/>
                </a:solidFill>
                <a:latin typeface="Calibri"/>
              </a:rPr>
              <a:t>a magnifying glass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4892040"/>
            <a:ext cx="5669280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510235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Grade 5  •  90 Minutes  •  Reading + Grammar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221667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Briefing  |  0–7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55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BRIEFING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🕵️ Today You Are the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43334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Briefing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Here is your case. Read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486400" cy="411480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0" i="0">
                <a:solidFill>
                  <a:srgbClr val="232538"/>
                </a:solidFill>
                <a:latin typeface="Calibr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THE CASE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A treasure has gone missing. The only thing left behind is a very old map — and it is full of clues.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37360"/>
            <a:ext cx="5486400" cy="91440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193852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9339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84708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4A66"/>
                </a:solidFill>
                <a:latin typeface="Calibri"/>
              </a:rPr>
              <a:t>Your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23113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Solve the mystery by the end of class.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88920"/>
            <a:ext cx="5486400" cy="91440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299008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04495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8986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4A66"/>
                </a:solidFill>
                <a:latin typeface="Calibri"/>
              </a:rPr>
              <a:t>Your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28269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Reading, vocabulary, and grammar.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840479"/>
            <a:ext cx="5486400" cy="91440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92240" y="4041647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96511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950207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4A66"/>
                </a:solidFill>
                <a:latin typeface="Calibri"/>
              </a:rPr>
              <a:t>Your partner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334255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Me. You never work a clue alone.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892040"/>
            <a:ext cx="5486400" cy="91440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92240" y="509320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4807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00176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4A66"/>
                </a:solidFill>
                <a:latin typeface="Calibri"/>
              </a:rPr>
              <a:t>Your reward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3858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Five clue badges and the final answer.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🗣️ SPEAKING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916168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Read the case file out loud together before moving 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🎖️ Your Detective Mission — 5 Clue Badges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5001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Briefing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60C"/>
                </a:solidFill>
                <a:latin typeface="Calibri"/>
              </a:rPr>
              <a:t>Collect all five badges to unlock the final answer.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103120" cy="283464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32538"/>
                </a:solidFill>
                <a:latin typeface="Calibri"/>
              </a:rPr>
              <a:t>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Reading Clue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32538"/>
                </a:solidFill>
                <a:latin typeface="Calibri"/>
              </a:rPr>
              <a:t>Words &amp; sentences</a:t>
            </a:r>
          </a:p>
        </p:txBody>
      </p:sp>
      <p:sp>
        <p:nvSpPr>
          <p:cNvPr id="19" name="Oval 18"/>
          <p:cNvSpPr/>
          <p:nvPr/>
        </p:nvSpPr>
        <p:spPr>
          <a:xfrm>
            <a:off x="1280160" y="4114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  <a:latin typeface="Calibri"/>
              </a:rPr>
              <a:t>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34056" y="1737360"/>
            <a:ext cx="2103120" cy="283464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34056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32538"/>
                </a:solidFill>
                <a:latin typeface="Calibri"/>
              </a:rPr>
              <a:t>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5496" y="2743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C4AB6"/>
                </a:solidFill>
                <a:latin typeface="Calibri"/>
              </a:rPr>
              <a:t>Vocabulary Clue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1216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32538"/>
                </a:solidFill>
                <a:latin typeface="Calibri"/>
              </a:rPr>
              <a:t>Mystery words</a:t>
            </a:r>
          </a:p>
        </p:txBody>
      </p:sp>
      <p:sp>
        <p:nvSpPr>
          <p:cNvPr id="25" name="Oval 24"/>
          <p:cNvSpPr/>
          <p:nvPr/>
        </p:nvSpPr>
        <p:spPr>
          <a:xfrm>
            <a:off x="3557016" y="4114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57016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C4AB6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10912" y="1737360"/>
            <a:ext cx="2103120" cy="283464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912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32538"/>
                </a:solidFill>
                <a:latin typeface="Calibri"/>
              </a:rPr>
              <a:t>✏️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2743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449"/>
                </a:solidFill>
                <a:latin typeface="Calibri"/>
              </a:rPr>
              <a:t>Grammar Clue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32538"/>
                </a:solidFill>
                <a:latin typeface="Calibri"/>
              </a:rPr>
              <a:t>Parts of speech &amp; tenses</a:t>
            </a:r>
          </a:p>
        </p:txBody>
      </p:sp>
      <p:sp>
        <p:nvSpPr>
          <p:cNvPr id="31" name="Oval 30"/>
          <p:cNvSpPr/>
          <p:nvPr/>
        </p:nvSpPr>
        <p:spPr>
          <a:xfrm>
            <a:off x="5833872" y="4114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3872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8449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87768" y="1737360"/>
            <a:ext cx="2103120" cy="28346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7768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32538"/>
                </a:solidFill>
                <a:latin typeface="Calibri"/>
              </a:rPr>
              <a:t>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2743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18F96"/>
                </a:solidFill>
                <a:latin typeface="Calibri"/>
              </a:rPr>
              <a:t>Story Clue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8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32538"/>
                </a:solidFill>
                <a:latin typeface="Calibri"/>
              </a:rPr>
              <a:t>The old door</a:t>
            </a:r>
          </a:p>
        </p:txBody>
      </p:sp>
      <p:sp>
        <p:nvSpPr>
          <p:cNvPr id="37" name="Oval 36"/>
          <p:cNvSpPr/>
          <p:nvPr/>
        </p:nvSpPr>
        <p:spPr>
          <a:xfrm>
            <a:off x="8110728" y="4114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0728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8F96"/>
                </a:solidFill>
                <a:latin typeface="Calibri"/>
              </a:rPr>
              <a:t>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64624" y="1737360"/>
            <a:ext cx="2103120" cy="283464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64624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32538"/>
                </a:solidFill>
                <a:latin typeface="Calibri"/>
              </a:rPr>
              <a:t>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2743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960C"/>
                </a:solidFill>
                <a:latin typeface="Calibri"/>
              </a:rPr>
              <a:t>Final Clue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1784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32538"/>
                </a:solidFill>
                <a:latin typeface="Calibri"/>
              </a:rPr>
              <a:t>Solve the mystery</a:t>
            </a:r>
          </a:p>
        </p:txBody>
      </p:sp>
      <p:sp>
        <p:nvSpPr>
          <p:cNvPr id="43" name="Oval 42"/>
          <p:cNvSpPr/>
          <p:nvPr/>
        </p:nvSpPr>
        <p:spPr>
          <a:xfrm>
            <a:off x="10387584" y="4114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87584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960C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754880"/>
            <a:ext cx="11292840" cy="100584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86460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4A66"/>
                </a:solidFill>
                <a:latin typeface="Calibri"/>
              </a:rPr>
              <a:t>TODAY'S ROUTE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19379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1B32"/>
                </a:solidFill>
                <a:latin typeface="Calibri"/>
              </a:rPr>
              <a:t>READ → PLAY → GRAMMAR → SPEAK → READ → MOVE → GRAMMAR → GAME → STORY → CHALLENGE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🏅 REWARD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Tick a badge together the moment she earns it. Say it out loud.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WARM-UP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🔍 Warm-Up: The Mystery Scene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86668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Reading Clue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8F96"/>
                </a:solidFill>
                <a:latin typeface="Calibri"/>
              </a:rPr>
              <a:t>Look closely. What can you find?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19202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32538"/>
                </a:solidFill>
                <a:latin typeface="Calibri"/>
              </a:rPr>
              <a:t>🗺️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2971800"/>
            <a:ext cx="21945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0723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18F96"/>
                </a:solidFill>
                <a:latin typeface="Calibri"/>
              </a:rPr>
              <a:t>an old 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737360"/>
            <a:ext cx="3566160" cy="19202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96596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32538"/>
                </a:solidFill>
                <a:latin typeface="Calibri"/>
              </a:rPr>
              <a:t>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2971800"/>
            <a:ext cx="21945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0723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18F96"/>
                </a:solidFill>
                <a:latin typeface="Calibri"/>
              </a:rPr>
              <a:t>a key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737360"/>
            <a:ext cx="3566160" cy="19202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96596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32538"/>
                </a:solidFill>
                <a:latin typeface="Calibri"/>
              </a:rPr>
              <a:t>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2971800"/>
            <a:ext cx="21945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30723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18F96"/>
                </a:solidFill>
                <a:latin typeface="Calibri"/>
              </a:rPr>
              <a:t>a treasure chest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79"/>
            <a:ext cx="3566160" cy="19202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69079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32538"/>
                </a:solidFill>
                <a:latin typeface="Calibri"/>
              </a:rPr>
              <a:t>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5074919"/>
            <a:ext cx="21945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17550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18F96"/>
                </a:solidFill>
                <a:latin typeface="Calibri"/>
              </a:rPr>
              <a:t>footprints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840479"/>
            <a:ext cx="3566160" cy="19202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4069079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32538"/>
                </a:solidFill>
                <a:latin typeface="Calibri"/>
              </a:rPr>
              <a:t>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5074919"/>
            <a:ext cx="21945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517550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18F96"/>
                </a:solidFill>
                <a:latin typeface="Calibri"/>
              </a:rPr>
              <a:t>a door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840479"/>
            <a:ext cx="3566160" cy="19202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069079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32538"/>
                </a:solidFill>
                <a:latin typeface="Calibri"/>
              </a:rPr>
              <a:t>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5074919"/>
            <a:ext cx="21945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517550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18F96"/>
                </a:solidFill>
                <a:latin typeface="Calibri"/>
              </a:rPr>
              <a:t>a magnifying glass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🗣️ SPEAKING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916168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Ask "what do you see?" and wait. Let her name things in any order.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🗣️ Talk Like a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08335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Reading Clue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8F96"/>
                </a:solidFill>
                <a:latin typeface="Calibri"/>
              </a:rPr>
              <a:t>Answer in a full sentence. Use one of these starters.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4300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07568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1B32"/>
                </a:solidFill>
                <a:latin typeface="Calibri"/>
              </a:rPr>
              <a:t>I see ______.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440680" cy="114300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7568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1B32"/>
                </a:solidFill>
                <a:latin typeface="Calibri"/>
              </a:rPr>
              <a:t>I think ______.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5440680" cy="114300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0156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1B32"/>
                </a:solidFill>
                <a:latin typeface="Calibri"/>
              </a:rPr>
              <a:t>Maybe ______.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08960"/>
            <a:ext cx="5440680" cy="114300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40156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1B32"/>
                </a:solidFill>
                <a:latin typeface="Calibri"/>
              </a:rPr>
              <a:t>The clue might mean ______.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11292840" cy="128016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9028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4A66"/>
                </a:solidFill>
                <a:latin typeface="Calibri"/>
              </a:rPr>
              <a:t>WHY FULL SENTENCES MATTER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5604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32538"/>
                </a:solidFill>
                <a:latin typeface="Calibri"/>
              </a:rPr>
              <a:t>A detective explains her thinking. One-word answers hide the reasoning — full sentences show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9253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916168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If she answers with one word, repeat it back as a full sentence first.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🤔 Detective Talk — What Do You Think?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30003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Reading Clue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8F96"/>
                </a:solidFill>
                <a:latin typeface="Calibri"/>
              </a:rPr>
              <a:t>There are no wrong answers here. Just good thinking.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896112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93852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99339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32538"/>
                </a:solidFill>
                <a:latin typeface="Calibri"/>
              </a:rPr>
              <a:t>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9751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1B32"/>
                </a:solidFill>
                <a:latin typeface="Calibri"/>
              </a:rPr>
              <a:t>What might be inside the chest?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61488"/>
            <a:ext cx="11292840" cy="896112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2962656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32538"/>
                </a:solidFill>
                <a:latin typeface="Calibri"/>
              </a:rPr>
              <a:t>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9992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1B32"/>
                </a:solidFill>
                <a:latin typeface="Calibri"/>
              </a:rPr>
              <a:t>Who left those footprints?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85616"/>
            <a:ext cx="11292840" cy="896112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98678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4164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32538"/>
                </a:solidFill>
                <a:latin typeface="Calibri"/>
              </a:rPr>
              <a:t>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023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1B32"/>
                </a:solidFill>
                <a:latin typeface="Calibri"/>
              </a:rPr>
              <a:t>Where do you think the door leads?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09744"/>
            <a:ext cx="11292840" cy="896112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50109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6577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32538"/>
                </a:solidFill>
                <a:latin typeface="Calibri"/>
              </a:rPr>
              <a:t>🗺️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0474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1B32"/>
                </a:solidFill>
                <a:latin typeface="Calibri"/>
              </a:rPr>
              <a:t>Why would someone hide a map?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1616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  <a:latin typeface="Calibri"/>
              </a:rPr>
              <a:t>🏅 BADGE 1 EARNED — Reading Clue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925312"/>
            <a:ext cx="6583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32"/>
                </a:solidFill>
                <a:latin typeface="Calibri"/>
              </a:rPr>
              <a:t>"Good thinking!" works even when the guess turns out to be wrong.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🧩 Mystery Vocabulary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551670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Vocabulary Clue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Four words every detective needs.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192024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2140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🕵️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901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392B"/>
                </a:solidFill>
                <a:latin typeface="Arial Black"/>
              </a:rPr>
              <a:t>DETECTIVE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3957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A person who solves mysteries.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2944368"/>
            <a:ext cx="397763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054096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4A66"/>
                </a:solidFill>
                <a:latin typeface="Calibri"/>
              </a:rPr>
              <a:t>The detective studied every clue.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737360"/>
            <a:ext cx="5440680" cy="192024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2140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01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C4AB6"/>
                </a:solidFill>
                <a:latin typeface="Arial Black"/>
              </a:rPr>
              <a:t>MYSTERY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3957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Something strange we do not understand yet.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2944368"/>
            <a:ext cx="397763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3054096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4A66"/>
                </a:solidFill>
                <a:latin typeface="Calibri"/>
              </a:rPr>
              <a:t>The mystery kept everyone guessing.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79"/>
            <a:ext cx="5440680" cy="192024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24527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00507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960C"/>
                </a:solidFill>
                <a:latin typeface="Arial Black"/>
              </a:rPr>
              <a:t>TREASURE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49884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Something valuable that is kept or hidden.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5047487"/>
            <a:ext cx="397763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157215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4A66"/>
                </a:solidFill>
                <a:latin typeface="Calibri"/>
              </a:rPr>
              <a:t>They searched for buried treasure.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840479"/>
            <a:ext cx="5440680" cy="19202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224527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00507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8F96"/>
                </a:solidFill>
                <a:latin typeface="Arial Black"/>
              </a:rPr>
              <a:t>CLUE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49884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A piece of information that helps solve a problem.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0" y="5047487"/>
            <a:ext cx="397763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5157215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4A66"/>
                </a:solidFill>
                <a:latin typeface="Calibri"/>
              </a:rPr>
              <a:t>A muddy footprint was the first clue.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9846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98932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Read the word, then the meaning, then the example. Always that order.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🧩 Mystery Vocabulary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773337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Vocabulary Clue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Four more. These all show up in today's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192024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2140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🗺️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901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8449"/>
                </a:solidFill>
                <a:latin typeface="Arial Black"/>
              </a:rPr>
              <a:t>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3957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A drawing that shows where places are.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2944368"/>
            <a:ext cx="397763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054096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4A66"/>
                </a:solidFill>
                <a:latin typeface="Calibri"/>
              </a:rPr>
              <a:t>The map showed a path through the forest.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737360"/>
            <a:ext cx="5440680" cy="192024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2140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01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C4AB6"/>
                </a:solidFill>
                <a:latin typeface="Arial Black"/>
              </a:rPr>
              <a:t>SECRET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3957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Something kept hidden from other people.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2944368"/>
            <a:ext cx="397763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3054096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4A66"/>
                </a:solidFill>
                <a:latin typeface="Calibri"/>
              </a:rPr>
              <a:t>She kept the secret for years.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79"/>
            <a:ext cx="5440680" cy="192024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24527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00507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D0A"/>
                </a:solidFill>
                <a:latin typeface="Arial Black"/>
              </a:rPr>
              <a:t>ANCIENT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49884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Extremely old.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5047487"/>
            <a:ext cx="397763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157215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4A66"/>
                </a:solidFill>
                <a:latin typeface="Calibri"/>
              </a:rPr>
              <a:t>An ancient door stood in the wall.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840479"/>
            <a:ext cx="5440680" cy="192024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224527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00507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392B"/>
                </a:solidFill>
                <a:latin typeface="Arial Black"/>
              </a:rPr>
              <a:t>DISCOVER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49884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538"/>
                </a:solidFill>
                <a:latin typeface="Calibri"/>
              </a:rPr>
              <a:t>To find something for the first time.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0" y="5047487"/>
            <a:ext cx="397763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5157215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4A66"/>
                </a:solidFill>
                <a:latin typeface="Calibri"/>
              </a:rPr>
              <a:t>They discovered a hidden room.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9846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98932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Ask her to spot which two words she has heard before. Start there.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🔁 How We Learn Each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995004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Vocabulary Clue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D0A"/>
                </a:solidFill>
                <a:latin typeface="Calibri"/>
              </a:rPr>
              <a:t>Same three steps for every single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65176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20240" y="201168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121408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I 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29000"/>
            <a:ext cx="30175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11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32538"/>
                </a:solidFill>
                <a:latin typeface="Calibri"/>
              </a:rPr>
              <a:t>I say the word and its meaning.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265176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15000" y="2011680"/>
            <a:ext cx="640080" cy="640080"/>
          </a:xfrm>
          <a:prstGeom prst="ellipse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121408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D0A"/>
                </a:solidFill>
                <a:latin typeface="Arial Black"/>
              </a:rPr>
              <a:t>WE 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429000"/>
            <a:ext cx="30175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611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32538"/>
                </a:solidFill>
                <a:latin typeface="Calibri"/>
              </a:rPr>
              <a:t>We say it together, twice.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265176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9760" y="2011680"/>
            <a:ext cx="640080" cy="64008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2121408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449"/>
                </a:solidFill>
                <a:latin typeface="Arial Black"/>
              </a:rPr>
              <a:t>YOU 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429000"/>
            <a:ext cx="30175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611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32538"/>
                </a:solidFill>
                <a:latin typeface="Calibri"/>
              </a:rPr>
              <a:t>You say it, explain it, use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63440"/>
            <a:ext cx="11292840" cy="109728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77316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4A66"/>
                </a:solidFill>
                <a:latin typeface="Calibri"/>
              </a:rPr>
              <a:t>THE FOURTH STEP THAT MATTERS MOST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32538"/>
                </a:solidFill>
                <a:latin typeface="Calibri"/>
              </a:rPr>
              <a:t>She builds her own sentence with the word. That is when it actually sticks.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Do not skip step 1. Hearing it correctly first prevents mispronunciation.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🔎 Game: Read &amp; Reveal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216671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Reading Clue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Read the word correctly and the next clue unlocks.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66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43784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7238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27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04487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133087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8795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65192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193792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486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1947672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🕵️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1929384"/>
            <a:ext cx="3931920" cy="621792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200253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DETECTIVE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57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7486"/>
                </a:solidFill>
                <a:latin typeface="Calibri"/>
              </a:rPr>
              <a:t>de·tec·tive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1965960"/>
            <a:ext cx="2971800" cy="5486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048256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6"/>
                </a:solidFill>
                <a:latin typeface="Calibri"/>
              </a:rPr>
              <a:t>read → explain → use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0083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2990088"/>
            <a:ext cx="3931920" cy="621792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306324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CLUE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118103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7486"/>
                </a:solidFill>
                <a:latin typeface="Calibri"/>
              </a:rPr>
              <a:t>clue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3026664"/>
            <a:ext cx="2971800" cy="5486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310896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6"/>
                </a:solidFill>
                <a:latin typeface="Calibri"/>
              </a:rPr>
              <a:t>read → explain → use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069079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4050791"/>
            <a:ext cx="3931920" cy="621792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4123943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TREASURE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17880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7486"/>
                </a:solidFill>
                <a:latin typeface="Calibri"/>
              </a:rPr>
              <a:t>trea·sure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49640" y="4087367"/>
            <a:ext cx="2971800" cy="5486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4169663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6"/>
                </a:solidFill>
                <a:latin typeface="Calibri"/>
              </a:rPr>
              <a:t>read → explain → use 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129784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🗺️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5111496"/>
            <a:ext cx="3931920" cy="621792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518464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2395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7486"/>
                </a:solidFill>
                <a:latin typeface="Calibri"/>
              </a:rPr>
              <a:t>map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49640" y="5148072"/>
            <a:ext cx="2971800" cy="5486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40" y="523036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6"/>
                </a:solidFill>
                <a:latin typeface="Calibri"/>
              </a:rPr>
              <a:t>read → explain → use 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608990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0360" y="6080759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Stuck on a long word? Cover all but the first syllable.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🔎 Read &amp; Reveal — Clues 5 to 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438339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Reading Clue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Four more words. Then the vocabulary badge is yours.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66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43784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7238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27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04487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133087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8795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65192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193792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486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1947672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1929384"/>
            <a:ext cx="3931920" cy="621792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200253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57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7486"/>
                </a:solidFill>
                <a:latin typeface="Calibri"/>
              </a:rPr>
              <a:t>key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1965960"/>
            <a:ext cx="2971800" cy="5486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048256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6"/>
                </a:solidFill>
                <a:latin typeface="Calibri"/>
              </a:rPr>
              <a:t>read → explain → use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0083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2990088"/>
            <a:ext cx="3931920" cy="621792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306324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SECRET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118103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7486"/>
                </a:solidFill>
                <a:latin typeface="Calibri"/>
              </a:rPr>
              <a:t>se·cret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3026664"/>
            <a:ext cx="2971800" cy="5486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310896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6"/>
                </a:solidFill>
                <a:latin typeface="Calibri"/>
              </a:rPr>
              <a:t>read → explain → use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069079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4050791"/>
            <a:ext cx="3931920" cy="621792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4123943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SEARCH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17880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7486"/>
                </a:solidFill>
                <a:latin typeface="Calibri"/>
              </a:rPr>
              <a:t>search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49640" y="4087367"/>
            <a:ext cx="2971800" cy="5486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4169663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6"/>
                </a:solidFill>
                <a:latin typeface="Calibri"/>
              </a:rPr>
              <a:t>read → explain → use 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129784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5111496"/>
            <a:ext cx="3931920" cy="621792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518464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DISCOVER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2395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7486"/>
                </a:solidFill>
                <a:latin typeface="Calibri"/>
              </a:rPr>
              <a:t>dis·cov·er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49640" y="5148072"/>
            <a:ext cx="2971800" cy="5486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40" y="523036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6"/>
                </a:solidFill>
                <a:latin typeface="Calibri"/>
              </a:rPr>
              <a:t>read → explain → use 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608990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0360" y="6080759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For each word ask: what does it mean, and can you use it in a sentence?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✏️ The Four Word Detectives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660006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449"/>
                </a:solidFill>
                <a:latin typeface="Calibri"/>
              </a:rPr>
              <a:t>Every word in a sentence has a job. Here are four of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329184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011680"/>
            <a:ext cx="2103120" cy="65836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305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32538"/>
                </a:solidFill>
                <a:latin typeface="Calibri"/>
              </a:rPr>
              <a:t>person, place, or thing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49039"/>
            <a:ext cx="2194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136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detective, map, door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783080"/>
            <a:ext cx="2651760" cy="329184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93592" y="2011680"/>
            <a:ext cx="2103120" cy="65836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3592" y="21305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32538"/>
                </a:solidFill>
                <a:latin typeface="Calibri"/>
              </a:rPr>
              <a:t>the action word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7872" y="3749039"/>
            <a:ext cx="2194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39136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449"/>
                </a:solidFill>
                <a:latin typeface="Calibri"/>
              </a:rPr>
              <a:t>opened, searched, found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1783080"/>
            <a:ext cx="2651760" cy="329184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2011680"/>
            <a:ext cx="2103120" cy="65836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21305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32538"/>
                </a:solidFill>
                <a:latin typeface="Calibri"/>
              </a:rPr>
              <a:t>describes a noun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9944" y="3749039"/>
            <a:ext cx="2194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4" y="39136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4AB6"/>
                </a:solidFill>
                <a:latin typeface="Calibri"/>
              </a:rPr>
              <a:t>clever, heavy, ancient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3416" y="1783080"/>
            <a:ext cx="2651760" cy="32918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17736" y="2011680"/>
            <a:ext cx="2103120" cy="658368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7736" y="21305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32538"/>
                </a:solidFill>
                <a:latin typeface="Calibri"/>
              </a:rPr>
              <a:t>describes a verb (often -ly)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72016" y="3749039"/>
            <a:ext cx="21945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63456" y="39136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8F96"/>
                </a:solidFill>
                <a:latin typeface="Calibri"/>
              </a:rPr>
              <a:t>quickly, silently, slowly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🎨 COLOR CODE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Colors stay the same all lesson: red noun, green verb, purple adjective, teal adverb.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🎨 Watch Me Break a Sentence Apart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881673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449"/>
                </a:solidFill>
                <a:latin typeface="Calibri"/>
              </a:rPr>
              <a:t>I DO — you just watch this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57400"/>
            <a:ext cx="10744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4A66"/>
                </a:solidFill>
                <a:latin typeface="Calibri"/>
              </a:rPr>
              <a:t>The</a:t>
            </a:r>
            <a:r>
              <a:rPr sz="3200" b="1">
                <a:solidFill>
                  <a:srgbClr val="6C4AB6"/>
                </a:solidFill>
                <a:latin typeface="Calibri"/>
              </a:rPr>
              <a:t> clever</a:t>
            </a:r>
            <a:r>
              <a:rPr sz="3200" b="1">
                <a:solidFill>
                  <a:srgbClr val="C0392B"/>
                </a:solidFill>
                <a:latin typeface="Calibri"/>
              </a:rPr>
              <a:t> detective</a:t>
            </a:r>
            <a:r>
              <a:rPr sz="3200" b="1">
                <a:solidFill>
                  <a:srgbClr val="118F96"/>
                </a:solidFill>
                <a:latin typeface="Calibri"/>
              </a:rPr>
              <a:t> quickly</a:t>
            </a:r>
            <a:r>
              <a:rPr sz="3200" b="1">
                <a:solidFill>
                  <a:srgbClr val="1E8449"/>
                </a:solidFill>
                <a:latin typeface="Calibri"/>
              </a:rPr>
              <a:t> opened</a:t>
            </a:r>
            <a:r>
              <a:rPr sz="3200" b="0">
                <a:solidFill>
                  <a:srgbClr val="3D4A66"/>
                </a:solidFill>
                <a:latin typeface="Calibri"/>
              </a:rPr>
              <a:t> the</a:t>
            </a:r>
            <a:r>
              <a:rPr sz="3200" b="1">
                <a:solidFill>
                  <a:srgbClr val="6C4AB6"/>
                </a:solidFill>
                <a:latin typeface="Calibri"/>
              </a:rPr>
              <a:t> heavy</a:t>
            </a:r>
            <a:r>
              <a:rPr sz="3200" b="1">
                <a:solidFill>
                  <a:srgbClr val="C0392B"/>
                </a:solidFill>
                <a:latin typeface="Calibri"/>
              </a:rPr>
              <a:t> door.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2651760" cy="160020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4AB6"/>
                </a:solidFill>
                <a:latin typeface="Calibri"/>
              </a:rPr>
              <a:t>clever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05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7486"/>
                </a:solidFill>
                <a:latin typeface="Calibr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1920240" cy="41148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9272" y="3291840"/>
            <a:ext cx="2651760" cy="160020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0712" y="3474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  <a:latin typeface="Calibri"/>
              </a:rPr>
              <a:t>detective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4005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7486"/>
                </a:solidFill>
                <a:latin typeface="Calibr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85032" y="4343400"/>
            <a:ext cx="192024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2" y="44074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91840"/>
            <a:ext cx="2651760" cy="160020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2784" y="3474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96"/>
                </a:solidFill>
                <a:latin typeface="Calibri"/>
              </a:rPr>
              <a:t>quickly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4005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7486"/>
                </a:solidFill>
                <a:latin typeface="Calibr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47104" y="4343400"/>
            <a:ext cx="1920240" cy="411480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4074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43416" y="3291840"/>
            <a:ext cx="2651760" cy="1600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4856" y="3474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8449"/>
                </a:solidFill>
                <a:latin typeface="Calibri"/>
              </a:rPr>
              <a:t>opened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4005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7486"/>
                </a:solidFill>
                <a:latin typeface="Calibr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09176" y="4343400"/>
            <a:ext cx="1920240" cy="41148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9176" y="44074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074920"/>
            <a:ext cx="11292840" cy="658368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4A66"/>
                </a:solidFill>
                <a:latin typeface="Calibri"/>
              </a:rPr>
              <a:t>Find the verb first. Once you know the action, everything else falls into place.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Adverbs usually end in -ly. That single tip solves most adverb questions.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🎨 Two More — We Do These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103340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449"/>
                </a:solidFill>
                <a:latin typeface="Calibri"/>
              </a:rPr>
              <a:t>WE DO — say the colors out loud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30552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>
                <a:solidFill>
                  <a:srgbClr val="3D4A66"/>
                </a:solidFill>
                <a:latin typeface="Calibri"/>
              </a:rPr>
              <a:t>A</a:t>
            </a:r>
            <a:r>
              <a:rPr sz="2700" b="1">
                <a:solidFill>
                  <a:srgbClr val="6C4AB6"/>
                </a:solidFill>
                <a:latin typeface="Calibri"/>
              </a:rPr>
              <a:t> strange</a:t>
            </a:r>
            <a:r>
              <a:rPr sz="2700" b="1">
                <a:solidFill>
                  <a:srgbClr val="C0392B"/>
                </a:solidFill>
                <a:latin typeface="Calibri"/>
              </a:rPr>
              <a:t> light</a:t>
            </a:r>
            <a:r>
              <a:rPr sz="2700" b="1">
                <a:solidFill>
                  <a:srgbClr val="118F96"/>
                </a:solidFill>
                <a:latin typeface="Calibri"/>
              </a:rPr>
              <a:t> suddenly</a:t>
            </a:r>
            <a:r>
              <a:rPr sz="2700" b="1">
                <a:solidFill>
                  <a:srgbClr val="1E8449"/>
                </a:solidFill>
                <a:latin typeface="Calibri"/>
              </a:rPr>
              <a:t> appeared</a:t>
            </a:r>
            <a:r>
              <a:rPr sz="2700" b="0">
                <a:solidFill>
                  <a:srgbClr val="3D4A66"/>
                </a:solidFill>
                <a:latin typeface="Calibri"/>
              </a:rPr>
              <a:t> in</a:t>
            </a:r>
            <a:r>
              <a:rPr sz="2700" b="0">
                <a:solidFill>
                  <a:srgbClr val="3D4A66"/>
                </a:solidFill>
                <a:latin typeface="Calibri"/>
              </a:rPr>
              <a:t> the</a:t>
            </a:r>
            <a:r>
              <a:rPr sz="2700" b="1">
                <a:solidFill>
                  <a:srgbClr val="6C4AB6"/>
                </a:solidFill>
                <a:latin typeface="Calibri"/>
              </a:rPr>
              <a:t> ancient</a:t>
            </a:r>
            <a:r>
              <a:rPr sz="2700" b="1">
                <a:solidFill>
                  <a:srgbClr val="C0392B"/>
                </a:solidFill>
                <a:latin typeface="Calibri"/>
              </a:rPr>
              <a:t> castle.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39"/>
            <a:ext cx="11292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39311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C0392B"/>
                </a:solidFill>
                <a:latin typeface="Calibri"/>
              </a:rPr>
              <a:t>Maya</a:t>
            </a:r>
            <a:r>
              <a:rPr sz="2700" b="1">
                <a:solidFill>
                  <a:srgbClr val="118F96"/>
                </a:solidFill>
                <a:latin typeface="Calibri"/>
              </a:rPr>
              <a:t> quietly</a:t>
            </a:r>
            <a:r>
              <a:rPr sz="2700" b="1">
                <a:solidFill>
                  <a:srgbClr val="1E8449"/>
                </a:solidFill>
                <a:latin typeface="Calibri"/>
              </a:rPr>
              <a:t> searched</a:t>
            </a:r>
            <a:r>
              <a:rPr sz="2700" b="0">
                <a:solidFill>
                  <a:srgbClr val="3D4A66"/>
                </a:solidFill>
                <a:latin typeface="Calibri"/>
              </a:rPr>
              <a:t> the</a:t>
            </a:r>
            <a:r>
              <a:rPr sz="2700" b="1">
                <a:solidFill>
                  <a:srgbClr val="6C4AB6"/>
                </a:solidFill>
                <a:latin typeface="Calibri"/>
              </a:rPr>
              <a:t> dusty</a:t>
            </a:r>
            <a:r>
              <a:rPr sz="2700" b="1">
                <a:solidFill>
                  <a:srgbClr val="C0392B"/>
                </a:solidFill>
                <a:latin typeface="Calibri"/>
              </a:rPr>
              <a:t> attic.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92040"/>
            <a:ext cx="265176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7433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4892040"/>
            <a:ext cx="2651760" cy="50292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497433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4892040"/>
            <a:ext cx="2651760" cy="50292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497433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3416" y="4892040"/>
            <a:ext cx="2651760" cy="502920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43416" y="497433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532120"/>
            <a:ext cx="3566160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DO  ·  I model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5532120"/>
            <a:ext cx="3566160" cy="420624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557784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DO  ·  We do it together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5532120"/>
            <a:ext cx="3566160" cy="42062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557784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DO  ·  You take the lead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10819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6099048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Ask her to point at a word and name its job before you say anything.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🕵️ Game: Grammar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325007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449"/>
                </a:solidFill>
                <a:latin typeface="Calibri"/>
              </a:rPr>
              <a:t>YOU DO — find all four jobs in each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435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30552"/>
            <a:ext cx="457200" cy="4572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854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27248"/>
            <a:ext cx="11292840" cy="12435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20440"/>
            <a:ext cx="457200" cy="4572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17136"/>
            <a:ext cx="11292840" cy="12435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18653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The brave girl carefully opened the secret box.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2395728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5608" y="246888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NOUN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468880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2395728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95928" y="246888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  <a:latin typeface="Calibri"/>
              </a:rPr>
              <a:t>VERB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468880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2395728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46888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AB6"/>
                </a:solidFill>
                <a:latin typeface="Calibri"/>
              </a:rPr>
              <a:t>ADJ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468880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39" y="2395728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6567" y="246888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96"/>
                </a:solidFill>
                <a:latin typeface="Calibri"/>
              </a:rPr>
              <a:t>ADV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9" y="2468880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25526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The young detective silently followed the muddy footprints.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25880" y="3785616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35608" y="3858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NOUN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3858768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86200" y="3785616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95928" y="3858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  <a:latin typeface="Calibri"/>
              </a:rPr>
              <a:t>VERB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858768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46520" y="3785616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6248" y="3858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AB6"/>
                </a:solidFill>
                <a:latin typeface="Calibri"/>
              </a:rPr>
              <a:t>ADJ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3858768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06839" y="3785616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16567" y="3858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96"/>
                </a:solidFill>
                <a:latin typeface="Calibri"/>
              </a:rPr>
              <a:t>ADV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59" y="3858768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5880" y="464515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A rusty key suddenly fell from the old shelf.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25880" y="5175504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35608" y="524865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NOUN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0" y="524865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86200" y="5175504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95928" y="524865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  <a:latin typeface="Calibri"/>
              </a:rPr>
              <a:t>VERB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524865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5175504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6248" y="524865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AB6"/>
                </a:solidFill>
                <a:latin typeface="Calibri"/>
              </a:rPr>
              <a:t>ADJ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524865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06839" y="5175504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16567" y="524865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96"/>
                </a:solidFill>
                <a:latin typeface="Calibri"/>
              </a:rPr>
              <a:t>ADV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66959" y="524865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608990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0360" y="6080759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Always start with the verb. Ask: what is somebody doing?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🕵️ Grammar Detective — Cases 4 &amp;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546674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449"/>
                </a:solidFill>
                <a:latin typeface="Calibri"/>
              </a:rPr>
              <a:t>Two tougher sentences. Take your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435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30552"/>
            <a:ext cx="457200" cy="4572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854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27248"/>
            <a:ext cx="11292840" cy="12435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20440"/>
            <a:ext cx="457200" cy="4572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186537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The curious students quickly solved the difficult puzzle.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395728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35608" y="246888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NOUN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468880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86200" y="2395728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95928" y="246888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  <a:latin typeface="Calibri"/>
              </a:rPr>
              <a:t>VERB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68880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2395728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246888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AB6"/>
                </a:solidFill>
                <a:latin typeface="Calibri"/>
              </a:rPr>
              <a:t>ADJ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468880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39" y="2395728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7" y="246888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96"/>
                </a:solidFill>
                <a:latin typeface="Calibri"/>
              </a:rPr>
              <a:t>ADV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59" y="2468880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325526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Maya carefully unfolded the ancient treasure map.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3785616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35608" y="3858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NOUN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858768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6200" y="3785616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5928" y="3858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  <a:latin typeface="Calibri"/>
              </a:rPr>
              <a:t>VERB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858768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3785616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8" y="3858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AB6"/>
                </a:solidFill>
                <a:latin typeface="Calibri"/>
              </a:rPr>
              <a:t>ADJ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3858768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06839" y="3785616"/>
            <a:ext cx="237744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16567" y="3858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96"/>
                </a:solidFill>
                <a:latin typeface="Calibri"/>
              </a:rPr>
              <a:t>ADV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59" y="3858768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572000"/>
            <a:ext cx="11292840" cy="1170432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68172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8F96"/>
                </a:solidFill>
                <a:latin typeface="Calibri"/>
              </a:rPr>
              <a:t>🔵 BONUS MISSION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0474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1B32"/>
                </a:solidFill>
                <a:latin typeface="Calibri"/>
              </a:rPr>
              <a:t>Write your own sentence with one noun, one verb, one adjective and one adverb. Then color-code it.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Two adjectives can sit in one sentence. Find both before you move 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🔎 Phrase Reading — Level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768342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Reading Clue  |  27–35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Read each phrase smoothly, as one piece.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155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57400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05740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1B32"/>
                </a:solidFill>
                <a:latin typeface="Calibri"/>
              </a:rPr>
              <a:t>a hidden 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83080"/>
            <a:ext cx="5440680" cy="11155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057400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05740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1B32"/>
                </a:solidFill>
                <a:latin typeface="Calibri"/>
              </a:rPr>
              <a:t>an old treasure 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81528"/>
            <a:ext cx="5440680" cy="11155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5584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355848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1B32"/>
                </a:solidFill>
                <a:latin typeface="Calibri"/>
              </a:rPr>
              <a:t>a secret room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081528"/>
            <a:ext cx="5440680" cy="11155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5584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355848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1B32"/>
                </a:solidFill>
                <a:latin typeface="Calibri"/>
              </a:rPr>
              <a:t>the mysterious door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79976"/>
            <a:ext cx="5440680" cy="11155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5429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654296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1B32"/>
                </a:solidFill>
                <a:latin typeface="Calibri"/>
              </a:rPr>
              <a:t>a dangerous forest path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379976"/>
            <a:ext cx="5440680" cy="11155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65429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654296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1B32"/>
                </a:solidFill>
                <a:latin typeface="Calibri"/>
              </a:rPr>
              <a:t>the ancient stone wall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916168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A phrase is not a sentence. No pause in the middle — read it in one breath.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🧩 Clue or Not a Clue?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990009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Vocabulary Clue  |  27–35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Which of these words belong to our mystery?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1B32"/>
                </a:solidFill>
                <a:latin typeface="Arial Black"/>
              </a:rPr>
              <a:t>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743200"/>
            <a:ext cx="82296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816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  <a:latin typeface="Calibri"/>
              </a:rPr>
              <a:t>CLUE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20" y="2743200"/>
            <a:ext cx="82296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20" y="2816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E7486"/>
                </a:solidFill>
                <a:latin typeface="Calibri"/>
              </a:rPr>
              <a:t>NOT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82880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1B32"/>
                </a:solidFill>
                <a:latin typeface="Arial Black"/>
              </a:rPr>
              <a:t>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30752" y="2743200"/>
            <a:ext cx="82296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2816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  <a:latin typeface="Calibri"/>
              </a:rPr>
              <a:t>CLUE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2743200"/>
            <a:ext cx="82296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816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E7486"/>
                </a:solidFill>
                <a:latin typeface="Calibri"/>
              </a:rPr>
              <a:t>NOT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182880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1B32"/>
                </a:solidFill>
                <a:latin typeface="Arial Black"/>
              </a:rPr>
              <a:t>BLUE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92824" y="2743200"/>
            <a:ext cx="82296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2824" y="2816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  <a:latin typeface="Calibri"/>
              </a:rPr>
              <a:t>CLUE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98664" y="2743200"/>
            <a:ext cx="82296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8664" y="2816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E7486"/>
                </a:solidFill>
                <a:latin typeface="Calibri"/>
              </a:rPr>
              <a:t>NOT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3416" y="182880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43416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1B32"/>
                </a:solidFill>
                <a:latin typeface="Arial Black"/>
              </a:rPr>
              <a:t>TREASURE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54896" y="2743200"/>
            <a:ext cx="82296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54896" y="2816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  <a:latin typeface="Calibri"/>
              </a:rPr>
              <a:t>CLUE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60736" y="2743200"/>
            <a:ext cx="82296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60736" y="2816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E7486"/>
                </a:solidFill>
                <a:latin typeface="Calibri"/>
              </a:rPr>
              <a:t>NOT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61188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886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1B32"/>
                </a:solidFill>
                <a:latin typeface="Arial Black"/>
              </a:rPr>
              <a:t>APPLE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526280"/>
            <a:ext cx="82296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5994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  <a:latin typeface="Calibri"/>
              </a:rPr>
              <a:t>CLUE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74520" y="4526280"/>
            <a:ext cx="82296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74520" y="45994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E7486"/>
                </a:solidFill>
                <a:latin typeface="Calibri"/>
              </a:rPr>
              <a:t>NOT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9272" y="361188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9272" y="3886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1B32"/>
                </a:solidFill>
                <a:latin typeface="Arial Black"/>
              </a:rPr>
              <a:t>SECRET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30752" y="4526280"/>
            <a:ext cx="82296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5994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  <a:latin typeface="Calibri"/>
              </a:rPr>
              <a:t>CLUE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36592" y="4526280"/>
            <a:ext cx="82296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36592" y="45994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E7486"/>
                </a:solidFill>
                <a:latin typeface="Calibri"/>
              </a:rPr>
              <a:t>NOT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1344" y="361188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81344" y="3886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1B32"/>
                </a:solidFill>
                <a:latin typeface="Arial Black"/>
              </a:rPr>
              <a:t>JUMP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92824" y="4526280"/>
            <a:ext cx="82296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92824" y="45994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  <a:latin typeface="Calibri"/>
              </a:rPr>
              <a:t>CLUE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98664" y="4526280"/>
            <a:ext cx="82296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98664" y="45994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E7486"/>
                </a:solidFill>
                <a:latin typeface="Calibri"/>
              </a:rPr>
              <a:t>NOT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43416" y="361188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43416" y="3886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1B32"/>
                </a:solidFill>
                <a:latin typeface="Arial Black"/>
              </a:rPr>
              <a:t>MAP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54896" y="4526280"/>
            <a:ext cx="82296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54896" y="45994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  <a:latin typeface="Calibri"/>
              </a:rPr>
              <a:t>CLUE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60736" y="4526280"/>
            <a:ext cx="822960" cy="4572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60736" y="45994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E7486"/>
                </a:solidFill>
                <a:latin typeface="Calibri"/>
              </a:rPr>
              <a:t>NOT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9253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0360" y="5916168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Ask why, not just which. "Why is APPLE not a clue?" is the real question.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🧩 Game: Word Clue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211676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Vocabulary Clue  |  27–35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Score points three ways on every mystery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28600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45920" y="2011680"/>
            <a:ext cx="1188720" cy="56692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10312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88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392B"/>
                </a:solidFill>
                <a:latin typeface="Calibri"/>
              </a:rPr>
              <a:t>Read the word out 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783080"/>
            <a:ext cx="3566160" cy="228600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40680" y="2011680"/>
            <a:ext cx="1188720" cy="566928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10312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88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97D0A"/>
                </a:solidFill>
                <a:latin typeface="Calibri"/>
              </a:rPr>
              <a:t>Explain what it means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783080"/>
            <a:ext cx="3566160" cy="22860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2011680"/>
            <a:ext cx="1188720" cy="56692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10312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788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8449"/>
                </a:solidFill>
                <a:latin typeface="Calibri"/>
              </a:rPr>
              <a:t>Use it in a full sentence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97680"/>
            <a:ext cx="11292840" cy="146304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3484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4A66"/>
                </a:solidFill>
                <a:latin typeface="Calibri"/>
              </a:rPr>
              <a:t>TODAY'S SCORE SHEET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46320"/>
            <a:ext cx="2606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9262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32538"/>
                </a:solidFill>
                <a:latin typeface="Calibri"/>
              </a:rPr>
              <a:t>🏛️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9926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1B32"/>
                </a:solidFill>
                <a:latin typeface="Calibri"/>
              </a:rPr>
              <a:t>ANCIENT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39" y="4846320"/>
            <a:ext cx="2606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599" y="499262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32538"/>
                </a:solidFill>
                <a:latin typeface="Calibri"/>
              </a:rPr>
              <a:t>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59" y="49926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1B32"/>
                </a:solidFill>
                <a:latin typeface="Calibri"/>
              </a:rPr>
              <a:t>DISCOVER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4846320"/>
            <a:ext cx="2606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19" y="499262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32538"/>
                </a:solidFill>
                <a:latin typeface="Calibri"/>
              </a:rPr>
              <a:t>⚠️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49926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1B32"/>
                </a:solidFill>
                <a:latin typeface="Calibri"/>
              </a:rPr>
              <a:t>DANGEROUS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4846320"/>
            <a:ext cx="2606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499262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32538"/>
                </a:solidFill>
                <a:latin typeface="Calibri"/>
              </a:rPr>
              <a:t>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49926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1B32"/>
                </a:solidFill>
                <a:latin typeface="Calibri"/>
              </a:rPr>
              <a:t>HIDDEN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Six points on one word beats one point on six words. Slow down and go deep.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⭐ Word Challenge — Build a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433343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Vocabulary Clue  |  27–35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Say a full sentence using each word. Out 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476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🏛️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1947672"/>
            <a:ext cx="2651760" cy="54864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202996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4AB6"/>
                </a:solidFill>
                <a:latin typeface="Calibri"/>
              </a:rPr>
              <a:t>ANCIENT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029968"/>
            <a:ext cx="6766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7486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07208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71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2971800"/>
            <a:ext cx="2651760" cy="54864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305409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4AB6"/>
                </a:solidFill>
                <a:latin typeface="Calibri"/>
              </a:rPr>
              <a:t>DISCOVER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054096"/>
            <a:ext cx="6766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7486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31336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959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⚠️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3995928"/>
            <a:ext cx="2651760" cy="54864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40" y="407822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4AB6"/>
                </a:solidFill>
                <a:latin typeface="Calibri"/>
              </a:rPr>
              <a:t>DANGEROUS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078224"/>
            <a:ext cx="6766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7486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55464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2005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91640" y="5020056"/>
            <a:ext cx="2651760" cy="54864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510235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4AB6"/>
                </a:solidFill>
                <a:latin typeface="Calibri"/>
              </a:rPr>
              <a:t>HIDDEN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102352"/>
            <a:ext cx="6766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7486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1292840" cy="384048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89320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449"/>
                </a:solidFill>
                <a:latin typeface="Calibri"/>
              </a:rPr>
              <a:t>🏅 BADGE 2 EARNED — Vocabulary Clue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4406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4955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54864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Stuck? Offer a sentence starter: "The ancient ______ was..."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35–42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✏️ Subject &amp; Predicate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655010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35–42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Every sentence splits into exactly two parts.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265176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20240" y="2011680"/>
            <a:ext cx="2514600" cy="56692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10312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4320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32538"/>
                </a:solidFill>
                <a:latin typeface="Calibri"/>
              </a:rPr>
              <a:t>Who or what is the sentence about?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401568"/>
            <a:ext cx="4343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66160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0392B"/>
                </a:solidFill>
                <a:latin typeface="Calibri"/>
              </a:rPr>
              <a:t>The detective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783080"/>
            <a:ext cx="5440680" cy="265176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35240" y="2011680"/>
            <a:ext cx="2514600" cy="56692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10312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PREDICATE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74320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32538"/>
                </a:solidFill>
                <a:latin typeface="Calibri"/>
              </a:rPr>
              <a:t>What does the subject do, or what is it?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3401568"/>
            <a:ext cx="4343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566160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8449"/>
                </a:solidFill>
                <a:latin typeface="Calibri"/>
              </a:rPr>
              <a:t>found a key.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17720"/>
            <a:ext cx="1129284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3659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4A66"/>
                </a:solidFill>
                <a:latin typeface="Calibri"/>
              </a:rPr>
              <a:t>PUT THEM BACK TOGETHER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84064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1B32"/>
                </a:solidFill>
                <a:latin typeface="Calibri"/>
              </a:rPr>
              <a:t>The detective  +  found a key.   →   The detective found a key.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Ask "who or what?" to find the subject. The rest is the predicate.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35–42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✏️ Guided Examples — We Do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76678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35–42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Split each sentence with me. Where does the line go?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103120"/>
            <a:ext cx="4206240" cy="64008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9202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SUBJECT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2128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The detective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194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E7486"/>
                </a:solidFill>
                <a:latin typeface="Calibri"/>
              </a:rPr>
              <a:t>|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103120"/>
            <a:ext cx="5806440" cy="64008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920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PREDICATE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212848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found a key.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0040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3474720"/>
            <a:ext cx="4206240" cy="64008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918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SUBJECT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5844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The old door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3566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E7486"/>
                </a:solidFill>
                <a:latin typeface="Calibri"/>
              </a:rPr>
              <a:t>|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3474720"/>
            <a:ext cx="5806440" cy="64008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3291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PREDICATE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584448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opened slowly.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7200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4846320"/>
            <a:ext cx="4206240" cy="64008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6634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SUBJECT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Maya and her grandmother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4937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E7486"/>
                </a:solidFill>
                <a:latin typeface="Calibri"/>
              </a:rPr>
              <a:t>|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4846320"/>
            <a:ext cx="5806440" cy="64008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4663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PREDICATE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4956048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solved the mystery together.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441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603504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The subject can be more than one word. "Maya and her grandmother" is one subject.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35–42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🔐 Game: Sentence 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098345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35–42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Match each subject to the predicate that unlocks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57984"/>
            <a:ext cx="457200" cy="4572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29584"/>
            <a:ext cx="457200" cy="4572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84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01184"/>
            <a:ext cx="457200" cy="4572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56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2057400"/>
            <a:ext cx="4206240" cy="6583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18745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SUBJECT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21671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The detective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130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32538"/>
                </a:solidFill>
                <a:latin typeface="Calibri"/>
              </a:rPr>
              <a:t>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057400"/>
            <a:ext cx="5166360" cy="658368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8745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PREDICATE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1671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found a hidden map.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3429000"/>
            <a:ext cx="4206240" cy="6583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32461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SUBJECT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5387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The old door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502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32538"/>
                </a:solidFill>
                <a:latin typeface="Calibri"/>
              </a:rPr>
              <a:t>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429000"/>
            <a:ext cx="5166360" cy="658368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2461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PREDICATE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5387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opened slowly.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25880" y="4800600"/>
            <a:ext cx="4206240" cy="6583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46177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SUBJECT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49103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The students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873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32538"/>
                </a:solidFill>
                <a:latin typeface="Calibri"/>
              </a:rPr>
              <a:t>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800600"/>
            <a:ext cx="5166360" cy="658368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6177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PREDICATE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910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searched the room.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0441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603504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Read the subject, then try each predicate out loud. Your ear will know.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35–42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🔐 Sentence Lock — Final Two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320012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35–42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Two left. Then write one of your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57984"/>
            <a:ext cx="457200" cy="4572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29584"/>
            <a:ext cx="457200" cy="4572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84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2057400"/>
            <a:ext cx="4206240" cy="6583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18745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SUBJECT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21671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A secret passage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130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32538"/>
                </a:solidFill>
                <a:latin typeface="Calibri"/>
              </a:rPr>
              <a:t>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057400"/>
            <a:ext cx="5166360" cy="658368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8745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PREDICATE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1671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led to the treasure.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3429000"/>
            <a:ext cx="4206240" cy="65836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32461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SUBJECT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5387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Maya and her grandmother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502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32538"/>
                </a:solidFill>
                <a:latin typeface="Calibri"/>
              </a:rPr>
              <a:t>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429000"/>
            <a:ext cx="5166360" cy="658368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2461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PREDICATE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5387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solved the mystery together.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572000"/>
            <a:ext cx="11292840" cy="1170432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68172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8F96"/>
                </a:solidFill>
                <a:latin typeface="Calibri"/>
              </a:rPr>
              <a:t>🔵 BONUS 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7492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1B32"/>
                </a:solidFill>
                <a:latin typeface="Calibri"/>
              </a:rPr>
              <a:t>Your subject: __________________   +   Your predicate: __________________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Check her own sentence together: does it have both halves?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42–47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🏃 Brain Break: Find the Clue!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541679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Movement  |  42–47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D0A"/>
                </a:solidFill>
                <a:latin typeface="Calibri"/>
              </a:rPr>
              <a:t>Up you get. Find each one, then tell me what you found.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00584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202082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07568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5740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1B32"/>
                </a:solidFill>
                <a:latin typeface="Calibri"/>
              </a:rPr>
              <a:t>Find something BLUE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00584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2" y="202082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07568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05740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1B32"/>
                </a:solidFill>
                <a:latin typeface="Calibri"/>
              </a:rPr>
              <a:t>Find something ROUND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71800"/>
            <a:ext cx="5440680" cy="100584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2095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2644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24612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1B32"/>
                </a:solidFill>
                <a:latin typeface="Calibri"/>
              </a:rPr>
              <a:t>Find something SMALL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971800"/>
            <a:ext cx="5440680" cy="100584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8232" y="32095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2644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🅱️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24612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1B32"/>
                </a:solidFill>
                <a:latin typeface="Calibri"/>
              </a:rPr>
              <a:t>Find something starting with 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60520"/>
            <a:ext cx="5440680" cy="100584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3232" y="43982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45312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43484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1B32"/>
                </a:solidFill>
                <a:latin typeface="Calibri"/>
              </a:rPr>
              <a:t>Find something LONG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160520"/>
            <a:ext cx="5440680" cy="100584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28232" y="439826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445312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32538"/>
                </a:solidFill>
                <a:latin typeface="Calibri"/>
              </a:rPr>
              <a:t>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43484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1B32"/>
                </a:solidFill>
                <a:latin typeface="Calibri"/>
              </a:rPr>
              <a:t>Find something SHINY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49240"/>
            <a:ext cx="1129284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2239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449"/>
                </a:solidFill>
                <a:latin typeface="Calibri"/>
              </a:rPr>
              <a:t>🗣️ Say it in a sentence every time:  "I found a ______."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⏱️ TIMING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Five minutes maximum. Keep the pace fast and end it while it's still fun.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⏰ The Time Machine — Past, Now, Future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763346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47–58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The same action, told at three different times.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1901952"/>
            <a:ext cx="10332720" cy="54864"/>
          </a:xfrm>
          <a:prstGeom prst="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57400" y="1719072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331720"/>
            <a:ext cx="3474720" cy="301752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rial Black"/>
              </a:rPr>
              <a:t>PAST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32538"/>
                </a:solidFill>
                <a:latin typeface="Calibri"/>
              </a:rPr>
              <a:t>Already happened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11880"/>
            <a:ext cx="3017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Calibri"/>
              </a:rPr>
              <a:t>The detective searched the room.</a:t>
            </a:r>
          </a:p>
        </p:txBody>
      </p:sp>
      <p:sp>
        <p:nvSpPr>
          <p:cNvPr id="22" name="Oval 21"/>
          <p:cNvSpPr/>
          <p:nvPr/>
        </p:nvSpPr>
        <p:spPr>
          <a:xfrm>
            <a:off x="5806439" y="1719072"/>
            <a:ext cx="420624" cy="420624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79" y="2331720"/>
            <a:ext cx="3474720" cy="301752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449"/>
                </a:solidFill>
                <a:latin typeface="Arial Black"/>
              </a:rPr>
              <a:t>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32538"/>
                </a:solidFill>
                <a:latin typeface="Calibri"/>
              </a:rPr>
              <a:t>Happening today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79" y="3611880"/>
            <a:ext cx="3017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38404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8449"/>
                </a:solidFill>
                <a:latin typeface="Calibri"/>
              </a:rPr>
              <a:t>The detective searches the room.</a:t>
            </a:r>
          </a:p>
        </p:txBody>
      </p:sp>
      <p:sp>
        <p:nvSpPr>
          <p:cNvPr id="28" name="Oval 27"/>
          <p:cNvSpPr/>
          <p:nvPr/>
        </p:nvSpPr>
        <p:spPr>
          <a:xfrm>
            <a:off x="9555479" y="1719072"/>
            <a:ext cx="420624" cy="420624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19" y="2331720"/>
            <a:ext cx="3474720" cy="301752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C4AB6"/>
                </a:solidFill>
                <a:latin typeface="Arial Black"/>
              </a:rPr>
              <a:t>FUTURE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32538"/>
                </a:solidFill>
                <a:latin typeface="Calibri"/>
              </a:rPr>
              <a:t>Has not happened yet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19" y="3611880"/>
            <a:ext cx="3017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9" y="38404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C4AB6"/>
                </a:solidFill>
                <a:latin typeface="Calibri"/>
              </a:rPr>
              <a:t>The detective will search the room.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Look at the verb ending. -ed means past. "will" means future.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⏰ Same Sentence, Three Times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985013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47–58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27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Only the verb changes. Everything else stays.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18872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139696"/>
            <a:ext cx="1828800" cy="56692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23113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157984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1B32"/>
                </a:solidFill>
                <a:latin typeface="Calibri"/>
              </a:rPr>
              <a:t>The detective searches the room.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139696"/>
            <a:ext cx="26060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231136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8449"/>
                </a:solidFill>
                <a:latin typeface="Calibri"/>
              </a:rPr>
              <a:t>searches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11292840" cy="118872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511296"/>
            <a:ext cx="1828800" cy="56692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0273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529584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1B32"/>
                </a:solidFill>
                <a:latin typeface="Calibri"/>
              </a:rPr>
              <a:t>The detective searched the room.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3511296"/>
            <a:ext cx="26060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3602736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392B"/>
                </a:solidFill>
                <a:latin typeface="Calibri"/>
              </a:rPr>
              <a:t>searched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11292840" cy="118872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882896"/>
            <a:ext cx="1828800" cy="56692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7433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901184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1B32"/>
                </a:solidFill>
                <a:latin typeface="Calibri"/>
              </a:rPr>
              <a:t>The detective will search the room.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4882896"/>
            <a:ext cx="26060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4974336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C4AB6"/>
                </a:solidFill>
                <a:latin typeface="Calibri"/>
              </a:rPr>
              <a:t>will 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0441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603504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Cover the verb column and ask her to say each version from memory.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⏰ Game: Time Travel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206681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47–58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28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Read the sentence. Which time is 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231135"/>
            <a:ext cx="457200" cy="4572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859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46120"/>
            <a:ext cx="1129284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648455"/>
            <a:ext cx="457200" cy="4572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1129284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5065775"/>
            <a:ext cx="457200" cy="4572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20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195681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1B32"/>
                </a:solidFill>
                <a:latin typeface="Calibri"/>
              </a:rPr>
              <a:t>The detective searches the room.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2505456"/>
            <a:ext cx="3200400" cy="45720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25786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PAST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2505456"/>
            <a:ext cx="320040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5786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449"/>
                </a:solidFill>
                <a:latin typeface="Calibri"/>
              </a:rPr>
              <a:t>PRESENT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505456"/>
            <a:ext cx="3200400" cy="45720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25786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4AB6"/>
                </a:solidFill>
                <a:latin typeface="Calibri"/>
              </a:rPr>
              <a:t>FUTURE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37413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1B32"/>
                </a:solidFill>
                <a:latin typeface="Calibri"/>
              </a:rPr>
              <a:t>She followed the map into the forest.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3922776"/>
            <a:ext cx="3200400" cy="45720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39959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PAST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922776"/>
            <a:ext cx="320040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9959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449"/>
                </a:solidFill>
                <a:latin typeface="Calibri"/>
              </a:rPr>
              <a:t>PRESENT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922776"/>
            <a:ext cx="3200400" cy="45720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79" y="39959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4AB6"/>
                </a:solidFill>
                <a:latin typeface="Calibri"/>
              </a:rPr>
              <a:t>FUTURE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7914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1B32"/>
                </a:solidFill>
                <a:latin typeface="Calibri"/>
              </a:rPr>
              <a:t>We will open the box tomorrow.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25880" y="5340096"/>
            <a:ext cx="3200400" cy="45720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25880" y="54132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PAST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5340096"/>
            <a:ext cx="320040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54132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449"/>
                </a:solidFill>
                <a:latin typeface="Calibri"/>
              </a:rPr>
              <a:t>PRESENT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5340096"/>
            <a:ext cx="3200400" cy="45720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79" y="54132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4AB6"/>
                </a:solidFill>
                <a:latin typeface="Calibri"/>
              </a:rPr>
              <a:t>FUTURE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1264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1813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61722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Point at the verb and only the verb. That word holds the answer.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⏰ Time Travel — Cases 4 &amp;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428348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47–58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29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4AB6"/>
                </a:solidFill>
                <a:latin typeface="Calibri"/>
              </a:rPr>
              <a:t>Two more, then we start changing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231135"/>
            <a:ext cx="457200" cy="4572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859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46120"/>
            <a:ext cx="1129284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648455"/>
            <a:ext cx="457200" cy="4572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195681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1B32"/>
                </a:solidFill>
                <a:latin typeface="Calibri"/>
              </a:rPr>
              <a:t>Maya finds a rusty key.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505456"/>
            <a:ext cx="3200400" cy="45720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25786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PAST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2505456"/>
            <a:ext cx="320040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5786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449"/>
                </a:solidFill>
                <a:latin typeface="Calibri"/>
              </a:rPr>
              <a:t>PRESENT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2505456"/>
            <a:ext cx="3200400" cy="45720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25786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4AB6"/>
                </a:solidFill>
                <a:latin typeface="Calibri"/>
              </a:rPr>
              <a:t>FUTURE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37413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1B32"/>
                </a:solidFill>
                <a:latin typeface="Calibri"/>
              </a:rPr>
              <a:t>They discovered a secret room.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3922776"/>
            <a:ext cx="3200400" cy="45720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39959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PAST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3922776"/>
            <a:ext cx="3200400" cy="457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9959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449"/>
                </a:solidFill>
                <a:latin typeface="Calibri"/>
              </a:rPr>
              <a:t>PRESENT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3922776"/>
            <a:ext cx="3200400" cy="45720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39959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4AB6"/>
                </a:solidFill>
                <a:latin typeface="Calibri"/>
              </a:rPr>
              <a:t>FUTURE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663440"/>
            <a:ext cx="11292840" cy="109728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77316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4A66"/>
                </a:solidFill>
                <a:latin typeface="Calibri"/>
              </a:rPr>
              <a:t>QUICK CHECK — WHAT GIVES IT AWAY?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1B32"/>
                </a:solidFill>
                <a:latin typeface="Calibri"/>
              </a:rPr>
              <a:t>PAST: verb ends in -ed (or changes shape)   ·   PRESENT: verb often ends in -s   ·   FUTURE: the word "will"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"Discovered" and "found" are both past, even though they look different.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🔄 Transform the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50015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47–58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30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8F96"/>
                </a:solidFill>
                <a:latin typeface="Calibri"/>
              </a:rPr>
              <a:t>I give you the present. You give me the past and the future.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45720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737360"/>
            <a:ext cx="356616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37360"/>
            <a:ext cx="3566160" cy="45720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31720"/>
            <a:ext cx="3566160" cy="100584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514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1B32"/>
                </a:solidFill>
                <a:latin typeface="Calibri"/>
              </a:rPr>
              <a:t>She finds the key.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233172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264261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7486"/>
                </a:solidFill>
                <a:latin typeface="Calibri"/>
              </a:rPr>
              <a:t>________________________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33172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264261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7486"/>
                </a:solidFill>
                <a:latin typeface="Calibri"/>
              </a:rPr>
              <a:t>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20439"/>
            <a:ext cx="3566160" cy="100584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703319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1B32"/>
                </a:solidFill>
                <a:latin typeface="Calibri"/>
              </a:rPr>
              <a:t>The detective opens the door.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3520439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3831335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7486"/>
                </a:solidFill>
                <a:latin typeface="Calibri"/>
              </a:rPr>
              <a:t>________________________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520439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3831335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7486"/>
                </a:solidFill>
                <a:latin typeface="Calibri"/>
              </a:rPr>
              <a:t>________________________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09160"/>
            <a:ext cx="3566160" cy="100584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892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1B32"/>
                </a:solidFill>
                <a:latin typeface="Calibri"/>
              </a:rPr>
              <a:t>They search the attic.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470916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502005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7486"/>
                </a:solidFill>
                <a:latin typeface="Calibri"/>
              </a:rPr>
              <a:t>________________________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70916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502005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7486"/>
                </a:solidFill>
                <a:latin typeface="Calibri"/>
              </a:rPr>
              <a:t>________________________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1292840" cy="384048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89320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449"/>
                </a:solidFill>
                <a:latin typeface="Calibri"/>
              </a:rPr>
              <a:t>🏅 BADGE 3 EARNED — Grammar Clue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8640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54126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553212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Say it out loud before writing. The ear catches "finded" faster than the eye.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🤝 Subject-Verb Agreement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871682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47–58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31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One detective finds. Many detectives find. Odd, but true.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274320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77440" y="2011680"/>
            <a:ext cx="1600200" cy="53035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093976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697480"/>
            <a:ext cx="47091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8712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3D4A66"/>
                </a:solidFill>
                <a:latin typeface="Calibri"/>
              </a:rPr>
              <a:t>The detective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8712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0392B"/>
                </a:solidFill>
                <a:latin typeface="Calibri"/>
              </a:rPr>
              <a:t>finds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4709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32538"/>
                </a:solidFill>
                <a:latin typeface="Calibri"/>
              </a:rPr>
              <a:t>singular subject → verb takes -s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783080"/>
            <a:ext cx="5440680" cy="27432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2440" y="2011680"/>
            <a:ext cx="1600200" cy="530352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093976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Many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2697480"/>
            <a:ext cx="47091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8712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3D4A66"/>
                </a:solidFill>
                <a:latin typeface="Calibri"/>
              </a:rPr>
              <a:t>The detectives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8712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8449"/>
                </a:solidFill>
                <a:latin typeface="Calibri"/>
              </a:rPr>
              <a:t>find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657600"/>
            <a:ext cx="4709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32538"/>
                </a:solidFill>
                <a:latin typeface="Calibri"/>
              </a:rPr>
              <a:t>plural subject → verb has no -s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09160"/>
            <a:ext cx="11292840" cy="100584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1888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4A66"/>
                </a:solidFill>
                <a:latin typeface="Calibri"/>
              </a:rPr>
              <a:t>THE TRICK THAT ALWAYS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1B32"/>
                </a:solidFill>
                <a:latin typeface="Calibri"/>
              </a:rPr>
              <a:t>If the subject has an -s, the verb usually does not. Only one of them gets the 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85216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90702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89788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Find the subject first, every time. The verb just follows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🤝 Game: Agreement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093349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47–58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32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Pick the verb that agrees. Say the whole sentence out 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9293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78608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2715768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70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19856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557016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61104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39826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4531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02352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5239512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2943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189280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1B32"/>
                </a:solidFill>
                <a:latin typeface="Calibri"/>
              </a:rPr>
              <a:t>The detective ______ the clue.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856232"/>
            <a:ext cx="3291840" cy="493776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9385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find / finds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27340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1B32"/>
                </a:solidFill>
                <a:latin typeface="Calibri"/>
              </a:rPr>
              <a:t>The detectives ______ the clues.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2697480"/>
            <a:ext cx="3291840" cy="493776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7797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find / finds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357530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1B32"/>
                </a:solidFill>
                <a:latin typeface="Calibri"/>
              </a:rPr>
              <a:t>Maya ______ the dusty attic.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3538728"/>
            <a:ext cx="3291840" cy="493776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6210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search / searches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41655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1B32"/>
                </a:solidFill>
                <a:latin typeface="Calibri"/>
              </a:rPr>
              <a:t>The clues ______ to the old door.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379976"/>
            <a:ext cx="3291840" cy="493776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4622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point / points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5257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1B32"/>
                </a:solidFill>
                <a:latin typeface="Calibri"/>
              </a:rPr>
              <a:t>The map ______ a path through the forest.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5221224"/>
            <a:ext cx="3291840" cy="493776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5303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show / shows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0441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603504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"The clues" is plural even though "door" comes after it. Find the real subject.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🔎 Sentence Reading — Level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315017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Reading Clue  |  58–68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33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Last warm-up before the story. Read each one smoothly.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476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32538"/>
                </a:solidFill>
                <a:latin typeface="Calibri"/>
              </a:rP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965960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1B32"/>
                </a:solidFill>
                <a:latin typeface="Calibri"/>
              </a:rPr>
              <a:t>The detective found a strange key.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965960"/>
            <a:ext cx="2286000" cy="51206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048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07208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71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32538"/>
                </a:solidFill>
                <a:latin typeface="Calibri"/>
              </a:rPr>
              <a:t>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990088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1B32"/>
                </a:solidFill>
                <a:latin typeface="Calibri"/>
              </a:rPr>
              <a:t>She followed the map through the forest.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990088"/>
            <a:ext cx="2286000" cy="51206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0723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31336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959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32538"/>
                </a:solidFill>
                <a:latin typeface="Calibri"/>
              </a:rPr>
              <a:t>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014216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1B32"/>
                </a:solidFill>
                <a:latin typeface="Calibri"/>
              </a:rPr>
              <a:t>The old door was locked.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4014216"/>
            <a:ext cx="2286000" cy="51206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096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I · WE ·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55464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2005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32538"/>
                </a:solidFill>
                <a:latin typeface="Calibri"/>
              </a:rPr>
              <a:t>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038344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1B32"/>
                </a:solidFill>
                <a:latin typeface="Calibri"/>
              </a:rPr>
              <a:t>A shining object sat inside the nest.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5038344"/>
            <a:ext cx="2286000" cy="51206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I · WE · YOU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1292840" cy="384048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89320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4A66"/>
                </a:solidFill>
                <a:latin typeface="Calibri"/>
              </a:rPr>
              <a:t>Every one of these sentences comes from the story you are about to read.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48640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4126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553212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If she reads it choppily, model it once smoothly and let her try again.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📖 The Secret Behind the Old Door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536684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Story Clue  |  58–68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34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8F96"/>
                </a:solidFill>
                <a:latin typeface="Calibri"/>
              </a:rPr>
              <a:t>Four short parts. Watch for these six words as we read.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4114800" cy="402336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00" b="0" i="0">
                <a:solidFill>
                  <a:srgbClr val="232538"/>
                </a:solidFill>
                <a:latin typeface="Calibri"/>
              </a:rPr>
              <a:t>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18F96"/>
                </a:solidFill>
                <a:latin typeface="Calibri"/>
              </a:rPr>
              <a:t>A map. A locked door.
One missing key.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Roughly 320 words, in four parts.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73736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88366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4AB6"/>
                </a:solidFill>
                <a:latin typeface="Calibri"/>
              </a:rPr>
              <a:t>mysterious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304288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2538"/>
                </a:solidFill>
                <a:latin typeface="Calibri"/>
              </a:rPr>
              <a:t>strange and hard to explain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173736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88366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4AB6"/>
                </a:solidFill>
                <a:latin typeface="Calibri"/>
              </a:rPr>
              <a:t>ancient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304288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2538"/>
                </a:solidFill>
                <a:latin typeface="Calibri"/>
              </a:rPr>
              <a:t>extremely 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310896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25526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4AB6"/>
                </a:solidFill>
                <a:latin typeface="Calibri"/>
              </a:rPr>
              <a:t>hidden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675888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2538"/>
                </a:solidFill>
                <a:latin typeface="Calibri"/>
              </a:rPr>
              <a:t>put out of sight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10896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325526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4AB6"/>
                </a:solidFill>
                <a:latin typeface="Calibri"/>
              </a:rPr>
              <a:t>discover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675888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2538"/>
                </a:solidFill>
                <a:latin typeface="Calibri"/>
              </a:rPr>
              <a:t>to find for the first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448056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62686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4AB6"/>
                </a:solidFill>
                <a:latin typeface="Calibri"/>
              </a:rPr>
              <a:t>faded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047488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2538"/>
                </a:solidFill>
                <a:latin typeface="Calibri"/>
              </a:rPr>
              <a:t>lost its color over 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448056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462686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4AB6"/>
                </a:solidFill>
                <a:latin typeface="Calibri"/>
              </a:rPr>
              <a:t>ivy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047488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2538"/>
                </a:solidFill>
                <a:latin typeface="Calibri"/>
              </a:rPr>
              <a:t>a climbing green plant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Read these six words now. Meeting them before the story removes the roadblocks.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📖 The Secret Behind the Old Door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758351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Story Clue  |  58–68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35 / 55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2834640" cy="434340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32538"/>
                </a:solidFill>
                <a:latin typeface="Calibri"/>
              </a:rPr>
              <a:t>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325880"/>
            <a:ext cx="8229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60020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Maya was eleven years old, and she loved solving mysteries. One rainy Saturday, she was cleaning her grandmother's attic when she found an old wooden box.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92608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Inside was a folded paper, yellow with age. Maya opened it carefully. It was a map. A thin red line curved through a forest and stopped at a small drawing of a door.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9768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Under the door, someone had written four words in faded ink: The treasure waits inside.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DO  ·  I model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DO  ·  We do it together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DO  ·  You take the lead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📖 The Secret Behind the Old Door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980018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Story Clue  |  58–68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55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2834640" cy="434340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32538"/>
                </a:solidFill>
                <a:latin typeface="Calibri"/>
              </a:rPr>
              <a:t>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325880"/>
            <a:ext cx="8229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60020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Maya showed the map to her grandmother. "I drew that when I was your age," Grandma said with a smile. "But I never found what was behind the door."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92608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That was all Maya needed to hear. The next morning she packed a flashlight, a notebook, and two sandwiches, and followed the red line into the forest behind the house.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9768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The trees were tall and quiet. After twenty minutes, she saw something strange between them: a stone wall, covered in ivy.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DO  ·  I model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DO  ·  We do it together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DO  ·  You take the lead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📖 The Secret Behind the Old Door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201685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Story Clue  |  58–68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37 / 55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2834640" cy="434340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32538"/>
                </a:solidFill>
                <a:latin typeface="Calibri"/>
              </a:rPr>
              <a:t>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325880"/>
            <a:ext cx="8229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60020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In the middle of the wall stood an ancient door. It was made of dark wood, and it was locked. Maya searched everywhere for a key. She looked under rocks. She looked behind bushes. Nothing.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92608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Then she remembered the map. She unfolded it again and noticed a tiny arrow she had missed, pointing to the bottom corner. There, drawn in the same faded ink, was a picture of a bird's nest.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9768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Maya looked up. A nest sat in the ivy above the door, and something metal was shining inside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DO  ·  I model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DO  ·  We do it together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DO  ·  You take the lead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📖 The Secret Behind the Old Door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423352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Story Clue  |  58–68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38 / 55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2834640" cy="434340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32538"/>
                </a:solidFill>
                <a:latin typeface="Calibri"/>
              </a:rPr>
              <a:t>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325880"/>
            <a:ext cx="8229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60020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Maya reached up and pulled out a small iron key. Her hands shook as she turned it in the lock. The door opened slowly.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92608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Inside was not gold. Inside was a tiny room full of books, letters, and drawings — hundreds of them, all made by her grandmother when she was young.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9768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232538"/>
                </a:solidFill>
                <a:latin typeface="Calibri"/>
              </a:rPr>
              <a:t>Maya sat down on the dusty floor and began to read. She had found the treasure after all. It was a story, and it belonged to her family.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DO  ·  I model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DO  ·  We do it together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DO  ·  You take the lead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68–76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🔍 Show Me the Evidence!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645020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Story Clue  |  68–76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39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60C"/>
                </a:solidFill>
                <a:latin typeface="Calibri"/>
              </a:rPr>
              <a:t>A real detective never guesses. She proves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283464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" y="201168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121408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788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392B"/>
                </a:solidFill>
                <a:latin typeface="Calibri"/>
              </a:rPr>
              <a:t>Read the question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11880"/>
            <a:ext cx="21945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85615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538"/>
                </a:solidFill>
                <a:latin typeface="Calibri"/>
              </a:rPr>
              <a:t>What is it actually asking?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783080"/>
            <a:ext cx="2651760" cy="283464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25112" y="2011680"/>
            <a:ext cx="640080" cy="640080"/>
          </a:xfrm>
          <a:prstGeom prst="ellipse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2121408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2788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97D0A"/>
                </a:solidFill>
                <a:latin typeface="Calibri"/>
              </a:rPr>
              <a:t>Go back to the 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7872" y="3611880"/>
            <a:ext cx="21945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3785615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538"/>
                </a:solidFill>
                <a:latin typeface="Calibri"/>
              </a:rPr>
              <a:t>Do not answer from memory.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1783080"/>
            <a:ext cx="2651760" cy="283464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87184" y="2011680"/>
            <a:ext cx="640080" cy="64008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87184" y="2121408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2788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8449"/>
                </a:solidFill>
                <a:latin typeface="Calibri"/>
              </a:rPr>
              <a:t>Find the sentence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9944" y="3611880"/>
            <a:ext cx="21945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4" y="3785615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538"/>
                </a:solidFill>
                <a:latin typeface="Calibri"/>
              </a:rPr>
              <a:t>Point to the exact line.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3416" y="1783080"/>
            <a:ext cx="2651760" cy="28346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49256" y="2011680"/>
            <a:ext cx="640080" cy="640080"/>
          </a:xfrm>
          <a:prstGeom prst="ellipse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9256" y="2121408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2788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18F96"/>
                </a:solidFill>
                <a:latin typeface="Calibri"/>
              </a:rPr>
              <a:t>Say it out loud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72016" y="3611880"/>
            <a:ext cx="21945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63456" y="3785615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538"/>
                </a:solidFill>
                <a:latin typeface="Calibri"/>
              </a:rPr>
              <a:t>"My evidence is..."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00600"/>
            <a:ext cx="11292840" cy="91440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1B32"/>
                </a:solidFill>
                <a:latin typeface="Calibri"/>
              </a:rPr>
              <a:t>"My answer is ______, and my evidence is the sentence that says ______."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Going back to the text is not cheating. It is exactly the skill being taught.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68–76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📖 Find the Evidence — What Happened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866687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Story Clue  |  68–76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40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8F96"/>
                </a:solidFill>
                <a:latin typeface="Calibri"/>
              </a:rPr>
              <a:t>The answers are all written in the story. Go find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71700"/>
            <a:ext cx="457200" cy="457200"/>
          </a:xfrm>
          <a:prstGeom prst="ellipse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65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7580"/>
            <a:ext cx="457200" cy="457200"/>
          </a:xfrm>
          <a:prstGeom prst="ellipse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524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23460"/>
            <a:ext cx="457200" cy="457200"/>
          </a:xfrm>
          <a:prstGeom prst="ellipse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783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1993392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1B32"/>
                </a:solidFill>
                <a:latin typeface="Calibri"/>
              </a:rPr>
              <a:t>Who is the main character?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48716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486"/>
                </a:solidFill>
                <a:latin typeface="Calibri"/>
              </a:rPr>
              <a:t>Evidence sentence: ______________________________________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176272"/>
            <a:ext cx="2194560" cy="45720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24942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8F96"/>
                </a:solidFill>
                <a:latin typeface="Calibri"/>
              </a:rPr>
              <a:t>look in Part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319272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1B32"/>
                </a:solidFill>
                <a:latin typeface="Calibri"/>
              </a:rPr>
              <a:t>What did Maya find in the attic?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81304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486"/>
                </a:solidFill>
                <a:latin typeface="Calibri"/>
              </a:rPr>
              <a:t>Evidence sentence: ______________________________________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3502152"/>
            <a:ext cx="2194560" cy="45720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357530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8F96"/>
                </a:solidFill>
                <a:latin typeface="Calibri"/>
              </a:rPr>
              <a:t>look in Part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645152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1B32"/>
                </a:solidFill>
                <a:latin typeface="Calibri"/>
              </a:rPr>
              <a:t>Where did the red line on the map lead her?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13892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486"/>
                </a:solidFill>
                <a:latin typeface="Calibri"/>
              </a:rPr>
              <a:t>Evidence sentence: ______________________________________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4828032"/>
            <a:ext cx="2194560" cy="45720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49011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8F96"/>
                </a:solidFill>
                <a:latin typeface="Calibri"/>
              </a:rPr>
              <a:t>look in Part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0441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603504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She should reread, not remember. Send her back to the part every time.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68–76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📖 Find the Evidence — Words &amp; Thinking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088354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Story Clue  |  68–76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41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8F96"/>
                </a:solidFill>
                <a:latin typeface="Calibri"/>
              </a:rPr>
              <a:t>Two word questions, two thinking questions.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896112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975104"/>
            <a:ext cx="1737360" cy="45720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4825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993392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What does "ancient" mean in Part 3?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61488"/>
            <a:ext cx="11292840" cy="896112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2999232"/>
            <a:ext cx="1737360" cy="45720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7238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0175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What does "faded" tell you about the ink?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85616"/>
            <a:ext cx="11292840" cy="896112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023360"/>
            <a:ext cx="1737360" cy="457200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9651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04164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Why do you think the door mattered to Grandma?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09744"/>
            <a:ext cx="11292840" cy="896112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5047488"/>
            <a:ext cx="1737360" cy="457200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06577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Why did Maya keep searching after she found no key?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1616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4A66"/>
                </a:solidFill>
                <a:latin typeface="Calibri"/>
              </a:rPr>
              <a:t>Inference means the answer is not written down — you work it out from what is. For vocabulary, cover the word and ask what would still make sense there.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68–76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📖 Prove It — Point to the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310021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Story Clue  |  68–76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42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60C"/>
                </a:solidFill>
                <a:latin typeface="Calibri"/>
              </a:rPr>
              <a:t>Answer, then read me the exact line that proves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308860"/>
            <a:ext cx="457200" cy="457200"/>
          </a:xfrm>
          <a:prstGeom prst="ellipse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637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92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909060"/>
            <a:ext cx="457200" cy="457200"/>
          </a:xfrm>
          <a:prstGeom prst="ellipse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639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19933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1B32"/>
                </a:solidFill>
                <a:latin typeface="Calibri"/>
              </a:rPr>
              <a:t>Where exactly was the key hidden?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523744"/>
            <a:ext cx="10104120" cy="530352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263347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D0A"/>
                </a:solidFill>
                <a:latin typeface="Calibri"/>
              </a:rPr>
              <a:t>Find the sentence in Part 3 that proves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93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1B32"/>
                </a:solidFill>
                <a:latin typeface="Calibri"/>
              </a:rPr>
              <a:t>Was Maya disappointed by what she found?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4123944"/>
            <a:ext cx="10104120" cy="530352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23367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D0A"/>
                </a:solidFill>
                <a:latin typeface="Calibri"/>
              </a:rPr>
              <a:t>Find the sentence in Part 4 that proves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66360"/>
            <a:ext cx="11292840" cy="566928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760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449"/>
                </a:solidFill>
                <a:latin typeface="Calibri"/>
              </a:rPr>
              <a:t>🏅 BADGE 4 EARNED — Story Clue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If she cannot find the line, narrow it down: "It's in Part 3 somewhere."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76–84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✏️ Six Things a Detective Checks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31688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76–84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43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D0A"/>
                </a:solidFill>
                <a:latin typeface="Calibri"/>
              </a:rPr>
              <a:t>Before you fix anything, know what to look for.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182880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20240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0756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32538"/>
                </a:solidFill>
                <a:latin typeface="Calibri"/>
              </a:rPr>
              <a:t>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D0A"/>
                </a:solidFill>
                <a:latin typeface="Calibri"/>
              </a:rPr>
              <a:t>Capital letters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538"/>
                </a:solidFill>
                <a:latin typeface="Calibri"/>
              </a:rPr>
              <a:t>Sentences and names start with capitals.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783080"/>
            <a:ext cx="3566160" cy="182880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5000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20756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32538"/>
                </a:solidFill>
                <a:latin typeface="Calibri"/>
              </a:rPr>
              <a:t>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D0A"/>
                </a:solidFill>
                <a:latin typeface="Calibri"/>
              </a:rPr>
              <a:t>Punctuation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538"/>
                </a:solidFill>
                <a:latin typeface="Calibri"/>
              </a:rPr>
              <a:t>Every sentence needs an end mark.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783080"/>
            <a:ext cx="3566160" cy="182880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09760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0756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32538"/>
                </a:solidFill>
                <a:latin typeface="Calibri"/>
              </a:rPr>
              <a:t>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D0A"/>
                </a:solidFill>
                <a:latin typeface="Calibri"/>
              </a:rPr>
              <a:t>Verb tense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538"/>
                </a:solidFill>
                <a:latin typeface="Calibri"/>
              </a:rPr>
              <a:t>Does the time match the rest of the sentence?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94760"/>
            <a:ext cx="3566160" cy="182880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20240" y="39776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40873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32538"/>
                </a:solidFill>
                <a:latin typeface="Calibri"/>
              </a:rPr>
              <a:t>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09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D0A"/>
                </a:solidFill>
                <a:latin typeface="Calibri"/>
              </a:rPr>
              <a:t>Subject-verb agreement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20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538"/>
                </a:solidFill>
                <a:latin typeface="Calibri"/>
              </a:rPr>
              <a:t>One finds. Many find.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794760"/>
            <a:ext cx="3566160" cy="182880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15000" y="39776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40873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32538"/>
                </a:solidFill>
                <a:latin typeface="Calibri"/>
              </a:rPr>
              <a:t>🅰️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709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D0A"/>
                </a:solidFill>
                <a:latin typeface="Calibri"/>
              </a:rPr>
              <a:t>a / 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120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538"/>
                </a:solidFill>
                <a:latin typeface="Calibri"/>
              </a:rPr>
              <a:t>Use "an" before a vowel sound.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794760"/>
            <a:ext cx="3566160" cy="182880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09760" y="39776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0" y="40873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32538"/>
                </a:solidFill>
                <a:latin typeface="Calibri"/>
              </a:rPr>
              <a:t>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709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D0A"/>
                </a:solidFill>
                <a:latin typeface="Calibri"/>
              </a:rPr>
              <a:t>Spelling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120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538"/>
                </a:solidFill>
                <a:latin typeface="Calibri"/>
              </a:rPr>
              <a:t>Read it slowly, syllable by syllable.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Work down this list in order. Capitals first, then punctuation, then verbs.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76–84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✏️ Game: Fix the Mystery!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53356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76–84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44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D0A"/>
                </a:solidFill>
                <a:latin typeface="Calibri"/>
              </a:rPr>
              <a:t>Each sentence has more than one mistake. Find them 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57984"/>
            <a:ext cx="457200" cy="457200"/>
          </a:xfrm>
          <a:prstGeom prst="ellipse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29584"/>
            <a:ext cx="457200" cy="457200"/>
          </a:xfrm>
          <a:prstGeom prst="ellipse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84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01184"/>
            <a:ext cx="457200" cy="457200"/>
          </a:xfrm>
          <a:prstGeom prst="ellipse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56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1947672"/>
            <a:ext cx="5120640" cy="60350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2048256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"/>
              </a:rPr>
              <a:t>the detective find a old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0574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7486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1947672"/>
            <a:ext cx="4343400" cy="603504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2057400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E8449"/>
                </a:solidFill>
                <a:latin typeface="Calibri"/>
              </a:rPr>
              <a:t>your correction 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262432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7486"/>
                </a:solidFill>
                <a:latin typeface="Calibri"/>
              </a:rPr>
              <a:t>Check:  capital · tense · a/an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3319272"/>
            <a:ext cx="5120640" cy="60350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3419856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"/>
              </a:rPr>
              <a:t>she open the door slow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4290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7486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3319272"/>
            <a:ext cx="4343400" cy="603504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429000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E8449"/>
                </a:solidFill>
                <a:latin typeface="Calibri"/>
              </a:rPr>
              <a:t>your correction here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99592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7486"/>
                </a:solidFill>
                <a:latin typeface="Calibri"/>
              </a:rPr>
              <a:t>Check:  capital · tense · adverb · period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4690872"/>
            <a:ext cx="5120640" cy="60350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3040" y="4791456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"/>
              </a:rPr>
              <a:t>maya and her friend searchs the forest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8006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7486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78040" y="4690872"/>
            <a:ext cx="4343400" cy="603504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4800600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E8449"/>
                </a:solidFill>
                <a:latin typeface="Calibri"/>
              </a:rPr>
              <a:t>your correction 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536752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7486"/>
                </a:solidFill>
                <a:latin typeface="Calibri"/>
              </a:rPr>
              <a:t>Check:  capitals · agreement · tense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0441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603504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Read it out loud exactly as written. The errors become obvious.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76–84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✏️ Fix the Mystery — Cases 4 &amp;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975023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76–84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45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D0A"/>
                </a:solidFill>
                <a:latin typeface="Calibri"/>
              </a:rPr>
              <a:t>Two final repairs. Say the fixed version out 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57984"/>
            <a:ext cx="457200" cy="457200"/>
          </a:xfrm>
          <a:prstGeom prst="ellipse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29584"/>
            <a:ext cx="457200" cy="457200"/>
          </a:xfrm>
          <a:prstGeom prst="ellipse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84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1947672"/>
            <a:ext cx="5120640" cy="60350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2048256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"/>
              </a:rPr>
              <a:t>the map show a secrit 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0574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7486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1947672"/>
            <a:ext cx="4343400" cy="603504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057400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E8449"/>
                </a:solidFill>
                <a:latin typeface="Calibri"/>
              </a:rPr>
              <a:t>your correction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62432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7486"/>
                </a:solidFill>
                <a:latin typeface="Calibri"/>
              </a:rPr>
              <a:t>Check:  capital · agreement · spelling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3319272"/>
            <a:ext cx="5120640" cy="60350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3419856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"/>
              </a:rPr>
              <a:t>they will finded the treasure tomorow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4290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7486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3319272"/>
            <a:ext cx="4343400" cy="603504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3429000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E8449"/>
                </a:solidFill>
                <a:latin typeface="Calibri"/>
              </a:rPr>
              <a:t>your correction 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99592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7486"/>
                </a:solidFill>
                <a:latin typeface="Calibri"/>
              </a:rPr>
              <a:t>Check:  capital · future form · spelling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572000"/>
            <a:ext cx="11292840" cy="1170432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68172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D0A"/>
                </a:solidFill>
                <a:latin typeface="Calibri"/>
              </a:rPr>
              <a:t>🎖️ DETECTIVE BADGE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474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1B32"/>
                </a:solidFill>
                <a:latin typeface="Calibri"/>
              </a:rPr>
              <a:t>One badge per correction. Five corrections means five badges — say each one out loud as she earns 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52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94360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After "will," the verb stays plain: will find, never will found.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76–84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📝 The Detective's Notebook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196690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Grammar Clue  |  76–84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46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4A66"/>
                </a:solidFill>
                <a:latin typeface="Calibri"/>
              </a:rPr>
              <a:t>Three short lines. Full sentences, correct punctuation.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03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5798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Today I discovered ______________________________.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11292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838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43814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The most important clue was ______________________________.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11292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640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71830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1B32"/>
                </a:solidFill>
                <a:latin typeface="Calibri"/>
              </a:rPr>
              <a:t>I think the treasure was ______________________________.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69280"/>
            <a:ext cx="11292840" cy="457200"/>
          </a:xfrm>
          <a:prstGeom prst="roundRect">
            <a:avLst/>
          </a:prstGeom>
          <a:solidFill>
            <a:srgbClr val="E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4243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4A66"/>
                </a:solidFill>
                <a:latin typeface="Calibri"/>
              </a:rPr>
              <a:t>Check each line together: capital letter at the start, period at the end.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2064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7550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166359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She may dictate while you write if handwriting slows her down.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84–88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🏆 Final Game: Grammar Treasure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18357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Final Clue  |  84–88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47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60C"/>
                </a:solidFill>
                <a:latin typeface="Calibri"/>
              </a:rPr>
              <a:t>Five last clues. Crack them all and the mystery is solved.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03120" cy="301752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88920"/>
            <a:ext cx="137160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620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CLUE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Calibri"/>
              </a:rPr>
              <a:t>READ</a:t>
            </a:r>
          </a:p>
        </p:txBody>
      </p:sp>
      <p:sp>
        <p:nvSpPr>
          <p:cNvPr id="20" name="Oval 19"/>
          <p:cNvSpPr/>
          <p:nvPr/>
        </p:nvSpPr>
        <p:spPr>
          <a:xfrm>
            <a:off x="1280160" y="4069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1422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34056" y="1783080"/>
            <a:ext cx="2103120" cy="301752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34056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✏️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99816" y="2788920"/>
            <a:ext cx="1371600" cy="45720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9816" y="28620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CLUE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5496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8449"/>
                </a:solidFill>
                <a:latin typeface="Calibri"/>
              </a:rPr>
              <a:t>GRAMMAR</a:t>
            </a:r>
          </a:p>
        </p:txBody>
      </p:sp>
      <p:sp>
        <p:nvSpPr>
          <p:cNvPr id="27" name="Oval 26"/>
          <p:cNvSpPr/>
          <p:nvPr/>
        </p:nvSpPr>
        <p:spPr>
          <a:xfrm>
            <a:off x="3557016" y="4069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7016" y="41422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8449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10912" y="1783080"/>
            <a:ext cx="2103120" cy="301752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🛠️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76672" y="2788920"/>
            <a:ext cx="1371600" cy="45720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6672" y="28620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CLUE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C4AB6"/>
                </a:solidFill>
                <a:latin typeface="Calibri"/>
              </a:rPr>
              <a:t>EDIT</a:t>
            </a:r>
          </a:p>
        </p:txBody>
      </p:sp>
      <p:sp>
        <p:nvSpPr>
          <p:cNvPr id="34" name="Oval 33"/>
          <p:cNvSpPr/>
          <p:nvPr/>
        </p:nvSpPr>
        <p:spPr>
          <a:xfrm>
            <a:off x="5833872" y="4069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3872" y="41422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C4AB6"/>
                </a:solidFill>
                <a:latin typeface="Calibri"/>
              </a:rPr>
              <a:t>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87768" y="1783080"/>
            <a:ext cx="2103120" cy="301752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7768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53528" y="2788920"/>
            <a:ext cx="1371600" cy="457200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53528" y="28620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CLUE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79208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18F96"/>
                </a:solidFill>
                <a:latin typeface="Calibri"/>
              </a:rPr>
              <a:t>COMPREHEND</a:t>
            </a:r>
          </a:p>
        </p:txBody>
      </p:sp>
      <p:sp>
        <p:nvSpPr>
          <p:cNvPr id="41" name="Oval 40"/>
          <p:cNvSpPr/>
          <p:nvPr/>
        </p:nvSpPr>
        <p:spPr>
          <a:xfrm>
            <a:off x="8110728" y="4069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0728" y="41422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8F96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64624" y="1783080"/>
            <a:ext cx="2103120" cy="301752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4624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32538"/>
                </a:solidFill>
                <a:latin typeface="Calibri"/>
              </a:rPr>
              <a:t>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30384" y="2788920"/>
            <a:ext cx="1371600" cy="457200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30384" y="28620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CLUE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56064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960C"/>
                </a:solidFill>
                <a:latin typeface="Calibri"/>
              </a:rPr>
              <a:t>CREATE</a:t>
            </a:r>
          </a:p>
        </p:txBody>
      </p:sp>
      <p:sp>
        <p:nvSpPr>
          <p:cNvPr id="48" name="Oval 47"/>
          <p:cNvSpPr/>
          <p:nvPr/>
        </p:nvSpPr>
        <p:spPr>
          <a:xfrm>
            <a:off x="10387584" y="4069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87584" y="41422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960C"/>
                </a:solidFill>
                <a:latin typeface="Calibri"/>
              </a:rPr>
              <a:t>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983480"/>
            <a:ext cx="11292840" cy="73152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138928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1B32"/>
                </a:solidFill>
                <a:latin typeface="Calibri"/>
              </a:rPr>
              <a:t>Every clue uses something from today. Nothing here is new.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9253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0360" y="5916168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Hints are allowed on the final challenge. Finishing matters more than solo work.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84–88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🏆 Challenge Clues 1, 2 &amp;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640024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Final Clue  |  84–88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48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60C"/>
                </a:solidFill>
                <a:latin typeface="Calibri"/>
              </a:rPr>
              <a:t>Work through them in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75688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1965960"/>
            <a:ext cx="141732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20299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CLUE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0253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66"/>
                </a:solidFill>
                <a:latin typeface="Calibri"/>
              </a:rPr>
              <a:t>Read these three words out loud: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386584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392B"/>
                </a:solidFill>
                <a:latin typeface="Calibri"/>
              </a:rPr>
              <a:t>ANCIENT · DISCOVER · MYSTERIOUS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47288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✏️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337560"/>
            <a:ext cx="1417320" cy="41148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34015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CLUE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37413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66"/>
                </a:solidFill>
                <a:latin typeface="Calibri"/>
              </a:rPr>
              <a:t>Find the adverb in this sentence: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758184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8449"/>
                </a:solidFill>
                <a:latin typeface="Calibri"/>
              </a:rPr>
              <a:t>The clever detective searched quietly.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EE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18888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32538"/>
                </a:solidFill>
                <a:latin typeface="Calibri"/>
              </a:rPr>
              <a:t>🛠️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4709160"/>
            <a:ext cx="1417320" cy="41148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47731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CLUE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74573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66"/>
                </a:solidFill>
                <a:latin typeface="Calibri"/>
              </a:rPr>
              <a:t>Fix this sentence: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129784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4AB6"/>
                </a:solidFill>
                <a:latin typeface="Calibri"/>
              </a:rPr>
              <a:t>the door was lock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0441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6035040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Clue 3 hides two problems: a capital letter and a verb form.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84–88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🏆 Challenge Clues 4 &amp;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861691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Final Clue  |  84–88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49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60C"/>
                </a:solidFill>
                <a:latin typeface="Calibri"/>
              </a:rPr>
              <a:t>The last two. Then we open the chest.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50876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945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32538"/>
                </a:solidFill>
                <a:latin typeface="Calibri"/>
              </a:rPr>
              <a:t>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020824"/>
            <a:ext cx="1417320" cy="411480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84832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CLUE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057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66"/>
                </a:solidFill>
                <a:latin typeface="Calibri"/>
              </a:rPr>
              <a:t>Answer from the story: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44144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8F96"/>
                </a:solidFill>
                <a:latin typeface="Calibri"/>
              </a:rPr>
              <a:t>Where did Maya find the key?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2971800"/>
            <a:ext cx="7863840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520439"/>
            <a:ext cx="11292840" cy="1508760"/>
          </a:xfrm>
          <a:prstGeom prst="roundRect">
            <a:avLst/>
          </a:prstGeom>
          <a:solidFill>
            <a:srgbClr val="FA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19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32538"/>
                </a:solidFill>
                <a:latin typeface="Calibri"/>
              </a:rPr>
              <a:t>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3758183"/>
            <a:ext cx="1417320" cy="411480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3822191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CLUE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79475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66"/>
                </a:solidFill>
                <a:latin typeface="Calibri"/>
              </a:rPr>
              <a:t>Build your own sentence using: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178807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960C"/>
                </a:solidFill>
                <a:latin typeface="Calibri"/>
              </a:rPr>
              <a:t>TREASURE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709159"/>
            <a:ext cx="7863840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253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916168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Clue 5 is open-ended on purpose. Any correct sentence wins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280160"/>
            <a:ext cx="731520" cy="7315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1234440"/>
            <a:ext cx="731520" cy="731520"/>
          </a:xfrm>
          <a:prstGeom prst="ellipse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3383280"/>
            <a:ext cx="731520" cy="73152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5640" y="3337560"/>
            <a:ext cx="731520" cy="73152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232538"/>
                </a:solidFill>
                <a:latin typeface="Calibri"/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9960C"/>
                </a:solidFill>
                <a:latin typeface="Georgia"/>
              </a:rPr>
              <a:t>🎉 MYSTERY SOLVED!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788920"/>
            <a:ext cx="7406640" cy="17373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306324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The treasure was not gold...
The real treasure was KNOWLEDGE!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4846320"/>
            <a:ext cx="1783080" cy="8686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95604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🔎 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34924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Reading Clue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846320"/>
            <a:ext cx="1783080" cy="86868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95604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🧩 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34924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Vocabulary Clue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4846320"/>
            <a:ext cx="1783080" cy="86868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495604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✏️ 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534924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Grammar Clue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19" y="4846320"/>
            <a:ext cx="1783080" cy="868680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495604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📖 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534924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Story Clue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4846320"/>
            <a:ext cx="1783080" cy="868680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95604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🏆 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34924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Final Clue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1083359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Final Clue  |  84–88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50 / 55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88–90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🎫 Exit Ticket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305026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Wrap-up  |  88–90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51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4A66"/>
                </a:solidFill>
                <a:latin typeface="Calibri"/>
              </a:rPr>
              <a:t>Four quick questions. Say them or write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066544"/>
            <a:ext cx="475488" cy="47548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12140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197510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1B32"/>
                </a:solidFill>
                <a:latin typeface="Calibri"/>
              </a:rPr>
              <a:t>Name one new word you learned today.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377440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_______________________________________________________________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2608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3163824"/>
            <a:ext cx="475488" cy="475488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21868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07238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1B32"/>
                </a:solidFill>
                <a:latin typeface="Calibri"/>
              </a:rPr>
              <a:t>Change to past tense:  "The detective opens the door."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474720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_______________________________________________________________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4261104"/>
            <a:ext cx="475488" cy="475488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31596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16966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1B32"/>
                </a:solidFill>
                <a:latin typeface="Calibri"/>
              </a:rPr>
              <a:t>What was your favorite activity?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572000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_______________________________________________________________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2064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9808" y="5358384"/>
            <a:ext cx="475488" cy="475488"/>
          </a:xfrm>
          <a:prstGeom prst="ellipse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41324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26694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1B32"/>
                </a:solidFill>
                <a:latin typeface="Calibri"/>
              </a:rPr>
              <a:t>What is one thing you learned today?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669280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486"/>
                </a:solidFill>
                <a:latin typeface="Calibri"/>
              </a:rPr>
              <a:t>_______________________________________________________________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08990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💡 DETECTIVE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6080759"/>
            <a:ext cx="8595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1B32"/>
                </a:solidFill>
                <a:latin typeface="Calibri"/>
              </a:rPr>
              <a:t>Question 2 is the only one with a right answer: "opened."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32538"/>
                </a:solidFill>
                <a:latin typeface="Calibri"/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</a:rPr>
              <a:t>GREAT WORK, DETECTIVE!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108960"/>
            <a:ext cx="1874519" cy="155448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108960"/>
            <a:ext cx="1874519" cy="155448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2918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8862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solved clues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3108960"/>
            <a:ext cx="1874519" cy="155448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2918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✏️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8862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fixed grammar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108960"/>
            <a:ext cx="1874519" cy="155448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2918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8862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understood the 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3108960"/>
            <a:ext cx="1874519" cy="1554480"/>
          </a:xfrm>
          <a:prstGeom prst="roundRect">
            <a:avLst/>
          </a:prstGeom>
          <a:solidFill>
            <a:srgbClr val="2A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32918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538"/>
                </a:solidFill>
                <a:latin typeface="Calibri"/>
              </a:rP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8862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solved the mystery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937760"/>
            <a:ext cx="6492240" cy="868680"/>
          </a:xfrm>
          <a:prstGeom prst="round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5138928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1B32"/>
                </a:solidFill>
                <a:latin typeface="Calibri"/>
              </a:rPr>
              <a:t>Same time next case?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19088"/>
            <a:ext cx="11526693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Wrap-up  |  88–90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52 / 55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3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3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🔒 TEACHER ONLY — Support Levels &amp; Hint Bank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748360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53 / 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0700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Move between levels freely within a single activity. Never announce the level out 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27632"/>
            <a:ext cx="3611880" cy="2606040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8308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32538"/>
                </a:solidFill>
                <a:latin typeface="Calibri"/>
              </a:rPr>
              <a:t>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449"/>
                </a:solidFill>
                <a:latin typeface="Calibri"/>
              </a:rPr>
              <a:t>LEVEL 1 — SUPPORTED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2697480"/>
            <a:ext cx="1600200" cy="347472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75234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Detective Hint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27248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32538"/>
                </a:solidFill>
                <a:latin typeface="Calibri"/>
              </a:rPr>
              <a:t>Give two choices and a hint. Model the answer first, then ask again.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03320"/>
            <a:ext cx="324612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76472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D4A66"/>
                </a:solidFill>
                <a:latin typeface="Calibri"/>
              </a:rPr>
              <a:t>"Is it 'find' or 'finds'? Let's look at the subject."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3672" y="1627632"/>
            <a:ext cx="3611880" cy="260604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178308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32538"/>
                </a:solidFill>
                <a:latin typeface="Calibri"/>
              </a:rPr>
              <a:t>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22860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97D0A"/>
                </a:solidFill>
                <a:latin typeface="Calibri"/>
              </a:rPr>
              <a:t>LEVEL 2 — GUIDED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9512" y="2697480"/>
            <a:ext cx="1600200" cy="347472"/>
          </a:xfrm>
          <a:prstGeom prst="roundRect">
            <a:avLst/>
          </a:prstGeom>
          <a:solidFill>
            <a:srgbClr val="D9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9512" y="275234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Challenge Clue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3127248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32538"/>
                </a:solidFill>
                <a:latin typeface="Calibri"/>
              </a:rPr>
              <a:t>She answers with a nudge. Point at the part of the sentence that matters.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6552" y="3703320"/>
            <a:ext cx="324612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3776472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D4A66"/>
                </a:solidFill>
                <a:latin typeface="Calibri"/>
              </a:rPr>
              <a:t>"Look at the word right before the verb."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5863" y="1627632"/>
            <a:ext cx="3611880" cy="2606040"/>
          </a:xfrm>
          <a:prstGeom prst="roundRect">
            <a:avLst/>
          </a:prstGeom>
          <a:solidFill>
            <a:srgbClr val="DF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5863" y="178308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32538"/>
                </a:solidFill>
                <a:latin typeface="Calibri"/>
              </a:rPr>
              <a:t>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3" y="22860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8F96"/>
                </a:solidFill>
                <a:latin typeface="Calibri"/>
              </a:rPr>
              <a:t>LEVEL 3 — CHALLENGE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61703" y="2697480"/>
            <a:ext cx="1600200" cy="347472"/>
          </a:xfrm>
          <a:prstGeom prst="roundRect">
            <a:avLst/>
          </a:prstGeom>
          <a:solidFill>
            <a:srgbClr val="11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61703" y="275234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Bonus Mission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3" y="3127248"/>
            <a:ext cx="3154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32538"/>
                </a:solidFill>
                <a:latin typeface="Calibri"/>
              </a:rPr>
              <a:t>She writes her own example or explains why her answer works.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38743" y="3703320"/>
            <a:ext cx="324612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0183" y="3776472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D4A66"/>
                </a:solidFill>
                <a:latin typeface="Calibri"/>
              </a:rPr>
              <a:t>"Can you make your own sentence and tell me why it's correct?"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370832"/>
            <a:ext cx="5577840" cy="1874519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805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D0A"/>
                </a:solidFill>
                <a:latin typeface="Calibri"/>
              </a:rPr>
              <a:t>💡 HINT BANK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28032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Look at the subject first.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Ask: who is doing the action?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Look for the action word.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Check the ending of the verb.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Read the sentence one more time.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Look back at the story.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370832"/>
            <a:ext cx="5577840" cy="1874519"/>
          </a:xfrm>
          <a:prstGeom prst="roundRect">
            <a:avLst/>
          </a:prstGeom>
          <a:solidFill>
            <a:srgbClr val="E4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4805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  <a:latin typeface="Calibri"/>
              </a:rPr>
              <a:t>🗣️ SAY THIS INSTEAD OF "WRONG"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28032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"Let's try that clue again."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"Good thinking!"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"Let's check the evidence."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"You're getting closer!"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"Detective hint!"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"That's exactly how a detective thinks."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3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3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🔒 TEACHER ONLY — End of Lesson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970027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54 / 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Mark what she did today, not what you hoped for. Fill this in right after class.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54480"/>
            <a:ext cx="3931920" cy="384048"/>
          </a:xfrm>
          <a:prstGeom prst="round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184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554480"/>
            <a:ext cx="2377440" cy="384048"/>
          </a:xfrm>
          <a:prstGeom prst="round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618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Independent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554480"/>
            <a:ext cx="2194560" cy="384048"/>
          </a:xfrm>
          <a:prstGeom prst="round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6184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With Hint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554480"/>
            <a:ext cx="2286000" cy="384048"/>
          </a:xfrm>
          <a:prstGeom prst="round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618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Needs More Practice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993392"/>
            <a:ext cx="3931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029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1B32"/>
                </a:solidFill>
                <a:latin typeface="Calibri"/>
              </a:rPr>
              <a:t>Word Reading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1993392"/>
            <a:ext cx="2377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993392"/>
            <a:ext cx="21945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1993392"/>
            <a:ext cx="22860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340864"/>
            <a:ext cx="393192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3774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1B32"/>
                </a:solidFill>
                <a:latin typeface="Calibri"/>
              </a:rPr>
              <a:t>Reading Fluency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2340864"/>
            <a:ext cx="237744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23591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2340864"/>
            <a:ext cx="219456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2359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2340864"/>
            <a:ext cx="228600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359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2688336"/>
            <a:ext cx="3931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7249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1B32"/>
                </a:solidFill>
                <a:latin typeface="Calibri"/>
              </a:rPr>
              <a:t>Vocabulary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2688336"/>
            <a:ext cx="2377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27066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2688336"/>
            <a:ext cx="21945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27066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4040" y="2688336"/>
            <a:ext cx="22860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2706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035808"/>
            <a:ext cx="393192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07238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1B32"/>
                </a:solidFill>
                <a:latin typeface="Calibri"/>
              </a:rPr>
              <a:t>Comprehension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6280" y="3035808"/>
            <a:ext cx="237744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30540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86600" y="3035808"/>
            <a:ext cx="219456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30540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64040" y="3035808"/>
            <a:ext cx="228600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30540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3383280"/>
            <a:ext cx="3931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41985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1B32"/>
                </a:solidFill>
                <a:latin typeface="Calibri"/>
              </a:rPr>
              <a:t>Parts of Speech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26280" y="3383280"/>
            <a:ext cx="2377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34015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86600" y="3383280"/>
            <a:ext cx="21945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3401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64040" y="3383280"/>
            <a:ext cx="22860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3401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3730752"/>
            <a:ext cx="393192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37673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1B32"/>
                </a:solidFill>
                <a:latin typeface="Calibri"/>
              </a:rPr>
              <a:t>Verb Tenses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6280" y="3730752"/>
            <a:ext cx="237744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26280" y="3749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86600" y="3730752"/>
            <a:ext cx="219456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86600" y="3749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64040" y="3730752"/>
            <a:ext cx="228600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64040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4078224"/>
            <a:ext cx="3931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41148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1B32"/>
                </a:solidFill>
                <a:latin typeface="Calibri"/>
              </a:rPr>
              <a:t>Subject-Verb Agreement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26280" y="4078224"/>
            <a:ext cx="2377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26280" y="40965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86600" y="4078224"/>
            <a:ext cx="21945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86600" y="4096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64040" y="4078224"/>
            <a:ext cx="22860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64040" y="4096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1480" y="4425696"/>
            <a:ext cx="393192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44622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1B32"/>
                </a:solidFill>
                <a:latin typeface="Calibri"/>
              </a:rPr>
              <a:t>Sentence Editing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26280" y="4425696"/>
            <a:ext cx="237744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26280" y="44439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86600" y="4425696"/>
            <a:ext cx="219456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86600" y="44439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64040" y="4425696"/>
            <a:ext cx="2286000" cy="329184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64040" y="4443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4773168"/>
            <a:ext cx="3931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48097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1B32"/>
                </a:solidFill>
                <a:latin typeface="Calibri"/>
              </a:rPr>
              <a:t>Speaking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26280" y="4773168"/>
            <a:ext cx="2377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26280" y="47914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086600" y="4773168"/>
            <a:ext cx="21945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86600" y="47914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464040" y="4773168"/>
            <a:ext cx="22860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64040" y="47914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7486"/>
                </a:solidFill>
                <a:latin typeface="Calibri"/>
              </a:rPr>
              <a:t>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1480" y="5230368"/>
            <a:ext cx="11338560" cy="1051560"/>
          </a:xfrm>
          <a:prstGeom prst="roundRect">
            <a:avLst/>
          </a:prstGeom>
          <a:solidFill>
            <a:srgbClr val="FD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0080" y="5321808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D0A"/>
                </a:solidFill>
                <a:latin typeface="Calibri"/>
              </a:rPr>
              <a:t>NEXT LESSON FOCUS — record two or three areas to practice again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566928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6"/>
                </a:solidFill>
                <a:latin typeface="Calibri"/>
              </a:rPr>
              <a:t>1.  __________________________________________________________________________________________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0080" y="5870448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6"/>
                </a:solidFill>
                <a:latin typeface="Calibri"/>
              </a:rPr>
              <a:t>2.  __________________________________________________________________________________________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" y="6071616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6"/>
                </a:solidFill>
                <a:latin typeface="Calibri"/>
              </a:rPr>
              <a:t>3.  __________________________________________________________________________________________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3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3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1B32"/>
                </a:solidFill>
                <a:latin typeface="Georgia"/>
              </a:rPr>
              <a:t>🔒 TEACHER ONLY —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C9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🕵️ The Mystery of the Missing Treasure  |  Grade 5  |  90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55 / 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Hide this slide before presenting, or keep it on a second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72768"/>
            <a:ext cx="557784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0078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4AB6"/>
                </a:solidFill>
                <a:latin typeface="Calibri"/>
              </a:rPr>
              <a:t>🧩 Vocabulary  ·  ✏️ Parts of Speech  ·  Subject/Predicate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84831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Clue or Not: KEY, TREASURE, SECRET, MAP are clues;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RUN, BLUE, APPLE, JUMP are not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GD 1 brave girl: girl/box · opened · brave, secret · carefully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GD 2 young detective: detective/footprints · followed 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young, muddy · silently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GD 3 rusty key: key/shelf · fell · rusty, old · suddenly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GD 4 curious students: students/puzzle · solved 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curious, difficult · quickly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GD 5 Maya unfolded: Maya/map · unfolded 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ancient, treasure · carefully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Sentence Lock: detective+hidden map · door+opened slowly 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students+searched the room · passage+led to the treasure 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Maya and grandmother+solved it together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72768"/>
            <a:ext cx="557784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0078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  <a:latin typeface="Calibri"/>
              </a:rPr>
              <a:t>⏰ Tenses  ·  🛠️ Editing  ·  📖 Story  ·  🏆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84831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Name the Tense: 1 present · 2 past · 3 future 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4 present · 5 past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Transform: found / will find · opened / will open 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searched / will search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Agreement: finds · find · searches · point · shows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Fix 1: The detective found an old key.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Fix 2: She opened the door slowly.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Fix 3: Maya and her friend searched the forest.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Fix 4: The map shows a secret room.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Fix 5: They will find the treasure tomorrow.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Story: Maya · a wooden box with a map · a stone wall in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the forest · ancient = extremely old · key was in 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bird's nest above the door · no, she was delighted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•  Final: adverb = quietly · "The door was locked." 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32538"/>
                </a:solidFill>
                <a:latin typeface="Calibri"/>
              </a:rPr>
              <a:t>      key in the nest · any correct TREASURE sentence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