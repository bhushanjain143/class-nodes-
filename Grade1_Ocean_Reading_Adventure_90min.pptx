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120640"/>
            <a:ext cx="777240" cy="777240"/>
          </a:xfrm>
          <a:prstGeom prst="ellipse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18520" y="5074920"/>
            <a:ext cx="777240" cy="777240"/>
          </a:xfrm>
          <a:prstGeom prst="ellipse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1E2A38"/>
                </a:solidFill>
                <a:latin typeface="Calibri"/>
              </a:rPr>
              <a:t>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Under the Sea Reading Adventure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9EDCEC"/>
                </a:solidFill>
                <a:latin typeface="Calibri"/>
              </a:rPr>
              <a:t>Dive Into Reading!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46120"/>
            <a:ext cx="1508760" cy="1234440"/>
          </a:xfrm>
          <a:prstGeom prst="roundRect">
            <a:avLst/>
          </a:prstGeom>
          <a:solidFill>
            <a:srgbClr val="17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9D4E6"/>
                </a:solidFill>
                <a:latin typeface="Calibri"/>
              </a:rPr>
              <a:t>fish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246120"/>
            <a:ext cx="1508760" cy="1234440"/>
          </a:xfrm>
          <a:prstGeom prst="roundRect">
            <a:avLst/>
          </a:prstGeom>
          <a:solidFill>
            <a:srgbClr val="17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9D4E6"/>
                </a:solidFill>
                <a:latin typeface="Calibri"/>
              </a:rPr>
              <a:t>shell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246120"/>
            <a:ext cx="1508760" cy="1234440"/>
          </a:xfrm>
          <a:prstGeom prst="roundRect">
            <a:avLst/>
          </a:prstGeom>
          <a:solidFill>
            <a:srgbClr val="17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9D4E6"/>
                </a:solidFill>
                <a:latin typeface="Calibri"/>
              </a:rPr>
              <a:t>coral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46120"/>
            <a:ext cx="1508760" cy="1234440"/>
          </a:xfrm>
          <a:prstGeom prst="roundRect">
            <a:avLst/>
          </a:prstGeom>
          <a:solidFill>
            <a:srgbClr val="17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9D4E6"/>
                </a:solidFill>
                <a:latin typeface="Calibri"/>
              </a:rPr>
              <a:t>sun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246120"/>
            <a:ext cx="1508760" cy="1234440"/>
          </a:xfrm>
          <a:prstGeom prst="roundRect">
            <a:avLst/>
          </a:prstGeom>
          <a:solidFill>
            <a:srgbClr val="17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9D4E6"/>
                </a:solidFill>
                <a:latin typeface="Calibri"/>
              </a:rPr>
              <a:t>rock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3246120"/>
            <a:ext cx="1508760" cy="1234440"/>
          </a:xfrm>
          <a:prstGeom prst="roundRect">
            <a:avLst/>
          </a:prstGeom>
          <a:solidFill>
            <a:srgbClr val="17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9D4E6"/>
                </a:solidFill>
                <a:latin typeface="Calibri"/>
              </a:rPr>
              <a:t>bubbles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4754880"/>
            <a:ext cx="6126480" cy="1051560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98348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Grade 1  •  90 Minutes  •  Reading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217708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Coral Reef  |  0–7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56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🤿 You Are the Ocean Explorer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35417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Coral Reef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8FB0"/>
                </a:solidFill>
                <a:latin typeface="Calibri"/>
              </a:rPr>
              <a:t>Today we are Ocean Readers!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11480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1E2A38"/>
                </a:solidFill>
                <a:latin typeface="Calibri"/>
              </a:rPr>
              <a:t>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7763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18FB0"/>
                </a:solidFill>
                <a:latin typeface="Arial Black"/>
              </a:rPr>
              <a:t>THAT'S YOU!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7A8C"/>
                </a:solidFill>
                <a:latin typeface="Calibri"/>
              </a:rPr>
              <a:t>An Ocean Explorer who reads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737360"/>
            <a:ext cx="6035040" cy="93268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193852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99339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A38"/>
                </a:solidFill>
                <a:latin typeface="Calibri"/>
              </a:rPr>
              <a:t>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933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We swim to five places today.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816352"/>
            <a:ext cx="6035040" cy="93268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301752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3072384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A38"/>
                </a:solidFill>
                <a:latin typeface="Calibri"/>
              </a:rPr>
              <a:t>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0723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Each place has one reading mission.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3895344"/>
            <a:ext cx="6035040" cy="93268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3600" y="409651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15137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A38"/>
                </a:solidFill>
                <a:latin typeface="Calibri"/>
              </a:rPr>
              <a:t>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513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Every mission you finish is a bubble earned.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4974336"/>
            <a:ext cx="6035040" cy="93268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43600" y="517550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23036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A38"/>
                </a:solidFill>
                <a:latin typeface="Calibri"/>
              </a:rPr>
              <a:t>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2303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At the end you become an Ocean Reading Explorer.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🗺️ Our Ocean Journey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53126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Coral Reef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967B"/>
                </a:solidFill>
                <a:latin typeface="Calibri"/>
              </a:rPr>
              <a:t>Five stops. One mission at each stop.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103120" cy="320040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5D4E"/>
                </a:solidFill>
                <a:latin typeface="Calibri"/>
              </a:rPr>
              <a:t>Coral Reef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39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Sounds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1554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885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7A8C"/>
                </a:solidFill>
                <a:latin typeface="Calibri"/>
              </a:rPr>
              <a:t>0–17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34056" y="1783080"/>
            <a:ext cx="2103120" cy="320040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34056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E2A38"/>
                </a:solidFill>
                <a:latin typeface="Calibri"/>
              </a:rPr>
              <a:t>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5496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18FB0"/>
                </a:solidFill>
                <a:latin typeface="Calibri"/>
              </a:rPr>
              <a:t>Fish Bay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71216" y="3639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Building words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08376" y="4251960"/>
            <a:ext cx="1554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08376" y="42885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7A8C"/>
                </a:solidFill>
                <a:latin typeface="Calibri"/>
              </a:rPr>
              <a:t>17–35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10912" y="1783080"/>
            <a:ext cx="2103120" cy="3200400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0912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E2A38"/>
                </a:solidFill>
                <a:latin typeface="Calibri"/>
              </a:rPr>
              <a:t>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655C2"/>
                </a:solidFill>
                <a:latin typeface="Calibri"/>
              </a:rPr>
              <a:t>Octopus Garden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072" y="3639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Word games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85232" y="4251960"/>
            <a:ext cx="1554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85232" y="42885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7A8C"/>
                </a:solidFill>
                <a:latin typeface="Calibri"/>
              </a:rPr>
              <a:t>35–57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87768" y="1783080"/>
            <a:ext cx="2103120" cy="3200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7768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E2A38"/>
                </a:solidFill>
                <a:latin typeface="Calibri"/>
              </a:rPr>
              <a:t>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9208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C4A74"/>
                </a:solidFill>
                <a:latin typeface="Calibri"/>
              </a:rPr>
              <a:t>Whale Cove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4928" y="3639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Sentences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62088" y="4251960"/>
            <a:ext cx="1554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62088" y="42885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7A8C"/>
                </a:solidFill>
                <a:latin typeface="Calibri"/>
              </a:rPr>
              <a:t>57–73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64624" y="1783080"/>
            <a:ext cx="2103120" cy="320040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64624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E2A38"/>
                </a:solidFill>
                <a:latin typeface="Calibri"/>
              </a:rPr>
              <a:t>🏝️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6064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09B10"/>
                </a:solidFill>
                <a:latin typeface="Calibri"/>
              </a:rPr>
              <a:t>Reading Island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01784" y="3639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Story &amp; questions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38944" y="4251960"/>
            <a:ext cx="1554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38944" y="42885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7A8C"/>
                </a:solidFill>
                <a:latin typeface="Calibri"/>
              </a:rPr>
              <a:t>73–90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166360"/>
            <a:ext cx="11292840" cy="82296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39496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2545"/>
                </a:solidFill>
                <a:latin typeface="Calibri"/>
              </a:rPr>
              <a:t>🐚  →  🐠  →  🐙  →  🐳  →  🏝️   Finish all five and you are an Ocean Reading Explorer!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PROMISE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🌊 How I Help You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70835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Coral Reef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9B10"/>
                </a:solidFill>
                <a:latin typeface="Calibri"/>
              </a:rPr>
              <a:t>You never read alone. Here is how it 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5440680" cy="178308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37744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46888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A38"/>
                </a:solidFill>
                <a:latin typeface="Calibri"/>
              </a:rPr>
              <a:t>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1945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9B10"/>
                </a:solidFill>
                <a:latin typeface="Calibri"/>
              </a:rPr>
              <a:t>Ocean Hint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7432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A38"/>
                </a:solidFill>
                <a:latin typeface="Calibri"/>
              </a:rPr>
              <a:t>A hint is always waiting when a word is tricky.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828800"/>
            <a:ext cx="5440680" cy="178308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4808" y="237744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46888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A38"/>
                </a:solidFill>
                <a:latin typeface="Calibri"/>
              </a:rPr>
              <a:t>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1945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9B10"/>
                </a:solidFill>
                <a:latin typeface="Calibri"/>
              </a:rPr>
              <a:t>Easy Catch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7432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A38"/>
                </a:solidFill>
                <a:latin typeface="Calibri"/>
              </a:rPr>
              <a:t>We start with the easy ones every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5440680" cy="178308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4389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48056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A38"/>
                </a:solidFill>
                <a:latin typeface="Calibri"/>
              </a:rPr>
              <a:t>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2062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9B10"/>
                </a:solidFill>
                <a:latin typeface="Calibri"/>
              </a:rPr>
              <a:t>Try Again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75488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A38"/>
                </a:solidFill>
                <a:latin typeface="Calibri"/>
              </a:rPr>
              <a:t>Trying again is part of reading, not a mistake.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840480"/>
            <a:ext cx="5440680" cy="178308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64808" y="4389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48056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A38"/>
                </a:solidFill>
                <a:latin typeface="Calibri"/>
              </a:rPr>
              <a:t>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2062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9B10"/>
                </a:solidFill>
                <a:latin typeface="Calibri"/>
              </a:rPr>
              <a:t>Bonus Challenge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75488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A38"/>
                </a:solidFill>
                <a:latin typeface="Calibri"/>
              </a:rPr>
              <a:t>Finished early? There is always one more.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Read all four out loud. Knowing help is coming makes her braver.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WARM-UP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🪸 Picture Talk — The Coral Reef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88544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Coral Reef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4E"/>
                </a:solidFill>
                <a:latin typeface="Calibri"/>
              </a:rPr>
              <a:t>Just look and talk. No reading yet!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19202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38528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2962656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0632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D4E"/>
                </a:solidFill>
                <a:latin typeface="Calibri"/>
              </a:rPr>
              <a:t>fish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737360"/>
            <a:ext cx="3566160" cy="19202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938528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962656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30632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D4E"/>
                </a:solidFill>
                <a:latin typeface="Calibri"/>
              </a:rPr>
              <a:t>shell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737360"/>
            <a:ext cx="3566160" cy="19202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938528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E2A38"/>
                </a:solidFill>
                <a:latin typeface="Calibri"/>
              </a:rPr>
              <a:t>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2962656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30632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D4E"/>
                </a:solidFill>
                <a:latin typeface="Calibri"/>
              </a:rPr>
              <a:t>coral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40479"/>
            <a:ext cx="3566160" cy="19202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41647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5065775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16635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D4E"/>
                </a:solidFill>
                <a:latin typeface="Calibri"/>
              </a:rPr>
              <a:t>sun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840479"/>
            <a:ext cx="3566160" cy="19202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4041647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E2A38"/>
                </a:solidFill>
                <a:latin typeface="Calibri"/>
              </a:rPr>
              <a:t>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5065775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516635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D4E"/>
                </a:solidFill>
                <a:latin typeface="Calibri"/>
              </a:rPr>
              <a:t>rock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840479"/>
            <a:ext cx="3566160" cy="19202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4041647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E2A38"/>
                </a:solidFill>
                <a:latin typeface="Calibri"/>
              </a:rPr>
              <a:t>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5065775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516635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D4E"/>
                </a:solidFill>
                <a:latin typeface="Calibri"/>
              </a:rPr>
              <a:t>bubbles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5D4E"/>
                </a:solidFill>
                <a:latin typeface="Calibri"/>
              </a:rPr>
              <a:t>🗣️ SPEAKING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Point at anything she names. Pointing back shows you are listening.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🗣️ Talk About the Reef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306253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Coral Reef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4E"/>
                </a:solidFill>
                <a:latin typeface="Calibri"/>
              </a:rPr>
              <a:t>Answer out loud. Try a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05156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03911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9397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2A38"/>
                </a:solidFill>
                <a:latin typeface="Calibri"/>
              </a:rPr>
              <a:t>🗣️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08483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What do you see?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05156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03911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09397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2A38"/>
                </a:solidFill>
                <a:latin typeface="Calibri"/>
              </a:rP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08483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What color is the fish?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17520"/>
            <a:ext cx="5440680" cy="105156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2735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2841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31927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Can you find the shell?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17520"/>
            <a:ext cx="5440680" cy="105156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32735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32841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2A38"/>
                </a:solidFill>
                <a:latin typeface="Calibri"/>
              </a:rP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1927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Which one do you like best?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43400"/>
            <a:ext cx="5440680" cy="100584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59028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I see a ______.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343400"/>
            <a:ext cx="5440680" cy="100584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59028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It is ______.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If she answers with one word, say it back as a full sentence first.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🔊 Beginning Sounds — Listen and Say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523961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Coral Reef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4E"/>
                </a:solidFill>
                <a:latin typeface="Calibri"/>
              </a:rPr>
              <a:t>I say the sound. You say it back to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19202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11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55117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FISH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302666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1181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5D4E"/>
                </a:solidFill>
                <a:latin typeface="Calibri"/>
              </a:rPr>
              <a:t>f  says  /f/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783080"/>
            <a:ext cx="3566160" cy="19202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1911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55117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SUN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02666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31181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5D4E"/>
                </a:solidFill>
                <a:latin typeface="Calibri"/>
              </a:rPr>
              <a:t>s  says  /s/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783080"/>
            <a:ext cx="3566160" cy="19202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1911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55117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SHELL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302666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1181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5D4E"/>
                </a:solidFill>
                <a:latin typeface="Calibri"/>
              </a:rPr>
              <a:t>sh  says  /sh/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886200"/>
            <a:ext cx="3566160" cy="19202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1421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65429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CAT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" y="512978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522122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5D4E"/>
                </a:solidFill>
                <a:latin typeface="Calibri"/>
              </a:rPr>
              <a:t>c  says  /k/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3886200"/>
            <a:ext cx="3566160" cy="19202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401421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65429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NET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512978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522122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5D4E"/>
                </a:solidFill>
                <a:latin typeface="Calibri"/>
              </a:rPr>
              <a:t>n  says  /n/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886200"/>
            <a:ext cx="3566160" cy="19202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401421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465429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ROCK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23960" y="512978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522122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5D4E"/>
                </a:solidFill>
                <a:latin typeface="Calibri"/>
              </a:rPr>
              <a:t>r  says  /r/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Say the sound, not the letter name. Stretch it: fffff.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🎣 Game: Fish Sound Catch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741670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Coral Reef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4E"/>
                </a:solidFill>
                <a:latin typeface="Calibri"/>
              </a:rPr>
              <a:t>Which picture STARTS with the letter on the fish?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116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066544"/>
            <a:ext cx="1554480" cy="56692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21396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18836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fish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18836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sun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18836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cat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3832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3438144"/>
            <a:ext cx="1554480" cy="56692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35112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69080" y="32552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cat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32552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sun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32552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net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548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4809744"/>
            <a:ext cx="1554480" cy="56692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94560" y="48828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69080" y="46268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shell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0" y="46268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cat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98280" y="46268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fish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Say each picture name out loud first. Stretch the first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🎣 Fish Sound Catch — Catches 4 to 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959379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Coral Reef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4E"/>
                </a:solidFill>
                <a:latin typeface="Calibri"/>
              </a:rPr>
              <a:t>Three more fish to catch.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116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066544"/>
            <a:ext cx="1554480" cy="56692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21396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18836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net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18836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rock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18836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sun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3832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3438144"/>
            <a:ext cx="1554480" cy="56692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35112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69080" y="32552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cat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32552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shell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32552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fish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548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4809744"/>
            <a:ext cx="1554480" cy="56692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94560" y="48828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69080" y="46268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rock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0" y="46268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98280" y="46268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shell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Too many choices? Cover one with your hand and leave only two.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🎣 Sound Catch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177088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Coral Reef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4E"/>
                </a:solidFill>
                <a:latin typeface="Calibri"/>
              </a:rPr>
              <a:t>Two last fish. Then the Coral Reef is done!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116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2066544"/>
            <a:ext cx="1554480" cy="56692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1396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18836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wet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18836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cat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8836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sun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3832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3438144"/>
            <a:ext cx="1554480" cy="56692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35112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9080" y="32552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hat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2552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fish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98280" y="3255264"/>
            <a:ext cx="228600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libri"/>
              </a:rPr>
              <a:t>rock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526280"/>
            <a:ext cx="11292840" cy="1170432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64515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967B"/>
                </a:solidFill>
                <a:latin typeface="Calibri"/>
              </a:rPr>
              <a:t>⭐ BONUS CHALLENGE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</a:rPr>
              <a:t>Can you think of one more word that starts with /f/?  How about /s/?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Any real word counts, even one that is not in our ocean.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🐚 Sound Check — Coral Reef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394797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Coral Reef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967B"/>
                </a:solidFill>
                <a:latin typeface="Calibri"/>
              </a:rPr>
              <a:t>Read all six sounds with me, fast.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737360" cy="23774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1188720" cy="65836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61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/f/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5643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545"/>
                </a:solidFill>
                <a:latin typeface="Calibri"/>
              </a:rPr>
              <a:t>FISH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9152" y="1828800"/>
            <a:ext cx="1737360" cy="23774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9152" y="201168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33472" y="2651760"/>
            <a:ext cx="1188720" cy="65836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33472" y="2761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/s/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345643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545"/>
                </a:solidFill>
                <a:latin typeface="Calibri"/>
              </a:rPr>
              <a:t>SUN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1104" y="1828800"/>
            <a:ext cx="1737360" cy="23774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104" y="201168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35424" y="2651760"/>
            <a:ext cx="1188720" cy="65836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2761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/sh/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2544" y="345643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545"/>
                </a:solidFill>
                <a:latin typeface="Calibri"/>
              </a:rPr>
              <a:t>SHELL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6" y="1828800"/>
            <a:ext cx="1737360" cy="23774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6" y="201168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A38"/>
                </a:solidFill>
                <a:latin typeface="Calibri"/>
              </a:rPr>
              <a:t>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37376" y="2651760"/>
            <a:ext cx="1188720" cy="65836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2761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/k/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345643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545"/>
                </a:solidFill>
                <a:latin typeface="Calibri"/>
              </a:rPr>
              <a:t>CAT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8" y="1828800"/>
            <a:ext cx="1737360" cy="23774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5008" y="201168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A38"/>
                </a:solidFill>
                <a:latin typeface="Calibri"/>
              </a:rPr>
              <a:t>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39328" y="2651760"/>
            <a:ext cx="1188720" cy="65836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2761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/n/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8" y="345643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545"/>
                </a:solidFill>
                <a:latin typeface="Calibri"/>
              </a:rPr>
              <a:t>NET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66960" y="1828800"/>
            <a:ext cx="1737360" cy="23774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0" y="201168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2A38"/>
                </a:solidFill>
                <a:latin typeface="Calibri"/>
              </a:rPr>
              <a:t>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0" y="2651760"/>
            <a:ext cx="1188720" cy="65836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0" y="2761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/r/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45643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545"/>
                </a:solidFill>
                <a:latin typeface="Calibri"/>
              </a:rPr>
              <a:t>ROCK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480560"/>
            <a:ext cx="11292840" cy="123444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8FB0"/>
                </a:solidFill>
                <a:latin typeface="Calibri"/>
              </a:rPr>
              <a:t>🫧 BUBBLE EARNED — Coral Reef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B2545"/>
                </a:solidFill>
                <a:latin typeface="Calibri"/>
              </a:rPr>
              <a:t>You can hear the first sound in a word. Next stop: Fish Bay, where we build whole words.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Go left to right, two seconds per sound. Keep it quick and fun.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🐚 Short Vowels — Four Shells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612506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Fish Bay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8FB0"/>
                </a:solidFill>
                <a:latin typeface="Calibri"/>
              </a:rPr>
              <a:t>Every word has a sound hiding in the middle.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783080"/>
            <a:ext cx="2514600" cy="3749039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6596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2651760"/>
            <a:ext cx="1234440" cy="1051560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2788920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4572000"/>
            <a:ext cx="1600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6725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5D4E"/>
                </a:solidFill>
                <a:latin typeface="Calibri"/>
              </a:rPr>
              <a:t>cat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1783080"/>
            <a:ext cx="2514600" cy="3749039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196596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651760"/>
            <a:ext cx="1234440" cy="1051560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788920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84048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4572000"/>
            <a:ext cx="1600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46725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967B"/>
                </a:solidFill>
                <a:latin typeface="Calibri"/>
              </a:rPr>
              <a:t>net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1783080"/>
            <a:ext cx="2514600" cy="3749039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96596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2651760"/>
            <a:ext cx="1234440" cy="1051560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2788920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84048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4572000"/>
            <a:ext cx="1600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6725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18FB0"/>
                </a:solidFill>
                <a:latin typeface="Calibri"/>
              </a:rPr>
              <a:t>fin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1783080"/>
            <a:ext cx="2514600" cy="3749039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196596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2640" y="2651760"/>
            <a:ext cx="1234440" cy="1051560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2788920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384048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4572000"/>
            <a:ext cx="1600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0" y="46725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655C2"/>
                </a:solidFill>
                <a:latin typeface="Calibri"/>
              </a:rPr>
              <a:t>hop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Stretch the middle: c-aaa-t. That is the sound she is listening for.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🐚 Game: Shell Sound Sort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830214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Fish Bay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8FB0"/>
                </a:solidFill>
                <a:latin typeface="Calibri"/>
              </a:rPr>
              <a:t>Which shell does this word belong in?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299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Arial Black"/>
              </a:rPr>
              <a:t>CAT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A8C"/>
                </a:solidFill>
                <a:latin typeface="Calibri"/>
              </a:rPr>
              <a:t>/k/ /a/ /t/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19933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96328" y="19933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6328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8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09176" y="19933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9176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9176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4015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Arial Black"/>
              </a:rPr>
              <a:t>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A8C"/>
                </a:solidFill>
                <a:latin typeface="Calibri"/>
              </a:rPr>
              <a:t>/n/ /e/ /t/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83480" y="33649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96328" y="33649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96328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6328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09176" y="33649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9176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9176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731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Arial Black"/>
              </a:rPr>
              <a:t>FIN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A8C"/>
                </a:solidFill>
                <a:latin typeface="Calibri"/>
              </a:rPr>
              <a:t>/f/ /i/ /n/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83480" y="47365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83480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3480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96328" y="47365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96328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96328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09176" y="47365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09176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09176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Say the word slowly and hold the middle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🐚 Shell Sound Sort — Words 4 to 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047923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Fish Bay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8FB0"/>
                </a:solidFill>
                <a:latin typeface="Calibri"/>
              </a:rPr>
              <a:t>Three more words to sort.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299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Arial Black"/>
              </a:rPr>
              <a:t>HOP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A8C"/>
                </a:solidFill>
                <a:latin typeface="Calibri"/>
              </a:rPr>
              <a:t>/h/ /o/ /p/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19933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96328" y="19933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6328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8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09176" y="19933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9176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9176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4015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Arial Black"/>
              </a:rPr>
              <a:t>WET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A8C"/>
                </a:solidFill>
                <a:latin typeface="Calibri"/>
              </a:rPr>
              <a:t>/w/ /e/ /t/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83480" y="33649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96328" y="33649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96328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6328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09176" y="33649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9176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9176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731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Arial Black"/>
              </a:rPr>
              <a:t>SIT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A8C"/>
                </a:solidFill>
                <a:latin typeface="Calibri"/>
              </a:rPr>
              <a:t>/s/ /i/ /t/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83480" y="47365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83480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3480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96328" y="47365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96328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96328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09176" y="47365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09176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09176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Shells:  A  ·  E  ·  I  ·  O.  Say each one before she chooses.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BONUS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⭐ Shell Sort Bonus — Three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265632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Fish Bay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967B"/>
                </a:solidFill>
                <a:latin typeface="Calibri"/>
              </a:rPr>
              <a:t>Bonus round! These are a little trickier.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299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Arial Black"/>
              </a:rPr>
              <a:t>BIG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A8C"/>
                </a:solidFill>
                <a:latin typeface="Calibri"/>
              </a:rPr>
              <a:t>/b/ /i/ /g/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19933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96328" y="19933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6328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8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09176" y="19933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9176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9176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4015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Arial Black"/>
              </a:rPr>
              <a:t>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A8C"/>
                </a:solidFill>
                <a:latin typeface="Calibri"/>
              </a:rPr>
              <a:t>/l/ /o/ /g/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83480" y="33649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96328" y="33649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96328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6328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09176" y="33649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9176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9176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731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Arial Black"/>
              </a:rPr>
              <a:t>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A8C"/>
                </a:solidFill>
                <a:latin typeface="Calibri"/>
              </a:rPr>
              <a:t>/r/ /e/ /d/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83480" y="47365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83480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3480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96328" y="47365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96328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96328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09176" y="4736592"/>
            <a:ext cx="2011680" cy="69494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09176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09176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Skip this if she is tired. It is a bonus, not a requirement.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🌊 Ocean Words We Will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483341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Fish Bay  |  27–35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655C2"/>
                </a:solidFill>
                <a:latin typeface="Calibri"/>
              </a:rPr>
              <a:t>Every word today comes from this list. Nothing new later.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fish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59152" y="182880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9152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96312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6312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fin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4" y="182880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61104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8264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shell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182880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6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0216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216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sea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5008" y="182880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8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02168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ship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182880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04120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04120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15468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rock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59152" y="315468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59152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96312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96312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log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61104" y="315468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61104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🏊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98264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98264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swim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3056" y="315468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63056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0216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0216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sun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65008" y="315468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5008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02168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02168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red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66960" y="315468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66960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104120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04120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big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448056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💧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wet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59152" y="448056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59152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🐱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496312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496312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cat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61104" y="448056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61104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🐸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98264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98264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hop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63056" y="448056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63056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🪑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00216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0216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sit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65008" y="4480560"/>
            <a:ext cx="1737360" cy="120700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65008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🏃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02168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02168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655C2"/>
                </a:solidFill>
                <a:latin typeface="Calibri"/>
              </a:rPr>
              <a:t>run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Read them across in a rhythm. She joins in wherever she can.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🐙 Blending — Hear, Say, Blend,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701050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Fish Bay  |  27–35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17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655C2"/>
                </a:solidFill>
                <a:latin typeface="Calibri"/>
              </a:rPr>
              <a:t>Three sounds can become one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651760" cy="320040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" y="1993392"/>
            <a:ext cx="640080" cy="640080"/>
          </a:xfrm>
          <a:prstGeom prst="ellipse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103120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5D4E"/>
                </a:solidFill>
                <a:latin typeface="Arial Black"/>
              </a:rPr>
              <a:t>HEAR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I say the sounds.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77639"/>
            <a:ext cx="21945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3308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5D4E"/>
                </a:solidFill>
                <a:latin typeface="Calibri"/>
              </a:rPr>
              <a:t>/f/  /i/  /n/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9272" y="1783080"/>
            <a:ext cx="2651760" cy="320040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25112" y="1993392"/>
            <a:ext cx="640080" cy="640080"/>
          </a:xfrm>
          <a:prstGeom prst="ellipse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2103120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9B10"/>
                </a:solidFill>
                <a:latin typeface="Arial Black"/>
              </a:rPr>
              <a:t>SAY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329184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You say them back.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47872" y="3977639"/>
            <a:ext cx="21945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413308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09B10"/>
                </a:solidFill>
                <a:latin typeface="Calibri"/>
              </a:rPr>
              <a:t>/f/  /i/  /n/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1783080"/>
            <a:ext cx="2651760" cy="320040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87184" y="1993392"/>
            <a:ext cx="640080" cy="64008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87184" y="2103120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8504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BLEND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329184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We push them together.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9944" y="3977639"/>
            <a:ext cx="21945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9944" y="413308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18FB0"/>
                </a:solidFill>
                <a:latin typeface="Calibri"/>
              </a:rPr>
              <a:t>f-i-n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43416" y="1783080"/>
            <a:ext cx="2651760" cy="320040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49256" y="1993392"/>
            <a:ext cx="640080" cy="640080"/>
          </a:xfrm>
          <a:prstGeom prst="ellipse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49256" y="2103120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0576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967B"/>
                </a:solidFill>
                <a:latin typeface="Arial Black"/>
              </a:rPr>
              <a:t>READ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296" y="329184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You read the word.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72016" y="3977639"/>
            <a:ext cx="21945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72016" y="413308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967B"/>
                </a:solidFill>
                <a:latin typeface="Calibri"/>
              </a:rPr>
              <a:t>FIN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Slide your finger under the letters, then sweep it fast for the word.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🐙 Game: Octopus Word Builder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918759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Fish Bay  |  27–35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18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655C2"/>
                </a:solidFill>
                <a:latin typeface="Calibri"/>
              </a:rPr>
              <a:t>Say each sound. Then say the whole word fast.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29968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5D4E"/>
                </a:solidFill>
                <a:latin typeface="Arial Black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5D4E"/>
                </a:solidFill>
                <a:latin typeface="Arial Black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5D4E"/>
                </a:solidFill>
                <a:latin typeface="Arial Black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1579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7A8C"/>
                </a:solidFill>
                <a:latin typeface="Calibri"/>
              </a:rPr>
              <a:t>/k/  /a/  /t/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4E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965960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048256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5D4E"/>
                </a:solidFill>
                <a:latin typeface="Arial Black"/>
              </a:rPr>
              <a:t>CAT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27248"/>
            <a:ext cx="11292840" cy="1225296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1985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18FB0"/>
                </a:solidFill>
                <a:latin typeface="Arial Black"/>
              </a:rP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18FB0"/>
                </a:solidFill>
                <a:latin typeface="Arial Black"/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18FB0"/>
                </a:solidFill>
                <a:latin typeface="Arial Black"/>
              </a:rP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7A8C"/>
                </a:solidFill>
                <a:latin typeface="Calibri"/>
              </a:rPr>
              <a:t>/f/  /i/  /n/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11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8FB0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355848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43814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18FB0"/>
                </a:solidFill>
                <a:latin typeface="Arial Black"/>
              </a:rPr>
              <a:t>FIN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17136"/>
            <a:ext cx="11292840" cy="1225296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0974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655C2"/>
                </a:solidFill>
                <a:latin typeface="Arial Black"/>
              </a:rPr>
              <a:t>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655C2"/>
                </a:solidFill>
                <a:latin typeface="Arial Black"/>
              </a:rPr>
              <a:t>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655C2"/>
                </a:solidFill>
                <a:latin typeface="Arial Black"/>
              </a:rPr>
              <a:t>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7A8C"/>
                </a:solidFill>
                <a:latin typeface="Calibri"/>
              </a:rPr>
              <a:t>/h/  /o/  /p/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9011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655C2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745736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482803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655C2"/>
                </a:solidFill>
                <a:latin typeface="Arial Black"/>
              </a:rPr>
              <a:t>HOP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9846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598932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Cover the last letter so she blends only two sounds first.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🐙 Octopus Word Builder — Three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136467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Fish Bay  |  27–35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19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655C2"/>
                </a:solidFill>
                <a:latin typeface="Calibri"/>
              </a:rPr>
              <a:t>Different vowels this time. Listen carefully.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29968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967B"/>
                </a:solidFill>
                <a:latin typeface="Arial Black"/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967B"/>
                </a:solidFill>
                <a:latin typeface="Arial Black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967B"/>
                </a:solidFill>
                <a:latin typeface="Arial Black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1579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7A8C"/>
                </a:solidFill>
                <a:latin typeface="Calibri"/>
              </a:rPr>
              <a:t>/n/  /e/  /t/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967B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965960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048256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967B"/>
                </a:solidFill>
                <a:latin typeface="Arial Black"/>
              </a:rPr>
              <a:t>NET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27248"/>
            <a:ext cx="11292840" cy="1225296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1985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09B10"/>
                </a:solidFill>
                <a:latin typeface="Arial Black"/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09B10"/>
                </a:solidFill>
                <a:latin typeface="Arial Black"/>
              </a:rPr>
              <a:t>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09B10"/>
                </a:solidFill>
                <a:latin typeface="Arial Black"/>
              </a:rP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7A8C"/>
                </a:solidFill>
                <a:latin typeface="Calibri"/>
              </a:rPr>
              <a:t>/s/  /u/  /n/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11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9B10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355848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43814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09B10"/>
                </a:solidFill>
                <a:latin typeface="Arial Black"/>
              </a:rPr>
              <a:t>SUN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17136"/>
            <a:ext cx="11292840" cy="1225296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0974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18FB0"/>
                </a:solidFill>
                <a:latin typeface="Arial Black"/>
              </a:rPr>
              <a:t>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18FB0"/>
                </a:solidFill>
                <a:latin typeface="Arial Black"/>
              </a:rPr>
              <a:t>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18FB0"/>
                </a:solidFill>
                <a:latin typeface="Arial Black"/>
              </a:rPr>
              <a:t>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7A8C"/>
                </a:solidFill>
                <a:latin typeface="Calibri"/>
              </a:rPr>
              <a:t>/s/  /i/  /t/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9011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8FB0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745736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482803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18FB0"/>
                </a:solidFill>
                <a:latin typeface="Arial Black"/>
              </a:rPr>
              <a:t>SIT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9846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598932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Give her the first sound out loud, then let her finish the word.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🐙 Word Builder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354176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Fish Bay  |  27–35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20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655C2"/>
                </a:solidFill>
                <a:latin typeface="Calibri"/>
              </a:rPr>
              <a:t>Three last words. You are building real words now!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29968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967B"/>
                </a:solidFill>
                <a:latin typeface="Arial Black"/>
              </a:rPr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967B"/>
                </a:solidFill>
                <a:latin typeface="Arial Black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967B"/>
                </a:solidFill>
                <a:latin typeface="Arial Black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1579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7A8C"/>
                </a:solidFill>
                <a:latin typeface="Calibri"/>
              </a:rPr>
              <a:t>/w/  /e/  /t/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967B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965960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048256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967B"/>
                </a:solidFill>
                <a:latin typeface="Arial Black"/>
              </a:rPr>
              <a:t>WET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27248"/>
            <a:ext cx="11292840" cy="1225296"/>
          </a:xfrm>
          <a:prstGeom prst="roundRect">
            <a:avLst/>
          </a:prstGeom>
          <a:solidFill>
            <a:srgbClr val="FA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1985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8A3E"/>
                </a:solidFill>
                <a:latin typeface="Arial Black"/>
              </a:rPr>
              <a:t>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8A3E"/>
                </a:solidFill>
                <a:latin typeface="Arial Black"/>
              </a:rP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8A3E"/>
                </a:solidFill>
                <a:latin typeface="Arial Black"/>
              </a:rPr>
              <a:t>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7A8C"/>
                </a:solidFill>
                <a:latin typeface="Calibri"/>
              </a:rPr>
              <a:t>/l/  /o/  /g/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11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8A3E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355848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43814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8A3E"/>
                </a:solidFill>
                <a:latin typeface="Arial Black"/>
              </a:rPr>
              <a:t>LOG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17136"/>
            <a:ext cx="11292840" cy="1225296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0974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C4A74"/>
                </a:solidFill>
                <a:latin typeface="Arial Black"/>
              </a:rP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C4A74"/>
                </a:solidFill>
                <a:latin typeface="Arial Black"/>
              </a:rPr>
              <a:t>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C4A74"/>
                </a:solidFill>
                <a:latin typeface="Arial Black"/>
              </a:rPr>
              <a:t>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7A8C"/>
                </a:solidFill>
                <a:latin typeface="Calibri"/>
              </a:rPr>
              <a:t>/b/  /i/  /g/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9011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4A74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745736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482803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C4A74"/>
                </a:solidFill>
                <a:latin typeface="Arial Black"/>
              </a:rPr>
              <a:t>BIG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9846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598932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Finished fast? Ask her to swap one letter and read the new word.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35–42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🎣 Game: Catch the Real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571885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Octopus Garden  |  35–42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21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967B"/>
                </a:solidFill>
                <a:latin typeface="Calibri"/>
              </a:rPr>
              <a:t>Only one of these three is a real word. Catch it!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57984"/>
            <a:ext cx="457200" cy="457200"/>
          </a:xfrm>
          <a:prstGeom prst="ellipse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29584"/>
            <a:ext cx="457200" cy="457200"/>
          </a:xfrm>
          <a:prstGeom prst="ellipse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84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01184"/>
            <a:ext cx="457200" cy="457200"/>
          </a:xfrm>
          <a:prstGeom prst="ellipse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56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574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21671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A8C"/>
                </a:solidFill>
                <a:latin typeface="Calibri"/>
              </a:rPr>
              <a:t>Catch it!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0" y="20391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21396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CAT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20391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1396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CAG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20391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21396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CAP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4290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3538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A8C"/>
                </a:solidFill>
                <a:latin typeface="Calibri"/>
              </a:rPr>
              <a:t>Catch it!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31920" y="34107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35112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FIP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34107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5112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FIN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34107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35112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FIT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8006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910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A8C"/>
                </a:solidFill>
                <a:latin typeface="Calibri"/>
              </a:rPr>
              <a:t>Catch it!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31920" y="47823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0" y="48828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NEP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37960" y="47823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8828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NED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0" y="47823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48828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NET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8932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6044183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603504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Look at the last sound. That is where they are different.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35–42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🎣 Catch the Real Word — Last Two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789594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Octopus Garden  |  35–42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22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967B"/>
                </a:solidFill>
                <a:latin typeface="Calibri"/>
              </a:rPr>
              <a:t>Two more catches.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57984"/>
            <a:ext cx="457200" cy="457200"/>
          </a:xfrm>
          <a:prstGeom prst="ellipse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29584"/>
            <a:ext cx="457200" cy="457200"/>
          </a:xfrm>
          <a:prstGeom prst="ellipse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84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574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1671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A8C"/>
                </a:solidFill>
                <a:latin typeface="Calibri"/>
              </a:rPr>
              <a:t>Catch it!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20391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21396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HOD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20391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1396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HOP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20391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1396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HOB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4290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538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A8C"/>
                </a:solidFill>
                <a:latin typeface="Calibri"/>
              </a:rPr>
              <a:t>Catch it!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0" y="34107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35112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SUM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34107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5112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SUP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410712"/>
            <a:ext cx="2377440" cy="694944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35112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B2545"/>
                </a:solidFill>
                <a:latin typeface="Arial Black"/>
              </a:rPr>
              <a:t>SUN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572000"/>
            <a:ext cx="11292840" cy="1170432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68172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4E"/>
                </a:solidFill>
                <a:latin typeface="Calibri"/>
              </a:rPr>
              <a:t>🐙 TRY AGAIN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07492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Caught the wrong one? Read all three out loud together and try once more.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Point to each letter as she reads. Slow beats fast here.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42–47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🐬 Brain Break: Dolphin Says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007303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Octopus Garden  |  42–47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23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9B10"/>
                </a:solidFill>
                <a:latin typeface="Calibri"/>
              </a:rPr>
              <a:t>Stay in your seat. Only move if I say "Dolphin says."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09728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20574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11226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A38"/>
                </a:solidFill>
                <a:latin typeface="Calibri"/>
              </a:rPr>
              <a:t>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1226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Dolphin says touch your head.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09728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2" y="20574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11226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A38"/>
                </a:solidFill>
                <a:latin typeface="Calibri"/>
              </a:rPr>
              <a:t>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11226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Dolphin says clap two times.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63239"/>
            <a:ext cx="5440680" cy="109728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3337559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392423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A38"/>
                </a:solidFill>
                <a:latin typeface="Calibri"/>
              </a:rPr>
              <a:t>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392423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Dolphin says point to the word CAT.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63239"/>
            <a:ext cx="5440680" cy="109728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28232" y="3337559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3392423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92423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Dolphin says make a fish swimming motion.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43400"/>
            <a:ext cx="5440680" cy="109728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3232" y="46177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67258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A38"/>
                </a:solidFill>
                <a:latin typeface="Calibri"/>
              </a:rPr>
              <a:t>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67258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Dolphin says say the /f/ sound.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343400"/>
            <a:ext cx="5440680" cy="109728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28232" y="46177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467258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A38"/>
                </a:solidFill>
                <a:latin typeface="Calibri"/>
              </a:rPr>
              <a:t>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67258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Dolphin says whisper the word SEA.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06440"/>
            <a:ext cx="11292840" cy="420624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61303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9B10"/>
                </a:solidFill>
                <a:latin typeface="Calibri"/>
              </a:rPr>
              <a:t>⏱️ TIMING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852159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Three of these are reading tasks. Five minutes max, then move 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47–57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🐠 Word Families — Four Fish Families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225012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Octopus Garden  |  47–57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24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8FB0"/>
                </a:solidFill>
                <a:latin typeface="Calibri"/>
              </a:rPr>
              <a:t>These words end the same way. They rhyme.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651760" cy="393192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2578608"/>
            <a:ext cx="1645920" cy="65836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6883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0156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56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85D4E"/>
                </a:solidFill>
                <a:latin typeface="Calibri"/>
              </a:rP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5020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85D4E"/>
                </a:solidFill>
                <a:latin typeface="Calibri"/>
              </a:rPr>
              <a:t>hat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49884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537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85D4E"/>
                </a:solidFill>
                <a:latin typeface="Calibri"/>
              </a:rPr>
              <a:t>bat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04748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023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85D4E"/>
                </a:solidFill>
                <a:latin typeface="Calibri"/>
              </a:rPr>
              <a:t>sat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19272" y="1783080"/>
            <a:ext cx="2651760" cy="393192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9272" y="1920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22192" y="2578608"/>
            <a:ext cx="1645920" cy="658368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22192" y="26883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39312" y="340156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3456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18FB0"/>
                </a:solidFill>
                <a:latin typeface="Calibri"/>
              </a:rPr>
              <a:t>fin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39312" y="395020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39312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18FB0"/>
                </a:solidFill>
                <a:latin typeface="Calibri"/>
              </a:rPr>
              <a:t>pin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39312" y="449884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9312" y="45537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18FB0"/>
                </a:solidFill>
                <a:latin typeface="Calibri"/>
              </a:rPr>
              <a:t>win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1344" y="1783080"/>
            <a:ext cx="2651760" cy="3931920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81344" y="1920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🐠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84264" y="2578608"/>
            <a:ext cx="1645920" cy="658368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84264" y="26883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-OP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01384" y="340156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01384" y="3456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7655C2"/>
                </a:solidFill>
                <a:latin typeface="Calibri"/>
              </a:rPr>
              <a:t>hop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01384" y="395020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01384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7655C2"/>
                </a:solidFill>
                <a:latin typeface="Calibri"/>
              </a:rPr>
              <a:t>top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01384" y="449884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01384" y="45537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7655C2"/>
                </a:solidFill>
                <a:latin typeface="Calibri"/>
              </a:rPr>
              <a:t>pop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43416" y="1783080"/>
            <a:ext cx="2651760" cy="393192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43416" y="1920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46336" y="2578608"/>
            <a:ext cx="1645920" cy="65836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46336" y="26883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63456" y="340156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63456" y="3456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F967B"/>
                </a:solidFill>
                <a:latin typeface="Calibri"/>
              </a:rPr>
              <a:t>net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63456" y="395020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63456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F967B"/>
                </a:solidFill>
                <a:latin typeface="Calibri"/>
              </a:rPr>
              <a:t>wet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63456" y="449884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63456" y="45537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F967B"/>
                </a:solidFill>
                <a:latin typeface="Calibri"/>
              </a:rPr>
              <a:t>pet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Read a family in a rhythm and let her say the last word alone.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47–57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🐠 Game: Who Belongs to the Family?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442720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Octopus Garden  |  47–57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25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655C2"/>
                </a:solidFill>
                <a:latin typeface="Calibri"/>
              </a:rPr>
              <a:t>Three of these four belong. Which one does not?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2377440"/>
            <a:ext cx="1737360" cy="640080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4780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331720"/>
            <a:ext cx="1691640" cy="73152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CAT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2331720"/>
            <a:ext cx="1691640" cy="73152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FIN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2331720"/>
            <a:ext cx="1691640" cy="73152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BAT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2331720"/>
            <a:ext cx="1691640" cy="73152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312724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alibri"/>
              </a:rPr>
              <a:t>Circle every word that belongs to this family.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2519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4343400"/>
            <a:ext cx="1737360" cy="640080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444398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4297680"/>
            <a:ext cx="1691640" cy="73152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PIN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97680"/>
            <a:ext cx="1691640" cy="73152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HOP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297680"/>
            <a:ext cx="1691640" cy="73152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WIN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4297680"/>
            <a:ext cx="1691640" cy="73152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FIN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509320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alibri"/>
              </a:rPr>
              <a:t>Circle every word that belongs to this family.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Cover the first letter. Now only the ending is showing.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47–57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🐠 Who Belongs? — Families 3 &amp;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660429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Octopus Garden  |  47–57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26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655C2"/>
                </a:solidFill>
                <a:latin typeface="Calibri"/>
              </a:rPr>
              <a:t>Two more families to sort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2377440"/>
            <a:ext cx="1737360" cy="640080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4780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331720"/>
            <a:ext cx="1691640" cy="731520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TOP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2331720"/>
            <a:ext cx="1691640" cy="731520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2331720"/>
            <a:ext cx="1691640" cy="731520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POP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2331720"/>
            <a:ext cx="1691640" cy="731520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HOP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312724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alibri"/>
              </a:rPr>
              <a:t>Circle every word that belongs to this family.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2519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2A38"/>
                </a:solidFill>
                <a:latin typeface="Calibri"/>
              </a:rPr>
              <a:t>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4343400"/>
            <a:ext cx="1737360" cy="640080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444398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4297680"/>
            <a:ext cx="1691640" cy="73152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WET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97680"/>
            <a:ext cx="1691640" cy="73152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SAT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297680"/>
            <a:ext cx="1691640" cy="73152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PET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4297680"/>
            <a:ext cx="1691640" cy="73152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Arial Black"/>
              </a:rPr>
              <a:t>NET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509320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alibri"/>
              </a:rPr>
              <a:t>Circle every word that belongs to this family.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Say the odd word next to the family name so she hears the mismatch.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BONUS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47–57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⭐ Make a New Word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878138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Octopus Garden  |  47–57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27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967B"/>
                </a:solidFill>
                <a:latin typeface="Calibri"/>
              </a:rPr>
              <a:t>Add a new letter to the front. What word do you get?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93268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1947672"/>
            <a:ext cx="10058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029968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5D4E"/>
                </a:solidFill>
                <a:latin typeface="Arial Black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048256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1947672"/>
            <a:ext cx="14630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202996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5D4E"/>
                </a:solidFill>
                <a:latin typeface="Arial Black"/>
              </a:rPr>
              <a:t>-AT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02996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5D4E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1947672"/>
            <a:ext cx="2194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02996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B2545"/>
                </a:solidFill>
                <a:latin typeface="Arial Black"/>
              </a:rPr>
              <a:t>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965960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05740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C"/>
                </a:solidFill>
                <a:latin typeface="Calibri"/>
              </a:rPr>
              <a:t>Now read it out loud.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862072"/>
            <a:ext cx="11292840" cy="932688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3026664"/>
            <a:ext cx="10058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108960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18FB0"/>
                </a:solidFill>
                <a:latin typeface="Arial Black"/>
              </a:rP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312724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4600" y="3026664"/>
            <a:ext cx="14630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310896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Arial Black"/>
              </a:rPr>
              <a:t>-IN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10896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8FB0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0600" y="3026664"/>
            <a:ext cx="2194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310896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B2545"/>
                </a:solidFill>
                <a:latin typeface="Arial Black"/>
              </a:rPr>
              <a:t>TIN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044952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13639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C"/>
                </a:solidFill>
                <a:latin typeface="Calibri"/>
              </a:rPr>
              <a:t>Now read it out loud.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41063"/>
            <a:ext cx="11292840" cy="93268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4400" y="4105655"/>
            <a:ext cx="10058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187951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655C2"/>
                </a:solidFill>
                <a:latin typeface="Arial Black"/>
              </a:rPr>
              <a:t>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4206239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14600" y="4105655"/>
            <a:ext cx="14630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4187951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655C2"/>
                </a:solidFill>
                <a:latin typeface="Arial Black"/>
              </a:rPr>
              <a:t>-OP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1879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655C2"/>
                </a:solidFill>
                <a:latin typeface="Calibr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00600" y="4105655"/>
            <a:ext cx="2194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0600" y="4187951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B2545"/>
                </a:solidFill>
                <a:latin typeface="Arial Black"/>
              </a:rPr>
              <a:t>MOP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123943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215383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C"/>
                </a:solidFill>
                <a:latin typeface="Calibri"/>
              </a:rPr>
              <a:t>Now read it out loud.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020056"/>
            <a:ext cx="11292840" cy="93268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14400" y="5184648"/>
            <a:ext cx="10058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266944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967B"/>
                </a:solidFill>
                <a:latin typeface="Arial Black"/>
              </a:rPr>
              <a:t>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11680" y="5285232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7A8C"/>
                </a:solidFill>
                <a:latin typeface="Calibri"/>
              </a:rPr>
              <a:t>+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14600" y="5184648"/>
            <a:ext cx="14630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14600" y="526694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967B"/>
                </a:solidFill>
                <a:latin typeface="Arial Black"/>
              </a:rPr>
              <a:t>-ET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526694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967B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00600" y="5184648"/>
            <a:ext cx="219456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00600" y="5266944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B2545"/>
                </a:solidFill>
                <a:latin typeface="Arial Black"/>
              </a:rPr>
              <a:t>GET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5202936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A38"/>
                </a:solidFill>
                <a:latin typeface="Calibri"/>
              </a:rPr>
              <a:t>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52943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C"/>
                </a:solidFill>
                <a:latin typeface="Calibri"/>
              </a:rPr>
              <a:t>Now read it out loud.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925312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8FB0"/>
                </a:solidFill>
                <a:latin typeface="Calibri"/>
              </a:rPr>
              <a:t>🫧 BUBBLE EARNED — Octopus Garden.  Next stop: Whale Cove.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57–65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🫧 Sight Words — Words We Just Know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095847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Whale Cove  |  57–65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28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4A74"/>
                </a:solidFill>
                <a:latin typeface="Calibri"/>
              </a:rPr>
              <a:t>We do not sound these out. We just know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651760" cy="17373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1947672"/>
            <a:ext cx="182880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09397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C4A74"/>
                </a:solidFill>
                <a:latin typeface="Arial Black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620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545"/>
                </a:solidFill>
                <a:latin typeface="Calibri"/>
              </a:rPr>
              <a:t>I can swim.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2" y="1783080"/>
            <a:ext cx="2651760" cy="17373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30752" y="1947672"/>
            <a:ext cx="182880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209397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C4A74"/>
                </a:solidFill>
                <a:latin typeface="Arial Black"/>
              </a:rPr>
              <a:t>see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28620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545"/>
                </a:solidFill>
                <a:latin typeface="Calibri"/>
              </a:rPr>
              <a:t>I see a fish.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1783080"/>
            <a:ext cx="2651760" cy="17373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92824" y="1947672"/>
            <a:ext cx="182880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2824" y="209397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C4A74"/>
                </a:solidFill>
                <a:latin typeface="Arial Black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8620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545"/>
                </a:solidFill>
                <a:latin typeface="Calibri"/>
              </a:rPr>
              <a:t>a big shell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3416" y="1783080"/>
            <a:ext cx="2651760" cy="17373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54896" y="1947672"/>
            <a:ext cx="182880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4896" y="209397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C4A74"/>
                </a:solidFill>
                <a:latin typeface="Arial Black"/>
              </a:rPr>
              <a:t>the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4856" y="28620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545"/>
                </a:solidFill>
                <a:latin typeface="Calibri"/>
              </a:rPr>
              <a:t>the red fish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03320"/>
            <a:ext cx="2651760" cy="17373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" y="3867912"/>
            <a:ext cx="182880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01421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C4A74"/>
                </a:solidFill>
                <a:latin typeface="Arial Black"/>
              </a:rPr>
              <a:t>my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782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545"/>
                </a:solidFill>
                <a:latin typeface="Calibri"/>
              </a:rPr>
              <a:t>my little fish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19272" y="3703320"/>
            <a:ext cx="2651760" cy="17373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30752" y="3867912"/>
            <a:ext cx="182880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401421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C4A74"/>
                </a:solidFill>
                <a:latin typeface="Arial Black"/>
              </a:rPr>
              <a:t>can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0712" y="4782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545"/>
                </a:solidFill>
                <a:latin typeface="Calibri"/>
              </a:rPr>
              <a:t>I can go.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3703320"/>
            <a:ext cx="2651760" cy="17373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92824" y="3867912"/>
            <a:ext cx="182880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92824" y="401421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C4A74"/>
                </a:solidFill>
                <a:latin typeface="Arial Black"/>
              </a:rPr>
              <a:t>go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4782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545"/>
                </a:solidFill>
                <a:latin typeface="Calibri"/>
              </a:rPr>
              <a:t>go to the sea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43416" y="3703320"/>
            <a:ext cx="2651760" cy="17373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454896" y="3867912"/>
            <a:ext cx="182880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54896" y="401421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C4A74"/>
                </a:solidFill>
                <a:latin typeface="Arial Black"/>
              </a:rPr>
              <a:t>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34856" y="4782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545"/>
                </a:solidFill>
                <a:latin typeface="Calibri"/>
              </a:rPr>
              <a:t>to the rock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71500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76986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88920" y="576072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Cover six and teach only two properly. Two known beats eight guessed.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57–65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🐳 Game: Whale's Sight-Word Bubbles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313556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Whale Cove  |  57–65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29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4A74"/>
                </a:solidFill>
                <a:latin typeface="Calibri"/>
              </a:rPr>
              <a:t>Pop the right bubble. Find the word I say.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984248"/>
            <a:ext cx="475488" cy="475488"/>
          </a:xfrm>
          <a:prstGeom prst="ellipse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03911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0299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A8C"/>
                </a:solidFill>
                <a:latin typeface="Calibri"/>
              </a:rPr>
              <a:t>FIND: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1965960"/>
            <a:ext cx="1737360" cy="530352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204825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see</a:t>
            </a:r>
          </a:p>
        </p:txBody>
      </p:sp>
      <p:sp>
        <p:nvSpPr>
          <p:cNvPr id="21" name="Oval 20"/>
          <p:cNvSpPr/>
          <p:nvPr/>
        </p:nvSpPr>
        <p:spPr>
          <a:xfrm>
            <a:off x="4434840" y="1911096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020824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the</a:t>
            </a:r>
          </a:p>
        </p:txBody>
      </p:sp>
      <p:sp>
        <p:nvSpPr>
          <p:cNvPr id="23" name="Oval 22"/>
          <p:cNvSpPr/>
          <p:nvPr/>
        </p:nvSpPr>
        <p:spPr>
          <a:xfrm>
            <a:off x="6812279" y="1911096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79" y="2020824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see</a:t>
            </a:r>
          </a:p>
        </p:txBody>
      </p:sp>
      <p:sp>
        <p:nvSpPr>
          <p:cNvPr id="25" name="Oval 24"/>
          <p:cNvSpPr/>
          <p:nvPr/>
        </p:nvSpPr>
        <p:spPr>
          <a:xfrm>
            <a:off x="9189720" y="1911096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020824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my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807208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3008376"/>
            <a:ext cx="475488" cy="475488"/>
          </a:xfrm>
          <a:prstGeom prst="ellipse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0632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05409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A8C"/>
                </a:solidFill>
                <a:latin typeface="Calibri"/>
              </a:rPr>
              <a:t>FIND: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31720" y="2990088"/>
            <a:ext cx="1737360" cy="530352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20" y="30723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can</a:t>
            </a:r>
          </a:p>
        </p:txBody>
      </p:sp>
      <p:sp>
        <p:nvSpPr>
          <p:cNvPr id="33" name="Oval 32"/>
          <p:cNvSpPr/>
          <p:nvPr/>
        </p:nvSpPr>
        <p:spPr>
          <a:xfrm>
            <a:off x="4434840" y="2935224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304495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can</a:t>
            </a:r>
          </a:p>
        </p:txBody>
      </p:sp>
      <p:sp>
        <p:nvSpPr>
          <p:cNvPr id="35" name="Oval 34"/>
          <p:cNvSpPr/>
          <p:nvPr/>
        </p:nvSpPr>
        <p:spPr>
          <a:xfrm>
            <a:off x="6812279" y="2935224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79" y="304495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go</a:t>
            </a:r>
          </a:p>
        </p:txBody>
      </p:sp>
      <p:sp>
        <p:nvSpPr>
          <p:cNvPr id="37" name="Oval 36"/>
          <p:cNvSpPr/>
          <p:nvPr/>
        </p:nvSpPr>
        <p:spPr>
          <a:xfrm>
            <a:off x="9189720" y="2935224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304495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831336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3232" y="4032504"/>
            <a:ext cx="475488" cy="475488"/>
          </a:xfrm>
          <a:prstGeom prst="ellipse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408736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4078224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A8C"/>
                </a:solidFill>
                <a:latin typeface="Calibri"/>
              </a:rPr>
              <a:t>FIND: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31720" y="4014216"/>
            <a:ext cx="1737360" cy="530352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31720" y="40965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the</a:t>
            </a:r>
          </a:p>
        </p:txBody>
      </p:sp>
      <p:sp>
        <p:nvSpPr>
          <p:cNvPr id="45" name="Oval 44"/>
          <p:cNvSpPr/>
          <p:nvPr/>
        </p:nvSpPr>
        <p:spPr>
          <a:xfrm>
            <a:off x="4434840" y="3959352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406908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6812279" y="3959352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79" y="406908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I</a:t>
            </a:r>
          </a:p>
        </p:txBody>
      </p:sp>
      <p:sp>
        <p:nvSpPr>
          <p:cNvPr id="49" name="Oval 48"/>
          <p:cNvSpPr/>
          <p:nvPr/>
        </p:nvSpPr>
        <p:spPr>
          <a:xfrm>
            <a:off x="9189720" y="3959352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406908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the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855464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3232" y="5056632"/>
            <a:ext cx="475488" cy="475488"/>
          </a:xfrm>
          <a:prstGeom prst="ellipse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" y="511149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510235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A8C"/>
                </a:solidFill>
                <a:latin typeface="Calibri"/>
              </a:rPr>
              <a:t>FIND: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31720" y="5038344"/>
            <a:ext cx="1737360" cy="530352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31720" y="51206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my</a:t>
            </a:r>
          </a:p>
        </p:txBody>
      </p:sp>
      <p:sp>
        <p:nvSpPr>
          <p:cNvPr id="57" name="Oval 56"/>
          <p:cNvSpPr/>
          <p:nvPr/>
        </p:nvSpPr>
        <p:spPr>
          <a:xfrm>
            <a:off x="4434840" y="4983480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40" y="509320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my</a:t>
            </a:r>
          </a:p>
        </p:txBody>
      </p:sp>
      <p:sp>
        <p:nvSpPr>
          <p:cNvPr id="59" name="Oval 58"/>
          <p:cNvSpPr/>
          <p:nvPr/>
        </p:nvSpPr>
        <p:spPr>
          <a:xfrm>
            <a:off x="6812279" y="4983480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12279" y="509320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see</a:t>
            </a:r>
          </a:p>
        </p:txBody>
      </p:sp>
      <p:sp>
        <p:nvSpPr>
          <p:cNvPr id="61" name="Oval 60"/>
          <p:cNvSpPr/>
          <p:nvPr/>
        </p:nvSpPr>
        <p:spPr>
          <a:xfrm>
            <a:off x="9189720" y="4983480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89720" y="509320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can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99846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88920" y="598932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Read all three bubbles out loud. Listening is easier than looking.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57–65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🐳 Whale's Bubbles — Four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531265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Whale Cove  |  57–65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30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4A74"/>
                </a:solidFill>
                <a:latin typeface="Calibri"/>
              </a:rPr>
              <a:t>Four more bubbles. These are all in our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984248"/>
            <a:ext cx="475488" cy="475488"/>
          </a:xfrm>
          <a:prstGeom prst="ellipse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03911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0299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A8C"/>
                </a:solidFill>
                <a:latin typeface="Calibri"/>
              </a:rPr>
              <a:t>FIND: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1965960"/>
            <a:ext cx="1737360" cy="530352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204825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21" name="Oval 20"/>
          <p:cNvSpPr/>
          <p:nvPr/>
        </p:nvSpPr>
        <p:spPr>
          <a:xfrm>
            <a:off x="4434840" y="1911096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020824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to</a:t>
            </a:r>
          </a:p>
        </p:txBody>
      </p:sp>
      <p:sp>
        <p:nvSpPr>
          <p:cNvPr id="23" name="Oval 22"/>
          <p:cNvSpPr/>
          <p:nvPr/>
        </p:nvSpPr>
        <p:spPr>
          <a:xfrm>
            <a:off x="6812279" y="1911096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79" y="2020824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I</a:t>
            </a:r>
          </a:p>
        </p:txBody>
      </p:sp>
      <p:sp>
        <p:nvSpPr>
          <p:cNvPr id="25" name="Oval 24"/>
          <p:cNvSpPr/>
          <p:nvPr/>
        </p:nvSpPr>
        <p:spPr>
          <a:xfrm>
            <a:off x="9189720" y="1911096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020824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807208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3008376"/>
            <a:ext cx="475488" cy="475488"/>
          </a:xfrm>
          <a:prstGeom prst="ellipse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0632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05409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A8C"/>
                </a:solidFill>
                <a:latin typeface="Calibri"/>
              </a:rPr>
              <a:t>FIND: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31720" y="2990088"/>
            <a:ext cx="1737360" cy="530352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20" y="30723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go</a:t>
            </a:r>
          </a:p>
        </p:txBody>
      </p:sp>
      <p:sp>
        <p:nvSpPr>
          <p:cNvPr id="33" name="Oval 32"/>
          <p:cNvSpPr/>
          <p:nvPr/>
        </p:nvSpPr>
        <p:spPr>
          <a:xfrm>
            <a:off x="4434840" y="2935224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304495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go</a:t>
            </a:r>
          </a:p>
        </p:txBody>
      </p:sp>
      <p:sp>
        <p:nvSpPr>
          <p:cNvPr id="35" name="Oval 34"/>
          <p:cNvSpPr/>
          <p:nvPr/>
        </p:nvSpPr>
        <p:spPr>
          <a:xfrm>
            <a:off x="6812279" y="2935224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79" y="304495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the</a:t>
            </a:r>
          </a:p>
        </p:txBody>
      </p:sp>
      <p:sp>
        <p:nvSpPr>
          <p:cNvPr id="37" name="Oval 36"/>
          <p:cNvSpPr/>
          <p:nvPr/>
        </p:nvSpPr>
        <p:spPr>
          <a:xfrm>
            <a:off x="9189720" y="2935224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304495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my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831336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3232" y="4032504"/>
            <a:ext cx="475488" cy="475488"/>
          </a:xfrm>
          <a:prstGeom prst="ellipse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408736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4078224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A8C"/>
                </a:solidFill>
                <a:latin typeface="Calibri"/>
              </a:rPr>
              <a:t>FIND: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31720" y="4014216"/>
            <a:ext cx="1737360" cy="530352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31720" y="40965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4434840" y="3959352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406908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can</a:t>
            </a:r>
          </a:p>
        </p:txBody>
      </p:sp>
      <p:sp>
        <p:nvSpPr>
          <p:cNvPr id="47" name="Oval 46"/>
          <p:cNvSpPr/>
          <p:nvPr/>
        </p:nvSpPr>
        <p:spPr>
          <a:xfrm>
            <a:off x="6812279" y="3959352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79" y="406908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9189720" y="3959352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406908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see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855464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3232" y="5056632"/>
            <a:ext cx="475488" cy="475488"/>
          </a:xfrm>
          <a:prstGeom prst="ellipse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" y="511149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510235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A8C"/>
                </a:solidFill>
                <a:latin typeface="Calibri"/>
              </a:rPr>
              <a:t>FIND: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31720" y="5038344"/>
            <a:ext cx="1737360" cy="530352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31720" y="51206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to</a:t>
            </a:r>
          </a:p>
        </p:txBody>
      </p:sp>
      <p:sp>
        <p:nvSpPr>
          <p:cNvPr id="57" name="Oval 56"/>
          <p:cNvSpPr/>
          <p:nvPr/>
        </p:nvSpPr>
        <p:spPr>
          <a:xfrm>
            <a:off x="4434840" y="4983480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40" y="509320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my</a:t>
            </a:r>
          </a:p>
        </p:txBody>
      </p:sp>
      <p:sp>
        <p:nvSpPr>
          <p:cNvPr id="59" name="Oval 58"/>
          <p:cNvSpPr/>
          <p:nvPr/>
        </p:nvSpPr>
        <p:spPr>
          <a:xfrm>
            <a:off x="6812279" y="4983480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12279" y="509320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to</a:t>
            </a:r>
          </a:p>
        </p:txBody>
      </p:sp>
      <p:sp>
        <p:nvSpPr>
          <p:cNvPr id="61" name="Oval 60"/>
          <p:cNvSpPr/>
          <p:nvPr/>
        </p:nvSpPr>
        <p:spPr>
          <a:xfrm>
            <a:off x="9189720" y="4983480"/>
            <a:ext cx="2194560" cy="640080"/>
          </a:xfrm>
          <a:prstGeom prst="ellipse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89720" y="509320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2545"/>
                </a:solidFill>
                <a:latin typeface="Arial Black"/>
              </a:rPr>
              <a:t>go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99846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88920" y="598932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Missed one? Put it back in the pile and ask again before the story.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57–65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🔗 Short Phrases — Read Smoothly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748974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Whale Cove  |  57–65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31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8FB0"/>
                </a:solidFill>
                <a:latin typeface="Calibri"/>
              </a:rPr>
              <a:t>Read each one as one piece. No stopping in the middle.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28016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1226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11226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a big fish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83080"/>
            <a:ext cx="5440680" cy="128016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1226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11226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the red shell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46120"/>
            <a:ext cx="5440680" cy="128016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7530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57530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my little fish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246120"/>
            <a:ext cx="5440680" cy="128016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57530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57530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in the sea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A phrase is not a sentence yet. Read it in one breath.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57–65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🔗 Short Phrases — Four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966682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Whale Cove  |  57–65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32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8FB0"/>
                </a:solidFill>
                <a:latin typeface="Calibri"/>
              </a:rPr>
              <a:t>Four more. Then we put them into sentences.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28016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1226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11226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on the rock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83080"/>
            <a:ext cx="5440680" cy="128016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1226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11226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a wet 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46120"/>
            <a:ext cx="5440680" cy="128016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7530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57530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the hot sun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246120"/>
            <a:ext cx="5440680" cy="128016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57530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57530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Calibri"/>
              </a:rPr>
              <a:t>a small ship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Model it once smoothly, then let her copy your rhythm.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65–73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📕 How We Read a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184391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Whale Cove  |  65–73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33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4E"/>
                </a:solidFill>
                <a:latin typeface="Calibri"/>
              </a:rPr>
              <a:t>You never read a new sentence first. I 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26060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63040" y="2011680"/>
            <a:ext cx="1554480" cy="47548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0848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5D4E"/>
                </a:solidFill>
                <a:latin typeface="Arial Black"/>
              </a:rPr>
              <a:t>I read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10128"/>
            <a:ext cx="3017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74720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A38"/>
                </a:solidFill>
                <a:latin typeface="Calibri"/>
              </a:rPr>
              <a:t>Teacher reads it first.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83080"/>
            <a:ext cx="3566160" cy="260604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57800" y="2011680"/>
            <a:ext cx="1554480" cy="475488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0848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65176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9B10"/>
                </a:solidFill>
                <a:latin typeface="Arial Black"/>
              </a:rPr>
              <a:t>We read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310128"/>
            <a:ext cx="3017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474720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A38"/>
                </a:solidFill>
                <a:latin typeface="Calibri"/>
              </a:rPr>
              <a:t>Teacher and child together.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83080"/>
            <a:ext cx="3566160" cy="26060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60" y="2011680"/>
            <a:ext cx="1554480" cy="47548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0848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5176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967B"/>
                </a:solidFill>
                <a:latin typeface="Arial Black"/>
              </a:rPr>
              <a:t>You read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310128"/>
            <a:ext cx="3017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474720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A38"/>
                </a:solidFill>
                <a:latin typeface="Calibri"/>
              </a:rPr>
              <a:t>Child reads it alone — if ready.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17720"/>
            <a:ext cx="11292840" cy="109728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73659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STUCK ON A WORD INSIDE A SENTENCE?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023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Point → sound it out → blend → then read the whole sentence again from the start.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65–73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📕 Read With 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402100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Whale Cove  |  65–73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34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4E"/>
                </a:solidFill>
                <a:latin typeface="Calibri"/>
              </a:rPr>
              <a:t>Point to each word while I read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85999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31343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B2545"/>
                </a:solidFill>
                <a:latin typeface="Calibri"/>
              </a:rPr>
              <a:t>I see a fish.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44144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5D4E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51959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E2A38"/>
                </a:solidFill>
                <a:latin typeface="Calibri"/>
              </a:rPr>
              <a:t>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27939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B2545"/>
                </a:solidFill>
                <a:latin typeface="Calibri"/>
              </a:rPr>
              <a:t>The fish is 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440740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8FB0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65–73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📗 Read With Me — Two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619809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Whale Cove  |  65–73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35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967B"/>
                </a:solidFill>
                <a:latin typeface="Calibri"/>
              </a:rPr>
              <a:t>Look at the picture first. It gives you a clue.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85999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E2A38"/>
                </a:solidFill>
                <a:latin typeface="Calibri"/>
              </a:rPr>
              <a:t>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31343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B2545"/>
                </a:solidFill>
                <a:latin typeface="Calibri"/>
              </a:rPr>
              <a:t>My fish is big.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44144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655C2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51959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E2A38"/>
                </a:solidFill>
                <a:latin typeface="Calibri"/>
              </a:rPr>
              <a:t>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27939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B2545"/>
                </a:solidFill>
                <a:latin typeface="Calibri"/>
              </a:rPr>
              <a:t>I can swim.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440740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967B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65–73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📘 Read With Me — Your Turn Grows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837518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Whale Cove  |  65–73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36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4A74"/>
                </a:solidFill>
                <a:latin typeface="Calibri"/>
              </a:rPr>
              <a:t>Pick the one YOU want to read by yourself.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85999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31343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B2545"/>
                </a:solidFill>
                <a:latin typeface="Calibri"/>
              </a:rPr>
              <a:t>I see the sun.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44144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9B10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51959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27939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B2545"/>
                </a:solidFill>
                <a:latin typeface="Calibri"/>
              </a:rPr>
              <a:t>The shell is on the rock.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440740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4A74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65–73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🧩 Game: Build the Ocean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055227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Whale Cove  |  65–73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37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9B10"/>
                </a:solidFill>
                <a:latin typeface="Calibri"/>
              </a:rPr>
              <a:t>The words got mixed up. Put them back in order!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2084832"/>
            <a:ext cx="1783080" cy="65836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5D4E"/>
                </a:solidFill>
                <a:latin typeface="Calibri"/>
              </a:rPr>
              <a:t>see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084832"/>
            <a:ext cx="1783080" cy="65836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5D4E"/>
                </a:solidFill>
                <a:latin typeface="Calibri"/>
              </a:rPr>
              <a:t>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084832"/>
            <a:ext cx="1783080" cy="65836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5D4E"/>
                </a:solidFill>
                <a:latin typeface="Calibri"/>
              </a:rPr>
              <a:t>fish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084832"/>
            <a:ext cx="1783080" cy="658368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5D4E"/>
                </a:solidFill>
                <a:latin typeface="Calibri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285292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296265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C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25196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4050792"/>
            <a:ext cx="1783080" cy="658368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Calibri"/>
              </a:rPr>
              <a:t>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4050792"/>
            <a:ext cx="1783080" cy="658368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Calibri"/>
              </a:rPr>
              <a:t>fish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4050792"/>
            <a:ext cx="1783080" cy="658368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Calibri"/>
              </a:rPr>
              <a:t>The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050792"/>
            <a:ext cx="1783080" cy="658368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18FB0"/>
                </a:solidFill>
                <a:latin typeface="Calibri"/>
              </a:rPr>
              <a:t>big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0" y="481888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492861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C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Hint: the first word always wears a CAPITAL letter.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65–73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🧩 Build the Ocean Sentence — Two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272935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Whale Cove  |  65–73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38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9B10"/>
                </a:solidFill>
                <a:latin typeface="Calibri"/>
              </a:rPr>
              <a:t>Two more. Arrange, read, then match it to the picture.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2084832"/>
            <a:ext cx="1783080" cy="65836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967B"/>
                </a:solidFill>
                <a:latin typeface="Calibri"/>
              </a:rPr>
              <a:t>can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084832"/>
            <a:ext cx="1783080" cy="65836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967B"/>
                </a:solidFill>
                <a:latin typeface="Calibri"/>
              </a:rPr>
              <a:t>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084832"/>
            <a:ext cx="1783080" cy="65836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967B"/>
                </a:solidFill>
                <a:latin typeface="Calibri"/>
              </a:rPr>
              <a:t>swim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285292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600" y="296265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C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25196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4050792"/>
            <a:ext cx="1783080" cy="65836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655C2"/>
                </a:solidFill>
                <a:latin typeface="Calibri"/>
              </a:rPr>
              <a:t>the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050792"/>
            <a:ext cx="1783080" cy="65836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655C2"/>
                </a:solidFill>
                <a:latin typeface="Calibri"/>
              </a:rPr>
              <a:t>see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050792"/>
            <a:ext cx="1783080" cy="65836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655C2"/>
                </a:solidFill>
                <a:latin typeface="Calibri"/>
              </a:rPr>
              <a:t>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050792"/>
            <a:ext cx="1783080" cy="658368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655C2"/>
                </a:solidFill>
                <a:latin typeface="Calibri"/>
              </a:rPr>
              <a:t>shell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481888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492861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C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Hand her the first word, then ask only what comes next.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BONUS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65–73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⭐ Build Your Own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490644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Whale Cove  |  65–73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39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967B"/>
                </a:solidFill>
                <a:latin typeface="Calibri"/>
              </a:rPr>
              <a:t>Now you make one. Pick any word you like.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4630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1488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B2545"/>
                </a:solidFill>
                <a:latin typeface="Calibri"/>
              </a:rPr>
              <a:t>I  see  a  ______________ 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52044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0332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4572000"/>
            <a:ext cx="1645920" cy="56692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67258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967B"/>
                </a:solidFill>
                <a:latin typeface="Calibri"/>
              </a:rPr>
              <a:t>fish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52044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0332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572000"/>
            <a:ext cx="1645920" cy="56692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467258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967B"/>
                </a:solidFill>
                <a:latin typeface="Calibri"/>
              </a:rPr>
              <a:t>shell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52044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70332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E2A38"/>
                </a:solidFill>
                <a:latin typeface="Calibri"/>
              </a:rPr>
              <a:t>☀️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572000"/>
            <a:ext cx="1645920" cy="56692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67258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967B"/>
                </a:solidFill>
                <a:latin typeface="Calibri"/>
              </a:rPr>
              <a:t>sun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3520440"/>
            <a:ext cx="23774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370332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E2A38"/>
                </a:solidFill>
                <a:latin typeface="Calibri"/>
              </a:rPr>
              <a:t>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4572000"/>
            <a:ext cx="1645920" cy="56692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467258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967B"/>
                </a:solidFill>
                <a:latin typeface="Calibri"/>
              </a:rPr>
              <a:t>ship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Offer two words to choose from rather than asking her to invent one.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73–82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📖 Story Time: Mia and the Little Fish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708353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73–82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40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9B10"/>
                </a:solidFill>
                <a:latin typeface="Calibri"/>
              </a:rPr>
              <a:t>Four short parts. Watch for these six words.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4754880" cy="402336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9B10"/>
                </a:solidFill>
                <a:latin typeface="Arial Black"/>
              </a:rPr>
              <a:t>MIA &amp; THE FISH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6344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A8C"/>
                </a:solidFill>
                <a:latin typeface="Calibri"/>
              </a:rPr>
              <a:t>Every word in this story is one you already read today.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1737360"/>
            <a:ext cx="1965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9659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E2A38"/>
                </a:solidFill>
                <a:latin typeface="Calibri"/>
              </a:rPr>
              <a:t>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788920"/>
            <a:ext cx="1417320" cy="56692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88950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09B10"/>
                </a:solidFill>
                <a:latin typeface="Calibri"/>
              </a:rPr>
              <a:t>sea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07808" y="1737360"/>
            <a:ext cx="1965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8" y="19659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8" y="2788920"/>
            <a:ext cx="1417320" cy="56692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8" y="288950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09B10"/>
                </a:solidFill>
                <a:latin typeface="Calibri"/>
              </a:rPr>
              <a:t>fish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9216" y="1737360"/>
            <a:ext cx="1965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9216" y="19659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03536" y="2788920"/>
            <a:ext cx="1417320" cy="56692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03536" y="288950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09B10"/>
                </a:solidFill>
                <a:latin typeface="Calibri"/>
              </a:rPr>
              <a:t>shell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3749039"/>
            <a:ext cx="1965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39776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E2A38"/>
                </a:solidFill>
                <a:latin typeface="Calibri"/>
              </a:rPr>
              <a:t>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800599"/>
            <a:ext cx="1417320" cy="56692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901183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09B10"/>
                </a:solidFill>
                <a:latin typeface="Calibri"/>
              </a:rPr>
              <a:t>rock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07808" y="3749039"/>
            <a:ext cx="1965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7808" y="39776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E2A38"/>
                </a:solidFill>
                <a:latin typeface="Calibri"/>
              </a:rPr>
              <a:t>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82128" y="4800599"/>
            <a:ext cx="1417320" cy="56692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2128" y="4901183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09B10"/>
                </a:solidFill>
                <a:latin typeface="Calibri"/>
              </a:rPr>
              <a:t>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29216" y="3749039"/>
            <a:ext cx="1965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9216" y="39776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E2A38"/>
                </a:solidFill>
                <a:latin typeface="Calibri"/>
              </a:rPr>
              <a:t>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03536" y="4800599"/>
            <a:ext cx="1417320" cy="56692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03536" y="4901183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09B10"/>
                </a:solidFill>
                <a:latin typeface="Calibri"/>
              </a:rPr>
              <a:t>big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Read these six now. Meeting them first removes the roadblocks.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73–82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📖 Mia and the Little Fish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926062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73–82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41 / 56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25880"/>
            <a:ext cx="3931920" cy="434340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0" i="0">
                <a:solidFill>
                  <a:srgbClr val="1E2A38"/>
                </a:solidFill>
                <a:latin typeface="Calibri"/>
              </a:rPr>
              <a:t>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1325880"/>
            <a:ext cx="71323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627632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Mia is at the sea.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432304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The sun is big and hot.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236976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Mia sits on a rock.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041648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She can see the water.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846320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The water is blue.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73–82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📖 Mia and the Little Fish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143771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73–82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42 / 56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25880"/>
            <a:ext cx="3931920" cy="434340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1325880"/>
            <a:ext cx="71323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627632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Mia sees a little fish.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432304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The fish is 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236976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It can swim very fast.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041648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The fish looks at Mia.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846320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Mia waves at the fish.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73–82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📖 Mia and the Little Fish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361480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73–82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43 / 56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25880"/>
            <a:ext cx="3931920" cy="4343400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1325880"/>
            <a:ext cx="71323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627632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Mia sees a big shell.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432304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The shell is wet.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236976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She puts the shell in the sea.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041648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The little fish swims to the shell.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846320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It looks 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73–82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📖 Mia and the Little Fish — Part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579188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73–82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44 / 56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25880"/>
            <a:ext cx="3931920" cy="434340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0" i="0">
                <a:solidFill>
                  <a:srgbClr val="1E2A38"/>
                </a:solidFill>
                <a:latin typeface="Calibri"/>
              </a:rPr>
              <a:t>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1325880"/>
            <a:ext cx="71323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627632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The fish goes in the shell.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432304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It is a good home.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236976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Mia is happy.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041648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She waves to the little fish.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846320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"Bye, little fish," says Mia.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73–82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⭐ Story Reading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796897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73–82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45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967B"/>
                </a:solidFill>
                <a:latin typeface="Calibri"/>
              </a:rPr>
              <a:t>Pick TWO lines you want to read all by yourself.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11556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09397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6712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A38"/>
                </a:solidFill>
                <a:latin typeface="Calibri"/>
              </a:rPr>
              <a:t>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093976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B2545"/>
                </a:solidFill>
                <a:latin typeface="Calibri"/>
              </a:rPr>
              <a:t>Mia is at the sea.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11556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09397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6712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A38"/>
                </a:solidFill>
                <a:latin typeface="Calibri"/>
              </a:rPr>
              <a:t>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093976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B2545"/>
                </a:solidFill>
                <a:latin typeface="Calibri"/>
              </a:rPr>
              <a:t>The fish is 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81528"/>
            <a:ext cx="5440680" cy="111556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39242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6557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A38"/>
                </a:solidFill>
                <a:latin typeface="Calibri"/>
              </a:rPr>
              <a:t>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392424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B2545"/>
                </a:solidFill>
                <a:latin typeface="Calibri"/>
              </a:rPr>
              <a:t>It looks 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81528"/>
            <a:ext cx="5440680" cy="111556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339242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6557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A38"/>
                </a:solidFill>
                <a:latin typeface="Calibri"/>
              </a:rPr>
              <a:t>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92424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B2545"/>
                </a:solidFill>
                <a:latin typeface="Calibri"/>
              </a:rPr>
              <a:t>Mia is happy.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79976"/>
            <a:ext cx="5440680" cy="111556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69087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76402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A38"/>
                </a:solidFill>
                <a:latin typeface="Calibri"/>
              </a:rPr>
              <a:t>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69087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B2545"/>
                </a:solidFill>
                <a:latin typeface="Calibri"/>
              </a:rPr>
              <a:t>The shell is wet.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379976"/>
            <a:ext cx="5440680" cy="1115568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469087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76402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A38"/>
                </a:solidFill>
                <a:latin typeface="Calibri"/>
              </a:rPr>
              <a:t>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69087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B2545"/>
                </a:solidFill>
                <a:latin typeface="Calibri"/>
              </a:rPr>
              <a:t>She can see the water.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0644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61303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852159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She chooses. If she freezes, read the first word and then wait.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82–87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🔎 Game: Find the Answer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014606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82–87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46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9B10"/>
                </a:solidFill>
                <a:latin typeface="Calibri"/>
              </a:rPr>
              <a:t>Think about Mia's day. Which answer is right?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4028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Who is in the story?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620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alibri"/>
              </a:rPr>
              <a:t>look in Part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Mia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Sam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Ben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215384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Where is Mia?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8371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alibri"/>
              </a:rPr>
              <a:t>look in Part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At the sea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At school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At home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0644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61303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852159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Cannot remember? Go back a slide and read it together.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82–87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🔎 Find the Answer — Two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232315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82–87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47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9B10"/>
                </a:solidFill>
                <a:latin typeface="Calibri"/>
              </a:rPr>
              <a:t>Two more questions about the little fish.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4028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What color is the fish?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620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alibri"/>
              </a:rPr>
              <a:t>look in Part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🔴 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🔵 Blue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🟢 Green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215384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What does the fish do?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8371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alibri"/>
              </a:rPr>
              <a:t>look in Part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Swims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Runs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Hops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0644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61303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852159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The picture choices help. Let her point instead of speaking if needed.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82–87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🔎 Show Me Where You Found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450024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82–87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48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8FB0"/>
                </a:solidFill>
                <a:latin typeface="Calibri"/>
              </a:rPr>
              <a:t>Answer it, then show me the line in the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377440"/>
            <a:ext cx="475488" cy="475488"/>
          </a:xfrm>
          <a:prstGeom prst="ellipse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3230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2860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19456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What does Mia see in Part 3?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1635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alibri"/>
              </a:rPr>
              <a:t>look in Part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194560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35915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A shell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194560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5915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A cat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194560"/>
            <a:ext cx="1828800" cy="841248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35915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2545"/>
                </a:solidFill>
                <a:latin typeface="Calibri"/>
              </a:rPr>
              <a:t>A log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40480"/>
            <a:ext cx="11292840" cy="182880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77639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8FB0"/>
                </a:solidFill>
                <a:latin typeface="Calibri"/>
              </a:rPr>
              <a:t>🌊 THE HABIT WE ARE BUILDING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480560"/>
            <a:ext cx="25603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83080" y="4617720"/>
            <a:ext cx="457200" cy="4572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83080" y="468172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1206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545"/>
                </a:solidFill>
                <a:latin typeface="Calibri"/>
              </a:rPr>
              <a:t>Answer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4480560"/>
            <a:ext cx="25603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26280" y="4617720"/>
            <a:ext cx="457200" cy="4572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468172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1206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545"/>
                </a:solidFill>
                <a:latin typeface="Calibri"/>
              </a:rPr>
              <a:t>Go back to the story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480560"/>
            <a:ext cx="25603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69480" y="4617720"/>
            <a:ext cx="457200" cy="4572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468172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1206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545"/>
                </a:solidFill>
                <a:latin typeface="Calibri"/>
              </a:rPr>
              <a:t>Point to the line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4480560"/>
            <a:ext cx="25603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012680" y="4617720"/>
            <a:ext cx="457200" cy="4572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12680" y="468172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51206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545"/>
                </a:solidFill>
                <a:latin typeface="Calibri"/>
              </a:rPr>
              <a:t>Read it out loud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Going back to the story is not cheating. It is the whole skill.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87–90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🏝️ Welcome to Reading Island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667733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87–90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49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9B10"/>
                </a:solidFill>
                <a:latin typeface="Calibri"/>
              </a:rPr>
              <a:t>Five quick challenges. Then you get your badge.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103120" cy="301752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E2A38"/>
                </a:solidFill>
                <a:latin typeface="Calibri"/>
              </a:rPr>
              <a:t>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2788920"/>
            <a:ext cx="731520" cy="457200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286207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6499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8FB0"/>
                </a:solidFill>
                <a:latin typeface="Calibri"/>
              </a:rPr>
              <a:t>READ A WORD</a:t>
            </a:r>
          </a:p>
        </p:txBody>
      </p:sp>
      <p:sp>
        <p:nvSpPr>
          <p:cNvPr id="20" name="Oval 19"/>
          <p:cNvSpPr/>
          <p:nvPr/>
        </p:nvSpPr>
        <p:spPr>
          <a:xfrm>
            <a:off x="1280160" y="41148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18795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18FB0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34056" y="1783080"/>
            <a:ext cx="2103120" cy="3017520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34056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E2A38"/>
                </a:solidFill>
                <a:latin typeface="Calibri"/>
              </a:rPr>
              <a:t>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9856" y="2788920"/>
            <a:ext cx="731520" cy="457200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9856" y="286207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25496" y="336499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655C2"/>
                </a:solidFill>
                <a:latin typeface="Calibri"/>
              </a:rPr>
              <a:t>READ A SIGHT WORD</a:t>
            </a:r>
          </a:p>
        </p:txBody>
      </p:sp>
      <p:sp>
        <p:nvSpPr>
          <p:cNvPr id="27" name="Oval 26"/>
          <p:cNvSpPr/>
          <p:nvPr/>
        </p:nvSpPr>
        <p:spPr>
          <a:xfrm>
            <a:off x="3557016" y="41148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7016" y="418795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655C2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10912" y="1783080"/>
            <a:ext cx="2103120" cy="301752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0912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E2A38"/>
                </a:solidFill>
                <a:latin typeface="Calibri"/>
              </a:rPr>
              <a:t>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96712" y="2788920"/>
            <a:ext cx="731520" cy="457200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96712" y="286207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336499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967B"/>
                </a:solidFill>
                <a:latin typeface="Calibri"/>
              </a:rPr>
              <a:t>BLEND A WORD</a:t>
            </a:r>
          </a:p>
        </p:txBody>
      </p:sp>
      <p:sp>
        <p:nvSpPr>
          <p:cNvPr id="34" name="Oval 33"/>
          <p:cNvSpPr/>
          <p:nvPr/>
        </p:nvSpPr>
        <p:spPr>
          <a:xfrm>
            <a:off x="5833872" y="41148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3872" y="418795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967B"/>
                </a:solidFill>
                <a:latin typeface="Calibri"/>
              </a:rPr>
              <a:t>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87768" y="1783080"/>
            <a:ext cx="2103120" cy="301752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87768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E2A38"/>
                </a:solidFill>
                <a:latin typeface="Calibri"/>
              </a:rPr>
              <a:t>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3568" y="2788920"/>
            <a:ext cx="731520" cy="457200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286207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79208" y="336499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5D4E"/>
                </a:solidFill>
                <a:latin typeface="Calibri"/>
              </a:rPr>
              <a:t>READ A SENTENCE</a:t>
            </a:r>
          </a:p>
        </p:txBody>
      </p:sp>
      <p:sp>
        <p:nvSpPr>
          <p:cNvPr id="41" name="Oval 40"/>
          <p:cNvSpPr/>
          <p:nvPr/>
        </p:nvSpPr>
        <p:spPr>
          <a:xfrm>
            <a:off x="8110728" y="41148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10728" y="418795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5D4E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64624" y="1783080"/>
            <a:ext cx="2103120" cy="301752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64624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E2A38"/>
                </a:solidFill>
                <a:latin typeface="Calibri"/>
              </a:rPr>
              <a:t>🔎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50424" y="2788920"/>
            <a:ext cx="731520" cy="457200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50424" y="286207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56064" y="336499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9B10"/>
                </a:solidFill>
                <a:latin typeface="Calibri"/>
              </a:rPr>
              <a:t>ANSWER A QUESTION</a:t>
            </a:r>
          </a:p>
        </p:txBody>
      </p:sp>
      <p:sp>
        <p:nvSpPr>
          <p:cNvPr id="48" name="Oval 47"/>
          <p:cNvSpPr/>
          <p:nvPr/>
        </p:nvSpPr>
        <p:spPr>
          <a:xfrm>
            <a:off x="10387584" y="41148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87584" y="418795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9B10"/>
                </a:solidFill>
                <a:latin typeface="Calibri"/>
              </a:rPr>
              <a:t>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983480"/>
            <a:ext cx="11292840" cy="73152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138928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2545"/>
                </a:solidFill>
                <a:latin typeface="Calibri"/>
              </a:rPr>
              <a:t>Every challenge uses something from today. Nothing here is new.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Hints are allowed. Finishing matters more than doing it alone.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87–90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🏆 Final Challenge — 1, 2 &amp;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885441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87–90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50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9B10"/>
                </a:solidFill>
                <a:latin typeface="Calibri"/>
              </a:rPr>
              <a:t>Take your time. I am right 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8872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75688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1965960"/>
            <a:ext cx="2103120" cy="411480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202996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READ A 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00253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C"/>
                </a:solidFill>
                <a:latin typeface="Calibri"/>
              </a:rPr>
              <a:t>Read this CVC word: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368296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8FB0"/>
                </a:solidFill>
                <a:latin typeface="Arial Black"/>
              </a:rPr>
              <a:t>FIN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54680"/>
            <a:ext cx="11292840" cy="1188720"/>
          </a:xfrm>
          <a:prstGeom prst="roundRect">
            <a:avLst/>
          </a:prstGeom>
          <a:solidFill>
            <a:srgbClr val="EE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47288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337560"/>
            <a:ext cx="2103120" cy="411480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340156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READ A SIGHT WORD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37413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C"/>
                </a:solidFill>
                <a:latin typeface="Calibri"/>
              </a:rPr>
              <a:t>Read this word: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739896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655C2"/>
                </a:solidFill>
                <a:latin typeface="Arial Black"/>
              </a:rPr>
              <a:t>SEE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26280"/>
            <a:ext cx="11292840" cy="118872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18888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2A38"/>
                </a:solidFill>
                <a:latin typeface="Calibri"/>
              </a:rPr>
              <a:t>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91640" y="4709160"/>
            <a:ext cx="2103120" cy="411480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477316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BLEND A WORD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74573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C"/>
                </a:solidFill>
                <a:latin typeface="Calibri"/>
              </a:rPr>
              <a:t>Blend these sounds: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111496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967B"/>
                </a:solidFill>
                <a:latin typeface="Arial Black"/>
              </a:rPr>
              <a:t>/n/  /e/  /t/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89320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044183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603504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If a word stalls her, break it: /f/ /i/ /n/. Then try the word again.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87–90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🏆 Final Challenge — 4 &amp;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103150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87–90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51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9B10"/>
                </a:solidFill>
                <a:latin typeface="Calibri"/>
              </a:rPr>
              <a:t>The last two. Then the badge is yours.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6916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3172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103120"/>
            <a:ext cx="2286000" cy="457200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1762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READ A SENTENCE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157984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C"/>
                </a:solidFill>
                <a:latin typeface="Calibri"/>
              </a:rPr>
              <a:t>Read this out loud: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560320"/>
            <a:ext cx="7040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5D4E"/>
                </a:solidFill>
                <a:latin typeface="Arial Black"/>
              </a:rPr>
              <a:t>I see a big fish.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49039"/>
            <a:ext cx="11292840" cy="169164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51959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8"/>
                </a:solidFill>
                <a:latin typeface="Calibri"/>
              </a:rPr>
              <a:t>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023359"/>
            <a:ext cx="2286000" cy="457200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4096511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ANSWER A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078223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C"/>
                </a:solidFill>
                <a:latin typeface="Calibri"/>
              </a:rPr>
              <a:t>From the story: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480559"/>
            <a:ext cx="7040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9B10"/>
                </a:solidFill>
                <a:latin typeface="Arial Black"/>
              </a:rPr>
              <a:t>What color is the fish?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Read challenge 4 together first, then let her do it alone.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280160"/>
            <a:ext cx="731520" cy="731520"/>
          </a:xfrm>
          <a:prstGeom prst="ellipse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1234440"/>
            <a:ext cx="731520" cy="731520"/>
          </a:xfrm>
          <a:prstGeom prst="ellipse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3383280"/>
            <a:ext cx="731520" cy="731520"/>
          </a:xfrm>
          <a:prstGeom prst="ellipse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5640" y="3337560"/>
            <a:ext cx="731520" cy="731520"/>
          </a:xfrm>
          <a:prstGeom prst="ellipse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18FB0"/>
                </a:solidFill>
                <a:latin typeface="Georgia"/>
              </a:rPr>
              <a:t>🏅 OCEAN READING EXPLORER 🏅</a:t>
            </a:r>
          </a:p>
        </p:txBody>
      </p:sp>
      <p:sp>
        <p:nvSpPr>
          <p:cNvPr id="9" name="Oval 8"/>
          <p:cNvSpPr/>
          <p:nvPr/>
        </p:nvSpPr>
        <p:spPr>
          <a:xfrm>
            <a:off x="4956048" y="1554480"/>
            <a:ext cx="2286000" cy="2286000"/>
          </a:xfrm>
          <a:prstGeom prst="ellipse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0574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1E2A38"/>
                </a:solidFill>
                <a:latin typeface="Calibri"/>
              </a:rPr>
              <a:t>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eorgia"/>
              </a:rPr>
              <a:t>🎉 YOU DID IT!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9EDCEC"/>
                </a:solidFill>
                <a:latin typeface="Calibri"/>
              </a:rPr>
              <a:t>You are an Ocean Reading Explorer. Reading is fun — and you can do it!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5440680"/>
            <a:ext cx="1783080" cy="566928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554126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🐚 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5440680"/>
            <a:ext cx="1783080" cy="566928"/>
          </a:xfrm>
          <a:prstGeom prst="round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554126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🐠 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5440680"/>
            <a:ext cx="1783080" cy="566928"/>
          </a:xfrm>
          <a:prstGeom prst="roundRect">
            <a:avLst/>
          </a:prstGeom>
          <a:solidFill>
            <a:srgbClr val="765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554126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🐙 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19" y="5440680"/>
            <a:ext cx="1783080" cy="56692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9" y="554126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🐳 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5440680"/>
            <a:ext cx="1783080" cy="566928"/>
          </a:xfrm>
          <a:prstGeom prst="roundRect">
            <a:avLst/>
          </a:prstGeom>
          <a:solidFill>
            <a:srgbClr val="E0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554126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🏝️ 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19088"/>
            <a:ext cx="11320859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87–90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52 / 56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F9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2C4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87–90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✅ What I Can Read 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538568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Reading Island  |  87–90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53 / 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967B"/>
                </a:solidFill>
                <a:latin typeface="Calibri"/>
              </a:rPr>
              <a:t>Look at everything you did in 90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7772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19019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1956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A38"/>
                </a:solidFill>
                <a:latin typeface="Calibri"/>
              </a:rPr>
              <a:t>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967B"/>
                </a:solidFill>
                <a:latin typeface="Calibri"/>
              </a:rPr>
              <a:t>Letter sounds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167128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alibri"/>
              </a:rPr>
              <a:t>f  s  sh  c  n  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37360"/>
            <a:ext cx="5440680" cy="7772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19019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1956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A38"/>
                </a:solidFill>
                <a:latin typeface="Calibri"/>
              </a:rPr>
              <a:t>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967B"/>
                </a:solidFill>
                <a:latin typeface="Calibri"/>
              </a:rPr>
              <a:t>Beginning sounds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167128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alibri"/>
              </a:rPr>
              <a:t>Which one starts with /f/?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24328"/>
            <a:ext cx="5440680" cy="7772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656" y="27889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28437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A38"/>
                </a:solidFill>
                <a:latin typeface="Calibri"/>
              </a:rPr>
              <a:t>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157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967B"/>
                </a:solidFill>
                <a:latin typeface="Calibri"/>
              </a:rPr>
              <a:t>Short vowels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054096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alibri"/>
              </a:rPr>
              <a:t>a  e  i  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624328"/>
            <a:ext cx="5440680" cy="7772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91656" y="27889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28437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A38"/>
                </a:solidFill>
                <a:latin typeface="Calibri"/>
              </a:rPr>
              <a:t>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7157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967B"/>
                </a:solidFill>
                <a:latin typeface="Calibri"/>
              </a:rPr>
              <a:t>Blending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054096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alibri"/>
              </a:rPr>
              <a:t>/f/ /i/ /n/ → FIN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511296"/>
            <a:ext cx="5440680" cy="7772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6656" y="367588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3730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A38"/>
                </a:solidFill>
                <a:latin typeface="Calibri"/>
              </a:rPr>
              <a:t>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360273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967B"/>
                </a:solidFill>
                <a:latin typeface="Calibri"/>
              </a:rPr>
              <a:t>CVC words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941064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alibri"/>
              </a:rPr>
              <a:t>cat  fin  hop  net  sun  sit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3511296"/>
            <a:ext cx="5440680" cy="7772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91656" y="367588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1656" y="3730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A38"/>
                </a:solidFill>
                <a:latin typeface="Calibri"/>
              </a:rPr>
              <a:t>👨‍👩‍👧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360273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967B"/>
                </a:solidFill>
                <a:latin typeface="Calibri"/>
              </a:rPr>
              <a:t>Word families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3941064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alibri"/>
              </a:rPr>
              <a:t>-at  -in  -op  -et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398264"/>
            <a:ext cx="5440680" cy="7772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6656" y="456285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A38"/>
                </a:solidFill>
                <a:latin typeface="Calibri"/>
              </a:rPr>
              <a:t>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4897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967B"/>
                </a:solidFill>
                <a:latin typeface="Calibri"/>
              </a:rPr>
              <a:t>Sight words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4828032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alibri"/>
              </a:rPr>
              <a:t>I  see  a  the  my  can  go  to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4398264"/>
            <a:ext cx="5440680" cy="7772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91656" y="456285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91656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A38"/>
                </a:solidFill>
                <a:latin typeface="Calibri"/>
              </a:rPr>
              <a:t>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44897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967B"/>
                </a:solidFill>
                <a:latin typeface="Calibri"/>
              </a:rPr>
              <a:t>Short phrases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4828032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alibri"/>
              </a:rPr>
              <a:t>a big fish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285231"/>
            <a:ext cx="5440680" cy="7772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76656" y="5449823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" y="55046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A38"/>
                </a:solidFill>
                <a:latin typeface="Calibri"/>
              </a:rPr>
              <a:t>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5376671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967B"/>
                </a:solidFill>
                <a:latin typeface="Calibri"/>
              </a:rPr>
              <a:t>Sentences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60" y="5714999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alibri"/>
              </a:rPr>
              <a:t>I see a fish.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2200" y="5285231"/>
            <a:ext cx="5440680" cy="7772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91656" y="5449823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91656" y="55046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A38"/>
                </a:solidFill>
                <a:latin typeface="Calibri"/>
              </a:rPr>
              <a:t>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5160" y="5376671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967B"/>
                </a:solidFill>
                <a:latin typeface="Calibri"/>
              </a:rPr>
              <a:t>A whole story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95160" y="5714999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alibri"/>
              </a:rPr>
              <a:t>Mia and the Little Fish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🔒 TEACHER ONLY — Support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756277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54 / 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07008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5D4E"/>
                </a:solidFill>
                <a:latin typeface="Calibri"/>
              </a:rPr>
              <a:t>Move between levels freely inside one activity. Never name the level out loud.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627632"/>
            <a:ext cx="3611880" cy="2377440"/>
          </a:xfrm>
          <a:prstGeom prst="roundRect">
            <a:avLst/>
          </a:prstGeom>
          <a:solidFill>
            <a:srgbClr val="F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92224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A38"/>
                </a:solidFill>
                <a:latin typeface="Calibri"/>
              </a:rPr>
              <a:t>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0428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5D4E"/>
                </a:solidFill>
                <a:latin typeface="Arial Black"/>
              </a:rPr>
              <a:t>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1635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Picture + sound + teacher help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10128"/>
            <a:ext cx="3246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19856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A8C"/>
                </a:solidFill>
                <a:latin typeface="Calibri"/>
              </a:rPr>
              <a:t>Say the word first, then let her repeat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3672" y="1627632"/>
            <a:ext cx="3611880" cy="237744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3672" y="1792224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A38"/>
                </a:solidFill>
                <a:latin typeface="Calibri"/>
              </a:rPr>
              <a:t>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230428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09B10"/>
                </a:solidFill>
                <a:latin typeface="Arial Black"/>
              </a:rPr>
              <a:t>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81635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Child reads on her 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3310128"/>
            <a:ext cx="3246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419856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A8C"/>
                </a:solidFill>
                <a:latin typeface="Calibri"/>
              </a:rPr>
              <a:t>Give the first sound only, then go quiet.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3" y="1627632"/>
            <a:ext cx="3611880" cy="237744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55863" y="1792224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A38"/>
                </a:solidFill>
                <a:latin typeface="Calibri"/>
              </a:rPr>
              <a:t>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3" y="230428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967B"/>
                </a:solidFill>
                <a:latin typeface="Arial Black"/>
              </a:rPr>
              <a:t>BONUS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281635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8"/>
                </a:solidFill>
                <a:latin typeface="Calibri"/>
              </a:rPr>
              <a:t>Child creates or reads extra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38743" y="3310128"/>
            <a:ext cx="3246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3" y="3419856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A8C"/>
                </a:solidFill>
                <a:latin typeface="Calibri"/>
              </a:rPr>
              <a:t>Ask for a sentence using the word.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160520"/>
            <a:ext cx="11338560" cy="457200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233672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9B10"/>
                </a:solidFill>
                <a:latin typeface="Calibri"/>
              </a:rPr>
              <a:t>POSITIVE LABELS ONLY:   🌊 Ocean Hint   ·   🐠 Easy Catch   ·   🐙 Try Again   ·   ⭐ Bonus Challenge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754880"/>
            <a:ext cx="5577840" cy="1508760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4632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8FB0"/>
                </a:solidFill>
                <a:latin typeface="Calibri"/>
              </a:rPr>
              <a:t>🌊 OCEAN HINT BANK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6636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E2A38"/>
                </a:solidFill>
                <a:latin typeface="Calibri"/>
              </a:rPr>
              <a:t>•  Point to each letter.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E2A38"/>
                </a:solidFill>
                <a:latin typeface="Calibri"/>
              </a:rPr>
              <a:t>•  Say the sounds slowly.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E2A38"/>
                </a:solidFill>
                <a:latin typeface="Calibri"/>
              </a:rPr>
              <a:t>•  Blend the sounds.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E2A38"/>
                </a:solidFill>
                <a:latin typeface="Calibri"/>
              </a:rPr>
              <a:t>•  Look at the picture.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E2A38"/>
                </a:solidFill>
                <a:latin typeface="Calibri"/>
              </a:rPr>
              <a:t>•  Read it again.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E2A38"/>
                </a:solidFill>
                <a:latin typeface="Calibri"/>
              </a:rPr>
              <a:t>•  Look back at the story.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754880"/>
            <a:ext cx="5577840" cy="1508760"/>
          </a:xfrm>
          <a:prstGeom prst="roundRect">
            <a:avLst/>
          </a:prstGeom>
          <a:solidFill>
            <a:srgbClr val="E2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84632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967B"/>
                </a:solidFill>
                <a:latin typeface="Calibri"/>
              </a:rPr>
              <a:t>🗣️ SAY THIS INSTEAD OF "WRONG"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16636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E2A38"/>
                </a:solidFill>
                <a:latin typeface="Calibri"/>
              </a:rPr>
              <a:t>•  "Good listening!"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E2A38"/>
                </a:solidFill>
                <a:latin typeface="Calibri"/>
              </a:rPr>
              <a:t>•  "You found the first sound!"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E2A38"/>
                </a:solidFill>
                <a:latin typeface="Calibri"/>
              </a:rPr>
              <a:t>•  "Let's try that one together."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E2A38"/>
                </a:solidFill>
                <a:latin typeface="Calibri"/>
              </a:rPr>
              <a:t>•  "You are getting closer!"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E2A38"/>
                </a:solidFill>
                <a:latin typeface="Calibri"/>
              </a:rPr>
              <a:t>•  "Nice blending!"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E2A38"/>
                </a:solidFill>
                <a:latin typeface="Calibri"/>
              </a:rPr>
              <a:t>•  "You read that all by yourself."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🔒 TEACHER ONLY — Reading Skills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973986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55 / 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1887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5D4E"/>
                </a:solidFill>
                <a:latin typeface="Calibri"/>
              </a:rPr>
              <a:t>Record what she did today, not what you hoped for. Fill this in right after class.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54480"/>
            <a:ext cx="3931920" cy="38404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184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READING 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554480"/>
            <a:ext cx="2377440" cy="38404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618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Achieved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1554480"/>
            <a:ext cx="2194560" cy="38404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6184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With Help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1554480"/>
            <a:ext cx="2286000" cy="38404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618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Needs Practice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993392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02082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Beginning sounds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1993392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0025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993392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0025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1993392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2002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322576"/>
            <a:ext cx="393192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3500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Short vowels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2322576"/>
            <a:ext cx="237744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2322576"/>
            <a:ext cx="219456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2322576"/>
            <a:ext cx="228600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2651760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26791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CVC words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2651760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26609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2651760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64040" y="2651760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26609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2980944"/>
            <a:ext cx="393192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00837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Blending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26280" y="2980944"/>
            <a:ext cx="237744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2990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86600" y="2980944"/>
            <a:ext cx="219456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2990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64040" y="2980944"/>
            <a:ext cx="228600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2990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3310128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3375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Word families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26280" y="3310128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3319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86600" y="3310128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600" y="33192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64040" y="3310128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64040" y="3319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3639311"/>
            <a:ext cx="393192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366674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Sight words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26280" y="3639311"/>
            <a:ext cx="237744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26280" y="364845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86600" y="3639311"/>
            <a:ext cx="219456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86600" y="3648455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64040" y="3639311"/>
            <a:ext cx="228600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64040" y="364845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3968496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39959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Short phrases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26280" y="3968496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26280" y="3977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86600" y="3968496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86600" y="3977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64040" y="3968496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64040" y="3977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1480" y="4297680"/>
            <a:ext cx="393192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43251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Simple sentences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26280" y="4297680"/>
            <a:ext cx="237744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26280" y="43068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086600" y="4297680"/>
            <a:ext cx="219456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86600" y="43068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464040" y="4297680"/>
            <a:ext cx="228600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64040" y="4306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4626864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465429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Story reading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26280" y="4626864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26280" y="46360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086600" y="4626864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86600" y="46360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464040" y="4626864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464040" y="4636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1480" y="4956048"/>
            <a:ext cx="393192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4360" y="49834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Comprehension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26280" y="4956048"/>
            <a:ext cx="237744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26280" y="4965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086600" y="4956048"/>
            <a:ext cx="219456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086600" y="49651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464040" y="4956048"/>
            <a:ext cx="2286000" cy="310896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64040" y="4965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8C"/>
                </a:solidFill>
                <a:latin typeface="Calibri"/>
              </a:rPr>
              <a:t>☐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11480" y="5394960"/>
            <a:ext cx="11338560" cy="256032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4360" y="5413248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Words the child read on her own: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11480" y="5687568"/>
            <a:ext cx="11338560" cy="256032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4360" y="5705856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Words that needed help: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11480" y="5980176"/>
            <a:ext cx="11338560" cy="256032"/>
          </a:xfrm>
          <a:prstGeom prst="roundRect">
            <a:avLst/>
          </a:prstGeom>
          <a:solidFill>
            <a:srgbClr val="FD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94360" y="5998464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What to practice next: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545"/>
                </a:solidFill>
                <a:latin typeface="Georgia"/>
              </a:rPr>
              <a:t>🔒 TEACHER ONLY — Answer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118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🌊 Under the Sea Reading Adventure  |  Grade 1  |  90 min  |  Answer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56 / 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1887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5D4E"/>
                </a:solidFill>
                <a:latin typeface="Calibri"/>
              </a:rPr>
              <a:t>Hide this slide before presenting, or keep it on a second screen.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72768"/>
            <a:ext cx="557784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0078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4E"/>
                </a:solidFill>
                <a:latin typeface="Calibri"/>
              </a:rPr>
              <a:t>🔊 Sounds  ·  🐚 Vowels  ·  🐙 Blending  ·  🎣 Real 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84831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Sound Catch 1–3: fish, sun, cat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Sound Catch 4–6: net, shell, rock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Sound Catch 7–8: wet, hat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Shell Sort 1–3: A, E, I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Shell Sort 4–6: O, E, I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Shell Sort bonus 7–9: I, O, E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Word Builder: CAT, FIN, HOP, NET, SUN, SIT,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      WET, LOG, BIG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Catch the Real Word 1–3: CAT, FIN, NET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Catch the Real Word 4–5: HOP, 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572768"/>
            <a:ext cx="557784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0078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4A74"/>
                </a:solidFill>
                <a:latin typeface="Calibri"/>
              </a:rPr>
              <a:t>🐠 Families  ·  🫧 Sight words  ·  🧩 Sentences  ·  📖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84831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Who Belongs -AT: cat, bat, hat  (fin does not)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Who Belongs -IN: pin, win, fin  (hop does not)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Who Belongs -OP: top, pop, hop  (net does not)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Who Belongs -ET: wet, pet, net  (sat does not)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New words: MAT, TIN, MOP, GET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Bubbles 1–4: see, can, the, my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Bubbles 5–8: I, go, a, to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Sentence puzzles: I see a fish. / The fish is big. /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      I can swim. / I see the shell.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Story Q1–5: Mia · at the sea · red · swims · a shell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2A38"/>
                </a:solidFill>
                <a:latin typeface="Calibri"/>
              </a:rPr>
              <a:t>•  Final: FIN · SEE · NET · "I see a big fish." · red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