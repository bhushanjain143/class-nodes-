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0" y="914400"/>
            <a:ext cx="2103120" cy="210312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14173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D3A4A"/>
                </a:solidFill>
                <a:latin typeface="Calibri"/>
              </a:rPr>
              <a:t>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D3A4A"/>
                </a:solidFill>
                <a:latin typeface="Georgia"/>
              </a:rPr>
              <a:t>Hello, Reading Star! 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8AB5"/>
                </a:solidFill>
                <a:latin typeface="Calibri"/>
              </a:rPr>
              <a:t>The Little Rabbit's Big Adventure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0–2 min  |  Welcome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1/29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D3A4A"/>
                </a:solidFill>
                <a:latin typeface="Georgia"/>
              </a:rPr>
              <a:t>How are you feeling?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060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34440" y="1920240"/>
            <a:ext cx="1234440" cy="123444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48840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D3A4A"/>
                </a:solidFill>
                <a:latin typeface="Calibri"/>
              </a:rPr>
              <a:t>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D3A4A"/>
                </a:solidFill>
                <a:latin typeface="Calibri"/>
              </a:rPr>
              <a:t>Happy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6060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069080" y="1920240"/>
            <a:ext cx="1234440" cy="1234440"/>
          </a:xfrm>
          <a:prstGeom prst="ellipse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2148840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D3A4A"/>
                </a:solidFill>
                <a:latin typeface="Calibri"/>
              </a:rPr>
              <a:t>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3375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D3A4A"/>
                </a:solidFill>
                <a:latin typeface="Calibri"/>
              </a:rPr>
              <a:t>Sleepy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6060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1920240"/>
            <a:ext cx="1234440" cy="123444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148840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D3A4A"/>
                </a:solidFill>
                <a:latin typeface="Calibri"/>
              </a:rPr>
              <a:t>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375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D3A4A"/>
                </a:solidFill>
                <a:latin typeface="Calibri"/>
              </a:rPr>
              <a:t>Excited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645920"/>
            <a:ext cx="26060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38360" y="1920240"/>
            <a:ext cx="1234440" cy="1234440"/>
          </a:xfrm>
          <a:prstGeom prst="ellipse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2148840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D3A4A"/>
                </a:solidFill>
                <a:latin typeface="Calibri"/>
              </a:rPr>
              <a:t>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3375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D3A4A"/>
                </a:solidFill>
                <a:latin typeface="Calibri"/>
              </a:rPr>
              <a:t>Super excited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2–3 min  |  Feelings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2/29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D3A4A"/>
                </a:solidFill>
                <a:latin typeface="Georgia"/>
              </a:rPr>
              <a:t>Today's Adventure! 🗺️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2697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D3A4A"/>
                </a:solidFill>
                <a:latin typeface="Calibri"/>
              </a:rPr>
              <a:t>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D3A4A"/>
                </a:solidFill>
                <a:latin typeface="Calibri"/>
              </a:rPr>
              <a:t>Play games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63040"/>
            <a:ext cx="2697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82880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D3A4A"/>
                </a:solidFill>
                <a:latin typeface="Calibri"/>
              </a:rPr>
              <a:t>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92608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D3A4A"/>
                </a:solidFill>
                <a:latin typeface="Calibri"/>
              </a:rPr>
              <a:t>Read a 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2697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2880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D3A4A"/>
                </a:solidFill>
                <a:latin typeface="Calibri"/>
              </a:rPr>
              <a:t>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92608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D3A4A"/>
                </a:solidFill>
                <a:latin typeface="Calibri"/>
              </a:rPr>
              <a:t>Tell a 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463040"/>
            <a:ext cx="2697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82880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D3A4A"/>
                </a:solidFill>
                <a:latin typeface="Calibri"/>
              </a:rPr>
              <a:t>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92608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D3A4A"/>
                </a:solidFill>
                <a:latin typeface="Calibri"/>
              </a:rPr>
              <a:t>Earn stars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3 min  | 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3/29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D3A4A"/>
                </a:solidFill>
                <a:latin typeface="Georgia"/>
              </a:rPr>
              <a:t>Guess the Picture! 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78909C"/>
                </a:solidFill>
                <a:latin typeface="Calibri"/>
              </a:rPr>
              <a:t>What is this?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566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" y="1645920"/>
            <a:ext cx="1371600" cy="1371600"/>
          </a:xfrm>
          <a:prstGeom prst="ellipse">
            <a:avLst/>
          </a:prstGeom>
          <a:solidFill>
            <a:srgbClr val="FF8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18288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D3A4A"/>
                </a:solidFill>
                <a:latin typeface="Calibri"/>
              </a:rPr>
              <a:t>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D3A4A"/>
                </a:solidFill>
                <a:latin typeface="Calibri"/>
              </a:rPr>
              <a:t>Rabbit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566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94960" y="1645920"/>
            <a:ext cx="1371600" cy="13716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18288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D3A4A"/>
                </a:solidFill>
                <a:latin typeface="Calibri"/>
              </a:rPr>
              <a:t>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108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D3A4A"/>
                </a:solidFill>
                <a:latin typeface="Calibri"/>
              </a:rPr>
              <a:t>Tree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566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89720" y="1645920"/>
            <a:ext cx="1371600" cy="1371600"/>
          </a:xfrm>
          <a:prstGeom prst="ellipse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8288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D3A4A"/>
                </a:solidFill>
                <a:latin typeface="Calibri"/>
              </a:rPr>
              <a:t>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108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D3A4A"/>
                </a:solidFill>
                <a:latin typeface="Calibri"/>
              </a:rPr>
              <a:t>House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3–5 min  |  Pictures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4/29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D3A4A"/>
                </a:solidFill>
                <a:latin typeface="Georgia"/>
              </a:rPr>
              <a:t>Guess More Pictures! 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78909C"/>
                </a:solidFill>
                <a:latin typeface="Calibri"/>
              </a:rPr>
              <a:t>What is this?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566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" y="1645920"/>
            <a:ext cx="1371600" cy="1371600"/>
          </a:xfrm>
          <a:prstGeom prst="ellipse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18288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D3A4A"/>
                </a:solidFill>
                <a:latin typeface="Calibri"/>
              </a:rPr>
              <a:t>☀️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D3A4A"/>
                </a:solidFill>
                <a:latin typeface="Calibri"/>
              </a:rPr>
              <a:t>Sun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566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94960" y="1645920"/>
            <a:ext cx="1371600" cy="1371600"/>
          </a:xfrm>
          <a:prstGeom prst="ellipse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18288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D3A4A"/>
                </a:solidFill>
                <a:latin typeface="Calibri"/>
              </a:rPr>
              <a:t>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108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D3A4A"/>
                </a:solidFill>
                <a:latin typeface="Calibri"/>
              </a:rPr>
              <a:t>Apple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566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89720" y="1645920"/>
            <a:ext cx="1371600" cy="1371600"/>
          </a:xfrm>
          <a:prstGeom prst="ellipse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8288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D3A4A"/>
                </a:solidFill>
                <a:latin typeface="Calibri"/>
              </a:rPr>
              <a:t>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108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D3A4A"/>
                </a:solidFill>
                <a:latin typeface="Calibri"/>
              </a:rPr>
              <a:t>Ball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5–6 min  |  Pictures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5/29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D3A4A"/>
                </a:solidFill>
                <a:latin typeface="Georgia"/>
              </a:rPr>
              <a:t>Phonics Fun 🔤 (1)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94183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08760" y="1645920"/>
            <a:ext cx="4114800" cy="54864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71907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 - A -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D3A4A"/>
                </a:solidFill>
                <a:latin typeface="Calibri"/>
              </a:rPr>
              <a:t>→  RAT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514600"/>
            <a:ext cx="94183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08760" y="2697480"/>
            <a:ext cx="4114800" cy="548640"/>
          </a:xfrm>
          <a:prstGeom prst="roundRect">
            <a:avLst/>
          </a:prstGeom>
          <a:solidFill>
            <a:srgbClr val="FF8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7706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 - A - B - B - I -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743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D3A4A"/>
                </a:solidFill>
                <a:latin typeface="Calibri"/>
              </a:rPr>
              <a:t>→  RABBIT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566160"/>
            <a:ext cx="94183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08760" y="3749040"/>
            <a:ext cx="4114800" cy="548640"/>
          </a:xfrm>
          <a:prstGeom prst="round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38221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 - U - 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794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D3A4A"/>
                </a:solidFill>
                <a:latin typeface="Calibri"/>
              </a:rPr>
              <a:t>→  RUN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6–7 min  |  Phonics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6/29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D3A4A"/>
                </a:solidFill>
                <a:latin typeface="Georgia"/>
              </a:rPr>
              <a:t>Phonics Fun 🔤 (2)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25880"/>
            <a:ext cx="941832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08760" y="1490472"/>
            <a:ext cx="4114800" cy="502920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 - R - E -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5270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3A4A"/>
                </a:solidFill>
                <a:latin typeface="Calibri"/>
              </a:rPr>
              <a:t>→  TREE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286000"/>
            <a:ext cx="941832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08760" y="2450592"/>
            <a:ext cx="4114800" cy="50292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514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 - U -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4871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3A4A"/>
                </a:solidFill>
                <a:latin typeface="Calibri"/>
              </a:rPr>
              <a:t>→  SUN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246120"/>
            <a:ext cx="941832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08760" y="3410712"/>
            <a:ext cx="4114800" cy="50292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3474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H - O - M - 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44728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3A4A"/>
                </a:solidFill>
                <a:latin typeface="Calibri"/>
              </a:rPr>
              <a:t>→  HOME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206240"/>
            <a:ext cx="941832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508760" y="4370832"/>
            <a:ext cx="4114800" cy="502920"/>
          </a:xfrm>
          <a:prstGeom prst="roundRect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4434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 - A - L - 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440740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3A4A"/>
                </a:solidFill>
                <a:latin typeface="Calibri"/>
              </a:rPr>
              <a:t>→  BALL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7–8 min  |  Phonics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7/29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Georgia"/>
              </a:rPr>
              <a:t>🐰 Feed the Rabbit! Round 1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371600"/>
            <a:ext cx="2743200" cy="2743200"/>
          </a:xfrm>
          <a:prstGeom prst="ellipse">
            <a:avLst/>
          </a:prstGeom>
          <a:solidFill>
            <a:srgbClr val="FF8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D3A4A"/>
                </a:solidFill>
                <a:latin typeface="Calibri"/>
              </a:rPr>
              <a:t>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828800"/>
            <a:ext cx="75895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2103120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78909C"/>
                </a:solidFill>
                <a:latin typeface="Calibri"/>
              </a:rPr>
              <a:t>Which word?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743200"/>
            <a:ext cx="7223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D3A4A"/>
                </a:solidFill>
                <a:latin typeface="Calibri"/>
              </a:rPr>
              <a:t>   RUN          SUN          CAT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8–9 min  |  Feed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8/29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Georgia"/>
              </a:rPr>
              <a:t>🐰 Feed the Rabbit! Round 2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371600"/>
            <a:ext cx="2743200" cy="2743200"/>
          </a:xfrm>
          <a:prstGeom prst="ellipse">
            <a:avLst/>
          </a:prstGeom>
          <a:solidFill>
            <a:srgbClr val="FF8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D3A4A"/>
                </a:solidFill>
                <a:latin typeface="Calibri"/>
              </a:rPr>
              <a:t>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828800"/>
            <a:ext cx="75895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2103120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78909C"/>
                </a:solidFill>
                <a:latin typeface="Calibri"/>
              </a:rPr>
              <a:t>Which word?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743200"/>
            <a:ext cx="7223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D3A4A"/>
                </a:solidFill>
                <a:latin typeface="Calibri"/>
              </a:rPr>
              <a:t>   HOME          HAT          HOP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9 min  |  Feed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9/29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Georgia"/>
              </a:rPr>
              <a:t>🐰 Feed the Rabbit! Round 3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371600"/>
            <a:ext cx="2743200" cy="2743200"/>
          </a:xfrm>
          <a:prstGeom prst="ellipse">
            <a:avLst/>
          </a:prstGeom>
          <a:solidFill>
            <a:srgbClr val="FF8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D3A4A"/>
                </a:solidFill>
                <a:latin typeface="Calibri"/>
              </a:rPr>
              <a:t>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828800"/>
            <a:ext cx="75895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2103120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78909C"/>
                </a:solidFill>
                <a:latin typeface="Calibri"/>
              </a:rPr>
              <a:t>Which word?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743200"/>
            <a:ext cx="7223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D3A4A"/>
                </a:solidFill>
                <a:latin typeface="Calibri"/>
              </a:rPr>
              <a:t>   BALL          BELL          BIG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9–10 min  |  Feed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10/29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D3A4A"/>
                </a:solidFill>
                <a:latin typeface="Georgia"/>
              </a:rPr>
              <a:t>Match the Word! 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035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D3A4A"/>
                </a:solidFill>
                <a:latin typeface="Calibri"/>
              </a:rPr>
              <a:t>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AB5"/>
                </a:solidFill>
                <a:latin typeface="Calibri"/>
              </a:rPr>
              <a:t>RABBIT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035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D3A4A"/>
                </a:solidFill>
                <a:latin typeface="Calibri"/>
              </a:rPr>
              <a:t>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AB5"/>
                </a:solidFill>
                <a:latin typeface="Calibri"/>
              </a:rPr>
              <a:t>TREE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53035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D3A4A"/>
                </a:solidFill>
                <a:latin typeface="Calibri"/>
              </a:rPr>
              <a:t>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297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AB5"/>
                </a:solidFill>
                <a:latin typeface="Calibri"/>
              </a:rPr>
              <a:t>BALL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657600"/>
            <a:ext cx="53035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114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D3A4A"/>
                </a:solidFill>
                <a:latin typeface="Calibri"/>
              </a:rPr>
              <a:t>☀️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297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AB5"/>
                </a:solidFill>
                <a:latin typeface="Calibri"/>
              </a:rPr>
              <a:t>SUN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10–11 min  |  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11/29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D3A4A"/>
                </a:solidFill>
                <a:latin typeface="Georgia"/>
              </a:rPr>
              <a:t>📖 The Little Rabbit  (Part 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4114800" cy="5029200"/>
          </a:xfrm>
          <a:prstGeom prst="round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2D3A4A"/>
                </a:solidFill>
                <a:latin typeface="Calibri"/>
              </a:rPr>
              <a:t>🐰🌳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05840"/>
            <a:ext cx="68580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Calibri"/>
              </a:rPr>
              <a:t>Ben is a little rabbit.
Ben lives near a big tree.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30352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8AB5"/>
                </a:solidFill>
                <a:latin typeface="Calibri"/>
              </a:rPr>
              <a:t>Teacher reads → You read → Together! 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11–12 min  |  Story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12/29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D3A4A"/>
                </a:solidFill>
                <a:latin typeface="Georgia"/>
              </a:rPr>
              <a:t>📖 The Little Rabbit  (Part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4114800" cy="5029200"/>
          </a:xfrm>
          <a:prstGeom prst="round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2D3A4A"/>
                </a:solidFill>
                <a:latin typeface="Calibri"/>
              </a:rPr>
              <a:t>☀️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05840"/>
            <a:ext cx="68580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Calibri"/>
              </a:rPr>
              <a:t>One sunny morning,
Ben goes outside.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30352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8AB5"/>
                </a:solidFill>
                <a:latin typeface="Calibri"/>
              </a:rPr>
              <a:t>Teacher reads → You read → Together! 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12–13 min  |  Story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13/29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D3A4A"/>
                </a:solidFill>
                <a:latin typeface="Georgia"/>
              </a:rPr>
              <a:t>📖 The Little Rabbit  (Part 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4114800" cy="5029200"/>
          </a:xfrm>
          <a:prstGeom prst="round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2D3A4A"/>
                </a:solidFill>
                <a:latin typeface="Calibri"/>
              </a:rPr>
              <a:t>🔴🏃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05840"/>
            <a:ext cx="68580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Calibri"/>
              </a:rPr>
              <a:t>He sees a red ball.
Ben runs to the ball.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30352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8AB5"/>
                </a:solidFill>
                <a:latin typeface="Calibri"/>
              </a:rPr>
              <a:t>Teacher reads → You read → Together! 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13–14 min  |  Story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14/29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D3A4A"/>
                </a:solidFill>
                <a:latin typeface="Georgia"/>
              </a:rPr>
              <a:t>📖 The Little Rabbit  (Part 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4114800" cy="5029200"/>
          </a:xfrm>
          <a:prstGeom prst="round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2D3A4A"/>
                </a:solidFill>
                <a:latin typeface="Calibri"/>
              </a:rPr>
              <a:t>🏃❓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05840"/>
            <a:ext cx="68580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Calibri"/>
              </a:rPr>
              <a:t>But the ball rolls away!
Ben follows the ball.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30352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8AB5"/>
                </a:solidFill>
                <a:latin typeface="Calibri"/>
              </a:rPr>
              <a:t>Teacher reads → You read → Together! 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14–15 min  |  Story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15/29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D3A4A"/>
                </a:solidFill>
                <a:latin typeface="Georgia"/>
              </a:rPr>
              <a:t>📖 The Little Rabbit  (Part 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4114800" cy="5029200"/>
          </a:xfrm>
          <a:prstGeom prst="round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2D3A4A"/>
                </a:solidFill>
                <a:latin typeface="Calibri"/>
              </a:rPr>
              <a:t>🐰😊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05840"/>
            <a:ext cx="68580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Calibri"/>
              </a:rPr>
              <a:t>The ball stops.
Ben finds the ball.
Ben smiles!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30352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8AB5"/>
                </a:solidFill>
                <a:latin typeface="Calibri"/>
              </a:rPr>
              <a:t>Teacher reads → You read → Together! 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15–16 min  |  Story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16/29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D3A4A"/>
                </a:solidFill>
                <a:latin typeface="Georgia"/>
              </a:rPr>
              <a:t>Read With Me! 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97480" cy="1691640"/>
          </a:xfrm>
          <a:prstGeom prst="roundRect">
            <a:avLst/>
          </a:prstGeom>
          <a:solidFill>
            <a:srgbClr val="FF8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7452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BEN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371600"/>
            <a:ext cx="2697480" cy="1691640"/>
          </a:xfrm>
          <a:prstGeom prst="round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87452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RABBIT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697480" cy="1691640"/>
          </a:xfrm>
          <a:prstGeom prst="roundRect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87452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TREE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371600"/>
            <a:ext cx="2697480" cy="169164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87452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BALL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2697480" cy="169164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3383280"/>
            <a:ext cx="2697480" cy="1691640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3886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83280"/>
            <a:ext cx="2697480" cy="1691640"/>
          </a:xfrm>
          <a:prstGeom prst="round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886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HOME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3383280"/>
            <a:ext cx="2697480" cy="1691640"/>
          </a:xfrm>
          <a:prstGeom prst="roundRect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3886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16–17 min  |  Word wall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17/29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Georgia"/>
              </a:rPr>
              <a:t>Find the Word! 🔍 (1)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2697480" cy="1691640"/>
          </a:xfrm>
          <a:prstGeom prst="roundRect">
            <a:avLst/>
          </a:prstGeom>
          <a:solidFill>
            <a:srgbClr val="FF8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RABBIT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417320"/>
            <a:ext cx="2697480" cy="1691640"/>
          </a:xfrm>
          <a:prstGeom prst="round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92024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2697480" cy="1691640"/>
          </a:xfrm>
          <a:prstGeom prst="roundRect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417320"/>
            <a:ext cx="2697480" cy="169164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92024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2697480" cy="169164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3383280"/>
            <a:ext cx="2697480" cy="1691640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3886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HOME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83280"/>
            <a:ext cx="2697480" cy="1691640"/>
          </a:xfrm>
          <a:prstGeom prst="roundRect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886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3383280"/>
            <a:ext cx="2697480" cy="1691640"/>
          </a:xfrm>
          <a:prstGeom prst="round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3886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692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D3A4A"/>
                </a:solidFill>
                <a:latin typeface="Calibri"/>
              </a:rPr>
              <a:t>Find: RABBIT  •  TREE  •  BALL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17–18 min  |  Find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18/29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Georgia"/>
              </a:rPr>
              <a:t>Find the Word! 🔍 (2)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2697480" cy="1691640"/>
          </a:xfrm>
          <a:prstGeom prst="roundRect">
            <a:avLst/>
          </a:prstGeom>
          <a:solidFill>
            <a:srgbClr val="FF8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RABBIT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417320"/>
            <a:ext cx="2697480" cy="1691640"/>
          </a:xfrm>
          <a:prstGeom prst="round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92024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2697480" cy="1691640"/>
          </a:xfrm>
          <a:prstGeom prst="roundRect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417320"/>
            <a:ext cx="2697480" cy="169164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92024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2697480" cy="169164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3383280"/>
            <a:ext cx="2697480" cy="1691640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3886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HOME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83280"/>
            <a:ext cx="2697480" cy="1691640"/>
          </a:xfrm>
          <a:prstGeom prst="roundRect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886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3383280"/>
            <a:ext cx="2697480" cy="1691640"/>
          </a:xfrm>
          <a:prstGeom prst="round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3886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692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D3A4A"/>
                </a:solidFill>
                <a:latin typeface="Calibri"/>
              </a:rPr>
              <a:t>Find: SUN  •  RUN  •  HOME  •  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18–19 min  |  Find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19/29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Georgia"/>
              </a:rPr>
              <a:t>Story Questions 🧠 (1)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3A4A"/>
                </a:solidFill>
                <a:latin typeface="Calibri"/>
              </a:rPr>
              <a:t>Who is the story about?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8909C"/>
                </a:solidFill>
                <a:latin typeface="Calibri"/>
              </a:rPr>
              <a:t>🐰 Rabbit     🐱 Cat     🐶 Dog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1124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3A4A"/>
                </a:solidFill>
                <a:latin typeface="Calibri"/>
              </a:rPr>
              <a:t>Where does Ben live?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8909C"/>
                </a:solidFill>
                <a:latin typeface="Calibri"/>
              </a:rPr>
              <a:t>🌳 Near a tree     🌊 In the sea     🚗 In a car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19–20 min  |  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20/29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Georgia"/>
              </a:rPr>
              <a:t>Story Questions 🧠 (2)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D3A4A"/>
                </a:solidFill>
                <a:latin typeface="Calibri"/>
              </a:rPr>
              <a:t>What does Ben see?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8909C"/>
                </a:solidFill>
                <a:latin typeface="Calibri"/>
              </a:rPr>
              <a:t>🔴 A ball     🍎 Apple     🚗 Car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88920"/>
            <a:ext cx="112471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D3A4A"/>
                </a:solidFill>
                <a:latin typeface="Calibri"/>
              </a:rPr>
              <a:t>What happens to the ball?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8909C"/>
                </a:solidFill>
                <a:latin typeface="Calibri"/>
              </a:rPr>
              <a:t>Rolls away     Flies up     Disappears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389120"/>
            <a:ext cx="112471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526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D3A4A"/>
                </a:solidFill>
                <a:latin typeface="Calibri"/>
              </a:rPr>
              <a:t>Was Ben happy at the end?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83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8909C"/>
                </a:solidFill>
                <a:latin typeface="Calibri"/>
              </a:rPr>
              <a:t>Yes 😊     No 😢     Not sure 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20–22 min  |  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21/29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Georgia"/>
              </a:rPr>
              <a:t>Complete the Sentence! 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112471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D3A4A"/>
                </a:solidFill>
                <a:latin typeface="Calibri"/>
              </a:rPr>
              <a:t>The rabbit can ____.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8909C"/>
                </a:solidFill>
                <a:latin typeface="Calibri"/>
              </a:rPr>
              <a:t>🏃 Run     😴 Sleep     🍎 Eat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11247120" cy="13258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D3A4A"/>
                </a:solidFill>
                <a:latin typeface="Calibri"/>
              </a:rPr>
              <a:t>The ball is ____.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8909C"/>
                </a:solidFill>
                <a:latin typeface="Calibri"/>
              </a:rPr>
              <a:t>🔴 Red     🌳 Green     ☀️ Yellow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51960"/>
            <a:ext cx="112471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D3A4A"/>
                </a:solidFill>
                <a:latin typeface="Calibri"/>
              </a:rPr>
              <a:t>Ben is a ____.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8909C"/>
                </a:solidFill>
                <a:latin typeface="Calibri"/>
              </a:rPr>
              <a:t>🐰 Rabbit     🐱 Cat     🐶 Dog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22–23 min  |  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22/29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D3A4A"/>
                </a:solidFill>
                <a:latin typeface="Georgia"/>
              </a:rPr>
              <a:t>Rhyme Time! 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2697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AB5"/>
                </a:solidFill>
                <a:latin typeface="Calibri"/>
              </a:rPr>
              <a:t>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8909C"/>
                </a:solidFill>
                <a:latin typeface="Calibri"/>
              </a:rPr>
              <a:t>rhymes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01752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3A4A"/>
                </a:solidFill>
                <a:latin typeface="Calibri"/>
              </a:rPr>
              <a:t>☀️ sun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63040"/>
            <a:ext cx="2697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8288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AB5"/>
                </a:solidFill>
                <a:latin typeface="Calibri"/>
              </a:rPr>
              <a:t>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5603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8909C"/>
                </a:solidFill>
                <a:latin typeface="Calibri"/>
              </a:rPr>
              <a:t>rhymes with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01752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3A4A"/>
                </a:solidFill>
                <a:latin typeface="Calibri"/>
              </a:rPr>
              <a:t>🐝 bee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2697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8288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AB5"/>
                </a:solidFill>
                <a:latin typeface="Calibri"/>
              </a:rPr>
              <a:t>BALL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5603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8909C"/>
                </a:solidFill>
                <a:latin typeface="Calibri"/>
              </a:rPr>
              <a:t>rhymes with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01752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3A4A"/>
                </a:solidFill>
                <a:latin typeface="Calibri"/>
              </a:rPr>
              <a:t>🏠 hall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463040"/>
            <a:ext cx="2697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8288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AB5"/>
                </a:solidFill>
                <a:latin typeface="Calibri"/>
              </a:rPr>
              <a:t>CAT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5603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8909C"/>
                </a:solidFill>
                <a:latin typeface="Calibri"/>
              </a:rPr>
              <a:t>rhymes with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01752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3A4A"/>
                </a:solidFill>
                <a:latin typeface="Calibri"/>
              </a:rPr>
              <a:t>🎩 hat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23–24 min  |  Rhyme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23/29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D3A4A"/>
                </a:solidFill>
                <a:latin typeface="Georgia"/>
              </a:rPr>
              <a:t>Mini Brain Break! 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D3A4A"/>
                </a:solidFill>
                <a:latin typeface="Calibri"/>
              </a:rPr>
              <a:t>1. Wiggle bunny nose 👃
2. Flop bunny ears 🐰
3. Stretch arms to the sun ☀️
4. Take a big smile breath 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24 min  | 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24/29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D3A4A"/>
                </a:solidFill>
                <a:latin typeface="Georgia"/>
              </a:rPr>
              <a:t>Tell Me a Story! 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38328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D3A4A"/>
                </a:solidFill>
                <a:latin typeface="Calibri"/>
              </a:rPr>
              <a:t>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8AB5"/>
                </a:solidFill>
                <a:latin typeface="Calibri"/>
              </a:rPr>
              <a:t>WHO?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7373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D3A4A"/>
                </a:solidFill>
                <a:latin typeface="Calibri"/>
              </a:rPr>
              <a:t>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0175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8AB5"/>
                </a:solidFill>
                <a:latin typeface="Calibri"/>
              </a:rPr>
              <a:t>WHERE?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371600"/>
            <a:ext cx="338328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17373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D3A4A"/>
                </a:solidFill>
                <a:latin typeface="Calibri"/>
              </a:rPr>
              <a:t>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30175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8AB5"/>
                </a:solidFill>
                <a:latin typeface="Calibri"/>
              </a:rPr>
              <a:t>WHAT?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24–26 min  |  Storytell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25/29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Georgia"/>
              </a:rPr>
              <a:t>Reading Challenge ⚡ (1)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103327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3A4A"/>
                </a:solidFill>
                <a:latin typeface="Calibri"/>
              </a:rPr>
              <a:t>1. I see a rabbit.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600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D54F"/>
                </a:solidFill>
                <a:latin typeface="Calibri"/>
              </a:rPr>
              <a:t>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14600"/>
            <a:ext cx="10332720" cy="1051560"/>
          </a:xfrm>
          <a:prstGeom prst="round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3A4A"/>
                </a:solidFill>
                <a:latin typeface="Calibri"/>
              </a:rPr>
              <a:t>2. The sun is hot.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28346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D54F"/>
                </a:solidFill>
                <a:latin typeface="Calibri"/>
              </a:rPr>
              <a:t>⭐⭐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749039"/>
            <a:ext cx="103327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59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3A4A"/>
                </a:solidFill>
                <a:latin typeface="Calibri"/>
              </a:rPr>
              <a:t>3. The rabbit can run.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406907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D54F"/>
                </a:solidFill>
                <a:latin typeface="Calibri"/>
              </a:rPr>
              <a:t>⭐⭐⭐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26–27 min  |  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26/29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Georgia"/>
              </a:rPr>
              <a:t>Reading Challenge ⚡ (2)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103327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3A4A"/>
                </a:solidFill>
                <a:latin typeface="Calibri"/>
              </a:rPr>
              <a:t>1. I see a red ball.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600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D54F"/>
                </a:solidFill>
                <a:latin typeface="Calibri"/>
              </a:rPr>
              <a:t>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14600"/>
            <a:ext cx="10332720" cy="1051560"/>
          </a:xfrm>
          <a:prstGeom prst="round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3A4A"/>
                </a:solidFill>
                <a:latin typeface="Calibri"/>
              </a:rPr>
              <a:t>2. The ball is big.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28346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D54F"/>
                </a:solidFill>
                <a:latin typeface="Calibri"/>
              </a:rPr>
              <a:t>⭐⭐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749039"/>
            <a:ext cx="103327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59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3A4A"/>
                </a:solidFill>
                <a:latin typeface="Calibri"/>
              </a:rPr>
              <a:t>3. Ben can run fast.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406907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D54F"/>
                </a:solidFill>
                <a:latin typeface="Calibri"/>
              </a:rPr>
              <a:t>⭐⭐⭐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27–28 min  |  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27/29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D3A4A"/>
                </a:solidFill>
                <a:latin typeface="Georgia"/>
              </a:rPr>
              <a:t>Quick Recap 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D3A4A"/>
                </a:solidFill>
                <a:latin typeface="Calibri"/>
              </a:rPr>
              <a:t>•  What did we read today?</a:t>
            </a:r>
          </a:p>
          <a:p>
            <a:pPr algn="l"/>
            <a:r>
              <a:rPr sz="2200" b="0">
                <a:solidFill>
                  <a:srgbClr val="2D3A4A"/>
                </a:solidFill>
                <a:latin typeface="Calibri"/>
              </a:rPr>
              <a:t>•  Favorite word?</a:t>
            </a:r>
          </a:p>
          <a:p>
            <a:pPr algn="l"/>
            <a:r>
              <a:rPr sz="2200" b="0">
                <a:solidFill>
                  <a:srgbClr val="2D3A4A"/>
                </a:solidFill>
                <a:latin typeface="Calibri"/>
              </a:rPr>
              <a:t>•  Who was in the story?</a:t>
            </a:r>
          </a:p>
          <a:p>
            <a:pPr algn="l"/>
            <a:r>
              <a:rPr sz="2200" b="0">
                <a:solidFill>
                  <a:srgbClr val="2D3A4A"/>
                </a:solidFill>
                <a:latin typeface="Calibri"/>
              </a:rPr>
              <a:t>•  What happened to the ball?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28–29 min  | 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28/29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822960"/>
            <a:ext cx="850392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0" y="1188720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8AB5"/>
                </a:solidFill>
                <a:latin typeface="Georgia"/>
              </a:rPr>
              <a:t>🏆 READING STAR! 🏆</a:t>
            </a:r>
          </a:p>
        </p:txBody>
      </p:sp>
      <p:sp>
        <p:nvSpPr>
          <p:cNvPr id="5" name="Oval 4"/>
          <p:cNvSpPr/>
          <p:nvPr/>
        </p:nvSpPr>
        <p:spPr>
          <a:xfrm>
            <a:off x="4846320" y="2011680"/>
            <a:ext cx="2468880" cy="2468880"/>
          </a:xfrm>
          <a:prstGeom prst="ellipse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24231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D3A4A"/>
                </a:solidFill>
                <a:latin typeface="Calibri"/>
              </a:rPr>
              <a:t>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572000"/>
            <a:ext cx="79552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D3A4A"/>
                </a:solidFill>
                <a:latin typeface="Calibri"/>
              </a:rPr>
              <a:t>Great job!
You read words!
You read a story!
You told a story!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29–30 min  |  Reward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29/29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