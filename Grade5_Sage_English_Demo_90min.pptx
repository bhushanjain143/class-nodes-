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"Hi Sage! Welcome to your English adventure. I'm so happy you're here today!"</a:t>
            </a:r>
          </a:p>
          <a:p>
            <a:r>
              <a:t>Smile, wave, and keep energy high.</a:t>
            </a:r>
          </a:p>
          <a:p>
            <a:r>
              <a:t>EXPECTED: Smile, greeting, maybe shy "hello."</a:t>
            </a:r>
          </a:p>
          <a:p>
            <a:r>
              <a:t>FOLLOW-UP: "Are you ready for some fun English games?"</a:t>
            </a:r>
          </a:p>
          <a:p>
            <a:r>
              <a:t>ASSESS: First impression of confidence and willingness to speak.</a:t>
            </a:r>
          </a:p>
          <a:p>
            <a:r>
              <a:t>TIMING: 1–2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Introduce yourself warmly. Share name, fun fact, favorite book.</a:t>
            </a:r>
          </a:p>
          <a:p>
            <a:r>
              <a:t>Then point to Sage's card: "Now tell me about you!"</a:t>
            </a:r>
          </a:p>
          <a:p>
            <a:r>
              <a:t>ASK one question at a time. Wait patiently.</a:t>
            </a:r>
          </a:p>
          <a:p>
            <a:r>
              <a:t>EXPECTED: Short answers; encourage full sentences: "I study at…"</a:t>
            </a:r>
          </a:p>
          <a:p>
            <a:r>
              <a:t>FOLLOW-UP: "That's awesome! Tell me one more thing about your hobby."</a:t>
            </a:r>
          </a:p>
          <a:p>
            <a:r>
              <a:t>ASSESS: Pronunciation, fluency, confidence, listening.</a:t>
            </a:r>
          </a:p>
          <a:p>
            <a:r>
              <a:t>TIMING: 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Would You Rather! Pick one option and tell me WHY in a full sentence."</a:t>
            </a:r>
          </a:p>
          <a:p>
            <a:r>
              <a:t>Model first: "I would rather ride a unicorn because it looks magical!"</a:t>
            </a:r>
          </a:p>
          <a:p>
            <a:r>
              <a:t>Do 5–8 questions depending on energy. Keep it playful.</a:t>
            </a:r>
          </a:p>
          <a:p>
            <a:r>
              <a:t>EXPECTED: Full sentences with because.</a:t>
            </a:r>
          </a:p>
          <a:p>
            <a:r>
              <a:t>FOLLOW-UP: "Interesting! Can you add one more reason?"</a:t>
            </a:r>
          </a:p>
          <a:p>
            <a:r>
              <a:t>ASSESS: Speaking fluency, vocabulary, confidence, sentence structure.</a:t>
            </a:r>
          </a:p>
          <a:p>
            <a:r>
              <a:t>TIMING: 10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each prompt slowly. Give Sage 20–30 seconds think time.</a:t>
            </a:r>
          </a:p>
          <a:p>
            <a:r>
              <a:t>Encourage 3–5 sentences, not one-word answers.</a:t>
            </a:r>
          </a:p>
          <a:p>
            <a:r>
              <a:t>EXPECTED: Past tense on weekend; imaginative language on superpower.</a:t>
            </a:r>
          </a:p>
          <a:p>
            <a:r>
              <a:t>FOLLOW-UP: "What happened next?" "How did that make you feel?"</a:t>
            </a:r>
          </a:p>
          <a:p>
            <a:r>
              <a:t>ASSESS: Fluency, pronunciation, vocabulary range, confidence.</a:t>
            </a:r>
          </a:p>
          <a:p>
            <a:r>
              <a:t>TIMING: 5 minutes (part of intro block).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"Today's story is The Lost Puppy. First I'll read; then you can read parts."</a:t>
            </a:r>
          </a:p>
          <a:p>
            <a:r>
              <a:t>Teacher reads with expression. Then Sage reads 1–2 paragraphs.</a:t>
            </a:r>
          </a:p>
          <a:p>
            <a:r>
              <a:t>Help with tricky words gently (cheerfully, whimper, dialed).</a:t>
            </a:r>
          </a:p>
          <a:p>
            <a:r>
              <a:t>EXPECTED: Follow along; ask about unknown words.</a:t>
            </a:r>
          </a:p>
          <a:p>
            <a:r>
              <a:t>FOLLOW-UP: "Which part did you like most?"</a:t>
            </a:r>
          </a:p>
          <a:p>
            <a:r>
              <a:t>ASSESS: Decoding, fluency, expression, comprehension while listening.</a:t>
            </a:r>
          </a:p>
          <a:p>
            <a:r>
              <a:t>TIMING: ~8–10 minutes of the 20-min reading block.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questions one by one. Celebrate evidence: "Where in the story did you find that?"</a:t>
            </a:r>
          </a:p>
          <a:p>
            <a:r>
              <a:t>EXPECTED ANSWERS (preview): B; C; False; True; water; poster; kindness/helping; B.</a:t>
            </a:r>
          </a:p>
          <a:p>
            <a:r>
              <a:t>FOLLOW-UP for #7: "What clue in the text shows her pride?"</a:t>
            </a:r>
          </a:p>
          <a:p>
            <a:r>
              <a:t>ASSESS: Literal vs inferential understanding; vocabulary in context.</a:t>
            </a:r>
          </a:p>
          <a:p>
            <a:r>
              <a:t>Full answer key on Slide 23.</a:t>
            </a:r>
          </a:p>
          <a:p>
            <a:r>
              <a:t>TIMING: ~8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"Pretend I'm a friend who hasn't heard the story. Retell it using these four steps."</a:t>
            </a:r>
          </a:p>
          <a:p>
            <a:r>
              <a:t>Allow notes if needed; discourage reading the passage word-for-word.</a:t>
            </a:r>
          </a:p>
          <a:p>
            <a:r>
              <a:t>EXPECTED: Clear sequence; past tense; key details (Coco, poster, Ava).</a:t>
            </a:r>
          </a:p>
          <a:p>
            <a:r>
              <a:t>FOLLOW-UP: "Can you add how Mia felt when she first saw the puppy?"</a:t>
            </a:r>
          </a:p>
          <a:p>
            <a:r>
              <a:t>ASSESS: Oral organization, vocabulary, grammar in speech, confidence.</a:t>
            </a:r>
          </a:p>
          <a:p>
            <a:r>
              <a:t>TIMING: ~5 minutes (end of reading block).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each part with finger gestures (point for noun, act for verb, paint for adjective, speed for adverb).</a:t>
            </a:r>
          </a:p>
          <a:p>
            <a:r>
              <a:t>Use story examples so grammar connects to reading.</a:t>
            </a:r>
          </a:p>
          <a:p>
            <a:r>
              <a:t>EXPECTED: Sage can give one new example for each.</a:t>
            </a:r>
          </a:p>
          <a:p>
            <a:r>
              <a:t>FOLLOW-UP: "Is 'quickly' an adjective or adverb? Why?"</a:t>
            </a:r>
          </a:p>
          <a:p>
            <a:r>
              <a:t>ASSESS: Concept understanding before practice.</a:t>
            </a:r>
          </a:p>
          <a:p>
            <a:r>
              <a:t>TIMING: ~6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like live drag-and-drop: Sage says or points to the word.</a:t>
            </a:r>
          </a:p>
          <a:p>
            <a:r>
              <a:t>ANSWERS: walked; tiny/brown; birds; gently; Happy(adj) Ava(n) quickly(adv) hugged(v) Coco(n).</a:t>
            </a:r>
          </a:p>
          <a:p>
            <a:r>
              <a:t>For task 6, praise creativity.</a:t>
            </a:r>
          </a:p>
          <a:p>
            <a:r>
              <a:t>FOLLOW-UP: "Can you change the adjective to make a new meaning?"</a:t>
            </a:r>
          </a:p>
          <a:p>
            <a:r>
              <a:t>ASSESS: Accuracy + reasoning.</a:t>
            </a:r>
          </a:p>
          <a:p>
            <a:r>
              <a:t>TIMING: ~7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through one question at a time verbally. Celebrate streaks.</a:t>
            </a:r>
          </a:p>
          <a:p>
            <a:r>
              <a:t>ANSWERS: 1B 2C 3B 4A 5B 6A 7B 8A 9B 10A (also on Slide 23).</a:t>
            </a:r>
          </a:p>
          <a:p>
            <a:r>
              <a:t>If wrong, teach the "why" in 10 seconds, then move on.</a:t>
            </a:r>
          </a:p>
          <a:p>
            <a:r>
              <a:t>ASSESS: Speed + accuracy under light pressure.</a:t>
            </a:r>
          </a:p>
          <a:p>
            <a:r>
              <a:t>TIMING: ~7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8–12 words based on time. Say → student repeats → meaning → example.</a:t>
            </a:r>
          </a:p>
          <a:p>
            <a:r>
              <a:t>Act out soar, breeze, drizzle for memory.</a:t>
            </a:r>
          </a:p>
          <a:p>
            <a:r>
              <a:t>EXPECTED: Correct repetition; attempt own sentence for 2–3 words.</a:t>
            </a:r>
          </a:p>
          <a:p>
            <a:r>
              <a:t>FOLLOW-UP: "Which word fits: soft wind?"</a:t>
            </a:r>
          </a:p>
          <a:p>
            <a:r>
              <a:t>ASSESS: Pronunciation + meaning retention.</a:t>
            </a:r>
          </a:p>
          <a:p>
            <a:r>
              <a:t>TIMING: ~7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Sage draws imaginary lines or says "1 goes with B."</a:t>
            </a:r>
          </a:p>
          <a:p>
            <a:r>
              <a:t>KEY: 1-B, 2-D, 3-A, 4-E, 5-F, 6-C.</a:t>
            </a:r>
          </a:p>
          <a:p>
            <a:r>
              <a:t>Keep score for fun (not pressure).</a:t>
            </a:r>
          </a:p>
          <a:p>
            <a:r>
              <a:t>ASSESS: Word-meaning mapping speed.</a:t>
            </a:r>
          </a:p>
          <a:p>
            <a:r>
              <a:t>TIMING: ~4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synonym = similar, antonym = opposite with hand gestures.</a:t>
            </a:r>
          </a:p>
          <a:p>
            <a:r>
              <a:t>EXPECTED: big→large/huge; kind→mean/unkind/cruel.</a:t>
            </a:r>
          </a:p>
          <a:p>
            <a:r>
              <a:t>Connect to passage: tiny/sad/proud.</a:t>
            </a:r>
          </a:p>
          <a:p>
            <a:r>
              <a:t>ASSESS: Lexical flexibility.</a:t>
            </a:r>
          </a:p>
          <a:p>
            <a:r>
              <a:t>TIMING: ~4 minutes (end vocab block).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"Use the picture. Invent a NEW story (not only The Lost Puppy)."</a:t>
            </a:r>
          </a:p>
          <a:p>
            <a:r>
              <a:t>Give 30 seconds planning. Aim for 6–10 sentences.</a:t>
            </a:r>
          </a:p>
          <a:p>
            <a:r>
              <a:t>EXPECTED: Clear who/where/problem/solution; creative details.</a:t>
            </a:r>
          </a:p>
          <a:p>
            <a:r>
              <a:t>FOLLOW-UP: "Add one nature vocabulary word from today!"</a:t>
            </a:r>
          </a:p>
          <a:p>
            <a:r>
              <a:t>ASSESS: Creativity, coherence, grammar in extended speech.</a:t>
            </a:r>
          </a:p>
          <a:p>
            <a:r>
              <a:t>TIMING: ~5 minutes of storytelling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describes for 60–90 seconds using all four boxes.</a:t>
            </a:r>
          </a:p>
          <a:p>
            <a:r>
              <a:t>Push adjectives: colorful, excited, noisy, delicious.</a:t>
            </a:r>
          </a:p>
          <a:p>
            <a:r>
              <a:t>ASSESS: Observation language, present continuous (are laughing).</a:t>
            </a:r>
          </a:p>
          <a:p>
            <a:r>
              <a:t>TIMING: ~3 minutes.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Sage choose one role. Teacher can be the audience/interviewer.</a:t>
            </a:r>
          </a:p>
          <a:p>
            <a:r>
              <a:t>EXPECTED: Imaginative language; attempt formal tone for reporter.</a:t>
            </a:r>
          </a:p>
          <a:p>
            <a:r>
              <a:t>FOLLOW-UP: "What happens next in your news story?"</a:t>
            </a:r>
          </a:p>
          <a:p>
            <a:r>
              <a:t>ASSESS: Confidence, creativity, pronunciation under performance.</a:t>
            </a:r>
          </a:p>
          <a:p>
            <a:r>
              <a:t>TIMING: ~2 minutes (flex if early).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clearly; clap syllables. Do 6–10 words based on time.</a:t>
            </a:r>
          </a:p>
          <a:p>
            <a:r>
              <a:t>Common errors: library (not lie-berry), Wednesday (silent d).</a:t>
            </a:r>
          </a:p>
          <a:p>
            <a:r>
              <a:t>EXPECTED: Improved approximation after 2 repeats.</a:t>
            </a:r>
          </a:p>
          <a:p>
            <a:r>
              <a:t>ASSESS: Segmentals + confidence saying hard words aloud.</a:t>
            </a:r>
          </a:p>
          <a:p>
            <a:r>
              <a:t>TIMING: 3 minutes (squeeze into speaking/story block if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Rapid-fire quiz. Keep celebratory tone.</a:t>
            </a:r>
          </a:p>
          <a:p>
            <a:r>
              <a:t>ANSWERS: B, B, C, B, A, A, B, B.</a:t>
            </a:r>
          </a:p>
          <a:p>
            <a:r>
              <a:t>ASSESS: Retention across skills.</a:t>
            </a:r>
          </a:p>
          <a:p>
            <a:r>
              <a:t>TIMING: ~4 minutes before assessment/recap.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privately during/after class (do not stress Sage).</a:t>
            </a:r>
          </a:p>
          <a:p>
            <a:r>
              <a:t>1=emerging … 5=excellent for Grade 5 demo expectations.</a:t>
            </a:r>
          </a:p>
          <a:p>
            <a:r>
              <a:t>Note 1 strength + 1 growth area for parents.</a:t>
            </a:r>
          </a:p>
          <a:p>
            <a:r>
              <a:t>TIMING: Ongoing observation; finalize in last 2 minutes.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student-led recap. Ask favorite activity.</a:t>
            </a:r>
          </a:p>
          <a:p>
            <a:r>
              <a:t>EXPECTED: Mentions a game/story/word.</a:t>
            </a:r>
          </a:p>
          <a:p>
            <a:r>
              <a:t>End with specific praise: "Your evidence answers were excellent!"</a:t>
            </a:r>
          </a:p>
          <a:p>
            <a:r>
              <a:t>TIMING: 5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homework clearly; keep it light and doable (15–20 min).</a:t>
            </a:r>
          </a:p>
          <a:p>
            <a:r>
              <a:t>Optional share next class.</a:t>
            </a:r>
          </a:p>
          <a:p>
            <a:r>
              <a:t>TIMING: 1–2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Celebrate specifically: name 2 strengths observed.</a:t>
            </a:r>
          </a:p>
          <a:p>
            <a:r>
              <a:t>Thank Sage and parents if present.</a:t>
            </a:r>
          </a:p>
          <a:p>
            <a:r>
              <a:t>Invite questions.</a:t>
            </a:r>
          </a:p>
          <a:p>
            <a:r>
              <a:t>TIMING: 1–2 minutes closing.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reference only — reveal after student attempts.</a:t>
            </a:r>
          </a:p>
          <a:p>
            <a:r>
              <a:t>Use to confirm scoring and parent feedback examples.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key. Reveal answers with celebration animations verbally ("Ding!").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map to stay on pace. If Sage needs more speaking time, shorten quiz.</a:t>
            </a:r>
          </a:p>
          <a:p>
            <a:r>
              <a:t>Pronunciation slide is flexible—insert when energy dips.</a:t>
            </a:r>
          </a:p>
          <a:p>
            <a:r>
              <a:t>Parent wow factor: specific praise + clear next step (homework).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914400"/>
            <a:ext cx="3474720" cy="3474720"/>
          </a:xfrm>
          <a:prstGeom prst="ellipse">
            <a:avLst/>
          </a:prstGeom>
          <a:solidFill>
            <a:srgbClr val="154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4754880"/>
            <a:ext cx="2926080" cy="2926080"/>
          </a:xfrm>
          <a:prstGeom prst="ellipse">
            <a:avLst/>
          </a:prstGeom>
          <a:solidFill>
            <a:srgbClr val="124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005840"/>
            <a:ext cx="777240" cy="77724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7043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8" name="Oval 7"/>
          <p:cNvSpPr/>
          <p:nvPr/>
        </p:nvSpPr>
        <p:spPr>
          <a:xfrm>
            <a:off x="1828800" y="822960"/>
            <a:ext cx="777240" cy="7772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98755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0" name="Oval 9"/>
          <p:cNvSpPr/>
          <p:nvPr/>
        </p:nvSpPr>
        <p:spPr>
          <a:xfrm>
            <a:off x="10241280" y="1188720"/>
            <a:ext cx="777240" cy="777240"/>
          </a:xfrm>
          <a:prstGeom prst="ellipse">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0" y="135331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2" name="Oval 11"/>
          <p:cNvSpPr/>
          <p:nvPr/>
        </p:nvSpPr>
        <p:spPr>
          <a:xfrm>
            <a:off x="11155680" y="2194560"/>
            <a:ext cx="777240" cy="77724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0" y="235915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4" name="Oval 13"/>
          <p:cNvSpPr/>
          <p:nvPr/>
        </p:nvSpPr>
        <p:spPr>
          <a:xfrm>
            <a:off x="1097280" y="5029200"/>
            <a:ext cx="777240" cy="777240"/>
          </a:xfrm>
          <a:prstGeom prst="ellipse">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19379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6" name="TextBox 15"/>
          <p:cNvSpPr txBox="1"/>
          <p:nvPr/>
        </p:nvSpPr>
        <p:spPr>
          <a:xfrm>
            <a:off x="731520" y="2011680"/>
            <a:ext cx="10698480" cy="365760"/>
          </a:xfrm>
          <a:prstGeom prst="rect">
            <a:avLst/>
          </a:prstGeom>
          <a:noFill/>
        </p:spPr>
        <p:txBody>
          <a:bodyPr wrap="square">
            <a:spAutoFit/>
          </a:bodyPr>
          <a:lstStyle/>
          <a:p>
            <a:pPr algn="ctr"/>
            <a:r>
              <a:rPr sz="1800" b="1">
                <a:solidFill>
                  <a:srgbClr val="FFC107"/>
                </a:solidFill>
                <a:latin typeface="Calibri"/>
              </a:rPr>
              <a:t>HELLO, SAGE!</a:t>
            </a:r>
          </a:p>
        </p:txBody>
      </p:sp>
      <p:sp>
        <p:nvSpPr>
          <p:cNvPr id="17" name="TextBox 16"/>
          <p:cNvSpPr txBox="1"/>
          <p:nvPr/>
        </p:nvSpPr>
        <p:spPr>
          <a:xfrm>
            <a:off x="731520" y="2468880"/>
            <a:ext cx="10698480" cy="1097280"/>
          </a:xfrm>
          <a:prstGeom prst="rect">
            <a:avLst/>
          </a:prstGeom>
          <a:noFill/>
        </p:spPr>
        <p:txBody>
          <a:bodyPr wrap="square">
            <a:spAutoFit/>
          </a:bodyPr>
          <a:lstStyle/>
          <a:p>
            <a:pPr algn="ctr"/>
            <a:r>
              <a:rPr sz="4000" b="1">
                <a:solidFill>
                  <a:srgbClr val="FFFFFF"/>
                </a:solidFill>
                <a:latin typeface="Georgia"/>
              </a:rPr>
              <a:t>Welcome to Your
English Adventure!</a:t>
            </a:r>
          </a:p>
        </p:txBody>
      </p:sp>
      <p:sp>
        <p:nvSpPr>
          <p:cNvPr id="18" name="TextBox 17"/>
          <p:cNvSpPr txBox="1"/>
          <p:nvPr/>
        </p:nvSpPr>
        <p:spPr>
          <a:xfrm>
            <a:off x="731520" y="4114800"/>
            <a:ext cx="10698480" cy="365760"/>
          </a:xfrm>
          <a:prstGeom prst="rect">
            <a:avLst/>
          </a:prstGeom>
          <a:noFill/>
        </p:spPr>
        <p:txBody>
          <a:bodyPr wrap="square">
            <a:spAutoFit/>
          </a:bodyPr>
          <a:lstStyle/>
          <a:p>
            <a:pPr algn="ctr"/>
            <a:r>
              <a:rPr sz="1800" b="0">
                <a:solidFill>
                  <a:srgbClr val="BBDEFB"/>
                </a:solidFill>
                <a:latin typeface="Calibri"/>
              </a:rPr>
              <a:t>Grade 5 English Demo Class  •  90 Minutes</a:t>
            </a:r>
          </a:p>
        </p:txBody>
      </p:sp>
      <p:sp>
        <p:nvSpPr>
          <p:cNvPr id="19" name="Rectangle 18"/>
          <p:cNvSpPr/>
          <p:nvPr/>
        </p:nvSpPr>
        <p:spPr>
          <a:xfrm>
            <a:off x="0" y="5212080"/>
            <a:ext cx="12191695" cy="1645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486400"/>
            <a:ext cx="10698480" cy="365760"/>
          </a:xfrm>
          <a:prstGeom prst="rect">
            <a:avLst/>
          </a:prstGeom>
          <a:noFill/>
        </p:spPr>
        <p:txBody>
          <a:bodyPr wrap="square">
            <a:spAutoFit/>
          </a:bodyPr>
          <a:lstStyle/>
          <a:p>
            <a:pPr algn="ctr"/>
            <a:r>
              <a:rPr sz="1600" b="0">
                <a:solidFill>
                  <a:srgbClr val="FFFFFF"/>
                </a:solidFill>
                <a:latin typeface="Calibri"/>
              </a:rPr>
              <a:t>Reading  •  Speaking  •  Grammar  •  Vocabulary  •  Pronunciation  •  Fun!</a:t>
            </a:r>
          </a:p>
        </p:txBody>
      </p:sp>
      <p:sp>
        <p:nvSpPr>
          <p:cNvPr id="21" name="TextBox 20"/>
          <p:cNvSpPr txBox="1"/>
          <p:nvPr/>
        </p:nvSpPr>
        <p:spPr>
          <a:xfrm>
            <a:off x="731520" y="5989320"/>
            <a:ext cx="10698480" cy="320040"/>
          </a:xfrm>
          <a:prstGeom prst="rect">
            <a:avLst/>
          </a:prstGeom>
          <a:noFill/>
        </p:spPr>
        <p:txBody>
          <a:bodyPr wrap="square">
            <a:spAutoFit/>
          </a:bodyPr>
          <a:lstStyle/>
          <a:p>
            <a:pPr algn="ctr"/>
            <a:r>
              <a:rPr sz="1500" b="0">
                <a:solidFill>
                  <a:srgbClr val="FFF8E1"/>
                </a:solidFill>
                <a:latin typeface="Calibri"/>
              </a:rPr>
              <a:t>Let's learn, play, and shine together ✨</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LET'S MEET!</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Intro • 5 min</a:t>
            </a:r>
          </a:p>
        </p:txBody>
      </p:sp>
      <p:sp>
        <p:nvSpPr>
          <p:cNvPr id="8" name="TextBox 7"/>
          <p:cNvSpPr txBox="1"/>
          <p:nvPr/>
        </p:nvSpPr>
        <p:spPr>
          <a:xfrm>
            <a:off x="365760" y="731520"/>
            <a:ext cx="10972800" cy="411480"/>
          </a:xfrm>
          <a:prstGeom prst="rect">
            <a:avLst/>
          </a:prstGeom>
          <a:noFill/>
        </p:spPr>
        <p:txBody>
          <a:bodyPr wrap="square">
            <a:spAutoFit/>
          </a:bodyPr>
          <a:lstStyle/>
          <a:p>
            <a:pPr algn="l"/>
            <a:r>
              <a:rPr sz="2800" b="1">
                <a:solidFill>
                  <a:srgbClr val="0B3D91"/>
                </a:solidFill>
                <a:latin typeface="Georgia"/>
              </a:rPr>
              <a:t>Teacher Introduction</a:t>
            </a:r>
          </a:p>
        </p:txBody>
      </p:sp>
      <p:sp>
        <p:nvSpPr>
          <p:cNvPr id="9" name="Rounded Rectangle 8"/>
          <p:cNvSpPr/>
          <p:nvPr/>
        </p:nvSpPr>
        <p:spPr>
          <a:xfrm>
            <a:off x="365760" y="1371600"/>
            <a:ext cx="557784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1645920"/>
            <a:ext cx="777240" cy="777240"/>
          </a:xfrm>
          <a:prstGeom prst="ellipse">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1051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2" name="TextBox 11"/>
          <p:cNvSpPr txBox="1"/>
          <p:nvPr/>
        </p:nvSpPr>
        <p:spPr>
          <a:xfrm>
            <a:off x="1554480" y="1783080"/>
            <a:ext cx="4114800" cy="365760"/>
          </a:xfrm>
          <a:prstGeom prst="rect">
            <a:avLst/>
          </a:prstGeom>
          <a:noFill/>
        </p:spPr>
        <p:txBody>
          <a:bodyPr wrap="square">
            <a:spAutoFit/>
          </a:bodyPr>
          <a:lstStyle/>
          <a:p>
            <a:pPr algn="l"/>
            <a:r>
              <a:rPr sz="1800" b="1">
                <a:solidFill>
                  <a:srgbClr val="0B3D91"/>
                </a:solidFill>
                <a:latin typeface="Calibri"/>
              </a:rPr>
              <a:t>Your Teacher Today</a:t>
            </a:r>
          </a:p>
        </p:txBody>
      </p:sp>
      <p:sp>
        <p:nvSpPr>
          <p:cNvPr id="13" name="TextBox 12"/>
          <p:cNvSpPr txBox="1"/>
          <p:nvPr/>
        </p:nvSpPr>
        <p:spPr>
          <a:xfrm>
            <a:off x="640080" y="2651760"/>
            <a:ext cx="5029200" cy="3017520"/>
          </a:xfrm>
          <a:prstGeom prst="rect">
            <a:avLst/>
          </a:prstGeom>
          <a:noFill/>
        </p:spPr>
        <p:txBody>
          <a:bodyPr wrap="square">
            <a:spAutoFit/>
          </a:bodyPr>
          <a:lstStyle/>
          <a:p>
            <a:pPr>
              <a:spcAft>
                <a:spcPts val="800"/>
              </a:spcAft>
            </a:pPr>
            <a:r>
              <a:rPr sz="1600" b="0">
                <a:solidFill>
                  <a:srgbClr val="1A2337"/>
                </a:solidFill>
                <a:latin typeface="Calibri"/>
              </a:rPr>
              <a:t>•  Name: (Say your name here)</a:t>
            </a:r>
          </a:p>
          <a:p>
            <a:pPr>
              <a:spcAft>
                <a:spcPts val="800"/>
              </a:spcAft>
            </a:pPr>
            <a:r>
              <a:rPr sz="1600" b="0">
                <a:solidFill>
                  <a:srgbClr val="1A2337"/>
                </a:solidFill>
                <a:latin typeface="Calibri"/>
              </a:rPr>
              <a:t>•  Fun fact: I love turning English into games!</a:t>
            </a:r>
          </a:p>
          <a:p>
            <a:pPr>
              <a:spcAft>
                <a:spcPts val="800"/>
              </a:spcAft>
            </a:pPr>
            <a:r>
              <a:rPr sz="1600" b="0">
                <a:solidFill>
                  <a:srgbClr val="1A2337"/>
                </a:solidFill>
                <a:latin typeface="Calibri"/>
              </a:rPr>
              <a:t>•  Favorite book: Charlotte's Web</a:t>
            </a:r>
          </a:p>
          <a:p>
            <a:pPr>
              <a:spcAft>
                <a:spcPts val="800"/>
              </a:spcAft>
            </a:pPr>
            <a:r>
              <a:rPr sz="1600" b="0">
                <a:solidFill>
                  <a:srgbClr val="1A2337"/>
                </a:solidFill>
                <a:latin typeface="Calibri"/>
              </a:rPr>
              <a:t>•  Goal today: Help Sage shine in English</a:t>
            </a:r>
          </a:p>
        </p:txBody>
      </p:sp>
      <p:sp>
        <p:nvSpPr>
          <p:cNvPr id="14" name="Rounded Rectangle 13"/>
          <p:cNvSpPr/>
          <p:nvPr/>
        </p:nvSpPr>
        <p:spPr>
          <a:xfrm>
            <a:off x="6217920" y="1371600"/>
            <a:ext cx="5577840" cy="46634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92240" y="1645920"/>
            <a:ext cx="777240" cy="7772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1051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7" name="TextBox 16"/>
          <p:cNvSpPr txBox="1"/>
          <p:nvPr/>
        </p:nvSpPr>
        <p:spPr>
          <a:xfrm>
            <a:off x="7406640" y="1783080"/>
            <a:ext cx="4114800" cy="365760"/>
          </a:xfrm>
          <a:prstGeom prst="rect">
            <a:avLst/>
          </a:prstGeom>
          <a:noFill/>
        </p:spPr>
        <p:txBody>
          <a:bodyPr wrap="square">
            <a:spAutoFit/>
          </a:bodyPr>
          <a:lstStyle/>
          <a:p>
            <a:pPr algn="l"/>
            <a:r>
              <a:rPr sz="1800" b="1">
                <a:solidFill>
                  <a:srgbClr val="0B3D91"/>
                </a:solidFill>
                <a:latin typeface="Calibri"/>
              </a:rPr>
              <a:t>Now It's Your Turn, Sage!</a:t>
            </a:r>
          </a:p>
        </p:txBody>
      </p:sp>
      <p:sp>
        <p:nvSpPr>
          <p:cNvPr id="18" name="TextBox 17"/>
          <p:cNvSpPr txBox="1"/>
          <p:nvPr/>
        </p:nvSpPr>
        <p:spPr>
          <a:xfrm>
            <a:off x="6492240" y="2651760"/>
            <a:ext cx="5029200" cy="3017520"/>
          </a:xfrm>
          <a:prstGeom prst="rect">
            <a:avLst/>
          </a:prstGeom>
          <a:noFill/>
        </p:spPr>
        <p:txBody>
          <a:bodyPr wrap="square">
            <a:spAutoFit/>
          </a:bodyPr>
          <a:lstStyle/>
          <a:p>
            <a:pPr>
              <a:spcAft>
                <a:spcPts val="800"/>
              </a:spcAft>
            </a:pPr>
            <a:r>
              <a:rPr sz="1600" b="0">
                <a:solidFill>
                  <a:srgbClr val="1A2337"/>
                </a:solidFill>
                <a:latin typeface="Calibri"/>
              </a:rPr>
              <a:t>•  What's your name?</a:t>
            </a:r>
          </a:p>
          <a:p>
            <a:pPr>
              <a:spcAft>
                <a:spcPts val="800"/>
              </a:spcAft>
            </a:pPr>
            <a:r>
              <a:rPr sz="1600" b="0">
                <a:solidFill>
                  <a:srgbClr val="1A2337"/>
                </a:solidFill>
                <a:latin typeface="Calibri"/>
              </a:rPr>
              <a:t>•  Which school do you study in?</a:t>
            </a:r>
          </a:p>
          <a:p>
            <a:pPr>
              <a:spcAft>
                <a:spcPts val="800"/>
              </a:spcAft>
            </a:pPr>
            <a:r>
              <a:rPr sz="1600" b="0">
                <a:solidFill>
                  <a:srgbClr val="1A2337"/>
                </a:solidFill>
                <a:latin typeface="Calibri"/>
              </a:rPr>
              <a:t>•  What's your favorite subject?</a:t>
            </a:r>
          </a:p>
          <a:p>
            <a:pPr>
              <a:spcAft>
                <a:spcPts val="800"/>
              </a:spcAft>
            </a:pPr>
            <a:r>
              <a:rPr sz="1600" b="0">
                <a:solidFill>
                  <a:srgbClr val="1A2337"/>
                </a:solidFill>
                <a:latin typeface="Calibri"/>
              </a:rPr>
              <a:t>•  What's your favorite hobby?</a:t>
            </a:r>
          </a:p>
        </p:txBody>
      </p:sp>
      <p:sp>
        <p:nvSpPr>
          <p:cNvPr id="19" name="Rectangle 18"/>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0–5 min</a:t>
            </a:r>
          </a:p>
        </p:txBody>
      </p:sp>
      <p:sp>
        <p:nvSpPr>
          <p:cNvPr id="21" name="TextBox 2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2/25</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926080" cy="329184"/>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926080" cy="310896"/>
          </a:xfrm>
          <a:prstGeom prst="rect">
            <a:avLst/>
          </a:prstGeom>
          <a:noFill/>
        </p:spPr>
        <p:txBody>
          <a:bodyPr wrap="square">
            <a:spAutoFit/>
          </a:bodyPr>
          <a:lstStyle/>
          <a:p>
            <a:pPr algn="ctr"/>
            <a:r>
              <a:rPr sz="1200" b="1">
                <a:solidFill>
                  <a:srgbClr val="FFFFFF"/>
                </a:solidFill>
                <a:latin typeface="Calibri"/>
              </a:rPr>
              <a:t>ICEBREAKER GAME</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10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Would You Rather…? 🎲</a:t>
            </a:r>
          </a:p>
        </p:txBody>
      </p:sp>
      <p:sp>
        <p:nvSpPr>
          <p:cNvPr id="9" name="TextBox 8"/>
          <p:cNvSpPr txBox="1"/>
          <p:nvPr/>
        </p:nvSpPr>
        <p:spPr>
          <a:xfrm>
            <a:off x="365760" y="1143000"/>
            <a:ext cx="10972800" cy="274320"/>
          </a:xfrm>
          <a:prstGeom prst="rect">
            <a:avLst/>
          </a:prstGeom>
          <a:noFill/>
        </p:spPr>
        <p:txBody>
          <a:bodyPr wrap="square">
            <a:spAutoFit/>
          </a:bodyPr>
          <a:lstStyle/>
          <a:p>
            <a:pPr algn="l"/>
            <a:r>
              <a:rPr sz="1400" b="0">
                <a:solidFill>
                  <a:srgbClr val="546E7A"/>
                </a:solidFill>
                <a:latin typeface="Calibri"/>
              </a:rPr>
              <a:t>Choose one side and speak in a FULL sentence: "I would rather ___ because ___"</a:t>
            </a:r>
          </a:p>
        </p:txBody>
      </p:sp>
      <p:sp>
        <p:nvSpPr>
          <p:cNvPr id="10" name="Rounded Rectangle 9"/>
          <p:cNvSpPr/>
          <p:nvPr/>
        </p:nvSpPr>
        <p:spPr>
          <a:xfrm>
            <a:off x="320040" y="15544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664208"/>
            <a:ext cx="2651760" cy="274320"/>
          </a:xfrm>
          <a:prstGeom prst="rect">
            <a:avLst/>
          </a:prstGeom>
          <a:noFill/>
        </p:spPr>
        <p:txBody>
          <a:bodyPr wrap="square">
            <a:spAutoFit/>
          </a:bodyPr>
          <a:lstStyle/>
          <a:p>
            <a:pPr algn="ctr"/>
            <a:r>
              <a:rPr sz="1200" b="1">
                <a:solidFill>
                  <a:srgbClr val="009688"/>
                </a:solidFill>
                <a:latin typeface="Calibri"/>
              </a:rPr>
              <a:t>Q1</a:t>
            </a:r>
          </a:p>
        </p:txBody>
      </p:sp>
      <p:sp>
        <p:nvSpPr>
          <p:cNvPr id="12" name="TextBox 11"/>
          <p:cNvSpPr txBox="1"/>
          <p:nvPr/>
        </p:nvSpPr>
        <p:spPr>
          <a:xfrm>
            <a:off x="411480" y="1965960"/>
            <a:ext cx="2651760" cy="640080"/>
          </a:xfrm>
          <a:prstGeom prst="rect">
            <a:avLst/>
          </a:prstGeom>
          <a:noFill/>
        </p:spPr>
        <p:txBody>
          <a:bodyPr wrap="square">
            <a:spAutoFit/>
          </a:bodyPr>
          <a:lstStyle/>
          <a:p>
            <a:pPr algn="ctr"/>
            <a:r>
              <a:rPr sz="1300" b="1">
                <a:solidFill>
                  <a:srgbClr val="1A2337"/>
                </a:solidFill>
                <a:latin typeface="Calibri"/>
              </a:rPr>
              <a:t>🐶 Have a pet dragon</a:t>
            </a:r>
          </a:p>
        </p:txBody>
      </p:sp>
      <p:sp>
        <p:nvSpPr>
          <p:cNvPr id="13" name="TextBox 12"/>
          <p:cNvSpPr txBox="1"/>
          <p:nvPr/>
        </p:nvSpPr>
        <p:spPr>
          <a:xfrm>
            <a:off x="411480" y="260604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14" name="TextBox 13"/>
          <p:cNvSpPr txBox="1"/>
          <p:nvPr/>
        </p:nvSpPr>
        <p:spPr>
          <a:xfrm>
            <a:off x="411480" y="2926080"/>
            <a:ext cx="2651760" cy="640080"/>
          </a:xfrm>
          <a:prstGeom prst="rect">
            <a:avLst/>
          </a:prstGeom>
          <a:noFill/>
        </p:spPr>
        <p:txBody>
          <a:bodyPr wrap="square">
            <a:spAutoFit/>
          </a:bodyPr>
          <a:lstStyle/>
          <a:p>
            <a:pPr algn="ctr"/>
            <a:r>
              <a:rPr sz="1300" b="1">
                <a:solidFill>
                  <a:srgbClr val="1A2337"/>
                </a:solidFill>
                <a:latin typeface="Calibri"/>
              </a:rPr>
              <a:t>🦄 Ride a unicorn</a:t>
            </a:r>
          </a:p>
        </p:txBody>
      </p:sp>
      <p:sp>
        <p:nvSpPr>
          <p:cNvPr id="15" name="Rounded Rectangle 14"/>
          <p:cNvSpPr/>
          <p:nvPr/>
        </p:nvSpPr>
        <p:spPr>
          <a:xfrm>
            <a:off x="3291840" y="15544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664208"/>
            <a:ext cx="2651760" cy="274320"/>
          </a:xfrm>
          <a:prstGeom prst="rect">
            <a:avLst/>
          </a:prstGeom>
          <a:noFill/>
        </p:spPr>
        <p:txBody>
          <a:bodyPr wrap="square">
            <a:spAutoFit/>
          </a:bodyPr>
          <a:lstStyle/>
          <a:p>
            <a:pPr algn="ctr"/>
            <a:r>
              <a:rPr sz="1200" b="1">
                <a:solidFill>
                  <a:srgbClr val="1E88E5"/>
                </a:solidFill>
                <a:latin typeface="Calibri"/>
              </a:rPr>
              <a:t>Q2</a:t>
            </a:r>
          </a:p>
        </p:txBody>
      </p:sp>
      <p:sp>
        <p:nvSpPr>
          <p:cNvPr id="17" name="TextBox 16"/>
          <p:cNvSpPr txBox="1"/>
          <p:nvPr/>
        </p:nvSpPr>
        <p:spPr>
          <a:xfrm>
            <a:off x="3383280" y="1965960"/>
            <a:ext cx="2651760" cy="640080"/>
          </a:xfrm>
          <a:prstGeom prst="rect">
            <a:avLst/>
          </a:prstGeom>
          <a:noFill/>
        </p:spPr>
        <p:txBody>
          <a:bodyPr wrap="square">
            <a:spAutoFit/>
          </a:bodyPr>
          <a:lstStyle/>
          <a:p>
            <a:pPr algn="ctr"/>
            <a:r>
              <a:rPr sz="1300" b="1">
                <a:solidFill>
                  <a:srgbClr val="1A2337"/>
                </a:solidFill>
                <a:latin typeface="Calibri"/>
              </a:rPr>
              <a:t>📚 Read all day</a:t>
            </a:r>
          </a:p>
        </p:txBody>
      </p:sp>
      <p:sp>
        <p:nvSpPr>
          <p:cNvPr id="18" name="TextBox 17"/>
          <p:cNvSpPr txBox="1"/>
          <p:nvPr/>
        </p:nvSpPr>
        <p:spPr>
          <a:xfrm>
            <a:off x="3383280" y="260604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19" name="TextBox 18"/>
          <p:cNvSpPr txBox="1"/>
          <p:nvPr/>
        </p:nvSpPr>
        <p:spPr>
          <a:xfrm>
            <a:off x="3383280" y="2926080"/>
            <a:ext cx="2651760" cy="640080"/>
          </a:xfrm>
          <a:prstGeom prst="rect">
            <a:avLst/>
          </a:prstGeom>
          <a:noFill/>
        </p:spPr>
        <p:txBody>
          <a:bodyPr wrap="square">
            <a:spAutoFit/>
          </a:bodyPr>
          <a:lstStyle/>
          <a:p>
            <a:pPr algn="ctr"/>
            <a:r>
              <a:rPr sz="1300" b="1">
                <a:solidFill>
                  <a:srgbClr val="1A2337"/>
                </a:solidFill>
                <a:latin typeface="Calibri"/>
              </a:rPr>
              <a:t>🏞️ Explore a forest</a:t>
            </a:r>
          </a:p>
        </p:txBody>
      </p:sp>
      <p:sp>
        <p:nvSpPr>
          <p:cNvPr id="20" name="Rounded Rectangle 19"/>
          <p:cNvSpPr/>
          <p:nvPr/>
        </p:nvSpPr>
        <p:spPr>
          <a:xfrm>
            <a:off x="6263640" y="15544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664208"/>
            <a:ext cx="2651760" cy="274320"/>
          </a:xfrm>
          <a:prstGeom prst="rect">
            <a:avLst/>
          </a:prstGeom>
          <a:noFill/>
        </p:spPr>
        <p:txBody>
          <a:bodyPr wrap="square">
            <a:spAutoFit/>
          </a:bodyPr>
          <a:lstStyle/>
          <a:p>
            <a:pPr algn="ctr"/>
            <a:r>
              <a:rPr sz="1200" b="1">
                <a:solidFill>
                  <a:srgbClr val="FF7043"/>
                </a:solidFill>
                <a:latin typeface="Calibri"/>
              </a:rPr>
              <a:t>Q3</a:t>
            </a:r>
          </a:p>
        </p:txBody>
      </p:sp>
      <p:sp>
        <p:nvSpPr>
          <p:cNvPr id="22" name="TextBox 21"/>
          <p:cNvSpPr txBox="1"/>
          <p:nvPr/>
        </p:nvSpPr>
        <p:spPr>
          <a:xfrm>
            <a:off x="6355080" y="1965960"/>
            <a:ext cx="2651760" cy="640080"/>
          </a:xfrm>
          <a:prstGeom prst="rect">
            <a:avLst/>
          </a:prstGeom>
          <a:noFill/>
        </p:spPr>
        <p:txBody>
          <a:bodyPr wrap="square">
            <a:spAutoFit/>
          </a:bodyPr>
          <a:lstStyle/>
          <a:p>
            <a:pPr algn="ctr"/>
            <a:r>
              <a:rPr sz="1300" b="1">
                <a:solidFill>
                  <a:srgbClr val="1A2337"/>
                </a:solidFill>
                <a:latin typeface="Calibri"/>
              </a:rPr>
              <a:t>🍕 Eat pizza for breakfast</a:t>
            </a:r>
          </a:p>
        </p:txBody>
      </p:sp>
      <p:sp>
        <p:nvSpPr>
          <p:cNvPr id="23" name="TextBox 22"/>
          <p:cNvSpPr txBox="1"/>
          <p:nvPr/>
        </p:nvSpPr>
        <p:spPr>
          <a:xfrm>
            <a:off x="6355080" y="260604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24" name="TextBox 23"/>
          <p:cNvSpPr txBox="1"/>
          <p:nvPr/>
        </p:nvSpPr>
        <p:spPr>
          <a:xfrm>
            <a:off x="6355080" y="2926080"/>
            <a:ext cx="2651760" cy="640080"/>
          </a:xfrm>
          <a:prstGeom prst="rect">
            <a:avLst/>
          </a:prstGeom>
          <a:noFill/>
        </p:spPr>
        <p:txBody>
          <a:bodyPr wrap="square">
            <a:spAutoFit/>
          </a:bodyPr>
          <a:lstStyle/>
          <a:p>
            <a:pPr algn="ctr"/>
            <a:r>
              <a:rPr sz="1300" b="1">
                <a:solidFill>
                  <a:srgbClr val="1A2337"/>
                </a:solidFill>
                <a:latin typeface="Calibri"/>
              </a:rPr>
              <a:t>🥞 Eat pancakes for dinner</a:t>
            </a:r>
          </a:p>
        </p:txBody>
      </p:sp>
      <p:sp>
        <p:nvSpPr>
          <p:cNvPr id="25" name="Rounded Rectangle 24"/>
          <p:cNvSpPr/>
          <p:nvPr/>
        </p:nvSpPr>
        <p:spPr>
          <a:xfrm>
            <a:off x="9235440" y="155448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1664208"/>
            <a:ext cx="2651760" cy="274320"/>
          </a:xfrm>
          <a:prstGeom prst="rect">
            <a:avLst/>
          </a:prstGeom>
          <a:noFill/>
        </p:spPr>
        <p:txBody>
          <a:bodyPr wrap="square">
            <a:spAutoFit/>
          </a:bodyPr>
          <a:lstStyle/>
          <a:p>
            <a:pPr algn="ctr"/>
            <a:r>
              <a:rPr sz="1200" b="1">
                <a:solidFill>
                  <a:srgbClr val="0B3D91"/>
                </a:solidFill>
                <a:latin typeface="Calibri"/>
              </a:rPr>
              <a:t>Q4</a:t>
            </a:r>
          </a:p>
        </p:txBody>
      </p:sp>
      <p:sp>
        <p:nvSpPr>
          <p:cNvPr id="27" name="TextBox 26"/>
          <p:cNvSpPr txBox="1"/>
          <p:nvPr/>
        </p:nvSpPr>
        <p:spPr>
          <a:xfrm>
            <a:off x="9326880" y="1965960"/>
            <a:ext cx="2651760" cy="640080"/>
          </a:xfrm>
          <a:prstGeom prst="rect">
            <a:avLst/>
          </a:prstGeom>
          <a:noFill/>
        </p:spPr>
        <p:txBody>
          <a:bodyPr wrap="square">
            <a:spAutoFit/>
          </a:bodyPr>
          <a:lstStyle/>
          <a:p>
            <a:pPr algn="ctr"/>
            <a:r>
              <a:rPr sz="1300" b="1">
                <a:solidFill>
                  <a:srgbClr val="1A2337"/>
                </a:solidFill>
                <a:latin typeface="Calibri"/>
              </a:rPr>
              <a:t>🚀 Visit the Moon</a:t>
            </a:r>
          </a:p>
        </p:txBody>
      </p:sp>
      <p:sp>
        <p:nvSpPr>
          <p:cNvPr id="28" name="TextBox 27"/>
          <p:cNvSpPr txBox="1"/>
          <p:nvPr/>
        </p:nvSpPr>
        <p:spPr>
          <a:xfrm>
            <a:off x="9326880" y="260604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29" name="TextBox 28"/>
          <p:cNvSpPr txBox="1"/>
          <p:nvPr/>
        </p:nvSpPr>
        <p:spPr>
          <a:xfrm>
            <a:off x="9326880" y="2926080"/>
            <a:ext cx="2651760" cy="640080"/>
          </a:xfrm>
          <a:prstGeom prst="rect">
            <a:avLst/>
          </a:prstGeom>
          <a:noFill/>
        </p:spPr>
        <p:txBody>
          <a:bodyPr wrap="square">
            <a:spAutoFit/>
          </a:bodyPr>
          <a:lstStyle/>
          <a:p>
            <a:pPr algn="ctr"/>
            <a:r>
              <a:rPr sz="1300" b="1">
                <a:solidFill>
                  <a:srgbClr val="1A2337"/>
                </a:solidFill>
                <a:latin typeface="Calibri"/>
              </a:rPr>
              <a:t>🌊 Live under the sea</a:t>
            </a:r>
          </a:p>
        </p:txBody>
      </p:sp>
      <p:sp>
        <p:nvSpPr>
          <p:cNvPr id="30" name="Rounded Rectangle 29"/>
          <p:cNvSpPr/>
          <p:nvPr/>
        </p:nvSpPr>
        <p:spPr>
          <a:xfrm>
            <a:off x="320040" y="388620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995928"/>
            <a:ext cx="2651760" cy="274320"/>
          </a:xfrm>
          <a:prstGeom prst="rect">
            <a:avLst/>
          </a:prstGeom>
          <a:noFill/>
        </p:spPr>
        <p:txBody>
          <a:bodyPr wrap="square">
            <a:spAutoFit/>
          </a:bodyPr>
          <a:lstStyle/>
          <a:p>
            <a:pPr algn="ctr"/>
            <a:r>
              <a:rPr sz="1200" b="1">
                <a:solidFill>
                  <a:srgbClr val="EC407A"/>
                </a:solidFill>
                <a:latin typeface="Calibri"/>
              </a:rPr>
              <a:t>Q5</a:t>
            </a:r>
          </a:p>
        </p:txBody>
      </p:sp>
      <p:sp>
        <p:nvSpPr>
          <p:cNvPr id="32" name="TextBox 31"/>
          <p:cNvSpPr txBox="1"/>
          <p:nvPr/>
        </p:nvSpPr>
        <p:spPr>
          <a:xfrm>
            <a:off x="411480" y="4297680"/>
            <a:ext cx="2651760" cy="640080"/>
          </a:xfrm>
          <a:prstGeom prst="rect">
            <a:avLst/>
          </a:prstGeom>
          <a:noFill/>
        </p:spPr>
        <p:txBody>
          <a:bodyPr wrap="square">
            <a:spAutoFit/>
          </a:bodyPr>
          <a:lstStyle/>
          <a:p>
            <a:pPr algn="ctr"/>
            <a:r>
              <a:rPr sz="1300" b="1">
                <a:solidFill>
                  <a:srgbClr val="1A2337"/>
                </a:solidFill>
                <a:latin typeface="Calibri"/>
              </a:rPr>
              <a:t>🎤 Be a singer</a:t>
            </a:r>
          </a:p>
        </p:txBody>
      </p:sp>
      <p:sp>
        <p:nvSpPr>
          <p:cNvPr id="33" name="TextBox 32"/>
          <p:cNvSpPr txBox="1"/>
          <p:nvPr/>
        </p:nvSpPr>
        <p:spPr>
          <a:xfrm>
            <a:off x="411480" y="493776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34" name="TextBox 33"/>
          <p:cNvSpPr txBox="1"/>
          <p:nvPr/>
        </p:nvSpPr>
        <p:spPr>
          <a:xfrm>
            <a:off x="411480" y="5257800"/>
            <a:ext cx="2651760" cy="640080"/>
          </a:xfrm>
          <a:prstGeom prst="rect">
            <a:avLst/>
          </a:prstGeom>
          <a:noFill/>
        </p:spPr>
        <p:txBody>
          <a:bodyPr wrap="square">
            <a:spAutoFit/>
          </a:bodyPr>
          <a:lstStyle/>
          <a:p>
            <a:pPr algn="ctr"/>
            <a:r>
              <a:rPr sz="1300" b="1">
                <a:solidFill>
                  <a:srgbClr val="1A2337"/>
                </a:solidFill>
                <a:latin typeface="Calibri"/>
              </a:rPr>
              <a:t>🎨 Be an artist</a:t>
            </a:r>
          </a:p>
        </p:txBody>
      </p:sp>
      <p:sp>
        <p:nvSpPr>
          <p:cNvPr id="35" name="Rounded Rectangle 34"/>
          <p:cNvSpPr/>
          <p:nvPr/>
        </p:nvSpPr>
        <p:spPr>
          <a:xfrm>
            <a:off x="3291840" y="388620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83280" y="3995928"/>
            <a:ext cx="2651760" cy="274320"/>
          </a:xfrm>
          <a:prstGeom prst="rect">
            <a:avLst/>
          </a:prstGeom>
          <a:noFill/>
        </p:spPr>
        <p:txBody>
          <a:bodyPr wrap="square">
            <a:spAutoFit/>
          </a:bodyPr>
          <a:lstStyle/>
          <a:p>
            <a:pPr algn="ctr"/>
            <a:r>
              <a:rPr sz="1200" b="1">
                <a:solidFill>
                  <a:srgbClr val="FF7043"/>
                </a:solidFill>
                <a:latin typeface="Calibri"/>
              </a:rPr>
              <a:t>Q6</a:t>
            </a:r>
          </a:p>
        </p:txBody>
      </p:sp>
      <p:sp>
        <p:nvSpPr>
          <p:cNvPr id="37" name="TextBox 36"/>
          <p:cNvSpPr txBox="1"/>
          <p:nvPr/>
        </p:nvSpPr>
        <p:spPr>
          <a:xfrm>
            <a:off x="3383280" y="4297680"/>
            <a:ext cx="2651760" cy="640080"/>
          </a:xfrm>
          <a:prstGeom prst="rect">
            <a:avLst/>
          </a:prstGeom>
          <a:noFill/>
        </p:spPr>
        <p:txBody>
          <a:bodyPr wrap="square">
            <a:spAutoFit/>
          </a:bodyPr>
          <a:lstStyle/>
          <a:p>
            <a:pPr algn="ctr"/>
            <a:r>
              <a:rPr sz="1300" b="1">
                <a:solidFill>
                  <a:srgbClr val="1A2337"/>
                </a:solidFill>
                <a:latin typeface="Calibri"/>
              </a:rPr>
              <a:t>🦸 Have super speed</a:t>
            </a:r>
          </a:p>
        </p:txBody>
      </p:sp>
      <p:sp>
        <p:nvSpPr>
          <p:cNvPr id="38" name="TextBox 37"/>
          <p:cNvSpPr txBox="1"/>
          <p:nvPr/>
        </p:nvSpPr>
        <p:spPr>
          <a:xfrm>
            <a:off x="3383280" y="493776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39" name="TextBox 38"/>
          <p:cNvSpPr txBox="1"/>
          <p:nvPr/>
        </p:nvSpPr>
        <p:spPr>
          <a:xfrm>
            <a:off x="3383280" y="5257800"/>
            <a:ext cx="2651760" cy="640080"/>
          </a:xfrm>
          <a:prstGeom prst="rect">
            <a:avLst/>
          </a:prstGeom>
          <a:noFill/>
        </p:spPr>
        <p:txBody>
          <a:bodyPr wrap="square">
            <a:spAutoFit/>
          </a:bodyPr>
          <a:lstStyle/>
          <a:p>
            <a:pPr algn="ctr"/>
            <a:r>
              <a:rPr sz="1300" b="1">
                <a:solidFill>
                  <a:srgbClr val="1A2337"/>
                </a:solidFill>
                <a:latin typeface="Calibri"/>
              </a:rPr>
              <a:t>🧙 Have magic powers</a:t>
            </a:r>
          </a:p>
        </p:txBody>
      </p:sp>
      <p:sp>
        <p:nvSpPr>
          <p:cNvPr id="40" name="Rounded Rectangle 39"/>
          <p:cNvSpPr/>
          <p:nvPr/>
        </p:nvSpPr>
        <p:spPr>
          <a:xfrm>
            <a:off x="6263640" y="388620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995928"/>
            <a:ext cx="2651760" cy="274320"/>
          </a:xfrm>
          <a:prstGeom prst="rect">
            <a:avLst/>
          </a:prstGeom>
          <a:noFill/>
        </p:spPr>
        <p:txBody>
          <a:bodyPr wrap="square">
            <a:spAutoFit/>
          </a:bodyPr>
          <a:lstStyle/>
          <a:p>
            <a:pPr algn="ctr"/>
            <a:r>
              <a:rPr sz="1200" b="1">
                <a:solidFill>
                  <a:srgbClr val="1E88E5"/>
                </a:solidFill>
                <a:latin typeface="Calibri"/>
              </a:rPr>
              <a:t>Q7</a:t>
            </a:r>
          </a:p>
        </p:txBody>
      </p:sp>
      <p:sp>
        <p:nvSpPr>
          <p:cNvPr id="42" name="TextBox 41"/>
          <p:cNvSpPr txBox="1"/>
          <p:nvPr/>
        </p:nvSpPr>
        <p:spPr>
          <a:xfrm>
            <a:off x="6355080" y="4297680"/>
            <a:ext cx="2651760" cy="640080"/>
          </a:xfrm>
          <a:prstGeom prst="rect">
            <a:avLst/>
          </a:prstGeom>
          <a:noFill/>
        </p:spPr>
        <p:txBody>
          <a:bodyPr wrap="square">
            <a:spAutoFit/>
          </a:bodyPr>
          <a:lstStyle/>
          <a:p>
            <a:pPr algn="ctr"/>
            <a:r>
              <a:rPr sz="1300" b="1">
                <a:solidFill>
                  <a:srgbClr val="1A2337"/>
                </a:solidFill>
                <a:latin typeface="Calibri"/>
              </a:rPr>
              <a:t>🏫 Teach your class</a:t>
            </a:r>
          </a:p>
        </p:txBody>
      </p:sp>
      <p:sp>
        <p:nvSpPr>
          <p:cNvPr id="43" name="TextBox 42"/>
          <p:cNvSpPr txBox="1"/>
          <p:nvPr/>
        </p:nvSpPr>
        <p:spPr>
          <a:xfrm>
            <a:off x="6355080" y="493776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44" name="TextBox 43"/>
          <p:cNvSpPr txBox="1"/>
          <p:nvPr/>
        </p:nvSpPr>
        <p:spPr>
          <a:xfrm>
            <a:off x="6355080" y="5257800"/>
            <a:ext cx="2651760" cy="640080"/>
          </a:xfrm>
          <a:prstGeom prst="rect">
            <a:avLst/>
          </a:prstGeom>
          <a:noFill/>
        </p:spPr>
        <p:txBody>
          <a:bodyPr wrap="square">
            <a:spAutoFit/>
          </a:bodyPr>
          <a:lstStyle/>
          <a:p>
            <a:pPr algn="ctr"/>
            <a:r>
              <a:rPr sz="1300" b="1">
                <a:solidFill>
                  <a:srgbClr val="1A2337"/>
                </a:solidFill>
                <a:latin typeface="Calibri"/>
              </a:rPr>
              <a:t>🎬 Star in a movie</a:t>
            </a:r>
          </a:p>
        </p:txBody>
      </p:sp>
      <p:sp>
        <p:nvSpPr>
          <p:cNvPr id="45" name="Rounded Rectangle 44"/>
          <p:cNvSpPr/>
          <p:nvPr/>
        </p:nvSpPr>
        <p:spPr>
          <a:xfrm>
            <a:off x="9235440" y="3886200"/>
            <a:ext cx="283464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0" y="3995928"/>
            <a:ext cx="2651760" cy="274320"/>
          </a:xfrm>
          <a:prstGeom prst="rect">
            <a:avLst/>
          </a:prstGeom>
          <a:noFill/>
        </p:spPr>
        <p:txBody>
          <a:bodyPr wrap="square">
            <a:spAutoFit/>
          </a:bodyPr>
          <a:lstStyle/>
          <a:p>
            <a:pPr algn="ctr"/>
            <a:r>
              <a:rPr sz="1200" b="1">
                <a:solidFill>
                  <a:srgbClr val="FFC107"/>
                </a:solidFill>
                <a:latin typeface="Calibri"/>
              </a:rPr>
              <a:t>Q8</a:t>
            </a:r>
          </a:p>
        </p:txBody>
      </p:sp>
      <p:sp>
        <p:nvSpPr>
          <p:cNvPr id="47" name="TextBox 46"/>
          <p:cNvSpPr txBox="1"/>
          <p:nvPr/>
        </p:nvSpPr>
        <p:spPr>
          <a:xfrm>
            <a:off x="9326880" y="4297680"/>
            <a:ext cx="2651760" cy="640080"/>
          </a:xfrm>
          <a:prstGeom prst="rect">
            <a:avLst/>
          </a:prstGeom>
          <a:noFill/>
        </p:spPr>
        <p:txBody>
          <a:bodyPr wrap="square">
            <a:spAutoFit/>
          </a:bodyPr>
          <a:lstStyle/>
          <a:p>
            <a:pPr algn="ctr"/>
            <a:r>
              <a:rPr sz="1300" b="1">
                <a:solidFill>
                  <a:srgbClr val="1A2337"/>
                </a:solidFill>
                <a:latin typeface="Calibri"/>
              </a:rPr>
              <a:t>🌈 Make it rain candy</a:t>
            </a:r>
          </a:p>
        </p:txBody>
      </p:sp>
      <p:sp>
        <p:nvSpPr>
          <p:cNvPr id="48" name="TextBox 47"/>
          <p:cNvSpPr txBox="1"/>
          <p:nvPr/>
        </p:nvSpPr>
        <p:spPr>
          <a:xfrm>
            <a:off x="9326880" y="4937760"/>
            <a:ext cx="2651760" cy="274320"/>
          </a:xfrm>
          <a:prstGeom prst="rect">
            <a:avLst/>
          </a:prstGeom>
          <a:noFill/>
        </p:spPr>
        <p:txBody>
          <a:bodyPr wrap="square">
            <a:spAutoFit/>
          </a:bodyPr>
          <a:lstStyle/>
          <a:p>
            <a:pPr algn="ctr"/>
            <a:r>
              <a:rPr sz="1200" b="1">
                <a:solidFill>
                  <a:srgbClr val="546E7A"/>
                </a:solidFill>
                <a:latin typeface="Calibri"/>
              </a:rPr>
              <a:t>OR</a:t>
            </a:r>
          </a:p>
        </p:txBody>
      </p:sp>
      <p:sp>
        <p:nvSpPr>
          <p:cNvPr id="49" name="TextBox 48"/>
          <p:cNvSpPr txBox="1"/>
          <p:nvPr/>
        </p:nvSpPr>
        <p:spPr>
          <a:xfrm>
            <a:off x="9326880" y="5257800"/>
            <a:ext cx="2651760" cy="640080"/>
          </a:xfrm>
          <a:prstGeom prst="rect">
            <a:avLst/>
          </a:prstGeom>
          <a:noFill/>
        </p:spPr>
        <p:txBody>
          <a:bodyPr wrap="square">
            <a:spAutoFit/>
          </a:bodyPr>
          <a:lstStyle/>
          <a:p>
            <a:pPr algn="ctr"/>
            <a:r>
              <a:rPr sz="1300" b="1">
                <a:solidFill>
                  <a:srgbClr val="1A2337"/>
                </a:solidFill>
                <a:latin typeface="Calibri"/>
              </a:rPr>
              <a:t>❄️ Make it snow in summer</a:t>
            </a:r>
          </a:p>
        </p:txBody>
      </p:sp>
      <p:sp>
        <p:nvSpPr>
          <p:cNvPr id="50" name="Rectangle 49"/>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5–15 min</a:t>
            </a:r>
          </a:p>
        </p:txBody>
      </p:sp>
      <p:sp>
        <p:nvSpPr>
          <p:cNvPr id="52" name="TextBox 51"/>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3/25</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WARM-UP TALK</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5 minutes</a:t>
            </a:r>
          </a:p>
        </p:txBody>
      </p:sp>
      <p:sp>
        <p:nvSpPr>
          <p:cNvPr id="8" name="TextBox 7"/>
          <p:cNvSpPr txBox="1"/>
          <p:nvPr/>
        </p:nvSpPr>
        <p:spPr>
          <a:xfrm>
            <a:off x="365760" y="731520"/>
            <a:ext cx="10972800" cy="411480"/>
          </a:xfrm>
          <a:prstGeom prst="rect">
            <a:avLst/>
          </a:prstGeom>
          <a:noFill/>
        </p:spPr>
        <p:txBody>
          <a:bodyPr wrap="square">
            <a:spAutoFit/>
          </a:bodyPr>
          <a:lstStyle/>
          <a:p>
            <a:pPr algn="l"/>
            <a:r>
              <a:rPr sz="2800" b="1">
                <a:solidFill>
                  <a:srgbClr val="0B3D91"/>
                </a:solidFill>
                <a:latin typeface="Georgia"/>
              </a:rPr>
              <a:t>Warm-up Conversation 💬</a:t>
            </a:r>
          </a:p>
        </p:txBody>
      </p:sp>
      <p:sp>
        <p:nvSpPr>
          <p:cNvPr id="9" name="Rounded Rectangle 8"/>
          <p:cNvSpPr/>
          <p:nvPr/>
        </p:nvSpPr>
        <p:spPr>
          <a:xfrm>
            <a:off x="3657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463040"/>
            <a:ext cx="3703320" cy="10058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00200"/>
            <a:ext cx="3703320" cy="365760"/>
          </a:xfrm>
          <a:prstGeom prst="rect">
            <a:avLst/>
          </a:prstGeom>
          <a:noFill/>
        </p:spPr>
        <p:txBody>
          <a:bodyPr wrap="square">
            <a:spAutoFit/>
          </a:bodyPr>
          <a:lstStyle/>
          <a:p>
            <a:pPr algn="ctr"/>
            <a:r>
              <a:rPr sz="1800" b="1">
                <a:solidFill>
                  <a:srgbClr val="FFFFFF"/>
                </a:solidFill>
                <a:latin typeface="Calibri"/>
              </a:rPr>
              <a:t>👫  Best Friend</a:t>
            </a:r>
          </a:p>
        </p:txBody>
      </p:sp>
      <p:sp>
        <p:nvSpPr>
          <p:cNvPr id="12" name="TextBox 11"/>
          <p:cNvSpPr txBox="1"/>
          <p:nvPr/>
        </p:nvSpPr>
        <p:spPr>
          <a:xfrm>
            <a:off x="594360" y="2834640"/>
            <a:ext cx="3246120" cy="2286000"/>
          </a:xfrm>
          <a:prstGeom prst="rect">
            <a:avLst/>
          </a:prstGeom>
          <a:noFill/>
        </p:spPr>
        <p:txBody>
          <a:bodyPr wrap="square">
            <a:spAutoFit/>
          </a:bodyPr>
          <a:lstStyle/>
          <a:p>
            <a:pPr algn="ctr"/>
            <a:r>
              <a:rPr sz="1800" b="0">
                <a:solidFill>
                  <a:srgbClr val="1A2337"/>
                </a:solidFill>
                <a:latin typeface="Calibri"/>
              </a:rPr>
              <a:t>Tell me about your best friend.</a:t>
            </a:r>
          </a:p>
        </p:txBody>
      </p:sp>
      <p:sp>
        <p:nvSpPr>
          <p:cNvPr id="13" name="Rounded Rectangle 12"/>
          <p:cNvSpPr/>
          <p:nvPr/>
        </p:nvSpPr>
        <p:spPr>
          <a:xfrm>
            <a:off x="42519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463040"/>
            <a:ext cx="3703320" cy="100584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1600200"/>
            <a:ext cx="3703320" cy="365760"/>
          </a:xfrm>
          <a:prstGeom prst="rect">
            <a:avLst/>
          </a:prstGeom>
          <a:noFill/>
        </p:spPr>
        <p:txBody>
          <a:bodyPr wrap="square">
            <a:spAutoFit/>
          </a:bodyPr>
          <a:lstStyle/>
          <a:p>
            <a:pPr algn="ctr"/>
            <a:r>
              <a:rPr sz="1800" b="1">
                <a:solidFill>
                  <a:srgbClr val="FFFFFF"/>
                </a:solidFill>
                <a:latin typeface="Calibri"/>
              </a:rPr>
              <a:t>🗓️  Last Weekend</a:t>
            </a:r>
          </a:p>
        </p:txBody>
      </p:sp>
      <p:sp>
        <p:nvSpPr>
          <p:cNvPr id="16" name="TextBox 15"/>
          <p:cNvSpPr txBox="1"/>
          <p:nvPr/>
        </p:nvSpPr>
        <p:spPr>
          <a:xfrm>
            <a:off x="4480560" y="2834640"/>
            <a:ext cx="3246120" cy="2286000"/>
          </a:xfrm>
          <a:prstGeom prst="rect">
            <a:avLst/>
          </a:prstGeom>
          <a:noFill/>
        </p:spPr>
        <p:txBody>
          <a:bodyPr wrap="square">
            <a:spAutoFit/>
          </a:bodyPr>
          <a:lstStyle/>
          <a:p>
            <a:pPr algn="ctr"/>
            <a:r>
              <a:rPr sz="1800" b="0">
                <a:solidFill>
                  <a:srgbClr val="1A2337"/>
                </a:solidFill>
                <a:latin typeface="Calibri"/>
              </a:rPr>
              <a:t>What did you do last weekend?</a:t>
            </a:r>
          </a:p>
        </p:txBody>
      </p:sp>
      <p:sp>
        <p:nvSpPr>
          <p:cNvPr id="17" name="Rounded Rectangle 16"/>
          <p:cNvSpPr/>
          <p:nvPr/>
        </p:nvSpPr>
        <p:spPr>
          <a:xfrm>
            <a:off x="81381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463040"/>
            <a:ext cx="3703320" cy="100584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600200"/>
            <a:ext cx="3703320" cy="365760"/>
          </a:xfrm>
          <a:prstGeom prst="rect">
            <a:avLst/>
          </a:prstGeom>
          <a:noFill/>
        </p:spPr>
        <p:txBody>
          <a:bodyPr wrap="square">
            <a:spAutoFit/>
          </a:bodyPr>
          <a:lstStyle/>
          <a:p>
            <a:pPr algn="ctr"/>
            <a:r>
              <a:rPr sz="1800" b="1">
                <a:solidFill>
                  <a:srgbClr val="FFFFFF"/>
                </a:solidFill>
                <a:latin typeface="Calibri"/>
              </a:rPr>
              <a:t>⚡  Superpower</a:t>
            </a:r>
          </a:p>
        </p:txBody>
      </p:sp>
      <p:sp>
        <p:nvSpPr>
          <p:cNvPr id="20" name="TextBox 19"/>
          <p:cNvSpPr txBox="1"/>
          <p:nvPr/>
        </p:nvSpPr>
        <p:spPr>
          <a:xfrm>
            <a:off x="8366760" y="2834640"/>
            <a:ext cx="3246120" cy="2286000"/>
          </a:xfrm>
          <a:prstGeom prst="rect">
            <a:avLst/>
          </a:prstGeom>
          <a:noFill/>
        </p:spPr>
        <p:txBody>
          <a:bodyPr wrap="square">
            <a:spAutoFit/>
          </a:bodyPr>
          <a:lstStyle/>
          <a:p>
            <a:pPr algn="ctr"/>
            <a:r>
              <a:rPr sz="1800" b="0">
                <a:solidFill>
                  <a:srgbClr val="1A2337"/>
                </a:solidFill>
                <a:latin typeface="Calibri"/>
              </a:rPr>
              <a:t>If you had one superpower, what would it be?</a:t>
            </a:r>
          </a:p>
        </p:txBody>
      </p:sp>
      <p:sp>
        <p:nvSpPr>
          <p:cNvPr id="21" name="Rectangle 20"/>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15–20 min</a:t>
            </a:r>
          </a:p>
        </p:txBody>
      </p:sp>
      <p:sp>
        <p:nvSpPr>
          <p:cNvPr id="23" name="TextBox 22"/>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4/25</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Reading • 20 min</a:t>
            </a:r>
          </a:p>
        </p:txBody>
      </p:sp>
      <p:sp>
        <p:nvSpPr>
          <p:cNvPr id="8" name="TextBox 7"/>
          <p:cNvSpPr txBox="1"/>
          <p:nvPr/>
        </p:nvSpPr>
        <p:spPr>
          <a:xfrm>
            <a:off x="365760" y="685800"/>
            <a:ext cx="10972800" cy="365760"/>
          </a:xfrm>
          <a:prstGeom prst="rect">
            <a:avLst/>
          </a:prstGeom>
          <a:noFill/>
        </p:spPr>
        <p:txBody>
          <a:bodyPr wrap="square">
            <a:spAutoFit/>
          </a:bodyPr>
          <a:lstStyle/>
          <a:p>
            <a:pPr algn="l"/>
            <a:r>
              <a:rPr sz="2600" b="1">
                <a:solidFill>
                  <a:srgbClr val="0B3D91"/>
                </a:solidFill>
                <a:latin typeface="Georgia"/>
              </a:rPr>
              <a:t>📖  The Lost Puppy</a:t>
            </a:r>
          </a:p>
        </p:txBody>
      </p:sp>
      <p:sp>
        <p:nvSpPr>
          <p:cNvPr id="9" name="Rounded Rectangle 8"/>
          <p:cNvSpPr/>
          <p:nvPr/>
        </p:nvSpPr>
        <p:spPr>
          <a:xfrm>
            <a:off x="365760" y="1143000"/>
            <a:ext cx="11430000" cy="5074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325880"/>
            <a:ext cx="2194560" cy="470916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11680"/>
            <a:ext cx="2011680" cy="457200"/>
          </a:xfrm>
          <a:prstGeom prst="rect">
            <a:avLst/>
          </a:prstGeom>
          <a:noFill/>
        </p:spPr>
        <p:txBody>
          <a:bodyPr wrap="square">
            <a:spAutoFit/>
          </a:bodyPr>
          <a:lstStyle/>
          <a:p>
            <a:pPr algn="ctr"/>
            <a:r>
              <a:rPr sz="4000" b="0">
                <a:solidFill>
                  <a:srgbClr val="1A2337"/>
                </a:solidFill>
                <a:latin typeface="Calibri"/>
              </a:rPr>
              <a:t>🐶</a:t>
            </a:r>
          </a:p>
        </p:txBody>
      </p:sp>
      <p:sp>
        <p:nvSpPr>
          <p:cNvPr id="12" name="TextBox 11"/>
          <p:cNvSpPr txBox="1"/>
          <p:nvPr/>
        </p:nvSpPr>
        <p:spPr>
          <a:xfrm>
            <a:off x="640080" y="2743200"/>
            <a:ext cx="2011680" cy="365760"/>
          </a:xfrm>
          <a:prstGeom prst="rect">
            <a:avLst/>
          </a:prstGeom>
          <a:noFill/>
        </p:spPr>
        <p:txBody>
          <a:bodyPr wrap="square">
            <a:spAutoFit/>
          </a:bodyPr>
          <a:lstStyle/>
          <a:p>
            <a:pPr algn="ctr"/>
            <a:r>
              <a:rPr sz="1600" b="1">
                <a:solidFill>
                  <a:srgbClr val="0B3D91"/>
                </a:solidFill>
                <a:latin typeface="Calibri"/>
              </a:rPr>
              <a:t>Coco</a:t>
            </a:r>
          </a:p>
        </p:txBody>
      </p:sp>
      <p:sp>
        <p:nvSpPr>
          <p:cNvPr id="13" name="TextBox 12"/>
          <p:cNvSpPr txBox="1"/>
          <p:nvPr/>
        </p:nvSpPr>
        <p:spPr>
          <a:xfrm>
            <a:off x="640080" y="3200400"/>
            <a:ext cx="2011680" cy="1371600"/>
          </a:xfrm>
          <a:prstGeom prst="rect">
            <a:avLst/>
          </a:prstGeom>
          <a:noFill/>
        </p:spPr>
        <p:txBody>
          <a:bodyPr wrap="square">
            <a:spAutoFit/>
          </a:bodyPr>
          <a:lstStyle/>
          <a:p>
            <a:pPr algn="ctr"/>
            <a:r>
              <a:rPr sz="1300" b="0">
                <a:solidFill>
                  <a:srgbClr val="546E7A"/>
                </a:solidFill>
                <a:latin typeface="Calibri"/>
              </a:rPr>
              <a:t>park • puppy
kindness • adventure</a:t>
            </a:r>
          </a:p>
        </p:txBody>
      </p:sp>
      <p:sp>
        <p:nvSpPr>
          <p:cNvPr id="14" name="TextBox 13"/>
          <p:cNvSpPr txBox="1"/>
          <p:nvPr/>
        </p:nvSpPr>
        <p:spPr>
          <a:xfrm>
            <a:off x="2926080" y="1371600"/>
            <a:ext cx="8595360" cy="4663440"/>
          </a:xfrm>
          <a:prstGeom prst="rect">
            <a:avLst/>
          </a:prstGeom>
          <a:noFill/>
        </p:spPr>
        <p:txBody>
          <a:bodyPr wrap="square">
            <a:spAutoFit/>
          </a:bodyPr>
          <a:lstStyle/>
          <a:p>
            <a:pPr algn="l"/>
            <a:r>
              <a:rPr sz="1300" b="0">
                <a:solidFill>
                  <a:srgbClr val="1A2337"/>
                </a:solidFill>
                <a:latin typeface="Calibri"/>
              </a:rPr>
              <a:t>Mia loved walking through Maple Park every Saturday morning. The trees were tall, the birds sang cheerfully, and the soft grass felt cool under her sneakers.
One sunny day, Mia heard a tiny whimper near the picnic benches. She stopped and looked around. Behind a bright red backpack sat a small brown puppy with muddy paws and sad eyes. A blue collar hung loosely around its neck, but there was no name tag.
"Don't worry, little friend," Mia whispered. "I will help you." She gently offered her water bottle. The puppy drank quickly, then wagged its tail. Mia asked nearby families if they had lost a pet. Nobody knew the puppy.
Then Mia noticed a poster on the park board: "Lost Puppy — Brown, Friendly, Answers to Coco." There was a phone number at the bottom. Mia carefully dialed the number with her mom's help. Ten minutes later, a smiling girl named Ava ran toward them, tears of joy on her face.
"You found Coco!" Ava cried. Mia felt proud and happy. That day she learned that kindness can turn an ordinary walk into an unforgettable adventure.</a:t>
            </a:r>
          </a:p>
        </p:txBody>
      </p:sp>
      <p:sp>
        <p:nvSpPr>
          <p:cNvPr id="15" name="Rectangle 14"/>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20–40 min</a:t>
            </a:r>
          </a:p>
        </p:txBody>
      </p:sp>
      <p:sp>
        <p:nvSpPr>
          <p:cNvPr id="17" name="TextBox 1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5/25</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COMPREHENSION</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~8 minutes</a:t>
            </a:r>
          </a:p>
        </p:txBody>
      </p:sp>
      <p:sp>
        <p:nvSpPr>
          <p:cNvPr id="8" name="TextBox 7"/>
          <p:cNvSpPr txBox="1"/>
          <p:nvPr/>
        </p:nvSpPr>
        <p:spPr>
          <a:xfrm>
            <a:off x="365760" y="685800"/>
            <a:ext cx="10972800" cy="365760"/>
          </a:xfrm>
          <a:prstGeom prst="rect">
            <a:avLst/>
          </a:prstGeom>
          <a:noFill/>
        </p:spPr>
        <p:txBody>
          <a:bodyPr wrap="square">
            <a:spAutoFit/>
          </a:bodyPr>
          <a:lstStyle/>
          <a:p>
            <a:pPr algn="l"/>
            <a:r>
              <a:rPr sz="2400" b="1">
                <a:solidFill>
                  <a:srgbClr val="0B3D91"/>
                </a:solidFill>
                <a:latin typeface="Georgia"/>
              </a:rPr>
              <a:t>Reading Questions — The Lost Puppy</a:t>
            </a:r>
          </a:p>
        </p:txBody>
      </p:sp>
      <p:sp>
        <p:nvSpPr>
          <p:cNvPr id="9" name="Rounded Rectangle 8"/>
          <p:cNvSpPr/>
          <p:nvPr/>
        </p:nvSpPr>
        <p:spPr>
          <a:xfrm>
            <a:off x="320040" y="114300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 y="1280160"/>
            <a:ext cx="822960" cy="3200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298448"/>
            <a:ext cx="822960" cy="274320"/>
          </a:xfrm>
          <a:prstGeom prst="rect">
            <a:avLst/>
          </a:prstGeom>
          <a:noFill/>
        </p:spPr>
        <p:txBody>
          <a:bodyPr wrap="square">
            <a:spAutoFit/>
          </a:bodyPr>
          <a:lstStyle/>
          <a:p>
            <a:pPr algn="ctr"/>
            <a:r>
              <a:rPr sz="1100" b="1">
                <a:solidFill>
                  <a:srgbClr val="FFFFFF"/>
                </a:solidFill>
                <a:latin typeface="Calibri"/>
              </a:rPr>
              <a:t>MCQ</a:t>
            </a:r>
          </a:p>
        </p:txBody>
      </p:sp>
      <p:sp>
        <p:nvSpPr>
          <p:cNvPr id="12" name="TextBox 11"/>
          <p:cNvSpPr txBox="1"/>
          <p:nvPr/>
        </p:nvSpPr>
        <p:spPr>
          <a:xfrm>
            <a:off x="1371600" y="1325880"/>
            <a:ext cx="4480560" cy="868680"/>
          </a:xfrm>
          <a:prstGeom prst="rect">
            <a:avLst/>
          </a:prstGeom>
          <a:noFill/>
        </p:spPr>
        <p:txBody>
          <a:bodyPr wrap="square">
            <a:spAutoFit/>
          </a:bodyPr>
          <a:lstStyle/>
          <a:p>
            <a:pPr algn="l"/>
            <a:r>
              <a:rPr sz="1200" b="0">
                <a:solidFill>
                  <a:srgbClr val="1A2337"/>
                </a:solidFill>
                <a:latin typeface="Calibri"/>
              </a:rPr>
              <a:t>1. Where did Mia walk every Saturday?
A) Beach  B) Maple Park  C) School  D) Zoo</a:t>
            </a:r>
          </a:p>
        </p:txBody>
      </p:sp>
      <p:sp>
        <p:nvSpPr>
          <p:cNvPr id="13" name="Rounded Rectangle 12"/>
          <p:cNvSpPr/>
          <p:nvPr/>
        </p:nvSpPr>
        <p:spPr>
          <a:xfrm>
            <a:off x="6217920" y="114300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8" y="1280160"/>
            <a:ext cx="822960" cy="3200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1298448"/>
            <a:ext cx="822960" cy="274320"/>
          </a:xfrm>
          <a:prstGeom prst="rect">
            <a:avLst/>
          </a:prstGeom>
          <a:noFill/>
        </p:spPr>
        <p:txBody>
          <a:bodyPr wrap="square">
            <a:spAutoFit/>
          </a:bodyPr>
          <a:lstStyle/>
          <a:p>
            <a:pPr algn="ctr"/>
            <a:r>
              <a:rPr sz="1100" b="1">
                <a:solidFill>
                  <a:srgbClr val="FFFFFF"/>
                </a:solidFill>
                <a:latin typeface="Calibri"/>
              </a:rPr>
              <a:t>MCQ</a:t>
            </a:r>
          </a:p>
        </p:txBody>
      </p:sp>
      <p:sp>
        <p:nvSpPr>
          <p:cNvPr id="16" name="TextBox 15"/>
          <p:cNvSpPr txBox="1"/>
          <p:nvPr/>
        </p:nvSpPr>
        <p:spPr>
          <a:xfrm>
            <a:off x="7269480" y="1325880"/>
            <a:ext cx="4480560" cy="868680"/>
          </a:xfrm>
          <a:prstGeom prst="rect">
            <a:avLst/>
          </a:prstGeom>
          <a:noFill/>
        </p:spPr>
        <p:txBody>
          <a:bodyPr wrap="square">
            <a:spAutoFit/>
          </a:bodyPr>
          <a:lstStyle/>
          <a:p>
            <a:pPr algn="l"/>
            <a:r>
              <a:rPr sz="1200" b="0">
                <a:solidFill>
                  <a:srgbClr val="1A2337"/>
                </a:solidFill>
                <a:latin typeface="Calibri"/>
              </a:rPr>
              <a:t>2. What color was the puppy?
A) Black  B) White  C) Brown  D) Gray</a:t>
            </a:r>
          </a:p>
        </p:txBody>
      </p:sp>
      <p:sp>
        <p:nvSpPr>
          <p:cNvPr id="17" name="Rounded Rectangle 16"/>
          <p:cNvSpPr/>
          <p:nvPr/>
        </p:nvSpPr>
        <p:spPr>
          <a:xfrm>
            <a:off x="320040" y="237744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 y="2514600"/>
            <a:ext cx="822960" cy="32004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2532888"/>
            <a:ext cx="822960" cy="274320"/>
          </a:xfrm>
          <a:prstGeom prst="rect">
            <a:avLst/>
          </a:prstGeom>
          <a:noFill/>
        </p:spPr>
        <p:txBody>
          <a:bodyPr wrap="square">
            <a:spAutoFit/>
          </a:bodyPr>
          <a:lstStyle/>
          <a:p>
            <a:pPr algn="ctr"/>
            <a:r>
              <a:rPr sz="1100" b="1">
                <a:solidFill>
                  <a:srgbClr val="FFFFFF"/>
                </a:solidFill>
                <a:latin typeface="Calibri"/>
              </a:rPr>
              <a:t>T/F</a:t>
            </a:r>
          </a:p>
        </p:txBody>
      </p:sp>
      <p:sp>
        <p:nvSpPr>
          <p:cNvPr id="20" name="TextBox 19"/>
          <p:cNvSpPr txBox="1"/>
          <p:nvPr/>
        </p:nvSpPr>
        <p:spPr>
          <a:xfrm>
            <a:off x="1371600" y="2560320"/>
            <a:ext cx="4480560" cy="868680"/>
          </a:xfrm>
          <a:prstGeom prst="rect">
            <a:avLst/>
          </a:prstGeom>
          <a:noFill/>
        </p:spPr>
        <p:txBody>
          <a:bodyPr wrap="square">
            <a:spAutoFit/>
          </a:bodyPr>
          <a:lstStyle/>
          <a:p>
            <a:pPr algn="l"/>
            <a:r>
              <a:rPr sz="1200" b="0">
                <a:solidFill>
                  <a:srgbClr val="1A2337"/>
                </a:solidFill>
                <a:latin typeface="Calibri"/>
              </a:rPr>
              <a:t>3. True or False: The puppy had a name tag.</a:t>
            </a:r>
          </a:p>
        </p:txBody>
      </p:sp>
      <p:sp>
        <p:nvSpPr>
          <p:cNvPr id="21" name="Rounded Rectangle 20"/>
          <p:cNvSpPr/>
          <p:nvPr/>
        </p:nvSpPr>
        <p:spPr>
          <a:xfrm>
            <a:off x="6217920" y="237744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27648" y="2514600"/>
            <a:ext cx="822960" cy="32004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532888"/>
            <a:ext cx="822960" cy="274320"/>
          </a:xfrm>
          <a:prstGeom prst="rect">
            <a:avLst/>
          </a:prstGeom>
          <a:noFill/>
        </p:spPr>
        <p:txBody>
          <a:bodyPr wrap="square">
            <a:spAutoFit/>
          </a:bodyPr>
          <a:lstStyle/>
          <a:p>
            <a:pPr algn="ctr"/>
            <a:r>
              <a:rPr sz="1100" b="1">
                <a:solidFill>
                  <a:srgbClr val="FFFFFF"/>
                </a:solidFill>
                <a:latin typeface="Calibri"/>
              </a:rPr>
              <a:t>T/F</a:t>
            </a:r>
          </a:p>
        </p:txBody>
      </p:sp>
      <p:sp>
        <p:nvSpPr>
          <p:cNvPr id="24" name="TextBox 23"/>
          <p:cNvSpPr txBox="1"/>
          <p:nvPr/>
        </p:nvSpPr>
        <p:spPr>
          <a:xfrm>
            <a:off x="7269480" y="2560320"/>
            <a:ext cx="4480560" cy="868680"/>
          </a:xfrm>
          <a:prstGeom prst="rect">
            <a:avLst/>
          </a:prstGeom>
          <a:noFill/>
        </p:spPr>
        <p:txBody>
          <a:bodyPr wrap="square">
            <a:spAutoFit/>
          </a:bodyPr>
          <a:lstStyle/>
          <a:p>
            <a:pPr algn="l"/>
            <a:r>
              <a:rPr sz="1200" b="0">
                <a:solidFill>
                  <a:srgbClr val="1A2337"/>
                </a:solidFill>
                <a:latin typeface="Calibri"/>
              </a:rPr>
              <a:t>4. True or False: Ava was happy to see Coco again.</a:t>
            </a:r>
          </a:p>
        </p:txBody>
      </p:sp>
      <p:sp>
        <p:nvSpPr>
          <p:cNvPr id="25" name="Rounded Rectangle 24"/>
          <p:cNvSpPr/>
          <p:nvPr/>
        </p:nvSpPr>
        <p:spPr>
          <a:xfrm>
            <a:off x="320040" y="361188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9768" y="3749040"/>
            <a:ext cx="822960" cy="32004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 y="3767328"/>
            <a:ext cx="822960" cy="274320"/>
          </a:xfrm>
          <a:prstGeom prst="rect">
            <a:avLst/>
          </a:prstGeom>
          <a:noFill/>
        </p:spPr>
        <p:txBody>
          <a:bodyPr wrap="square">
            <a:spAutoFit/>
          </a:bodyPr>
          <a:lstStyle/>
          <a:p>
            <a:pPr algn="ctr"/>
            <a:r>
              <a:rPr sz="1100" b="1">
                <a:solidFill>
                  <a:srgbClr val="FFFFFF"/>
                </a:solidFill>
                <a:latin typeface="Calibri"/>
              </a:rPr>
              <a:t>Short</a:t>
            </a:r>
          </a:p>
        </p:txBody>
      </p:sp>
      <p:sp>
        <p:nvSpPr>
          <p:cNvPr id="28" name="TextBox 27"/>
          <p:cNvSpPr txBox="1"/>
          <p:nvPr/>
        </p:nvSpPr>
        <p:spPr>
          <a:xfrm>
            <a:off x="1371600" y="3794760"/>
            <a:ext cx="4480560" cy="868680"/>
          </a:xfrm>
          <a:prstGeom prst="rect">
            <a:avLst/>
          </a:prstGeom>
          <a:noFill/>
        </p:spPr>
        <p:txBody>
          <a:bodyPr wrap="square">
            <a:spAutoFit/>
          </a:bodyPr>
          <a:lstStyle/>
          <a:p>
            <a:pPr algn="l"/>
            <a:r>
              <a:rPr sz="1200" b="0">
                <a:solidFill>
                  <a:srgbClr val="1A2337"/>
                </a:solidFill>
                <a:latin typeface="Calibri"/>
              </a:rPr>
              <a:t>5. What did Mia offer the puppy first?</a:t>
            </a:r>
          </a:p>
        </p:txBody>
      </p:sp>
      <p:sp>
        <p:nvSpPr>
          <p:cNvPr id="29" name="Rounded Rectangle 28"/>
          <p:cNvSpPr/>
          <p:nvPr/>
        </p:nvSpPr>
        <p:spPr>
          <a:xfrm>
            <a:off x="6217920" y="361188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8" y="3749040"/>
            <a:ext cx="822960" cy="32004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3767328"/>
            <a:ext cx="822960" cy="274320"/>
          </a:xfrm>
          <a:prstGeom prst="rect">
            <a:avLst/>
          </a:prstGeom>
          <a:noFill/>
        </p:spPr>
        <p:txBody>
          <a:bodyPr wrap="square">
            <a:spAutoFit/>
          </a:bodyPr>
          <a:lstStyle/>
          <a:p>
            <a:pPr algn="ctr"/>
            <a:r>
              <a:rPr sz="1100" b="1">
                <a:solidFill>
                  <a:srgbClr val="FFFFFF"/>
                </a:solidFill>
                <a:latin typeface="Calibri"/>
              </a:rPr>
              <a:t>Short</a:t>
            </a:r>
          </a:p>
        </p:txBody>
      </p:sp>
      <p:sp>
        <p:nvSpPr>
          <p:cNvPr id="32" name="TextBox 31"/>
          <p:cNvSpPr txBox="1"/>
          <p:nvPr/>
        </p:nvSpPr>
        <p:spPr>
          <a:xfrm>
            <a:off x="7269480" y="3794760"/>
            <a:ext cx="4480560" cy="868680"/>
          </a:xfrm>
          <a:prstGeom prst="rect">
            <a:avLst/>
          </a:prstGeom>
          <a:noFill/>
        </p:spPr>
        <p:txBody>
          <a:bodyPr wrap="square">
            <a:spAutoFit/>
          </a:bodyPr>
          <a:lstStyle/>
          <a:p>
            <a:pPr algn="l"/>
            <a:r>
              <a:rPr sz="1200" b="0">
                <a:solidFill>
                  <a:srgbClr val="1A2337"/>
                </a:solidFill>
                <a:latin typeface="Calibri"/>
              </a:rPr>
              <a:t>6. How did Mia find the owner's phone number?</a:t>
            </a:r>
          </a:p>
        </p:txBody>
      </p:sp>
      <p:sp>
        <p:nvSpPr>
          <p:cNvPr id="33" name="Rounded Rectangle 32"/>
          <p:cNvSpPr/>
          <p:nvPr/>
        </p:nvSpPr>
        <p:spPr>
          <a:xfrm>
            <a:off x="320040" y="484632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9768" y="4983480"/>
            <a:ext cx="822960" cy="320040"/>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 y="5001768"/>
            <a:ext cx="822960" cy="274320"/>
          </a:xfrm>
          <a:prstGeom prst="rect">
            <a:avLst/>
          </a:prstGeom>
          <a:noFill/>
        </p:spPr>
        <p:txBody>
          <a:bodyPr wrap="square">
            <a:spAutoFit/>
          </a:bodyPr>
          <a:lstStyle/>
          <a:p>
            <a:pPr algn="ctr"/>
            <a:r>
              <a:rPr sz="1100" b="1">
                <a:solidFill>
                  <a:srgbClr val="FFFFFF"/>
                </a:solidFill>
                <a:latin typeface="Calibri"/>
              </a:rPr>
              <a:t>Infer</a:t>
            </a:r>
          </a:p>
        </p:txBody>
      </p:sp>
      <p:sp>
        <p:nvSpPr>
          <p:cNvPr id="36" name="TextBox 35"/>
          <p:cNvSpPr txBox="1"/>
          <p:nvPr/>
        </p:nvSpPr>
        <p:spPr>
          <a:xfrm>
            <a:off x="1371600" y="5029200"/>
            <a:ext cx="4480560" cy="868680"/>
          </a:xfrm>
          <a:prstGeom prst="rect">
            <a:avLst/>
          </a:prstGeom>
          <a:noFill/>
        </p:spPr>
        <p:txBody>
          <a:bodyPr wrap="square">
            <a:spAutoFit/>
          </a:bodyPr>
          <a:lstStyle/>
          <a:p>
            <a:pPr algn="l"/>
            <a:r>
              <a:rPr sz="1200" b="0">
                <a:solidFill>
                  <a:srgbClr val="1A2337"/>
                </a:solidFill>
                <a:latin typeface="Calibri"/>
              </a:rPr>
              <a:t>7. Why do you think Mia felt proud at the end?</a:t>
            </a:r>
          </a:p>
        </p:txBody>
      </p:sp>
      <p:sp>
        <p:nvSpPr>
          <p:cNvPr id="37" name="Rounded Rectangle 36"/>
          <p:cNvSpPr/>
          <p:nvPr/>
        </p:nvSpPr>
        <p:spPr>
          <a:xfrm>
            <a:off x="6217920" y="4846320"/>
            <a:ext cx="57150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27648" y="4983480"/>
            <a:ext cx="822960" cy="320040"/>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7648" y="5001768"/>
            <a:ext cx="822960" cy="274320"/>
          </a:xfrm>
          <a:prstGeom prst="rect">
            <a:avLst/>
          </a:prstGeom>
          <a:noFill/>
        </p:spPr>
        <p:txBody>
          <a:bodyPr wrap="square">
            <a:spAutoFit/>
          </a:bodyPr>
          <a:lstStyle/>
          <a:p>
            <a:pPr algn="ctr"/>
            <a:r>
              <a:rPr sz="1100" b="1">
                <a:solidFill>
                  <a:srgbClr val="FFFFFF"/>
                </a:solidFill>
                <a:latin typeface="Calibri"/>
              </a:rPr>
              <a:t>Vocab</a:t>
            </a:r>
          </a:p>
        </p:txBody>
      </p:sp>
      <p:sp>
        <p:nvSpPr>
          <p:cNvPr id="40" name="TextBox 39"/>
          <p:cNvSpPr txBox="1"/>
          <p:nvPr/>
        </p:nvSpPr>
        <p:spPr>
          <a:xfrm>
            <a:off x="7269480" y="5029200"/>
            <a:ext cx="4480560" cy="868680"/>
          </a:xfrm>
          <a:prstGeom prst="rect">
            <a:avLst/>
          </a:prstGeom>
          <a:noFill/>
        </p:spPr>
        <p:txBody>
          <a:bodyPr wrap="square">
            <a:spAutoFit/>
          </a:bodyPr>
          <a:lstStyle/>
          <a:p>
            <a:pPr algn="l"/>
            <a:r>
              <a:rPr sz="1200" b="0">
                <a:solidFill>
                  <a:srgbClr val="1A2337"/>
                </a:solidFill>
                <a:latin typeface="Calibri"/>
              </a:rPr>
              <a:t>8. What does "whimper" most likely mean?
A) Loud bark  B) Soft sad sound  C) Happy laugh</a:t>
            </a:r>
          </a:p>
        </p:txBody>
      </p:sp>
      <p:sp>
        <p:nvSpPr>
          <p:cNvPr id="41" name="Rectangle 40"/>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20–40 min</a:t>
            </a:r>
          </a:p>
        </p:txBody>
      </p:sp>
      <p:sp>
        <p:nvSpPr>
          <p:cNvPr id="43" name="TextBox 42"/>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6/25</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SPEAKING</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~5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Retell the Story in Your Own Words 🗣️</a:t>
            </a:r>
          </a:p>
        </p:txBody>
      </p:sp>
      <p:sp>
        <p:nvSpPr>
          <p:cNvPr id="9" name="Rounded Rectangle 8"/>
          <p:cNvSpPr/>
          <p:nvPr/>
        </p:nvSpPr>
        <p:spPr>
          <a:xfrm>
            <a:off x="365760" y="1463040"/>
            <a:ext cx="27889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463040"/>
            <a:ext cx="2788920" cy="10972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00200"/>
            <a:ext cx="2788920" cy="365760"/>
          </a:xfrm>
          <a:prstGeom prst="rect">
            <a:avLst/>
          </a:prstGeom>
          <a:noFill/>
        </p:spPr>
        <p:txBody>
          <a:bodyPr wrap="square">
            <a:spAutoFit/>
          </a:bodyPr>
          <a:lstStyle/>
          <a:p>
            <a:pPr algn="ctr"/>
            <a:r>
              <a:rPr sz="2000" b="0">
                <a:solidFill>
                  <a:srgbClr val="1A2337"/>
                </a:solidFill>
                <a:latin typeface="Calibri"/>
              </a:rPr>
              <a:t>1️⃣</a:t>
            </a:r>
          </a:p>
        </p:txBody>
      </p:sp>
      <p:sp>
        <p:nvSpPr>
          <p:cNvPr id="12" name="TextBox 11"/>
          <p:cNvSpPr txBox="1"/>
          <p:nvPr/>
        </p:nvSpPr>
        <p:spPr>
          <a:xfrm>
            <a:off x="365760" y="2011680"/>
            <a:ext cx="2788920" cy="365760"/>
          </a:xfrm>
          <a:prstGeom prst="rect">
            <a:avLst/>
          </a:prstGeom>
          <a:noFill/>
        </p:spPr>
        <p:txBody>
          <a:bodyPr wrap="square">
            <a:spAutoFit/>
          </a:bodyPr>
          <a:lstStyle/>
          <a:p>
            <a:pPr algn="ctr"/>
            <a:r>
              <a:rPr sz="1600" b="1">
                <a:solidFill>
                  <a:srgbClr val="FFFFFF"/>
                </a:solidFill>
                <a:latin typeface="Calibri"/>
              </a:rPr>
              <a:t>Beginning</a:t>
            </a:r>
          </a:p>
        </p:txBody>
      </p:sp>
      <p:sp>
        <p:nvSpPr>
          <p:cNvPr id="13" name="TextBox 12"/>
          <p:cNvSpPr txBox="1"/>
          <p:nvPr/>
        </p:nvSpPr>
        <p:spPr>
          <a:xfrm>
            <a:off x="548640" y="3017520"/>
            <a:ext cx="2423160" cy="2286000"/>
          </a:xfrm>
          <a:prstGeom prst="rect">
            <a:avLst/>
          </a:prstGeom>
          <a:noFill/>
        </p:spPr>
        <p:txBody>
          <a:bodyPr wrap="square">
            <a:spAutoFit/>
          </a:bodyPr>
          <a:lstStyle/>
          <a:p>
            <a:pPr algn="ctr"/>
            <a:r>
              <a:rPr sz="1500" b="0">
                <a:solidFill>
                  <a:srgbClr val="1A2337"/>
                </a:solidFill>
                <a:latin typeface="Calibri"/>
              </a:rPr>
              <a:t>Who is Mia and where is she?</a:t>
            </a:r>
          </a:p>
        </p:txBody>
      </p:sp>
      <p:sp>
        <p:nvSpPr>
          <p:cNvPr id="14" name="Rounded Rectangle 13"/>
          <p:cNvSpPr/>
          <p:nvPr/>
        </p:nvSpPr>
        <p:spPr>
          <a:xfrm>
            <a:off x="3291840" y="1463040"/>
            <a:ext cx="27889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463040"/>
            <a:ext cx="2788920" cy="109728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1600200"/>
            <a:ext cx="2788920" cy="365760"/>
          </a:xfrm>
          <a:prstGeom prst="rect">
            <a:avLst/>
          </a:prstGeom>
          <a:noFill/>
        </p:spPr>
        <p:txBody>
          <a:bodyPr wrap="square">
            <a:spAutoFit/>
          </a:bodyPr>
          <a:lstStyle/>
          <a:p>
            <a:pPr algn="ctr"/>
            <a:r>
              <a:rPr sz="2000" b="0">
                <a:solidFill>
                  <a:srgbClr val="1A2337"/>
                </a:solidFill>
                <a:latin typeface="Calibri"/>
              </a:rPr>
              <a:t>2️⃣</a:t>
            </a:r>
          </a:p>
        </p:txBody>
      </p:sp>
      <p:sp>
        <p:nvSpPr>
          <p:cNvPr id="17" name="TextBox 16"/>
          <p:cNvSpPr txBox="1"/>
          <p:nvPr/>
        </p:nvSpPr>
        <p:spPr>
          <a:xfrm>
            <a:off x="3291840" y="2011680"/>
            <a:ext cx="2788920" cy="365760"/>
          </a:xfrm>
          <a:prstGeom prst="rect">
            <a:avLst/>
          </a:prstGeom>
          <a:noFill/>
        </p:spPr>
        <p:txBody>
          <a:bodyPr wrap="square">
            <a:spAutoFit/>
          </a:bodyPr>
          <a:lstStyle/>
          <a:p>
            <a:pPr algn="ctr"/>
            <a:r>
              <a:rPr sz="1600" b="1">
                <a:solidFill>
                  <a:srgbClr val="FFFFFF"/>
                </a:solidFill>
                <a:latin typeface="Calibri"/>
              </a:rPr>
              <a:t>Middle</a:t>
            </a:r>
          </a:p>
        </p:txBody>
      </p:sp>
      <p:sp>
        <p:nvSpPr>
          <p:cNvPr id="18" name="TextBox 17"/>
          <p:cNvSpPr txBox="1"/>
          <p:nvPr/>
        </p:nvSpPr>
        <p:spPr>
          <a:xfrm>
            <a:off x="3474720" y="3017520"/>
            <a:ext cx="2423160" cy="2286000"/>
          </a:xfrm>
          <a:prstGeom prst="rect">
            <a:avLst/>
          </a:prstGeom>
          <a:noFill/>
        </p:spPr>
        <p:txBody>
          <a:bodyPr wrap="square">
            <a:spAutoFit/>
          </a:bodyPr>
          <a:lstStyle/>
          <a:p>
            <a:pPr algn="ctr"/>
            <a:r>
              <a:rPr sz="1500" b="0">
                <a:solidFill>
                  <a:srgbClr val="1A2337"/>
                </a:solidFill>
                <a:latin typeface="Calibri"/>
              </a:rPr>
              <a:t>What problem does she find?</a:t>
            </a:r>
          </a:p>
        </p:txBody>
      </p:sp>
      <p:sp>
        <p:nvSpPr>
          <p:cNvPr id="19" name="Rounded Rectangle 18"/>
          <p:cNvSpPr/>
          <p:nvPr/>
        </p:nvSpPr>
        <p:spPr>
          <a:xfrm>
            <a:off x="6217920" y="1463040"/>
            <a:ext cx="27889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63040"/>
            <a:ext cx="2788920" cy="109728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600200"/>
            <a:ext cx="2788920" cy="365760"/>
          </a:xfrm>
          <a:prstGeom prst="rect">
            <a:avLst/>
          </a:prstGeom>
          <a:noFill/>
        </p:spPr>
        <p:txBody>
          <a:bodyPr wrap="square">
            <a:spAutoFit/>
          </a:bodyPr>
          <a:lstStyle/>
          <a:p>
            <a:pPr algn="ctr"/>
            <a:r>
              <a:rPr sz="2000" b="0">
                <a:solidFill>
                  <a:srgbClr val="1A2337"/>
                </a:solidFill>
                <a:latin typeface="Calibri"/>
              </a:rPr>
              <a:t>3️⃣</a:t>
            </a:r>
          </a:p>
        </p:txBody>
      </p:sp>
      <p:sp>
        <p:nvSpPr>
          <p:cNvPr id="22" name="TextBox 21"/>
          <p:cNvSpPr txBox="1"/>
          <p:nvPr/>
        </p:nvSpPr>
        <p:spPr>
          <a:xfrm>
            <a:off x="6217920" y="2011680"/>
            <a:ext cx="2788920" cy="365760"/>
          </a:xfrm>
          <a:prstGeom prst="rect">
            <a:avLst/>
          </a:prstGeom>
          <a:noFill/>
        </p:spPr>
        <p:txBody>
          <a:bodyPr wrap="square">
            <a:spAutoFit/>
          </a:bodyPr>
          <a:lstStyle/>
          <a:p>
            <a:pPr algn="ctr"/>
            <a:r>
              <a:rPr sz="1600" b="1">
                <a:solidFill>
                  <a:srgbClr val="FFFFFF"/>
                </a:solidFill>
                <a:latin typeface="Calibri"/>
              </a:rPr>
              <a:t>Turning Point</a:t>
            </a:r>
          </a:p>
        </p:txBody>
      </p:sp>
      <p:sp>
        <p:nvSpPr>
          <p:cNvPr id="23" name="TextBox 22"/>
          <p:cNvSpPr txBox="1"/>
          <p:nvPr/>
        </p:nvSpPr>
        <p:spPr>
          <a:xfrm>
            <a:off x="6400800" y="3017520"/>
            <a:ext cx="2423160" cy="2286000"/>
          </a:xfrm>
          <a:prstGeom prst="rect">
            <a:avLst/>
          </a:prstGeom>
          <a:noFill/>
        </p:spPr>
        <p:txBody>
          <a:bodyPr wrap="square">
            <a:spAutoFit/>
          </a:bodyPr>
          <a:lstStyle/>
          <a:p>
            <a:pPr algn="ctr"/>
            <a:r>
              <a:rPr sz="1500" b="0">
                <a:solidFill>
                  <a:srgbClr val="1A2337"/>
                </a:solidFill>
                <a:latin typeface="Calibri"/>
              </a:rPr>
              <a:t>How does she solve it?</a:t>
            </a:r>
          </a:p>
        </p:txBody>
      </p:sp>
      <p:sp>
        <p:nvSpPr>
          <p:cNvPr id="24" name="Rounded Rectangle 23"/>
          <p:cNvSpPr/>
          <p:nvPr/>
        </p:nvSpPr>
        <p:spPr>
          <a:xfrm>
            <a:off x="9144000" y="1463040"/>
            <a:ext cx="27889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1463040"/>
            <a:ext cx="2788920" cy="109728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600200"/>
            <a:ext cx="2788920" cy="365760"/>
          </a:xfrm>
          <a:prstGeom prst="rect">
            <a:avLst/>
          </a:prstGeom>
          <a:noFill/>
        </p:spPr>
        <p:txBody>
          <a:bodyPr wrap="square">
            <a:spAutoFit/>
          </a:bodyPr>
          <a:lstStyle/>
          <a:p>
            <a:pPr algn="ctr"/>
            <a:r>
              <a:rPr sz="2000" b="0">
                <a:solidFill>
                  <a:srgbClr val="1A2337"/>
                </a:solidFill>
                <a:latin typeface="Calibri"/>
              </a:rPr>
              <a:t>4️⃣</a:t>
            </a:r>
          </a:p>
        </p:txBody>
      </p:sp>
      <p:sp>
        <p:nvSpPr>
          <p:cNvPr id="27" name="TextBox 26"/>
          <p:cNvSpPr txBox="1"/>
          <p:nvPr/>
        </p:nvSpPr>
        <p:spPr>
          <a:xfrm>
            <a:off x="9144000" y="2011680"/>
            <a:ext cx="2788920" cy="365760"/>
          </a:xfrm>
          <a:prstGeom prst="rect">
            <a:avLst/>
          </a:prstGeom>
          <a:noFill/>
        </p:spPr>
        <p:txBody>
          <a:bodyPr wrap="square">
            <a:spAutoFit/>
          </a:bodyPr>
          <a:lstStyle/>
          <a:p>
            <a:pPr algn="ctr"/>
            <a:r>
              <a:rPr sz="1600" b="1">
                <a:solidFill>
                  <a:srgbClr val="FFFFFF"/>
                </a:solidFill>
                <a:latin typeface="Calibri"/>
              </a:rPr>
              <a:t>Ending</a:t>
            </a:r>
          </a:p>
        </p:txBody>
      </p:sp>
      <p:sp>
        <p:nvSpPr>
          <p:cNvPr id="28" name="TextBox 27"/>
          <p:cNvSpPr txBox="1"/>
          <p:nvPr/>
        </p:nvSpPr>
        <p:spPr>
          <a:xfrm>
            <a:off x="9326880" y="3017520"/>
            <a:ext cx="2423160" cy="2286000"/>
          </a:xfrm>
          <a:prstGeom prst="rect">
            <a:avLst/>
          </a:prstGeom>
          <a:noFill/>
        </p:spPr>
        <p:txBody>
          <a:bodyPr wrap="square">
            <a:spAutoFit/>
          </a:bodyPr>
          <a:lstStyle/>
          <a:p>
            <a:pPr algn="ctr"/>
            <a:r>
              <a:rPr sz="1500" b="0">
                <a:solidFill>
                  <a:srgbClr val="1A2337"/>
                </a:solidFill>
                <a:latin typeface="Calibri"/>
              </a:rPr>
              <a:t>How does everyone feel?</a:t>
            </a:r>
          </a:p>
        </p:txBody>
      </p:sp>
      <p:sp>
        <p:nvSpPr>
          <p:cNvPr id="29" name="Rectangle 28"/>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20–40 min</a:t>
            </a:r>
          </a:p>
        </p:txBody>
      </p:sp>
      <p:sp>
        <p:nvSpPr>
          <p:cNvPr id="31" name="TextBox 3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7/25</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GRAMMAR</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Grammar • 20 min</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Parts of Speech Power-Up ⚡</a:t>
            </a:r>
          </a:p>
        </p:txBody>
      </p:sp>
      <p:sp>
        <p:nvSpPr>
          <p:cNvPr id="9" name="Rounded Rectangle 8"/>
          <p:cNvSpPr/>
          <p:nvPr/>
        </p:nvSpPr>
        <p:spPr>
          <a:xfrm>
            <a:off x="320040" y="1371600"/>
            <a:ext cx="283464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371600"/>
            <a:ext cx="2834640" cy="1188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463040"/>
            <a:ext cx="2834640" cy="457200"/>
          </a:xfrm>
          <a:prstGeom prst="rect">
            <a:avLst/>
          </a:prstGeom>
          <a:noFill/>
        </p:spPr>
        <p:txBody>
          <a:bodyPr wrap="square">
            <a:spAutoFit/>
          </a:bodyPr>
          <a:lstStyle/>
          <a:p>
            <a:pPr algn="ctr"/>
            <a:r>
              <a:rPr sz="2800" b="0">
                <a:solidFill>
                  <a:srgbClr val="1A2337"/>
                </a:solidFill>
                <a:latin typeface="Calibri"/>
              </a:rPr>
              <a:t>📚</a:t>
            </a:r>
          </a:p>
        </p:txBody>
      </p:sp>
      <p:sp>
        <p:nvSpPr>
          <p:cNvPr id="12" name="TextBox 11"/>
          <p:cNvSpPr txBox="1"/>
          <p:nvPr/>
        </p:nvSpPr>
        <p:spPr>
          <a:xfrm>
            <a:off x="320040" y="2011680"/>
            <a:ext cx="2834640" cy="411480"/>
          </a:xfrm>
          <a:prstGeom prst="rect">
            <a:avLst/>
          </a:prstGeom>
          <a:noFill/>
        </p:spPr>
        <p:txBody>
          <a:bodyPr wrap="square">
            <a:spAutoFit/>
          </a:bodyPr>
          <a:lstStyle/>
          <a:p>
            <a:pPr algn="ctr"/>
            <a:r>
              <a:rPr sz="1800" b="1">
                <a:solidFill>
                  <a:srgbClr val="FFFFFF"/>
                </a:solidFill>
                <a:latin typeface="Calibri"/>
              </a:rPr>
              <a:t>Nouns</a:t>
            </a:r>
          </a:p>
        </p:txBody>
      </p:sp>
      <p:sp>
        <p:nvSpPr>
          <p:cNvPr id="13" name="TextBox 12"/>
          <p:cNvSpPr txBox="1"/>
          <p:nvPr/>
        </p:nvSpPr>
        <p:spPr>
          <a:xfrm>
            <a:off x="502920" y="2926080"/>
            <a:ext cx="2468880" cy="1371600"/>
          </a:xfrm>
          <a:prstGeom prst="rect">
            <a:avLst/>
          </a:prstGeom>
          <a:noFill/>
        </p:spPr>
        <p:txBody>
          <a:bodyPr wrap="square">
            <a:spAutoFit/>
          </a:bodyPr>
          <a:lstStyle/>
          <a:p>
            <a:pPr algn="ctr"/>
            <a:r>
              <a:rPr sz="1400" b="0">
                <a:solidFill>
                  <a:srgbClr val="1A2337"/>
                </a:solidFill>
                <a:latin typeface="Calibri"/>
              </a:rPr>
              <a:t>Naming words
person, place, thing</a:t>
            </a:r>
          </a:p>
        </p:txBody>
      </p:sp>
      <p:sp>
        <p:nvSpPr>
          <p:cNvPr id="14" name="Rounded Rectangle 13"/>
          <p:cNvSpPr/>
          <p:nvPr/>
        </p:nvSpPr>
        <p:spPr>
          <a:xfrm>
            <a:off x="548640" y="4572000"/>
            <a:ext cx="2377440" cy="100584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54880"/>
            <a:ext cx="2286000" cy="731520"/>
          </a:xfrm>
          <a:prstGeom prst="rect">
            <a:avLst/>
          </a:prstGeom>
          <a:noFill/>
        </p:spPr>
        <p:txBody>
          <a:bodyPr wrap="square">
            <a:spAutoFit/>
          </a:bodyPr>
          <a:lstStyle/>
          <a:p>
            <a:pPr algn="ctr"/>
            <a:r>
              <a:rPr sz="1300" b="1">
                <a:solidFill>
                  <a:srgbClr val="0B3D91"/>
                </a:solidFill>
                <a:latin typeface="Calibri"/>
              </a:rPr>
              <a:t>Ex: Mia, park, puppy</a:t>
            </a:r>
          </a:p>
        </p:txBody>
      </p:sp>
      <p:sp>
        <p:nvSpPr>
          <p:cNvPr id="16" name="Rounded Rectangle 15"/>
          <p:cNvSpPr/>
          <p:nvPr/>
        </p:nvSpPr>
        <p:spPr>
          <a:xfrm>
            <a:off x="3291840" y="1371600"/>
            <a:ext cx="283464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1371600"/>
            <a:ext cx="2834640" cy="11887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1463040"/>
            <a:ext cx="2834640" cy="457200"/>
          </a:xfrm>
          <a:prstGeom prst="rect">
            <a:avLst/>
          </a:prstGeom>
          <a:noFill/>
        </p:spPr>
        <p:txBody>
          <a:bodyPr wrap="square">
            <a:spAutoFit/>
          </a:bodyPr>
          <a:lstStyle/>
          <a:p>
            <a:pPr algn="ctr"/>
            <a:r>
              <a:rPr sz="2800" b="0">
                <a:solidFill>
                  <a:srgbClr val="1A2337"/>
                </a:solidFill>
                <a:latin typeface="Calibri"/>
              </a:rPr>
              <a:t>🏃</a:t>
            </a:r>
          </a:p>
        </p:txBody>
      </p:sp>
      <p:sp>
        <p:nvSpPr>
          <p:cNvPr id="19" name="TextBox 18"/>
          <p:cNvSpPr txBox="1"/>
          <p:nvPr/>
        </p:nvSpPr>
        <p:spPr>
          <a:xfrm>
            <a:off x="3291840" y="2011680"/>
            <a:ext cx="2834640" cy="411480"/>
          </a:xfrm>
          <a:prstGeom prst="rect">
            <a:avLst/>
          </a:prstGeom>
          <a:noFill/>
        </p:spPr>
        <p:txBody>
          <a:bodyPr wrap="square">
            <a:spAutoFit/>
          </a:bodyPr>
          <a:lstStyle/>
          <a:p>
            <a:pPr algn="ctr"/>
            <a:r>
              <a:rPr sz="1800" b="1">
                <a:solidFill>
                  <a:srgbClr val="FFFFFF"/>
                </a:solidFill>
                <a:latin typeface="Calibri"/>
              </a:rPr>
              <a:t>Verbs</a:t>
            </a:r>
          </a:p>
        </p:txBody>
      </p:sp>
      <p:sp>
        <p:nvSpPr>
          <p:cNvPr id="20" name="TextBox 19"/>
          <p:cNvSpPr txBox="1"/>
          <p:nvPr/>
        </p:nvSpPr>
        <p:spPr>
          <a:xfrm>
            <a:off x="3474720" y="2926080"/>
            <a:ext cx="2468880" cy="1371600"/>
          </a:xfrm>
          <a:prstGeom prst="rect">
            <a:avLst/>
          </a:prstGeom>
          <a:noFill/>
        </p:spPr>
        <p:txBody>
          <a:bodyPr wrap="square">
            <a:spAutoFit/>
          </a:bodyPr>
          <a:lstStyle/>
          <a:p>
            <a:pPr algn="ctr"/>
            <a:r>
              <a:rPr sz="1400" b="0">
                <a:solidFill>
                  <a:srgbClr val="1A2337"/>
                </a:solidFill>
                <a:latin typeface="Calibri"/>
              </a:rPr>
              <a:t>Action / being words</a:t>
            </a:r>
          </a:p>
        </p:txBody>
      </p:sp>
      <p:sp>
        <p:nvSpPr>
          <p:cNvPr id="21" name="Rounded Rectangle 20"/>
          <p:cNvSpPr/>
          <p:nvPr/>
        </p:nvSpPr>
        <p:spPr>
          <a:xfrm>
            <a:off x="3520440" y="4572000"/>
            <a:ext cx="2377440" cy="10058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4754880"/>
            <a:ext cx="2286000" cy="731520"/>
          </a:xfrm>
          <a:prstGeom prst="rect">
            <a:avLst/>
          </a:prstGeom>
          <a:noFill/>
        </p:spPr>
        <p:txBody>
          <a:bodyPr wrap="square">
            <a:spAutoFit/>
          </a:bodyPr>
          <a:lstStyle/>
          <a:p>
            <a:pPr algn="ctr"/>
            <a:r>
              <a:rPr sz="1300" b="1">
                <a:solidFill>
                  <a:srgbClr val="0B3D91"/>
                </a:solidFill>
                <a:latin typeface="Calibri"/>
              </a:rPr>
              <a:t>Ex: walked, heard, felt</a:t>
            </a:r>
          </a:p>
        </p:txBody>
      </p:sp>
      <p:sp>
        <p:nvSpPr>
          <p:cNvPr id="23" name="Rounded Rectangle 22"/>
          <p:cNvSpPr/>
          <p:nvPr/>
        </p:nvSpPr>
        <p:spPr>
          <a:xfrm>
            <a:off x="6263640" y="1371600"/>
            <a:ext cx="283464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1371600"/>
            <a:ext cx="2834640" cy="11887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463040"/>
            <a:ext cx="2834640" cy="457200"/>
          </a:xfrm>
          <a:prstGeom prst="rect">
            <a:avLst/>
          </a:prstGeom>
          <a:noFill/>
        </p:spPr>
        <p:txBody>
          <a:bodyPr wrap="square">
            <a:spAutoFit/>
          </a:bodyPr>
          <a:lstStyle/>
          <a:p>
            <a:pPr algn="ctr"/>
            <a:r>
              <a:rPr sz="2800" b="0">
                <a:solidFill>
                  <a:srgbClr val="1A2337"/>
                </a:solidFill>
                <a:latin typeface="Calibri"/>
              </a:rPr>
              <a:t>🎨</a:t>
            </a:r>
          </a:p>
        </p:txBody>
      </p:sp>
      <p:sp>
        <p:nvSpPr>
          <p:cNvPr id="26" name="TextBox 25"/>
          <p:cNvSpPr txBox="1"/>
          <p:nvPr/>
        </p:nvSpPr>
        <p:spPr>
          <a:xfrm>
            <a:off x="6263640" y="2011680"/>
            <a:ext cx="2834640" cy="411480"/>
          </a:xfrm>
          <a:prstGeom prst="rect">
            <a:avLst/>
          </a:prstGeom>
          <a:noFill/>
        </p:spPr>
        <p:txBody>
          <a:bodyPr wrap="square">
            <a:spAutoFit/>
          </a:bodyPr>
          <a:lstStyle/>
          <a:p>
            <a:pPr algn="ctr"/>
            <a:r>
              <a:rPr sz="1800" b="1">
                <a:solidFill>
                  <a:srgbClr val="FFFFFF"/>
                </a:solidFill>
                <a:latin typeface="Calibri"/>
              </a:rPr>
              <a:t>Adjectives</a:t>
            </a:r>
          </a:p>
        </p:txBody>
      </p:sp>
      <p:sp>
        <p:nvSpPr>
          <p:cNvPr id="27" name="TextBox 26"/>
          <p:cNvSpPr txBox="1"/>
          <p:nvPr/>
        </p:nvSpPr>
        <p:spPr>
          <a:xfrm>
            <a:off x="6446520" y="2926080"/>
            <a:ext cx="2468880" cy="1371600"/>
          </a:xfrm>
          <a:prstGeom prst="rect">
            <a:avLst/>
          </a:prstGeom>
          <a:noFill/>
        </p:spPr>
        <p:txBody>
          <a:bodyPr wrap="square">
            <a:spAutoFit/>
          </a:bodyPr>
          <a:lstStyle/>
          <a:p>
            <a:pPr algn="ctr"/>
            <a:r>
              <a:rPr sz="1400" b="0">
                <a:solidFill>
                  <a:srgbClr val="1A2337"/>
                </a:solidFill>
                <a:latin typeface="Calibri"/>
              </a:rPr>
              <a:t>Describe nouns</a:t>
            </a:r>
          </a:p>
        </p:txBody>
      </p:sp>
      <p:sp>
        <p:nvSpPr>
          <p:cNvPr id="28" name="Rounded Rectangle 27"/>
          <p:cNvSpPr/>
          <p:nvPr/>
        </p:nvSpPr>
        <p:spPr>
          <a:xfrm>
            <a:off x="6492240" y="4572000"/>
            <a:ext cx="2377440" cy="100584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4754880"/>
            <a:ext cx="2286000" cy="731520"/>
          </a:xfrm>
          <a:prstGeom prst="rect">
            <a:avLst/>
          </a:prstGeom>
          <a:noFill/>
        </p:spPr>
        <p:txBody>
          <a:bodyPr wrap="square">
            <a:spAutoFit/>
          </a:bodyPr>
          <a:lstStyle/>
          <a:p>
            <a:pPr algn="ctr"/>
            <a:r>
              <a:rPr sz="1300" b="1">
                <a:solidFill>
                  <a:srgbClr val="0B3D91"/>
                </a:solidFill>
                <a:latin typeface="Calibri"/>
              </a:rPr>
              <a:t>Ex: tiny, brown, proud</a:t>
            </a:r>
          </a:p>
        </p:txBody>
      </p:sp>
      <p:sp>
        <p:nvSpPr>
          <p:cNvPr id="30" name="Rounded Rectangle 29"/>
          <p:cNvSpPr/>
          <p:nvPr/>
        </p:nvSpPr>
        <p:spPr>
          <a:xfrm>
            <a:off x="9235440" y="1371600"/>
            <a:ext cx="283464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35440" y="1371600"/>
            <a:ext cx="2834640" cy="118872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0" y="1463040"/>
            <a:ext cx="2834640" cy="457200"/>
          </a:xfrm>
          <a:prstGeom prst="rect">
            <a:avLst/>
          </a:prstGeom>
          <a:noFill/>
        </p:spPr>
        <p:txBody>
          <a:bodyPr wrap="square">
            <a:spAutoFit/>
          </a:bodyPr>
          <a:lstStyle/>
          <a:p>
            <a:pPr algn="ctr"/>
            <a:r>
              <a:rPr sz="2800" b="0">
                <a:solidFill>
                  <a:srgbClr val="1A2337"/>
                </a:solidFill>
                <a:latin typeface="Calibri"/>
              </a:rPr>
              <a:t>🚀</a:t>
            </a:r>
          </a:p>
        </p:txBody>
      </p:sp>
      <p:sp>
        <p:nvSpPr>
          <p:cNvPr id="33" name="TextBox 32"/>
          <p:cNvSpPr txBox="1"/>
          <p:nvPr/>
        </p:nvSpPr>
        <p:spPr>
          <a:xfrm>
            <a:off x="9235440" y="2011680"/>
            <a:ext cx="2834640" cy="411480"/>
          </a:xfrm>
          <a:prstGeom prst="rect">
            <a:avLst/>
          </a:prstGeom>
          <a:noFill/>
        </p:spPr>
        <p:txBody>
          <a:bodyPr wrap="square">
            <a:spAutoFit/>
          </a:bodyPr>
          <a:lstStyle/>
          <a:p>
            <a:pPr algn="ctr"/>
            <a:r>
              <a:rPr sz="1800" b="1">
                <a:solidFill>
                  <a:srgbClr val="FFFFFF"/>
                </a:solidFill>
                <a:latin typeface="Calibri"/>
              </a:rPr>
              <a:t>Adverbs</a:t>
            </a:r>
          </a:p>
        </p:txBody>
      </p:sp>
      <p:sp>
        <p:nvSpPr>
          <p:cNvPr id="34" name="TextBox 33"/>
          <p:cNvSpPr txBox="1"/>
          <p:nvPr/>
        </p:nvSpPr>
        <p:spPr>
          <a:xfrm>
            <a:off x="9418320" y="2926080"/>
            <a:ext cx="2468880" cy="1371600"/>
          </a:xfrm>
          <a:prstGeom prst="rect">
            <a:avLst/>
          </a:prstGeom>
          <a:noFill/>
        </p:spPr>
        <p:txBody>
          <a:bodyPr wrap="square">
            <a:spAutoFit/>
          </a:bodyPr>
          <a:lstStyle/>
          <a:p>
            <a:pPr algn="ctr"/>
            <a:r>
              <a:rPr sz="1400" b="0">
                <a:solidFill>
                  <a:srgbClr val="1A2337"/>
                </a:solidFill>
                <a:latin typeface="Calibri"/>
              </a:rPr>
              <a:t>Describe verbs
how / when / where</a:t>
            </a:r>
          </a:p>
        </p:txBody>
      </p:sp>
      <p:sp>
        <p:nvSpPr>
          <p:cNvPr id="35" name="Rounded Rectangle 34"/>
          <p:cNvSpPr/>
          <p:nvPr/>
        </p:nvSpPr>
        <p:spPr>
          <a:xfrm>
            <a:off x="9464040" y="4572000"/>
            <a:ext cx="2377440" cy="10058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09760" y="4754880"/>
            <a:ext cx="2286000" cy="731520"/>
          </a:xfrm>
          <a:prstGeom prst="rect">
            <a:avLst/>
          </a:prstGeom>
          <a:noFill/>
        </p:spPr>
        <p:txBody>
          <a:bodyPr wrap="square">
            <a:spAutoFit/>
          </a:bodyPr>
          <a:lstStyle/>
          <a:p>
            <a:pPr algn="ctr"/>
            <a:r>
              <a:rPr sz="1300" b="1">
                <a:solidFill>
                  <a:srgbClr val="0B3D91"/>
                </a:solidFill>
                <a:latin typeface="Calibri"/>
              </a:rPr>
              <a:t>Ex: cheerfully, gently, quickly</a:t>
            </a:r>
          </a:p>
        </p:txBody>
      </p:sp>
      <p:sp>
        <p:nvSpPr>
          <p:cNvPr id="37" name="Rectangle 36"/>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40–60 min</a:t>
            </a:r>
          </a:p>
        </p:txBody>
      </p:sp>
      <p:sp>
        <p:nvSpPr>
          <p:cNvPr id="39" name="TextBox 3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8/25</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PRACTICE</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~7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Grammar Practice — Find It! 🔍</a:t>
            </a:r>
          </a:p>
        </p:txBody>
      </p:sp>
      <p:sp>
        <p:nvSpPr>
          <p:cNvPr id="9" name="TextBox 8"/>
          <p:cNvSpPr txBox="1"/>
          <p:nvPr/>
        </p:nvSpPr>
        <p:spPr>
          <a:xfrm>
            <a:off x="365760" y="1143000"/>
            <a:ext cx="10972800" cy="274320"/>
          </a:xfrm>
          <a:prstGeom prst="rect">
            <a:avLst/>
          </a:prstGeom>
          <a:noFill/>
        </p:spPr>
        <p:txBody>
          <a:bodyPr wrap="square">
            <a:spAutoFit/>
          </a:bodyPr>
          <a:lstStyle/>
          <a:p>
            <a:pPr algn="l"/>
            <a:r>
              <a:rPr sz="1300" b="0">
                <a:solidFill>
                  <a:srgbClr val="546E7A"/>
                </a:solidFill>
                <a:latin typeface="Calibri"/>
              </a:rPr>
              <a:t>Teacher-led interactive: Sage points / says the answer (drag-and-drop style).</a:t>
            </a:r>
          </a:p>
        </p:txBody>
      </p:sp>
      <p:sp>
        <p:nvSpPr>
          <p:cNvPr id="10" name="Rounded Rectangle 9"/>
          <p:cNvSpPr/>
          <p:nvPr/>
        </p:nvSpPr>
        <p:spPr>
          <a:xfrm>
            <a:off x="320040" y="1554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554480"/>
            <a:ext cx="3749039" cy="50292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64208"/>
            <a:ext cx="3474720" cy="320040"/>
          </a:xfrm>
          <a:prstGeom prst="rect">
            <a:avLst/>
          </a:prstGeom>
          <a:noFill/>
        </p:spPr>
        <p:txBody>
          <a:bodyPr wrap="square">
            <a:spAutoFit/>
          </a:bodyPr>
          <a:lstStyle/>
          <a:p>
            <a:pPr algn="l"/>
            <a:r>
              <a:rPr sz="1400" b="1">
                <a:solidFill>
                  <a:srgbClr val="FFFFFF"/>
                </a:solidFill>
                <a:latin typeface="Calibri"/>
              </a:rPr>
              <a:t>Circle the VERB</a:t>
            </a:r>
          </a:p>
        </p:txBody>
      </p:sp>
      <p:sp>
        <p:nvSpPr>
          <p:cNvPr id="13" name="TextBox 12"/>
          <p:cNvSpPr txBox="1"/>
          <p:nvPr/>
        </p:nvSpPr>
        <p:spPr>
          <a:xfrm>
            <a:off x="502920" y="2286000"/>
            <a:ext cx="3383280" cy="1188720"/>
          </a:xfrm>
          <a:prstGeom prst="rect">
            <a:avLst/>
          </a:prstGeom>
          <a:noFill/>
        </p:spPr>
        <p:txBody>
          <a:bodyPr wrap="square">
            <a:spAutoFit/>
          </a:bodyPr>
          <a:lstStyle/>
          <a:p>
            <a:pPr algn="l"/>
            <a:r>
              <a:rPr sz="1400" b="0">
                <a:solidFill>
                  <a:srgbClr val="1A2337"/>
                </a:solidFill>
                <a:latin typeface="Calibri"/>
              </a:rPr>
              <a:t>Mia walked through Maple Park.</a:t>
            </a:r>
          </a:p>
        </p:txBody>
      </p:sp>
      <p:sp>
        <p:nvSpPr>
          <p:cNvPr id="14" name="Rounded Rectangle 13"/>
          <p:cNvSpPr/>
          <p:nvPr/>
        </p:nvSpPr>
        <p:spPr>
          <a:xfrm>
            <a:off x="4251959" y="1554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59" y="1554480"/>
            <a:ext cx="3749039" cy="5029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64208"/>
            <a:ext cx="3474720" cy="320040"/>
          </a:xfrm>
          <a:prstGeom prst="rect">
            <a:avLst/>
          </a:prstGeom>
          <a:noFill/>
        </p:spPr>
        <p:txBody>
          <a:bodyPr wrap="square">
            <a:spAutoFit/>
          </a:bodyPr>
          <a:lstStyle/>
          <a:p>
            <a:pPr algn="l"/>
            <a:r>
              <a:rPr sz="1400" b="1">
                <a:solidFill>
                  <a:srgbClr val="FFFFFF"/>
                </a:solidFill>
                <a:latin typeface="Calibri"/>
              </a:rPr>
              <a:t>Underline the ADJECTIVE</a:t>
            </a:r>
          </a:p>
        </p:txBody>
      </p:sp>
      <p:sp>
        <p:nvSpPr>
          <p:cNvPr id="17" name="TextBox 16"/>
          <p:cNvSpPr txBox="1"/>
          <p:nvPr/>
        </p:nvSpPr>
        <p:spPr>
          <a:xfrm>
            <a:off x="4434839" y="2286000"/>
            <a:ext cx="3383280" cy="1188720"/>
          </a:xfrm>
          <a:prstGeom prst="rect">
            <a:avLst/>
          </a:prstGeom>
          <a:noFill/>
        </p:spPr>
        <p:txBody>
          <a:bodyPr wrap="square">
            <a:spAutoFit/>
          </a:bodyPr>
          <a:lstStyle/>
          <a:p>
            <a:pPr algn="l"/>
            <a:r>
              <a:rPr sz="1400" b="0">
                <a:solidFill>
                  <a:srgbClr val="1A2337"/>
                </a:solidFill>
                <a:latin typeface="Calibri"/>
              </a:rPr>
              <a:t>A tiny brown puppy sat nearby.</a:t>
            </a:r>
          </a:p>
        </p:txBody>
      </p:sp>
      <p:sp>
        <p:nvSpPr>
          <p:cNvPr id="18" name="Rounded Rectangle 17"/>
          <p:cNvSpPr/>
          <p:nvPr/>
        </p:nvSpPr>
        <p:spPr>
          <a:xfrm>
            <a:off x="8183879" y="1554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1554480"/>
            <a:ext cx="3749039" cy="5029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9" y="1664208"/>
            <a:ext cx="3474720" cy="320040"/>
          </a:xfrm>
          <a:prstGeom prst="rect">
            <a:avLst/>
          </a:prstGeom>
          <a:noFill/>
        </p:spPr>
        <p:txBody>
          <a:bodyPr wrap="square">
            <a:spAutoFit/>
          </a:bodyPr>
          <a:lstStyle/>
          <a:p>
            <a:pPr algn="l"/>
            <a:r>
              <a:rPr sz="1400" b="1">
                <a:solidFill>
                  <a:srgbClr val="FFFFFF"/>
                </a:solidFill>
                <a:latin typeface="Calibri"/>
              </a:rPr>
              <a:t>Choose the NOUN</a:t>
            </a:r>
          </a:p>
        </p:txBody>
      </p:sp>
      <p:sp>
        <p:nvSpPr>
          <p:cNvPr id="21" name="TextBox 20"/>
          <p:cNvSpPr txBox="1"/>
          <p:nvPr/>
        </p:nvSpPr>
        <p:spPr>
          <a:xfrm>
            <a:off x="8366759" y="2286000"/>
            <a:ext cx="3383280" cy="1188720"/>
          </a:xfrm>
          <a:prstGeom prst="rect">
            <a:avLst/>
          </a:prstGeom>
          <a:noFill/>
        </p:spPr>
        <p:txBody>
          <a:bodyPr wrap="square">
            <a:spAutoFit/>
          </a:bodyPr>
          <a:lstStyle/>
          <a:p>
            <a:pPr algn="l"/>
            <a:r>
              <a:rPr sz="1400" b="0">
                <a:solidFill>
                  <a:srgbClr val="1A2337"/>
                </a:solidFill>
                <a:latin typeface="Calibri"/>
              </a:rPr>
              <a:t>The birds sang cheerfully.
Noun = birds / sang / cheerfully?</a:t>
            </a:r>
          </a:p>
        </p:txBody>
      </p:sp>
      <p:sp>
        <p:nvSpPr>
          <p:cNvPr id="22" name="Rounded Rectangle 21"/>
          <p:cNvSpPr/>
          <p:nvPr/>
        </p:nvSpPr>
        <p:spPr>
          <a:xfrm>
            <a:off x="320040" y="3840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840480"/>
            <a:ext cx="3749039" cy="50292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950208"/>
            <a:ext cx="3474720" cy="320040"/>
          </a:xfrm>
          <a:prstGeom prst="rect">
            <a:avLst/>
          </a:prstGeom>
          <a:noFill/>
        </p:spPr>
        <p:txBody>
          <a:bodyPr wrap="square">
            <a:spAutoFit/>
          </a:bodyPr>
          <a:lstStyle/>
          <a:p>
            <a:pPr algn="l"/>
            <a:r>
              <a:rPr sz="1400" b="1">
                <a:solidFill>
                  <a:srgbClr val="FFFFFF"/>
                </a:solidFill>
                <a:latin typeface="Calibri"/>
              </a:rPr>
              <a:t>Find the ADVERB</a:t>
            </a:r>
          </a:p>
        </p:txBody>
      </p:sp>
      <p:sp>
        <p:nvSpPr>
          <p:cNvPr id="25" name="TextBox 24"/>
          <p:cNvSpPr txBox="1"/>
          <p:nvPr/>
        </p:nvSpPr>
        <p:spPr>
          <a:xfrm>
            <a:off x="502920" y="4572000"/>
            <a:ext cx="3383280" cy="1188720"/>
          </a:xfrm>
          <a:prstGeom prst="rect">
            <a:avLst/>
          </a:prstGeom>
          <a:noFill/>
        </p:spPr>
        <p:txBody>
          <a:bodyPr wrap="square">
            <a:spAutoFit/>
          </a:bodyPr>
          <a:lstStyle/>
          <a:p>
            <a:pPr algn="l"/>
            <a:r>
              <a:rPr sz="1400" b="0">
                <a:solidFill>
                  <a:srgbClr val="1A2337"/>
                </a:solidFill>
                <a:latin typeface="Calibri"/>
              </a:rPr>
              <a:t>Mia gently offered water.</a:t>
            </a:r>
          </a:p>
        </p:txBody>
      </p:sp>
      <p:sp>
        <p:nvSpPr>
          <p:cNvPr id="26" name="Rounded Rectangle 25"/>
          <p:cNvSpPr/>
          <p:nvPr/>
        </p:nvSpPr>
        <p:spPr>
          <a:xfrm>
            <a:off x="4251959" y="3840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59" y="3840480"/>
            <a:ext cx="3749039"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19" y="3950208"/>
            <a:ext cx="3474720" cy="320040"/>
          </a:xfrm>
          <a:prstGeom prst="rect">
            <a:avLst/>
          </a:prstGeom>
          <a:noFill/>
        </p:spPr>
        <p:txBody>
          <a:bodyPr wrap="square">
            <a:spAutoFit/>
          </a:bodyPr>
          <a:lstStyle/>
          <a:p>
            <a:pPr algn="l"/>
            <a:r>
              <a:rPr sz="1400" b="1">
                <a:solidFill>
                  <a:srgbClr val="FFFFFF"/>
                </a:solidFill>
                <a:latin typeface="Calibri"/>
              </a:rPr>
              <a:t>Spot ALL parts</a:t>
            </a:r>
          </a:p>
        </p:txBody>
      </p:sp>
      <p:sp>
        <p:nvSpPr>
          <p:cNvPr id="29" name="TextBox 28"/>
          <p:cNvSpPr txBox="1"/>
          <p:nvPr/>
        </p:nvSpPr>
        <p:spPr>
          <a:xfrm>
            <a:off x="4434839" y="4572000"/>
            <a:ext cx="3383280" cy="1188720"/>
          </a:xfrm>
          <a:prstGeom prst="rect">
            <a:avLst/>
          </a:prstGeom>
          <a:noFill/>
        </p:spPr>
        <p:txBody>
          <a:bodyPr wrap="square">
            <a:spAutoFit/>
          </a:bodyPr>
          <a:lstStyle/>
          <a:p>
            <a:pPr algn="l"/>
            <a:r>
              <a:rPr sz="1400" b="0">
                <a:solidFill>
                  <a:srgbClr val="1A2337"/>
                </a:solidFill>
                <a:latin typeface="Calibri"/>
              </a:rPr>
              <a:t>Happy Ava quickly hugged Coco.
(Adj + Noun + Adv + Verb + Noun)</a:t>
            </a:r>
          </a:p>
        </p:txBody>
      </p:sp>
      <p:sp>
        <p:nvSpPr>
          <p:cNvPr id="30" name="Rounded Rectangle 29"/>
          <p:cNvSpPr/>
          <p:nvPr/>
        </p:nvSpPr>
        <p:spPr>
          <a:xfrm>
            <a:off x="8183879" y="3840480"/>
            <a:ext cx="3749039"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3840480"/>
            <a:ext cx="3749039" cy="50292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3950208"/>
            <a:ext cx="3474720" cy="320040"/>
          </a:xfrm>
          <a:prstGeom prst="rect">
            <a:avLst/>
          </a:prstGeom>
          <a:noFill/>
        </p:spPr>
        <p:txBody>
          <a:bodyPr wrap="square">
            <a:spAutoFit/>
          </a:bodyPr>
          <a:lstStyle/>
          <a:p>
            <a:pPr algn="l"/>
            <a:r>
              <a:rPr sz="1400" b="1">
                <a:solidFill>
                  <a:srgbClr val="FFFFFF"/>
                </a:solidFill>
                <a:latin typeface="Calibri"/>
              </a:rPr>
              <a:t>Make one sentence</a:t>
            </a:r>
          </a:p>
        </p:txBody>
      </p:sp>
      <p:sp>
        <p:nvSpPr>
          <p:cNvPr id="33" name="TextBox 32"/>
          <p:cNvSpPr txBox="1"/>
          <p:nvPr/>
        </p:nvSpPr>
        <p:spPr>
          <a:xfrm>
            <a:off x="8366759" y="4572000"/>
            <a:ext cx="3383280" cy="1188720"/>
          </a:xfrm>
          <a:prstGeom prst="rect">
            <a:avLst/>
          </a:prstGeom>
          <a:noFill/>
        </p:spPr>
        <p:txBody>
          <a:bodyPr wrap="square">
            <a:spAutoFit/>
          </a:bodyPr>
          <a:lstStyle/>
          <a:p>
            <a:pPr algn="l"/>
            <a:r>
              <a:rPr sz="1400" b="0">
                <a:solidFill>
                  <a:srgbClr val="1A2337"/>
                </a:solidFill>
                <a:latin typeface="Calibri"/>
              </a:rPr>
              <a:t>Use: park (noun) + ran (verb)
+ soft (adjective)</a:t>
            </a:r>
          </a:p>
        </p:txBody>
      </p:sp>
      <p:sp>
        <p:nvSpPr>
          <p:cNvPr id="34" name="Rectangle 33"/>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40–60 min</a:t>
            </a:r>
          </a:p>
        </p:txBody>
      </p:sp>
      <p:sp>
        <p:nvSpPr>
          <p:cNvPr id="36" name="TextBox 35"/>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9/25</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QUIZ TIME</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~7 minutes</a:t>
            </a:r>
          </a:p>
        </p:txBody>
      </p:sp>
      <p:sp>
        <p:nvSpPr>
          <p:cNvPr id="8" name="TextBox 7"/>
          <p:cNvSpPr txBox="1"/>
          <p:nvPr/>
        </p:nvSpPr>
        <p:spPr>
          <a:xfrm>
            <a:off x="365760" y="685800"/>
            <a:ext cx="10972800" cy="365760"/>
          </a:xfrm>
          <a:prstGeom prst="rect">
            <a:avLst/>
          </a:prstGeom>
          <a:noFill/>
        </p:spPr>
        <p:txBody>
          <a:bodyPr wrap="square">
            <a:spAutoFit/>
          </a:bodyPr>
          <a:lstStyle/>
          <a:p>
            <a:pPr algn="l"/>
            <a:r>
              <a:rPr sz="2400" b="1">
                <a:solidFill>
                  <a:srgbClr val="0B3D91"/>
                </a:solidFill>
                <a:latin typeface="Georgia"/>
              </a:rPr>
              <a:t>Grammar Challenge — 10 Quick Questions 🏁</a:t>
            </a:r>
          </a:p>
        </p:txBody>
      </p:sp>
      <p:sp>
        <p:nvSpPr>
          <p:cNvPr id="9" name="Rounded Rectangle 8"/>
          <p:cNvSpPr/>
          <p:nvPr/>
        </p:nvSpPr>
        <p:spPr>
          <a:xfrm>
            <a:off x="320040" y="1143000"/>
            <a:ext cx="5715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5394960" cy="457200"/>
          </a:xfrm>
          <a:prstGeom prst="rect">
            <a:avLst/>
          </a:prstGeom>
          <a:noFill/>
        </p:spPr>
        <p:txBody>
          <a:bodyPr wrap="square">
            <a:spAutoFit/>
          </a:bodyPr>
          <a:lstStyle/>
          <a:p>
            <a:pPr algn="l"/>
            <a:r>
              <a:rPr sz="1300" b="0">
                <a:solidFill>
                  <a:srgbClr val="1A2337"/>
                </a:solidFill>
                <a:latin typeface="Calibri"/>
              </a:rPr>
              <a:t>1. "Puppy" is a…  A) Verb  B) Noun  C) Adverb</a:t>
            </a:r>
          </a:p>
        </p:txBody>
      </p:sp>
      <p:sp>
        <p:nvSpPr>
          <p:cNvPr id="11" name="Rounded Rectangle 10"/>
          <p:cNvSpPr/>
          <p:nvPr/>
        </p:nvSpPr>
        <p:spPr>
          <a:xfrm>
            <a:off x="6217920" y="1143000"/>
            <a:ext cx="5715000" cy="8686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71600"/>
            <a:ext cx="5394960" cy="457200"/>
          </a:xfrm>
          <a:prstGeom prst="rect">
            <a:avLst/>
          </a:prstGeom>
          <a:noFill/>
        </p:spPr>
        <p:txBody>
          <a:bodyPr wrap="square">
            <a:spAutoFit/>
          </a:bodyPr>
          <a:lstStyle/>
          <a:p>
            <a:pPr algn="l"/>
            <a:r>
              <a:rPr sz="1300" b="0">
                <a:solidFill>
                  <a:srgbClr val="1A2337"/>
                </a:solidFill>
                <a:latin typeface="Calibri"/>
              </a:rPr>
              <a:t>2. In "birds sang," sang is a…  A) Noun  B) Adjective  C) Verb</a:t>
            </a:r>
          </a:p>
        </p:txBody>
      </p:sp>
      <p:sp>
        <p:nvSpPr>
          <p:cNvPr id="13" name="Rounded Rectangle 12"/>
          <p:cNvSpPr/>
          <p:nvPr/>
        </p:nvSpPr>
        <p:spPr>
          <a:xfrm>
            <a:off x="320040" y="2103120"/>
            <a:ext cx="5715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331720"/>
            <a:ext cx="5394960" cy="457200"/>
          </a:xfrm>
          <a:prstGeom prst="rect">
            <a:avLst/>
          </a:prstGeom>
          <a:noFill/>
        </p:spPr>
        <p:txBody>
          <a:bodyPr wrap="square">
            <a:spAutoFit/>
          </a:bodyPr>
          <a:lstStyle/>
          <a:p>
            <a:pPr algn="l"/>
            <a:r>
              <a:rPr sz="1300" b="0">
                <a:solidFill>
                  <a:srgbClr val="1A2337"/>
                </a:solidFill>
                <a:latin typeface="Calibri"/>
              </a:rPr>
              <a:t>3. "Tiny" describes…  A) Verb  B) Noun  C) Adverb</a:t>
            </a:r>
          </a:p>
        </p:txBody>
      </p:sp>
      <p:sp>
        <p:nvSpPr>
          <p:cNvPr id="15" name="Rounded Rectangle 14"/>
          <p:cNvSpPr/>
          <p:nvPr/>
        </p:nvSpPr>
        <p:spPr>
          <a:xfrm>
            <a:off x="6217920" y="2103120"/>
            <a:ext cx="5715000" cy="8686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331720"/>
            <a:ext cx="5394960" cy="457200"/>
          </a:xfrm>
          <a:prstGeom prst="rect">
            <a:avLst/>
          </a:prstGeom>
          <a:noFill/>
        </p:spPr>
        <p:txBody>
          <a:bodyPr wrap="square">
            <a:spAutoFit/>
          </a:bodyPr>
          <a:lstStyle/>
          <a:p>
            <a:pPr algn="l"/>
            <a:r>
              <a:rPr sz="1300" b="0">
                <a:solidFill>
                  <a:srgbClr val="1A2337"/>
                </a:solidFill>
                <a:latin typeface="Calibri"/>
              </a:rPr>
              <a:t>4. "Cheerfully" is an…  A) Adverb  B) Noun  C) Adjective</a:t>
            </a:r>
          </a:p>
        </p:txBody>
      </p:sp>
      <p:sp>
        <p:nvSpPr>
          <p:cNvPr id="17" name="Rounded Rectangle 16"/>
          <p:cNvSpPr/>
          <p:nvPr/>
        </p:nvSpPr>
        <p:spPr>
          <a:xfrm>
            <a:off x="320040" y="3063240"/>
            <a:ext cx="5715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291840"/>
            <a:ext cx="5394960" cy="457200"/>
          </a:xfrm>
          <a:prstGeom prst="rect">
            <a:avLst/>
          </a:prstGeom>
          <a:noFill/>
        </p:spPr>
        <p:txBody>
          <a:bodyPr wrap="square">
            <a:spAutoFit/>
          </a:bodyPr>
          <a:lstStyle/>
          <a:p>
            <a:pPr algn="l"/>
            <a:r>
              <a:rPr sz="1300" b="0">
                <a:solidFill>
                  <a:srgbClr val="1A2337"/>
                </a:solidFill>
                <a:latin typeface="Calibri"/>
              </a:rPr>
              <a:t>5. Best adjective for Coco:  A) run  B) muddy  C) quickly</a:t>
            </a:r>
          </a:p>
        </p:txBody>
      </p:sp>
      <p:sp>
        <p:nvSpPr>
          <p:cNvPr id="19" name="Rounded Rectangle 18"/>
          <p:cNvSpPr/>
          <p:nvPr/>
        </p:nvSpPr>
        <p:spPr>
          <a:xfrm>
            <a:off x="6217920" y="3063240"/>
            <a:ext cx="5715000" cy="8686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291840"/>
            <a:ext cx="5394960" cy="457200"/>
          </a:xfrm>
          <a:prstGeom prst="rect">
            <a:avLst/>
          </a:prstGeom>
          <a:noFill/>
        </p:spPr>
        <p:txBody>
          <a:bodyPr wrap="square">
            <a:spAutoFit/>
          </a:bodyPr>
          <a:lstStyle/>
          <a:p>
            <a:pPr algn="l"/>
            <a:r>
              <a:rPr sz="1300" b="0">
                <a:solidFill>
                  <a:srgbClr val="1A2337"/>
                </a:solidFill>
                <a:latin typeface="Calibri"/>
              </a:rPr>
              <a:t>6. "Mia" is a…  A) Proper noun  B) Verb  C) Adverb</a:t>
            </a:r>
          </a:p>
        </p:txBody>
      </p:sp>
      <p:sp>
        <p:nvSpPr>
          <p:cNvPr id="21" name="Rounded Rectangle 20"/>
          <p:cNvSpPr/>
          <p:nvPr/>
        </p:nvSpPr>
        <p:spPr>
          <a:xfrm>
            <a:off x="320040" y="4023360"/>
            <a:ext cx="5715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251960"/>
            <a:ext cx="5394960" cy="457200"/>
          </a:xfrm>
          <a:prstGeom prst="rect">
            <a:avLst/>
          </a:prstGeom>
          <a:noFill/>
        </p:spPr>
        <p:txBody>
          <a:bodyPr wrap="square">
            <a:spAutoFit/>
          </a:bodyPr>
          <a:lstStyle/>
          <a:p>
            <a:pPr algn="l"/>
            <a:r>
              <a:rPr sz="1300" b="0">
                <a:solidFill>
                  <a:srgbClr val="1A2337"/>
                </a:solidFill>
                <a:latin typeface="Calibri"/>
              </a:rPr>
              <a:t>7. Which is a verb?  A) park  B) dialed  C) brown</a:t>
            </a:r>
          </a:p>
        </p:txBody>
      </p:sp>
      <p:sp>
        <p:nvSpPr>
          <p:cNvPr id="23" name="Rounded Rectangle 22"/>
          <p:cNvSpPr/>
          <p:nvPr/>
        </p:nvSpPr>
        <p:spPr>
          <a:xfrm>
            <a:off x="6217920" y="4023360"/>
            <a:ext cx="5715000" cy="8686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251960"/>
            <a:ext cx="5394960" cy="457200"/>
          </a:xfrm>
          <a:prstGeom prst="rect">
            <a:avLst/>
          </a:prstGeom>
          <a:noFill/>
        </p:spPr>
        <p:txBody>
          <a:bodyPr wrap="square">
            <a:spAutoFit/>
          </a:bodyPr>
          <a:lstStyle/>
          <a:p>
            <a:pPr algn="l"/>
            <a:r>
              <a:rPr sz="1300" b="0">
                <a:solidFill>
                  <a:srgbClr val="1A2337"/>
                </a:solidFill>
                <a:latin typeface="Calibri"/>
              </a:rPr>
              <a:t>8. "Proud" is an…  A) Adjective  B) Verb  C) Noun</a:t>
            </a:r>
          </a:p>
        </p:txBody>
      </p:sp>
      <p:sp>
        <p:nvSpPr>
          <p:cNvPr id="25" name="Rounded Rectangle 24"/>
          <p:cNvSpPr/>
          <p:nvPr/>
        </p:nvSpPr>
        <p:spPr>
          <a:xfrm>
            <a:off x="320040" y="4983480"/>
            <a:ext cx="571500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212080"/>
            <a:ext cx="5394960" cy="457200"/>
          </a:xfrm>
          <a:prstGeom prst="rect">
            <a:avLst/>
          </a:prstGeom>
          <a:noFill/>
        </p:spPr>
        <p:txBody>
          <a:bodyPr wrap="square">
            <a:spAutoFit/>
          </a:bodyPr>
          <a:lstStyle/>
          <a:p>
            <a:pPr algn="l"/>
            <a:r>
              <a:rPr sz="1300" b="0">
                <a:solidFill>
                  <a:srgbClr val="1A2337"/>
                </a:solidFill>
                <a:latin typeface="Calibri"/>
              </a:rPr>
              <a:t>9. "Quickly" tells us…  A) What  B) How  C) Who</a:t>
            </a:r>
          </a:p>
        </p:txBody>
      </p:sp>
      <p:sp>
        <p:nvSpPr>
          <p:cNvPr id="27" name="Rounded Rectangle 26"/>
          <p:cNvSpPr/>
          <p:nvPr/>
        </p:nvSpPr>
        <p:spPr>
          <a:xfrm>
            <a:off x="6217920" y="4983480"/>
            <a:ext cx="5715000" cy="8686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212080"/>
            <a:ext cx="5394960" cy="457200"/>
          </a:xfrm>
          <a:prstGeom prst="rect">
            <a:avLst/>
          </a:prstGeom>
          <a:noFill/>
        </p:spPr>
        <p:txBody>
          <a:bodyPr wrap="square">
            <a:spAutoFit/>
          </a:bodyPr>
          <a:lstStyle/>
          <a:p>
            <a:pPr algn="l"/>
            <a:r>
              <a:rPr sz="1300" b="0">
                <a:solidFill>
                  <a:srgbClr val="1A2337"/>
                </a:solidFill>
                <a:latin typeface="Calibri"/>
              </a:rPr>
              <a:t>10. "Adventure" is a…  A) Noun  B) Adverb  C) Verb</a:t>
            </a:r>
          </a:p>
        </p:txBody>
      </p:sp>
      <p:sp>
        <p:nvSpPr>
          <p:cNvPr id="29" name="Rectangle 28"/>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40–60 min</a:t>
            </a:r>
          </a:p>
        </p:txBody>
      </p:sp>
      <p:sp>
        <p:nvSpPr>
          <p:cNvPr id="31" name="TextBox 3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10/25</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VOCABULARY</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Vocab • 15 min</a:t>
            </a:r>
          </a:p>
        </p:txBody>
      </p:sp>
      <p:sp>
        <p:nvSpPr>
          <p:cNvPr id="8" name="TextBox 7"/>
          <p:cNvSpPr txBox="1"/>
          <p:nvPr/>
        </p:nvSpPr>
        <p:spPr>
          <a:xfrm>
            <a:off x="365760" y="685800"/>
            <a:ext cx="10972800" cy="320040"/>
          </a:xfrm>
          <a:prstGeom prst="rect">
            <a:avLst/>
          </a:prstGeom>
          <a:noFill/>
        </p:spPr>
        <p:txBody>
          <a:bodyPr wrap="square">
            <a:spAutoFit/>
          </a:bodyPr>
          <a:lstStyle/>
          <a:p>
            <a:pPr algn="l"/>
            <a:r>
              <a:rPr sz="2400" b="1">
                <a:solidFill>
                  <a:srgbClr val="0B3D91"/>
                </a:solidFill>
                <a:latin typeface="Georgia"/>
              </a:rPr>
              <a:t>Nature Word Garden 🌿 — 12 New Words</a:t>
            </a:r>
          </a:p>
        </p:txBody>
      </p:sp>
      <p:sp>
        <p:nvSpPr>
          <p:cNvPr id="9" name="Rounded Rectangle 8"/>
          <p:cNvSpPr/>
          <p:nvPr/>
        </p:nvSpPr>
        <p:spPr>
          <a:xfrm>
            <a:off x="274320" y="109728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88720"/>
            <a:ext cx="2651760" cy="320040"/>
          </a:xfrm>
          <a:prstGeom prst="rect">
            <a:avLst/>
          </a:prstGeom>
          <a:noFill/>
        </p:spPr>
        <p:txBody>
          <a:bodyPr wrap="square">
            <a:spAutoFit/>
          </a:bodyPr>
          <a:lstStyle/>
          <a:p>
            <a:pPr algn="ctr"/>
            <a:r>
              <a:rPr sz="1400" b="1">
                <a:solidFill>
                  <a:srgbClr val="009688"/>
                </a:solidFill>
                <a:latin typeface="Calibri"/>
              </a:rPr>
              <a:t>🌳 forest</a:t>
            </a:r>
          </a:p>
        </p:txBody>
      </p:sp>
      <p:sp>
        <p:nvSpPr>
          <p:cNvPr id="11" name="TextBox 10"/>
          <p:cNvSpPr txBox="1"/>
          <p:nvPr/>
        </p:nvSpPr>
        <p:spPr>
          <a:xfrm>
            <a:off x="411480" y="1554480"/>
            <a:ext cx="2560320" cy="411480"/>
          </a:xfrm>
          <a:prstGeom prst="rect">
            <a:avLst/>
          </a:prstGeom>
          <a:noFill/>
        </p:spPr>
        <p:txBody>
          <a:bodyPr wrap="square">
            <a:spAutoFit/>
          </a:bodyPr>
          <a:lstStyle/>
          <a:p>
            <a:pPr algn="ctr"/>
            <a:r>
              <a:rPr sz="1200" b="0">
                <a:solidFill>
                  <a:srgbClr val="1A2337"/>
                </a:solidFill>
                <a:latin typeface="Calibri"/>
              </a:rPr>
              <a:t>a large area of trees</a:t>
            </a:r>
          </a:p>
        </p:txBody>
      </p:sp>
      <p:sp>
        <p:nvSpPr>
          <p:cNvPr id="12" name="TextBox 11"/>
          <p:cNvSpPr txBox="1"/>
          <p:nvPr/>
        </p:nvSpPr>
        <p:spPr>
          <a:xfrm>
            <a:off x="411480" y="2057400"/>
            <a:ext cx="2560320" cy="457200"/>
          </a:xfrm>
          <a:prstGeom prst="rect">
            <a:avLst/>
          </a:prstGeom>
          <a:noFill/>
        </p:spPr>
        <p:txBody>
          <a:bodyPr wrap="square">
            <a:spAutoFit/>
          </a:bodyPr>
          <a:lstStyle/>
          <a:p>
            <a:pPr algn="ctr"/>
            <a:r>
              <a:rPr sz="1100" b="0">
                <a:solidFill>
                  <a:srgbClr val="546E7A"/>
                </a:solidFill>
                <a:latin typeface="Calibri"/>
              </a:rPr>
              <a:t>We hiked in the forest.</a:t>
            </a:r>
          </a:p>
        </p:txBody>
      </p:sp>
      <p:sp>
        <p:nvSpPr>
          <p:cNvPr id="13" name="Rounded Rectangle 12"/>
          <p:cNvSpPr/>
          <p:nvPr/>
        </p:nvSpPr>
        <p:spPr>
          <a:xfrm>
            <a:off x="3246120" y="109728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188720"/>
            <a:ext cx="2651760" cy="320040"/>
          </a:xfrm>
          <a:prstGeom prst="rect">
            <a:avLst/>
          </a:prstGeom>
          <a:noFill/>
        </p:spPr>
        <p:txBody>
          <a:bodyPr wrap="square">
            <a:spAutoFit/>
          </a:bodyPr>
          <a:lstStyle/>
          <a:p>
            <a:pPr algn="ctr"/>
            <a:r>
              <a:rPr sz="1400" b="1">
                <a:solidFill>
                  <a:srgbClr val="009688"/>
                </a:solidFill>
                <a:latin typeface="Calibri"/>
              </a:rPr>
              <a:t>🌊 river</a:t>
            </a:r>
          </a:p>
        </p:txBody>
      </p:sp>
      <p:sp>
        <p:nvSpPr>
          <p:cNvPr id="15" name="TextBox 14"/>
          <p:cNvSpPr txBox="1"/>
          <p:nvPr/>
        </p:nvSpPr>
        <p:spPr>
          <a:xfrm>
            <a:off x="3383280" y="1554480"/>
            <a:ext cx="2560320" cy="411480"/>
          </a:xfrm>
          <a:prstGeom prst="rect">
            <a:avLst/>
          </a:prstGeom>
          <a:noFill/>
        </p:spPr>
        <p:txBody>
          <a:bodyPr wrap="square">
            <a:spAutoFit/>
          </a:bodyPr>
          <a:lstStyle/>
          <a:p>
            <a:pPr algn="ctr"/>
            <a:r>
              <a:rPr sz="1200" b="0">
                <a:solidFill>
                  <a:srgbClr val="1A2337"/>
                </a:solidFill>
                <a:latin typeface="Calibri"/>
              </a:rPr>
              <a:t>flowing water</a:t>
            </a:r>
          </a:p>
        </p:txBody>
      </p:sp>
      <p:sp>
        <p:nvSpPr>
          <p:cNvPr id="16" name="TextBox 15"/>
          <p:cNvSpPr txBox="1"/>
          <p:nvPr/>
        </p:nvSpPr>
        <p:spPr>
          <a:xfrm>
            <a:off x="3383280" y="2057400"/>
            <a:ext cx="2560320" cy="457200"/>
          </a:xfrm>
          <a:prstGeom prst="rect">
            <a:avLst/>
          </a:prstGeom>
          <a:noFill/>
        </p:spPr>
        <p:txBody>
          <a:bodyPr wrap="square">
            <a:spAutoFit/>
          </a:bodyPr>
          <a:lstStyle/>
          <a:p>
            <a:pPr algn="ctr"/>
            <a:r>
              <a:rPr sz="1100" b="0">
                <a:solidFill>
                  <a:srgbClr val="546E7A"/>
                </a:solidFill>
                <a:latin typeface="Calibri"/>
              </a:rPr>
              <a:t>Fish swim in the river.</a:t>
            </a:r>
          </a:p>
        </p:txBody>
      </p:sp>
      <p:sp>
        <p:nvSpPr>
          <p:cNvPr id="17" name="Rounded Rectangle 16"/>
          <p:cNvSpPr/>
          <p:nvPr/>
        </p:nvSpPr>
        <p:spPr>
          <a:xfrm>
            <a:off x="6217920" y="109728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188720"/>
            <a:ext cx="2651760" cy="320040"/>
          </a:xfrm>
          <a:prstGeom prst="rect">
            <a:avLst/>
          </a:prstGeom>
          <a:noFill/>
        </p:spPr>
        <p:txBody>
          <a:bodyPr wrap="square">
            <a:spAutoFit/>
          </a:bodyPr>
          <a:lstStyle/>
          <a:p>
            <a:pPr algn="ctr"/>
            <a:r>
              <a:rPr sz="1400" b="1">
                <a:solidFill>
                  <a:srgbClr val="009688"/>
                </a:solidFill>
                <a:latin typeface="Calibri"/>
              </a:rPr>
              <a:t>☀️ sunshine</a:t>
            </a:r>
          </a:p>
        </p:txBody>
      </p:sp>
      <p:sp>
        <p:nvSpPr>
          <p:cNvPr id="19" name="TextBox 18"/>
          <p:cNvSpPr txBox="1"/>
          <p:nvPr/>
        </p:nvSpPr>
        <p:spPr>
          <a:xfrm>
            <a:off x="6355080" y="1554480"/>
            <a:ext cx="2560320" cy="411480"/>
          </a:xfrm>
          <a:prstGeom prst="rect">
            <a:avLst/>
          </a:prstGeom>
          <a:noFill/>
        </p:spPr>
        <p:txBody>
          <a:bodyPr wrap="square">
            <a:spAutoFit/>
          </a:bodyPr>
          <a:lstStyle/>
          <a:p>
            <a:pPr algn="ctr"/>
            <a:r>
              <a:rPr sz="1200" b="0">
                <a:solidFill>
                  <a:srgbClr val="1A2337"/>
                </a:solidFill>
                <a:latin typeface="Calibri"/>
              </a:rPr>
              <a:t>light from the sun</a:t>
            </a:r>
          </a:p>
        </p:txBody>
      </p:sp>
      <p:sp>
        <p:nvSpPr>
          <p:cNvPr id="20" name="TextBox 19"/>
          <p:cNvSpPr txBox="1"/>
          <p:nvPr/>
        </p:nvSpPr>
        <p:spPr>
          <a:xfrm>
            <a:off x="6355080" y="2057400"/>
            <a:ext cx="2560320" cy="457200"/>
          </a:xfrm>
          <a:prstGeom prst="rect">
            <a:avLst/>
          </a:prstGeom>
          <a:noFill/>
        </p:spPr>
        <p:txBody>
          <a:bodyPr wrap="square">
            <a:spAutoFit/>
          </a:bodyPr>
          <a:lstStyle/>
          <a:p>
            <a:pPr algn="ctr"/>
            <a:r>
              <a:rPr sz="1100" b="0">
                <a:solidFill>
                  <a:srgbClr val="546E7A"/>
                </a:solidFill>
                <a:latin typeface="Calibri"/>
              </a:rPr>
              <a:t>Sunshine warms the grass.</a:t>
            </a:r>
          </a:p>
        </p:txBody>
      </p:sp>
      <p:sp>
        <p:nvSpPr>
          <p:cNvPr id="21" name="Rounded Rectangle 20"/>
          <p:cNvSpPr/>
          <p:nvPr/>
        </p:nvSpPr>
        <p:spPr>
          <a:xfrm>
            <a:off x="9189720" y="109728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1188720"/>
            <a:ext cx="2651760" cy="320040"/>
          </a:xfrm>
          <a:prstGeom prst="rect">
            <a:avLst/>
          </a:prstGeom>
          <a:noFill/>
        </p:spPr>
        <p:txBody>
          <a:bodyPr wrap="square">
            <a:spAutoFit/>
          </a:bodyPr>
          <a:lstStyle/>
          <a:p>
            <a:pPr algn="ctr"/>
            <a:r>
              <a:rPr sz="1400" b="1">
                <a:solidFill>
                  <a:srgbClr val="009688"/>
                </a:solidFill>
                <a:latin typeface="Calibri"/>
              </a:rPr>
              <a:t>🍃 breeze</a:t>
            </a:r>
          </a:p>
        </p:txBody>
      </p:sp>
      <p:sp>
        <p:nvSpPr>
          <p:cNvPr id="23" name="TextBox 22"/>
          <p:cNvSpPr txBox="1"/>
          <p:nvPr/>
        </p:nvSpPr>
        <p:spPr>
          <a:xfrm>
            <a:off x="9326880" y="1554480"/>
            <a:ext cx="2560320" cy="411480"/>
          </a:xfrm>
          <a:prstGeom prst="rect">
            <a:avLst/>
          </a:prstGeom>
          <a:noFill/>
        </p:spPr>
        <p:txBody>
          <a:bodyPr wrap="square">
            <a:spAutoFit/>
          </a:bodyPr>
          <a:lstStyle/>
          <a:p>
            <a:pPr algn="ctr"/>
            <a:r>
              <a:rPr sz="1200" b="0">
                <a:solidFill>
                  <a:srgbClr val="1A2337"/>
                </a:solidFill>
                <a:latin typeface="Calibri"/>
              </a:rPr>
              <a:t>a soft wind</a:t>
            </a:r>
          </a:p>
        </p:txBody>
      </p:sp>
      <p:sp>
        <p:nvSpPr>
          <p:cNvPr id="24" name="TextBox 23"/>
          <p:cNvSpPr txBox="1"/>
          <p:nvPr/>
        </p:nvSpPr>
        <p:spPr>
          <a:xfrm>
            <a:off x="9326880" y="2057400"/>
            <a:ext cx="2560320" cy="457200"/>
          </a:xfrm>
          <a:prstGeom prst="rect">
            <a:avLst/>
          </a:prstGeom>
          <a:noFill/>
        </p:spPr>
        <p:txBody>
          <a:bodyPr wrap="square">
            <a:spAutoFit/>
          </a:bodyPr>
          <a:lstStyle/>
          <a:p>
            <a:pPr algn="ctr"/>
            <a:r>
              <a:rPr sz="1100" b="0">
                <a:solidFill>
                  <a:srgbClr val="546E7A"/>
                </a:solidFill>
                <a:latin typeface="Calibri"/>
              </a:rPr>
              <a:t>A cool breeze felt nice.</a:t>
            </a:r>
          </a:p>
        </p:txBody>
      </p:sp>
      <p:sp>
        <p:nvSpPr>
          <p:cNvPr id="25" name="Rounded Rectangle 24"/>
          <p:cNvSpPr/>
          <p:nvPr/>
        </p:nvSpPr>
        <p:spPr>
          <a:xfrm>
            <a:off x="274320" y="278892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2880360"/>
            <a:ext cx="2651760" cy="320040"/>
          </a:xfrm>
          <a:prstGeom prst="rect">
            <a:avLst/>
          </a:prstGeom>
          <a:noFill/>
        </p:spPr>
        <p:txBody>
          <a:bodyPr wrap="square">
            <a:spAutoFit/>
          </a:bodyPr>
          <a:lstStyle/>
          <a:p>
            <a:pPr algn="ctr"/>
            <a:r>
              <a:rPr sz="1400" b="1">
                <a:solidFill>
                  <a:srgbClr val="009688"/>
                </a:solidFill>
                <a:latin typeface="Calibri"/>
              </a:rPr>
              <a:t>🌼 bloom</a:t>
            </a:r>
          </a:p>
        </p:txBody>
      </p:sp>
      <p:sp>
        <p:nvSpPr>
          <p:cNvPr id="27" name="TextBox 26"/>
          <p:cNvSpPr txBox="1"/>
          <p:nvPr/>
        </p:nvSpPr>
        <p:spPr>
          <a:xfrm>
            <a:off x="411480" y="3246120"/>
            <a:ext cx="2560320" cy="411480"/>
          </a:xfrm>
          <a:prstGeom prst="rect">
            <a:avLst/>
          </a:prstGeom>
          <a:noFill/>
        </p:spPr>
        <p:txBody>
          <a:bodyPr wrap="square">
            <a:spAutoFit/>
          </a:bodyPr>
          <a:lstStyle/>
          <a:p>
            <a:pPr algn="ctr"/>
            <a:r>
              <a:rPr sz="1200" b="0">
                <a:solidFill>
                  <a:srgbClr val="1A2337"/>
                </a:solidFill>
                <a:latin typeface="Calibri"/>
              </a:rPr>
              <a:t>to open as a flower</a:t>
            </a:r>
          </a:p>
        </p:txBody>
      </p:sp>
      <p:sp>
        <p:nvSpPr>
          <p:cNvPr id="28" name="TextBox 27"/>
          <p:cNvSpPr txBox="1"/>
          <p:nvPr/>
        </p:nvSpPr>
        <p:spPr>
          <a:xfrm>
            <a:off x="411480" y="3749040"/>
            <a:ext cx="2560320" cy="457200"/>
          </a:xfrm>
          <a:prstGeom prst="rect">
            <a:avLst/>
          </a:prstGeom>
          <a:noFill/>
        </p:spPr>
        <p:txBody>
          <a:bodyPr wrap="square">
            <a:spAutoFit/>
          </a:bodyPr>
          <a:lstStyle/>
          <a:p>
            <a:pPr algn="ctr"/>
            <a:r>
              <a:rPr sz="1100" b="0">
                <a:solidFill>
                  <a:srgbClr val="546E7A"/>
                </a:solidFill>
                <a:latin typeface="Calibri"/>
              </a:rPr>
              <a:t>Roses bloom in spring.</a:t>
            </a:r>
          </a:p>
        </p:txBody>
      </p:sp>
      <p:sp>
        <p:nvSpPr>
          <p:cNvPr id="29" name="Rounded Rectangle 28"/>
          <p:cNvSpPr/>
          <p:nvPr/>
        </p:nvSpPr>
        <p:spPr>
          <a:xfrm>
            <a:off x="3246120" y="278892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2880360"/>
            <a:ext cx="2651760" cy="320040"/>
          </a:xfrm>
          <a:prstGeom prst="rect">
            <a:avLst/>
          </a:prstGeom>
          <a:noFill/>
        </p:spPr>
        <p:txBody>
          <a:bodyPr wrap="square">
            <a:spAutoFit/>
          </a:bodyPr>
          <a:lstStyle/>
          <a:p>
            <a:pPr algn="ctr"/>
            <a:r>
              <a:rPr sz="1400" b="1">
                <a:solidFill>
                  <a:srgbClr val="009688"/>
                </a:solidFill>
                <a:latin typeface="Calibri"/>
              </a:rPr>
              <a:t>🪨 boulder</a:t>
            </a:r>
          </a:p>
        </p:txBody>
      </p:sp>
      <p:sp>
        <p:nvSpPr>
          <p:cNvPr id="31" name="TextBox 30"/>
          <p:cNvSpPr txBox="1"/>
          <p:nvPr/>
        </p:nvSpPr>
        <p:spPr>
          <a:xfrm>
            <a:off x="3383280" y="3246120"/>
            <a:ext cx="2560320" cy="411480"/>
          </a:xfrm>
          <a:prstGeom prst="rect">
            <a:avLst/>
          </a:prstGeom>
          <a:noFill/>
        </p:spPr>
        <p:txBody>
          <a:bodyPr wrap="square">
            <a:spAutoFit/>
          </a:bodyPr>
          <a:lstStyle/>
          <a:p>
            <a:pPr algn="ctr"/>
            <a:r>
              <a:rPr sz="1200" b="0">
                <a:solidFill>
                  <a:srgbClr val="1A2337"/>
                </a:solidFill>
                <a:latin typeface="Calibri"/>
              </a:rPr>
              <a:t>a very large rock</a:t>
            </a:r>
          </a:p>
        </p:txBody>
      </p:sp>
      <p:sp>
        <p:nvSpPr>
          <p:cNvPr id="32" name="TextBox 31"/>
          <p:cNvSpPr txBox="1"/>
          <p:nvPr/>
        </p:nvSpPr>
        <p:spPr>
          <a:xfrm>
            <a:off x="3383280" y="3749040"/>
            <a:ext cx="2560320" cy="457200"/>
          </a:xfrm>
          <a:prstGeom prst="rect">
            <a:avLst/>
          </a:prstGeom>
          <a:noFill/>
        </p:spPr>
        <p:txBody>
          <a:bodyPr wrap="square">
            <a:spAutoFit/>
          </a:bodyPr>
          <a:lstStyle/>
          <a:p>
            <a:pPr algn="ctr"/>
            <a:r>
              <a:rPr sz="1100" b="0">
                <a:solidFill>
                  <a:srgbClr val="546E7A"/>
                </a:solidFill>
                <a:latin typeface="Calibri"/>
              </a:rPr>
              <a:t>A boulder blocked the path.</a:t>
            </a:r>
          </a:p>
        </p:txBody>
      </p:sp>
      <p:sp>
        <p:nvSpPr>
          <p:cNvPr id="33" name="Rounded Rectangle 32"/>
          <p:cNvSpPr/>
          <p:nvPr/>
        </p:nvSpPr>
        <p:spPr>
          <a:xfrm>
            <a:off x="6217920" y="278892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880360"/>
            <a:ext cx="2651760" cy="320040"/>
          </a:xfrm>
          <a:prstGeom prst="rect">
            <a:avLst/>
          </a:prstGeom>
          <a:noFill/>
        </p:spPr>
        <p:txBody>
          <a:bodyPr wrap="square">
            <a:spAutoFit/>
          </a:bodyPr>
          <a:lstStyle/>
          <a:p>
            <a:pPr algn="ctr"/>
            <a:r>
              <a:rPr sz="1400" b="1">
                <a:solidFill>
                  <a:srgbClr val="009688"/>
                </a:solidFill>
                <a:latin typeface="Calibri"/>
              </a:rPr>
              <a:t>🦅 soar</a:t>
            </a:r>
          </a:p>
        </p:txBody>
      </p:sp>
      <p:sp>
        <p:nvSpPr>
          <p:cNvPr id="35" name="TextBox 34"/>
          <p:cNvSpPr txBox="1"/>
          <p:nvPr/>
        </p:nvSpPr>
        <p:spPr>
          <a:xfrm>
            <a:off x="6355080" y="3246120"/>
            <a:ext cx="2560320" cy="411480"/>
          </a:xfrm>
          <a:prstGeom prst="rect">
            <a:avLst/>
          </a:prstGeom>
          <a:noFill/>
        </p:spPr>
        <p:txBody>
          <a:bodyPr wrap="square">
            <a:spAutoFit/>
          </a:bodyPr>
          <a:lstStyle/>
          <a:p>
            <a:pPr algn="ctr"/>
            <a:r>
              <a:rPr sz="1200" b="0">
                <a:solidFill>
                  <a:srgbClr val="1A2337"/>
                </a:solidFill>
                <a:latin typeface="Calibri"/>
              </a:rPr>
              <a:t>to fly high</a:t>
            </a:r>
          </a:p>
        </p:txBody>
      </p:sp>
      <p:sp>
        <p:nvSpPr>
          <p:cNvPr id="36" name="TextBox 35"/>
          <p:cNvSpPr txBox="1"/>
          <p:nvPr/>
        </p:nvSpPr>
        <p:spPr>
          <a:xfrm>
            <a:off x="6355080" y="3749040"/>
            <a:ext cx="2560320" cy="457200"/>
          </a:xfrm>
          <a:prstGeom prst="rect">
            <a:avLst/>
          </a:prstGeom>
          <a:noFill/>
        </p:spPr>
        <p:txBody>
          <a:bodyPr wrap="square">
            <a:spAutoFit/>
          </a:bodyPr>
          <a:lstStyle/>
          <a:p>
            <a:pPr algn="ctr"/>
            <a:r>
              <a:rPr sz="1100" b="0">
                <a:solidFill>
                  <a:srgbClr val="546E7A"/>
                </a:solidFill>
                <a:latin typeface="Calibri"/>
              </a:rPr>
              <a:t>Eagles soar above hills.</a:t>
            </a:r>
          </a:p>
        </p:txBody>
      </p:sp>
      <p:sp>
        <p:nvSpPr>
          <p:cNvPr id="37" name="Rounded Rectangle 36"/>
          <p:cNvSpPr/>
          <p:nvPr/>
        </p:nvSpPr>
        <p:spPr>
          <a:xfrm>
            <a:off x="9189720" y="278892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1160" y="2880360"/>
            <a:ext cx="2651760" cy="320040"/>
          </a:xfrm>
          <a:prstGeom prst="rect">
            <a:avLst/>
          </a:prstGeom>
          <a:noFill/>
        </p:spPr>
        <p:txBody>
          <a:bodyPr wrap="square">
            <a:spAutoFit/>
          </a:bodyPr>
          <a:lstStyle/>
          <a:p>
            <a:pPr algn="ctr"/>
            <a:r>
              <a:rPr sz="1400" b="1">
                <a:solidFill>
                  <a:srgbClr val="009688"/>
                </a:solidFill>
                <a:latin typeface="Calibri"/>
              </a:rPr>
              <a:t>🌧️ drizzle</a:t>
            </a:r>
          </a:p>
        </p:txBody>
      </p:sp>
      <p:sp>
        <p:nvSpPr>
          <p:cNvPr id="39" name="TextBox 38"/>
          <p:cNvSpPr txBox="1"/>
          <p:nvPr/>
        </p:nvSpPr>
        <p:spPr>
          <a:xfrm>
            <a:off x="9326880" y="3246120"/>
            <a:ext cx="2560320" cy="411480"/>
          </a:xfrm>
          <a:prstGeom prst="rect">
            <a:avLst/>
          </a:prstGeom>
          <a:noFill/>
        </p:spPr>
        <p:txBody>
          <a:bodyPr wrap="square">
            <a:spAutoFit/>
          </a:bodyPr>
          <a:lstStyle/>
          <a:p>
            <a:pPr algn="ctr"/>
            <a:r>
              <a:rPr sz="1200" b="0">
                <a:solidFill>
                  <a:srgbClr val="1A2337"/>
                </a:solidFill>
                <a:latin typeface="Calibri"/>
              </a:rPr>
              <a:t>light rain</a:t>
            </a:r>
          </a:p>
        </p:txBody>
      </p:sp>
      <p:sp>
        <p:nvSpPr>
          <p:cNvPr id="40" name="TextBox 39"/>
          <p:cNvSpPr txBox="1"/>
          <p:nvPr/>
        </p:nvSpPr>
        <p:spPr>
          <a:xfrm>
            <a:off x="9326880" y="3749040"/>
            <a:ext cx="2560320" cy="457200"/>
          </a:xfrm>
          <a:prstGeom prst="rect">
            <a:avLst/>
          </a:prstGeom>
          <a:noFill/>
        </p:spPr>
        <p:txBody>
          <a:bodyPr wrap="square">
            <a:spAutoFit/>
          </a:bodyPr>
          <a:lstStyle/>
          <a:p>
            <a:pPr algn="ctr"/>
            <a:r>
              <a:rPr sz="1100" b="0">
                <a:solidFill>
                  <a:srgbClr val="546E7A"/>
                </a:solidFill>
                <a:latin typeface="Calibri"/>
              </a:rPr>
              <a:t>A drizzle wet our coats.</a:t>
            </a:r>
          </a:p>
        </p:txBody>
      </p:sp>
      <p:sp>
        <p:nvSpPr>
          <p:cNvPr id="41" name="Rounded Rectangle 40"/>
          <p:cNvSpPr/>
          <p:nvPr/>
        </p:nvSpPr>
        <p:spPr>
          <a:xfrm>
            <a:off x="274320" y="448056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4572000"/>
            <a:ext cx="2651760" cy="320040"/>
          </a:xfrm>
          <a:prstGeom prst="rect">
            <a:avLst/>
          </a:prstGeom>
          <a:noFill/>
        </p:spPr>
        <p:txBody>
          <a:bodyPr wrap="square">
            <a:spAutoFit/>
          </a:bodyPr>
          <a:lstStyle/>
          <a:p>
            <a:pPr algn="ctr"/>
            <a:r>
              <a:rPr sz="1400" b="1">
                <a:solidFill>
                  <a:srgbClr val="009688"/>
                </a:solidFill>
                <a:latin typeface="Calibri"/>
              </a:rPr>
              <a:t>🌱 sprout</a:t>
            </a:r>
          </a:p>
        </p:txBody>
      </p:sp>
      <p:sp>
        <p:nvSpPr>
          <p:cNvPr id="43" name="TextBox 42"/>
          <p:cNvSpPr txBox="1"/>
          <p:nvPr/>
        </p:nvSpPr>
        <p:spPr>
          <a:xfrm>
            <a:off x="411480" y="4937760"/>
            <a:ext cx="2560320" cy="411480"/>
          </a:xfrm>
          <a:prstGeom prst="rect">
            <a:avLst/>
          </a:prstGeom>
          <a:noFill/>
        </p:spPr>
        <p:txBody>
          <a:bodyPr wrap="square">
            <a:spAutoFit/>
          </a:bodyPr>
          <a:lstStyle/>
          <a:p>
            <a:pPr algn="ctr"/>
            <a:r>
              <a:rPr sz="1200" b="0">
                <a:solidFill>
                  <a:srgbClr val="1A2337"/>
                </a:solidFill>
                <a:latin typeface="Calibri"/>
              </a:rPr>
              <a:t>a young plant</a:t>
            </a:r>
          </a:p>
        </p:txBody>
      </p:sp>
      <p:sp>
        <p:nvSpPr>
          <p:cNvPr id="44" name="TextBox 43"/>
          <p:cNvSpPr txBox="1"/>
          <p:nvPr/>
        </p:nvSpPr>
        <p:spPr>
          <a:xfrm>
            <a:off x="411480" y="5440680"/>
            <a:ext cx="2560320" cy="457200"/>
          </a:xfrm>
          <a:prstGeom prst="rect">
            <a:avLst/>
          </a:prstGeom>
          <a:noFill/>
        </p:spPr>
        <p:txBody>
          <a:bodyPr wrap="square">
            <a:spAutoFit/>
          </a:bodyPr>
          <a:lstStyle/>
          <a:p>
            <a:pPr algn="ctr"/>
            <a:r>
              <a:rPr sz="1100" b="0">
                <a:solidFill>
                  <a:srgbClr val="546E7A"/>
                </a:solidFill>
                <a:latin typeface="Calibri"/>
              </a:rPr>
              <a:t>Tiny sprouts pushed up.</a:t>
            </a:r>
          </a:p>
        </p:txBody>
      </p:sp>
      <p:sp>
        <p:nvSpPr>
          <p:cNvPr id="45" name="Rounded Rectangle 44"/>
          <p:cNvSpPr/>
          <p:nvPr/>
        </p:nvSpPr>
        <p:spPr>
          <a:xfrm>
            <a:off x="3246120" y="448056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37560" y="4572000"/>
            <a:ext cx="2651760" cy="320040"/>
          </a:xfrm>
          <a:prstGeom prst="rect">
            <a:avLst/>
          </a:prstGeom>
          <a:noFill/>
        </p:spPr>
        <p:txBody>
          <a:bodyPr wrap="square">
            <a:spAutoFit/>
          </a:bodyPr>
          <a:lstStyle/>
          <a:p>
            <a:pPr algn="ctr"/>
            <a:r>
              <a:rPr sz="1400" b="1">
                <a:solidFill>
                  <a:srgbClr val="009688"/>
                </a:solidFill>
                <a:latin typeface="Calibri"/>
              </a:rPr>
              <a:t>🏞️ valley</a:t>
            </a:r>
          </a:p>
        </p:txBody>
      </p:sp>
      <p:sp>
        <p:nvSpPr>
          <p:cNvPr id="47" name="TextBox 46"/>
          <p:cNvSpPr txBox="1"/>
          <p:nvPr/>
        </p:nvSpPr>
        <p:spPr>
          <a:xfrm>
            <a:off x="3383280" y="4937760"/>
            <a:ext cx="2560320" cy="411480"/>
          </a:xfrm>
          <a:prstGeom prst="rect">
            <a:avLst/>
          </a:prstGeom>
          <a:noFill/>
        </p:spPr>
        <p:txBody>
          <a:bodyPr wrap="square">
            <a:spAutoFit/>
          </a:bodyPr>
          <a:lstStyle/>
          <a:p>
            <a:pPr algn="ctr"/>
            <a:r>
              <a:rPr sz="1200" b="0">
                <a:solidFill>
                  <a:srgbClr val="1A2337"/>
                </a:solidFill>
                <a:latin typeface="Calibri"/>
              </a:rPr>
              <a:t>low land between hills</a:t>
            </a:r>
          </a:p>
        </p:txBody>
      </p:sp>
      <p:sp>
        <p:nvSpPr>
          <p:cNvPr id="48" name="TextBox 47"/>
          <p:cNvSpPr txBox="1"/>
          <p:nvPr/>
        </p:nvSpPr>
        <p:spPr>
          <a:xfrm>
            <a:off x="3383280" y="5440680"/>
            <a:ext cx="2560320" cy="457200"/>
          </a:xfrm>
          <a:prstGeom prst="rect">
            <a:avLst/>
          </a:prstGeom>
          <a:noFill/>
        </p:spPr>
        <p:txBody>
          <a:bodyPr wrap="square">
            <a:spAutoFit/>
          </a:bodyPr>
          <a:lstStyle/>
          <a:p>
            <a:pPr algn="ctr"/>
            <a:r>
              <a:rPr sz="1100" b="0">
                <a:solidFill>
                  <a:srgbClr val="546E7A"/>
                </a:solidFill>
                <a:latin typeface="Calibri"/>
              </a:rPr>
              <a:t>Our tent is in the valley.</a:t>
            </a:r>
          </a:p>
        </p:txBody>
      </p:sp>
      <p:sp>
        <p:nvSpPr>
          <p:cNvPr id="49" name="Rounded Rectangle 48"/>
          <p:cNvSpPr/>
          <p:nvPr/>
        </p:nvSpPr>
        <p:spPr>
          <a:xfrm>
            <a:off x="6217920" y="448056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9360" y="4572000"/>
            <a:ext cx="2651760" cy="320040"/>
          </a:xfrm>
          <a:prstGeom prst="rect">
            <a:avLst/>
          </a:prstGeom>
          <a:noFill/>
        </p:spPr>
        <p:txBody>
          <a:bodyPr wrap="square">
            <a:spAutoFit/>
          </a:bodyPr>
          <a:lstStyle/>
          <a:p>
            <a:pPr algn="ctr"/>
            <a:r>
              <a:rPr sz="1400" b="1">
                <a:solidFill>
                  <a:srgbClr val="009688"/>
                </a:solidFill>
                <a:latin typeface="Calibri"/>
              </a:rPr>
              <a:t>🌫️ mist</a:t>
            </a:r>
          </a:p>
        </p:txBody>
      </p:sp>
      <p:sp>
        <p:nvSpPr>
          <p:cNvPr id="51" name="TextBox 50"/>
          <p:cNvSpPr txBox="1"/>
          <p:nvPr/>
        </p:nvSpPr>
        <p:spPr>
          <a:xfrm>
            <a:off x="6355080" y="4937760"/>
            <a:ext cx="2560320" cy="411480"/>
          </a:xfrm>
          <a:prstGeom prst="rect">
            <a:avLst/>
          </a:prstGeom>
          <a:noFill/>
        </p:spPr>
        <p:txBody>
          <a:bodyPr wrap="square">
            <a:spAutoFit/>
          </a:bodyPr>
          <a:lstStyle/>
          <a:p>
            <a:pPr algn="ctr"/>
            <a:r>
              <a:rPr sz="1200" b="0">
                <a:solidFill>
                  <a:srgbClr val="1A2337"/>
                </a:solidFill>
                <a:latin typeface="Calibri"/>
              </a:rPr>
              <a:t>thin fog</a:t>
            </a:r>
          </a:p>
        </p:txBody>
      </p:sp>
      <p:sp>
        <p:nvSpPr>
          <p:cNvPr id="52" name="TextBox 51"/>
          <p:cNvSpPr txBox="1"/>
          <p:nvPr/>
        </p:nvSpPr>
        <p:spPr>
          <a:xfrm>
            <a:off x="6355080" y="5440680"/>
            <a:ext cx="2560320" cy="457200"/>
          </a:xfrm>
          <a:prstGeom prst="rect">
            <a:avLst/>
          </a:prstGeom>
          <a:noFill/>
        </p:spPr>
        <p:txBody>
          <a:bodyPr wrap="square">
            <a:spAutoFit/>
          </a:bodyPr>
          <a:lstStyle/>
          <a:p>
            <a:pPr algn="ctr"/>
            <a:r>
              <a:rPr sz="1100" b="0">
                <a:solidFill>
                  <a:srgbClr val="546E7A"/>
                </a:solidFill>
                <a:latin typeface="Calibri"/>
              </a:rPr>
              <a:t>Morning mist hid the lake.</a:t>
            </a:r>
          </a:p>
        </p:txBody>
      </p:sp>
      <p:sp>
        <p:nvSpPr>
          <p:cNvPr id="53" name="Rounded Rectangle 52"/>
          <p:cNvSpPr/>
          <p:nvPr/>
        </p:nvSpPr>
        <p:spPr>
          <a:xfrm>
            <a:off x="9189720" y="4480560"/>
            <a:ext cx="283464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81160" y="4572000"/>
            <a:ext cx="2651760" cy="320040"/>
          </a:xfrm>
          <a:prstGeom prst="rect">
            <a:avLst/>
          </a:prstGeom>
          <a:noFill/>
        </p:spPr>
        <p:txBody>
          <a:bodyPr wrap="square">
            <a:spAutoFit/>
          </a:bodyPr>
          <a:lstStyle/>
          <a:p>
            <a:pPr algn="ctr"/>
            <a:r>
              <a:rPr sz="1400" b="1">
                <a:solidFill>
                  <a:srgbClr val="009688"/>
                </a:solidFill>
                <a:latin typeface="Calibri"/>
              </a:rPr>
              <a:t>🧭 trail</a:t>
            </a:r>
          </a:p>
        </p:txBody>
      </p:sp>
      <p:sp>
        <p:nvSpPr>
          <p:cNvPr id="55" name="TextBox 54"/>
          <p:cNvSpPr txBox="1"/>
          <p:nvPr/>
        </p:nvSpPr>
        <p:spPr>
          <a:xfrm>
            <a:off x="9326880" y="4937760"/>
            <a:ext cx="2560320" cy="411480"/>
          </a:xfrm>
          <a:prstGeom prst="rect">
            <a:avLst/>
          </a:prstGeom>
          <a:noFill/>
        </p:spPr>
        <p:txBody>
          <a:bodyPr wrap="square">
            <a:spAutoFit/>
          </a:bodyPr>
          <a:lstStyle/>
          <a:p>
            <a:pPr algn="ctr"/>
            <a:r>
              <a:rPr sz="1200" b="0">
                <a:solidFill>
                  <a:srgbClr val="1A2337"/>
                </a:solidFill>
                <a:latin typeface="Calibri"/>
              </a:rPr>
              <a:t>a path outdoors</a:t>
            </a:r>
          </a:p>
        </p:txBody>
      </p:sp>
      <p:sp>
        <p:nvSpPr>
          <p:cNvPr id="56" name="TextBox 55"/>
          <p:cNvSpPr txBox="1"/>
          <p:nvPr/>
        </p:nvSpPr>
        <p:spPr>
          <a:xfrm>
            <a:off x="9326880" y="5440680"/>
            <a:ext cx="2560320" cy="457200"/>
          </a:xfrm>
          <a:prstGeom prst="rect">
            <a:avLst/>
          </a:prstGeom>
          <a:noFill/>
        </p:spPr>
        <p:txBody>
          <a:bodyPr wrap="square">
            <a:spAutoFit/>
          </a:bodyPr>
          <a:lstStyle/>
          <a:p>
            <a:pPr algn="ctr"/>
            <a:r>
              <a:rPr sz="1100" b="0">
                <a:solidFill>
                  <a:srgbClr val="546E7A"/>
                </a:solidFill>
                <a:latin typeface="Calibri"/>
              </a:rPr>
              <a:t>Follow the trail carefully.</a:t>
            </a:r>
          </a:p>
        </p:txBody>
      </p:sp>
      <p:sp>
        <p:nvSpPr>
          <p:cNvPr id="57" name="Rectangle 56"/>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60–75 min</a:t>
            </a:r>
          </a:p>
        </p:txBody>
      </p:sp>
      <p:sp>
        <p:nvSpPr>
          <p:cNvPr id="59" name="TextBox 5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11/25</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926080" cy="329184"/>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926080" cy="310896"/>
          </a:xfrm>
          <a:prstGeom prst="rect">
            <a:avLst/>
          </a:prstGeom>
          <a:noFill/>
        </p:spPr>
        <p:txBody>
          <a:bodyPr wrap="square">
            <a:spAutoFit/>
          </a:bodyPr>
          <a:lstStyle/>
          <a:p>
            <a:pPr algn="ctr"/>
            <a:r>
              <a:rPr sz="1200" b="1">
                <a:solidFill>
                  <a:srgbClr val="FFFFFF"/>
                </a:solidFill>
                <a:latin typeface="Calibri"/>
              </a:rPr>
              <a:t>MATCHING GAME</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~4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Vocabulary Matching Game 🎯</a:t>
            </a:r>
          </a:p>
        </p:txBody>
      </p:sp>
      <p:sp>
        <p:nvSpPr>
          <p:cNvPr id="9" name="TextBox 8"/>
          <p:cNvSpPr txBox="1"/>
          <p:nvPr/>
        </p:nvSpPr>
        <p:spPr>
          <a:xfrm>
            <a:off x="365760" y="1143000"/>
            <a:ext cx="10972800" cy="274320"/>
          </a:xfrm>
          <a:prstGeom prst="rect">
            <a:avLst/>
          </a:prstGeom>
          <a:noFill/>
        </p:spPr>
        <p:txBody>
          <a:bodyPr wrap="square">
            <a:spAutoFit/>
          </a:bodyPr>
          <a:lstStyle/>
          <a:p>
            <a:pPr algn="l"/>
            <a:r>
              <a:rPr sz="1400" b="0">
                <a:solidFill>
                  <a:srgbClr val="546E7A"/>
                </a:solidFill>
                <a:latin typeface="Calibri"/>
              </a:rPr>
              <a:t>Match the word (left) with the correct meaning (right).</a:t>
            </a:r>
          </a:p>
        </p:txBody>
      </p:sp>
      <p:sp>
        <p:nvSpPr>
          <p:cNvPr id="10" name="Rounded Rectangle 9"/>
          <p:cNvSpPr/>
          <p:nvPr/>
        </p:nvSpPr>
        <p:spPr>
          <a:xfrm>
            <a:off x="457200" y="155448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554480"/>
            <a:ext cx="5303520" cy="438912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4937760" cy="365760"/>
          </a:xfrm>
          <a:prstGeom prst="rect">
            <a:avLst/>
          </a:prstGeom>
          <a:noFill/>
        </p:spPr>
        <p:txBody>
          <a:bodyPr wrap="square">
            <a:spAutoFit/>
          </a:bodyPr>
          <a:lstStyle/>
          <a:p>
            <a:pPr algn="l"/>
            <a:r>
              <a:rPr sz="1600" b="1">
                <a:solidFill>
                  <a:srgbClr val="009688"/>
                </a:solidFill>
                <a:latin typeface="Calibri"/>
              </a:rPr>
              <a:t>WORDS</a:t>
            </a:r>
          </a:p>
        </p:txBody>
      </p:sp>
      <p:sp>
        <p:nvSpPr>
          <p:cNvPr id="13" name="TextBox 12"/>
          <p:cNvSpPr txBox="1"/>
          <p:nvPr/>
        </p:nvSpPr>
        <p:spPr>
          <a:xfrm>
            <a:off x="6583680" y="1737360"/>
            <a:ext cx="4937760" cy="365760"/>
          </a:xfrm>
          <a:prstGeom prst="rect">
            <a:avLst/>
          </a:prstGeom>
          <a:noFill/>
        </p:spPr>
        <p:txBody>
          <a:bodyPr wrap="square">
            <a:spAutoFit/>
          </a:bodyPr>
          <a:lstStyle/>
          <a:p>
            <a:pPr algn="l"/>
            <a:r>
              <a:rPr sz="1600" b="1">
                <a:solidFill>
                  <a:srgbClr val="FFB300"/>
                </a:solidFill>
                <a:latin typeface="Calibri"/>
              </a:rPr>
              <a:t>MEANINGS (shuffled)</a:t>
            </a:r>
          </a:p>
        </p:txBody>
      </p:sp>
      <p:sp>
        <p:nvSpPr>
          <p:cNvPr id="14" name="TextBox 13"/>
          <p:cNvSpPr txBox="1"/>
          <p:nvPr/>
        </p:nvSpPr>
        <p:spPr>
          <a:xfrm>
            <a:off x="640080" y="2286000"/>
            <a:ext cx="4937760" cy="3383280"/>
          </a:xfrm>
          <a:prstGeom prst="rect">
            <a:avLst/>
          </a:prstGeom>
          <a:noFill/>
        </p:spPr>
        <p:txBody>
          <a:bodyPr wrap="square">
            <a:spAutoFit/>
          </a:bodyPr>
          <a:lstStyle/>
          <a:p>
            <a:pPr>
              <a:spcAft>
                <a:spcPts val="1400"/>
              </a:spcAft>
            </a:pPr>
            <a:r>
              <a:rPr sz="1800" b="0">
                <a:solidFill>
                  <a:srgbClr val="1A2337"/>
                </a:solidFill>
                <a:latin typeface="Calibri"/>
              </a:rPr>
              <a:t>•  1. breeze</a:t>
            </a:r>
          </a:p>
          <a:p>
            <a:pPr>
              <a:spcAft>
                <a:spcPts val="1400"/>
              </a:spcAft>
            </a:pPr>
            <a:r>
              <a:rPr sz="1800" b="0">
                <a:solidFill>
                  <a:srgbClr val="1A2337"/>
                </a:solidFill>
                <a:latin typeface="Calibri"/>
              </a:rPr>
              <a:t>•  2. soar</a:t>
            </a:r>
          </a:p>
          <a:p>
            <a:pPr>
              <a:spcAft>
                <a:spcPts val="1400"/>
              </a:spcAft>
            </a:pPr>
            <a:r>
              <a:rPr sz="1800" b="0">
                <a:solidFill>
                  <a:srgbClr val="1A2337"/>
                </a:solidFill>
                <a:latin typeface="Calibri"/>
              </a:rPr>
              <a:t>•  3. drizzle</a:t>
            </a:r>
          </a:p>
          <a:p>
            <a:pPr>
              <a:spcAft>
                <a:spcPts val="1400"/>
              </a:spcAft>
            </a:pPr>
            <a:r>
              <a:rPr sz="1800" b="0">
                <a:solidFill>
                  <a:srgbClr val="1A2337"/>
                </a:solidFill>
                <a:latin typeface="Calibri"/>
              </a:rPr>
              <a:t>•  4. trail</a:t>
            </a:r>
          </a:p>
          <a:p>
            <a:pPr>
              <a:spcAft>
                <a:spcPts val="1400"/>
              </a:spcAft>
            </a:pPr>
            <a:r>
              <a:rPr sz="1800" b="0">
                <a:solidFill>
                  <a:srgbClr val="1A2337"/>
                </a:solidFill>
                <a:latin typeface="Calibri"/>
              </a:rPr>
              <a:t>•  5. bloom</a:t>
            </a:r>
          </a:p>
          <a:p>
            <a:pPr>
              <a:spcAft>
                <a:spcPts val="1400"/>
              </a:spcAft>
            </a:pPr>
            <a:r>
              <a:rPr sz="1800" b="0">
                <a:solidFill>
                  <a:srgbClr val="1A2337"/>
                </a:solidFill>
                <a:latin typeface="Calibri"/>
              </a:rPr>
              <a:t>•  6. mist</a:t>
            </a:r>
          </a:p>
        </p:txBody>
      </p:sp>
      <p:sp>
        <p:nvSpPr>
          <p:cNvPr id="15" name="TextBox 14"/>
          <p:cNvSpPr txBox="1"/>
          <p:nvPr/>
        </p:nvSpPr>
        <p:spPr>
          <a:xfrm>
            <a:off x="6583680" y="2286000"/>
            <a:ext cx="4937760" cy="3383280"/>
          </a:xfrm>
          <a:prstGeom prst="rect">
            <a:avLst/>
          </a:prstGeom>
          <a:noFill/>
        </p:spPr>
        <p:txBody>
          <a:bodyPr wrap="square">
            <a:spAutoFit/>
          </a:bodyPr>
          <a:lstStyle/>
          <a:p>
            <a:pPr>
              <a:spcAft>
                <a:spcPts val="1400"/>
              </a:spcAft>
            </a:pPr>
            <a:r>
              <a:rPr sz="1800" b="0">
                <a:solidFill>
                  <a:srgbClr val="1A2337"/>
                </a:solidFill>
                <a:latin typeface="Calibri"/>
              </a:rPr>
              <a:t>•  A. light rain</a:t>
            </a:r>
          </a:p>
          <a:p>
            <a:pPr>
              <a:spcAft>
                <a:spcPts val="1400"/>
              </a:spcAft>
            </a:pPr>
            <a:r>
              <a:rPr sz="1800" b="0">
                <a:solidFill>
                  <a:srgbClr val="1A2337"/>
                </a:solidFill>
                <a:latin typeface="Calibri"/>
              </a:rPr>
              <a:t>•  B. soft wind</a:t>
            </a:r>
          </a:p>
          <a:p>
            <a:pPr>
              <a:spcAft>
                <a:spcPts val="1400"/>
              </a:spcAft>
            </a:pPr>
            <a:r>
              <a:rPr sz="1800" b="0">
                <a:solidFill>
                  <a:srgbClr val="1A2337"/>
                </a:solidFill>
                <a:latin typeface="Calibri"/>
              </a:rPr>
              <a:t>•  C. thin fog</a:t>
            </a:r>
          </a:p>
          <a:p>
            <a:pPr>
              <a:spcAft>
                <a:spcPts val="1400"/>
              </a:spcAft>
            </a:pPr>
            <a:r>
              <a:rPr sz="1800" b="0">
                <a:solidFill>
                  <a:srgbClr val="1A2337"/>
                </a:solidFill>
                <a:latin typeface="Calibri"/>
              </a:rPr>
              <a:t>•  D. fly high</a:t>
            </a:r>
          </a:p>
          <a:p>
            <a:pPr>
              <a:spcAft>
                <a:spcPts val="1400"/>
              </a:spcAft>
            </a:pPr>
            <a:r>
              <a:rPr sz="1800" b="0">
                <a:solidFill>
                  <a:srgbClr val="1A2337"/>
                </a:solidFill>
                <a:latin typeface="Calibri"/>
              </a:rPr>
              <a:t>•  E. outdoor path</a:t>
            </a:r>
          </a:p>
          <a:p>
            <a:pPr>
              <a:spcAft>
                <a:spcPts val="1400"/>
              </a:spcAft>
            </a:pPr>
            <a:r>
              <a:rPr sz="1800" b="0">
                <a:solidFill>
                  <a:srgbClr val="1A2337"/>
                </a:solidFill>
                <a:latin typeface="Calibri"/>
              </a:rPr>
              <a:t>•  F. flower opens</a:t>
            </a:r>
          </a:p>
        </p:txBody>
      </p:sp>
      <p:sp>
        <p:nvSpPr>
          <p:cNvPr id="16" name="Rectangle 15"/>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60–75 min</a:t>
            </a:r>
          </a:p>
        </p:txBody>
      </p:sp>
      <p:sp>
        <p:nvSpPr>
          <p:cNvPr id="18" name="TextBox 17"/>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12/25</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WORD POWER</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~4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Synonyms &amp; Antonyms Challenge 🔄</a:t>
            </a:r>
          </a:p>
        </p:txBody>
      </p:sp>
      <p:sp>
        <p:nvSpPr>
          <p:cNvPr id="9" name="Rounded Rectangle 8"/>
          <p:cNvSpPr/>
          <p:nvPr/>
        </p:nvSpPr>
        <p:spPr>
          <a:xfrm>
            <a:off x="365760" y="1280160"/>
            <a:ext cx="566928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63040"/>
            <a:ext cx="5303520" cy="365760"/>
          </a:xfrm>
          <a:prstGeom prst="rect">
            <a:avLst/>
          </a:prstGeom>
          <a:noFill/>
        </p:spPr>
        <p:txBody>
          <a:bodyPr wrap="square">
            <a:spAutoFit/>
          </a:bodyPr>
          <a:lstStyle/>
          <a:p>
            <a:pPr algn="l"/>
            <a:r>
              <a:rPr sz="1600" b="1">
                <a:solidFill>
                  <a:srgbClr val="009688"/>
                </a:solidFill>
                <a:latin typeface="Calibri"/>
              </a:rPr>
              <a:t>😊 Synonyms (same / similar)</a:t>
            </a:r>
          </a:p>
        </p:txBody>
      </p:sp>
      <p:sp>
        <p:nvSpPr>
          <p:cNvPr id="11" name="TextBox 10"/>
          <p:cNvSpPr txBox="1"/>
          <p:nvPr/>
        </p:nvSpPr>
        <p:spPr>
          <a:xfrm>
            <a:off x="548640" y="2011680"/>
            <a:ext cx="5303520" cy="3657600"/>
          </a:xfrm>
          <a:prstGeom prst="rect">
            <a:avLst/>
          </a:prstGeom>
          <a:noFill/>
        </p:spPr>
        <p:txBody>
          <a:bodyPr wrap="square">
            <a:spAutoFit/>
          </a:bodyPr>
          <a:lstStyle/>
          <a:p>
            <a:pPr>
              <a:spcAft>
                <a:spcPts val="1200"/>
              </a:spcAft>
            </a:pPr>
            <a:r>
              <a:rPr sz="1600" b="0">
                <a:solidFill>
                  <a:srgbClr val="1A2337"/>
                </a:solidFill>
                <a:latin typeface="Calibri"/>
              </a:rPr>
              <a:t>•  happy → glad / joyful</a:t>
            </a:r>
          </a:p>
          <a:p>
            <a:pPr>
              <a:spcAft>
                <a:spcPts val="1200"/>
              </a:spcAft>
            </a:pPr>
            <a:r>
              <a:rPr sz="1600" b="0">
                <a:solidFill>
                  <a:srgbClr val="1A2337"/>
                </a:solidFill>
                <a:latin typeface="Calibri"/>
              </a:rPr>
              <a:t>•  tiny → small / little</a:t>
            </a:r>
          </a:p>
          <a:p>
            <a:pPr>
              <a:spcAft>
                <a:spcPts val="1200"/>
              </a:spcAft>
            </a:pPr>
            <a:r>
              <a:rPr sz="1600" b="0">
                <a:solidFill>
                  <a:srgbClr val="1A2337"/>
                </a:solidFill>
                <a:latin typeface="Calibri"/>
              </a:rPr>
              <a:t>•  fast → quick / speedy</a:t>
            </a:r>
          </a:p>
          <a:p>
            <a:pPr>
              <a:spcAft>
                <a:spcPts val="1200"/>
              </a:spcAft>
            </a:pPr>
            <a:r>
              <a:rPr sz="1600" b="0">
                <a:solidFill>
                  <a:srgbClr val="1A2337"/>
                </a:solidFill>
                <a:latin typeface="Calibri"/>
              </a:rPr>
              <a:t>•  brave → courageous</a:t>
            </a:r>
          </a:p>
          <a:p>
            <a:pPr>
              <a:spcAft>
                <a:spcPts val="1200"/>
              </a:spcAft>
            </a:pPr>
            <a:r>
              <a:rPr sz="1600" b="0">
                <a:solidFill>
                  <a:srgbClr val="1A2337"/>
                </a:solidFill>
                <a:latin typeface="Calibri"/>
              </a:rPr>
              <a:t>•  Your turn: big → ?</a:t>
            </a:r>
          </a:p>
        </p:txBody>
      </p:sp>
      <p:sp>
        <p:nvSpPr>
          <p:cNvPr id="12" name="Rounded Rectangle 11"/>
          <p:cNvSpPr/>
          <p:nvPr/>
        </p:nvSpPr>
        <p:spPr>
          <a:xfrm>
            <a:off x="6309360" y="1280160"/>
            <a:ext cx="548640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63040"/>
            <a:ext cx="5120640" cy="365760"/>
          </a:xfrm>
          <a:prstGeom prst="rect">
            <a:avLst/>
          </a:prstGeom>
          <a:noFill/>
        </p:spPr>
        <p:txBody>
          <a:bodyPr wrap="square">
            <a:spAutoFit/>
          </a:bodyPr>
          <a:lstStyle/>
          <a:p>
            <a:pPr algn="l"/>
            <a:r>
              <a:rPr sz="1600" b="1">
                <a:solidFill>
                  <a:srgbClr val="FF7043"/>
                </a:solidFill>
                <a:latin typeface="Calibri"/>
              </a:rPr>
              <a:t>⚡ Antonyms (opposites)</a:t>
            </a:r>
          </a:p>
        </p:txBody>
      </p:sp>
      <p:sp>
        <p:nvSpPr>
          <p:cNvPr id="14" name="TextBox 13"/>
          <p:cNvSpPr txBox="1"/>
          <p:nvPr/>
        </p:nvSpPr>
        <p:spPr>
          <a:xfrm>
            <a:off x="6492240" y="2011680"/>
            <a:ext cx="5120640" cy="3657600"/>
          </a:xfrm>
          <a:prstGeom prst="rect">
            <a:avLst/>
          </a:prstGeom>
          <a:noFill/>
        </p:spPr>
        <p:txBody>
          <a:bodyPr wrap="square">
            <a:spAutoFit/>
          </a:bodyPr>
          <a:lstStyle/>
          <a:p>
            <a:pPr>
              <a:spcAft>
                <a:spcPts val="1200"/>
              </a:spcAft>
            </a:pPr>
            <a:r>
              <a:rPr sz="1600" b="0">
                <a:solidFill>
                  <a:srgbClr val="1A2337"/>
                </a:solidFill>
                <a:latin typeface="Calibri"/>
              </a:rPr>
              <a:t>•  happy → sad</a:t>
            </a:r>
          </a:p>
          <a:p>
            <a:pPr>
              <a:spcAft>
                <a:spcPts val="1200"/>
              </a:spcAft>
            </a:pPr>
            <a:r>
              <a:rPr sz="1600" b="0">
                <a:solidFill>
                  <a:srgbClr val="1A2337"/>
                </a:solidFill>
                <a:latin typeface="Calibri"/>
              </a:rPr>
              <a:t>•  tiny → huge / large</a:t>
            </a:r>
          </a:p>
          <a:p>
            <a:pPr>
              <a:spcAft>
                <a:spcPts val="1200"/>
              </a:spcAft>
            </a:pPr>
            <a:r>
              <a:rPr sz="1600" b="0">
                <a:solidFill>
                  <a:srgbClr val="1A2337"/>
                </a:solidFill>
                <a:latin typeface="Calibri"/>
              </a:rPr>
              <a:t>•  fast → slow</a:t>
            </a:r>
          </a:p>
          <a:p>
            <a:pPr>
              <a:spcAft>
                <a:spcPts val="1200"/>
              </a:spcAft>
            </a:pPr>
            <a:r>
              <a:rPr sz="1600" b="0">
                <a:solidFill>
                  <a:srgbClr val="1A2337"/>
                </a:solidFill>
                <a:latin typeface="Calibri"/>
              </a:rPr>
              <a:t>•  lost → found</a:t>
            </a:r>
          </a:p>
          <a:p>
            <a:pPr>
              <a:spcAft>
                <a:spcPts val="1200"/>
              </a:spcAft>
            </a:pPr>
            <a:r>
              <a:rPr sz="1600" b="0">
                <a:solidFill>
                  <a:srgbClr val="1A2337"/>
                </a:solidFill>
                <a:latin typeface="Calibri"/>
              </a:rPr>
              <a:t>•  Your turn: kind → ?</a:t>
            </a:r>
          </a:p>
        </p:txBody>
      </p:sp>
      <p:sp>
        <p:nvSpPr>
          <p:cNvPr id="15" name="Rectangle 14"/>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60–75 min</a:t>
            </a:r>
          </a:p>
        </p:txBody>
      </p:sp>
      <p:sp>
        <p:nvSpPr>
          <p:cNvPr id="17" name="TextBox 1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13/25</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STORYTELLING</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Story • 10 min</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Create Your Own Story ✨</a:t>
            </a:r>
          </a:p>
        </p:txBody>
      </p:sp>
      <p:sp>
        <p:nvSpPr>
          <p:cNvPr id="9" name="Rounded Rectangle 8"/>
          <p:cNvSpPr/>
          <p:nvPr/>
        </p:nvSpPr>
        <p:spPr>
          <a:xfrm>
            <a:off x="365760" y="1280160"/>
            <a:ext cx="6675120" cy="466344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029200" y="1554480"/>
            <a:ext cx="1188720" cy="118872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4206240"/>
            <a:ext cx="6675120" cy="17373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7280" y="3291840"/>
            <a:ext cx="1645920" cy="1097280"/>
          </a:xfrm>
          <a:prstGeom prst="ellipse">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0320" y="3017520"/>
            <a:ext cx="2011680" cy="1371600"/>
          </a:xfrm>
          <a:prstGeom prst="ellipse">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0" y="3474720"/>
            <a:ext cx="1828800" cy="1371600"/>
          </a:xfrm>
          <a:prstGeom prst="roundRect">
            <a:avLst/>
          </a:prstGeom>
          <a:solidFill>
            <a:srgbClr val="8D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40480"/>
            <a:ext cx="1463040" cy="731520"/>
          </a:xfrm>
          <a:prstGeom prst="rect">
            <a:avLst/>
          </a:prstGeom>
          <a:noFill/>
        </p:spPr>
        <p:txBody>
          <a:bodyPr wrap="square">
            <a:spAutoFit/>
          </a:bodyPr>
          <a:lstStyle/>
          <a:p>
            <a:pPr algn="ctr"/>
            <a:r>
              <a:rPr sz="2800" b="0">
                <a:solidFill>
                  <a:srgbClr val="1A2337"/>
                </a:solidFill>
                <a:latin typeface="Calibri"/>
              </a:rPr>
              <a:t>🏠</a:t>
            </a:r>
          </a:p>
        </p:txBody>
      </p:sp>
      <p:sp>
        <p:nvSpPr>
          <p:cNvPr id="16" name="TextBox 15"/>
          <p:cNvSpPr txBox="1"/>
          <p:nvPr/>
        </p:nvSpPr>
        <p:spPr>
          <a:xfrm>
            <a:off x="1371600" y="4663440"/>
            <a:ext cx="4572000" cy="457200"/>
          </a:xfrm>
          <a:prstGeom prst="rect">
            <a:avLst/>
          </a:prstGeom>
          <a:noFill/>
        </p:spPr>
        <p:txBody>
          <a:bodyPr wrap="square">
            <a:spAutoFit/>
          </a:bodyPr>
          <a:lstStyle/>
          <a:p>
            <a:pPr algn="ctr"/>
            <a:r>
              <a:rPr sz="1800" b="0">
                <a:solidFill>
                  <a:srgbClr val="FFFFFF"/>
                </a:solidFill>
                <a:latin typeface="Calibri"/>
              </a:rPr>
              <a:t>👧  🐶  🌳  Mystery backpack!</a:t>
            </a:r>
          </a:p>
        </p:txBody>
      </p:sp>
      <p:sp>
        <p:nvSpPr>
          <p:cNvPr id="17" name="Rounded Rectangle 16"/>
          <p:cNvSpPr/>
          <p:nvPr/>
        </p:nvSpPr>
        <p:spPr>
          <a:xfrm>
            <a:off x="7269480" y="1280160"/>
            <a:ext cx="448056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463040"/>
            <a:ext cx="4114800" cy="365760"/>
          </a:xfrm>
          <a:prstGeom prst="rect">
            <a:avLst/>
          </a:prstGeom>
          <a:noFill/>
        </p:spPr>
        <p:txBody>
          <a:bodyPr wrap="square">
            <a:spAutoFit/>
          </a:bodyPr>
          <a:lstStyle/>
          <a:p>
            <a:pPr algn="l"/>
            <a:r>
              <a:rPr sz="1600" b="1">
                <a:solidFill>
                  <a:srgbClr val="0B3D91"/>
                </a:solidFill>
                <a:latin typeface="Calibri"/>
              </a:rPr>
              <a:t>Story Helpers</a:t>
            </a:r>
          </a:p>
        </p:txBody>
      </p:sp>
      <p:sp>
        <p:nvSpPr>
          <p:cNvPr id="19" name="TextBox 18"/>
          <p:cNvSpPr txBox="1"/>
          <p:nvPr/>
        </p:nvSpPr>
        <p:spPr>
          <a:xfrm>
            <a:off x="7452360" y="2011680"/>
            <a:ext cx="4114800" cy="3657600"/>
          </a:xfrm>
          <a:prstGeom prst="rect">
            <a:avLst/>
          </a:prstGeom>
          <a:noFill/>
        </p:spPr>
        <p:txBody>
          <a:bodyPr wrap="square">
            <a:spAutoFit/>
          </a:bodyPr>
          <a:lstStyle/>
          <a:p>
            <a:pPr>
              <a:spcAft>
                <a:spcPts val="1000"/>
              </a:spcAft>
            </a:pPr>
            <a:r>
              <a:rPr sz="1500" b="0">
                <a:solidFill>
                  <a:srgbClr val="1A2337"/>
                </a:solidFill>
                <a:latin typeface="Calibri"/>
              </a:rPr>
              <a:t>•  Who is in the story?</a:t>
            </a:r>
          </a:p>
          <a:p>
            <a:pPr>
              <a:spcAft>
                <a:spcPts val="1000"/>
              </a:spcAft>
            </a:pPr>
            <a:r>
              <a:rPr sz="1500" b="0">
                <a:solidFill>
                  <a:srgbClr val="1A2337"/>
                </a:solidFill>
                <a:latin typeface="Calibri"/>
              </a:rPr>
              <a:t>•  Where are they?</a:t>
            </a:r>
          </a:p>
          <a:p>
            <a:pPr>
              <a:spcAft>
                <a:spcPts val="1000"/>
              </a:spcAft>
            </a:pPr>
            <a:r>
              <a:rPr sz="1500" b="0">
                <a:solidFill>
                  <a:srgbClr val="1A2337"/>
                </a:solidFill>
                <a:latin typeface="Calibri"/>
              </a:rPr>
              <a:t>•  What happened?</a:t>
            </a:r>
          </a:p>
          <a:p>
            <a:pPr>
              <a:spcAft>
                <a:spcPts val="1000"/>
              </a:spcAft>
            </a:pPr>
            <a:r>
              <a:rPr sz="1500" b="0">
                <a:solidFill>
                  <a:srgbClr val="1A2337"/>
                </a:solidFill>
                <a:latin typeface="Calibri"/>
              </a:rPr>
              <a:t>•  What was the problem?</a:t>
            </a:r>
          </a:p>
          <a:p>
            <a:pPr>
              <a:spcAft>
                <a:spcPts val="1000"/>
              </a:spcAft>
            </a:pPr>
            <a:r>
              <a:rPr sz="1500" b="0">
                <a:solidFill>
                  <a:srgbClr val="1A2337"/>
                </a:solidFill>
                <a:latin typeface="Calibri"/>
              </a:rPr>
              <a:t>•  How did it end?</a:t>
            </a:r>
          </a:p>
          <a:p>
            <a:pPr>
              <a:spcAft>
                <a:spcPts val="1000"/>
              </a:spcAft>
            </a:pPr>
            <a:r>
              <a:rPr sz="1500" b="0">
                <a:solidFill>
                  <a:srgbClr val="1A2337"/>
                </a:solidFill>
                <a:latin typeface="Calibri"/>
              </a:rPr>
              <a:t>•  How did they feel?</a:t>
            </a:r>
          </a:p>
        </p:txBody>
      </p:sp>
      <p:sp>
        <p:nvSpPr>
          <p:cNvPr id="20" name="Rectangle 19"/>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75–85 min</a:t>
            </a:r>
          </a:p>
        </p:txBody>
      </p:sp>
      <p:sp>
        <p:nvSpPr>
          <p:cNvPr id="22" name="TextBox 21"/>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14/25</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DESCRIBE IT</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~3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Picture Description 🖼️</a:t>
            </a:r>
          </a:p>
        </p:txBody>
      </p:sp>
      <p:sp>
        <p:nvSpPr>
          <p:cNvPr id="9" name="Rounded Rectangle 8"/>
          <p:cNvSpPr/>
          <p:nvPr/>
        </p:nvSpPr>
        <p:spPr>
          <a:xfrm>
            <a:off x="365760" y="1280160"/>
            <a:ext cx="6858000" cy="466344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86000"/>
            <a:ext cx="6492240" cy="2286000"/>
          </a:xfrm>
          <a:prstGeom prst="rect">
            <a:avLst/>
          </a:prstGeom>
          <a:noFill/>
        </p:spPr>
        <p:txBody>
          <a:bodyPr wrap="square">
            <a:spAutoFit/>
          </a:bodyPr>
          <a:lstStyle/>
          <a:p>
            <a:pPr algn="ctr"/>
            <a:r>
              <a:rPr sz="2200" b="0">
                <a:solidFill>
                  <a:srgbClr val="0B3D91"/>
                </a:solidFill>
                <a:latin typeface="Calibri"/>
              </a:rPr>
              <a:t>🏫 Classroom party scene
🎈 Friends laughing
📚 Books on a table
🍕 Snacks &amp; smiles</a:t>
            </a:r>
          </a:p>
        </p:txBody>
      </p:sp>
      <p:sp>
        <p:nvSpPr>
          <p:cNvPr id="11" name="Rounded Rectangle 10"/>
          <p:cNvSpPr/>
          <p:nvPr/>
        </p:nvSpPr>
        <p:spPr>
          <a:xfrm>
            <a:off x="7498079" y="1280160"/>
            <a:ext cx="429768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417320"/>
            <a:ext cx="3931920" cy="320040"/>
          </a:xfrm>
          <a:prstGeom prst="rect">
            <a:avLst/>
          </a:prstGeom>
          <a:noFill/>
        </p:spPr>
        <p:txBody>
          <a:bodyPr wrap="square">
            <a:spAutoFit/>
          </a:bodyPr>
          <a:lstStyle/>
          <a:p>
            <a:pPr algn="l"/>
            <a:r>
              <a:rPr sz="1500" b="1">
                <a:solidFill>
                  <a:srgbClr val="1E88E5"/>
                </a:solidFill>
                <a:latin typeface="Calibri"/>
              </a:rPr>
              <a:t>People</a:t>
            </a:r>
          </a:p>
        </p:txBody>
      </p:sp>
      <p:sp>
        <p:nvSpPr>
          <p:cNvPr id="13" name="TextBox 12"/>
          <p:cNvSpPr txBox="1"/>
          <p:nvPr/>
        </p:nvSpPr>
        <p:spPr>
          <a:xfrm>
            <a:off x="7680960" y="1783080"/>
            <a:ext cx="3931920" cy="365760"/>
          </a:xfrm>
          <a:prstGeom prst="rect">
            <a:avLst/>
          </a:prstGeom>
          <a:noFill/>
        </p:spPr>
        <p:txBody>
          <a:bodyPr wrap="square">
            <a:spAutoFit/>
          </a:bodyPr>
          <a:lstStyle/>
          <a:p>
            <a:pPr algn="l"/>
            <a:r>
              <a:rPr sz="1300" b="0">
                <a:solidFill>
                  <a:srgbClr val="1A2337"/>
                </a:solidFill>
                <a:latin typeface="Calibri"/>
              </a:rPr>
              <a:t>Who do you see?</a:t>
            </a:r>
          </a:p>
        </p:txBody>
      </p:sp>
      <p:sp>
        <p:nvSpPr>
          <p:cNvPr id="14" name="Rounded Rectangle 13"/>
          <p:cNvSpPr/>
          <p:nvPr/>
        </p:nvSpPr>
        <p:spPr>
          <a:xfrm>
            <a:off x="7498079" y="2468880"/>
            <a:ext cx="429768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2606040"/>
            <a:ext cx="3931920" cy="320040"/>
          </a:xfrm>
          <a:prstGeom prst="rect">
            <a:avLst/>
          </a:prstGeom>
          <a:noFill/>
        </p:spPr>
        <p:txBody>
          <a:bodyPr wrap="square">
            <a:spAutoFit/>
          </a:bodyPr>
          <a:lstStyle/>
          <a:p>
            <a:pPr algn="l"/>
            <a:r>
              <a:rPr sz="1500" b="1">
                <a:solidFill>
                  <a:srgbClr val="1E88E5"/>
                </a:solidFill>
                <a:latin typeface="Calibri"/>
              </a:rPr>
              <a:t>Place</a:t>
            </a:r>
          </a:p>
        </p:txBody>
      </p:sp>
      <p:sp>
        <p:nvSpPr>
          <p:cNvPr id="16" name="TextBox 15"/>
          <p:cNvSpPr txBox="1"/>
          <p:nvPr/>
        </p:nvSpPr>
        <p:spPr>
          <a:xfrm>
            <a:off x="7680960" y="2971800"/>
            <a:ext cx="3931920" cy="365760"/>
          </a:xfrm>
          <a:prstGeom prst="rect">
            <a:avLst/>
          </a:prstGeom>
          <a:noFill/>
        </p:spPr>
        <p:txBody>
          <a:bodyPr wrap="square">
            <a:spAutoFit/>
          </a:bodyPr>
          <a:lstStyle/>
          <a:p>
            <a:pPr algn="l"/>
            <a:r>
              <a:rPr sz="1300" b="0">
                <a:solidFill>
                  <a:srgbClr val="1A2337"/>
                </a:solidFill>
                <a:latin typeface="Calibri"/>
              </a:rPr>
              <a:t>Where is this?</a:t>
            </a:r>
          </a:p>
        </p:txBody>
      </p:sp>
      <p:sp>
        <p:nvSpPr>
          <p:cNvPr id="17" name="Rounded Rectangle 16"/>
          <p:cNvSpPr/>
          <p:nvPr/>
        </p:nvSpPr>
        <p:spPr>
          <a:xfrm>
            <a:off x="7498079" y="3657600"/>
            <a:ext cx="429768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3794760"/>
            <a:ext cx="3931920" cy="320040"/>
          </a:xfrm>
          <a:prstGeom prst="rect">
            <a:avLst/>
          </a:prstGeom>
          <a:noFill/>
        </p:spPr>
        <p:txBody>
          <a:bodyPr wrap="square">
            <a:spAutoFit/>
          </a:bodyPr>
          <a:lstStyle/>
          <a:p>
            <a:pPr algn="l"/>
            <a:r>
              <a:rPr sz="1500" b="1">
                <a:solidFill>
                  <a:srgbClr val="1E88E5"/>
                </a:solidFill>
                <a:latin typeface="Calibri"/>
              </a:rPr>
              <a:t>Actions</a:t>
            </a:r>
          </a:p>
        </p:txBody>
      </p:sp>
      <p:sp>
        <p:nvSpPr>
          <p:cNvPr id="19" name="TextBox 18"/>
          <p:cNvSpPr txBox="1"/>
          <p:nvPr/>
        </p:nvSpPr>
        <p:spPr>
          <a:xfrm>
            <a:off x="7680960" y="4160520"/>
            <a:ext cx="3931920" cy="365760"/>
          </a:xfrm>
          <a:prstGeom prst="rect">
            <a:avLst/>
          </a:prstGeom>
          <a:noFill/>
        </p:spPr>
        <p:txBody>
          <a:bodyPr wrap="square">
            <a:spAutoFit/>
          </a:bodyPr>
          <a:lstStyle/>
          <a:p>
            <a:pPr algn="l"/>
            <a:r>
              <a:rPr sz="1300" b="0">
                <a:solidFill>
                  <a:srgbClr val="1A2337"/>
                </a:solidFill>
                <a:latin typeface="Calibri"/>
              </a:rPr>
              <a:t>What are they doing?</a:t>
            </a:r>
          </a:p>
        </p:txBody>
      </p:sp>
      <p:sp>
        <p:nvSpPr>
          <p:cNvPr id="20" name="Rounded Rectangle 19"/>
          <p:cNvSpPr/>
          <p:nvPr/>
        </p:nvSpPr>
        <p:spPr>
          <a:xfrm>
            <a:off x="7498079" y="4846320"/>
            <a:ext cx="429768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983480"/>
            <a:ext cx="3931920" cy="320040"/>
          </a:xfrm>
          <a:prstGeom prst="rect">
            <a:avLst/>
          </a:prstGeom>
          <a:noFill/>
        </p:spPr>
        <p:txBody>
          <a:bodyPr wrap="square">
            <a:spAutoFit/>
          </a:bodyPr>
          <a:lstStyle/>
          <a:p>
            <a:pPr algn="l"/>
            <a:r>
              <a:rPr sz="1500" b="1">
                <a:solidFill>
                  <a:srgbClr val="1E88E5"/>
                </a:solidFill>
                <a:latin typeface="Calibri"/>
              </a:rPr>
              <a:t>Feelings</a:t>
            </a:r>
          </a:p>
        </p:txBody>
      </p:sp>
      <p:sp>
        <p:nvSpPr>
          <p:cNvPr id="22" name="TextBox 21"/>
          <p:cNvSpPr txBox="1"/>
          <p:nvPr/>
        </p:nvSpPr>
        <p:spPr>
          <a:xfrm>
            <a:off x="7680960" y="5349240"/>
            <a:ext cx="3931920" cy="365760"/>
          </a:xfrm>
          <a:prstGeom prst="rect">
            <a:avLst/>
          </a:prstGeom>
          <a:noFill/>
        </p:spPr>
        <p:txBody>
          <a:bodyPr wrap="square">
            <a:spAutoFit/>
          </a:bodyPr>
          <a:lstStyle/>
          <a:p>
            <a:pPr algn="l"/>
            <a:r>
              <a:rPr sz="1300" b="0">
                <a:solidFill>
                  <a:srgbClr val="1A2337"/>
                </a:solidFill>
                <a:latin typeface="Calibri"/>
              </a:rPr>
              <a:t>How do they feel?</a:t>
            </a:r>
          </a:p>
        </p:txBody>
      </p:sp>
      <p:sp>
        <p:nvSpPr>
          <p:cNvPr id="23" name="Rectangle 22"/>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75–85 min</a:t>
            </a:r>
          </a:p>
        </p:txBody>
      </p:sp>
      <p:sp>
        <p:nvSpPr>
          <p:cNvPr id="25" name="TextBox 24"/>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15/25</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ROLE PLAY</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~2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Creative Speaking — Pick a Role! 🎭</a:t>
            </a:r>
          </a:p>
        </p:txBody>
      </p:sp>
      <p:sp>
        <p:nvSpPr>
          <p:cNvPr id="9" name="Rounded Rectangle 8"/>
          <p:cNvSpPr/>
          <p:nvPr/>
        </p:nvSpPr>
        <p:spPr>
          <a:xfrm>
            <a:off x="3657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463040"/>
            <a:ext cx="3703320" cy="128016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00200"/>
            <a:ext cx="3703320" cy="457200"/>
          </a:xfrm>
          <a:prstGeom prst="rect">
            <a:avLst/>
          </a:prstGeom>
          <a:noFill/>
        </p:spPr>
        <p:txBody>
          <a:bodyPr wrap="square">
            <a:spAutoFit/>
          </a:bodyPr>
          <a:lstStyle/>
          <a:p>
            <a:pPr algn="ctr"/>
            <a:r>
              <a:rPr sz="2800" b="0">
                <a:solidFill>
                  <a:srgbClr val="1A2337"/>
                </a:solidFill>
                <a:latin typeface="Calibri"/>
              </a:rPr>
              <a:t>📰</a:t>
            </a:r>
          </a:p>
        </p:txBody>
      </p:sp>
      <p:sp>
        <p:nvSpPr>
          <p:cNvPr id="12" name="TextBox 11"/>
          <p:cNvSpPr txBox="1"/>
          <p:nvPr/>
        </p:nvSpPr>
        <p:spPr>
          <a:xfrm>
            <a:off x="365760" y="2148840"/>
            <a:ext cx="3703320" cy="411480"/>
          </a:xfrm>
          <a:prstGeom prst="rect">
            <a:avLst/>
          </a:prstGeom>
          <a:noFill/>
        </p:spPr>
        <p:txBody>
          <a:bodyPr wrap="square">
            <a:spAutoFit/>
          </a:bodyPr>
          <a:lstStyle/>
          <a:p>
            <a:pPr algn="ctr"/>
            <a:r>
              <a:rPr sz="1600" b="1">
                <a:solidFill>
                  <a:srgbClr val="FFFFFF"/>
                </a:solidFill>
                <a:latin typeface="Calibri"/>
              </a:rPr>
              <a:t>News Reporter</a:t>
            </a:r>
          </a:p>
        </p:txBody>
      </p:sp>
      <p:sp>
        <p:nvSpPr>
          <p:cNvPr id="13" name="TextBox 12"/>
          <p:cNvSpPr txBox="1"/>
          <p:nvPr/>
        </p:nvSpPr>
        <p:spPr>
          <a:xfrm>
            <a:off x="594360" y="3108960"/>
            <a:ext cx="3246120" cy="2194560"/>
          </a:xfrm>
          <a:prstGeom prst="rect">
            <a:avLst/>
          </a:prstGeom>
          <a:noFill/>
        </p:spPr>
        <p:txBody>
          <a:bodyPr wrap="square">
            <a:spAutoFit/>
          </a:bodyPr>
          <a:lstStyle/>
          <a:p>
            <a:pPr algn="ctr"/>
            <a:r>
              <a:rPr sz="1500" b="0">
                <a:solidFill>
                  <a:srgbClr val="1A2337"/>
                </a:solidFill>
                <a:latin typeface="Calibri"/>
              </a:rPr>
              <a:t>Report: Puppy found in Maple Park!
Speak for 45–60 seconds!</a:t>
            </a:r>
          </a:p>
        </p:txBody>
      </p:sp>
      <p:sp>
        <p:nvSpPr>
          <p:cNvPr id="14" name="Rounded Rectangle 13"/>
          <p:cNvSpPr/>
          <p:nvPr/>
        </p:nvSpPr>
        <p:spPr>
          <a:xfrm>
            <a:off x="42519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1463040"/>
            <a:ext cx="3703320" cy="128016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1600200"/>
            <a:ext cx="3703320" cy="457200"/>
          </a:xfrm>
          <a:prstGeom prst="rect">
            <a:avLst/>
          </a:prstGeom>
          <a:noFill/>
        </p:spPr>
        <p:txBody>
          <a:bodyPr wrap="square">
            <a:spAutoFit/>
          </a:bodyPr>
          <a:lstStyle/>
          <a:p>
            <a:pPr algn="ctr"/>
            <a:r>
              <a:rPr sz="2800" b="0">
                <a:solidFill>
                  <a:srgbClr val="1A2337"/>
                </a:solidFill>
                <a:latin typeface="Calibri"/>
              </a:rPr>
              <a:t>🏴‍☠️</a:t>
            </a:r>
          </a:p>
        </p:txBody>
      </p:sp>
      <p:sp>
        <p:nvSpPr>
          <p:cNvPr id="17" name="TextBox 16"/>
          <p:cNvSpPr txBox="1"/>
          <p:nvPr/>
        </p:nvSpPr>
        <p:spPr>
          <a:xfrm>
            <a:off x="4251960" y="2148840"/>
            <a:ext cx="3703320" cy="411480"/>
          </a:xfrm>
          <a:prstGeom prst="rect">
            <a:avLst/>
          </a:prstGeom>
          <a:noFill/>
        </p:spPr>
        <p:txBody>
          <a:bodyPr wrap="square">
            <a:spAutoFit/>
          </a:bodyPr>
          <a:lstStyle/>
          <a:p>
            <a:pPr algn="ctr"/>
            <a:r>
              <a:rPr sz="1600" b="1">
                <a:solidFill>
                  <a:srgbClr val="FFFFFF"/>
                </a:solidFill>
                <a:latin typeface="Calibri"/>
              </a:rPr>
              <a:t>Pirate</a:t>
            </a:r>
          </a:p>
        </p:txBody>
      </p:sp>
      <p:sp>
        <p:nvSpPr>
          <p:cNvPr id="18" name="TextBox 17"/>
          <p:cNvSpPr txBox="1"/>
          <p:nvPr/>
        </p:nvSpPr>
        <p:spPr>
          <a:xfrm>
            <a:off x="4480560" y="3108960"/>
            <a:ext cx="3246120" cy="2194560"/>
          </a:xfrm>
          <a:prstGeom prst="rect">
            <a:avLst/>
          </a:prstGeom>
          <a:noFill/>
        </p:spPr>
        <p:txBody>
          <a:bodyPr wrap="square">
            <a:spAutoFit/>
          </a:bodyPr>
          <a:lstStyle/>
          <a:p>
            <a:pPr algn="ctr"/>
            <a:r>
              <a:rPr sz="1500" b="0">
                <a:solidFill>
                  <a:srgbClr val="1A2337"/>
                </a:solidFill>
                <a:latin typeface="Calibri"/>
              </a:rPr>
              <a:t>Tell your crew about treasure in the forest.
Speak for 45–60 seconds!</a:t>
            </a:r>
          </a:p>
        </p:txBody>
      </p:sp>
      <p:sp>
        <p:nvSpPr>
          <p:cNvPr id="19" name="Rounded Rectangle 18"/>
          <p:cNvSpPr/>
          <p:nvPr/>
        </p:nvSpPr>
        <p:spPr>
          <a:xfrm>
            <a:off x="8138160" y="1463040"/>
            <a:ext cx="3703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463040"/>
            <a:ext cx="3703320" cy="12801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600200"/>
            <a:ext cx="3703320" cy="457200"/>
          </a:xfrm>
          <a:prstGeom prst="rect">
            <a:avLst/>
          </a:prstGeom>
          <a:noFill/>
        </p:spPr>
        <p:txBody>
          <a:bodyPr wrap="square">
            <a:spAutoFit/>
          </a:bodyPr>
          <a:lstStyle/>
          <a:p>
            <a:pPr algn="ctr"/>
            <a:r>
              <a:rPr sz="2800" b="0">
                <a:solidFill>
                  <a:srgbClr val="1A2337"/>
                </a:solidFill>
                <a:latin typeface="Calibri"/>
              </a:rPr>
              <a:t>🦁</a:t>
            </a:r>
          </a:p>
        </p:txBody>
      </p:sp>
      <p:sp>
        <p:nvSpPr>
          <p:cNvPr id="22" name="TextBox 21"/>
          <p:cNvSpPr txBox="1"/>
          <p:nvPr/>
        </p:nvSpPr>
        <p:spPr>
          <a:xfrm>
            <a:off x="8138160" y="2148840"/>
            <a:ext cx="3703320" cy="411480"/>
          </a:xfrm>
          <a:prstGeom prst="rect">
            <a:avLst/>
          </a:prstGeom>
          <a:noFill/>
        </p:spPr>
        <p:txBody>
          <a:bodyPr wrap="square">
            <a:spAutoFit/>
          </a:bodyPr>
          <a:lstStyle/>
          <a:p>
            <a:pPr algn="ctr"/>
            <a:r>
              <a:rPr sz="1600" b="1">
                <a:solidFill>
                  <a:srgbClr val="FFFFFF"/>
                </a:solidFill>
                <a:latin typeface="Calibri"/>
              </a:rPr>
              <a:t>Zoo Guide</a:t>
            </a:r>
          </a:p>
        </p:txBody>
      </p:sp>
      <p:sp>
        <p:nvSpPr>
          <p:cNvPr id="23" name="TextBox 22"/>
          <p:cNvSpPr txBox="1"/>
          <p:nvPr/>
        </p:nvSpPr>
        <p:spPr>
          <a:xfrm>
            <a:off x="8366760" y="3108960"/>
            <a:ext cx="3246120" cy="2194560"/>
          </a:xfrm>
          <a:prstGeom prst="rect">
            <a:avLst/>
          </a:prstGeom>
          <a:noFill/>
        </p:spPr>
        <p:txBody>
          <a:bodyPr wrap="square">
            <a:spAutoFit/>
          </a:bodyPr>
          <a:lstStyle/>
          <a:p>
            <a:pPr algn="ctr"/>
            <a:r>
              <a:rPr sz="1500" b="0">
                <a:solidFill>
                  <a:srgbClr val="1A2337"/>
                </a:solidFill>
                <a:latin typeface="Calibri"/>
              </a:rPr>
              <a:t>Welcome visitors and describe 3 animals.
Speak for 45–60 seconds!</a:t>
            </a:r>
          </a:p>
        </p:txBody>
      </p:sp>
      <p:sp>
        <p:nvSpPr>
          <p:cNvPr id="24" name="Rectangle 23"/>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75–85 min</a:t>
            </a:r>
          </a:p>
        </p:txBody>
      </p:sp>
      <p:sp>
        <p:nvSpPr>
          <p:cNvPr id="26" name="TextBox 25"/>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16/25</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926080" cy="329184"/>
          </a:xfrm>
          <a:prstGeom prst="roundRect">
            <a:avLst/>
          </a:prstGeom>
          <a:solidFill>
            <a:srgbClr val="EC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926080" cy="310896"/>
          </a:xfrm>
          <a:prstGeom prst="rect">
            <a:avLst/>
          </a:prstGeom>
          <a:noFill/>
        </p:spPr>
        <p:txBody>
          <a:bodyPr wrap="square">
            <a:spAutoFit/>
          </a:bodyPr>
          <a:lstStyle/>
          <a:p>
            <a:pPr algn="ctr"/>
            <a:r>
              <a:rPr sz="1200" b="1">
                <a:solidFill>
                  <a:srgbClr val="FFFFFF"/>
                </a:solidFill>
                <a:latin typeface="Calibri"/>
              </a:rPr>
              <a:t>PRONUNCIATION</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Flex • 3 min</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Pronunciation Practice 🔊</a:t>
            </a:r>
          </a:p>
        </p:txBody>
      </p:sp>
      <p:sp>
        <p:nvSpPr>
          <p:cNvPr id="9" name="TextBox 8"/>
          <p:cNvSpPr txBox="1"/>
          <p:nvPr/>
        </p:nvSpPr>
        <p:spPr>
          <a:xfrm>
            <a:off x="365760" y="1143000"/>
            <a:ext cx="10972800" cy="274320"/>
          </a:xfrm>
          <a:prstGeom prst="rect">
            <a:avLst/>
          </a:prstGeom>
          <a:noFill/>
        </p:spPr>
        <p:txBody>
          <a:bodyPr wrap="square">
            <a:spAutoFit/>
          </a:bodyPr>
          <a:lstStyle/>
          <a:p>
            <a:pPr algn="l"/>
            <a:r>
              <a:rPr sz="1400" b="0">
                <a:solidFill>
                  <a:srgbClr val="546E7A"/>
                </a:solidFill>
                <a:latin typeface="Calibri"/>
              </a:rPr>
              <a:t>Listen → Repeat → Use in a tiny sentence</a:t>
            </a:r>
          </a:p>
        </p:txBody>
      </p:sp>
      <p:sp>
        <p:nvSpPr>
          <p:cNvPr id="10" name="Rounded Rectangle 9"/>
          <p:cNvSpPr/>
          <p:nvPr/>
        </p:nvSpPr>
        <p:spPr>
          <a:xfrm>
            <a:off x="320040" y="164592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057400"/>
            <a:ext cx="2011680" cy="457200"/>
          </a:xfrm>
          <a:prstGeom prst="rect">
            <a:avLst/>
          </a:prstGeom>
          <a:noFill/>
        </p:spPr>
        <p:txBody>
          <a:bodyPr wrap="square">
            <a:spAutoFit/>
          </a:bodyPr>
          <a:lstStyle/>
          <a:p>
            <a:pPr algn="ctr"/>
            <a:r>
              <a:rPr sz="1400" b="1">
                <a:solidFill>
                  <a:srgbClr val="0B3D91"/>
                </a:solidFill>
                <a:latin typeface="Calibri"/>
              </a:rPr>
              <a:t>adventure</a:t>
            </a:r>
          </a:p>
        </p:txBody>
      </p:sp>
      <p:sp>
        <p:nvSpPr>
          <p:cNvPr id="12" name="TextBox 11"/>
          <p:cNvSpPr txBox="1"/>
          <p:nvPr/>
        </p:nvSpPr>
        <p:spPr>
          <a:xfrm>
            <a:off x="411480" y="2697480"/>
            <a:ext cx="2011680" cy="548640"/>
          </a:xfrm>
          <a:prstGeom prst="rect">
            <a:avLst/>
          </a:prstGeom>
          <a:noFill/>
        </p:spPr>
        <p:txBody>
          <a:bodyPr wrap="square">
            <a:spAutoFit/>
          </a:bodyPr>
          <a:lstStyle/>
          <a:p>
            <a:pPr algn="ctr"/>
            <a:r>
              <a:rPr sz="1200" b="0">
                <a:solidFill>
                  <a:srgbClr val="009688"/>
                </a:solidFill>
                <a:latin typeface="Calibri"/>
              </a:rPr>
              <a:t>ad-VEN-chure</a:t>
            </a:r>
          </a:p>
        </p:txBody>
      </p:sp>
      <p:sp>
        <p:nvSpPr>
          <p:cNvPr id="13" name="Rounded Rectangle 12"/>
          <p:cNvSpPr/>
          <p:nvPr/>
        </p:nvSpPr>
        <p:spPr>
          <a:xfrm>
            <a:off x="2651760" y="164592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057400"/>
            <a:ext cx="2011680" cy="457200"/>
          </a:xfrm>
          <a:prstGeom prst="rect">
            <a:avLst/>
          </a:prstGeom>
          <a:noFill/>
        </p:spPr>
        <p:txBody>
          <a:bodyPr wrap="square">
            <a:spAutoFit/>
          </a:bodyPr>
          <a:lstStyle/>
          <a:p>
            <a:pPr algn="ctr"/>
            <a:r>
              <a:rPr sz="1400" b="1">
                <a:solidFill>
                  <a:srgbClr val="0B3D91"/>
                </a:solidFill>
                <a:latin typeface="Calibri"/>
              </a:rPr>
              <a:t>library</a:t>
            </a:r>
          </a:p>
        </p:txBody>
      </p:sp>
      <p:sp>
        <p:nvSpPr>
          <p:cNvPr id="15" name="TextBox 14"/>
          <p:cNvSpPr txBox="1"/>
          <p:nvPr/>
        </p:nvSpPr>
        <p:spPr>
          <a:xfrm>
            <a:off x="2743200" y="2697480"/>
            <a:ext cx="2011680" cy="548640"/>
          </a:xfrm>
          <a:prstGeom prst="rect">
            <a:avLst/>
          </a:prstGeom>
          <a:noFill/>
        </p:spPr>
        <p:txBody>
          <a:bodyPr wrap="square">
            <a:spAutoFit/>
          </a:bodyPr>
          <a:lstStyle/>
          <a:p>
            <a:pPr algn="ctr"/>
            <a:r>
              <a:rPr sz="1200" b="0">
                <a:solidFill>
                  <a:srgbClr val="009688"/>
                </a:solidFill>
                <a:latin typeface="Calibri"/>
              </a:rPr>
              <a:t>LY-brer-ee</a:t>
            </a:r>
          </a:p>
        </p:txBody>
      </p:sp>
      <p:sp>
        <p:nvSpPr>
          <p:cNvPr id="16" name="Rounded Rectangle 15"/>
          <p:cNvSpPr/>
          <p:nvPr/>
        </p:nvSpPr>
        <p:spPr>
          <a:xfrm>
            <a:off x="4983479" y="164592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19" y="2057400"/>
            <a:ext cx="2011680" cy="457200"/>
          </a:xfrm>
          <a:prstGeom prst="rect">
            <a:avLst/>
          </a:prstGeom>
          <a:noFill/>
        </p:spPr>
        <p:txBody>
          <a:bodyPr wrap="square">
            <a:spAutoFit/>
          </a:bodyPr>
          <a:lstStyle/>
          <a:p>
            <a:pPr algn="ctr"/>
            <a:r>
              <a:rPr sz="1400" b="1">
                <a:solidFill>
                  <a:srgbClr val="0B3D91"/>
                </a:solidFill>
                <a:latin typeface="Calibri"/>
              </a:rPr>
              <a:t>comfortable</a:t>
            </a:r>
          </a:p>
        </p:txBody>
      </p:sp>
      <p:sp>
        <p:nvSpPr>
          <p:cNvPr id="18" name="TextBox 17"/>
          <p:cNvSpPr txBox="1"/>
          <p:nvPr/>
        </p:nvSpPr>
        <p:spPr>
          <a:xfrm>
            <a:off x="5074919" y="2697480"/>
            <a:ext cx="2011680" cy="548640"/>
          </a:xfrm>
          <a:prstGeom prst="rect">
            <a:avLst/>
          </a:prstGeom>
          <a:noFill/>
        </p:spPr>
        <p:txBody>
          <a:bodyPr wrap="square">
            <a:spAutoFit/>
          </a:bodyPr>
          <a:lstStyle/>
          <a:p>
            <a:pPr algn="ctr"/>
            <a:r>
              <a:rPr sz="1200" b="0">
                <a:solidFill>
                  <a:srgbClr val="009688"/>
                </a:solidFill>
                <a:latin typeface="Calibri"/>
              </a:rPr>
              <a:t>COMFter-bul</a:t>
            </a:r>
          </a:p>
        </p:txBody>
      </p:sp>
      <p:sp>
        <p:nvSpPr>
          <p:cNvPr id="19" name="Rounded Rectangle 18"/>
          <p:cNvSpPr/>
          <p:nvPr/>
        </p:nvSpPr>
        <p:spPr>
          <a:xfrm>
            <a:off x="7315199" y="164592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39" y="2057400"/>
            <a:ext cx="2011680" cy="457200"/>
          </a:xfrm>
          <a:prstGeom prst="rect">
            <a:avLst/>
          </a:prstGeom>
          <a:noFill/>
        </p:spPr>
        <p:txBody>
          <a:bodyPr wrap="square">
            <a:spAutoFit/>
          </a:bodyPr>
          <a:lstStyle/>
          <a:p>
            <a:pPr algn="ctr"/>
            <a:r>
              <a:rPr sz="1400" b="1">
                <a:solidFill>
                  <a:srgbClr val="0B3D91"/>
                </a:solidFill>
                <a:latin typeface="Calibri"/>
              </a:rPr>
              <a:t>chocolate</a:t>
            </a:r>
          </a:p>
        </p:txBody>
      </p:sp>
      <p:sp>
        <p:nvSpPr>
          <p:cNvPr id="21" name="TextBox 20"/>
          <p:cNvSpPr txBox="1"/>
          <p:nvPr/>
        </p:nvSpPr>
        <p:spPr>
          <a:xfrm>
            <a:off x="7406639" y="2697480"/>
            <a:ext cx="2011680" cy="548640"/>
          </a:xfrm>
          <a:prstGeom prst="rect">
            <a:avLst/>
          </a:prstGeom>
          <a:noFill/>
        </p:spPr>
        <p:txBody>
          <a:bodyPr wrap="square">
            <a:spAutoFit/>
          </a:bodyPr>
          <a:lstStyle/>
          <a:p>
            <a:pPr algn="ctr"/>
            <a:r>
              <a:rPr sz="1200" b="0">
                <a:solidFill>
                  <a:srgbClr val="009688"/>
                </a:solidFill>
                <a:latin typeface="Calibri"/>
              </a:rPr>
              <a:t>CHOK-lit</a:t>
            </a:r>
          </a:p>
        </p:txBody>
      </p:sp>
      <p:sp>
        <p:nvSpPr>
          <p:cNvPr id="22" name="Rounded Rectangle 21"/>
          <p:cNvSpPr/>
          <p:nvPr/>
        </p:nvSpPr>
        <p:spPr>
          <a:xfrm>
            <a:off x="9646919" y="164592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8359" y="2057400"/>
            <a:ext cx="2011680" cy="457200"/>
          </a:xfrm>
          <a:prstGeom prst="rect">
            <a:avLst/>
          </a:prstGeom>
          <a:noFill/>
        </p:spPr>
        <p:txBody>
          <a:bodyPr wrap="square">
            <a:spAutoFit/>
          </a:bodyPr>
          <a:lstStyle/>
          <a:p>
            <a:pPr algn="ctr"/>
            <a:r>
              <a:rPr sz="1400" b="1">
                <a:solidFill>
                  <a:srgbClr val="0B3D91"/>
                </a:solidFill>
                <a:latin typeface="Calibri"/>
              </a:rPr>
              <a:t>vegetable</a:t>
            </a:r>
          </a:p>
        </p:txBody>
      </p:sp>
      <p:sp>
        <p:nvSpPr>
          <p:cNvPr id="24" name="TextBox 23"/>
          <p:cNvSpPr txBox="1"/>
          <p:nvPr/>
        </p:nvSpPr>
        <p:spPr>
          <a:xfrm>
            <a:off x="9738359" y="2697480"/>
            <a:ext cx="2011680" cy="548640"/>
          </a:xfrm>
          <a:prstGeom prst="rect">
            <a:avLst/>
          </a:prstGeom>
          <a:noFill/>
        </p:spPr>
        <p:txBody>
          <a:bodyPr wrap="square">
            <a:spAutoFit/>
          </a:bodyPr>
          <a:lstStyle/>
          <a:p>
            <a:pPr algn="ctr"/>
            <a:r>
              <a:rPr sz="1200" b="0">
                <a:solidFill>
                  <a:srgbClr val="009688"/>
                </a:solidFill>
                <a:latin typeface="Calibri"/>
              </a:rPr>
              <a:t>VEJ-tuh-bul</a:t>
            </a:r>
          </a:p>
        </p:txBody>
      </p:sp>
      <p:sp>
        <p:nvSpPr>
          <p:cNvPr id="25" name="Rounded Rectangle 24"/>
          <p:cNvSpPr/>
          <p:nvPr/>
        </p:nvSpPr>
        <p:spPr>
          <a:xfrm>
            <a:off x="320040" y="384048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251960"/>
            <a:ext cx="2011680" cy="457200"/>
          </a:xfrm>
          <a:prstGeom prst="rect">
            <a:avLst/>
          </a:prstGeom>
          <a:noFill/>
        </p:spPr>
        <p:txBody>
          <a:bodyPr wrap="square">
            <a:spAutoFit/>
          </a:bodyPr>
          <a:lstStyle/>
          <a:p>
            <a:pPr algn="ctr"/>
            <a:r>
              <a:rPr sz="1400" b="1">
                <a:solidFill>
                  <a:srgbClr val="0B3D91"/>
                </a:solidFill>
                <a:latin typeface="Calibri"/>
              </a:rPr>
              <a:t>interesting</a:t>
            </a:r>
          </a:p>
        </p:txBody>
      </p:sp>
      <p:sp>
        <p:nvSpPr>
          <p:cNvPr id="27" name="TextBox 26"/>
          <p:cNvSpPr txBox="1"/>
          <p:nvPr/>
        </p:nvSpPr>
        <p:spPr>
          <a:xfrm>
            <a:off x="411480" y="4892040"/>
            <a:ext cx="2011680" cy="548640"/>
          </a:xfrm>
          <a:prstGeom prst="rect">
            <a:avLst/>
          </a:prstGeom>
          <a:noFill/>
        </p:spPr>
        <p:txBody>
          <a:bodyPr wrap="square">
            <a:spAutoFit/>
          </a:bodyPr>
          <a:lstStyle/>
          <a:p>
            <a:pPr algn="ctr"/>
            <a:r>
              <a:rPr sz="1200" b="0">
                <a:solidFill>
                  <a:srgbClr val="009688"/>
                </a:solidFill>
                <a:latin typeface="Calibri"/>
              </a:rPr>
              <a:t>IN-truh-sting</a:t>
            </a:r>
          </a:p>
        </p:txBody>
      </p:sp>
      <p:sp>
        <p:nvSpPr>
          <p:cNvPr id="28" name="Rounded Rectangle 27"/>
          <p:cNvSpPr/>
          <p:nvPr/>
        </p:nvSpPr>
        <p:spPr>
          <a:xfrm>
            <a:off x="2651760" y="384048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0" y="4251960"/>
            <a:ext cx="2011680" cy="457200"/>
          </a:xfrm>
          <a:prstGeom prst="rect">
            <a:avLst/>
          </a:prstGeom>
          <a:noFill/>
        </p:spPr>
        <p:txBody>
          <a:bodyPr wrap="square">
            <a:spAutoFit/>
          </a:bodyPr>
          <a:lstStyle/>
          <a:p>
            <a:pPr algn="ctr"/>
            <a:r>
              <a:rPr sz="1400" b="1">
                <a:solidFill>
                  <a:srgbClr val="0B3D91"/>
                </a:solidFill>
                <a:latin typeface="Calibri"/>
              </a:rPr>
              <a:t>temperature</a:t>
            </a:r>
          </a:p>
        </p:txBody>
      </p:sp>
      <p:sp>
        <p:nvSpPr>
          <p:cNvPr id="30" name="TextBox 29"/>
          <p:cNvSpPr txBox="1"/>
          <p:nvPr/>
        </p:nvSpPr>
        <p:spPr>
          <a:xfrm>
            <a:off x="2743200" y="4892040"/>
            <a:ext cx="2011680" cy="548640"/>
          </a:xfrm>
          <a:prstGeom prst="rect">
            <a:avLst/>
          </a:prstGeom>
          <a:noFill/>
        </p:spPr>
        <p:txBody>
          <a:bodyPr wrap="square">
            <a:spAutoFit/>
          </a:bodyPr>
          <a:lstStyle/>
          <a:p>
            <a:pPr algn="ctr"/>
            <a:r>
              <a:rPr sz="1200" b="0">
                <a:solidFill>
                  <a:srgbClr val="009688"/>
                </a:solidFill>
                <a:latin typeface="Calibri"/>
              </a:rPr>
              <a:t>TEM-pruh-chur</a:t>
            </a:r>
          </a:p>
        </p:txBody>
      </p:sp>
      <p:sp>
        <p:nvSpPr>
          <p:cNvPr id="31" name="Rounded Rectangle 30"/>
          <p:cNvSpPr/>
          <p:nvPr/>
        </p:nvSpPr>
        <p:spPr>
          <a:xfrm>
            <a:off x="4983479" y="384048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19" y="4251960"/>
            <a:ext cx="2011680" cy="457200"/>
          </a:xfrm>
          <a:prstGeom prst="rect">
            <a:avLst/>
          </a:prstGeom>
          <a:noFill/>
        </p:spPr>
        <p:txBody>
          <a:bodyPr wrap="square">
            <a:spAutoFit/>
          </a:bodyPr>
          <a:lstStyle/>
          <a:p>
            <a:pPr algn="ctr"/>
            <a:r>
              <a:rPr sz="1400" b="1">
                <a:solidFill>
                  <a:srgbClr val="0B3D91"/>
                </a:solidFill>
                <a:latin typeface="Calibri"/>
              </a:rPr>
              <a:t>Wednesday</a:t>
            </a:r>
          </a:p>
        </p:txBody>
      </p:sp>
      <p:sp>
        <p:nvSpPr>
          <p:cNvPr id="33" name="TextBox 32"/>
          <p:cNvSpPr txBox="1"/>
          <p:nvPr/>
        </p:nvSpPr>
        <p:spPr>
          <a:xfrm>
            <a:off x="5074919" y="4892040"/>
            <a:ext cx="2011680" cy="548640"/>
          </a:xfrm>
          <a:prstGeom prst="rect">
            <a:avLst/>
          </a:prstGeom>
          <a:noFill/>
        </p:spPr>
        <p:txBody>
          <a:bodyPr wrap="square">
            <a:spAutoFit/>
          </a:bodyPr>
          <a:lstStyle/>
          <a:p>
            <a:pPr algn="ctr"/>
            <a:r>
              <a:rPr sz="1200" b="0">
                <a:solidFill>
                  <a:srgbClr val="009688"/>
                </a:solidFill>
                <a:latin typeface="Calibri"/>
              </a:rPr>
              <a:t>WENZ-day</a:t>
            </a:r>
          </a:p>
        </p:txBody>
      </p:sp>
      <p:sp>
        <p:nvSpPr>
          <p:cNvPr id="34" name="Rounded Rectangle 33"/>
          <p:cNvSpPr/>
          <p:nvPr/>
        </p:nvSpPr>
        <p:spPr>
          <a:xfrm>
            <a:off x="7315199" y="384048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39" y="4251960"/>
            <a:ext cx="2011680" cy="457200"/>
          </a:xfrm>
          <a:prstGeom prst="rect">
            <a:avLst/>
          </a:prstGeom>
          <a:noFill/>
        </p:spPr>
        <p:txBody>
          <a:bodyPr wrap="square">
            <a:spAutoFit/>
          </a:bodyPr>
          <a:lstStyle/>
          <a:p>
            <a:pPr algn="ctr"/>
            <a:r>
              <a:rPr sz="1400" b="1">
                <a:solidFill>
                  <a:srgbClr val="0B3D91"/>
                </a:solidFill>
                <a:latin typeface="Calibri"/>
              </a:rPr>
              <a:t>February</a:t>
            </a:r>
          </a:p>
        </p:txBody>
      </p:sp>
      <p:sp>
        <p:nvSpPr>
          <p:cNvPr id="36" name="TextBox 35"/>
          <p:cNvSpPr txBox="1"/>
          <p:nvPr/>
        </p:nvSpPr>
        <p:spPr>
          <a:xfrm>
            <a:off x="7406639" y="4892040"/>
            <a:ext cx="2011680" cy="548640"/>
          </a:xfrm>
          <a:prstGeom prst="rect">
            <a:avLst/>
          </a:prstGeom>
          <a:noFill/>
        </p:spPr>
        <p:txBody>
          <a:bodyPr wrap="square">
            <a:spAutoFit/>
          </a:bodyPr>
          <a:lstStyle/>
          <a:p>
            <a:pPr algn="ctr"/>
            <a:r>
              <a:rPr sz="1200" b="0">
                <a:solidFill>
                  <a:srgbClr val="009688"/>
                </a:solidFill>
                <a:latin typeface="Calibri"/>
              </a:rPr>
              <a:t>FEB-roo-er-ee</a:t>
            </a:r>
          </a:p>
        </p:txBody>
      </p:sp>
      <p:sp>
        <p:nvSpPr>
          <p:cNvPr id="37" name="Rounded Rectangle 36"/>
          <p:cNvSpPr/>
          <p:nvPr/>
        </p:nvSpPr>
        <p:spPr>
          <a:xfrm>
            <a:off x="9646919" y="3840480"/>
            <a:ext cx="219456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59" y="4251960"/>
            <a:ext cx="2011680" cy="457200"/>
          </a:xfrm>
          <a:prstGeom prst="rect">
            <a:avLst/>
          </a:prstGeom>
          <a:noFill/>
        </p:spPr>
        <p:txBody>
          <a:bodyPr wrap="square">
            <a:spAutoFit/>
          </a:bodyPr>
          <a:lstStyle/>
          <a:p>
            <a:pPr algn="ctr"/>
            <a:r>
              <a:rPr sz="1400" b="1">
                <a:solidFill>
                  <a:srgbClr val="0B3D91"/>
                </a:solidFill>
                <a:latin typeface="Calibri"/>
              </a:rPr>
              <a:t>squirrel</a:t>
            </a:r>
          </a:p>
        </p:txBody>
      </p:sp>
      <p:sp>
        <p:nvSpPr>
          <p:cNvPr id="39" name="TextBox 38"/>
          <p:cNvSpPr txBox="1"/>
          <p:nvPr/>
        </p:nvSpPr>
        <p:spPr>
          <a:xfrm>
            <a:off x="9738359" y="4892040"/>
            <a:ext cx="2011680" cy="548640"/>
          </a:xfrm>
          <a:prstGeom prst="rect">
            <a:avLst/>
          </a:prstGeom>
          <a:noFill/>
        </p:spPr>
        <p:txBody>
          <a:bodyPr wrap="square">
            <a:spAutoFit/>
          </a:bodyPr>
          <a:lstStyle/>
          <a:p>
            <a:pPr algn="ctr"/>
            <a:r>
              <a:rPr sz="1200" b="0">
                <a:solidFill>
                  <a:srgbClr val="009688"/>
                </a:solidFill>
                <a:latin typeface="Calibri"/>
              </a:rPr>
              <a:t>SKWUR-ul</a:t>
            </a:r>
          </a:p>
        </p:txBody>
      </p:sp>
      <p:sp>
        <p:nvSpPr>
          <p:cNvPr id="40" name="Rectangle 39"/>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Pronunciation</a:t>
            </a:r>
          </a:p>
        </p:txBody>
      </p:sp>
      <p:sp>
        <p:nvSpPr>
          <p:cNvPr id="42" name="TextBox 41"/>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17/25</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FUN QUIZ</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~4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Mixed Fun Quiz 🎉</a:t>
            </a:r>
          </a:p>
        </p:txBody>
      </p:sp>
      <p:sp>
        <p:nvSpPr>
          <p:cNvPr id="9" name="Rounded Rectangle 8"/>
          <p:cNvSpPr/>
          <p:nvPr/>
        </p:nvSpPr>
        <p:spPr>
          <a:xfrm>
            <a:off x="274320" y="1280160"/>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280160"/>
            <a:ext cx="2834640" cy="4114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353312"/>
            <a:ext cx="2834640" cy="320040"/>
          </a:xfrm>
          <a:prstGeom prst="rect">
            <a:avLst/>
          </a:prstGeom>
          <a:noFill/>
        </p:spPr>
        <p:txBody>
          <a:bodyPr wrap="square">
            <a:spAutoFit/>
          </a:bodyPr>
          <a:lstStyle/>
          <a:p>
            <a:pPr algn="ctr"/>
            <a:r>
              <a:rPr sz="1200" b="1">
                <a:solidFill>
                  <a:srgbClr val="FFFFFF"/>
                </a:solidFill>
                <a:latin typeface="Calibri"/>
              </a:rPr>
              <a:t>Grammar</a:t>
            </a:r>
          </a:p>
        </p:txBody>
      </p:sp>
      <p:sp>
        <p:nvSpPr>
          <p:cNvPr id="12" name="TextBox 11"/>
          <p:cNvSpPr txBox="1"/>
          <p:nvPr/>
        </p:nvSpPr>
        <p:spPr>
          <a:xfrm>
            <a:off x="411480" y="1874520"/>
            <a:ext cx="2560320" cy="731520"/>
          </a:xfrm>
          <a:prstGeom prst="rect">
            <a:avLst/>
          </a:prstGeom>
          <a:noFill/>
        </p:spPr>
        <p:txBody>
          <a:bodyPr wrap="square">
            <a:spAutoFit/>
          </a:bodyPr>
          <a:lstStyle/>
          <a:p>
            <a:pPr algn="ctr"/>
            <a:r>
              <a:rPr sz="1300" b="1">
                <a:solidFill>
                  <a:srgbClr val="0B3D91"/>
                </a:solidFill>
                <a:latin typeface="Calibri"/>
              </a:rPr>
              <a:t>"Gently" is an…</a:t>
            </a:r>
          </a:p>
        </p:txBody>
      </p:sp>
      <p:sp>
        <p:nvSpPr>
          <p:cNvPr id="13" name="TextBox 12"/>
          <p:cNvSpPr txBox="1"/>
          <p:nvPr/>
        </p:nvSpPr>
        <p:spPr>
          <a:xfrm>
            <a:off x="411480" y="2651760"/>
            <a:ext cx="2560320" cy="731520"/>
          </a:xfrm>
          <a:prstGeom prst="rect">
            <a:avLst/>
          </a:prstGeom>
          <a:noFill/>
        </p:spPr>
        <p:txBody>
          <a:bodyPr wrap="square">
            <a:spAutoFit/>
          </a:bodyPr>
          <a:lstStyle/>
          <a:p>
            <a:pPr algn="ctr"/>
            <a:r>
              <a:rPr sz="1200" b="0">
                <a:solidFill>
                  <a:srgbClr val="1A2337"/>
                </a:solidFill>
                <a:latin typeface="Calibri"/>
              </a:rPr>
              <a:t>A) Noun  B) Adverb  C) Verb</a:t>
            </a:r>
          </a:p>
        </p:txBody>
      </p:sp>
      <p:sp>
        <p:nvSpPr>
          <p:cNvPr id="14" name="Rounded Rectangle 13"/>
          <p:cNvSpPr/>
          <p:nvPr/>
        </p:nvSpPr>
        <p:spPr>
          <a:xfrm>
            <a:off x="3246120" y="1280160"/>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6120" y="1280160"/>
            <a:ext cx="2834640" cy="41148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1353312"/>
            <a:ext cx="2834640" cy="320040"/>
          </a:xfrm>
          <a:prstGeom prst="rect">
            <a:avLst/>
          </a:prstGeom>
          <a:noFill/>
        </p:spPr>
        <p:txBody>
          <a:bodyPr wrap="square">
            <a:spAutoFit/>
          </a:bodyPr>
          <a:lstStyle/>
          <a:p>
            <a:pPr algn="ctr"/>
            <a:r>
              <a:rPr sz="1200" b="1">
                <a:solidFill>
                  <a:srgbClr val="FFFFFF"/>
                </a:solidFill>
                <a:latin typeface="Calibri"/>
              </a:rPr>
              <a:t>Vocab</a:t>
            </a:r>
          </a:p>
        </p:txBody>
      </p:sp>
      <p:sp>
        <p:nvSpPr>
          <p:cNvPr id="17" name="TextBox 16"/>
          <p:cNvSpPr txBox="1"/>
          <p:nvPr/>
        </p:nvSpPr>
        <p:spPr>
          <a:xfrm>
            <a:off x="3383280" y="1874520"/>
            <a:ext cx="2560320" cy="731520"/>
          </a:xfrm>
          <a:prstGeom prst="rect">
            <a:avLst/>
          </a:prstGeom>
          <a:noFill/>
        </p:spPr>
        <p:txBody>
          <a:bodyPr wrap="square">
            <a:spAutoFit/>
          </a:bodyPr>
          <a:lstStyle/>
          <a:p>
            <a:pPr algn="ctr"/>
            <a:r>
              <a:rPr sz="1300" b="1">
                <a:solidFill>
                  <a:srgbClr val="0B3D91"/>
                </a:solidFill>
                <a:latin typeface="Calibri"/>
              </a:rPr>
              <a:t>A soft wind is a…</a:t>
            </a:r>
          </a:p>
        </p:txBody>
      </p:sp>
      <p:sp>
        <p:nvSpPr>
          <p:cNvPr id="18" name="TextBox 17"/>
          <p:cNvSpPr txBox="1"/>
          <p:nvPr/>
        </p:nvSpPr>
        <p:spPr>
          <a:xfrm>
            <a:off x="3383280" y="2651760"/>
            <a:ext cx="2560320" cy="731520"/>
          </a:xfrm>
          <a:prstGeom prst="rect">
            <a:avLst/>
          </a:prstGeom>
          <a:noFill/>
        </p:spPr>
        <p:txBody>
          <a:bodyPr wrap="square">
            <a:spAutoFit/>
          </a:bodyPr>
          <a:lstStyle/>
          <a:p>
            <a:pPr algn="ctr"/>
            <a:r>
              <a:rPr sz="1200" b="0">
                <a:solidFill>
                  <a:srgbClr val="1A2337"/>
                </a:solidFill>
                <a:latin typeface="Calibri"/>
              </a:rPr>
              <a:t>A) boulder  B) breeze  C) trail</a:t>
            </a:r>
          </a:p>
        </p:txBody>
      </p:sp>
      <p:sp>
        <p:nvSpPr>
          <p:cNvPr id="19" name="Rounded Rectangle 18"/>
          <p:cNvSpPr/>
          <p:nvPr/>
        </p:nvSpPr>
        <p:spPr>
          <a:xfrm>
            <a:off x="6217920" y="1280160"/>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280160"/>
            <a:ext cx="2834640" cy="41148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353312"/>
            <a:ext cx="2834640" cy="320040"/>
          </a:xfrm>
          <a:prstGeom prst="rect">
            <a:avLst/>
          </a:prstGeom>
          <a:noFill/>
        </p:spPr>
        <p:txBody>
          <a:bodyPr wrap="square">
            <a:spAutoFit/>
          </a:bodyPr>
          <a:lstStyle/>
          <a:p>
            <a:pPr algn="ctr"/>
            <a:r>
              <a:rPr sz="1200" b="1">
                <a:solidFill>
                  <a:srgbClr val="FFFFFF"/>
                </a:solidFill>
                <a:latin typeface="Calibri"/>
              </a:rPr>
              <a:t>Reading</a:t>
            </a:r>
          </a:p>
        </p:txBody>
      </p:sp>
      <p:sp>
        <p:nvSpPr>
          <p:cNvPr id="22" name="TextBox 21"/>
          <p:cNvSpPr txBox="1"/>
          <p:nvPr/>
        </p:nvSpPr>
        <p:spPr>
          <a:xfrm>
            <a:off x="6355080" y="1874520"/>
            <a:ext cx="2560320" cy="731520"/>
          </a:xfrm>
          <a:prstGeom prst="rect">
            <a:avLst/>
          </a:prstGeom>
          <a:noFill/>
        </p:spPr>
        <p:txBody>
          <a:bodyPr wrap="square">
            <a:spAutoFit/>
          </a:bodyPr>
          <a:lstStyle/>
          <a:p>
            <a:pPr algn="ctr"/>
            <a:r>
              <a:rPr sz="1300" b="1">
                <a:solidFill>
                  <a:srgbClr val="0B3D91"/>
                </a:solidFill>
                <a:latin typeface="Calibri"/>
              </a:rPr>
              <a:t>The puppy's name was…</a:t>
            </a:r>
          </a:p>
        </p:txBody>
      </p:sp>
      <p:sp>
        <p:nvSpPr>
          <p:cNvPr id="23" name="TextBox 22"/>
          <p:cNvSpPr txBox="1"/>
          <p:nvPr/>
        </p:nvSpPr>
        <p:spPr>
          <a:xfrm>
            <a:off x="6355080" y="2651760"/>
            <a:ext cx="2560320" cy="731520"/>
          </a:xfrm>
          <a:prstGeom prst="rect">
            <a:avLst/>
          </a:prstGeom>
          <a:noFill/>
        </p:spPr>
        <p:txBody>
          <a:bodyPr wrap="square">
            <a:spAutoFit/>
          </a:bodyPr>
          <a:lstStyle/>
          <a:p>
            <a:pPr algn="ctr"/>
            <a:r>
              <a:rPr sz="1200" b="0">
                <a:solidFill>
                  <a:srgbClr val="1A2337"/>
                </a:solidFill>
                <a:latin typeface="Calibri"/>
              </a:rPr>
              <a:t>A) Mia  B) Ava  C) Coco</a:t>
            </a:r>
          </a:p>
        </p:txBody>
      </p:sp>
      <p:sp>
        <p:nvSpPr>
          <p:cNvPr id="24" name="Rounded Rectangle 23"/>
          <p:cNvSpPr/>
          <p:nvPr/>
        </p:nvSpPr>
        <p:spPr>
          <a:xfrm>
            <a:off x="9189720" y="1280160"/>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1280160"/>
            <a:ext cx="2834640" cy="41148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1353312"/>
            <a:ext cx="2834640" cy="320040"/>
          </a:xfrm>
          <a:prstGeom prst="rect">
            <a:avLst/>
          </a:prstGeom>
          <a:noFill/>
        </p:spPr>
        <p:txBody>
          <a:bodyPr wrap="square">
            <a:spAutoFit/>
          </a:bodyPr>
          <a:lstStyle/>
          <a:p>
            <a:pPr algn="ctr"/>
            <a:r>
              <a:rPr sz="1200" b="1">
                <a:solidFill>
                  <a:srgbClr val="FFFFFF"/>
                </a:solidFill>
                <a:latin typeface="Calibri"/>
              </a:rPr>
              <a:t>Grammar</a:t>
            </a:r>
          </a:p>
        </p:txBody>
      </p:sp>
      <p:sp>
        <p:nvSpPr>
          <p:cNvPr id="27" name="TextBox 26"/>
          <p:cNvSpPr txBox="1"/>
          <p:nvPr/>
        </p:nvSpPr>
        <p:spPr>
          <a:xfrm>
            <a:off x="9326880" y="1874520"/>
            <a:ext cx="2560320" cy="731520"/>
          </a:xfrm>
          <a:prstGeom prst="rect">
            <a:avLst/>
          </a:prstGeom>
          <a:noFill/>
        </p:spPr>
        <p:txBody>
          <a:bodyPr wrap="square">
            <a:spAutoFit/>
          </a:bodyPr>
          <a:lstStyle/>
          <a:p>
            <a:pPr algn="ctr"/>
            <a:r>
              <a:rPr sz="1300" b="1">
                <a:solidFill>
                  <a:srgbClr val="0B3D91"/>
                </a:solidFill>
                <a:latin typeface="Calibri"/>
              </a:rPr>
              <a:t>Best noun: </a:t>
            </a:r>
          </a:p>
        </p:txBody>
      </p:sp>
      <p:sp>
        <p:nvSpPr>
          <p:cNvPr id="28" name="TextBox 27"/>
          <p:cNvSpPr txBox="1"/>
          <p:nvPr/>
        </p:nvSpPr>
        <p:spPr>
          <a:xfrm>
            <a:off x="9326880" y="2651760"/>
            <a:ext cx="2560320" cy="731520"/>
          </a:xfrm>
          <a:prstGeom prst="rect">
            <a:avLst/>
          </a:prstGeom>
          <a:noFill/>
        </p:spPr>
        <p:txBody>
          <a:bodyPr wrap="square">
            <a:spAutoFit/>
          </a:bodyPr>
          <a:lstStyle/>
          <a:p>
            <a:pPr algn="ctr"/>
            <a:r>
              <a:rPr sz="1200" b="0">
                <a:solidFill>
                  <a:srgbClr val="1A2337"/>
                </a:solidFill>
                <a:latin typeface="Calibri"/>
              </a:rPr>
              <a:t>A) ran  B) park  C) quickly</a:t>
            </a:r>
          </a:p>
        </p:txBody>
      </p:sp>
      <p:sp>
        <p:nvSpPr>
          <p:cNvPr id="29" name="Rounded Rectangle 28"/>
          <p:cNvSpPr/>
          <p:nvPr/>
        </p:nvSpPr>
        <p:spPr>
          <a:xfrm>
            <a:off x="274320" y="3749039"/>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3749039"/>
            <a:ext cx="2834640" cy="4114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3822191"/>
            <a:ext cx="2834640" cy="320040"/>
          </a:xfrm>
          <a:prstGeom prst="rect">
            <a:avLst/>
          </a:prstGeom>
          <a:noFill/>
        </p:spPr>
        <p:txBody>
          <a:bodyPr wrap="square">
            <a:spAutoFit/>
          </a:bodyPr>
          <a:lstStyle/>
          <a:p>
            <a:pPr algn="ctr"/>
            <a:r>
              <a:rPr sz="1200" b="1">
                <a:solidFill>
                  <a:srgbClr val="FFFFFF"/>
                </a:solidFill>
                <a:latin typeface="Calibri"/>
              </a:rPr>
              <a:t>Vocab</a:t>
            </a:r>
          </a:p>
        </p:txBody>
      </p:sp>
      <p:sp>
        <p:nvSpPr>
          <p:cNvPr id="32" name="TextBox 31"/>
          <p:cNvSpPr txBox="1"/>
          <p:nvPr/>
        </p:nvSpPr>
        <p:spPr>
          <a:xfrm>
            <a:off x="411480" y="4343399"/>
            <a:ext cx="2560320" cy="731520"/>
          </a:xfrm>
          <a:prstGeom prst="rect">
            <a:avLst/>
          </a:prstGeom>
          <a:noFill/>
        </p:spPr>
        <p:txBody>
          <a:bodyPr wrap="square">
            <a:spAutoFit/>
          </a:bodyPr>
          <a:lstStyle/>
          <a:p>
            <a:pPr algn="ctr"/>
            <a:r>
              <a:rPr sz="1300" b="1">
                <a:solidFill>
                  <a:srgbClr val="0B3D91"/>
                </a:solidFill>
                <a:latin typeface="Calibri"/>
              </a:rPr>
              <a:t>Opposite of tiny:</a:t>
            </a:r>
          </a:p>
        </p:txBody>
      </p:sp>
      <p:sp>
        <p:nvSpPr>
          <p:cNvPr id="33" name="TextBox 32"/>
          <p:cNvSpPr txBox="1"/>
          <p:nvPr/>
        </p:nvSpPr>
        <p:spPr>
          <a:xfrm>
            <a:off x="411480" y="5120639"/>
            <a:ext cx="2560320" cy="731520"/>
          </a:xfrm>
          <a:prstGeom prst="rect">
            <a:avLst/>
          </a:prstGeom>
          <a:noFill/>
        </p:spPr>
        <p:txBody>
          <a:bodyPr wrap="square">
            <a:spAutoFit/>
          </a:bodyPr>
          <a:lstStyle/>
          <a:p>
            <a:pPr algn="ctr"/>
            <a:r>
              <a:rPr sz="1200" b="0">
                <a:solidFill>
                  <a:srgbClr val="1A2337"/>
                </a:solidFill>
                <a:latin typeface="Calibri"/>
              </a:rPr>
              <a:t>A) huge  B) soft  C) glad</a:t>
            </a:r>
          </a:p>
        </p:txBody>
      </p:sp>
      <p:sp>
        <p:nvSpPr>
          <p:cNvPr id="34" name="Rounded Rectangle 33"/>
          <p:cNvSpPr/>
          <p:nvPr/>
        </p:nvSpPr>
        <p:spPr>
          <a:xfrm>
            <a:off x="3246120" y="3749039"/>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46120" y="3749039"/>
            <a:ext cx="2834640" cy="41148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6120" y="3822191"/>
            <a:ext cx="2834640" cy="320040"/>
          </a:xfrm>
          <a:prstGeom prst="rect">
            <a:avLst/>
          </a:prstGeom>
          <a:noFill/>
        </p:spPr>
        <p:txBody>
          <a:bodyPr wrap="square">
            <a:spAutoFit/>
          </a:bodyPr>
          <a:lstStyle/>
          <a:p>
            <a:pPr algn="ctr"/>
            <a:r>
              <a:rPr sz="1200" b="1">
                <a:solidFill>
                  <a:srgbClr val="FFFFFF"/>
                </a:solidFill>
                <a:latin typeface="Calibri"/>
              </a:rPr>
              <a:t>Reading</a:t>
            </a:r>
          </a:p>
        </p:txBody>
      </p:sp>
      <p:sp>
        <p:nvSpPr>
          <p:cNvPr id="37" name="TextBox 36"/>
          <p:cNvSpPr txBox="1"/>
          <p:nvPr/>
        </p:nvSpPr>
        <p:spPr>
          <a:xfrm>
            <a:off x="3383280" y="4343399"/>
            <a:ext cx="2560320" cy="731520"/>
          </a:xfrm>
          <a:prstGeom prst="rect">
            <a:avLst/>
          </a:prstGeom>
          <a:noFill/>
        </p:spPr>
        <p:txBody>
          <a:bodyPr wrap="square">
            <a:spAutoFit/>
          </a:bodyPr>
          <a:lstStyle/>
          <a:p>
            <a:pPr algn="ctr"/>
            <a:r>
              <a:rPr sz="1300" b="1">
                <a:solidFill>
                  <a:srgbClr val="0B3D91"/>
                </a:solidFill>
                <a:latin typeface="Calibri"/>
              </a:rPr>
              <a:t>Mia found help from a…</a:t>
            </a:r>
          </a:p>
        </p:txBody>
      </p:sp>
      <p:sp>
        <p:nvSpPr>
          <p:cNvPr id="38" name="TextBox 37"/>
          <p:cNvSpPr txBox="1"/>
          <p:nvPr/>
        </p:nvSpPr>
        <p:spPr>
          <a:xfrm>
            <a:off x="3383280" y="5120639"/>
            <a:ext cx="2560320" cy="731520"/>
          </a:xfrm>
          <a:prstGeom prst="rect">
            <a:avLst/>
          </a:prstGeom>
          <a:noFill/>
        </p:spPr>
        <p:txBody>
          <a:bodyPr wrap="square">
            <a:spAutoFit/>
          </a:bodyPr>
          <a:lstStyle/>
          <a:p>
            <a:pPr algn="ctr"/>
            <a:r>
              <a:rPr sz="1200" b="0">
                <a:solidFill>
                  <a:srgbClr val="1A2337"/>
                </a:solidFill>
                <a:latin typeface="Calibri"/>
              </a:rPr>
              <a:t>A) poster  B) boat  C) teacher only</a:t>
            </a:r>
          </a:p>
        </p:txBody>
      </p:sp>
      <p:sp>
        <p:nvSpPr>
          <p:cNvPr id="39" name="Rounded Rectangle 38"/>
          <p:cNvSpPr/>
          <p:nvPr/>
        </p:nvSpPr>
        <p:spPr>
          <a:xfrm>
            <a:off x="6217920" y="3749039"/>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3749039"/>
            <a:ext cx="2834640" cy="41148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3822191"/>
            <a:ext cx="2834640" cy="320040"/>
          </a:xfrm>
          <a:prstGeom prst="rect">
            <a:avLst/>
          </a:prstGeom>
          <a:noFill/>
        </p:spPr>
        <p:txBody>
          <a:bodyPr wrap="square">
            <a:spAutoFit/>
          </a:bodyPr>
          <a:lstStyle/>
          <a:p>
            <a:pPr algn="ctr"/>
            <a:r>
              <a:rPr sz="1200" b="1">
                <a:solidFill>
                  <a:srgbClr val="FFFFFF"/>
                </a:solidFill>
                <a:latin typeface="Calibri"/>
              </a:rPr>
              <a:t>Bonus</a:t>
            </a:r>
          </a:p>
        </p:txBody>
      </p:sp>
      <p:sp>
        <p:nvSpPr>
          <p:cNvPr id="42" name="TextBox 41"/>
          <p:cNvSpPr txBox="1"/>
          <p:nvPr/>
        </p:nvSpPr>
        <p:spPr>
          <a:xfrm>
            <a:off x="6355080" y="4343399"/>
            <a:ext cx="2560320" cy="731520"/>
          </a:xfrm>
          <a:prstGeom prst="rect">
            <a:avLst/>
          </a:prstGeom>
          <a:noFill/>
        </p:spPr>
        <p:txBody>
          <a:bodyPr wrap="square">
            <a:spAutoFit/>
          </a:bodyPr>
          <a:lstStyle/>
          <a:p>
            <a:pPr algn="ctr"/>
            <a:r>
              <a:rPr sz="1300" b="1">
                <a:solidFill>
                  <a:srgbClr val="0B3D91"/>
                </a:solidFill>
                <a:latin typeface="Calibri"/>
              </a:rPr>
              <a:t>Synonym of happy:</a:t>
            </a:r>
          </a:p>
        </p:txBody>
      </p:sp>
      <p:sp>
        <p:nvSpPr>
          <p:cNvPr id="43" name="TextBox 42"/>
          <p:cNvSpPr txBox="1"/>
          <p:nvPr/>
        </p:nvSpPr>
        <p:spPr>
          <a:xfrm>
            <a:off x="6355080" y="5120639"/>
            <a:ext cx="2560320" cy="731520"/>
          </a:xfrm>
          <a:prstGeom prst="rect">
            <a:avLst/>
          </a:prstGeom>
          <a:noFill/>
        </p:spPr>
        <p:txBody>
          <a:bodyPr wrap="square">
            <a:spAutoFit/>
          </a:bodyPr>
          <a:lstStyle/>
          <a:p>
            <a:pPr algn="ctr"/>
            <a:r>
              <a:rPr sz="1200" b="0">
                <a:solidFill>
                  <a:srgbClr val="1A2337"/>
                </a:solidFill>
                <a:latin typeface="Calibri"/>
              </a:rPr>
              <a:t>A) sad  B) joyful  C) slow</a:t>
            </a:r>
          </a:p>
        </p:txBody>
      </p:sp>
      <p:sp>
        <p:nvSpPr>
          <p:cNvPr id="44" name="Rounded Rectangle 43"/>
          <p:cNvSpPr/>
          <p:nvPr/>
        </p:nvSpPr>
        <p:spPr>
          <a:xfrm>
            <a:off x="9189720" y="3749039"/>
            <a:ext cx="28346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89720" y="3749039"/>
            <a:ext cx="2834640" cy="41148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9720" y="3822191"/>
            <a:ext cx="2834640" cy="320040"/>
          </a:xfrm>
          <a:prstGeom prst="rect">
            <a:avLst/>
          </a:prstGeom>
          <a:noFill/>
        </p:spPr>
        <p:txBody>
          <a:bodyPr wrap="square">
            <a:spAutoFit/>
          </a:bodyPr>
          <a:lstStyle/>
          <a:p>
            <a:pPr algn="ctr"/>
            <a:r>
              <a:rPr sz="1200" b="1">
                <a:solidFill>
                  <a:srgbClr val="FFFFFF"/>
                </a:solidFill>
                <a:latin typeface="Calibri"/>
              </a:rPr>
              <a:t>Bonus</a:t>
            </a:r>
          </a:p>
        </p:txBody>
      </p:sp>
      <p:sp>
        <p:nvSpPr>
          <p:cNvPr id="47" name="TextBox 46"/>
          <p:cNvSpPr txBox="1"/>
          <p:nvPr/>
        </p:nvSpPr>
        <p:spPr>
          <a:xfrm>
            <a:off x="9326880" y="4343399"/>
            <a:ext cx="2560320" cy="731520"/>
          </a:xfrm>
          <a:prstGeom prst="rect">
            <a:avLst/>
          </a:prstGeom>
          <a:noFill/>
        </p:spPr>
        <p:txBody>
          <a:bodyPr wrap="square">
            <a:spAutoFit/>
          </a:bodyPr>
          <a:lstStyle/>
          <a:p>
            <a:pPr algn="ctr"/>
            <a:r>
              <a:rPr sz="1300" b="1">
                <a:solidFill>
                  <a:srgbClr val="0B3D91"/>
                </a:solidFill>
                <a:latin typeface="Calibri"/>
              </a:rPr>
              <a:t>Soar means…</a:t>
            </a:r>
          </a:p>
        </p:txBody>
      </p:sp>
      <p:sp>
        <p:nvSpPr>
          <p:cNvPr id="48" name="TextBox 47"/>
          <p:cNvSpPr txBox="1"/>
          <p:nvPr/>
        </p:nvSpPr>
        <p:spPr>
          <a:xfrm>
            <a:off x="9326880" y="5120639"/>
            <a:ext cx="2560320" cy="731520"/>
          </a:xfrm>
          <a:prstGeom prst="rect">
            <a:avLst/>
          </a:prstGeom>
          <a:noFill/>
        </p:spPr>
        <p:txBody>
          <a:bodyPr wrap="square">
            <a:spAutoFit/>
          </a:bodyPr>
          <a:lstStyle/>
          <a:p>
            <a:pPr algn="ctr"/>
            <a:r>
              <a:rPr sz="1200" b="0">
                <a:solidFill>
                  <a:srgbClr val="1A2337"/>
                </a:solidFill>
                <a:latin typeface="Calibri"/>
              </a:rPr>
              <a:t>A) dig  B) fly high  C) sleep</a:t>
            </a:r>
          </a:p>
        </p:txBody>
      </p:sp>
      <p:sp>
        <p:nvSpPr>
          <p:cNvPr id="49" name="Rectangle 48"/>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Quiz</a:t>
            </a:r>
          </a:p>
        </p:txBody>
      </p:sp>
      <p:sp>
        <p:nvSpPr>
          <p:cNvPr id="51" name="TextBox 5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18/25</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3017520" cy="329184"/>
          </a:xfrm>
          <a:prstGeom prst="round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3017520" cy="310896"/>
          </a:xfrm>
          <a:prstGeom prst="rect">
            <a:avLst/>
          </a:prstGeom>
          <a:noFill/>
        </p:spPr>
        <p:txBody>
          <a:bodyPr wrap="square">
            <a:spAutoFit/>
          </a:bodyPr>
          <a:lstStyle/>
          <a:p>
            <a:pPr algn="ctr"/>
            <a:r>
              <a:rPr sz="1200" b="1">
                <a:solidFill>
                  <a:srgbClr val="FFFFFF"/>
                </a:solidFill>
                <a:latin typeface="Calibri"/>
              </a:rPr>
              <a:t>MINI ASSESSMENT</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Teacher use</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Sage — Skills Snapshot ⭐</a:t>
            </a:r>
          </a:p>
        </p:txBody>
      </p:sp>
      <p:sp>
        <p:nvSpPr>
          <p:cNvPr id="9" name="Rectangle 8"/>
          <p:cNvSpPr/>
          <p:nvPr/>
        </p:nvSpPr>
        <p:spPr>
          <a:xfrm>
            <a:off x="365760" y="1280160"/>
            <a:ext cx="11430000" cy="50292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371600"/>
            <a:ext cx="2377440" cy="365760"/>
          </a:xfrm>
          <a:prstGeom prst="rect">
            <a:avLst/>
          </a:prstGeom>
          <a:noFill/>
        </p:spPr>
        <p:txBody>
          <a:bodyPr wrap="square">
            <a:spAutoFit/>
          </a:bodyPr>
          <a:lstStyle/>
          <a:p>
            <a:pPr algn="ctr"/>
            <a:r>
              <a:rPr sz="1200" b="1">
                <a:solidFill>
                  <a:srgbClr val="FFFFFF"/>
                </a:solidFill>
                <a:latin typeface="Calibri"/>
              </a:rPr>
              <a:t>Skill</a:t>
            </a:r>
          </a:p>
        </p:txBody>
      </p:sp>
      <p:sp>
        <p:nvSpPr>
          <p:cNvPr id="11" name="TextBox 10"/>
          <p:cNvSpPr txBox="1"/>
          <p:nvPr/>
        </p:nvSpPr>
        <p:spPr>
          <a:xfrm>
            <a:off x="2743200" y="1371600"/>
            <a:ext cx="1645920" cy="365760"/>
          </a:xfrm>
          <a:prstGeom prst="rect">
            <a:avLst/>
          </a:prstGeom>
          <a:noFill/>
        </p:spPr>
        <p:txBody>
          <a:bodyPr wrap="square">
            <a:spAutoFit/>
          </a:bodyPr>
          <a:lstStyle/>
          <a:p>
            <a:pPr algn="ctr"/>
            <a:r>
              <a:rPr sz="1200" b="1">
                <a:solidFill>
                  <a:srgbClr val="FFFFFF"/>
                </a:solidFill>
                <a:latin typeface="Calibri"/>
              </a:rPr>
              <a:t>⭐</a:t>
            </a:r>
          </a:p>
        </p:txBody>
      </p:sp>
      <p:sp>
        <p:nvSpPr>
          <p:cNvPr id="12" name="TextBox 11"/>
          <p:cNvSpPr txBox="1"/>
          <p:nvPr/>
        </p:nvSpPr>
        <p:spPr>
          <a:xfrm>
            <a:off x="4389120" y="1371600"/>
            <a:ext cx="1645920" cy="365760"/>
          </a:xfrm>
          <a:prstGeom prst="rect">
            <a:avLst/>
          </a:prstGeom>
          <a:noFill/>
        </p:spPr>
        <p:txBody>
          <a:bodyPr wrap="square">
            <a:spAutoFit/>
          </a:bodyPr>
          <a:lstStyle/>
          <a:p>
            <a:pPr algn="ctr"/>
            <a:r>
              <a:rPr sz="1200" b="1">
                <a:solidFill>
                  <a:srgbClr val="FFFFFF"/>
                </a:solidFill>
                <a:latin typeface="Calibri"/>
              </a:rPr>
              <a:t>⭐⭐</a:t>
            </a:r>
          </a:p>
        </p:txBody>
      </p:sp>
      <p:sp>
        <p:nvSpPr>
          <p:cNvPr id="13" name="TextBox 12"/>
          <p:cNvSpPr txBox="1"/>
          <p:nvPr/>
        </p:nvSpPr>
        <p:spPr>
          <a:xfrm>
            <a:off x="6035040" y="1371600"/>
            <a:ext cx="1645920" cy="365760"/>
          </a:xfrm>
          <a:prstGeom prst="rect">
            <a:avLst/>
          </a:prstGeom>
          <a:noFill/>
        </p:spPr>
        <p:txBody>
          <a:bodyPr wrap="square">
            <a:spAutoFit/>
          </a:bodyPr>
          <a:lstStyle/>
          <a:p>
            <a:pPr algn="ctr"/>
            <a:r>
              <a:rPr sz="1200" b="1">
                <a:solidFill>
                  <a:srgbClr val="FFFFFF"/>
                </a:solidFill>
                <a:latin typeface="Calibri"/>
              </a:rPr>
              <a:t>⭐⭐⭐</a:t>
            </a:r>
          </a:p>
        </p:txBody>
      </p:sp>
      <p:sp>
        <p:nvSpPr>
          <p:cNvPr id="14" name="TextBox 13"/>
          <p:cNvSpPr txBox="1"/>
          <p:nvPr/>
        </p:nvSpPr>
        <p:spPr>
          <a:xfrm>
            <a:off x="7680960" y="1371600"/>
            <a:ext cx="1828800" cy="365760"/>
          </a:xfrm>
          <a:prstGeom prst="rect">
            <a:avLst/>
          </a:prstGeom>
          <a:noFill/>
        </p:spPr>
        <p:txBody>
          <a:bodyPr wrap="square">
            <a:spAutoFit/>
          </a:bodyPr>
          <a:lstStyle/>
          <a:p>
            <a:pPr algn="ctr"/>
            <a:r>
              <a:rPr sz="1200" b="1">
                <a:solidFill>
                  <a:srgbClr val="FFFFFF"/>
                </a:solidFill>
                <a:latin typeface="Calibri"/>
              </a:rPr>
              <a:t>⭐⭐⭐⭐</a:t>
            </a:r>
          </a:p>
        </p:txBody>
      </p:sp>
      <p:sp>
        <p:nvSpPr>
          <p:cNvPr id="15" name="TextBox 14"/>
          <p:cNvSpPr txBox="1"/>
          <p:nvPr/>
        </p:nvSpPr>
        <p:spPr>
          <a:xfrm>
            <a:off x="9509760" y="1371600"/>
            <a:ext cx="2011680" cy="365760"/>
          </a:xfrm>
          <a:prstGeom prst="rect">
            <a:avLst/>
          </a:prstGeom>
          <a:noFill/>
        </p:spPr>
        <p:txBody>
          <a:bodyPr wrap="square">
            <a:spAutoFit/>
          </a:bodyPr>
          <a:lstStyle/>
          <a:p>
            <a:pPr algn="ctr"/>
            <a:r>
              <a:rPr sz="1200" b="1">
                <a:solidFill>
                  <a:srgbClr val="FFFFFF"/>
                </a:solidFill>
                <a:latin typeface="Calibri"/>
              </a:rPr>
              <a:t>⭐⭐⭐⭐⭐</a:t>
            </a:r>
          </a:p>
        </p:txBody>
      </p:sp>
      <p:sp>
        <p:nvSpPr>
          <p:cNvPr id="16" name="Rectangle 15"/>
          <p:cNvSpPr/>
          <p:nvPr/>
        </p:nvSpPr>
        <p:spPr>
          <a:xfrm>
            <a:off x="365760" y="1874519"/>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057399"/>
            <a:ext cx="2377440" cy="365760"/>
          </a:xfrm>
          <a:prstGeom prst="rect">
            <a:avLst/>
          </a:prstGeom>
          <a:noFill/>
        </p:spPr>
        <p:txBody>
          <a:bodyPr wrap="square">
            <a:spAutoFit/>
          </a:bodyPr>
          <a:lstStyle/>
          <a:p>
            <a:pPr algn="ctr"/>
            <a:r>
              <a:rPr sz="1400" b="1">
                <a:solidFill>
                  <a:srgbClr val="0B3D91"/>
                </a:solidFill>
                <a:latin typeface="Calibri"/>
              </a:rPr>
              <a:t>Reading</a:t>
            </a:r>
          </a:p>
        </p:txBody>
      </p:sp>
      <p:sp>
        <p:nvSpPr>
          <p:cNvPr id="18" name="TextBox 17"/>
          <p:cNvSpPr txBox="1"/>
          <p:nvPr/>
        </p:nvSpPr>
        <p:spPr>
          <a:xfrm>
            <a:off x="2743200" y="2057399"/>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19" name="TextBox 18"/>
          <p:cNvSpPr txBox="1"/>
          <p:nvPr/>
        </p:nvSpPr>
        <p:spPr>
          <a:xfrm>
            <a:off x="4389120" y="2057399"/>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20" name="TextBox 19"/>
          <p:cNvSpPr txBox="1"/>
          <p:nvPr/>
        </p:nvSpPr>
        <p:spPr>
          <a:xfrm>
            <a:off x="6035040" y="2057399"/>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21" name="TextBox 20"/>
          <p:cNvSpPr txBox="1"/>
          <p:nvPr/>
        </p:nvSpPr>
        <p:spPr>
          <a:xfrm>
            <a:off x="7680960" y="2057399"/>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22" name="TextBox 21"/>
          <p:cNvSpPr txBox="1"/>
          <p:nvPr/>
        </p:nvSpPr>
        <p:spPr>
          <a:xfrm>
            <a:off x="9509760" y="2057399"/>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23" name="Rectangle 22"/>
          <p:cNvSpPr/>
          <p:nvPr/>
        </p:nvSpPr>
        <p:spPr>
          <a:xfrm>
            <a:off x="365760" y="2560320"/>
            <a:ext cx="11430000" cy="6858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2743200"/>
            <a:ext cx="2377440" cy="365760"/>
          </a:xfrm>
          <a:prstGeom prst="rect">
            <a:avLst/>
          </a:prstGeom>
          <a:noFill/>
        </p:spPr>
        <p:txBody>
          <a:bodyPr wrap="square">
            <a:spAutoFit/>
          </a:bodyPr>
          <a:lstStyle/>
          <a:p>
            <a:pPr algn="ctr"/>
            <a:r>
              <a:rPr sz="1400" b="1">
                <a:solidFill>
                  <a:srgbClr val="0B3D91"/>
                </a:solidFill>
                <a:latin typeface="Calibri"/>
              </a:rPr>
              <a:t>Speaking</a:t>
            </a:r>
          </a:p>
        </p:txBody>
      </p:sp>
      <p:sp>
        <p:nvSpPr>
          <p:cNvPr id="25" name="TextBox 24"/>
          <p:cNvSpPr txBox="1"/>
          <p:nvPr/>
        </p:nvSpPr>
        <p:spPr>
          <a:xfrm>
            <a:off x="2743200" y="27432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26" name="TextBox 25"/>
          <p:cNvSpPr txBox="1"/>
          <p:nvPr/>
        </p:nvSpPr>
        <p:spPr>
          <a:xfrm>
            <a:off x="4389120" y="27432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27" name="TextBox 26"/>
          <p:cNvSpPr txBox="1"/>
          <p:nvPr/>
        </p:nvSpPr>
        <p:spPr>
          <a:xfrm>
            <a:off x="6035040" y="27432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28" name="TextBox 27"/>
          <p:cNvSpPr txBox="1"/>
          <p:nvPr/>
        </p:nvSpPr>
        <p:spPr>
          <a:xfrm>
            <a:off x="7680960" y="2743200"/>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29" name="TextBox 28"/>
          <p:cNvSpPr txBox="1"/>
          <p:nvPr/>
        </p:nvSpPr>
        <p:spPr>
          <a:xfrm>
            <a:off x="9509760" y="2743200"/>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30" name="Rectangle 29"/>
          <p:cNvSpPr/>
          <p:nvPr/>
        </p:nvSpPr>
        <p:spPr>
          <a:xfrm>
            <a:off x="365760" y="3246120"/>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3429000"/>
            <a:ext cx="2377440" cy="365760"/>
          </a:xfrm>
          <a:prstGeom prst="rect">
            <a:avLst/>
          </a:prstGeom>
          <a:noFill/>
        </p:spPr>
        <p:txBody>
          <a:bodyPr wrap="square">
            <a:spAutoFit/>
          </a:bodyPr>
          <a:lstStyle/>
          <a:p>
            <a:pPr algn="ctr"/>
            <a:r>
              <a:rPr sz="1400" b="1">
                <a:solidFill>
                  <a:srgbClr val="0B3D91"/>
                </a:solidFill>
                <a:latin typeface="Calibri"/>
              </a:rPr>
              <a:t>Grammar</a:t>
            </a:r>
          </a:p>
        </p:txBody>
      </p:sp>
      <p:sp>
        <p:nvSpPr>
          <p:cNvPr id="32" name="TextBox 31"/>
          <p:cNvSpPr txBox="1"/>
          <p:nvPr/>
        </p:nvSpPr>
        <p:spPr>
          <a:xfrm>
            <a:off x="2743200" y="34290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33" name="TextBox 32"/>
          <p:cNvSpPr txBox="1"/>
          <p:nvPr/>
        </p:nvSpPr>
        <p:spPr>
          <a:xfrm>
            <a:off x="4389120" y="34290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34" name="TextBox 33"/>
          <p:cNvSpPr txBox="1"/>
          <p:nvPr/>
        </p:nvSpPr>
        <p:spPr>
          <a:xfrm>
            <a:off x="6035040" y="34290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35" name="TextBox 34"/>
          <p:cNvSpPr txBox="1"/>
          <p:nvPr/>
        </p:nvSpPr>
        <p:spPr>
          <a:xfrm>
            <a:off x="7680960" y="3429000"/>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36" name="TextBox 35"/>
          <p:cNvSpPr txBox="1"/>
          <p:nvPr/>
        </p:nvSpPr>
        <p:spPr>
          <a:xfrm>
            <a:off x="9509760" y="3429000"/>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37" name="Rectangle 36"/>
          <p:cNvSpPr/>
          <p:nvPr/>
        </p:nvSpPr>
        <p:spPr>
          <a:xfrm>
            <a:off x="365760" y="3931920"/>
            <a:ext cx="11430000" cy="6858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4114800"/>
            <a:ext cx="2377440" cy="365760"/>
          </a:xfrm>
          <a:prstGeom prst="rect">
            <a:avLst/>
          </a:prstGeom>
          <a:noFill/>
        </p:spPr>
        <p:txBody>
          <a:bodyPr wrap="square">
            <a:spAutoFit/>
          </a:bodyPr>
          <a:lstStyle/>
          <a:p>
            <a:pPr algn="ctr"/>
            <a:r>
              <a:rPr sz="1400" b="1">
                <a:solidFill>
                  <a:srgbClr val="0B3D91"/>
                </a:solidFill>
                <a:latin typeface="Calibri"/>
              </a:rPr>
              <a:t>Vocabulary</a:t>
            </a:r>
          </a:p>
        </p:txBody>
      </p:sp>
      <p:sp>
        <p:nvSpPr>
          <p:cNvPr id="39" name="TextBox 38"/>
          <p:cNvSpPr txBox="1"/>
          <p:nvPr/>
        </p:nvSpPr>
        <p:spPr>
          <a:xfrm>
            <a:off x="2743200" y="41148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0" name="TextBox 39"/>
          <p:cNvSpPr txBox="1"/>
          <p:nvPr/>
        </p:nvSpPr>
        <p:spPr>
          <a:xfrm>
            <a:off x="4389120" y="41148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1" name="TextBox 40"/>
          <p:cNvSpPr txBox="1"/>
          <p:nvPr/>
        </p:nvSpPr>
        <p:spPr>
          <a:xfrm>
            <a:off x="6035040" y="41148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2" name="TextBox 41"/>
          <p:cNvSpPr txBox="1"/>
          <p:nvPr/>
        </p:nvSpPr>
        <p:spPr>
          <a:xfrm>
            <a:off x="7680960" y="4114800"/>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43" name="TextBox 42"/>
          <p:cNvSpPr txBox="1"/>
          <p:nvPr/>
        </p:nvSpPr>
        <p:spPr>
          <a:xfrm>
            <a:off x="9509760" y="4114800"/>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44" name="Rectangle 43"/>
          <p:cNvSpPr/>
          <p:nvPr/>
        </p:nvSpPr>
        <p:spPr>
          <a:xfrm>
            <a:off x="365760" y="4617720"/>
            <a:ext cx="114300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4800600"/>
            <a:ext cx="2377440" cy="365760"/>
          </a:xfrm>
          <a:prstGeom prst="rect">
            <a:avLst/>
          </a:prstGeom>
          <a:noFill/>
        </p:spPr>
        <p:txBody>
          <a:bodyPr wrap="square">
            <a:spAutoFit/>
          </a:bodyPr>
          <a:lstStyle/>
          <a:p>
            <a:pPr algn="ctr"/>
            <a:r>
              <a:rPr sz="1400" b="1">
                <a:solidFill>
                  <a:srgbClr val="0B3D91"/>
                </a:solidFill>
                <a:latin typeface="Calibri"/>
              </a:rPr>
              <a:t>Confidence</a:t>
            </a:r>
          </a:p>
        </p:txBody>
      </p:sp>
      <p:sp>
        <p:nvSpPr>
          <p:cNvPr id="46" name="TextBox 45"/>
          <p:cNvSpPr txBox="1"/>
          <p:nvPr/>
        </p:nvSpPr>
        <p:spPr>
          <a:xfrm>
            <a:off x="2743200" y="48006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7" name="TextBox 46"/>
          <p:cNvSpPr txBox="1"/>
          <p:nvPr/>
        </p:nvSpPr>
        <p:spPr>
          <a:xfrm>
            <a:off x="4389120" y="48006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8" name="TextBox 47"/>
          <p:cNvSpPr txBox="1"/>
          <p:nvPr/>
        </p:nvSpPr>
        <p:spPr>
          <a:xfrm>
            <a:off x="6035040" y="48006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49" name="TextBox 48"/>
          <p:cNvSpPr txBox="1"/>
          <p:nvPr/>
        </p:nvSpPr>
        <p:spPr>
          <a:xfrm>
            <a:off x="7680960" y="4800600"/>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50" name="TextBox 49"/>
          <p:cNvSpPr txBox="1"/>
          <p:nvPr/>
        </p:nvSpPr>
        <p:spPr>
          <a:xfrm>
            <a:off x="9509760" y="4800600"/>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51" name="Rectangle 50"/>
          <p:cNvSpPr/>
          <p:nvPr/>
        </p:nvSpPr>
        <p:spPr>
          <a:xfrm>
            <a:off x="365760" y="5303520"/>
            <a:ext cx="11430000" cy="6858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5486400"/>
            <a:ext cx="2377440" cy="365760"/>
          </a:xfrm>
          <a:prstGeom prst="rect">
            <a:avLst/>
          </a:prstGeom>
          <a:noFill/>
        </p:spPr>
        <p:txBody>
          <a:bodyPr wrap="square">
            <a:spAutoFit/>
          </a:bodyPr>
          <a:lstStyle/>
          <a:p>
            <a:pPr algn="ctr"/>
            <a:r>
              <a:rPr sz="1400" b="1">
                <a:solidFill>
                  <a:srgbClr val="0B3D91"/>
                </a:solidFill>
                <a:latin typeface="Calibri"/>
              </a:rPr>
              <a:t>Pronunciation</a:t>
            </a:r>
          </a:p>
        </p:txBody>
      </p:sp>
      <p:sp>
        <p:nvSpPr>
          <p:cNvPr id="53" name="TextBox 52"/>
          <p:cNvSpPr txBox="1"/>
          <p:nvPr/>
        </p:nvSpPr>
        <p:spPr>
          <a:xfrm>
            <a:off x="2743200" y="54864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54" name="TextBox 53"/>
          <p:cNvSpPr txBox="1"/>
          <p:nvPr/>
        </p:nvSpPr>
        <p:spPr>
          <a:xfrm>
            <a:off x="4389120" y="54864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55" name="TextBox 54"/>
          <p:cNvSpPr txBox="1"/>
          <p:nvPr/>
        </p:nvSpPr>
        <p:spPr>
          <a:xfrm>
            <a:off x="6035040" y="5486400"/>
            <a:ext cx="1645920" cy="365760"/>
          </a:xfrm>
          <a:prstGeom prst="rect">
            <a:avLst/>
          </a:prstGeom>
          <a:noFill/>
        </p:spPr>
        <p:txBody>
          <a:bodyPr wrap="square">
            <a:spAutoFit/>
          </a:bodyPr>
          <a:lstStyle/>
          <a:p>
            <a:pPr algn="ctr"/>
            <a:r>
              <a:rPr sz="1600" b="0">
                <a:solidFill>
                  <a:srgbClr val="546E7A"/>
                </a:solidFill>
                <a:latin typeface="Calibri"/>
              </a:rPr>
              <a:t>○</a:t>
            </a:r>
          </a:p>
        </p:txBody>
      </p:sp>
      <p:sp>
        <p:nvSpPr>
          <p:cNvPr id="56" name="TextBox 55"/>
          <p:cNvSpPr txBox="1"/>
          <p:nvPr/>
        </p:nvSpPr>
        <p:spPr>
          <a:xfrm>
            <a:off x="7680960" y="5486400"/>
            <a:ext cx="1828800" cy="365760"/>
          </a:xfrm>
          <a:prstGeom prst="rect">
            <a:avLst/>
          </a:prstGeom>
          <a:noFill/>
        </p:spPr>
        <p:txBody>
          <a:bodyPr wrap="square">
            <a:spAutoFit/>
          </a:bodyPr>
          <a:lstStyle/>
          <a:p>
            <a:pPr algn="ctr"/>
            <a:r>
              <a:rPr sz="1600" b="0">
                <a:solidFill>
                  <a:srgbClr val="546E7A"/>
                </a:solidFill>
                <a:latin typeface="Calibri"/>
              </a:rPr>
              <a:t>○</a:t>
            </a:r>
          </a:p>
        </p:txBody>
      </p:sp>
      <p:sp>
        <p:nvSpPr>
          <p:cNvPr id="57" name="TextBox 56"/>
          <p:cNvSpPr txBox="1"/>
          <p:nvPr/>
        </p:nvSpPr>
        <p:spPr>
          <a:xfrm>
            <a:off x="9509760" y="5486400"/>
            <a:ext cx="2011680" cy="365760"/>
          </a:xfrm>
          <a:prstGeom prst="rect">
            <a:avLst/>
          </a:prstGeom>
          <a:noFill/>
        </p:spPr>
        <p:txBody>
          <a:bodyPr wrap="square">
            <a:spAutoFit/>
          </a:bodyPr>
          <a:lstStyle/>
          <a:p>
            <a:pPr algn="ctr"/>
            <a:r>
              <a:rPr sz="1600" b="0">
                <a:solidFill>
                  <a:srgbClr val="546E7A"/>
                </a:solidFill>
                <a:latin typeface="Calibri"/>
              </a:rPr>
              <a:t>○</a:t>
            </a:r>
          </a:p>
        </p:txBody>
      </p:sp>
      <p:sp>
        <p:nvSpPr>
          <p:cNvPr id="58" name="Rectangle 57"/>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Assessment</a:t>
            </a:r>
          </a:p>
        </p:txBody>
      </p:sp>
      <p:sp>
        <p:nvSpPr>
          <p:cNvPr id="60" name="TextBox 59"/>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19/25</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RECAP</a:t>
            </a:r>
          </a:p>
        </p:txBody>
      </p:sp>
      <p:sp>
        <p:nvSpPr>
          <p:cNvPr id="6" name="Rounded Rectangle 5"/>
          <p:cNvSpPr/>
          <p:nvPr/>
        </p:nvSpPr>
        <p:spPr>
          <a:xfrm>
            <a:off x="9601200" y="256032"/>
            <a:ext cx="219456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65176"/>
            <a:ext cx="2194560" cy="310896"/>
          </a:xfrm>
          <a:prstGeom prst="rect">
            <a:avLst/>
          </a:prstGeom>
          <a:noFill/>
        </p:spPr>
        <p:txBody>
          <a:bodyPr wrap="square">
            <a:spAutoFit/>
          </a:bodyPr>
          <a:lstStyle/>
          <a:p>
            <a:pPr algn="ctr"/>
            <a:r>
              <a:rPr sz="1200" b="1">
                <a:solidFill>
                  <a:srgbClr val="FFFFFF"/>
                </a:solidFill>
                <a:latin typeface="Calibri"/>
              </a:rPr>
              <a:t>5 minutes</a:t>
            </a:r>
          </a:p>
        </p:txBody>
      </p:sp>
      <p:sp>
        <p:nvSpPr>
          <p:cNvPr id="8" name="TextBox 7"/>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What Did We Learn Today? 🧠</a:t>
            </a:r>
          </a:p>
        </p:txBody>
      </p:sp>
      <p:sp>
        <p:nvSpPr>
          <p:cNvPr id="9" name="Rounded Rectangle 8"/>
          <p:cNvSpPr/>
          <p:nvPr/>
        </p:nvSpPr>
        <p:spPr>
          <a:xfrm>
            <a:off x="365760" y="1371600"/>
            <a:ext cx="56235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371600"/>
            <a:ext cx="5623560"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81328"/>
            <a:ext cx="5212080" cy="320040"/>
          </a:xfrm>
          <a:prstGeom prst="rect">
            <a:avLst/>
          </a:prstGeom>
          <a:noFill/>
        </p:spPr>
        <p:txBody>
          <a:bodyPr wrap="square">
            <a:spAutoFit/>
          </a:bodyPr>
          <a:lstStyle/>
          <a:p>
            <a:pPr algn="l"/>
            <a:r>
              <a:rPr sz="1600" b="1">
                <a:solidFill>
                  <a:srgbClr val="FFFFFF"/>
                </a:solidFill>
                <a:latin typeface="Calibri"/>
              </a:rPr>
              <a:t>🌿 Words</a:t>
            </a:r>
          </a:p>
        </p:txBody>
      </p:sp>
      <p:sp>
        <p:nvSpPr>
          <p:cNvPr id="12" name="TextBox 11"/>
          <p:cNvSpPr txBox="1"/>
          <p:nvPr/>
        </p:nvSpPr>
        <p:spPr>
          <a:xfrm>
            <a:off x="594360" y="2148840"/>
            <a:ext cx="5212080" cy="914400"/>
          </a:xfrm>
          <a:prstGeom prst="rect">
            <a:avLst/>
          </a:prstGeom>
          <a:noFill/>
        </p:spPr>
        <p:txBody>
          <a:bodyPr wrap="square">
            <a:spAutoFit/>
          </a:bodyPr>
          <a:lstStyle/>
          <a:p>
            <a:pPr algn="l"/>
            <a:r>
              <a:rPr sz="1500" b="0">
                <a:solidFill>
                  <a:srgbClr val="1A2337"/>
                </a:solidFill>
                <a:latin typeface="Calibri"/>
              </a:rPr>
              <a:t>breeze, soar, drizzle, trail, bloom, mist…</a:t>
            </a:r>
          </a:p>
        </p:txBody>
      </p:sp>
      <p:sp>
        <p:nvSpPr>
          <p:cNvPr id="13" name="Rounded Rectangle 12"/>
          <p:cNvSpPr/>
          <p:nvPr/>
        </p:nvSpPr>
        <p:spPr>
          <a:xfrm>
            <a:off x="6217920" y="1371600"/>
            <a:ext cx="56235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5623560" cy="5029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81328"/>
            <a:ext cx="5212080" cy="320040"/>
          </a:xfrm>
          <a:prstGeom prst="rect">
            <a:avLst/>
          </a:prstGeom>
          <a:noFill/>
        </p:spPr>
        <p:txBody>
          <a:bodyPr wrap="square">
            <a:spAutoFit/>
          </a:bodyPr>
          <a:lstStyle/>
          <a:p>
            <a:pPr algn="l"/>
            <a:r>
              <a:rPr sz="1600" b="1">
                <a:solidFill>
                  <a:srgbClr val="FFFFFF"/>
                </a:solidFill>
                <a:latin typeface="Calibri"/>
              </a:rPr>
              <a:t>📘 Grammar</a:t>
            </a:r>
          </a:p>
        </p:txBody>
      </p:sp>
      <p:sp>
        <p:nvSpPr>
          <p:cNvPr id="16" name="TextBox 15"/>
          <p:cNvSpPr txBox="1"/>
          <p:nvPr/>
        </p:nvSpPr>
        <p:spPr>
          <a:xfrm>
            <a:off x="6446520" y="2148840"/>
            <a:ext cx="5212080" cy="914400"/>
          </a:xfrm>
          <a:prstGeom prst="rect">
            <a:avLst/>
          </a:prstGeom>
          <a:noFill/>
        </p:spPr>
        <p:txBody>
          <a:bodyPr wrap="square">
            <a:spAutoFit/>
          </a:bodyPr>
          <a:lstStyle/>
          <a:p>
            <a:pPr algn="l"/>
            <a:r>
              <a:rPr sz="1500" b="0">
                <a:solidFill>
                  <a:srgbClr val="1A2337"/>
                </a:solidFill>
                <a:latin typeface="Calibri"/>
              </a:rPr>
              <a:t>Nouns, verbs, adjectives, adverbs</a:t>
            </a:r>
          </a:p>
        </p:txBody>
      </p:sp>
      <p:sp>
        <p:nvSpPr>
          <p:cNvPr id="17" name="Rounded Rectangle 16"/>
          <p:cNvSpPr/>
          <p:nvPr/>
        </p:nvSpPr>
        <p:spPr>
          <a:xfrm>
            <a:off x="365760" y="3474720"/>
            <a:ext cx="56235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474720"/>
            <a:ext cx="5623560" cy="50292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584448"/>
            <a:ext cx="5212080" cy="320040"/>
          </a:xfrm>
          <a:prstGeom prst="rect">
            <a:avLst/>
          </a:prstGeom>
          <a:noFill/>
        </p:spPr>
        <p:txBody>
          <a:bodyPr wrap="square">
            <a:spAutoFit/>
          </a:bodyPr>
          <a:lstStyle/>
          <a:p>
            <a:pPr algn="l"/>
            <a:r>
              <a:rPr sz="1600" b="1">
                <a:solidFill>
                  <a:srgbClr val="FFFFFF"/>
                </a:solidFill>
                <a:latin typeface="Calibri"/>
              </a:rPr>
              <a:t>📖 Reading</a:t>
            </a:r>
          </a:p>
        </p:txBody>
      </p:sp>
      <p:sp>
        <p:nvSpPr>
          <p:cNvPr id="20" name="TextBox 19"/>
          <p:cNvSpPr txBox="1"/>
          <p:nvPr/>
        </p:nvSpPr>
        <p:spPr>
          <a:xfrm>
            <a:off x="594360" y="4251960"/>
            <a:ext cx="5212080" cy="914400"/>
          </a:xfrm>
          <a:prstGeom prst="rect">
            <a:avLst/>
          </a:prstGeom>
          <a:noFill/>
        </p:spPr>
        <p:txBody>
          <a:bodyPr wrap="square">
            <a:spAutoFit/>
          </a:bodyPr>
          <a:lstStyle/>
          <a:p>
            <a:pPr algn="l"/>
            <a:r>
              <a:rPr sz="1500" b="0">
                <a:solidFill>
                  <a:srgbClr val="1A2337"/>
                </a:solidFill>
                <a:latin typeface="Calibri"/>
              </a:rPr>
              <a:t>Find answers + infer feelings from clues</a:t>
            </a:r>
          </a:p>
        </p:txBody>
      </p:sp>
      <p:sp>
        <p:nvSpPr>
          <p:cNvPr id="21" name="Rounded Rectangle 20"/>
          <p:cNvSpPr/>
          <p:nvPr/>
        </p:nvSpPr>
        <p:spPr>
          <a:xfrm>
            <a:off x="6217920" y="3474720"/>
            <a:ext cx="56235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474720"/>
            <a:ext cx="5623560" cy="50292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584448"/>
            <a:ext cx="5212080" cy="320040"/>
          </a:xfrm>
          <a:prstGeom prst="rect">
            <a:avLst/>
          </a:prstGeom>
          <a:noFill/>
        </p:spPr>
        <p:txBody>
          <a:bodyPr wrap="square">
            <a:spAutoFit/>
          </a:bodyPr>
          <a:lstStyle/>
          <a:p>
            <a:pPr algn="l"/>
            <a:r>
              <a:rPr sz="1600" b="1">
                <a:solidFill>
                  <a:srgbClr val="FFFFFF"/>
                </a:solidFill>
                <a:latin typeface="Calibri"/>
              </a:rPr>
              <a:t>🗣️ Speaking</a:t>
            </a:r>
          </a:p>
        </p:txBody>
      </p:sp>
      <p:sp>
        <p:nvSpPr>
          <p:cNvPr id="24" name="TextBox 23"/>
          <p:cNvSpPr txBox="1"/>
          <p:nvPr/>
        </p:nvSpPr>
        <p:spPr>
          <a:xfrm>
            <a:off x="6446520" y="4251960"/>
            <a:ext cx="5212080" cy="914400"/>
          </a:xfrm>
          <a:prstGeom prst="rect">
            <a:avLst/>
          </a:prstGeom>
          <a:noFill/>
        </p:spPr>
        <p:txBody>
          <a:bodyPr wrap="square">
            <a:spAutoFit/>
          </a:bodyPr>
          <a:lstStyle/>
          <a:p>
            <a:pPr algn="l"/>
            <a:r>
              <a:rPr sz="1500" b="0">
                <a:solidFill>
                  <a:srgbClr val="1A2337"/>
                </a:solidFill>
                <a:latin typeface="Calibri"/>
              </a:rPr>
              <a:t>Full sentences, story retell, role play</a:t>
            </a:r>
          </a:p>
        </p:txBody>
      </p:sp>
      <p:sp>
        <p:nvSpPr>
          <p:cNvPr id="25" name="Rounded Rectangle 24"/>
          <p:cNvSpPr/>
          <p:nvPr/>
        </p:nvSpPr>
        <p:spPr>
          <a:xfrm>
            <a:off x="365760" y="5669280"/>
            <a:ext cx="11430000" cy="6400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06440"/>
            <a:ext cx="11064240" cy="365760"/>
          </a:xfrm>
          <a:prstGeom prst="rect">
            <a:avLst/>
          </a:prstGeom>
          <a:noFill/>
        </p:spPr>
        <p:txBody>
          <a:bodyPr wrap="square">
            <a:spAutoFit/>
          </a:bodyPr>
          <a:lstStyle/>
          <a:p>
            <a:pPr algn="l"/>
            <a:r>
              <a:rPr sz="1500" b="1">
                <a:solidFill>
                  <a:srgbClr val="0B3D91"/>
                </a:solidFill>
                <a:latin typeface="Calibri"/>
              </a:rPr>
              <a:t>Reflection: What did you enjoy the most today, Sage?</a:t>
            </a:r>
          </a:p>
        </p:txBody>
      </p:sp>
      <p:sp>
        <p:nvSpPr>
          <p:cNvPr id="27" name="Rectangle 26"/>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85–90 min</a:t>
            </a:r>
          </a:p>
        </p:txBody>
      </p:sp>
      <p:sp>
        <p:nvSpPr>
          <p:cNvPr id="29" name="TextBox 2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20/25</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HOMEWORK</a:t>
            </a:r>
          </a:p>
        </p:txBody>
      </p:sp>
      <p:sp>
        <p:nvSpPr>
          <p:cNvPr id="6" name="TextBox 5"/>
          <p:cNvSpPr txBox="1"/>
          <p:nvPr/>
        </p:nvSpPr>
        <p:spPr>
          <a:xfrm>
            <a:off x="365760" y="731520"/>
            <a:ext cx="10972800" cy="365760"/>
          </a:xfrm>
          <a:prstGeom prst="rect">
            <a:avLst/>
          </a:prstGeom>
          <a:noFill/>
        </p:spPr>
        <p:txBody>
          <a:bodyPr wrap="square">
            <a:spAutoFit/>
          </a:bodyPr>
          <a:lstStyle/>
          <a:p>
            <a:pPr algn="l"/>
            <a:r>
              <a:rPr sz="2800" b="1">
                <a:solidFill>
                  <a:srgbClr val="0B3D91"/>
                </a:solidFill>
                <a:latin typeface="Georgia"/>
              </a:rPr>
              <a:t>Mission for Sage 📝</a:t>
            </a:r>
          </a:p>
        </p:txBody>
      </p:sp>
      <p:sp>
        <p:nvSpPr>
          <p:cNvPr id="7" name="Rounded Rectangle 6"/>
          <p:cNvSpPr/>
          <p:nvPr/>
        </p:nvSpPr>
        <p:spPr>
          <a:xfrm>
            <a:off x="1371600" y="1463040"/>
            <a:ext cx="94183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800" y="1828800"/>
            <a:ext cx="777240" cy="777240"/>
          </a:xfrm>
          <a:prstGeom prst="ellipse">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993392"/>
            <a:ext cx="777240" cy="502920"/>
          </a:xfrm>
          <a:prstGeom prst="rect">
            <a:avLst/>
          </a:prstGeom>
          <a:noFill/>
        </p:spPr>
        <p:txBody>
          <a:bodyPr wrap="square">
            <a:spAutoFit/>
          </a:bodyPr>
          <a:lstStyle/>
          <a:p>
            <a:pPr algn="ctr"/>
            <a:r>
              <a:rPr sz="2200" b="0">
                <a:solidFill>
                  <a:srgbClr val="1A2337"/>
                </a:solidFill>
                <a:latin typeface="Calibri"/>
              </a:rPr>
              <a:t>🐾</a:t>
            </a:r>
          </a:p>
        </p:txBody>
      </p:sp>
      <p:sp>
        <p:nvSpPr>
          <p:cNvPr id="10" name="TextBox 9"/>
          <p:cNvSpPr txBox="1"/>
          <p:nvPr/>
        </p:nvSpPr>
        <p:spPr>
          <a:xfrm>
            <a:off x="2743200" y="1965960"/>
            <a:ext cx="7315200" cy="365760"/>
          </a:xfrm>
          <a:prstGeom prst="rect">
            <a:avLst/>
          </a:prstGeom>
          <a:noFill/>
        </p:spPr>
        <p:txBody>
          <a:bodyPr wrap="square">
            <a:spAutoFit/>
          </a:bodyPr>
          <a:lstStyle/>
          <a:p>
            <a:pPr algn="l"/>
            <a:r>
              <a:rPr sz="2000" b="1">
                <a:solidFill>
                  <a:srgbClr val="0B3D91"/>
                </a:solidFill>
                <a:latin typeface="Calibri"/>
              </a:rPr>
              <a:t>Write 5 sentences about your favorite animal</a:t>
            </a:r>
          </a:p>
        </p:txBody>
      </p:sp>
      <p:sp>
        <p:nvSpPr>
          <p:cNvPr id="11" name="TextBox 10"/>
          <p:cNvSpPr txBox="1"/>
          <p:nvPr/>
        </p:nvSpPr>
        <p:spPr>
          <a:xfrm>
            <a:off x="2011680" y="2743200"/>
            <a:ext cx="8229600" cy="2743200"/>
          </a:xfrm>
          <a:prstGeom prst="rect">
            <a:avLst/>
          </a:prstGeom>
          <a:noFill/>
        </p:spPr>
        <p:txBody>
          <a:bodyPr wrap="square">
            <a:spAutoFit/>
          </a:bodyPr>
          <a:lstStyle/>
          <a:p>
            <a:pPr>
              <a:spcAft>
                <a:spcPts val="1000"/>
              </a:spcAft>
            </a:pPr>
            <a:r>
              <a:rPr sz="1600" b="0">
                <a:solidFill>
                  <a:srgbClr val="1A2337"/>
                </a:solidFill>
                <a:latin typeface="Calibri"/>
              </a:rPr>
              <a:t>•  Use at least 5 new vocabulary words from today</a:t>
            </a:r>
          </a:p>
          <a:p>
            <a:pPr>
              <a:spcAft>
                <a:spcPts val="1000"/>
              </a:spcAft>
            </a:pPr>
            <a:r>
              <a:rPr sz="1600" b="0">
                <a:solidFill>
                  <a:srgbClr val="1A2337"/>
                </a:solidFill>
                <a:latin typeface="Calibri"/>
              </a:rPr>
              <a:t>•  Underline nouns in blue (or say them aloud)</a:t>
            </a:r>
          </a:p>
          <a:p>
            <a:pPr>
              <a:spcAft>
                <a:spcPts val="1000"/>
              </a:spcAft>
            </a:pPr>
            <a:r>
              <a:rPr sz="1600" b="0">
                <a:solidFill>
                  <a:srgbClr val="1A2337"/>
                </a:solidFill>
                <a:latin typeface="Calibri"/>
              </a:rPr>
              <a:t>•  Circle adjectives in green</a:t>
            </a:r>
          </a:p>
          <a:p>
            <a:pPr>
              <a:spcAft>
                <a:spcPts val="1000"/>
              </a:spcAft>
            </a:pPr>
            <a:r>
              <a:rPr sz="1600" b="0">
                <a:solidFill>
                  <a:srgbClr val="1A2337"/>
                </a:solidFill>
                <a:latin typeface="Calibri"/>
              </a:rPr>
              <a:t>•  Read your sentences aloud to a family member</a:t>
            </a:r>
          </a:p>
          <a:p>
            <a:pPr>
              <a:spcAft>
                <a:spcPts val="1000"/>
              </a:spcAft>
            </a:pPr>
            <a:r>
              <a:rPr sz="1600" b="0">
                <a:solidFill>
                  <a:srgbClr val="1A2337"/>
                </a:solidFill>
                <a:latin typeface="Calibri"/>
              </a:rPr>
              <a:t>•  Bonus: Draw your animal and label 3 nature words</a:t>
            </a:r>
          </a:p>
        </p:txBody>
      </p:sp>
      <p:sp>
        <p:nvSpPr>
          <p:cNvPr id="12" name="Rectangle 11"/>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Homework</a:t>
            </a:r>
          </a:p>
        </p:txBody>
      </p:sp>
      <p:sp>
        <p:nvSpPr>
          <p:cNvPr id="14" name="TextBox 13"/>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21/25</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11680" y="1097280"/>
            <a:ext cx="813816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11680" y="1097280"/>
            <a:ext cx="8138160" cy="2286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0" y="5440680"/>
            <a:ext cx="8138160" cy="2286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1554480"/>
            <a:ext cx="7589520" cy="365760"/>
          </a:xfrm>
          <a:prstGeom prst="rect">
            <a:avLst/>
          </a:prstGeom>
          <a:noFill/>
        </p:spPr>
        <p:txBody>
          <a:bodyPr wrap="square">
            <a:spAutoFit/>
          </a:bodyPr>
          <a:lstStyle/>
          <a:p>
            <a:pPr algn="ctr"/>
            <a:r>
              <a:rPr sz="1600" b="1">
                <a:solidFill>
                  <a:srgbClr val="009688"/>
                </a:solidFill>
                <a:latin typeface="Calibri"/>
              </a:rPr>
              <a:t>🌟 CERTIFICATE OF AWESOME EFFORT 🌟</a:t>
            </a:r>
          </a:p>
        </p:txBody>
      </p:sp>
      <p:sp>
        <p:nvSpPr>
          <p:cNvPr id="8" name="TextBox 7"/>
          <p:cNvSpPr txBox="1"/>
          <p:nvPr/>
        </p:nvSpPr>
        <p:spPr>
          <a:xfrm>
            <a:off x="2286000" y="2194560"/>
            <a:ext cx="7589520" cy="457200"/>
          </a:xfrm>
          <a:prstGeom prst="rect">
            <a:avLst/>
          </a:prstGeom>
          <a:noFill/>
        </p:spPr>
        <p:txBody>
          <a:bodyPr wrap="square">
            <a:spAutoFit/>
          </a:bodyPr>
          <a:lstStyle/>
          <a:p>
            <a:pPr algn="ctr"/>
            <a:r>
              <a:rPr sz="3600" b="1">
                <a:solidFill>
                  <a:srgbClr val="0B3D91"/>
                </a:solidFill>
                <a:latin typeface="Georgia"/>
              </a:rPr>
              <a:t>Great Job, Sage!</a:t>
            </a:r>
          </a:p>
        </p:txBody>
      </p:sp>
      <p:sp>
        <p:nvSpPr>
          <p:cNvPr id="9" name="TextBox 8"/>
          <p:cNvSpPr txBox="1"/>
          <p:nvPr/>
        </p:nvSpPr>
        <p:spPr>
          <a:xfrm>
            <a:off x="2286000" y="2926080"/>
            <a:ext cx="7589520" cy="1097280"/>
          </a:xfrm>
          <a:prstGeom prst="rect">
            <a:avLst/>
          </a:prstGeom>
          <a:noFill/>
        </p:spPr>
        <p:txBody>
          <a:bodyPr wrap="square">
            <a:spAutoFit/>
          </a:bodyPr>
          <a:lstStyle/>
          <a:p>
            <a:pPr algn="ctr"/>
            <a:r>
              <a:rPr sz="1600" b="0">
                <a:solidFill>
                  <a:srgbClr val="1A2337"/>
                </a:solidFill>
                <a:latin typeface="Calibri"/>
              </a:rPr>
              <a:t>You explored reading, speaking, grammar,
vocabulary, and pronunciation with courage and joy.</a:t>
            </a:r>
          </a:p>
        </p:txBody>
      </p:sp>
      <p:sp>
        <p:nvSpPr>
          <p:cNvPr id="10" name="TextBox 9"/>
          <p:cNvSpPr txBox="1"/>
          <p:nvPr/>
        </p:nvSpPr>
        <p:spPr>
          <a:xfrm>
            <a:off x="2286000" y="4206240"/>
            <a:ext cx="7589520" cy="365760"/>
          </a:xfrm>
          <a:prstGeom prst="rect">
            <a:avLst/>
          </a:prstGeom>
          <a:noFill/>
        </p:spPr>
        <p:txBody>
          <a:bodyPr wrap="square">
            <a:spAutoFit/>
          </a:bodyPr>
          <a:lstStyle/>
          <a:p>
            <a:pPr algn="ctr"/>
            <a:r>
              <a:rPr sz="1500" b="1">
                <a:solidFill>
                  <a:srgbClr val="FF7043"/>
                </a:solidFill>
                <a:latin typeface="Calibri"/>
              </a:rPr>
              <a:t>Keep shining — your English adventure has just begun!</a:t>
            </a:r>
          </a:p>
        </p:txBody>
      </p:sp>
      <p:sp>
        <p:nvSpPr>
          <p:cNvPr id="11" name="TextBox 10"/>
          <p:cNvSpPr txBox="1"/>
          <p:nvPr/>
        </p:nvSpPr>
        <p:spPr>
          <a:xfrm>
            <a:off x="2286000" y="4754880"/>
            <a:ext cx="7589520" cy="365760"/>
          </a:xfrm>
          <a:prstGeom prst="rect">
            <a:avLst/>
          </a:prstGeom>
          <a:noFill/>
        </p:spPr>
        <p:txBody>
          <a:bodyPr wrap="square">
            <a:spAutoFit/>
          </a:bodyPr>
          <a:lstStyle/>
          <a:p>
            <a:pPr algn="ctr"/>
            <a:r>
              <a:rPr sz="1300" b="0">
                <a:solidFill>
                  <a:srgbClr val="546E7A"/>
                </a:solidFill>
                <a:latin typeface="Calibri"/>
              </a:rPr>
              <a:t>Grade 5 English Demo Class</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ANSWER KEY A</a:t>
            </a:r>
          </a:p>
        </p:txBody>
      </p:sp>
      <p:sp>
        <p:nvSpPr>
          <p:cNvPr id="6" name="TextBox 5"/>
          <p:cNvSpPr txBox="1"/>
          <p:nvPr/>
        </p:nvSpPr>
        <p:spPr>
          <a:xfrm>
            <a:off x="365760" y="731520"/>
            <a:ext cx="10972800" cy="365760"/>
          </a:xfrm>
          <a:prstGeom prst="rect">
            <a:avLst/>
          </a:prstGeom>
          <a:noFill/>
        </p:spPr>
        <p:txBody>
          <a:bodyPr wrap="square">
            <a:spAutoFit/>
          </a:bodyPr>
          <a:lstStyle/>
          <a:p>
            <a:pPr algn="l"/>
            <a:r>
              <a:rPr sz="2400" b="1">
                <a:solidFill>
                  <a:srgbClr val="0B3D91"/>
                </a:solidFill>
                <a:latin typeface="Georgia"/>
              </a:rPr>
              <a:t>Answer Key — Reading &amp; Fun Quiz</a:t>
            </a:r>
          </a:p>
        </p:txBody>
      </p:sp>
      <p:sp>
        <p:nvSpPr>
          <p:cNvPr id="7" name="Rounded Rectangle 6"/>
          <p:cNvSpPr/>
          <p:nvPr/>
        </p:nvSpPr>
        <p:spPr>
          <a:xfrm>
            <a:off x="365760" y="1280160"/>
            <a:ext cx="566928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17320"/>
            <a:ext cx="5303520" cy="320040"/>
          </a:xfrm>
          <a:prstGeom prst="rect">
            <a:avLst/>
          </a:prstGeom>
          <a:noFill/>
        </p:spPr>
        <p:txBody>
          <a:bodyPr wrap="square">
            <a:spAutoFit/>
          </a:bodyPr>
          <a:lstStyle/>
          <a:p>
            <a:pPr algn="l"/>
            <a:r>
              <a:rPr sz="1600" b="1">
                <a:solidFill>
                  <a:srgbClr val="009688"/>
                </a:solidFill>
                <a:latin typeface="Calibri"/>
              </a:rPr>
              <a:t>Reading Questions</a:t>
            </a:r>
          </a:p>
        </p:txBody>
      </p:sp>
      <p:sp>
        <p:nvSpPr>
          <p:cNvPr id="9" name="TextBox 8"/>
          <p:cNvSpPr txBox="1"/>
          <p:nvPr/>
        </p:nvSpPr>
        <p:spPr>
          <a:xfrm>
            <a:off x="548640" y="1920240"/>
            <a:ext cx="5303520" cy="3840480"/>
          </a:xfrm>
          <a:prstGeom prst="rect">
            <a:avLst/>
          </a:prstGeom>
          <a:noFill/>
        </p:spPr>
        <p:txBody>
          <a:bodyPr wrap="square">
            <a:spAutoFit/>
          </a:bodyPr>
          <a:lstStyle/>
          <a:p>
            <a:pPr>
              <a:spcAft>
                <a:spcPts val="600"/>
              </a:spcAft>
            </a:pPr>
            <a:r>
              <a:rPr sz="1400" b="0">
                <a:solidFill>
                  <a:srgbClr val="1A2337"/>
                </a:solidFill>
                <a:latin typeface="Calibri"/>
              </a:rPr>
              <a:t>•  1. B) Maple Park</a:t>
            </a:r>
          </a:p>
          <a:p>
            <a:pPr>
              <a:spcAft>
                <a:spcPts val="600"/>
              </a:spcAft>
            </a:pPr>
            <a:r>
              <a:rPr sz="1400" b="0">
                <a:solidFill>
                  <a:srgbClr val="1A2337"/>
                </a:solidFill>
                <a:latin typeface="Calibri"/>
              </a:rPr>
              <a:t>•  2. C) Brown</a:t>
            </a:r>
          </a:p>
          <a:p>
            <a:pPr>
              <a:spcAft>
                <a:spcPts val="600"/>
              </a:spcAft>
            </a:pPr>
            <a:r>
              <a:rPr sz="1400" b="0">
                <a:solidFill>
                  <a:srgbClr val="1A2337"/>
                </a:solidFill>
                <a:latin typeface="Calibri"/>
              </a:rPr>
              <a:t>•  3. False (no name tag)</a:t>
            </a:r>
          </a:p>
          <a:p>
            <a:pPr>
              <a:spcAft>
                <a:spcPts val="600"/>
              </a:spcAft>
            </a:pPr>
            <a:r>
              <a:rPr sz="1400" b="0">
                <a:solidFill>
                  <a:srgbClr val="1A2337"/>
                </a:solidFill>
                <a:latin typeface="Calibri"/>
              </a:rPr>
              <a:t>•  4. True</a:t>
            </a:r>
          </a:p>
          <a:p>
            <a:pPr>
              <a:spcAft>
                <a:spcPts val="600"/>
              </a:spcAft>
            </a:pPr>
            <a:r>
              <a:rPr sz="1400" b="0">
                <a:solidFill>
                  <a:srgbClr val="1A2337"/>
                </a:solidFill>
                <a:latin typeface="Calibri"/>
              </a:rPr>
              <a:t>•  5. Her water bottle</a:t>
            </a:r>
          </a:p>
          <a:p>
            <a:pPr>
              <a:spcAft>
                <a:spcPts val="600"/>
              </a:spcAft>
            </a:pPr>
            <a:r>
              <a:rPr sz="1400" b="0">
                <a:solidFill>
                  <a:srgbClr val="1A2337"/>
                </a:solidFill>
                <a:latin typeface="Calibri"/>
              </a:rPr>
              <a:t>•  6. A lost-puppy poster on the board</a:t>
            </a:r>
          </a:p>
          <a:p>
            <a:pPr>
              <a:spcAft>
                <a:spcPts val="600"/>
              </a:spcAft>
            </a:pPr>
            <a:r>
              <a:rPr sz="1400" b="0">
                <a:solidFill>
                  <a:srgbClr val="1A2337"/>
                </a:solidFill>
                <a:latin typeface="Calibri"/>
              </a:rPr>
              <a:t>•  7. She helped Coco reunite with Ava / showed kindness</a:t>
            </a:r>
          </a:p>
          <a:p>
            <a:pPr>
              <a:spcAft>
                <a:spcPts val="600"/>
              </a:spcAft>
            </a:pPr>
            <a:r>
              <a:rPr sz="1400" b="0">
                <a:solidFill>
                  <a:srgbClr val="1A2337"/>
                </a:solidFill>
                <a:latin typeface="Calibri"/>
              </a:rPr>
              <a:t>•  8. B) Soft sad sound</a:t>
            </a:r>
          </a:p>
        </p:txBody>
      </p:sp>
      <p:sp>
        <p:nvSpPr>
          <p:cNvPr id="10" name="Rounded Rectangle 9"/>
          <p:cNvSpPr/>
          <p:nvPr/>
        </p:nvSpPr>
        <p:spPr>
          <a:xfrm>
            <a:off x="6309360" y="1280160"/>
            <a:ext cx="5486400" cy="46634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17320"/>
            <a:ext cx="5120640" cy="320040"/>
          </a:xfrm>
          <a:prstGeom prst="rect">
            <a:avLst/>
          </a:prstGeom>
          <a:noFill/>
        </p:spPr>
        <p:txBody>
          <a:bodyPr wrap="square">
            <a:spAutoFit/>
          </a:bodyPr>
          <a:lstStyle/>
          <a:p>
            <a:pPr algn="l"/>
            <a:r>
              <a:rPr sz="1600" b="1">
                <a:solidFill>
                  <a:srgbClr val="FFB300"/>
                </a:solidFill>
                <a:latin typeface="Calibri"/>
              </a:rPr>
              <a:t>Fun Quiz</a:t>
            </a:r>
          </a:p>
        </p:txBody>
      </p:sp>
      <p:sp>
        <p:nvSpPr>
          <p:cNvPr id="12" name="TextBox 11"/>
          <p:cNvSpPr txBox="1"/>
          <p:nvPr/>
        </p:nvSpPr>
        <p:spPr>
          <a:xfrm>
            <a:off x="6492240" y="1920240"/>
            <a:ext cx="5120640" cy="3840480"/>
          </a:xfrm>
          <a:prstGeom prst="rect">
            <a:avLst/>
          </a:prstGeom>
          <a:noFill/>
        </p:spPr>
        <p:txBody>
          <a:bodyPr wrap="square">
            <a:spAutoFit/>
          </a:bodyPr>
          <a:lstStyle/>
          <a:p>
            <a:pPr>
              <a:spcAft>
                <a:spcPts val="800"/>
              </a:spcAft>
            </a:pPr>
            <a:r>
              <a:rPr sz="1500" b="0">
                <a:solidFill>
                  <a:srgbClr val="1A2337"/>
                </a:solidFill>
                <a:latin typeface="Calibri"/>
              </a:rPr>
              <a:t>•  1. B Adverb</a:t>
            </a:r>
          </a:p>
          <a:p>
            <a:pPr>
              <a:spcAft>
                <a:spcPts val="800"/>
              </a:spcAft>
            </a:pPr>
            <a:r>
              <a:rPr sz="1500" b="0">
                <a:solidFill>
                  <a:srgbClr val="1A2337"/>
                </a:solidFill>
                <a:latin typeface="Calibri"/>
              </a:rPr>
              <a:t>•  2. B breeze</a:t>
            </a:r>
          </a:p>
          <a:p>
            <a:pPr>
              <a:spcAft>
                <a:spcPts val="800"/>
              </a:spcAft>
            </a:pPr>
            <a:r>
              <a:rPr sz="1500" b="0">
                <a:solidFill>
                  <a:srgbClr val="1A2337"/>
                </a:solidFill>
                <a:latin typeface="Calibri"/>
              </a:rPr>
              <a:t>•  3. C Coco</a:t>
            </a:r>
          </a:p>
          <a:p>
            <a:pPr>
              <a:spcAft>
                <a:spcPts val="800"/>
              </a:spcAft>
            </a:pPr>
            <a:r>
              <a:rPr sz="1500" b="0">
                <a:solidFill>
                  <a:srgbClr val="1A2337"/>
                </a:solidFill>
                <a:latin typeface="Calibri"/>
              </a:rPr>
              <a:t>•  4. B park</a:t>
            </a:r>
          </a:p>
          <a:p>
            <a:pPr>
              <a:spcAft>
                <a:spcPts val="800"/>
              </a:spcAft>
            </a:pPr>
            <a:r>
              <a:rPr sz="1500" b="0">
                <a:solidFill>
                  <a:srgbClr val="1A2337"/>
                </a:solidFill>
                <a:latin typeface="Calibri"/>
              </a:rPr>
              <a:t>•  5. A huge</a:t>
            </a:r>
          </a:p>
          <a:p>
            <a:pPr>
              <a:spcAft>
                <a:spcPts val="800"/>
              </a:spcAft>
            </a:pPr>
            <a:r>
              <a:rPr sz="1500" b="0">
                <a:solidFill>
                  <a:srgbClr val="1A2337"/>
                </a:solidFill>
                <a:latin typeface="Calibri"/>
              </a:rPr>
              <a:t>•  6. A poster</a:t>
            </a:r>
          </a:p>
          <a:p>
            <a:pPr>
              <a:spcAft>
                <a:spcPts val="800"/>
              </a:spcAft>
            </a:pPr>
            <a:r>
              <a:rPr sz="1500" b="0">
                <a:solidFill>
                  <a:srgbClr val="1A2337"/>
                </a:solidFill>
                <a:latin typeface="Calibri"/>
              </a:rPr>
              <a:t>•  7. B joyful</a:t>
            </a:r>
          </a:p>
          <a:p>
            <a:pPr>
              <a:spcAft>
                <a:spcPts val="800"/>
              </a:spcAft>
            </a:pPr>
            <a:r>
              <a:rPr sz="1500" b="0">
                <a:solidFill>
                  <a:srgbClr val="1A2337"/>
                </a:solidFill>
                <a:latin typeface="Calibri"/>
              </a:rPr>
              <a:t>•  8. B fly high</a:t>
            </a:r>
          </a:p>
        </p:txBody>
      </p:sp>
      <p:sp>
        <p:nvSpPr>
          <p:cNvPr id="13" name="Rectangle 12"/>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Keys</a:t>
            </a:r>
          </a:p>
        </p:txBody>
      </p:sp>
      <p:sp>
        <p:nvSpPr>
          <p:cNvPr id="15" name="TextBox 14"/>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23/25</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2560320" cy="329184"/>
          </a:xfrm>
          <a:prstGeom prst="roundRect">
            <a:avLst/>
          </a:prstGeom>
          <a:solidFill>
            <a:srgbClr val="FF7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2560320" cy="310896"/>
          </a:xfrm>
          <a:prstGeom prst="rect">
            <a:avLst/>
          </a:prstGeom>
          <a:noFill/>
        </p:spPr>
        <p:txBody>
          <a:bodyPr wrap="square">
            <a:spAutoFit/>
          </a:bodyPr>
          <a:lstStyle/>
          <a:p>
            <a:pPr algn="ctr"/>
            <a:r>
              <a:rPr sz="1200" b="1">
                <a:solidFill>
                  <a:srgbClr val="FFFFFF"/>
                </a:solidFill>
                <a:latin typeface="Calibri"/>
              </a:rPr>
              <a:t>ANSWER KEY B</a:t>
            </a:r>
          </a:p>
        </p:txBody>
      </p:sp>
      <p:sp>
        <p:nvSpPr>
          <p:cNvPr id="6" name="TextBox 5"/>
          <p:cNvSpPr txBox="1"/>
          <p:nvPr/>
        </p:nvSpPr>
        <p:spPr>
          <a:xfrm>
            <a:off x="365760" y="731520"/>
            <a:ext cx="10972800" cy="365760"/>
          </a:xfrm>
          <a:prstGeom prst="rect">
            <a:avLst/>
          </a:prstGeom>
          <a:noFill/>
        </p:spPr>
        <p:txBody>
          <a:bodyPr wrap="square">
            <a:spAutoFit/>
          </a:bodyPr>
          <a:lstStyle/>
          <a:p>
            <a:pPr algn="l"/>
            <a:r>
              <a:rPr sz="2400" b="1">
                <a:solidFill>
                  <a:srgbClr val="0B3D91"/>
                </a:solidFill>
                <a:latin typeface="Georgia"/>
              </a:rPr>
              <a:t>Answer Key — Grammar &amp; Vocabulary</a:t>
            </a:r>
          </a:p>
        </p:txBody>
      </p:sp>
      <p:sp>
        <p:nvSpPr>
          <p:cNvPr id="7" name="Rounded Rectangle 6"/>
          <p:cNvSpPr/>
          <p:nvPr/>
        </p:nvSpPr>
        <p:spPr>
          <a:xfrm>
            <a:off x="365760" y="1234440"/>
            <a:ext cx="566928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303520" cy="320040"/>
          </a:xfrm>
          <a:prstGeom prst="rect">
            <a:avLst/>
          </a:prstGeom>
          <a:noFill/>
        </p:spPr>
        <p:txBody>
          <a:bodyPr wrap="square">
            <a:spAutoFit/>
          </a:bodyPr>
          <a:lstStyle/>
          <a:p>
            <a:pPr algn="l"/>
            <a:r>
              <a:rPr sz="1600" b="1">
                <a:solidFill>
                  <a:srgbClr val="FF7043"/>
                </a:solidFill>
                <a:latin typeface="Calibri"/>
              </a:rPr>
              <a:t>Grammar Quiz (1–10)</a:t>
            </a:r>
          </a:p>
        </p:txBody>
      </p:sp>
      <p:sp>
        <p:nvSpPr>
          <p:cNvPr id="9" name="TextBox 8"/>
          <p:cNvSpPr txBox="1"/>
          <p:nvPr/>
        </p:nvSpPr>
        <p:spPr>
          <a:xfrm>
            <a:off x="548640" y="1874519"/>
            <a:ext cx="5303520" cy="3840480"/>
          </a:xfrm>
          <a:prstGeom prst="rect">
            <a:avLst/>
          </a:prstGeom>
          <a:noFill/>
        </p:spPr>
        <p:txBody>
          <a:bodyPr wrap="square">
            <a:spAutoFit/>
          </a:bodyPr>
          <a:lstStyle/>
          <a:p>
            <a:pPr>
              <a:spcAft>
                <a:spcPts val="800"/>
              </a:spcAft>
            </a:pPr>
            <a:r>
              <a:rPr sz="1400" b="0">
                <a:solidFill>
                  <a:srgbClr val="1A2337"/>
                </a:solidFill>
                <a:latin typeface="Calibri"/>
              </a:rPr>
              <a:t>•  1B Noun   2C Verb   3B Noun</a:t>
            </a:r>
          </a:p>
          <a:p>
            <a:pPr>
              <a:spcAft>
                <a:spcPts val="800"/>
              </a:spcAft>
            </a:pPr>
            <a:r>
              <a:rPr sz="1400" b="0">
                <a:solidFill>
                  <a:srgbClr val="1A2337"/>
                </a:solidFill>
                <a:latin typeface="Calibri"/>
              </a:rPr>
              <a:t>•  4A Adverb   5B muddy   6A Proper noun</a:t>
            </a:r>
          </a:p>
          <a:p>
            <a:pPr>
              <a:spcAft>
                <a:spcPts val="800"/>
              </a:spcAft>
            </a:pPr>
            <a:r>
              <a:rPr sz="1400" b="0">
                <a:solidFill>
                  <a:srgbClr val="1A2337"/>
                </a:solidFill>
                <a:latin typeface="Calibri"/>
              </a:rPr>
              <a:t>•  7B dialed   8A Adjective</a:t>
            </a:r>
          </a:p>
          <a:p>
            <a:pPr>
              <a:spcAft>
                <a:spcPts val="800"/>
              </a:spcAft>
            </a:pPr>
            <a:r>
              <a:rPr sz="1400" b="0">
                <a:solidFill>
                  <a:srgbClr val="1A2337"/>
                </a:solidFill>
                <a:latin typeface="Calibri"/>
              </a:rPr>
              <a:t>•  9B How   10A Noun</a:t>
            </a:r>
          </a:p>
          <a:p>
            <a:pPr>
              <a:spcAft>
                <a:spcPts val="800"/>
              </a:spcAft>
            </a:pPr>
            <a:r>
              <a:rPr sz="1400" b="0">
                <a:solidFill>
                  <a:srgbClr val="1A2337"/>
                </a:solidFill>
                <a:latin typeface="Calibri"/>
              </a:rPr>
              <a:t>•  </a:t>
            </a:r>
          </a:p>
          <a:p>
            <a:pPr>
              <a:spcAft>
                <a:spcPts val="800"/>
              </a:spcAft>
            </a:pPr>
            <a:r>
              <a:rPr sz="1400" b="0">
                <a:solidFill>
                  <a:srgbClr val="1A2337"/>
                </a:solidFill>
                <a:latin typeface="Calibri"/>
              </a:rPr>
              <a:t>•  Practice: walked | tiny/brown | birds | gently</a:t>
            </a:r>
          </a:p>
          <a:p>
            <a:pPr>
              <a:spcAft>
                <a:spcPts val="800"/>
              </a:spcAft>
            </a:pPr>
            <a:r>
              <a:rPr sz="1400" b="0">
                <a:solidFill>
                  <a:srgbClr val="1A2337"/>
                </a:solidFill>
                <a:latin typeface="Calibri"/>
              </a:rPr>
              <a:t>•  Happy(adj) Ava(n) quickly(adv) hugged(v) Coco(n)</a:t>
            </a:r>
          </a:p>
        </p:txBody>
      </p:sp>
      <p:sp>
        <p:nvSpPr>
          <p:cNvPr id="10" name="Rounded Rectangle 9"/>
          <p:cNvSpPr/>
          <p:nvPr/>
        </p:nvSpPr>
        <p:spPr>
          <a:xfrm>
            <a:off x="6309360" y="1234440"/>
            <a:ext cx="5486400" cy="47548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71600"/>
            <a:ext cx="5120640" cy="320040"/>
          </a:xfrm>
          <a:prstGeom prst="rect">
            <a:avLst/>
          </a:prstGeom>
          <a:noFill/>
        </p:spPr>
        <p:txBody>
          <a:bodyPr wrap="square">
            <a:spAutoFit/>
          </a:bodyPr>
          <a:lstStyle/>
          <a:p>
            <a:pPr algn="l"/>
            <a:r>
              <a:rPr sz="1600" b="1">
                <a:solidFill>
                  <a:srgbClr val="009688"/>
                </a:solidFill>
                <a:latin typeface="Calibri"/>
              </a:rPr>
              <a:t>Matching + Syn/Ant</a:t>
            </a:r>
          </a:p>
        </p:txBody>
      </p:sp>
      <p:sp>
        <p:nvSpPr>
          <p:cNvPr id="12" name="TextBox 11"/>
          <p:cNvSpPr txBox="1"/>
          <p:nvPr/>
        </p:nvSpPr>
        <p:spPr>
          <a:xfrm>
            <a:off x="6492240" y="1874519"/>
            <a:ext cx="5120640" cy="3840480"/>
          </a:xfrm>
          <a:prstGeom prst="rect">
            <a:avLst/>
          </a:prstGeom>
          <a:noFill/>
        </p:spPr>
        <p:txBody>
          <a:bodyPr wrap="square">
            <a:spAutoFit/>
          </a:bodyPr>
          <a:lstStyle/>
          <a:p>
            <a:pPr>
              <a:spcAft>
                <a:spcPts val="800"/>
              </a:spcAft>
            </a:pPr>
            <a:r>
              <a:rPr sz="1400" b="0">
                <a:solidFill>
                  <a:srgbClr val="1A2337"/>
                </a:solidFill>
                <a:latin typeface="Calibri"/>
              </a:rPr>
              <a:t>•  Matching: 1-B, 2-D, 3-A, 4-E, 5-F, 6-C</a:t>
            </a:r>
          </a:p>
          <a:p>
            <a:pPr>
              <a:spcAft>
                <a:spcPts val="800"/>
              </a:spcAft>
            </a:pPr>
            <a:r>
              <a:rPr sz="1400" b="0">
                <a:solidFill>
                  <a:srgbClr val="1A2337"/>
                </a:solidFill>
                <a:latin typeface="Calibri"/>
              </a:rPr>
              <a:t>•  </a:t>
            </a:r>
          </a:p>
          <a:p>
            <a:pPr>
              <a:spcAft>
                <a:spcPts val="800"/>
              </a:spcAft>
            </a:pPr>
            <a:r>
              <a:rPr sz="1400" b="0">
                <a:solidFill>
                  <a:srgbClr val="1A2337"/>
                </a:solidFill>
                <a:latin typeface="Calibri"/>
              </a:rPr>
              <a:t>•  Synonyms: big→large/huge/enormous</a:t>
            </a:r>
          </a:p>
          <a:p>
            <a:pPr>
              <a:spcAft>
                <a:spcPts val="800"/>
              </a:spcAft>
            </a:pPr>
            <a:r>
              <a:rPr sz="1400" b="0">
                <a:solidFill>
                  <a:srgbClr val="1A2337"/>
                </a:solidFill>
                <a:latin typeface="Calibri"/>
              </a:rPr>
              <a:t>•  Antonyms: kind→mean/unkind/cruel</a:t>
            </a:r>
          </a:p>
          <a:p>
            <a:pPr>
              <a:spcAft>
                <a:spcPts val="800"/>
              </a:spcAft>
            </a:pPr>
            <a:r>
              <a:rPr sz="1400" b="0">
                <a:solidFill>
                  <a:srgbClr val="1A2337"/>
                </a:solidFill>
                <a:latin typeface="Calibri"/>
              </a:rPr>
              <a:t>•  </a:t>
            </a:r>
          </a:p>
          <a:p>
            <a:pPr>
              <a:spcAft>
                <a:spcPts val="800"/>
              </a:spcAft>
            </a:pPr>
            <a:r>
              <a:rPr sz="1400" b="0">
                <a:solidFill>
                  <a:srgbClr val="1A2337"/>
                </a:solidFill>
                <a:latin typeface="Calibri"/>
              </a:rPr>
              <a:t>•  Tip: Accept reasonable Grade 5 synonyms.</a:t>
            </a:r>
          </a:p>
        </p:txBody>
      </p:sp>
      <p:sp>
        <p:nvSpPr>
          <p:cNvPr id="13" name="Rectangle 12"/>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Keys</a:t>
            </a:r>
          </a:p>
        </p:txBody>
      </p:sp>
      <p:sp>
        <p:nvSpPr>
          <p:cNvPr id="15" name="TextBox 14"/>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24/25</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56032"/>
            <a:ext cx="3017520" cy="329184"/>
          </a:xfrm>
          <a:prstGeom prst="round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65176"/>
            <a:ext cx="3017520" cy="310896"/>
          </a:xfrm>
          <a:prstGeom prst="rect">
            <a:avLst/>
          </a:prstGeom>
          <a:noFill/>
        </p:spPr>
        <p:txBody>
          <a:bodyPr wrap="square">
            <a:spAutoFit/>
          </a:bodyPr>
          <a:lstStyle/>
          <a:p>
            <a:pPr algn="ctr"/>
            <a:r>
              <a:rPr sz="1200" b="1">
                <a:solidFill>
                  <a:srgbClr val="FFFFFF"/>
                </a:solidFill>
                <a:latin typeface="Calibri"/>
              </a:rPr>
              <a:t>FACILITATOR MAP</a:t>
            </a:r>
          </a:p>
        </p:txBody>
      </p:sp>
      <p:sp>
        <p:nvSpPr>
          <p:cNvPr id="6" name="TextBox 5"/>
          <p:cNvSpPr txBox="1"/>
          <p:nvPr/>
        </p:nvSpPr>
        <p:spPr>
          <a:xfrm>
            <a:off x="365760" y="731520"/>
            <a:ext cx="10972800" cy="365760"/>
          </a:xfrm>
          <a:prstGeom prst="rect">
            <a:avLst/>
          </a:prstGeom>
          <a:noFill/>
        </p:spPr>
        <p:txBody>
          <a:bodyPr wrap="square">
            <a:spAutoFit/>
          </a:bodyPr>
          <a:lstStyle/>
          <a:p>
            <a:pPr algn="l"/>
            <a:r>
              <a:rPr sz="2600" b="1">
                <a:solidFill>
                  <a:srgbClr val="0B3D91"/>
                </a:solidFill>
                <a:latin typeface="Georgia"/>
              </a:rPr>
              <a:t>90-Minute Timing Guide ⏱️</a:t>
            </a:r>
          </a:p>
        </p:txBody>
      </p:sp>
      <p:sp>
        <p:nvSpPr>
          <p:cNvPr id="7" name="Rectangle 6"/>
          <p:cNvSpPr/>
          <p:nvPr/>
        </p:nvSpPr>
        <p:spPr>
          <a:xfrm>
            <a:off x="365760" y="1280160"/>
            <a:ext cx="11430000" cy="4572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2011680" cy="320040"/>
          </a:xfrm>
          <a:prstGeom prst="rect">
            <a:avLst/>
          </a:prstGeom>
          <a:noFill/>
        </p:spPr>
        <p:txBody>
          <a:bodyPr wrap="square">
            <a:spAutoFit/>
          </a:bodyPr>
          <a:lstStyle/>
          <a:p>
            <a:pPr algn="l"/>
            <a:r>
              <a:rPr sz="1300" b="1">
                <a:solidFill>
                  <a:srgbClr val="FFFFFF"/>
                </a:solidFill>
                <a:latin typeface="Calibri"/>
              </a:rPr>
              <a:t>Time</a:t>
            </a:r>
          </a:p>
        </p:txBody>
      </p:sp>
      <p:sp>
        <p:nvSpPr>
          <p:cNvPr id="9" name="TextBox 8"/>
          <p:cNvSpPr txBox="1"/>
          <p:nvPr/>
        </p:nvSpPr>
        <p:spPr>
          <a:xfrm>
            <a:off x="2743200" y="1371600"/>
            <a:ext cx="5943600" cy="320040"/>
          </a:xfrm>
          <a:prstGeom prst="rect">
            <a:avLst/>
          </a:prstGeom>
          <a:noFill/>
        </p:spPr>
        <p:txBody>
          <a:bodyPr wrap="square">
            <a:spAutoFit/>
          </a:bodyPr>
          <a:lstStyle/>
          <a:p>
            <a:pPr algn="l"/>
            <a:r>
              <a:rPr sz="1300" b="1">
                <a:solidFill>
                  <a:srgbClr val="FFFFFF"/>
                </a:solidFill>
                <a:latin typeface="Calibri"/>
              </a:rPr>
              <a:t>Block</a:t>
            </a:r>
          </a:p>
        </p:txBody>
      </p:sp>
      <p:sp>
        <p:nvSpPr>
          <p:cNvPr id="10" name="TextBox 9"/>
          <p:cNvSpPr txBox="1"/>
          <p:nvPr/>
        </p:nvSpPr>
        <p:spPr>
          <a:xfrm>
            <a:off x="8778240" y="1371600"/>
            <a:ext cx="2743200" cy="320040"/>
          </a:xfrm>
          <a:prstGeom prst="rect">
            <a:avLst/>
          </a:prstGeom>
          <a:noFill/>
        </p:spPr>
        <p:txBody>
          <a:bodyPr wrap="square">
            <a:spAutoFit/>
          </a:bodyPr>
          <a:lstStyle/>
          <a:p>
            <a:pPr algn="l"/>
            <a:r>
              <a:rPr sz="1300" b="1">
                <a:solidFill>
                  <a:srgbClr val="FFFFFF"/>
                </a:solidFill>
                <a:latin typeface="Calibri"/>
              </a:rPr>
              <a:t>Slides</a:t>
            </a:r>
          </a:p>
        </p:txBody>
      </p:sp>
      <p:sp>
        <p:nvSpPr>
          <p:cNvPr id="11" name="Rectangle 10"/>
          <p:cNvSpPr/>
          <p:nvPr/>
        </p:nvSpPr>
        <p:spPr>
          <a:xfrm>
            <a:off x="365760" y="1828800"/>
            <a:ext cx="114300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65960"/>
            <a:ext cx="2011680" cy="320040"/>
          </a:xfrm>
          <a:prstGeom prst="rect">
            <a:avLst/>
          </a:prstGeom>
          <a:noFill/>
        </p:spPr>
        <p:txBody>
          <a:bodyPr wrap="square">
            <a:spAutoFit/>
          </a:bodyPr>
          <a:lstStyle/>
          <a:p>
            <a:pPr algn="l"/>
            <a:r>
              <a:rPr sz="1300" b="1">
                <a:solidFill>
                  <a:srgbClr val="009688"/>
                </a:solidFill>
                <a:latin typeface="Calibri"/>
              </a:rPr>
              <a:t>0–10</a:t>
            </a:r>
          </a:p>
        </p:txBody>
      </p:sp>
      <p:sp>
        <p:nvSpPr>
          <p:cNvPr id="13" name="TextBox 12"/>
          <p:cNvSpPr txBox="1"/>
          <p:nvPr/>
        </p:nvSpPr>
        <p:spPr>
          <a:xfrm>
            <a:off x="2743200" y="1965960"/>
            <a:ext cx="5943600" cy="320040"/>
          </a:xfrm>
          <a:prstGeom prst="rect">
            <a:avLst/>
          </a:prstGeom>
          <a:noFill/>
        </p:spPr>
        <p:txBody>
          <a:bodyPr wrap="square">
            <a:spAutoFit/>
          </a:bodyPr>
          <a:lstStyle/>
          <a:p>
            <a:pPr algn="l"/>
            <a:r>
              <a:rPr sz="1300" b="0">
                <a:solidFill>
                  <a:srgbClr val="1A2337"/>
                </a:solidFill>
                <a:latin typeface="Calibri"/>
              </a:rPr>
              <a:t>Introduction + Warm-up talk</a:t>
            </a:r>
          </a:p>
        </p:txBody>
      </p:sp>
      <p:sp>
        <p:nvSpPr>
          <p:cNvPr id="14" name="TextBox 13"/>
          <p:cNvSpPr txBox="1"/>
          <p:nvPr/>
        </p:nvSpPr>
        <p:spPr>
          <a:xfrm>
            <a:off x="8778240" y="1965960"/>
            <a:ext cx="2743200" cy="320040"/>
          </a:xfrm>
          <a:prstGeom prst="rect">
            <a:avLst/>
          </a:prstGeom>
          <a:noFill/>
        </p:spPr>
        <p:txBody>
          <a:bodyPr wrap="square">
            <a:spAutoFit/>
          </a:bodyPr>
          <a:lstStyle/>
          <a:p>
            <a:pPr algn="l"/>
            <a:r>
              <a:rPr sz="1300" b="0">
                <a:solidFill>
                  <a:srgbClr val="546E7A"/>
                </a:solidFill>
                <a:latin typeface="Calibri"/>
              </a:rPr>
              <a:t>Slides 1–4</a:t>
            </a:r>
          </a:p>
        </p:txBody>
      </p:sp>
      <p:sp>
        <p:nvSpPr>
          <p:cNvPr id="15" name="Rectangle 14"/>
          <p:cNvSpPr/>
          <p:nvPr/>
        </p:nvSpPr>
        <p:spPr>
          <a:xfrm>
            <a:off x="365760" y="2423160"/>
            <a:ext cx="1143000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60320"/>
            <a:ext cx="2011680" cy="320040"/>
          </a:xfrm>
          <a:prstGeom prst="rect">
            <a:avLst/>
          </a:prstGeom>
          <a:noFill/>
        </p:spPr>
        <p:txBody>
          <a:bodyPr wrap="square">
            <a:spAutoFit/>
          </a:bodyPr>
          <a:lstStyle/>
          <a:p>
            <a:pPr algn="l"/>
            <a:r>
              <a:rPr sz="1300" b="1">
                <a:solidFill>
                  <a:srgbClr val="009688"/>
                </a:solidFill>
                <a:latin typeface="Calibri"/>
              </a:rPr>
              <a:t>10–20</a:t>
            </a:r>
          </a:p>
        </p:txBody>
      </p:sp>
      <p:sp>
        <p:nvSpPr>
          <p:cNvPr id="17" name="TextBox 16"/>
          <p:cNvSpPr txBox="1"/>
          <p:nvPr/>
        </p:nvSpPr>
        <p:spPr>
          <a:xfrm>
            <a:off x="2743200" y="2560320"/>
            <a:ext cx="5943600" cy="320040"/>
          </a:xfrm>
          <a:prstGeom prst="rect">
            <a:avLst/>
          </a:prstGeom>
          <a:noFill/>
        </p:spPr>
        <p:txBody>
          <a:bodyPr wrap="square">
            <a:spAutoFit/>
          </a:bodyPr>
          <a:lstStyle/>
          <a:p>
            <a:pPr algn="l"/>
            <a:r>
              <a:rPr sz="1300" b="0">
                <a:solidFill>
                  <a:srgbClr val="1A2337"/>
                </a:solidFill>
                <a:latin typeface="Calibri"/>
              </a:rPr>
              <a:t>Icebreaker: Would You Rather?</a:t>
            </a:r>
          </a:p>
        </p:txBody>
      </p:sp>
      <p:sp>
        <p:nvSpPr>
          <p:cNvPr id="18" name="TextBox 17"/>
          <p:cNvSpPr txBox="1"/>
          <p:nvPr/>
        </p:nvSpPr>
        <p:spPr>
          <a:xfrm>
            <a:off x="8778240" y="2560320"/>
            <a:ext cx="2743200" cy="320040"/>
          </a:xfrm>
          <a:prstGeom prst="rect">
            <a:avLst/>
          </a:prstGeom>
          <a:noFill/>
        </p:spPr>
        <p:txBody>
          <a:bodyPr wrap="square">
            <a:spAutoFit/>
          </a:bodyPr>
          <a:lstStyle/>
          <a:p>
            <a:pPr algn="l"/>
            <a:r>
              <a:rPr sz="1300" b="0">
                <a:solidFill>
                  <a:srgbClr val="546E7A"/>
                </a:solidFill>
                <a:latin typeface="Calibri"/>
              </a:rPr>
              <a:t>Slide 3 (extend)</a:t>
            </a:r>
          </a:p>
        </p:txBody>
      </p:sp>
      <p:sp>
        <p:nvSpPr>
          <p:cNvPr id="19" name="Rectangle 18"/>
          <p:cNvSpPr/>
          <p:nvPr/>
        </p:nvSpPr>
        <p:spPr>
          <a:xfrm>
            <a:off x="365760" y="3017520"/>
            <a:ext cx="114300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54680"/>
            <a:ext cx="2011680" cy="320040"/>
          </a:xfrm>
          <a:prstGeom prst="rect">
            <a:avLst/>
          </a:prstGeom>
          <a:noFill/>
        </p:spPr>
        <p:txBody>
          <a:bodyPr wrap="square">
            <a:spAutoFit/>
          </a:bodyPr>
          <a:lstStyle/>
          <a:p>
            <a:pPr algn="l"/>
            <a:r>
              <a:rPr sz="1300" b="1">
                <a:solidFill>
                  <a:srgbClr val="009688"/>
                </a:solidFill>
                <a:latin typeface="Calibri"/>
              </a:rPr>
              <a:t>20–40</a:t>
            </a:r>
          </a:p>
        </p:txBody>
      </p:sp>
      <p:sp>
        <p:nvSpPr>
          <p:cNvPr id="21" name="TextBox 20"/>
          <p:cNvSpPr txBox="1"/>
          <p:nvPr/>
        </p:nvSpPr>
        <p:spPr>
          <a:xfrm>
            <a:off x="2743200" y="3154680"/>
            <a:ext cx="5943600" cy="320040"/>
          </a:xfrm>
          <a:prstGeom prst="rect">
            <a:avLst/>
          </a:prstGeom>
          <a:noFill/>
        </p:spPr>
        <p:txBody>
          <a:bodyPr wrap="square">
            <a:spAutoFit/>
          </a:bodyPr>
          <a:lstStyle/>
          <a:p>
            <a:pPr algn="l"/>
            <a:r>
              <a:rPr sz="1300" b="0">
                <a:solidFill>
                  <a:srgbClr val="1A2337"/>
                </a:solidFill>
                <a:latin typeface="Calibri"/>
              </a:rPr>
              <a:t>Reading passage + questions + retell</a:t>
            </a:r>
          </a:p>
        </p:txBody>
      </p:sp>
      <p:sp>
        <p:nvSpPr>
          <p:cNvPr id="22" name="TextBox 21"/>
          <p:cNvSpPr txBox="1"/>
          <p:nvPr/>
        </p:nvSpPr>
        <p:spPr>
          <a:xfrm>
            <a:off x="8778240" y="3154680"/>
            <a:ext cx="2743200" cy="320040"/>
          </a:xfrm>
          <a:prstGeom prst="rect">
            <a:avLst/>
          </a:prstGeom>
          <a:noFill/>
        </p:spPr>
        <p:txBody>
          <a:bodyPr wrap="square">
            <a:spAutoFit/>
          </a:bodyPr>
          <a:lstStyle/>
          <a:p>
            <a:pPr algn="l"/>
            <a:r>
              <a:rPr sz="1300" b="0">
                <a:solidFill>
                  <a:srgbClr val="546E7A"/>
                </a:solidFill>
                <a:latin typeface="Calibri"/>
              </a:rPr>
              <a:t>Slides 5–7</a:t>
            </a:r>
          </a:p>
        </p:txBody>
      </p:sp>
      <p:sp>
        <p:nvSpPr>
          <p:cNvPr id="23" name="Rectangle 22"/>
          <p:cNvSpPr/>
          <p:nvPr/>
        </p:nvSpPr>
        <p:spPr>
          <a:xfrm>
            <a:off x="365760" y="3611880"/>
            <a:ext cx="1143000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49040"/>
            <a:ext cx="2011680" cy="320040"/>
          </a:xfrm>
          <a:prstGeom prst="rect">
            <a:avLst/>
          </a:prstGeom>
          <a:noFill/>
        </p:spPr>
        <p:txBody>
          <a:bodyPr wrap="square">
            <a:spAutoFit/>
          </a:bodyPr>
          <a:lstStyle/>
          <a:p>
            <a:pPr algn="l"/>
            <a:r>
              <a:rPr sz="1300" b="1">
                <a:solidFill>
                  <a:srgbClr val="009688"/>
                </a:solidFill>
                <a:latin typeface="Calibri"/>
              </a:rPr>
              <a:t>40–60</a:t>
            </a:r>
          </a:p>
        </p:txBody>
      </p:sp>
      <p:sp>
        <p:nvSpPr>
          <p:cNvPr id="25" name="TextBox 24"/>
          <p:cNvSpPr txBox="1"/>
          <p:nvPr/>
        </p:nvSpPr>
        <p:spPr>
          <a:xfrm>
            <a:off x="2743200" y="3749040"/>
            <a:ext cx="5943600" cy="320040"/>
          </a:xfrm>
          <a:prstGeom prst="rect">
            <a:avLst/>
          </a:prstGeom>
          <a:noFill/>
        </p:spPr>
        <p:txBody>
          <a:bodyPr wrap="square">
            <a:spAutoFit/>
          </a:bodyPr>
          <a:lstStyle/>
          <a:p>
            <a:pPr algn="l"/>
            <a:r>
              <a:rPr sz="1300" b="0">
                <a:solidFill>
                  <a:srgbClr val="1A2337"/>
                </a:solidFill>
                <a:latin typeface="Calibri"/>
              </a:rPr>
              <a:t>Grammar teach + practice + quiz</a:t>
            </a:r>
          </a:p>
        </p:txBody>
      </p:sp>
      <p:sp>
        <p:nvSpPr>
          <p:cNvPr id="26" name="TextBox 25"/>
          <p:cNvSpPr txBox="1"/>
          <p:nvPr/>
        </p:nvSpPr>
        <p:spPr>
          <a:xfrm>
            <a:off x="8778240" y="3749040"/>
            <a:ext cx="2743200" cy="320040"/>
          </a:xfrm>
          <a:prstGeom prst="rect">
            <a:avLst/>
          </a:prstGeom>
          <a:noFill/>
        </p:spPr>
        <p:txBody>
          <a:bodyPr wrap="square">
            <a:spAutoFit/>
          </a:bodyPr>
          <a:lstStyle/>
          <a:p>
            <a:pPr algn="l"/>
            <a:r>
              <a:rPr sz="1300" b="0">
                <a:solidFill>
                  <a:srgbClr val="546E7A"/>
                </a:solidFill>
                <a:latin typeface="Calibri"/>
              </a:rPr>
              <a:t>Slides 8–10</a:t>
            </a:r>
          </a:p>
        </p:txBody>
      </p:sp>
      <p:sp>
        <p:nvSpPr>
          <p:cNvPr id="27" name="Rectangle 26"/>
          <p:cNvSpPr/>
          <p:nvPr/>
        </p:nvSpPr>
        <p:spPr>
          <a:xfrm>
            <a:off x="365760" y="4206240"/>
            <a:ext cx="114300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43400"/>
            <a:ext cx="2011680" cy="320040"/>
          </a:xfrm>
          <a:prstGeom prst="rect">
            <a:avLst/>
          </a:prstGeom>
          <a:noFill/>
        </p:spPr>
        <p:txBody>
          <a:bodyPr wrap="square">
            <a:spAutoFit/>
          </a:bodyPr>
          <a:lstStyle/>
          <a:p>
            <a:pPr algn="l"/>
            <a:r>
              <a:rPr sz="1300" b="1">
                <a:solidFill>
                  <a:srgbClr val="009688"/>
                </a:solidFill>
                <a:latin typeface="Calibri"/>
              </a:rPr>
              <a:t>60–75</a:t>
            </a:r>
          </a:p>
        </p:txBody>
      </p:sp>
      <p:sp>
        <p:nvSpPr>
          <p:cNvPr id="29" name="TextBox 28"/>
          <p:cNvSpPr txBox="1"/>
          <p:nvPr/>
        </p:nvSpPr>
        <p:spPr>
          <a:xfrm>
            <a:off x="2743200" y="4343400"/>
            <a:ext cx="5943600" cy="320040"/>
          </a:xfrm>
          <a:prstGeom prst="rect">
            <a:avLst/>
          </a:prstGeom>
          <a:noFill/>
        </p:spPr>
        <p:txBody>
          <a:bodyPr wrap="square">
            <a:spAutoFit/>
          </a:bodyPr>
          <a:lstStyle/>
          <a:p>
            <a:pPr algn="l"/>
            <a:r>
              <a:rPr sz="1300" b="0">
                <a:solidFill>
                  <a:srgbClr val="1A2337"/>
                </a:solidFill>
                <a:latin typeface="Calibri"/>
              </a:rPr>
              <a:t>Vocabulary + matching + syn/ant</a:t>
            </a:r>
          </a:p>
        </p:txBody>
      </p:sp>
      <p:sp>
        <p:nvSpPr>
          <p:cNvPr id="30" name="TextBox 29"/>
          <p:cNvSpPr txBox="1"/>
          <p:nvPr/>
        </p:nvSpPr>
        <p:spPr>
          <a:xfrm>
            <a:off x="8778240" y="4343400"/>
            <a:ext cx="2743200" cy="320040"/>
          </a:xfrm>
          <a:prstGeom prst="rect">
            <a:avLst/>
          </a:prstGeom>
          <a:noFill/>
        </p:spPr>
        <p:txBody>
          <a:bodyPr wrap="square">
            <a:spAutoFit/>
          </a:bodyPr>
          <a:lstStyle/>
          <a:p>
            <a:pPr algn="l"/>
            <a:r>
              <a:rPr sz="1300" b="0">
                <a:solidFill>
                  <a:srgbClr val="546E7A"/>
                </a:solidFill>
                <a:latin typeface="Calibri"/>
              </a:rPr>
              <a:t>Slides 11–13</a:t>
            </a:r>
          </a:p>
        </p:txBody>
      </p:sp>
      <p:sp>
        <p:nvSpPr>
          <p:cNvPr id="31" name="Rectangle 30"/>
          <p:cNvSpPr/>
          <p:nvPr/>
        </p:nvSpPr>
        <p:spPr>
          <a:xfrm>
            <a:off x="365760" y="4800600"/>
            <a:ext cx="1143000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937760"/>
            <a:ext cx="2011680" cy="320040"/>
          </a:xfrm>
          <a:prstGeom prst="rect">
            <a:avLst/>
          </a:prstGeom>
          <a:noFill/>
        </p:spPr>
        <p:txBody>
          <a:bodyPr wrap="square">
            <a:spAutoFit/>
          </a:bodyPr>
          <a:lstStyle/>
          <a:p>
            <a:pPr algn="l"/>
            <a:r>
              <a:rPr sz="1300" b="1">
                <a:solidFill>
                  <a:srgbClr val="009688"/>
                </a:solidFill>
                <a:latin typeface="Calibri"/>
              </a:rPr>
              <a:t>75–85</a:t>
            </a:r>
          </a:p>
        </p:txBody>
      </p:sp>
      <p:sp>
        <p:nvSpPr>
          <p:cNvPr id="33" name="TextBox 32"/>
          <p:cNvSpPr txBox="1"/>
          <p:nvPr/>
        </p:nvSpPr>
        <p:spPr>
          <a:xfrm>
            <a:off x="2743200" y="4937760"/>
            <a:ext cx="5943600" cy="320040"/>
          </a:xfrm>
          <a:prstGeom prst="rect">
            <a:avLst/>
          </a:prstGeom>
          <a:noFill/>
        </p:spPr>
        <p:txBody>
          <a:bodyPr wrap="square">
            <a:spAutoFit/>
          </a:bodyPr>
          <a:lstStyle/>
          <a:p>
            <a:pPr algn="l"/>
            <a:r>
              <a:rPr sz="1300" b="0">
                <a:solidFill>
                  <a:srgbClr val="1A2337"/>
                </a:solidFill>
                <a:latin typeface="Calibri"/>
              </a:rPr>
              <a:t>Storytelling + describe + role play</a:t>
            </a:r>
          </a:p>
        </p:txBody>
      </p:sp>
      <p:sp>
        <p:nvSpPr>
          <p:cNvPr id="34" name="TextBox 33"/>
          <p:cNvSpPr txBox="1"/>
          <p:nvPr/>
        </p:nvSpPr>
        <p:spPr>
          <a:xfrm>
            <a:off x="8778240" y="4937760"/>
            <a:ext cx="2743200" cy="320040"/>
          </a:xfrm>
          <a:prstGeom prst="rect">
            <a:avLst/>
          </a:prstGeom>
          <a:noFill/>
        </p:spPr>
        <p:txBody>
          <a:bodyPr wrap="square">
            <a:spAutoFit/>
          </a:bodyPr>
          <a:lstStyle/>
          <a:p>
            <a:pPr algn="l"/>
            <a:r>
              <a:rPr sz="1300" b="0">
                <a:solidFill>
                  <a:srgbClr val="546E7A"/>
                </a:solidFill>
                <a:latin typeface="Calibri"/>
              </a:rPr>
              <a:t>Slides 14–16</a:t>
            </a:r>
          </a:p>
        </p:txBody>
      </p:sp>
      <p:sp>
        <p:nvSpPr>
          <p:cNvPr id="35" name="Rectangle 34"/>
          <p:cNvSpPr/>
          <p:nvPr/>
        </p:nvSpPr>
        <p:spPr>
          <a:xfrm>
            <a:off x="365760" y="5394960"/>
            <a:ext cx="114300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532120"/>
            <a:ext cx="2011680" cy="320040"/>
          </a:xfrm>
          <a:prstGeom prst="rect">
            <a:avLst/>
          </a:prstGeom>
          <a:noFill/>
        </p:spPr>
        <p:txBody>
          <a:bodyPr wrap="square">
            <a:spAutoFit/>
          </a:bodyPr>
          <a:lstStyle/>
          <a:p>
            <a:pPr algn="l"/>
            <a:r>
              <a:rPr sz="1300" b="1">
                <a:solidFill>
                  <a:srgbClr val="009688"/>
                </a:solidFill>
                <a:latin typeface="Calibri"/>
              </a:rPr>
              <a:t>85–90</a:t>
            </a:r>
          </a:p>
        </p:txBody>
      </p:sp>
      <p:sp>
        <p:nvSpPr>
          <p:cNvPr id="37" name="TextBox 36"/>
          <p:cNvSpPr txBox="1"/>
          <p:nvPr/>
        </p:nvSpPr>
        <p:spPr>
          <a:xfrm>
            <a:off x="2743200" y="5532120"/>
            <a:ext cx="5943600" cy="320040"/>
          </a:xfrm>
          <a:prstGeom prst="rect">
            <a:avLst/>
          </a:prstGeom>
          <a:noFill/>
        </p:spPr>
        <p:txBody>
          <a:bodyPr wrap="square">
            <a:spAutoFit/>
          </a:bodyPr>
          <a:lstStyle/>
          <a:p>
            <a:pPr algn="l"/>
            <a:r>
              <a:rPr sz="1300" b="0">
                <a:solidFill>
                  <a:srgbClr val="1A2337"/>
                </a:solidFill>
                <a:latin typeface="Calibri"/>
              </a:rPr>
              <a:t>Recap + homework + celebrate</a:t>
            </a:r>
          </a:p>
        </p:txBody>
      </p:sp>
      <p:sp>
        <p:nvSpPr>
          <p:cNvPr id="38" name="TextBox 37"/>
          <p:cNvSpPr txBox="1"/>
          <p:nvPr/>
        </p:nvSpPr>
        <p:spPr>
          <a:xfrm>
            <a:off x="8778240" y="5532120"/>
            <a:ext cx="2743200" cy="320040"/>
          </a:xfrm>
          <a:prstGeom prst="rect">
            <a:avLst/>
          </a:prstGeom>
          <a:noFill/>
        </p:spPr>
        <p:txBody>
          <a:bodyPr wrap="square">
            <a:spAutoFit/>
          </a:bodyPr>
          <a:lstStyle/>
          <a:p>
            <a:pPr algn="l"/>
            <a:r>
              <a:rPr sz="1300" b="0">
                <a:solidFill>
                  <a:srgbClr val="546E7A"/>
                </a:solidFill>
                <a:latin typeface="Calibri"/>
              </a:rPr>
              <a:t>Slides 20–22</a:t>
            </a:r>
          </a:p>
        </p:txBody>
      </p:sp>
      <p:sp>
        <p:nvSpPr>
          <p:cNvPr id="39" name="Rectangle 38"/>
          <p:cNvSpPr/>
          <p:nvPr/>
        </p:nvSpPr>
        <p:spPr>
          <a:xfrm>
            <a:off x="0" y="6537960"/>
            <a:ext cx="12191695" cy="320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65392"/>
            <a:ext cx="10241280" cy="274320"/>
          </a:xfrm>
          <a:prstGeom prst="rect">
            <a:avLst/>
          </a:prstGeom>
          <a:noFill/>
        </p:spPr>
        <p:txBody>
          <a:bodyPr wrap="square">
            <a:spAutoFit/>
          </a:bodyPr>
          <a:lstStyle/>
          <a:p>
            <a:pPr algn="l"/>
            <a:r>
              <a:rPr sz="1100" b="0">
                <a:solidFill>
                  <a:srgbClr val="FFFFFF"/>
                </a:solidFill>
                <a:latin typeface="Calibri"/>
              </a:rPr>
              <a:t>Grade 5 English Demo  |  Sage  |  90 Minutes  |  Teacher</a:t>
            </a:r>
          </a:p>
        </p:txBody>
      </p:sp>
      <p:sp>
        <p:nvSpPr>
          <p:cNvPr id="41" name="TextBox 4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25/25</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