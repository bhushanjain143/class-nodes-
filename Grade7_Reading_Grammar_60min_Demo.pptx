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91695" cy="155448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515600" cy="365760"/>
          </a:xfrm>
          <a:prstGeom prst="rect">
            <a:avLst/>
          </a:prstGeom>
          <a:noFill/>
        </p:spPr>
        <p:txBody>
          <a:bodyPr wrap="square">
            <a:spAutoFit/>
          </a:bodyPr>
          <a:lstStyle/>
          <a:p>
            <a:pPr algn="l"/>
            <a:r>
              <a:rPr sz="1600" b="1">
                <a:solidFill>
                  <a:srgbClr val="E9A825"/>
                </a:solidFill>
                <a:latin typeface="Calibri"/>
              </a:rPr>
              <a:t>60-MINUTE DEMO SESSION</a:t>
            </a:r>
          </a:p>
        </p:txBody>
      </p:sp>
      <p:sp>
        <p:nvSpPr>
          <p:cNvPr id="5" name="TextBox 4"/>
          <p:cNvSpPr txBox="1"/>
          <p:nvPr/>
        </p:nvSpPr>
        <p:spPr>
          <a:xfrm>
            <a:off x="731520" y="1828800"/>
            <a:ext cx="10515600" cy="1097280"/>
          </a:xfrm>
          <a:prstGeom prst="rect">
            <a:avLst/>
          </a:prstGeom>
          <a:noFill/>
        </p:spPr>
        <p:txBody>
          <a:bodyPr wrap="square">
            <a:spAutoFit/>
          </a:bodyPr>
          <a:lstStyle/>
          <a:p>
            <a:pPr algn="l"/>
            <a:r>
              <a:rPr sz="4400" b="1">
                <a:solidFill>
                  <a:srgbClr val="FFFFFF"/>
                </a:solidFill>
                <a:latin typeface="Georgia"/>
              </a:rPr>
              <a:t>Reading Content &amp;
Grammar Boost</a:t>
            </a:r>
          </a:p>
        </p:txBody>
      </p:sp>
      <p:sp>
        <p:nvSpPr>
          <p:cNvPr id="6" name="TextBox 5"/>
          <p:cNvSpPr txBox="1"/>
          <p:nvPr/>
        </p:nvSpPr>
        <p:spPr>
          <a:xfrm>
            <a:off x="731520" y="4023360"/>
            <a:ext cx="10515600" cy="365760"/>
          </a:xfrm>
          <a:prstGeom prst="rect">
            <a:avLst/>
          </a:prstGeom>
          <a:noFill/>
        </p:spPr>
        <p:txBody>
          <a:bodyPr wrap="square">
            <a:spAutoFit/>
          </a:bodyPr>
          <a:lstStyle/>
          <a:p>
            <a:pPr algn="l"/>
            <a:r>
              <a:rPr sz="1800" b="0">
                <a:solidFill>
                  <a:srgbClr val="C5D4E8"/>
                </a:solidFill>
                <a:latin typeface="Calibri"/>
              </a:rPr>
              <a:t>Grade 7  •  U.S. Curriculum  •  Lessons + Games</a:t>
            </a:r>
          </a:p>
        </p:txBody>
      </p:sp>
      <p:sp>
        <p:nvSpPr>
          <p:cNvPr id="7" name="TextBox 6"/>
          <p:cNvSpPr txBox="1"/>
          <p:nvPr/>
        </p:nvSpPr>
        <p:spPr>
          <a:xfrm>
            <a:off x="731520" y="5623560"/>
            <a:ext cx="10515600" cy="365760"/>
          </a:xfrm>
          <a:prstGeom prst="rect">
            <a:avLst/>
          </a:prstGeom>
          <a:noFill/>
        </p:spPr>
        <p:txBody>
          <a:bodyPr wrap="square">
            <a:spAutoFit/>
          </a:bodyPr>
          <a:lstStyle/>
          <a:p>
            <a:pPr algn="l"/>
            <a:r>
              <a:rPr sz="1500" b="0">
                <a:solidFill>
                  <a:srgbClr val="FFFFFF"/>
                </a:solidFill>
                <a:latin typeface="Calibri"/>
              </a:rPr>
              <a:t>For students who are good at English and ready to level up reading + grammar</a:t>
            </a:r>
          </a:p>
        </p:txBody>
      </p:sp>
      <p:sp>
        <p:nvSpPr>
          <p:cNvPr id="8" name="TextBox 7"/>
          <p:cNvSpPr txBox="1"/>
          <p:nvPr/>
        </p:nvSpPr>
        <p:spPr>
          <a:xfrm>
            <a:off x="731520" y="6080760"/>
            <a:ext cx="10515600" cy="320040"/>
          </a:xfrm>
          <a:prstGeom prst="rect">
            <a:avLst/>
          </a:prstGeom>
          <a:noFill/>
        </p:spPr>
        <p:txBody>
          <a:bodyPr wrap="square">
            <a:spAutoFit/>
          </a:bodyPr>
          <a:lstStyle/>
          <a:p>
            <a:pPr algn="l"/>
            <a:r>
              <a:rPr sz="1400" b="0">
                <a:solidFill>
                  <a:srgbClr val="E0F2EF"/>
                </a:solidFill>
                <a:latin typeface="Calibri"/>
              </a:rPr>
              <a:t>Learn  •  Play  •  Practice  •  Grow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SESSION ROADMAP</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Total: 60 min</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3000" b="1">
                <a:solidFill>
                  <a:srgbClr val="1B3A5F"/>
                </a:solidFill>
                <a:latin typeface="Georgia"/>
              </a:rPr>
              <a:t>Today’s Game Plan</a:t>
            </a:r>
          </a:p>
        </p:txBody>
      </p:sp>
      <p:sp>
        <p:nvSpPr>
          <p:cNvPr id="9" name="Rounded Rectangle 8"/>
          <p:cNvSpPr/>
          <p:nvPr/>
        </p:nvSpPr>
        <p:spPr>
          <a:xfrm>
            <a:off x="365760" y="155448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554480"/>
            <a:ext cx="2743200"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645920"/>
            <a:ext cx="2743200" cy="365760"/>
          </a:xfrm>
          <a:prstGeom prst="rect">
            <a:avLst/>
          </a:prstGeom>
          <a:noFill/>
        </p:spPr>
        <p:txBody>
          <a:bodyPr wrap="square">
            <a:spAutoFit/>
          </a:bodyPr>
          <a:lstStyle/>
          <a:p>
            <a:pPr algn="ctr"/>
            <a:r>
              <a:rPr sz="1300" b="1">
                <a:solidFill>
                  <a:srgbClr val="FFFFFF"/>
                </a:solidFill>
                <a:latin typeface="Calibri"/>
              </a:rPr>
              <a:t>04 min</a:t>
            </a:r>
          </a:p>
        </p:txBody>
      </p:sp>
      <p:sp>
        <p:nvSpPr>
          <p:cNvPr id="12" name="TextBox 11"/>
          <p:cNvSpPr txBox="1"/>
          <p:nvPr/>
        </p:nvSpPr>
        <p:spPr>
          <a:xfrm>
            <a:off x="502920" y="2240280"/>
            <a:ext cx="2468880" cy="548640"/>
          </a:xfrm>
          <a:prstGeom prst="rect">
            <a:avLst/>
          </a:prstGeom>
          <a:noFill/>
        </p:spPr>
        <p:txBody>
          <a:bodyPr wrap="square">
            <a:spAutoFit/>
          </a:bodyPr>
          <a:lstStyle/>
          <a:p>
            <a:pPr algn="ctr"/>
            <a:r>
              <a:rPr sz="1600" b="1">
                <a:solidFill>
                  <a:srgbClr val="1B3A5F"/>
                </a:solidFill>
                <a:latin typeface="Calibri"/>
              </a:rPr>
              <a:t>Warm-Up Spark</a:t>
            </a:r>
          </a:p>
        </p:txBody>
      </p:sp>
      <p:sp>
        <p:nvSpPr>
          <p:cNvPr id="13" name="TextBox 12"/>
          <p:cNvSpPr txBox="1"/>
          <p:nvPr/>
        </p:nvSpPr>
        <p:spPr>
          <a:xfrm>
            <a:off x="502920" y="2834640"/>
            <a:ext cx="2468880" cy="548640"/>
          </a:xfrm>
          <a:prstGeom prst="rect">
            <a:avLst/>
          </a:prstGeom>
          <a:noFill/>
        </p:spPr>
        <p:txBody>
          <a:bodyPr wrap="square">
            <a:spAutoFit/>
          </a:bodyPr>
          <a:lstStyle/>
          <a:p>
            <a:pPr algn="ctr"/>
            <a:r>
              <a:rPr sz="1300" b="0">
                <a:solidFill>
                  <a:srgbClr val="6B7280"/>
                </a:solidFill>
                <a:latin typeface="Calibri"/>
              </a:rPr>
              <a:t>Quick brain switch-on</a:t>
            </a:r>
          </a:p>
        </p:txBody>
      </p:sp>
      <p:sp>
        <p:nvSpPr>
          <p:cNvPr id="14" name="Rounded Rectangle 13"/>
          <p:cNvSpPr/>
          <p:nvPr/>
        </p:nvSpPr>
        <p:spPr>
          <a:xfrm>
            <a:off x="3291840" y="155448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554480"/>
            <a:ext cx="2743200" cy="50292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0" y="1645920"/>
            <a:ext cx="2743200" cy="365760"/>
          </a:xfrm>
          <a:prstGeom prst="rect">
            <a:avLst/>
          </a:prstGeom>
          <a:noFill/>
        </p:spPr>
        <p:txBody>
          <a:bodyPr wrap="square">
            <a:spAutoFit/>
          </a:bodyPr>
          <a:lstStyle/>
          <a:p>
            <a:pPr algn="ctr"/>
            <a:r>
              <a:rPr sz="1300" b="1">
                <a:solidFill>
                  <a:srgbClr val="FFFFFF"/>
                </a:solidFill>
                <a:latin typeface="Calibri"/>
              </a:rPr>
              <a:t>GAME</a:t>
            </a:r>
          </a:p>
        </p:txBody>
      </p:sp>
      <p:sp>
        <p:nvSpPr>
          <p:cNvPr id="17" name="TextBox 16"/>
          <p:cNvSpPr txBox="1"/>
          <p:nvPr/>
        </p:nvSpPr>
        <p:spPr>
          <a:xfrm>
            <a:off x="3429000" y="2240280"/>
            <a:ext cx="2468880" cy="548640"/>
          </a:xfrm>
          <a:prstGeom prst="rect">
            <a:avLst/>
          </a:prstGeom>
          <a:noFill/>
        </p:spPr>
        <p:txBody>
          <a:bodyPr wrap="square">
            <a:spAutoFit/>
          </a:bodyPr>
          <a:lstStyle/>
          <a:p>
            <a:pPr algn="ctr"/>
            <a:r>
              <a:rPr sz="1600" b="1">
                <a:solidFill>
                  <a:srgbClr val="1B3A5F"/>
                </a:solidFill>
                <a:latin typeface="Calibri"/>
              </a:rPr>
              <a:t>GAME 1</a:t>
            </a:r>
          </a:p>
        </p:txBody>
      </p:sp>
      <p:sp>
        <p:nvSpPr>
          <p:cNvPr id="18" name="TextBox 17"/>
          <p:cNvSpPr txBox="1"/>
          <p:nvPr/>
        </p:nvSpPr>
        <p:spPr>
          <a:xfrm>
            <a:off x="3429000" y="2834640"/>
            <a:ext cx="2468880" cy="548640"/>
          </a:xfrm>
          <a:prstGeom prst="rect">
            <a:avLst/>
          </a:prstGeom>
          <a:noFill/>
        </p:spPr>
        <p:txBody>
          <a:bodyPr wrap="square">
            <a:spAutoFit/>
          </a:bodyPr>
          <a:lstStyle/>
          <a:p>
            <a:pPr algn="ctr"/>
            <a:r>
              <a:rPr sz="1300" b="0">
                <a:solidFill>
                  <a:srgbClr val="6B7280"/>
                </a:solidFill>
                <a:latin typeface="Calibri"/>
              </a:rPr>
              <a:t>Grammar Detective</a:t>
            </a:r>
          </a:p>
        </p:txBody>
      </p:sp>
      <p:sp>
        <p:nvSpPr>
          <p:cNvPr id="19" name="Rounded Rectangle 18"/>
          <p:cNvSpPr/>
          <p:nvPr/>
        </p:nvSpPr>
        <p:spPr>
          <a:xfrm>
            <a:off x="6217920" y="155448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554480"/>
            <a:ext cx="2743200"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1645920"/>
            <a:ext cx="2743200" cy="365760"/>
          </a:xfrm>
          <a:prstGeom prst="rect">
            <a:avLst/>
          </a:prstGeom>
          <a:noFill/>
        </p:spPr>
        <p:txBody>
          <a:bodyPr wrap="square">
            <a:spAutoFit/>
          </a:bodyPr>
          <a:lstStyle/>
          <a:p>
            <a:pPr algn="ctr"/>
            <a:r>
              <a:rPr sz="1300" b="1">
                <a:solidFill>
                  <a:srgbClr val="FFFFFF"/>
                </a:solidFill>
                <a:latin typeface="Calibri"/>
              </a:rPr>
              <a:t>10 min</a:t>
            </a:r>
          </a:p>
        </p:txBody>
      </p:sp>
      <p:sp>
        <p:nvSpPr>
          <p:cNvPr id="22" name="TextBox 21"/>
          <p:cNvSpPr txBox="1"/>
          <p:nvPr/>
        </p:nvSpPr>
        <p:spPr>
          <a:xfrm>
            <a:off x="6355080" y="2240280"/>
            <a:ext cx="2468880" cy="548640"/>
          </a:xfrm>
          <a:prstGeom prst="rect">
            <a:avLst/>
          </a:prstGeom>
          <a:noFill/>
        </p:spPr>
        <p:txBody>
          <a:bodyPr wrap="square">
            <a:spAutoFit/>
          </a:bodyPr>
          <a:lstStyle/>
          <a:p>
            <a:pPr algn="ctr"/>
            <a:r>
              <a:rPr sz="1600" b="1">
                <a:solidFill>
                  <a:srgbClr val="1B3A5F"/>
                </a:solidFill>
                <a:latin typeface="Calibri"/>
              </a:rPr>
              <a:t>Reading Skills</a:t>
            </a:r>
          </a:p>
        </p:txBody>
      </p:sp>
      <p:sp>
        <p:nvSpPr>
          <p:cNvPr id="23" name="TextBox 22"/>
          <p:cNvSpPr txBox="1"/>
          <p:nvPr/>
        </p:nvSpPr>
        <p:spPr>
          <a:xfrm>
            <a:off x="6355080" y="2834640"/>
            <a:ext cx="2468880" cy="548640"/>
          </a:xfrm>
          <a:prstGeom prst="rect">
            <a:avLst/>
          </a:prstGeom>
          <a:noFill/>
        </p:spPr>
        <p:txBody>
          <a:bodyPr wrap="square">
            <a:spAutoFit/>
          </a:bodyPr>
          <a:lstStyle/>
          <a:p>
            <a:pPr algn="ctr"/>
            <a:r>
              <a:rPr sz="1300" b="0">
                <a:solidFill>
                  <a:srgbClr val="6B7280"/>
                </a:solidFill>
                <a:latin typeface="Calibri"/>
              </a:rPr>
              <a:t>Main idea + inference tools</a:t>
            </a:r>
          </a:p>
        </p:txBody>
      </p:sp>
      <p:sp>
        <p:nvSpPr>
          <p:cNvPr id="24" name="Rounded Rectangle 23"/>
          <p:cNvSpPr/>
          <p:nvPr/>
        </p:nvSpPr>
        <p:spPr>
          <a:xfrm>
            <a:off x="9144000" y="155448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0" y="1554480"/>
            <a:ext cx="2743200" cy="50292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645920"/>
            <a:ext cx="2743200" cy="365760"/>
          </a:xfrm>
          <a:prstGeom prst="rect">
            <a:avLst/>
          </a:prstGeom>
          <a:noFill/>
        </p:spPr>
        <p:txBody>
          <a:bodyPr wrap="square">
            <a:spAutoFit/>
          </a:bodyPr>
          <a:lstStyle/>
          <a:p>
            <a:pPr algn="ctr"/>
            <a:r>
              <a:rPr sz="1300" b="1">
                <a:solidFill>
                  <a:srgbClr val="FFFFFF"/>
                </a:solidFill>
                <a:latin typeface="Calibri"/>
              </a:rPr>
              <a:t>GAME</a:t>
            </a:r>
          </a:p>
        </p:txBody>
      </p:sp>
      <p:sp>
        <p:nvSpPr>
          <p:cNvPr id="27" name="TextBox 26"/>
          <p:cNvSpPr txBox="1"/>
          <p:nvPr/>
        </p:nvSpPr>
        <p:spPr>
          <a:xfrm>
            <a:off x="9281160" y="2240280"/>
            <a:ext cx="2468880" cy="548640"/>
          </a:xfrm>
          <a:prstGeom prst="rect">
            <a:avLst/>
          </a:prstGeom>
          <a:noFill/>
        </p:spPr>
        <p:txBody>
          <a:bodyPr wrap="square">
            <a:spAutoFit/>
          </a:bodyPr>
          <a:lstStyle/>
          <a:p>
            <a:pPr algn="ctr"/>
            <a:r>
              <a:rPr sz="1600" b="1">
                <a:solidFill>
                  <a:srgbClr val="1B3A5F"/>
                </a:solidFill>
                <a:latin typeface="Calibri"/>
              </a:rPr>
              <a:t>GAME 2</a:t>
            </a:r>
          </a:p>
        </p:txBody>
      </p:sp>
      <p:sp>
        <p:nvSpPr>
          <p:cNvPr id="28" name="TextBox 27"/>
          <p:cNvSpPr txBox="1"/>
          <p:nvPr/>
        </p:nvSpPr>
        <p:spPr>
          <a:xfrm>
            <a:off x="9281160" y="2834640"/>
            <a:ext cx="2468880" cy="548640"/>
          </a:xfrm>
          <a:prstGeom prst="rect">
            <a:avLst/>
          </a:prstGeom>
          <a:noFill/>
        </p:spPr>
        <p:txBody>
          <a:bodyPr wrap="square">
            <a:spAutoFit/>
          </a:bodyPr>
          <a:lstStyle/>
          <a:p>
            <a:pPr algn="ctr"/>
            <a:r>
              <a:rPr sz="1300" b="0">
                <a:solidFill>
                  <a:srgbClr val="6B7280"/>
                </a:solidFill>
                <a:latin typeface="Calibri"/>
              </a:rPr>
              <a:t>Inference Race</a:t>
            </a:r>
          </a:p>
        </p:txBody>
      </p:sp>
      <p:sp>
        <p:nvSpPr>
          <p:cNvPr id="29" name="Rounded Rectangle 28"/>
          <p:cNvSpPr/>
          <p:nvPr/>
        </p:nvSpPr>
        <p:spPr>
          <a:xfrm>
            <a:off x="365760" y="384048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3840480"/>
            <a:ext cx="2743200" cy="50292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3931920"/>
            <a:ext cx="2743200" cy="365760"/>
          </a:xfrm>
          <a:prstGeom prst="rect">
            <a:avLst/>
          </a:prstGeom>
          <a:noFill/>
        </p:spPr>
        <p:txBody>
          <a:bodyPr wrap="square">
            <a:spAutoFit/>
          </a:bodyPr>
          <a:lstStyle/>
          <a:p>
            <a:pPr algn="ctr"/>
            <a:r>
              <a:rPr sz="1300" b="1">
                <a:solidFill>
                  <a:srgbClr val="FFFFFF"/>
                </a:solidFill>
                <a:latin typeface="Calibri"/>
              </a:rPr>
              <a:t>12 min</a:t>
            </a:r>
          </a:p>
        </p:txBody>
      </p:sp>
      <p:sp>
        <p:nvSpPr>
          <p:cNvPr id="32" name="TextBox 31"/>
          <p:cNvSpPr txBox="1"/>
          <p:nvPr/>
        </p:nvSpPr>
        <p:spPr>
          <a:xfrm>
            <a:off x="502920" y="4526280"/>
            <a:ext cx="2468880" cy="548640"/>
          </a:xfrm>
          <a:prstGeom prst="rect">
            <a:avLst/>
          </a:prstGeom>
          <a:noFill/>
        </p:spPr>
        <p:txBody>
          <a:bodyPr wrap="square">
            <a:spAutoFit/>
          </a:bodyPr>
          <a:lstStyle/>
          <a:p>
            <a:pPr algn="ctr"/>
            <a:r>
              <a:rPr sz="1600" b="1">
                <a:solidFill>
                  <a:srgbClr val="1B3A5F"/>
                </a:solidFill>
                <a:latin typeface="Calibri"/>
              </a:rPr>
              <a:t>Guided Passage</a:t>
            </a:r>
          </a:p>
        </p:txBody>
      </p:sp>
      <p:sp>
        <p:nvSpPr>
          <p:cNvPr id="33" name="TextBox 32"/>
          <p:cNvSpPr txBox="1"/>
          <p:nvPr/>
        </p:nvSpPr>
        <p:spPr>
          <a:xfrm>
            <a:off x="502920" y="5120640"/>
            <a:ext cx="2468880" cy="548640"/>
          </a:xfrm>
          <a:prstGeom prst="rect">
            <a:avLst/>
          </a:prstGeom>
          <a:noFill/>
        </p:spPr>
        <p:txBody>
          <a:bodyPr wrap="square">
            <a:spAutoFit/>
          </a:bodyPr>
          <a:lstStyle/>
          <a:p>
            <a:pPr algn="ctr"/>
            <a:r>
              <a:rPr sz="1300" b="0">
                <a:solidFill>
                  <a:srgbClr val="6B7280"/>
                </a:solidFill>
                <a:latin typeface="Calibri"/>
              </a:rPr>
              <a:t>Read, annotate, discuss</a:t>
            </a:r>
          </a:p>
        </p:txBody>
      </p:sp>
      <p:sp>
        <p:nvSpPr>
          <p:cNvPr id="34" name="Rounded Rectangle 33"/>
          <p:cNvSpPr/>
          <p:nvPr/>
        </p:nvSpPr>
        <p:spPr>
          <a:xfrm>
            <a:off x="3291840" y="384048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91840" y="3840480"/>
            <a:ext cx="2743200" cy="50292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91840" y="3931920"/>
            <a:ext cx="2743200" cy="365760"/>
          </a:xfrm>
          <a:prstGeom prst="rect">
            <a:avLst/>
          </a:prstGeom>
          <a:noFill/>
        </p:spPr>
        <p:txBody>
          <a:bodyPr wrap="square">
            <a:spAutoFit/>
          </a:bodyPr>
          <a:lstStyle/>
          <a:p>
            <a:pPr algn="ctr"/>
            <a:r>
              <a:rPr sz="1300" b="1">
                <a:solidFill>
                  <a:srgbClr val="FFFFFF"/>
                </a:solidFill>
                <a:latin typeface="Calibri"/>
              </a:rPr>
              <a:t>GAME</a:t>
            </a:r>
          </a:p>
        </p:txBody>
      </p:sp>
      <p:sp>
        <p:nvSpPr>
          <p:cNvPr id="37" name="TextBox 36"/>
          <p:cNvSpPr txBox="1"/>
          <p:nvPr/>
        </p:nvSpPr>
        <p:spPr>
          <a:xfrm>
            <a:off x="3429000" y="4526280"/>
            <a:ext cx="2468880" cy="548640"/>
          </a:xfrm>
          <a:prstGeom prst="rect">
            <a:avLst/>
          </a:prstGeom>
          <a:noFill/>
        </p:spPr>
        <p:txBody>
          <a:bodyPr wrap="square">
            <a:spAutoFit/>
          </a:bodyPr>
          <a:lstStyle/>
          <a:p>
            <a:pPr algn="ctr"/>
            <a:r>
              <a:rPr sz="1600" b="1">
                <a:solidFill>
                  <a:srgbClr val="1B3A5F"/>
                </a:solidFill>
                <a:latin typeface="Calibri"/>
              </a:rPr>
              <a:t>GAME 3</a:t>
            </a:r>
          </a:p>
        </p:txBody>
      </p:sp>
      <p:sp>
        <p:nvSpPr>
          <p:cNvPr id="38" name="TextBox 37"/>
          <p:cNvSpPr txBox="1"/>
          <p:nvPr/>
        </p:nvSpPr>
        <p:spPr>
          <a:xfrm>
            <a:off x="3429000" y="5120640"/>
            <a:ext cx="2468880" cy="548640"/>
          </a:xfrm>
          <a:prstGeom prst="rect">
            <a:avLst/>
          </a:prstGeom>
          <a:noFill/>
        </p:spPr>
        <p:txBody>
          <a:bodyPr wrap="square">
            <a:spAutoFit/>
          </a:bodyPr>
          <a:lstStyle/>
          <a:p>
            <a:pPr algn="ctr"/>
            <a:r>
              <a:rPr sz="1300" b="0">
                <a:solidFill>
                  <a:srgbClr val="6B7280"/>
                </a:solidFill>
                <a:latin typeface="Calibri"/>
              </a:rPr>
              <a:t>Sentence Scramble</a:t>
            </a:r>
          </a:p>
        </p:txBody>
      </p:sp>
      <p:sp>
        <p:nvSpPr>
          <p:cNvPr id="39" name="Rounded Rectangle 38"/>
          <p:cNvSpPr/>
          <p:nvPr/>
        </p:nvSpPr>
        <p:spPr>
          <a:xfrm>
            <a:off x="6217920" y="384048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3840480"/>
            <a:ext cx="2743200" cy="5029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0" y="3931920"/>
            <a:ext cx="2743200" cy="365760"/>
          </a:xfrm>
          <a:prstGeom prst="rect">
            <a:avLst/>
          </a:prstGeom>
          <a:noFill/>
        </p:spPr>
        <p:txBody>
          <a:bodyPr wrap="square">
            <a:spAutoFit/>
          </a:bodyPr>
          <a:lstStyle/>
          <a:p>
            <a:pPr algn="ctr"/>
            <a:r>
              <a:rPr sz="1300" b="1">
                <a:solidFill>
                  <a:srgbClr val="FFFFFF"/>
                </a:solidFill>
                <a:latin typeface="Calibri"/>
              </a:rPr>
              <a:t>10 min</a:t>
            </a:r>
          </a:p>
        </p:txBody>
      </p:sp>
      <p:sp>
        <p:nvSpPr>
          <p:cNvPr id="42" name="TextBox 41"/>
          <p:cNvSpPr txBox="1"/>
          <p:nvPr/>
        </p:nvSpPr>
        <p:spPr>
          <a:xfrm>
            <a:off x="6355080" y="4526280"/>
            <a:ext cx="2468880" cy="548640"/>
          </a:xfrm>
          <a:prstGeom prst="rect">
            <a:avLst/>
          </a:prstGeom>
          <a:noFill/>
        </p:spPr>
        <p:txBody>
          <a:bodyPr wrap="square">
            <a:spAutoFit/>
          </a:bodyPr>
          <a:lstStyle/>
          <a:p>
            <a:pPr algn="ctr"/>
            <a:r>
              <a:rPr sz="1600" b="1">
                <a:solidFill>
                  <a:srgbClr val="1B3A5F"/>
                </a:solidFill>
                <a:latin typeface="Calibri"/>
              </a:rPr>
              <a:t>Grammar Power</a:t>
            </a:r>
          </a:p>
        </p:txBody>
      </p:sp>
      <p:sp>
        <p:nvSpPr>
          <p:cNvPr id="43" name="TextBox 42"/>
          <p:cNvSpPr txBox="1"/>
          <p:nvPr/>
        </p:nvSpPr>
        <p:spPr>
          <a:xfrm>
            <a:off x="6355080" y="5120640"/>
            <a:ext cx="2468880" cy="548640"/>
          </a:xfrm>
          <a:prstGeom prst="rect">
            <a:avLst/>
          </a:prstGeom>
          <a:noFill/>
        </p:spPr>
        <p:txBody>
          <a:bodyPr wrap="square">
            <a:spAutoFit/>
          </a:bodyPr>
          <a:lstStyle/>
          <a:p>
            <a:pPr algn="ctr"/>
            <a:r>
              <a:rPr sz="1300" b="0">
                <a:solidFill>
                  <a:srgbClr val="6B7280"/>
                </a:solidFill>
                <a:latin typeface="Calibri"/>
              </a:rPr>
              <a:t>Agreement, commas, word choice</a:t>
            </a:r>
          </a:p>
        </p:txBody>
      </p:sp>
      <p:sp>
        <p:nvSpPr>
          <p:cNvPr id="44" name="Rounded Rectangle 43"/>
          <p:cNvSpPr/>
          <p:nvPr/>
        </p:nvSpPr>
        <p:spPr>
          <a:xfrm>
            <a:off x="9144000" y="384048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144000" y="3840480"/>
            <a:ext cx="2743200" cy="50292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0" y="3931920"/>
            <a:ext cx="2743200" cy="365760"/>
          </a:xfrm>
          <a:prstGeom prst="rect">
            <a:avLst/>
          </a:prstGeom>
          <a:noFill/>
        </p:spPr>
        <p:txBody>
          <a:bodyPr wrap="square">
            <a:spAutoFit/>
          </a:bodyPr>
          <a:lstStyle/>
          <a:p>
            <a:pPr algn="ctr"/>
            <a:r>
              <a:rPr sz="1300" b="1">
                <a:solidFill>
                  <a:srgbClr val="FFFFFF"/>
                </a:solidFill>
                <a:latin typeface="Calibri"/>
              </a:rPr>
              <a:t>GAME</a:t>
            </a:r>
          </a:p>
        </p:txBody>
      </p:sp>
      <p:sp>
        <p:nvSpPr>
          <p:cNvPr id="47" name="TextBox 46"/>
          <p:cNvSpPr txBox="1"/>
          <p:nvPr/>
        </p:nvSpPr>
        <p:spPr>
          <a:xfrm>
            <a:off x="9281160" y="4526280"/>
            <a:ext cx="2468880" cy="548640"/>
          </a:xfrm>
          <a:prstGeom prst="rect">
            <a:avLst/>
          </a:prstGeom>
          <a:noFill/>
        </p:spPr>
        <p:txBody>
          <a:bodyPr wrap="square">
            <a:spAutoFit/>
          </a:bodyPr>
          <a:lstStyle/>
          <a:p>
            <a:pPr algn="ctr"/>
            <a:r>
              <a:rPr sz="1600" b="1">
                <a:solidFill>
                  <a:srgbClr val="1B3A5F"/>
                </a:solidFill>
                <a:latin typeface="Calibri"/>
              </a:rPr>
              <a:t>GAME 4 + Wrap</a:t>
            </a:r>
          </a:p>
        </p:txBody>
      </p:sp>
      <p:sp>
        <p:nvSpPr>
          <p:cNvPr id="48" name="TextBox 47"/>
          <p:cNvSpPr txBox="1"/>
          <p:nvPr/>
        </p:nvSpPr>
        <p:spPr>
          <a:xfrm>
            <a:off x="9281160" y="5120640"/>
            <a:ext cx="2468880" cy="548640"/>
          </a:xfrm>
          <a:prstGeom prst="rect">
            <a:avLst/>
          </a:prstGeom>
          <a:noFill/>
        </p:spPr>
        <p:txBody>
          <a:bodyPr wrap="square">
            <a:spAutoFit/>
          </a:bodyPr>
          <a:lstStyle/>
          <a:p>
            <a:pPr algn="ctr"/>
            <a:r>
              <a:rPr sz="1300" b="0">
                <a:solidFill>
                  <a:srgbClr val="6B7280"/>
                </a:solidFill>
                <a:latin typeface="Calibri"/>
              </a:rPr>
              <a:t>Punctuation Rescue + takeaways</a:t>
            </a:r>
          </a:p>
        </p:txBody>
      </p:sp>
      <p:sp>
        <p:nvSpPr>
          <p:cNvPr id="49" name="Rectangle 48"/>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Overview</a:t>
            </a:r>
          </a:p>
        </p:txBody>
      </p:sp>
      <p:sp>
        <p:nvSpPr>
          <p:cNvPr id="51" name="TextBox 50"/>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LEARNING GOALS</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By the End of This Hour, You Will…</a:t>
            </a:r>
          </a:p>
        </p:txBody>
      </p:sp>
      <p:sp>
        <p:nvSpPr>
          <p:cNvPr id="7" name="Rounded Rectangle 6"/>
          <p:cNvSpPr/>
          <p:nvPr/>
        </p:nvSpPr>
        <p:spPr>
          <a:xfrm>
            <a:off x="457200" y="155448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783080"/>
            <a:ext cx="50292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47088"/>
            <a:ext cx="502920" cy="365760"/>
          </a:xfrm>
          <a:prstGeom prst="rect">
            <a:avLst/>
          </a:prstGeom>
          <a:noFill/>
        </p:spPr>
        <p:txBody>
          <a:bodyPr wrap="square">
            <a:spAutoFit/>
          </a:bodyPr>
          <a:lstStyle/>
          <a:p>
            <a:pPr algn="ctr"/>
            <a:r>
              <a:rPr sz="1800" b="1">
                <a:solidFill>
                  <a:srgbClr val="FFFFFF"/>
                </a:solidFill>
                <a:latin typeface="Calibri"/>
              </a:rPr>
              <a:t>1</a:t>
            </a:r>
          </a:p>
        </p:txBody>
      </p:sp>
      <p:sp>
        <p:nvSpPr>
          <p:cNvPr id="10" name="TextBox 9"/>
          <p:cNvSpPr txBox="1"/>
          <p:nvPr/>
        </p:nvSpPr>
        <p:spPr>
          <a:xfrm>
            <a:off x="1371600" y="1737360"/>
            <a:ext cx="9875520" cy="320040"/>
          </a:xfrm>
          <a:prstGeom prst="rect">
            <a:avLst/>
          </a:prstGeom>
          <a:noFill/>
        </p:spPr>
        <p:txBody>
          <a:bodyPr wrap="square">
            <a:spAutoFit/>
          </a:bodyPr>
          <a:lstStyle/>
          <a:p>
            <a:pPr algn="l"/>
            <a:r>
              <a:rPr sz="2000" b="1">
                <a:solidFill>
                  <a:srgbClr val="1B3A5F"/>
                </a:solidFill>
                <a:latin typeface="Calibri"/>
              </a:rPr>
              <a:t>Catch the Big Idea</a:t>
            </a:r>
          </a:p>
        </p:txBody>
      </p:sp>
      <p:sp>
        <p:nvSpPr>
          <p:cNvPr id="11" name="TextBox 10"/>
          <p:cNvSpPr txBox="1"/>
          <p:nvPr/>
        </p:nvSpPr>
        <p:spPr>
          <a:xfrm>
            <a:off x="1371600" y="2057400"/>
            <a:ext cx="9875520" cy="320040"/>
          </a:xfrm>
          <a:prstGeom prst="rect">
            <a:avLst/>
          </a:prstGeom>
          <a:noFill/>
        </p:spPr>
        <p:txBody>
          <a:bodyPr wrap="square">
            <a:spAutoFit/>
          </a:bodyPr>
          <a:lstStyle/>
          <a:p>
            <a:pPr algn="l"/>
            <a:r>
              <a:rPr sz="1500" b="0">
                <a:solidFill>
                  <a:srgbClr val="6B7280"/>
                </a:solidFill>
                <a:latin typeface="Calibri"/>
              </a:rPr>
              <a:t>Find main idea and key details quickly</a:t>
            </a:r>
          </a:p>
        </p:txBody>
      </p:sp>
      <p:sp>
        <p:nvSpPr>
          <p:cNvPr id="12" name="Rounded Rectangle 11"/>
          <p:cNvSpPr/>
          <p:nvPr/>
        </p:nvSpPr>
        <p:spPr>
          <a:xfrm>
            <a:off x="457200" y="265176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880360"/>
            <a:ext cx="50292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44368"/>
            <a:ext cx="502920" cy="365760"/>
          </a:xfrm>
          <a:prstGeom prst="rect">
            <a:avLst/>
          </a:prstGeom>
          <a:noFill/>
        </p:spPr>
        <p:txBody>
          <a:bodyPr wrap="square">
            <a:spAutoFit/>
          </a:bodyPr>
          <a:lstStyle/>
          <a:p>
            <a:pPr algn="ctr"/>
            <a:r>
              <a:rPr sz="1800" b="1">
                <a:solidFill>
                  <a:srgbClr val="FFFFFF"/>
                </a:solidFill>
                <a:latin typeface="Calibri"/>
              </a:rPr>
              <a:t>2</a:t>
            </a:r>
          </a:p>
        </p:txBody>
      </p:sp>
      <p:sp>
        <p:nvSpPr>
          <p:cNvPr id="15" name="TextBox 14"/>
          <p:cNvSpPr txBox="1"/>
          <p:nvPr/>
        </p:nvSpPr>
        <p:spPr>
          <a:xfrm>
            <a:off x="1371600" y="2834640"/>
            <a:ext cx="9875520" cy="320040"/>
          </a:xfrm>
          <a:prstGeom prst="rect">
            <a:avLst/>
          </a:prstGeom>
          <a:noFill/>
        </p:spPr>
        <p:txBody>
          <a:bodyPr wrap="square">
            <a:spAutoFit/>
          </a:bodyPr>
          <a:lstStyle/>
          <a:p>
            <a:pPr algn="l"/>
            <a:r>
              <a:rPr sz="2000" b="1">
                <a:solidFill>
                  <a:srgbClr val="1B3A5F"/>
                </a:solidFill>
                <a:latin typeface="Calibri"/>
              </a:rPr>
              <a:t>Read Between the Lines</a:t>
            </a:r>
          </a:p>
        </p:txBody>
      </p:sp>
      <p:sp>
        <p:nvSpPr>
          <p:cNvPr id="16" name="TextBox 15"/>
          <p:cNvSpPr txBox="1"/>
          <p:nvPr/>
        </p:nvSpPr>
        <p:spPr>
          <a:xfrm>
            <a:off x="1371600" y="3154680"/>
            <a:ext cx="9875520" cy="320040"/>
          </a:xfrm>
          <a:prstGeom prst="rect">
            <a:avLst/>
          </a:prstGeom>
          <a:noFill/>
        </p:spPr>
        <p:txBody>
          <a:bodyPr wrap="square">
            <a:spAutoFit/>
          </a:bodyPr>
          <a:lstStyle/>
          <a:p>
            <a:pPr algn="l"/>
            <a:r>
              <a:rPr sz="1500" b="0">
                <a:solidFill>
                  <a:srgbClr val="6B7280"/>
                </a:solidFill>
                <a:latin typeface="Calibri"/>
              </a:rPr>
              <a:t>Make smart inferences with text evidence</a:t>
            </a:r>
          </a:p>
        </p:txBody>
      </p:sp>
      <p:sp>
        <p:nvSpPr>
          <p:cNvPr id="17" name="Rounded Rectangle 16"/>
          <p:cNvSpPr/>
          <p:nvPr/>
        </p:nvSpPr>
        <p:spPr>
          <a:xfrm>
            <a:off x="457200" y="3749039"/>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 y="3977639"/>
            <a:ext cx="50292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041647"/>
            <a:ext cx="502920" cy="365760"/>
          </a:xfrm>
          <a:prstGeom prst="rect">
            <a:avLst/>
          </a:prstGeom>
          <a:noFill/>
        </p:spPr>
        <p:txBody>
          <a:bodyPr wrap="square">
            <a:spAutoFit/>
          </a:bodyPr>
          <a:lstStyle/>
          <a:p>
            <a:pPr algn="ctr"/>
            <a:r>
              <a:rPr sz="1800" b="1">
                <a:solidFill>
                  <a:srgbClr val="FFFFFF"/>
                </a:solidFill>
                <a:latin typeface="Calibri"/>
              </a:rPr>
              <a:t>3</a:t>
            </a:r>
          </a:p>
        </p:txBody>
      </p:sp>
      <p:sp>
        <p:nvSpPr>
          <p:cNvPr id="20" name="TextBox 19"/>
          <p:cNvSpPr txBox="1"/>
          <p:nvPr/>
        </p:nvSpPr>
        <p:spPr>
          <a:xfrm>
            <a:off x="1371600" y="3931919"/>
            <a:ext cx="9875520" cy="320040"/>
          </a:xfrm>
          <a:prstGeom prst="rect">
            <a:avLst/>
          </a:prstGeom>
          <a:noFill/>
        </p:spPr>
        <p:txBody>
          <a:bodyPr wrap="square">
            <a:spAutoFit/>
          </a:bodyPr>
          <a:lstStyle/>
          <a:p>
            <a:pPr algn="l"/>
            <a:r>
              <a:rPr sz="2000" b="1">
                <a:solidFill>
                  <a:srgbClr val="1B3A5F"/>
                </a:solidFill>
                <a:latin typeface="Calibri"/>
              </a:rPr>
              <a:t>Polish Your Grammar</a:t>
            </a:r>
          </a:p>
        </p:txBody>
      </p:sp>
      <p:sp>
        <p:nvSpPr>
          <p:cNvPr id="21" name="TextBox 20"/>
          <p:cNvSpPr txBox="1"/>
          <p:nvPr/>
        </p:nvSpPr>
        <p:spPr>
          <a:xfrm>
            <a:off x="1371600" y="4251959"/>
            <a:ext cx="9875520" cy="320040"/>
          </a:xfrm>
          <a:prstGeom prst="rect">
            <a:avLst/>
          </a:prstGeom>
          <a:noFill/>
        </p:spPr>
        <p:txBody>
          <a:bodyPr wrap="square">
            <a:spAutoFit/>
          </a:bodyPr>
          <a:lstStyle/>
          <a:p>
            <a:pPr algn="l"/>
            <a:r>
              <a:rPr sz="1500" b="0">
                <a:solidFill>
                  <a:srgbClr val="6B7280"/>
                </a:solidFill>
                <a:latin typeface="Calibri"/>
              </a:rPr>
              <a:t>Fix agreement, commas, and tricky word pairs</a:t>
            </a:r>
          </a:p>
        </p:txBody>
      </p:sp>
      <p:sp>
        <p:nvSpPr>
          <p:cNvPr id="22" name="Rounded Rectangle 21"/>
          <p:cNvSpPr/>
          <p:nvPr/>
        </p:nvSpPr>
        <p:spPr>
          <a:xfrm>
            <a:off x="457200" y="484632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 y="5074920"/>
            <a:ext cx="50292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138928"/>
            <a:ext cx="502920" cy="365760"/>
          </a:xfrm>
          <a:prstGeom prst="rect">
            <a:avLst/>
          </a:prstGeom>
          <a:noFill/>
        </p:spPr>
        <p:txBody>
          <a:bodyPr wrap="square">
            <a:spAutoFit/>
          </a:bodyPr>
          <a:lstStyle/>
          <a:p>
            <a:pPr algn="ctr"/>
            <a:r>
              <a:rPr sz="1800" b="1">
                <a:solidFill>
                  <a:srgbClr val="FFFFFF"/>
                </a:solidFill>
                <a:latin typeface="Calibri"/>
              </a:rPr>
              <a:t>4</a:t>
            </a:r>
          </a:p>
        </p:txBody>
      </p:sp>
      <p:sp>
        <p:nvSpPr>
          <p:cNvPr id="25" name="TextBox 24"/>
          <p:cNvSpPr txBox="1"/>
          <p:nvPr/>
        </p:nvSpPr>
        <p:spPr>
          <a:xfrm>
            <a:off x="1371600" y="5029200"/>
            <a:ext cx="9875520" cy="320040"/>
          </a:xfrm>
          <a:prstGeom prst="rect">
            <a:avLst/>
          </a:prstGeom>
          <a:noFill/>
        </p:spPr>
        <p:txBody>
          <a:bodyPr wrap="square">
            <a:spAutoFit/>
          </a:bodyPr>
          <a:lstStyle/>
          <a:p>
            <a:pPr algn="l"/>
            <a:r>
              <a:rPr sz="2000" b="1">
                <a:solidFill>
                  <a:srgbClr val="1B3A5F"/>
                </a:solidFill>
                <a:latin typeface="Calibri"/>
              </a:rPr>
              <a:t>Have Fun While Learning</a:t>
            </a:r>
          </a:p>
        </p:txBody>
      </p:sp>
      <p:sp>
        <p:nvSpPr>
          <p:cNvPr id="26" name="TextBox 25"/>
          <p:cNvSpPr txBox="1"/>
          <p:nvPr/>
        </p:nvSpPr>
        <p:spPr>
          <a:xfrm>
            <a:off x="1371600" y="5349240"/>
            <a:ext cx="9875520" cy="320040"/>
          </a:xfrm>
          <a:prstGeom prst="rect">
            <a:avLst/>
          </a:prstGeom>
          <a:noFill/>
        </p:spPr>
        <p:txBody>
          <a:bodyPr wrap="square">
            <a:spAutoFit/>
          </a:bodyPr>
          <a:lstStyle/>
          <a:p>
            <a:pPr algn="l"/>
            <a:r>
              <a:rPr sz="1500" b="0">
                <a:solidFill>
                  <a:srgbClr val="6B7280"/>
                </a:solidFill>
                <a:latin typeface="Calibri"/>
              </a:rPr>
              <a:t>Use games to lock skills into memory</a:t>
            </a:r>
          </a:p>
        </p:txBody>
      </p:sp>
      <p:sp>
        <p:nvSpPr>
          <p:cNvPr id="27" name="Rectangle 2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Goals</a:t>
            </a:r>
          </a:p>
        </p:txBody>
      </p:sp>
      <p:sp>
        <p:nvSpPr>
          <p:cNvPr id="29" name="TextBox 28"/>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3/28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WARM-UP</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4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Brain Switch-On</a:t>
            </a:r>
          </a:p>
        </p:txBody>
      </p:sp>
      <p:sp>
        <p:nvSpPr>
          <p:cNvPr id="9" name="Rounded Rectangle 8"/>
          <p:cNvSpPr/>
          <p:nvPr/>
        </p:nvSpPr>
        <p:spPr>
          <a:xfrm>
            <a:off x="457200" y="1463040"/>
            <a:ext cx="1124712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45920"/>
            <a:ext cx="10698480" cy="320040"/>
          </a:xfrm>
          <a:prstGeom prst="rect">
            <a:avLst/>
          </a:prstGeom>
          <a:noFill/>
        </p:spPr>
        <p:txBody>
          <a:bodyPr wrap="square">
            <a:spAutoFit/>
          </a:bodyPr>
          <a:lstStyle/>
          <a:p>
            <a:pPr algn="l"/>
            <a:r>
              <a:rPr sz="1600" b="1">
                <a:solidFill>
                  <a:srgbClr val="2A9D8F"/>
                </a:solidFill>
                <a:latin typeface="Calibri"/>
              </a:rPr>
              <a:t>Read this mini-passage:</a:t>
            </a:r>
          </a:p>
        </p:txBody>
      </p:sp>
      <p:sp>
        <p:nvSpPr>
          <p:cNvPr id="11" name="TextBox 10"/>
          <p:cNvSpPr txBox="1"/>
          <p:nvPr/>
        </p:nvSpPr>
        <p:spPr>
          <a:xfrm>
            <a:off x="731520" y="2103120"/>
            <a:ext cx="10698480" cy="1280160"/>
          </a:xfrm>
          <a:prstGeom prst="rect">
            <a:avLst/>
          </a:prstGeom>
          <a:noFill/>
        </p:spPr>
        <p:txBody>
          <a:bodyPr wrap="square">
            <a:spAutoFit/>
          </a:bodyPr>
          <a:lstStyle/>
          <a:p>
            <a:pPr algn="l"/>
            <a:r>
              <a:rPr sz="1600" b="0">
                <a:solidFill>
                  <a:srgbClr val="2D2D2D"/>
                </a:solidFill>
                <a:latin typeface="Calibri"/>
              </a:rPr>
              <a:t>"Jordan stood at the edge of the soccer field, gripping her notebook instead of a ball. The coach had asked for a new team cheer — and somehow, that felt harder than scoring a goal."</a:t>
            </a:r>
          </a:p>
        </p:txBody>
      </p:sp>
      <p:sp>
        <p:nvSpPr>
          <p:cNvPr id="12" name="Rounded Rectangle 11"/>
          <p:cNvSpPr/>
          <p:nvPr/>
        </p:nvSpPr>
        <p:spPr>
          <a:xfrm>
            <a:off x="457200" y="3840480"/>
            <a:ext cx="5486400" cy="219456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23360"/>
            <a:ext cx="5029200" cy="320040"/>
          </a:xfrm>
          <a:prstGeom prst="rect">
            <a:avLst/>
          </a:prstGeom>
          <a:noFill/>
        </p:spPr>
        <p:txBody>
          <a:bodyPr wrap="square">
            <a:spAutoFit/>
          </a:bodyPr>
          <a:lstStyle/>
          <a:p>
            <a:pPr algn="l"/>
            <a:r>
              <a:rPr sz="1600" b="1">
                <a:solidFill>
                  <a:srgbClr val="1B3A5F"/>
                </a:solidFill>
                <a:latin typeface="Calibri"/>
              </a:rPr>
              <a:t>Talk About It</a:t>
            </a:r>
          </a:p>
        </p:txBody>
      </p:sp>
      <p:sp>
        <p:nvSpPr>
          <p:cNvPr id="14" name="TextBox 13"/>
          <p:cNvSpPr txBox="1"/>
          <p:nvPr/>
        </p:nvSpPr>
        <p:spPr>
          <a:xfrm>
            <a:off x="685800" y="4480560"/>
            <a:ext cx="5029200" cy="1371600"/>
          </a:xfrm>
          <a:prstGeom prst="rect">
            <a:avLst/>
          </a:prstGeom>
          <a:noFill/>
        </p:spPr>
        <p:txBody>
          <a:bodyPr wrap="square">
            <a:spAutoFit/>
          </a:bodyPr>
          <a:lstStyle/>
          <a:p>
            <a:pPr>
              <a:spcAft>
                <a:spcPts val="800"/>
              </a:spcAft>
            </a:pPr>
            <a:r>
              <a:rPr sz="1500" b="0">
                <a:solidFill>
                  <a:srgbClr val="2D2D2D"/>
                </a:solidFill>
                <a:latin typeface="Calibri"/>
              </a:rPr>
              <a:t>•  How is Jordan feeling?</a:t>
            </a:r>
          </a:p>
          <a:p>
            <a:pPr>
              <a:spcAft>
                <a:spcPts val="800"/>
              </a:spcAft>
            </a:pPr>
            <a:r>
              <a:rPr sz="1500" b="0">
                <a:solidFill>
                  <a:srgbClr val="2D2D2D"/>
                </a:solidFill>
                <a:latin typeface="Calibri"/>
              </a:rPr>
              <a:t>•  What clue in the text tells you that?</a:t>
            </a:r>
          </a:p>
          <a:p>
            <a:pPr>
              <a:spcAft>
                <a:spcPts val="800"/>
              </a:spcAft>
            </a:pPr>
            <a:r>
              <a:rPr sz="1500" b="0">
                <a:solidFill>
                  <a:srgbClr val="2D2D2D"/>
                </a:solidFill>
                <a:latin typeface="Calibri"/>
              </a:rPr>
              <a:t>•  What might happen next?</a:t>
            </a:r>
          </a:p>
        </p:txBody>
      </p:sp>
      <p:sp>
        <p:nvSpPr>
          <p:cNvPr id="15" name="Rounded Rectangle 14"/>
          <p:cNvSpPr/>
          <p:nvPr/>
        </p:nvSpPr>
        <p:spPr>
          <a:xfrm>
            <a:off x="6217920" y="3840480"/>
            <a:ext cx="5486400" cy="219456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23360"/>
            <a:ext cx="5029200" cy="320040"/>
          </a:xfrm>
          <a:prstGeom prst="rect">
            <a:avLst/>
          </a:prstGeom>
          <a:noFill/>
        </p:spPr>
        <p:txBody>
          <a:bodyPr wrap="square">
            <a:spAutoFit/>
          </a:bodyPr>
          <a:lstStyle/>
          <a:p>
            <a:pPr algn="l"/>
            <a:r>
              <a:rPr sz="1600" b="1">
                <a:solidFill>
                  <a:srgbClr val="1B3A5F"/>
                </a:solidFill>
                <a:latin typeface="Calibri"/>
              </a:rPr>
              <a:t>Skill Focus</a:t>
            </a:r>
          </a:p>
        </p:txBody>
      </p:sp>
      <p:sp>
        <p:nvSpPr>
          <p:cNvPr id="17" name="TextBox 16"/>
          <p:cNvSpPr txBox="1"/>
          <p:nvPr/>
        </p:nvSpPr>
        <p:spPr>
          <a:xfrm>
            <a:off x="6446520" y="4572000"/>
            <a:ext cx="5029200" cy="1097280"/>
          </a:xfrm>
          <a:prstGeom prst="rect">
            <a:avLst/>
          </a:prstGeom>
          <a:noFill/>
        </p:spPr>
        <p:txBody>
          <a:bodyPr wrap="square">
            <a:spAutoFit/>
          </a:bodyPr>
          <a:lstStyle/>
          <a:p>
            <a:pPr algn="l"/>
            <a:r>
              <a:rPr sz="1500" b="0">
                <a:solidFill>
                  <a:srgbClr val="2D2D2D"/>
                </a:solidFill>
                <a:latin typeface="Calibri"/>
              </a:rPr>
              <a:t>This is inference: using clues + your brain to understand what isn’t said directly.</a:t>
            </a:r>
          </a:p>
        </p:txBody>
      </p:sp>
      <p:sp>
        <p:nvSpPr>
          <p:cNvPr id="18" name="Rectangle 17"/>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0–4 min</a:t>
            </a:r>
          </a:p>
        </p:txBody>
      </p:sp>
      <p:sp>
        <p:nvSpPr>
          <p:cNvPr id="20" name="TextBox 19"/>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4/28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286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698480" cy="457200"/>
          </a:xfrm>
          <a:prstGeom prst="rect">
            <a:avLst/>
          </a:prstGeom>
          <a:noFill/>
        </p:spPr>
        <p:txBody>
          <a:bodyPr wrap="square">
            <a:spAutoFit/>
          </a:bodyPr>
          <a:lstStyle/>
          <a:p>
            <a:pPr algn="ctr"/>
            <a:r>
              <a:rPr sz="1800" b="1">
                <a:solidFill>
                  <a:srgbClr val="E9A825"/>
                </a:solidFill>
                <a:latin typeface="Calibri"/>
              </a:rPr>
              <a:t>GAME TIME</a:t>
            </a:r>
          </a:p>
        </p:txBody>
      </p:sp>
      <p:sp>
        <p:nvSpPr>
          <p:cNvPr id="5" name="TextBox 4"/>
          <p:cNvSpPr txBox="1"/>
          <p:nvPr/>
        </p:nvSpPr>
        <p:spPr>
          <a:xfrm>
            <a:off x="731520" y="2651760"/>
            <a:ext cx="10698480" cy="914400"/>
          </a:xfrm>
          <a:prstGeom prst="rect">
            <a:avLst/>
          </a:prstGeom>
          <a:noFill/>
        </p:spPr>
        <p:txBody>
          <a:bodyPr wrap="square">
            <a:spAutoFit/>
          </a:bodyPr>
          <a:lstStyle/>
          <a:p>
            <a:pPr algn="ctr"/>
            <a:r>
              <a:rPr sz="4000" b="1">
                <a:solidFill>
                  <a:srgbClr val="FFFFFF"/>
                </a:solidFill>
                <a:latin typeface="Georgia"/>
              </a:rPr>
              <a:t>Grammar Detective</a:t>
            </a:r>
          </a:p>
        </p:txBody>
      </p:sp>
      <p:sp>
        <p:nvSpPr>
          <p:cNvPr id="6" name="TextBox 5"/>
          <p:cNvSpPr txBox="1"/>
          <p:nvPr/>
        </p:nvSpPr>
        <p:spPr>
          <a:xfrm>
            <a:off x="731520" y="3840480"/>
            <a:ext cx="10698480" cy="457200"/>
          </a:xfrm>
          <a:prstGeom prst="rect">
            <a:avLst/>
          </a:prstGeom>
          <a:noFill/>
        </p:spPr>
        <p:txBody>
          <a:bodyPr wrap="square">
            <a:spAutoFit/>
          </a:bodyPr>
          <a:lstStyle/>
          <a:p>
            <a:pPr algn="ctr"/>
            <a:r>
              <a:rPr sz="2000" b="0">
                <a:solidFill>
                  <a:srgbClr val="C5D4E8"/>
                </a:solidFill>
                <a:latin typeface="Calibri"/>
              </a:rPr>
              <a:t>6 minutes  •  Spot the error. Earn a 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GAME 1</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6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Grammar Detective — How to Play</a:t>
            </a:r>
          </a:p>
        </p:txBody>
      </p:sp>
      <p:sp>
        <p:nvSpPr>
          <p:cNvPr id="9" name="Rounded Rectangle 8"/>
          <p:cNvSpPr/>
          <p:nvPr/>
        </p:nvSpPr>
        <p:spPr>
          <a:xfrm>
            <a:off x="457200" y="1554480"/>
            <a:ext cx="274320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54480"/>
            <a:ext cx="2743200" cy="82296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737360"/>
            <a:ext cx="2743200" cy="457200"/>
          </a:xfrm>
          <a:prstGeom prst="rect">
            <a:avLst/>
          </a:prstGeom>
          <a:noFill/>
        </p:spPr>
        <p:txBody>
          <a:bodyPr wrap="square">
            <a:spAutoFit/>
          </a:bodyPr>
          <a:lstStyle/>
          <a:p>
            <a:pPr algn="ctr"/>
            <a:r>
              <a:rPr sz="1400" b="1">
                <a:solidFill>
                  <a:srgbClr val="FFFFFF"/>
                </a:solidFill>
                <a:latin typeface="Calibri"/>
              </a:rPr>
              <a:t>Step 1</a:t>
            </a:r>
          </a:p>
        </p:txBody>
      </p:sp>
      <p:sp>
        <p:nvSpPr>
          <p:cNvPr id="12" name="TextBox 11"/>
          <p:cNvSpPr txBox="1"/>
          <p:nvPr/>
        </p:nvSpPr>
        <p:spPr>
          <a:xfrm>
            <a:off x="640080" y="2651760"/>
            <a:ext cx="2377440" cy="548640"/>
          </a:xfrm>
          <a:prstGeom prst="rect">
            <a:avLst/>
          </a:prstGeom>
          <a:noFill/>
        </p:spPr>
        <p:txBody>
          <a:bodyPr wrap="square">
            <a:spAutoFit/>
          </a:bodyPr>
          <a:lstStyle/>
          <a:p>
            <a:pPr algn="ctr"/>
            <a:r>
              <a:rPr sz="2000" b="1">
                <a:solidFill>
                  <a:srgbClr val="1B3A5F"/>
                </a:solidFill>
                <a:latin typeface="Calibri"/>
              </a:rPr>
              <a:t>Find It</a:t>
            </a:r>
          </a:p>
        </p:txBody>
      </p:sp>
      <p:sp>
        <p:nvSpPr>
          <p:cNvPr id="13" name="TextBox 12"/>
          <p:cNvSpPr txBox="1"/>
          <p:nvPr/>
        </p:nvSpPr>
        <p:spPr>
          <a:xfrm>
            <a:off x="640080" y="3383280"/>
            <a:ext cx="2377440" cy="1280160"/>
          </a:xfrm>
          <a:prstGeom prst="rect">
            <a:avLst/>
          </a:prstGeom>
          <a:noFill/>
        </p:spPr>
        <p:txBody>
          <a:bodyPr wrap="square">
            <a:spAutoFit/>
          </a:bodyPr>
          <a:lstStyle/>
          <a:p>
            <a:pPr algn="ctr"/>
            <a:r>
              <a:rPr sz="1400" b="0">
                <a:solidFill>
                  <a:srgbClr val="6B7280"/>
                </a:solidFill>
                <a:latin typeface="Calibri"/>
              </a:rPr>
              <a:t>Each sentence has ONE grammar mistake.</a:t>
            </a:r>
          </a:p>
        </p:txBody>
      </p:sp>
      <p:sp>
        <p:nvSpPr>
          <p:cNvPr id="14" name="Rounded Rectangle 13"/>
          <p:cNvSpPr/>
          <p:nvPr/>
        </p:nvSpPr>
        <p:spPr>
          <a:xfrm>
            <a:off x="3383280" y="1554480"/>
            <a:ext cx="274320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554480"/>
            <a:ext cx="2743200" cy="82296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737360"/>
            <a:ext cx="2743200" cy="457200"/>
          </a:xfrm>
          <a:prstGeom prst="rect">
            <a:avLst/>
          </a:prstGeom>
          <a:noFill/>
        </p:spPr>
        <p:txBody>
          <a:bodyPr wrap="square">
            <a:spAutoFit/>
          </a:bodyPr>
          <a:lstStyle/>
          <a:p>
            <a:pPr algn="ctr"/>
            <a:r>
              <a:rPr sz="1400" b="1">
                <a:solidFill>
                  <a:srgbClr val="FFFFFF"/>
                </a:solidFill>
                <a:latin typeface="Calibri"/>
              </a:rPr>
              <a:t>Step 2</a:t>
            </a:r>
          </a:p>
        </p:txBody>
      </p:sp>
      <p:sp>
        <p:nvSpPr>
          <p:cNvPr id="17" name="TextBox 16"/>
          <p:cNvSpPr txBox="1"/>
          <p:nvPr/>
        </p:nvSpPr>
        <p:spPr>
          <a:xfrm>
            <a:off x="3566160" y="2651760"/>
            <a:ext cx="2377440" cy="548640"/>
          </a:xfrm>
          <a:prstGeom prst="rect">
            <a:avLst/>
          </a:prstGeom>
          <a:noFill/>
        </p:spPr>
        <p:txBody>
          <a:bodyPr wrap="square">
            <a:spAutoFit/>
          </a:bodyPr>
          <a:lstStyle/>
          <a:p>
            <a:pPr algn="ctr"/>
            <a:r>
              <a:rPr sz="2000" b="1">
                <a:solidFill>
                  <a:srgbClr val="1B3A5F"/>
                </a:solidFill>
                <a:latin typeface="Calibri"/>
              </a:rPr>
              <a:t>Name It</a:t>
            </a:r>
          </a:p>
        </p:txBody>
      </p:sp>
      <p:sp>
        <p:nvSpPr>
          <p:cNvPr id="18" name="TextBox 17"/>
          <p:cNvSpPr txBox="1"/>
          <p:nvPr/>
        </p:nvSpPr>
        <p:spPr>
          <a:xfrm>
            <a:off x="3566160" y="3383280"/>
            <a:ext cx="2377440" cy="1280160"/>
          </a:xfrm>
          <a:prstGeom prst="rect">
            <a:avLst/>
          </a:prstGeom>
          <a:noFill/>
        </p:spPr>
        <p:txBody>
          <a:bodyPr wrap="square">
            <a:spAutoFit/>
          </a:bodyPr>
          <a:lstStyle/>
          <a:p>
            <a:pPr algn="ctr"/>
            <a:r>
              <a:rPr sz="1400" b="0">
                <a:solidFill>
                  <a:srgbClr val="6B7280"/>
                </a:solidFill>
                <a:latin typeface="Calibri"/>
              </a:rPr>
              <a:t>Say what’s wrong (verb, comma, word choice…).</a:t>
            </a:r>
          </a:p>
        </p:txBody>
      </p:sp>
      <p:sp>
        <p:nvSpPr>
          <p:cNvPr id="19" name="Rounded Rectangle 18"/>
          <p:cNvSpPr/>
          <p:nvPr/>
        </p:nvSpPr>
        <p:spPr>
          <a:xfrm>
            <a:off x="6309360" y="1554480"/>
            <a:ext cx="274320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1554480"/>
            <a:ext cx="2743200" cy="82296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737360"/>
            <a:ext cx="2743200" cy="457200"/>
          </a:xfrm>
          <a:prstGeom prst="rect">
            <a:avLst/>
          </a:prstGeom>
          <a:noFill/>
        </p:spPr>
        <p:txBody>
          <a:bodyPr wrap="square">
            <a:spAutoFit/>
          </a:bodyPr>
          <a:lstStyle/>
          <a:p>
            <a:pPr algn="ctr"/>
            <a:r>
              <a:rPr sz="1400" b="1">
                <a:solidFill>
                  <a:srgbClr val="FFFFFF"/>
                </a:solidFill>
                <a:latin typeface="Calibri"/>
              </a:rPr>
              <a:t>Step 3</a:t>
            </a:r>
          </a:p>
        </p:txBody>
      </p:sp>
      <p:sp>
        <p:nvSpPr>
          <p:cNvPr id="22" name="TextBox 21"/>
          <p:cNvSpPr txBox="1"/>
          <p:nvPr/>
        </p:nvSpPr>
        <p:spPr>
          <a:xfrm>
            <a:off x="6492240" y="2651760"/>
            <a:ext cx="2377440" cy="548640"/>
          </a:xfrm>
          <a:prstGeom prst="rect">
            <a:avLst/>
          </a:prstGeom>
          <a:noFill/>
        </p:spPr>
        <p:txBody>
          <a:bodyPr wrap="square">
            <a:spAutoFit/>
          </a:bodyPr>
          <a:lstStyle/>
          <a:p>
            <a:pPr algn="ctr"/>
            <a:r>
              <a:rPr sz="2000" b="1">
                <a:solidFill>
                  <a:srgbClr val="1B3A5F"/>
                </a:solidFill>
                <a:latin typeface="Calibri"/>
              </a:rPr>
              <a:t>Fix It</a:t>
            </a:r>
          </a:p>
        </p:txBody>
      </p:sp>
      <p:sp>
        <p:nvSpPr>
          <p:cNvPr id="23" name="TextBox 22"/>
          <p:cNvSpPr txBox="1"/>
          <p:nvPr/>
        </p:nvSpPr>
        <p:spPr>
          <a:xfrm>
            <a:off x="6492240" y="3383280"/>
            <a:ext cx="2377440" cy="1280160"/>
          </a:xfrm>
          <a:prstGeom prst="rect">
            <a:avLst/>
          </a:prstGeom>
          <a:noFill/>
        </p:spPr>
        <p:txBody>
          <a:bodyPr wrap="square">
            <a:spAutoFit/>
          </a:bodyPr>
          <a:lstStyle/>
          <a:p>
            <a:pPr algn="ctr"/>
            <a:r>
              <a:rPr sz="1400" b="0">
                <a:solidFill>
                  <a:srgbClr val="6B7280"/>
                </a:solidFill>
                <a:latin typeface="Calibri"/>
              </a:rPr>
              <a:t>Say the correct version out loud.</a:t>
            </a:r>
          </a:p>
        </p:txBody>
      </p:sp>
      <p:sp>
        <p:nvSpPr>
          <p:cNvPr id="24" name="Rounded Rectangle 23"/>
          <p:cNvSpPr/>
          <p:nvPr/>
        </p:nvSpPr>
        <p:spPr>
          <a:xfrm>
            <a:off x="9235440" y="1554480"/>
            <a:ext cx="274320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35440" y="1554480"/>
            <a:ext cx="2743200" cy="82296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1737360"/>
            <a:ext cx="2743200" cy="457200"/>
          </a:xfrm>
          <a:prstGeom prst="rect">
            <a:avLst/>
          </a:prstGeom>
          <a:noFill/>
        </p:spPr>
        <p:txBody>
          <a:bodyPr wrap="square">
            <a:spAutoFit/>
          </a:bodyPr>
          <a:lstStyle/>
          <a:p>
            <a:pPr algn="ctr"/>
            <a:r>
              <a:rPr sz="1400" b="1">
                <a:solidFill>
                  <a:srgbClr val="FFFFFF"/>
                </a:solidFill>
                <a:latin typeface="Calibri"/>
              </a:rPr>
              <a:t>Step 4</a:t>
            </a:r>
          </a:p>
        </p:txBody>
      </p:sp>
      <p:sp>
        <p:nvSpPr>
          <p:cNvPr id="27" name="TextBox 26"/>
          <p:cNvSpPr txBox="1"/>
          <p:nvPr/>
        </p:nvSpPr>
        <p:spPr>
          <a:xfrm>
            <a:off x="9418320" y="2651760"/>
            <a:ext cx="2377440" cy="548640"/>
          </a:xfrm>
          <a:prstGeom prst="rect">
            <a:avLst/>
          </a:prstGeom>
          <a:noFill/>
        </p:spPr>
        <p:txBody>
          <a:bodyPr wrap="square">
            <a:spAutoFit/>
          </a:bodyPr>
          <a:lstStyle/>
          <a:p>
            <a:pPr algn="ctr"/>
            <a:r>
              <a:rPr sz="2000" b="1">
                <a:solidFill>
                  <a:srgbClr val="1B3A5F"/>
                </a:solidFill>
                <a:latin typeface="Calibri"/>
              </a:rPr>
              <a:t>Score It</a:t>
            </a:r>
          </a:p>
        </p:txBody>
      </p:sp>
      <p:sp>
        <p:nvSpPr>
          <p:cNvPr id="28" name="TextBox 27"/>
          <p:cNvSpPr txBox="1"/>
          <p:nvPr/>
        </p:nvSpPr>
        <p:spPr>
          <a:xfrm>
            <a:off x="9418320" y="3383280"/>
            <a:ext cx="2377440" cy="1280160"/>
          </a:xfrm>
          <a:prstGeom prst="rect">
            <a:avLst/>
          </a:prstGeom>
          <a:noFill/>
        </p:spPr>
        <p:txBody>
          <a:bodyPr wrap="square">
            <a:spAutoFit/>
          </a:bodyPr>
          <a:lstStyle/>
          <a:p>
            <a:pPr algn="ctr"/>
            <a:r>
              <a:rPr sz="1400" b="0">
                <a:solidFill>
                  <a:srgbClr val="6B7280"/>
                </a:solidFill>
                <a:latin typeface="Calibri"/>
              </a:rPr>
              <a:t>1 point for finding + 1 point for fixing = 2 max per round.</a:t>
            </a:r>
          </a:p>
        </p:txBody>
      </p:sp>
      <p:sp>
        <p:nvSpPr>
          <p:cNvPr id="29" name="Rectangle 28"/>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4–10 min</a:t>
            </a:r>
          </a:p>
        </p:txBody>
      </p:sp>
      <p:sp>
        <p:nvSpPr>
          <p:cNvPr id="31" name="TextBox 30"/>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6/28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GAME 1</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Detective Rounds — Fix These!</a:t>
            </a:r>
          </a:p>
        </p:txBody>
      </p:sp>
      <p:sp>
        <p:nvSpPr>
          <p:cNvPr id="7" name="Rounded Rectangle 6"/>
          <p:cNvSpPr/>
          <p:nvPr/>
        </p:nvSpPr>
        <p:spPr>
          <a:xfrm>
            <a:off x="457200" y="141732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10698480" cy="411480"/>
          </a:xfrm>
          <a:prstGeom prst="rect">
            <a:avLst/>
          </a:prstGeom>
          <a:noFill/>
        </p:spPr>
        <p:txBody>
          <a:bodyPr wrap="square">
            <a:spAutoFit/>
          </a:bodyPr>
          <a:lstStyle/>
          <a:p>
            <a:pPr algn="l"/>
            <a:r>
              <a:rPr sz="1600" b="0">
                <a:solidFill>
                  <a:srgbClr val="2D2D2D"/>
                </a:solidFill>
                <a:latin typeface="Calibri"/>
              </a:rPr>
              <a:t>Round 1:  The group of friends are going to the library.</a:t>
            </a:r>
          </a:p>
        </p:txBody>
      </p:sp>
      <p:sp>
        <p:nvSpPr>
          <p:cNvPr id="9" name="Rounded Rectangle 8"/>
          <p:cNvSpPr/>
          <p:nvPr/>
        </p:nvSpPr>
        <p:spPr>
          <a:xfrm>
            <a:off x="457200" y="228600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14600"/>
            <a:ext cx="10698480" cy="411480"/>
          </a:xfrm>
          <a:prstGeom prst="rect">
            <a:avLst/>
          </a:prstGeom>
          <a:noFill/>
        </p:spPr>
        <p:txBody>
          <a:bodyPr wrap="square">
            <a:spAutoFit/>
          </a:bodyPr>
          <a:lstStyle/>
          <a:p>
            <a:pPr algn="l"/>
            <a:r>
              <a:rPr sz="1600" b="0">
                <a:solidFill>
                  <a:srgbClr val="2D2D2D"/>
                </a:solidFill>
                <a:latin typeface="Calibri"/>
              </a:rPr>
              <a:t>Round 2:  She dont like writing rough drafts.</a:t>
            </a:r>
          </a:p>
        </p:txBody>
      </p:sp>
      <p:sp>
        <p:nvSpPr>
          <p:cNvPr id="11" name="Rounded Rectangle 10"/>
          <p:cNvSpPr/>
          <p:nvPr/>
        </p:nvSpPr>
        <p:spPr>
          <a:xfrm>
            <a:off x="457200" y="315468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83280"/>
            <a:ext cx="10698480" cy="411480"/>
          </a:xfrm>
          <a:prstGeom prst="rect">
            <a:avLst/>
          </a:prstGeom>
          <a:noFill/>
        </p:spPr>
        <p:txBody>
          <a:bodyPr wrap="square">
            <a:spAutoFit/>
          </a:bodyPr>
          <a:lstStyle/>
          <a:p>
            <a:pPr algn="l"/>
            <a:r>
              <a:rPr sz="1600" b="0">
                <a:solidFill>
                  <a:srgbClr val="2D2D2D"/>
                </a:solidFill>
                <a:latin typeface="Calibri"/>
              </a:rPr>
              <a:t>Round 3:  Its raining so hard that practice was canceled.</a:t>
            </a:r>
          </a:p>
        </p:txBody>
      </p:sp>
      <p:sp>
        <p:nvSpPr>
          <p:cNvPr id="13" name="Rounded Rectangle 12"/>
          <p:cNvSpPr/>
          <p:nvPr/>
        </p:nvSpPr>
        <p:spPr>
          <a:xfrm>
            <a:off x="457200" y="4023359"/>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51959"/>
            <a:ext cx="10698480" cy="411480"/>
          </a:xfrm>
          <a:prstGeom prst="rect">
            <a:avLst/>
          </a:prstGeom>
          <a:noFill/>
        </p:spPr>
        <p:txBody>
          <a:bodyPr wrap="square">
            <a:spAutoFit/>
          </a:bodyPr>
          <a:lstStyle/>
          <a:p>
            <a:pPr algn="l"/>
            <a:r>
              <a:rPr sz="1600" b="0">
                <a:solidFill>
                  <a:srgbClr val="2D2D2D"/>
                </a:solidFill>
                <a:latin typeface="Calibri"/>
              </a:rPr>
              <a:t>Round 4:  I wanted to finish the book but I fell asleep.</a:t>
            </a:r>
          </a:p>
        </p:txBody>
      </p:sp>
      <p:sp>
        <p:nvSpPr>
          <p:cNvPr id="15" name="Rounded Rectangle 14"/>
          <p:cNvSpPr/>
          <p:nvPr/>
        </p:nvSpPr>
        <p:spPr>
          <a:xfrm>
            <a:off x="457200" y="489204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120640"/>
            <a:ext cx="10698480" cy="411480"/>
          </a:xfrm>
          <a:prstGeom prst="rect">
            <a:avLst/>
          </a:prstGeom>
          <a:noFill/>
        </p:spPr>
        <p:txBody>
          <a:bodyPr wrap="square">
            <a:spAutoFit/>
          </a:bodyPr>
          <a:lstStyle/>
          <a:p>
            <a:pPr algn="l"/>
            <a:r>
              <a:rPr sz="1600" b="0">
                <a:solidFill>
                  <a:srgbClr val="2D2D2D"/>
                </a:solidFill>
                <a:latin typeface="Calibri"/>
              </a:rPr>
              <a:t>Round 5:  There homework was better then yesterday’s.</a:t>
            </a:r>
          </a:p>
        </p:txBody>
      </p:sp>
      <p:sp>
        <p:nvSpPr>
          <p:cNvPr id="17" name="Rectangle 1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4–10 min</a:t>
            </a:r>
          </a:p>
        </p:txBody>
      </p:sp>
      <p:sp>
        <p:nvSpPr>
          <p:cNvPr id="19" name="TextBox 18"/>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7/28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ANSWER KEY</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Grammar Detective — Answers</a:t>
            </a:r>
          </a:p>
        </p:txBody>
      </p:sp>
      <p:sp>
        <p:nvSpPr>
          <p:cNvPr id="7" name="Rounded Rectangle 6"/>
          <p:cNvSpPr/>
          <p:nvPr/>
        </p:nvSpPr>
        <p:spPr>
          <a:xfrm>
            <a:off x="457200" y="1417320"/>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10698480" cy="411480"/>
          </a:xfrm>
          <a:prstGeom prst="rect">
            <a:avLst/>
          </a:prstGeom>
          <a:noFill/>
        </p:spPr>
        <p:txBody>
          <a:bodyPr wrap="square">
            <a:spAutoFit/>
          </a:bodyPr>
          <a:lstStyle/>
          <a:p>
            <a:pPr algn="l"/>
            <a:r>
              <a:rPr sz="1500" b="0">
                <a:solidFill>
                  <a:srgbClr val="2D2D2D"/>
                </a:solidFill>
                <a:latin typeface="Calibri"/>
              </a:rPr>
              <a:t>1.  The group of friends is going…  (group = singular)</a:t>
            </a:r>
          </a:p>
        </p:txBody>
      </p:sp>
      <p:sp>
        <p:nvSpPr>
          <p:cNvPr id="9" name="Rounded Rectangle 8"/>
          <p:cNvSpPr/>
          <p:nvPr/>
        </p:nvSpPr>
        <p:spPr>
          <a:xfrm>
            <a:off x="457200" y="2286000"/>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14600"/>
            <a:ext cx="10698480" cy="411480"/>
          </a:xfrm>
          <a:prstGeom prst="rect">
            <a:avLst/>
          </a:prstGeom>
          <a:noFill/>
        </p:spPr>
        <p:txBody>
          <a:bodyPr wrap="square">
            <a:spAutoFit/>
          </a:bodyPr>
          <a:lstStyle/>
          <a:p>
            <a:pPr algn="l"/>
            <a:r>
              <a:rPr sz="1500" b="0">
                <a:solidFill>
                  <a:srgbClr val="2D2D2D"/>
                </a:solidFill>
                <a:latin typeface="Calibri"/>
              </a:rPr>
              <a:t>2.  She doesn’t like writing rough drafts.  (don’t → doesn’t)</a:t>
            </a:r>
          </a:p>
        </p:txBody>
      </p:sp>
      <p:sp>
        <p:nvSpPr>
          <p:cNvPr id="11" name="Rounded Rectangle 10"/>
          <p:cNvSpPr/>
          <p:nvPr/>
        </p:nvSpPr>
        <p:spPr>
          <a:xfrm>
            <a:off x="457200" y="3154680"/>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83280"/>
            <a:ext cx="10698480" cy="411480"/>
          </a:xfrm>
          <a:prstGeom prst="rect">
            <a:avLst/>
          </a:prstGeom>
          <a:noFill/>
        </p:spPr>
        <p:txBody>
          <a:bodyPr wrap="square">
            <a:spAutoFit/>
          </a:bodyPr>
          <a:lstStyle/>
          <a:p>
            <a:pPr algn="l"/>
            <a:r>
              <a:rPr sz="1500" b="0">
                <a:solidFill>
                  <a:srgbClr val="2D2D2D"/>
                </a:solidFill>
                <a:latin typeface="Calibri"/>
              </a:rPr>
              <a:t>3.  It’s raining so hard…  (It’s = it is)</a:t>
            </a:r>
          </a:p>
        </p:txBody>
      </p:sp>
      <p:sp>
        <p:nvSpPr>
          <p:cNvPr id="13" name="Rounded Rectangle 12"/>
          <p:cNvSpPr/>
          <p:nvPr/>
        </p:nvSpPr>
        <p:spPr>
          <a:xfrm>
            <a:off x="457200" y="4023359"/>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51959"/>
            <a:ext cx="10698480" cy="411480"/>
          </a:xfrm>
          <a:prstGeom prst="rect">
            <a:avLst/>
          </a:prstGeom>
          <a:noFill/>
        </p:spPr>
        <p:txBody>
          <a:bodyPr wrap="square">
            <a:spAutoFit/>
          </a:bodyPr>
          <a:lstStyle/>
          <a:p>
            <a:pPr algn="l"/>
            <a:r>
              <a:rPr sz="1500" b="0">
                <a:solidFill>
                  <a:srgbClr val="2D2D2D"/>
                </a:solidFill>
                <a:latin typeface="Calibri"/>
              </a:rPr>
              <a:t>4.  I wanted to finish the book, but I fell asleep.  (FANBOYS comma)</a:t>
            </a:r>
          </a:p>
        </p:txBody>
      </p:sp>
      <p:sp>
        <p:nvSpPr>
          <p:cNvPr id="15" name="Rounded Rectangle 14"/>
          <p:cNvSpPr/>
          <p:nvPr/>
        </p:nvSpPr>
        <p:spPr>
          <a:xfrm>
            <a:off x="457200" y="4892040"/>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120640"/>
            <a:ext cx="10698480" cy="411480"/>
          </a:xfrm>
          <a:prstGeom prst="rect">
            <a:avLst/>
          </a:prstGeom>
          <a:noFill/>
        </p:spPr>
        <p:txBody>
          <a:bodyPr wrap="square">
            <a:spAutoFit/>
          </a:bodyPr>
          <a:lstStyle/>
          <a:p>
            <a:pPr algn="l"/>
            <a:r>
              <a:rPr sz="1500" b="0">
                <a:solidFill>
                  <a:srgbClr val="2D2D2D"/>
                </a:solidFill>
                <a:latin typeface="Calibri"/>
              </a:rPr>
              <a:t>5.  Their homework was better than yesterday’s.  (their / than)</a:t>
            </a:r>
          </a:p>
        </p:txBody>
      </p:sp>
      <p:sp>
        <p:nvSpPr>
          <p:cNvPr id="17" name="Rectangle 1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4–10 min</a:t>
            </a:r>
          </a:p>
        </p:txBody>
      </p:sp>
      <p:sp>
        <p:nvSpPr>
          <p:cNvPr id="19" name="TextBox 18"/>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8/28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READING</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10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Reading Superpowers for Grade 7</a:t>
            </a:r>
          </a:p>
        </p:txBody>
      </p:sp>
      <p:sp>
        <p:nvSpPr>
          <p:cNvPr id="9" name="Rounded Rectangle 8"/>
          <p:cNvSpPr/>
          <p:nvPr/>
        </p:nvSpPr>
        <p:spPr>
          <a:xfrm>
            <a:off x="457200" y="1554480"/>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54480"/>
            <a:ext cx="3611880"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64208"/>
            <a:ext cx="3246120" cy="320040"/>
          </a:xfrm>
          <a:prstGeom prst="rect">
            <a:avLst/>
          </a:prstGeom>
          <a:noFill/>
        </p:spPr>
        <p:txBody>
          <a:bodyPr wrap="square">
            <a:spAutoFit/>
          </a:bodyPr>
          <a:lstStyle/>
          <a:p>
            <a:pPr algn="l"/>
            <a:r>
              <a:rPr sz="1600" b="1">
                <a:solidFill>
                  <a:srgbClr val="FFFFFF"/>
                </a:solidFill>
                <a:latin typeface="Calibri"/>
              </a:rPr>
              <a:t>Main Idea</a:t>
            </a:r>
          </a:p>
        </p:txBody>
      </p:sp>
      <p:sp>
        <p:nvSpPr>
          <p:cNvPr id="12" name="TextBox 11"/>
          <p:cNvSpPr txBox="1"/>
          <p:nvPr/>
        </p:nvSpPr>
        <p:spPr>
          <a:xfrm>
            <a:off x="640080" y="2331720"/>
            <a:ext cx="3246120" cy="914400"/>
          </a:xfrm>
          <a:prstGeom prst="rect">
            <a:avLst/>
          </a:prstGeom>
          <a:noFill/>
        </p:spPr>
        <p:txBody>
          <a:bodyPr wrap="square">
            <a:spAutoFit/>
          </a:bodyPr>
          <a:lstStyle/>
          <a:p>
            <a:pPr algn="l"/>
            <a:r>
              <a:rPr sz="1500" b="0">
                <a:solidFill>
                  <a:srgbClr val="2D2D2D"/>
                </a:solidFill>
                <a:latin typeface="Calibri"/>
              </a:rPr>
              <a:t>What is this mostly about? One clear sentence.</a:t>
            </a:r>
          </a:p>
        </p:txBody>
      </p:sp>
      <p:sp>
        <p:nvSpPr>
          <p:cNvPr id="13" name="Rounded Rectangle 12"/>
          <p:cNvSpPr/>
          <p:nvPr/>
        </p:nvSpPr>
        <p:spPr>
          <a:xfrm>
            <a:off x="4297680" y="1554480"/>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554480"/>
            <a:ext cx="3611880" cy="50292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664208"/>
            <a:ext cx="3246120" cy="320040"/>
          </a:xfrm>
          <a:prstGeom prst="rect">
            <a:avLst/>
          </a:prstGeom>
          <a:noFill/>
        </p:spPr>
        <p:txBody>
          <a:bodyPr wrap="square">
            <a:spAutoFit/>
          </a:bodyPr>
          <a:lstStyle/>
          <a:p>
            <a:pPr algn="l"/>
            <a:r>
              <a:rPr sz="1600" b="1">
                <a:solidFill>
                  <a:srgbClr val="FFFFFF"/>
                </a:solidFill>
                <a:latin typeface="Calibri"/>
              </a:rPr>
              <a:t>Key Details</a:t>
            </a:r>
          </a:p>
        </p:txBody>
      </p:sp>
      <p:sp>
        <p:nvSpPr>
          <p:cNvPr id="16" name="TextBox 15"/>
          <p:cNvSpPr txBox="1"/>
          <p:nvPr/>
        </p:nvSpPr>
        <p:spPr>
          <a:xfrm>
            <a:off x="4480560" y="2331720"/>
            <a:ext cx="3246120" cy="914400"/>
          </a:xfrm>
          <a:prstGeom prst="rect">
            <a:avLst/>
          </a:prstGeom>
          <a:noFill/>
        </p:spPr>
        <p:txBody>
          <a:bodyPr wrap="square">
            <a:spAutoFit/>
          </a:bodyPr>
          <a:lstStyle/>
          <a:p>
            <a:pPr algn="l"/>
            <a:r>
              <a:rPr sz="1500" b="0">
                <a:solidFill>
                  <a:srgbClr val="2D2D2D"/>
                </a:solidFill>
                <a:latin typeface="Calibri"/>
              </a:rPr>
              <a:t>Which facts support the main idea?</a:t>
            </a:r>
          </a:p>
        </p:txBody>
      </p:sp>
      <p:sp>
        <p:nvSpPr>
          <p:cNvPr id="17" name="Rounded Rectangle 16"/>
          <p:cNvSpPr/>
          <p:nvPr/>
        </p:nvSpPr>
        <p:spPr>
          <a:xfrm>
            <a:off x="8138160" y="1554480"/>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554480"/>
            <a:ext cx="3611880"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1664208"/>
            <a:ext cx="3246120" cy="320040"/>
          </a:xfrm>
          <a:prstGeom prst="rect">
            <a:avLst/>
          </a:prstGeom>
          <a:noFill/>
        </p:spPr>
        <p:txBody>
          <a:bodyPr wrap="square">
            <a:spAutoFit/>
          </a:bodyPr>
          <a:lstStyle/>
          <a:p>
            <a:pPr algn="l"/>
            <a:r>
              <a:rPr sz="1600" b="1">
                <a:solidFill>
                  <a:srgbClr val="FFFFFF"/>
                </a:solidFill>
                <a:latin typeface="Calibri"/>
              </a:rPr>
              <a:t>Inference</a:t>
            </a:r>
          </a:p>
        </p:txBody>
      </p:sp>
      <p:sp>
        <p:nvSpPr>
          <p:cNvPr id="20" name="TextBox 19"/>
          <p:cNvSpPr txBox="1"/>
          <p:nvPr/>
        </p:nvSpPr>
        <p:spPr>
          <a:xfrm>
            <a:off x="8321040" y="2331720"/>
            <a:ext cx="3246120" cy="914400"/>
          </a:xfrm>
          <a:prstGeom prst="rect">
            <a:avLst/>
          </a:prstGeom>
          <a:noFill/>
        </p:spPr>
        <p:txBody>
          <a:bodyPr wrap="square">
            <a:spAutoFit/>
          </a:bodyPr>
          <a:lstStyle/>
          <a:p>
            <a:pPr algn="l"/>
            <a:r>
              <a:rPr sz="1500" b="0">
                <a:solidFill>
                  <a:srgbClr val="2D2D2D"/>
                </a:solidFill>
                <a:latin typeface="Calibri"/>
              </a:rPr>
              <a:t>What is suggested but not said? Use clues.</a:t>
            </a:r>
          </a:p>
        </p:txBody>
      </p:sp>
      <p:sp>
        <p:nvSpPr>
          <p:cNvPr id="21" name="Rounded Rectangle 20"/>
          <p:cNvSpPr/>
          <p:nvPr/>
        </p:nvSpPr>
        <p:spPr>
          <a:xfrm>
            <a:off x="457200" y="3749039"/>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49039"/>
            <a:ext cx="3611880" cy="50292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858767"/>
            <a:ext cx="3246120" cy="320040"/>
          </a:xfrm>
          <a:prstGeom prst="rect">
            <a:avLst/>
          </a:prstGeom>
          <a:noFill/>
        </p:spPr>
        <p:txBody>
          <a:bodyPr wrap="square">
            <a:spAutoFit/>
          </a:bodyPr>
          <a:lstStyle/>
          <a:p>
            <a:pPr algn="l"/>
            <a:r>
              <a:rPr sz="1600" b="1">
                <a:solidFill>
                  <a:srgbClr val="FFFFFF"/>
                </a:solidFill>
                <a:latin typeface="Calibri"/>
              </a:rPr>
              <a:t>Author’s Purpose</a:t>
            </a:r>
          </a:p>
        </p:txBody>
      </p:sp>
      <p:sp>
        <p:nvSpPr>
          <p:cNvPr id="24" name="TextBox 23"/>
          <p:cNvSpPr txBox="1"/>
          <p:nvPr/>
        </p:nvSpPr>
        <p:spPr>
          <a:xfrm>
            <a:off x="640080" y="4526279"/>
            <a:ext cx="3246120" cy="914400"/>
          </a:xfrm>
          <a:prstGeom prst="rect">
            <a:avLst/>
          </a:prstGeom>
          <a:noFill/>
        </p:spPr>
        <p:txBody>
          <a:bodyPr wrap="square">
            <a:spAutoFit/>
          </a:bodyPr>
          <a:lstStyle/>
          <a:p>
            <a:pPr algn="l"/>
            <a:r>
              <a:rPr sz="1500" b="0">
                <a:solidFill>
                  <a:srgbClr val="2D2D2D"/>
                </a:solidFill>
                <a:latin typeface="Calibri"/>
              </a:rPr>
              <a:t>Inform? Persuade? Entertain? Explain?</a:t>
            </a:r>
          </a:p>
        </p:txBody>
      </p:sp>
      <p:sp>
        <p:nvSpPr>
          <p:cNvPr id="25" name="Rounded Rectangle 24"/>
          <p:cNvSpPr/>
          <p:nvPr/>
        </p:nvSpPr>
        <p:spPr>
          <a:xfrm>
            <a:off x="4297680" y="3749039"/>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80" y="3749039"/>
            <a:ext cx="3611880"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3858767"/>
            <a:ext cx="3246120" cy="320040"/>
          </a:xfrm>
          <a:prstGeom prst="rect">
            <a:avLst/>
          </a:prstGeom>
          <a:noFill/>
        </p:spPr>
        <p:txBody>
          <a:bodyPr wrap="square">
            <a:spAutoFit/>
          </a:bodyPr>
          <a:lstStyle/>
          <a:p>
            <a:pPr algn="l"/>
            <a:r>
              <a:rPr sz="1600" b="1">
                <a:solidFill>
                  <a:srgbClr val="FFFFFF"/>
                </a:solidFill>
                <a:latin typeface="Calibri"/>
              </a:rPr>
              <a:t>Vocabulary in Context</a:t>
            </a:r>
          </a:p>
        </p:txBody>
      </p:sp>
      <p:sp>
        <p:nvSpPr>
          <p:cNvPr id="28" name="TextBox 27"/>
          <p:cNvSpPr txBox="1"/>
          <p:nvPr/>
        </p:nvSpPr>
        <p:spPr>
          <a:xfrm>
            <a:off x="4480560" y="4526279"/>
            <a:ext cx="3246120" cy="914400"/>
          </a:xfrm>
          <a:prstGeom prst="rect">
            <a:avLst/>
          </a:prstGeom>
          <a:noFill/>
        </p:spPr>
        <p:txBody>
          <a:bodyPr wrap="square">
            <a:spAutoFit/>
          </a:bodyPr>
          <a:lstStyle/>
          <a:p>
            <a:pPr algn="l"/>
            <a:r>
              <a:rPr sz="1500" b="0">
                <a:solidFill>
                  <a:srgbClr val="2D2D2D"/>
                </a:solidFill>
                <a:latin typeface="Calibri"/>
              </a:rPr>
              <a:t>Guess a hard word using nearby clues.</a:t>
            </a:r>
          </a:p>
        </p:txBody>
      </p:sp>
      <p:sp>
        <p:nvSpPr>
          <p:cNvPr id="29" name="Rounded Rectangle 28"/>
          <p:cNvSpPr/>
          <p:nvPr/>
        </p:nvSpPr>
        <p:spPr>
          <a:xfrm>
            <a:off x="8138160" y="3749039"/>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38160" y="3749039"/>
            <a:ext cx="3611880" cy="50292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3858767"/>
            <a:ext cx="3246120" cy="320040"/>
          </a:xfrm>
          <a:prstGeom prst="rect">
            <a:avLst/>
          </a:prstGeom>
          <a:noFill/>
        </p:spPr>
        <p:txBody>
          <a:bodyPr wrap="square">
            <a:spAutoFit/>
          </a:bodyPr>
          <a:lstStyle/>
          <a:p>
            <a:pPr algn="l"/>
            <a:r>
              <a:rPr sz="1600" b="1">
                <a:solidFill>
                  <a:srgbClr val="FFFFFF"/>
                </a:solidFill>
                <a:latin typeface="Calibri"/>
              </a:rPr>
              <a:t>Summarize</a:t>
            </a:r>
          </a:p>
        </p:txBody>
      </p:sp>
      <p:sp>
        <p:nvSpPr>
          <p:cNvPr id="32" name="TextBox 31"/>
          <p:cNvSpPr txBox="1"/>
          <p:nvPr/>
        </p:nvSpPr>
        <p:spPr>
          <a:xfrm>
            <a:off x="8321040" y="4526279"/>
            <a:ext cx="3246120" cy="914400"/>
          </a:xfrm>
          <a:prstGeom prst="rect">
            <a:avLst/>
          </a:prstGeom>
          <a:noFill/>
        </p:spPr>
        <p:txBody>
          <a:bodyPr wrap="square">
            <a:spAutoFit/>
          </a:bodyPr>
          <a:lstStyle/>
          <a:p>
            <a:pPr algn="l"/>
            <a:r>
              <a:rPr sz="1500" b="0">
                <a:solidFill>
                  <a:srgbClr val="2D2D2D"/>
                </a:solidFill>
                <a:latin typeface="Calibri"/>
              </a:rPr>
              <a:t>Retell the important parts in your own words.</a:t>
            </a:r>
          </a:p>
        </p:txBody>
      </p:sp>
      <p:sp>
        <p:nvSpPr>
          <p:cNvPr id="33" name="Rectangle 32"/>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10–20 min</a:t>
            </a:r>
          </a:p>
        </p:txBody>
      </p:sp>
      <p:sp>
        <p:nvSpPr>
          <p:cNvPr id="35" name="TextBox 34"/>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9/28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STRATEGY</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Annotation Code (Use Every Time)</a:t>
            </a:r>
          </a:p>
        </p:txBody>
      </p:sp>
      <p:sp>
        <p:nvSpPr>
          <p:cNvPr id="7" name="Rounded Rectangle 6"/>
          <p:cNvSpPr/>
          <p:nvPr/>
        </p:nvSpPr>
        <p:spPr>
          <a:xfrm>
            <a:off x="457200" y="1645920"/>
            <a:ext cx="274320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0160" y="2011680"/>
            <a:ext cx="1097280" cy="1097280"/>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2240280"/>
            <a:ext cx="1097280" cy="640080"/>
          </a:xfrm>
          <a:prstGeom prst="rect">
            <a:avLst/>
          </a:prstGeom>
          <a:noFill/>
        </p:spPr>
        <p:txBody>
          <a:bodyPr wrap="square">
            <a:spAutoFit/>
          </a:bodyPr>
          <a:lstStyle/>
          <a:p>
            <a:pPr algn="ctr"/>
            <a:r>
              <a:rPr sz="2800" b="1">
                <a:solidFill>
                  <a:srgbClr val="FFFFFF"/>
                </a:solidFill>
                <a:latin typeface="Calibri"/>
              </a:rPr>
              <a:t>★</a:t>
            </a:r>
          </a:p>
        </p:txBody>
      </p:sp>
      <p:sp>
        <p:nvSpPr>
          <p:cNvPr id="10" name="TextBox 9"/>
          <p:cNvSpPr txBox="1"/>
          <p:nvPr/>
        </p:nvSpPr>
        <p:spPr>
          <a:xfrm>
            <a:off x="640080" y="3383280"/>
            <a:ext cx="2377440" cy="457200"/>
          </a:xfrm>
          <a:prstGeom prst="rect">
            <a:avLst/>
          </a:prstGeom>
          <a:noFill/>
        </p:spPr>
        <p:txBody>
          <a:bodyPr wrap="square">
            <a:spAutoFit/>
          </a:bodyPr>
          <a:lstStyle/>
          <a:p>
            <a:pPr algn="ctr"/>
            <a:r>
              <a:rPr sz="2000" b="1">
                <a:solidFill>
                  <a:srgbClr val="1B3A5F"/>
                </a:solidFill>
                <a:latin typeface="Calibri"/>
              </a:rPr>
              <a:t>Star</a:t>
            </a:r>
          </a:p>
        </p:txBody>
      </p:sp>
      <p:sp>
        <p:nvSpPr>
          <p:cNvPr id="11" name="TextBox 10"/>
          <p:cNvSpPr txBox="1"/>
          <p:nvPr/>
        </p:nvSpPr>
        <p:spPr>
          <a:xfrm>
            <a:off x="640080" y="4023360"/>
            <a:ext cx="2377440" cy="731520"/>
          </a:xfrm>
          <a:prstGeom prst="rect">
            <a:avLst/>
          </a:prstGeom>
          <a:noFill/>
        </p:spPr>
        <p:txBody>
          <a:bodyPr wrap="square">
            <a:spAutoFit/>
          </a:bodyPr>
          <a:lstStyle/>
          <a:p>
            <a:pPr algn="ctr"/>
            <a:r>
              <a:rPr sz="1600" b="0">
                <a:solidFill>
                  <a:srgbClr val="6B7280"/>
                </a:solidFill>
                <a:latin typeface="Calibri"/>
              </a:rPr>
              <a:t>Main idea</a:t>
            </a:r>
          </a:p>
        </p:txBody>
      </p:sp>
      <p:sp>
        <p:nvSpPr>
          <p:cNvPr id="12" name="Rounded Rectangle 11"/>
          <p:cNvSpPr/>
          <p:nvPr/>
        </p:nvSpPr>
        <p:spPr>
          <a:xfrm>
            <a:off x="3383280" y="1645920"/>
            <a:ext cx="274320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06240" y="2011680"/>
            <a:ext cx="1097280" cy="1097280"/>
          </a:xfrm>
          <a:prstGeom prst="ellipse">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240280"/>
            <a:ext cx="1097280" cy="640080"/>
          </a:xfrm>
          <a:prstGeom prst="rect">
            <a:avLst/>
          </a:prstGeom>
          <a:noFill/>
        </p:spPr>
        <p:txBody>
          <a:bodyPr wrap="square">
            <a:spAutoFit/>
          </a:bodyPr>
          <a:lstStyle/>
          <a:p>
            <a:pPr algn="ctr"/>
            <a:r>
              <a:rPr sz="2800" b="1">
                <a:solidFill>
                  <a:srgbClr val="FFFFFF"/>
                </a:solidFill>
                <a:latin typeface="Calibri"/>
              </a:rPr>
              <a:t>—</a:t>
            </a:r>
          </a:p>
        </p:txBody>
      </p:sp>
      <p:sp>
        <p:nvSpPr>
          <p:cNvPr id="15" name="TextBox 14"/>
          <p:cNvSpPr txBox="1"/>
          <p:nvPr/>
        </p:nvSpPr>
        <p:spPr>
          <a:xfrm>
            <a:off x="3566160" y="3383280"/>
            <a:ext cx="2377440" cy="457200"/>
          </a:xfrm>
          <a:prstGeom prst="rect">
            <a:avLst/>
          </a:prstGeom>
          <a:noFill/>
        </p:spPr>
        <p:txBody>
          <a:bodyPr wrap="square">
            <a:spAutoFit/>
          </a:bodyPr>
          <a:lstStyle/>
          <a:p>
            <a:pPr algn="ctr"/>
            <a:r>
              <a:rPr sz="2000" b="1">
                <a:solidFill>
                  <a:srgbClr val="1B3A5F"/>
                </a:solidFill>
                <a:latin typeface="Calibri"/>
              </a:rPr>
              <a:t>Underline</a:t>
            </a:r>
          </a:p>
        </p:txBody>
      </p:sp>
      <p:sp>
        <p:nvSpPr>
          <p:cNvPr id="16" name="TextBox 15"/>
          <p:cNvSpPr txBox="1"/>
          <p:nvPr/>
        </p:nvSpPr>
        <p:spPr>
          <a:xfrm>
            <a:off x="3566160" y="4023360"/>
            <a:ext cx="2377440" cy="731520"/>
          </a:xfrm>
          <a:prstGeom prst="rect">
            <a:avLst/>
          </a:prstGeom>
          <a:noFill/>
        </p:spPr>
        <p:txBody>
          <a:bodyPr wrap="square">
            <a:spAutoFit/>
          </a:bodyPr>
          <a:lstStyle/>
          <a:p>
            <a:pPr algn="ctr"/>
            <a:r>
              <a:rPr sz="1600" b="0">
                <a:solidFill>
                  <a:srgbClr val="6B7280"/>
                </a:solidFill>
                <a:latin typeface="Calibri"/>
              </a:rPr>
              <a:t>Important detail</a:t>
            </a:r>
          </a:p>
        </p:txBody>
      </p:sp>
      <p:sp>
        <p:nvSpPr>
          <p:cNvPr id="17" name="Rounded Rectangle 16"/>
          <p:cNvSpPr/>
          <p:nvPr/>
        </p:nvSpPr>
        <p:spPr>
          <a:xfrm>
            <a:off x="6309360" y="1645920"/>
            <a:ext cx="274320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0" y="2011680"/>
            <a:ext cx="1097280" cy="1097280"/>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2240280"/>
            <a:ext cx="1097280" cy="640080"/>
          </a:xfrm>
          <a:prstGeom prst="rect">
            <a:avLst/>
          </a:prstGeom>
          <a:noFill/>
        </p:spPr>
        <p:txBody>
          <a:bodyPr wrap="square">
            <a:spAutoFit/>
          </a:bodyPr>
          <a:lstStyle/>
          <a:p>
            <a:pPr algn="ctr"/>
            <a:r>
              <a:rPr sz="2800" b="1">
                <a:solidFill>
                  <a:srgbClr val="FFFFFF"/>
                </a:solidFill>
                <a:latin typeface="Calibri"/>
              </a:rPr>
              <a:t>?</a:t>
            </a:r>
          </a:p>
        </p:txBody>
      </p:sp>
      <p:sp>
        <p:nvSpPr>
          <p:cNvPr id="20" name="TextBox 19"/>
          <p:cNvSpPr txBox="1"/>
          <p:nvPr/>
        </p:nvSpPr>
        <p:spPr>
          <a:xfrm>
            <a:off x="6492240" y="3383280"/>
            <a:ext cx="2377440" cy="457200"/>
          </a:xfrm>
          <a:prstGeom prst="rect">
            <a:avLst/>
          </a:prstGeom>
          <a:noFill/>
        </p:spPr>
        <p:txBody>
          <a:bodyPr wrap="square">
            <a:spAutoFit/>
          </a:bodyPr>
          <a:lstStyle/>
          <a:p>
            <a:pPr algn="ctr"/>
            <a:r>
              <a:rPr sz="2000" b="1">
                <a:solidFill>
                  <a:srgbClr val="1B3A5F"/>
                </a:solidFill>
                <a:latin typeface="Calibri"/>
              </a:rPr>
              <a:t>Question</a:t>
            </a:r>
          </a:p>
        </p:txBody>
      </p:sp>
      <p:sp>
        <p:nvSpPr>
          <p:cNvPr id="21" name="TextBox 20"/>
          <p:cNvSpPr txBox="1"/>
          <p:nvPr/>
        </p:nvSpPr>
        <p:spPr>
          <a:xfrm>
            <a:off x="6492240" y="4023360"/>
            <a:ext cx="2377440" cy="731520"/>
          </a:xfrm>
          <a:prstGeom prst="rect">
            <a:avLst/>
          </a:prstGeom>
          <a:noFill/>
        </p:spPr>
        <p:txBody>
          <a:bodyPr wrap="square">
            <a:spAutoFit/>
          </a:bodyPr>
          <a:lstStyle/>
          <a:p>
            <a:pPr algn="ctr"/>
            <a:r>
              <a:rPr sz="1600" b="0">
                <a:solidFill>
                  <a:srgbClr val="6B7280"/>
                </a:solidFill>
                <a:latin typeface="Calibri"/>
              </a:rPr>
              <a:t>Confusing part</a:t>
            </a:r>
          </a:p>
        </p:txBody>
      </p:sp>
      <p:sp>
        <p:nvSpPr>
          <p:cNvPr id="22" name="Rounded Rectangle 21"/>
          <p:cNvSpPr/>
          <p:nvPr/>
        </p:nvSpPr>
        <p:spPr>
          <a:xfrm>
            <a:off x="9235440" y="1645920"/>
            <a:ext cx="274320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0" y="2011680"/>
            <a:ext cx="1097280" cy="1097280"/>
          </a:xfrm>
          <a:prstGeom prst="ellipse">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0" y="2240280"/>
            <a:ext cx="1097280" cy="640080"/>
          </a:xfrm>
          <a:prstGeom prst="rect">
            <a:avLst/>
          </a:prstGeom>
          <a:noFill/>
        </p:spPr>
        <p:txBody>
          <a:bodyPr wrap="square">
            <a:spAutoFit/>
          </a:bodyPr>
          <a:lstStyle/>
          <a:p>
            <a:pPr algn="ctr"/>
            <a:r>
              <a:rPr sz="2800" b="1">
                <a:solidFill>
                  <a:srgbClr val="FFFFFF"/>
                </a:solidFill>
                <a:latin typeface="Calibri"/>
              </a:rPr>
              <a:t>!</a:t>
            </a:r>
          </a:p>
        </p:txBody>
      </p:sp>
      <p:sp>
        <p:nvSpPr>
          <p:cNvPr id="25" name="TextBox 24"/>
          <p:cNvSpPr txBox="1"/>
          <p:nvPr/>
        </p:nvSpPr>
        <p:spPr>
          <a:xfrm>
            <a:off x="9418320" y="3383280"/>
            <a:ext cx="2377440" cy="457200"/>
          </a:xfrm>
          <a:prstGeom prst="rect">
            <a:avLst/>
          </a:prstGeom>
          <a:noFill/>
        </p:spPr>
        <p:txBody>
          <a:bodyPr wrap="square">
            <a:spAutoFit/>
          </a:bodyPr>
          <a:lstStyle/>
          <a:p>
            <a:pPr algn="ctr"/>
            <a:r>
              <a:rPr sz="2000" b="1">
                <a:solidFill>
                  <a:srgbClr val="1B3A5F"/>
                </a:solidFill>
                <a:latin typeface="Calibri"/>
              </a:rPr>
              <a:t>Surprise</a:t>
            </a:r>
          </a:p>
        </p:txBody>
      </p:sp>
      <p:sp>
        <p:nvSpPr>
          <p:cNvPr id="26" name="TextBox 25"/>
          <p:cNvSpPr txBox="1"/>
          <p:nvPr/>
        </p:nvSpPr>
        <p:spPr>
          <a:xfrm>
            <a:off x="9418320" y="4023360"/>
            <a:ext cx="2377440" cy="731520"/>
          </a:xfrm>
          <a:prstGeom prst="rect">
            <a:avLst/>
          </a:prstGeom>
          <a:noFill/>
        </p:spPr>
        <p:txBody>
          <a:bodyPr wrap="square">
            <a:spAutoFit/>
          </a:bodyPr>
          <a:lstStyle/>
          <a:p>
            <a:pPr algn="ctr"/>
            <a:r>
              <a:rPr sz="1600" b="0">
                <a:solidFill>
                  <a:srgbClr val="6B7280"/>
                </a:solidFill>
                <a:latin typeface="Calibri"/>
              </a:rPr>
              <a:t>Interesting fact</a:t>
            </a:r>
          </a:p>
        </p:txBody>
      </p:sp>
      <p:sp>
        <p:nvSpPr>
          <p:cNvPr id="27" name="Rectangle 2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10–20 min</a:t>
            </a:r>
          </a:p>
        </p:txBody>
      </p:sp>
      <p:sp>
        <p:nvSpPr>
          <p:cNvPr id="29" name="TextBox 28"/>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10/28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286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698480" cy="457200"/>
          </a:xfrm>
          <a:prstGeom prst="rect">
            <a:avLst/>
          </a:prstGeom>
          <a:noFill/>
        </p:spPr>
        <p:txBody>
          <a:bodyPr wrap="square">
            <a:spAutoFit/>
          </a:bodyPr>
          <a:lstStyle/>
          <a:p>
            <a:pPr algn="ctr"/>
            <a:r>
              <a:rPr sz="1800" b="1">
                <a:solidFill>
                  <a:srgbClr val="E9A825"/>
                </a:solidFill>
                <a:latin typeface="Calibri"/>
              </a:rPr>
              <a:t>GAME TIME</a:t>
            </a:r>
          </a:p>
        </p:txBody>
      </p:sp>
      <p:sp>
        <p:nvSpPr>
          <p:cNvPr id="5" name="TextBox 4"/>
          <p:cNvSpPr txBox="1"/>
          <p:nvPr/>
        </p:nvSpPr>
        <p:spPr>
          <a:xfrm>
            <a:off x="731520" y="2651760"/>
            <a:ext cx="10698480" cy="914400"/>
          </a:xfrm>
          <a:prstGeom prst="rect">
            <a:avLst/>
          </a:prstGeom>
          <a:noFill/>
        </p:spPr>
        <p:txBody>
          <a:bodyPr wrap="square">
            <a:spAutoFit/>
          </a:bodyPr>
          <a:lstStyle/>
          <a:p>
            <a:pPr algn="ctr"/>
            <a:r>
              <a:rPr sz="4000" b="1">
                <a:solidFill>
                  <a:srgbClr val="FFFFFF"/>
                </a:solidFill>
                <a:latin typeface="Georgia"/>
              </a:rPr>
              <a:t>Inference Race</a:t>
            </a:r>
          </a:p>
        </p:txBody>
      </p:sp>
      <p:sp>
        <p:nvSpPr>
          <p:cNvPr id="6" name="TextBox 5"/>
          <p:cNvSpPr txBox="1"/>
          <p:nvPr/>
        </p:nvSpPr>
        <p:spPr>
          <a:xfrm>
            <a:off x="731520" y="3840480"/>
            <a:ext cx="10698480" cy="457200"/>
          </a:xfrm>
          <a:prstGeom prst="rect">
            <a:avLst/>
          </a:prstGeom>
          <a:noFill/>
        </p:spPr>
        <p:txBody>
          <a:bodyPr wrap="square">
            <a:spAutoFit/>
          </a:bodyPr>
          <a:lstStyle/>
          <a:p>
            <a:pPr algn="ctr"/>
            <a:r>
              <a:rPr sz="2000" b="0">
                <a:solidFill>
                  <a:srgbClr val="C5D4E8"/>
                </a:solidFill>
                <a:latin typeface="Calibri"/>
              </a:rPr>
              <a:t>6 minutes  •  Clues in → smart guess 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GAME 2</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6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Inference Race — Play Now</a:t>
            </a:r>
          </a:p>
        </p:txBody>
      </p:sp>
      <p:sp>
        <p:nvSpPr>
          <p:cNvPr id="9" name="TextBox 8"/>
          <p:cNvSpPr txBox="1"/>
          <p:nvPr/>
        </p:nvSpPr>
        <p:spPr>
          <a:xfrm>
            <a:off x="457200" y="1325880"/>
            <a:ext cx="10972800" cy="320040"/>
          </a:xfrm>
          <a:prstGeom prst="rect">
            <a:avLst/>
          </a:prstGeom>
          <a:noFill/>
        </p:spPr>
        <p:txBody>
          <a:bodyPr wrap="square">
            <a:spAutoFit/>
          </a:bodyPr>
          <a:lstStyle/>
          <a:p>
            <a:pPr algn="l"/>
            <a:r>
              <a:rPr sz="1500" b="0">
                <a:solidFill>
                  <a:srgbClr val="6B7280"/>
                </a:solidFill>
                <a:latin typeface="Calibri"/>
              </a:rPr>
              <a:t>For each clue set: say what you can infer + name the evidence word(s).</a:t>
            </a:r>
          </a:p>
        </p:txBody>
      </p:sp>
      <p:sp>
        <p:nvSpPr>
          <p:cNvPr id="10" name="Rounded Rectangle 9"/>
          <p:cNvSpPr/>
          <p:nvPr/>
        </p:nvSpPr>
        <p:spPr>
          <a:xfrm>
            <a:off x="457200" y="1783080"/>
            <a:ext cx="1124712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65960"/>
            <a:ext cx="10698480" cy="320040"/>
          </a:xfrm>
          <a:prstGeom prst="rect">
            <a:avLst/>
          </a:prstGeom>
          <a:noFill/>
        </p:spPr>
        <p:txBody>
          <a:bodyPr wrap="square">
            <a:spAutoFit/>
          </a:bodyPr>
          <a:lstStyle/>
          <a:p>
            <a:pPr algn="l"/>
            <a:r>
              <a:rPr sz="1600" b="1">
                <a:solidFill>
                  <a:srgbClr val="E9A825"/>
                </a:solidFill>
                <a:latin typeface="Calibri"/>
              </a:rPr>
              <a:t>Clue Pack A</a:t>
            </a:r>
          </a:p>
        </p:txBody>
      </p:sp>
      <p:sp>
        <p:nvSpPr>
          <p:cNvPr id="12" name="TextBox 11"/>
          <p:cNvSpPr txBox="1"/>
          <p:nvPr/>
        </p:nvSpPr>
        <p:spPr>
          <a:xfrm>
            <a:off x="731520" y="2331720"/>
            <a:ext cx="10698480" cy="548640"/>
          </a:xfrm>
          <a:prstGeom prst="rect">
            <a:avLst/>
          </a:prstGeom>
          <a:noFill/>
        </p:spPr>
        <p:txBody>
          <a:bodyPr wrap="square">
            <a:spAutoFit/>
          </a:bodyPr>
          <a:lstStyle/>
          <a:p>
            <a:pPr algn="l"/>
            <a:r>
              <a:rPr sz="1500" b="0">
                <a:solidFill>
                  <a:srgbClr val="2D2D2D"/>
                </a:solidFill>
                <a:latin typeface="Calibri"/>
              </a:rPr>
              <a:t>Maya checked her watch three times. The hallway was empty. Her backpack felt heavy with unfinished work.</a:t>
            </a:r>
          </a:p>
        </p:txBody>
      </p:sp>
      <p:sp>
        <p:nvSpPr>
          <p:cNvPr id="13" name="Rounded Rectangle 12"/>
          <p:cNvSpPr/>
          <p:nvPr/>
        </p:nvSpPr>
        <p:spPr>
          <a:xfrm>
            <a:off x="457200" y="3200400"/>
            <a:ext cx="1124712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383280"/>
            <a:ext cx="10698480" cy="320040"/>
          </a:xfrm>
          <a:prstGeom prst="rect">
            <a:avLst/>
          </a:prstGeom>
          <a:noFill/>
        </p:spPr>
        <p:txBody>
          <a:bodyPr wrap="square">
            <a:spAutoFit/>
          </a:bodyPr>
          <a:lstStyle/>
          <a:p>
            <a:pPr algn="l"/>
            <a:r>
              <a:rPr sz="1600" b="1">
                <a:solidFill>
                  <a:srgbClr val="E9A825"/>
                </a:solidFill>
                <a:latin typeface="Calibri"/>
              </a:rPr>
              <a:t>Clue Pack B</a:t>
            </a:r>
          </a:p>
        </p:txBody>
      </p:sp>
      <p:sp>
        <p:nvSpPr>
          <p:cNvPr id="15" name="TextBox 14"/>
          <p:cNvSpPr txBox="1"/>
          <p:nvPr/>
        </p:nvSpPr>
        <p:spPr>
          <a:xfrm>
            <a:off x="731520" y="3749040"/>
            <a:ext cx="10698480" cy="548640"/>
          </a:xfrm>
          <a:prstGeom prst="rect">
            <a:avLst/>
          </a:prstGeom>
          <a:noFill/>
        </p:spPr>
        <p:txBody>
          <a:bodyPr wrap="square">
            <a:spAutoFit/>
          </a:bodyPr>
          <a:lstStyle/>
          <a:p>
            <a:pPr algn="l"/>
            <a:r>
              <a:rPr sz="1500" b="0">
                <a:solidFill>
                  <a:srgbClr val="2D2D2D"/>
                </a:solidFill>
                <a:latin typeface="Calibri"/>
              </a:rPr>
              <a:t>The dog barked at the door, then dropped a leash at Liam’s feet and sat, tail wagging.</a:t>
            </a:r>
          </a:p>
        </p:txBody>
      </p:sp>
      <p:sp>
        <p:nvSpPr>
          <p:cNvPr id="16" name="Rounded Rectangle 15"/>
          <p:cNvSpPr/>
          <p:nvPr/>
        </p:nvSpPr>
        <p:spPr>
          <a:xfrm>
            <a:off x="457200" y="4617720"/>
            <a:ext cx="11247120"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10698480" cy="320040"/>
          </a:xfrm>
          <a:prstGeom prst="rect">
            <a:avLst/>
          </a:prstGeom>
          <a:noFill/>
        </p:spPr>
        <p:txBody>
          <a:bodyPr wrap="square">
            <a:spAutoFit/>
          </a:bodyPr>
          <a:lstStyle/>
          <a:p>
            <a:pPr algn="l"/>
            <a:r>
              <a:rPr sz="1600" b="1">
                <a:solidFill>
                  <a:srgbClr val="E9A825"/>
                </a:solidFill>
                <a:latin typeface="Calibri"/>
              </a:rPr>
              <a:t>Clue Pack C</a:t>
            </a:r>
          </a:p>
        </p:txBody>
      </p:sp>
      <p:sp>
        <p:nvSpPr>
          <p:cNvPr id="18" name="TextBox 17"/>
          <p:cNvSpPr txBox="1"/>
          <p:nvPr/>
        </p:nvSpPr>
        <p:spPr>
          <a:xfrm>
            <a:off x="731520" y="5166360"/>
            <a:ext cx="10698480" cy="548640"/>
          </a:xfrm>
          <a:prstGeom prst="rect">
            <a:avLst/>
          </a:prstGeom>
          <a:noFill/>
        </p:spPr>
        <p:txBody>
          <a:bodyPr wrap="square">
            <a:spAutoFit/>
          </a:bodyPr>
          <a:lstStyle/>
          <a:p>
            <a:pPr algn="l"/>
            <a:r>
              <a:rPr sz="1500" b="0">
                <a:solidFill>
                  <a:srgbClr val="2D2D2D"/>
                </a:solidFill>
                <a:latin typeface="Calibri"/>
              </a:rPr>
              <a:t>After the announcement, the cafeteria got louder. Students high-fived. Someone shouted, “No quiz!”</a:t>
            </a:r>
          </a:p>
        </p:txBody>
      </p:sp>
      <p:sp>
        <p:nvSpPr>
          <p:cNvPr id="19" name="Rectangle 18"/>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20–26 min</a:t>
            </a:r>
          </a:p>
        </p:txBody>
      </p:sp>
      <p:sp>
        <p:nvSpPr>
          <p:cNvPr id="21" name="TextBox 20"/>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12/28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ANSWER KEY</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600" b="1">
                <a:solidFill>
                  <a:srgbClr val="1B3A5F"/>
                </a:solidFill>
                <a:latin typeface="Georgia"/>
              </a:rPr>
              <a:t>Sample Inferences (Accept Strong Evidence)</a:t>
            </a:r>
          </a:p>
        </p:txBody>
      </p:sp>
      <p:sp>
        <p:nvSpPr>
          <p:cNvPr id="7" name="Rounded Rectangle 6"/>
          <p:cNvSpPr/>
          <p:nvPr/>
        </p:nvSpPr>
        <p:spPr>
          <a:xfrm>
            <a:off x="457200" y="1554480"/>
            <a:ext cx="11247120" cy="118872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74520"/>
            <a:ext cx="10698480" cy="640080"/>
          </a:xfrm>
          <a:prstGeom prst="rect">
            <a:avLst/>
          </a:prstGeom>
          <a:noFill/>
        </p:spPr>
        <p:txBody>
          <a:bodyPr wrap="square">
            <a:spAutoFit/>
          </a:bodyPr>
          <a:lstStyle/>
          <a:p>
            <a:pPr algn="l"/>
            <a:r>
              <a:rPr sz="1600" b="0">
                <a:solidFill>
                  <a:srgbClr val="2D2D2D"/>
                </a:solidFill>
                <a:latin typeface="Calibri"/>
              </a:rPr>
              <a:t>A: Maya is late / nervous about unfinished homework. Evidence: watch, empty hallway, unfinished work.</a:t>
            </a:r>
          </a:p>
        </p:txBody>
      </p:sp>
      <p:sp>
        <p:nvSpPr>
          <p:cNvPr id="9" name="Rounded Rectangle 8"/>
          <p:cNvSpPr/>
          <p:nvPr/>
        </p:nvSpPr>
        <p:spPr>
          <a:xfrm>
            <a:off x="457200" y="2926080"/>
            <a:ext cx="11247120" cy="118872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246120"/>
            <a:ext cx="10698480" cy="640080"/>
          </a:xfrm>
          <a:prstGeom prst="rect">
            <a:avLst/>
          </a:prstGeom>
          <a:noFill/>
        </p:spPr>
        <p:txBody>
          <a:bodyPr wrap="square">
            <a:spAutoFit/>
          </a:bodyPr>
          <a:lstStyle/>
          <a:p>
            <a:pPr algn="l"/>
            <a:r>
              <a:rPr sz="1600" b="0">
                <a:solidFill>
                  <a:srgbClr val="2D2D2D"/>
                </a:solidFill>
                <a:latin typeface="Calibri"/>
              </a:rPr>
              <a:t>B: The dog wants a walk. Evidence: bark, leash, wagging tail.</a:t>
            </a:r>
          </a:p>
        </p:txBody>
      </p:sp>
      <p:sp>
        <p:nvSpPr>
          <p:cNvPr id="11" name="Rounded Rectangle 10"/>
          <p:cNvSpPr/>
          <p:nvPr/>
        </p:nvSpPr>
        <p:spPr>
          <a:xfrm>
            <a:off x="457200" y="4297680"/>
            <a:ext cx="11247120" cy="118872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617720"/>
            <a:ext cx="10698480" cy="640080"/>
          </a:xfrm>
          <a:prstGeom prst="rect">
            <a:avLst/>
          </a:prstGeom>
          <a:noFill/>
        </p:spPr>
        <p:txBody>
          <a:bodyPr wrap="square">
            <a:spAutoFit/>
          </a:bodyPr>
          <a:lstStyle/>
          <a:p>
            <a:pPr algn="l"/>
            <a:r>
              <a:rPr sz="1600" b="0">
                <a:solidFill>
                  <a:srgbClr val="2D2D2D"/>
                </a:solidFill>
                <a:latin typeface="Calibri"/>
              </a:rPr>
              <a:t>C: A quiz was canceled / good news for students. Evidence: louder, high-fives, “No quiz!”</a:t>
            </a:r>
          </a:p>
        </p:txBody>
      </p:sp>
      <p:sp>
        <p:nvSpPr>
          <p:cNvPr id="13" name="Rectangle 12"/>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20–26 min</a:t>
            </a:r>
          </a:p>
        </p:txBody>
      </p:sp>
      <p:sp>
        <p:nvSpPr>
          <p:cNvPr id="15" name="TextBox 14"/>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13/28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GUIDED PRACTICE</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12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600" b="1">
                <a:solidFill>
                  <a:srgbClr val="1B3A5F"/>
                </a:solidFill>
                <a:latin typeface="Georgia"/>
              </a:rPr>
              <a:t>Passage: “Why Small Habits Win”</a:t>
            </a:r>
          </a:p>
        </p:txBody>
      </p:sp>
      <p:sp>
        <p:nvSpPr>
          <p:cNvPr id="9" name="Rounded Rectangle 8"/>
          <p:cNvSpPr/>
          <p:nvPr/>
        </p:nvSpPr>
        <p:spPr>
          <a:xfrm>
            <a:off x="457200" y="1417320"/>
            <a:ext cx="11247120"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45920"/>
            <a:ext cx="10698480" cy="4206240"/>
          </a:xfrm>
          <a:prstGeom prst="rect">
            <a:avLst/>
          </a:prstGeom>
          <a:noFill/>
        </p:spPr>
        <p:txBody>
          <a:bodyPr wrap="square">
            <a:spAutoFit/>
          </a:bodyPr>
          <a:lstStyle/>
          <a:p>
            <a:pPr algn="l"/>
            <a:r>
              <a:rPr sz="1500" b="0">
                <a:solidFill>
                  <a:srgbClr val="2D2D2D"/>
                </a:solidFill>
                <a:latin typeface="Calibri"/>
              </a:rPr>
              <a:t>Big goals sound exciting: finish a novel, ace every quiz, become a better writer overnight. But improvement usually starts much smaller.
When students read for ten focused minutes a day, they build a habit. That habit creates confidence. Confidence makes the next page easier. Over weeks, those tiny sessions add up to stronger vocabulary, faster understanding, and clearer writing.
The same idea works for grammar. Fixing one sentence pattern at a time — like subject-verb agreement — is more powerful than trying to memorize every rule in one night. Progress loves consistency.
So the real secret isn’t talent alone. It’s showing up, noticing mistakes, and choosing one better choice today. Small habits don’t look impressive at first. Later, they look like success.</a:t>
            </a:r>
          </a:p>
        </p:txBody>
      </p:sp>
      <p:sp>
        <p:nvSpPr>
          <p:cNvPr id="11" name="Rectangle 10"/>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26–38 min</a:t>
            </a:r>
          </a:p>
        </p:txBody>
      </p:sp>
      <p:sp>
        <p:nvSpPr>
          <p:cNvPr id="13" name="TextBox 12"/>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14/28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YOUR TASK</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Read → Annotate → Answer</a:t>
            </a:r>
          </a:p>
        </p:txBody>
      </p:sp>
      <p:sp>
        <p:nvSpPr>
          <p:cNvPr id="7" name="Rounded Rectangle 6"/>
          <p:cNvSpPr/>
          <p:nvPr/>
        </p:nvSpPr>
        <p:spPr>
          <a:xfrm>
            <a:off x="457200" y="146304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627632"/>
            <a:ext cx="118872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91640"/>
            <a:ext cx="1188720" cy="365760"/>
          </a:xfrm>
          <a:prstGeom prst="rect">
            <a:avLst/>
          </a:prstGeom>
          <a:noFill/>
        </p:spPr>
        <p:txBody>
          <a:bodyPr wrap="square">
            <a:spAutoFit/>
          </a:bodyPr>
          <a:lstStyle/>
          <a:p>
            <a:pPr algn="ctr"/>
            <a:r>
              <a:rPr sz="1300" b="1">
                <a:solidFill>
                  <a:srgbClr val="FFFFFF"/>
                </a:solidFill>
                <a:latin typeface="Calibri"/>
              </a:rPr>
              <a:t>Step 1</a:t>
            </a:r>
          </a:p>
        </p:txBody>
      </p:sp>
      <p:sp>
        <p:nvSpPr>
          <p:cNvPr id="10" name="TextBox 9"/>
          <p:cNvSpPr txBox="1"/>
          <p:nvPr/>
        </p:nvSpPr>
        <p:spPr>
          <a:xfrm>
            <a:off x="2103120" y="1691640"/>
            <a:ext cx="9144000" cy="411480"/>
          </a:xfrm>
          <a:prstGeom prst="rect">
            <a:avLst/>
          </a:prstGeom>
          <a:noFill/>
        </p:spPr>
        <p:txBody>
          <a:bodyPr wrap="square">
            <a:spAutoFit/>
          </a:bodyPr>
          <a:lstStyle/>
          <a:p>
            <a:pPr algn="l"/>
            <a:r>
              <a:rPr sz="1700" b="0">
                <a:solidFill>
                  <a:srgbClr val="2D2D2D"/>
                </a:solidFill>
                <a:latin typeface="Calibri"/>
              </a:rPr>
              <a:t>Read once for the big picture.</a:t>
            </a:r>
          </a:p>
        </p:txBody>
      </p:sp>
      <p:sp>
        <p:nvSpPr>
          <p:cNvPr id="11" name="Rounded Rectangle 10"/>
          <p:cNvSpPr/>
          <p:nvPr/>
        </p:nvSpPr>
        <p:spPr>
          <a:xfrm>
            <a:off x="457200" y="233172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496312"/>
            <a:ext cx="118872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0320"/>
            <a:ext cx="1188720" cy="365760"/>
          </a:xfrm>
          <a:prstGeom prst="rect">
            <a:avLst/>
          </a:prstGeom>
          <a:noFill/>
        </p:spPr>
        <p:txBody>
          <a:bodyPr wrap="square">
            <a:spAutoFit/>
          </a:bodyPr>
          <a:lstStyle/>
          <a:p>
            <a:pPr algn="ctr"/>
            <a:r>
              <a:rPr sz="1300" b="1">
                <a:solidFill>
                  <a:srgbClr val="FFFFFF"/>
                </a:solidFill>
                <a:latin typeface="Calibri"/>
              </a:rPr>
              <a:t>Step 2</a:t>
            </a:r>
          </a:p>
        </p:txBody>
      </p:sp>
      <p:sp>
        <p:nvSpPr>
          <p:cNvPr id="14" name="TextBox 13"/>
          <p:cNvSpPr txBox="1"/>
          <p:nvPr/>
        </p:nvSpPr>
        <p:spPr>
          <a:xfrm>
            <a:off x="2103120" y="2560320"/>
            <a:ext cx="9144000" cy="411480"/>
          </a:xfrm>
          <a:prstGeom prst="rect">
            <a:avLst/>
          </a:prstGeom>
          <a:noFill/>
        </p:spPr>
        <p:txBody>
          <a:bodyPr wrap="square">
            <a:spAutoFit/>
          </a:bodyPr>
          <a:lstStyle/>
          <a:p>
            <a:pPr algn="l"/>
            <a:r>
              <a:rPr sz="1700" b="0">
                <a:solidFill>
                  <a:srgbClr val="2D2D2D"/>
                </a:solidFill>
                <a:latin typeface="Calibri"/>
              </a:rPr>
              <a:t>Annotate with ★ — ? !</a:t>
            </a:r>
          </a:p>
        </p:txBody>
      </p:sp>
      <p:sp>
        <p:nvSpPr>
          <p:cNvPr id="15" name="Rounded Rectangle 14"/>
          <p:cNvSpPr/>
          <p:nvPr/>
        </p:nvSpPr>
        <p:spPr>
          <a:xfrm>
            <a:off x="457200" y="320040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3364992"/>
            <a:ext cx="118872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429000"/>
            <a:ext cx="1188720" cy="365760"/>
          </a:xfrm>
          <a:prstGeom prst="rect">
            <a:avLst/>
          </a:prstGeom>
          <a:noFill/>
        </p:spPr>
        <p:txBody>
          <a:bodyPr wrap="square">
            <a:spAutoFit/>
          </a:bodyPr>
          <a:lstStyle/>
          <a:p>
            <a:pPr algn="ctr"/>
            <a:r>
              <a:rPr sz="1300" b="1">
                <a:solidFill>
                  <a:srgbClr val="FFFFFF"/>
                </a:solidFill>
                <a:latin typeface="Calibri"/>
              </a:rPr>
              <a:t>Step 3</a:t>
            </a:r>
          </a:p>
        </p:txBody>
      </p:sp>
      <p:sp>
        <p:nvSpPr>
          <p:cNvPr id="18" name="TextBox 17"/>
          <p:cNvSpPr txBox="1"/>
          <p:nvPr/>
        </p:nvSpPr>
        <p:spPr>
          <a:xfrm>
            <a:off x="2103120" y="3429000"/>
            <a:ext cx="9144000" cy="411480"/>
          </a:xfrm>
          <a:prstGeom prst="rect">
            <a:avLst/>
          </a:prstGeom>
          <a:noFill/>
        </p:spPr>
        <p:txBody>
          <a:bodyPr wrap="square">
            <a:spAutoFit/>
          </a:bodyPr>
          <a:lstStyle/>
          <a:p>
            <a:pPr algn="l"/>
            <a:r>
              <a:rPr sz="1700" b="0">
                <a:solidFill>
                  <a:srgbClr val="2D2D2D"/>
                </a:solidFill>
                <a:latin typeface="Calibri"/>
              </a:rPr>
              <a:t>Write a one-sentence main idea.</a:t>
            </a:r>
          </a:p>
        </p:txBody>
      </p:sp>
      <p:sp>
        <p:nvSpPr>
          <p:cNvPr id="19" name="Rounded Rectangle 18"/>
          <p:cNvSpPr/>
          <p:nvPr/>
        </p:nvSpPr>
        <p:spPr>
          <a:xfrm>
            <a:off x="457200" y="4069079"/>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 y="4233671"/>
            <a:ext cx="118872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297679"/>
            <a:ext cx="1188720" cy="365760"/>
          </a:xfrm>
          <a:prstGeom prst="rect">
            <a:avLst/>
          </a:prstGeom>
          <a:noFill/>
        </p:spPr>
        <p:txBody>
          <a:bodyPr wrap="square">
            <a:spAutoFit/>
          </a:bodyPr>
          <a:lstStyle/>
          <a:p>
            <a:pPr algn="ctr"/>
            <a:r>
              <a:rPr sz="1300" b="1">
                <a:solidFill>
                  <a:srgbClr val="FFFFFF"/>
                </a:solidFill>
                <a:latin typeface="Calibri"/>
              </a:rPr>
              <a:t>Step 4</a:t>
            </a:r>
          </a:p>
        </p:txBody>
      </p:sp>
      <p:sp>
        <p:nvSpPr>
          <p:cNvPr id="22" name="TextBox 21"/>
          <p:cNvSpPr txBox="1"/>
          <p:nvPr/>
        </p:nvSpPr>
        <p:spPr>
          <a:xfrm>
            <a:off x="2103120" y="4297679"/>
            <a:ext cx="9144000" cy="411480"/>
          </a:xfrm>
          <a:prstGeom prst="rect">
            <a:avLst/>
          </a:prstGeom>
          <a:noFill/>
        </p:spPr>
        <p:txBody>
          <a:bodyPr wrap="square">
            <a:spAutoFit/>
          </a:bodyPr>
          <a:lstStyle/>
          <a:p>
            <a:pPr algn="l"/>
            <a:r>
              <a:rPr sz="1700" b="0">
                <a:solidFill>
                  <a:srgbClr val="2D2D2D"/>
                </a:solidFill>
                <a:latin typeface="Calibri"/>
              </a:rPr>
              <a:t>Answer the questions on the next slide.</a:t>
            </a:r>
          </a:p>
        </p:txBody>
      </p:sp>
      <p:sp>
        <p:nvSpPr>
          <p:cNvPr id="23" name="Rounded Rectangle 22"/>
          <p:cNvSpPr/>
          <p:nvPr/>
        </p:nvSpPr>
        <p:spPr>
          <a:xfrm>
            <a:off x="457200" y="493776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 y="5102352"/>
            <a:ext cx="118872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166360"/>
            <a:ext cx="1188720" cy="365760"/>
          </a:xfrm>
          <a:prstGeom prst="rect">
            <a:avLst/>
          </a:prstGeom>
          <a:noFill/>
        </p:spPr>
        <p:txBody>
          <a:bodyPr wrap="square">
            <a:spAutoFit/>
          </a:bodyPr>
          <a:lstStyle/>
          <a:p>
            <a:pPr algn="ctr"/>
            <a:r>
              <a:rPr sz="1300" b="1">
                <a:solidFill>
                  <a:srgbClr val="FFFFFF"/>
                </a:solidFill>
                <a:latin typeface="Calibri"/>
              </a:rPr>
              <a:t>Step 5</a:t>
            </a:r>
          </a:p>
        </p:txBody>
      </p:sp>
      <p:sp>
        <p:nvSpPr>
          <p:cNvPr id="26" name="TextBox 25"/>
          <p:cNvSpPr txBox="1"/>
          <p:nvPr/>
        </p:nvSpPr>
        <p:spPr>
          <a:xfrm>
            <a:off x="2103120" y="5166360"/>
            <a:ext cx="9144000" cy="411480"/>
          </a:xfrm>
          <a:prstGeom prst="rect">
            <a:avLst/>
          </a:prstGeom>
          <a:noFill/>
        </p:spPr>
        <p:txBody>
          <a:bodyPr wrap="square">
            <a:spAutoFit/>
          </a:bodyPr>
          <a:lstStyle/>
          <a:p>
            <a:pPr algn="l"/>
            <a:r>
              <a:rPr sz="1700" b="0">
                <a:solidFill>
                  <a:srgbClr val="2D2D2D"/>
                </a:solidFill>
                <a:latin typeface="Calibri"/>
              </a:rPr>
              <a:t>Share one annotation and why you marked it.</a:t>
            </a:r>
          </a:p>
        </p:txBody>
      </p:sp>
      <p:sp>
        <p:nvSpPr>
          <p:cNvPr id="27" name="Rectangle 2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26–38 min</a:t>
            </a:r>
          </a:p>
        </p:txBody>
      </p:sp>
      <p:sp>
        <p:nvSpPr>
          <p:cNvPr id="29" name="TextBox 28"/>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15/28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QUESTIONS</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Comprehension Check</a:t>
            </a:r>
          </a:p>
        </p:txBody>
      </p:sp>
      <p:sp>
        <p:nvSpPr>
          <p:cNvPr id="7" name="Rounded Rectangle 6"/>
          <p:cNvSpPr/>
          <p:nvPr/>
        </p:nvSpPr>
        <p:spPr>
          <a:xfrm>
            <a:off x="457200" y="141732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600200"/>
            <a:ext cx="1645920" cy="41148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45920"/>
            <a:ext cx="1645920" cy="320040"/>
          </a:xfrm>
          <a:prstGeom prst="rect">
            <a:avLst/>
          </a:prstGeom>
          <a:noFill/>
        </p:spPr>
        <p:txBody>
          <a:bodyPr wrap="square">
            <a:spAutoFit/>
          </a:bodyPr>
          <a:lstStyle/>
          <a:p>
            <a:pPr algn="ctr"/>
            <a:r>
              <a:rPr sz="1200" b="1">
                <a:solidFill>
                  <a:srgbClr val="FFFFFF"/>
                </a:solidFill>
                <a:latin typeface="Calibri"/>
              </a:rPr>
              <a:t>Main Idea</a:t>
            </a:r>
          </a:p>
        </p:txBody>
      </p:sp>
      <p:sp>
        <p:nvSpPr>
          <p:cNvPr id="10" name="TextBox 9"/>
          <p:cNvSpPr txBox="1"/>
          <p:nvPr/>
        </p:nvSpPr>
        <p:spPr>
          <a:xfrm>
            <a:off x="2468880" y="1645920"/>
            <a:ext cx="8961120" cy="411480"/>
          </a:xfrm>
          <a:prstGeom prst="rect">
            <a:avLst/>
          </a:prstGeom>
          <a:noFill/>
        </p:spPr>
        <p:txBody>
          <a:bodyPr wrap="square">
            <a:spAutoFit/>
          </a:bodyPr>
          <a:lstStyle/>
          <a:p>
            <a:pPr algn="l"/>
            <a:r>
              <a:rPr sz="1500" b="0">
                <a:solidFill>
                  <a:srgbClr val="2D2D2D"/>
                </a:solidFill>
                <a:latin typeface="Calibri"/>
              </a:rPr>
              <a:t>1. What is the central message of the passage?</a:t>
            </a:r>
          </a:p>
        </p:txBody>
      </p:sp>
      <p:sp>
        <p:nvSpPr>
          <p:cNvPr id="11" name="Rounded Rectangle 10"/>
          <p:cNvSpPr/>
          <p:nvPr/>
        </p:nvSpPr>
        <p:spPr>
          <a:xfrm>
            <a:off x="457200" y="228600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468880"/>
            <a:ext cx="1645920" cy="41148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14600"/>
            <a:ext cx="1645920" cy="320040"/>
          </a:xfrm>
          <a:prstGeom prst="rect">
            <a:avLst/>
          </a:prstGeom>
          <a:noFill/>
        </p:spPr>
        <p:txBody>
          <a:bodyPr wrap="square">
            <a:spAutoFit/>
          </a:bodyPr>
          <a:lstStyle/>
          <a:p>
            <a:pPr algn="ctr"/>
            <a:r>
              <a:rPr sz="1200" b="1">
                <a:solidFill>
                  <a:srgbClr val="FFFFFF"/>
                </a:solidFill>
                <a:latin typeface="Calibri"/>
              </a:rPr>
              <a:t>Detail</a:t>
            </a:r>
          </a:p>
        </p:txBody>
      </p:sp>
      <p:sp>
        <p:nvSpPr>
          <p:cNvPr id="14" name="TextBox 13"/>
          <p:cNvSpPr txBox="1"/>
          <p:nvPr/>
        </p:nvSpPr>
        <p:spPr>
          <a:xfrm>
            <a:off x="2468880" y="2514600"/>
            <a:ext cx="8961120" cy="411480"/>
          </a:xfrm>
          <a:prstGeom prst="rect">
            <a:avLst/>
          </a:prstGeom>
          <a:noFill/>
        </p:spPr>
        <p:txBody>
          <a:bodyPr wrap="square">
            <a:spAutoFit/>
          </a:bodyPr>
          <a:lstStyle/>
          <a:p>
            <a:pPr algn="l"/>
            <a:r>
              <a:rPr sz="1500" b="0">
                <a:solidFill>
                  <a:srgbClr val="2D2D2D"/>
                </a:solidFill>
                <a:latin typeface="Calibri"/>
              </a:rPr>
              <a:t>2. According to the text, what happens when students read for ten focused minutes a day?</a:t>
            </a:r>
          </a:p>
        </p:txBody>
      </p:sp>
      <p:sp>
        <p:nvSpPr>
          <p:cNvPr id="15" name="Rounded Rectangle 14"/>
          <p:cNvSpPr/>
          <p:nvPr/>
        </p:nvSpPr>
        <p:spPr>
          <a:xfrm>
            <a:off x="457200" y="315468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3337560"/>
            <a:ext cx="1645920" cy="411480"/>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383280"/>
            <a:ext cx="1645920" cy="320040"/>
          </a:xfrm>
          <a:prstGeom prst="rect">
            <a:avLst/>
          </a:prstGeom>
          <a:noFill/>
        </p:spPr>
        <p:txBody>
          <a:bodyPr wrap="square">
            <a:spAutoFit/>
          </a:bodyPr>
          <a:lstStyle/>
          <a:p>
            <a:pPr algn="ctr"/>
            <a:r>
              <a:rPr sz="1200" b="1">
                <a:solidFill>
                  <a:srgbClr val="FFFFFF"/>
                </a:solidFill>
                <a:latin typeface="Calibri"/>
              </a:rPr>
              <a:t>Inference</a:t>
            </a:r>
          </a:p>
        </p:txBody>
      </p:sp>
      <p:sp>
        <p:nvSpPr>
          <p:cNvPr id="18" name="TextBox 17"/>
          <p:cNvSpPr txBox="1"/>
          <p:nvPr/>
        </p:nvSpPr>
        <p:spPr>
          <a:xfrm>
            <a:off x="2468880" y="3383280"/>
            <a:ext cx="8961120" cy="411480"/>
          </a:xfrm>
          <a:prstGeom prst="rect">
            <a:avLst/>
          </a:prstGeom>
          <a:noFill/>
        </p:spPr>
        <p:txBody>
          <a:bodyPr wrap="square">
            <a:spAutoFit/>
          </a:bodyPr>
          <a:lstStyle/>
          <a:p>
            <a:pPr algn="l"/>
            <a:r>
              <a:rPr sz="1500" b="0">
                <a:solidFill>
                  <a:srgbClr val="2D2D2D"/>
                </a:solidFill>
                <a:latin typeface="Calibri"/>
              </a:rPr>
              <a:t>3. What does the author believe about trying to learn every grammar rule in one night?</a:t>
            </a:r>
          </a:p>
        </p:txBody>
      </p:sp>
      <p:sp>
        <p:nvSpPr>
          <p:cNvPr id="19" name="Rounded Rectangle 18"/>
          <p:cNvSpPr/>
          <p:nvPr/>
        </p:nvSpPr>
        <p:spPr>
          <a:xfrm>
            <a:off x="457200" y="4023359"/>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 y="4206239"/>
            <a:ext cx="1645920" cy="411480"/>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251959"/>
            <a:ext cx="1645920" cy="320040"/>
          </a:xfrm>
          <a:prstGeom prst="rect">
            <a:avLst/>
          </a:prstGeom>
          <a:noFill/>
        </p:spPr>
        <p:txBody>
          <a:bodyPr wrap="square">
            <a:spAutoFit/>
          </a:bodyPr>
          <a:lstStyle/>
          <a:p>
            <a:pPr algn="ctr"/>
            <a:r>
              <a:rPr sz="1200" b="1">
                <a:solidFill>
                  <a:srgbClr val="FFFFFF"/>
                </a:solidFill>
                <a:latin typeface="Calibri"/>
              </a:rPr>
              <a:t>Purpose</a:t>
            </a:r>
          </a:p>
        </p:txBody>
      </p:sp>
      <p:sp>
        <p:nvSpPr>
          <p:cNvPr id="22" name="TextBox 21"/>
          <p:cNvSpPr txBox="1"/>
          <p:nvPr/>
        </p:nvSpPr>
        <p:spPr>
          <a:xfrm>
            <a:off x="2468880" y="4251959"/>
            <a:ext cx="8961120" cy="411480"/>
          </a:xfrm>
          <a:prstGeom prst="rect">
            <a:avLst/>
          </a:prstGeom>
          <a:noFill/>
        </p:spPr>
        <p:txBody>
          <a:bodyPr wrap="square">
            <a:spAutoFit/>
          </a:bodyPr>
          <a:lstStyle/>
          <a:p>
            <a:pPr algn="l"/>
            <a:r>
              <a:rPr sz="1500" b="0">
                <a:solidFill>
                  <a:srgbClr val="2D2D2D"/>
                </a:solidFill>
                <a:latin typeface="Calibri"/>
              </a:rPr>
              <a:t>4. Is the author mostly informing, persuading, or entertaining? Explain.</a:t>
            </a:r>
          </a:p>
        </p:txBody>
      </p:sp>
      <p:sp>
        <p:nvSpPr>
          <p:cNvPr id="23" name="Rounded Rectangle 22"/>
          <p:cNvSpPr/>
          <p:nvPr/>
        </p:nvSpPr>
        <p:spPr>
          <a:xfrm>
            <a:off x="457200" y="489204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 y="5074920"/>
            <a:ext cx="1645920" cy="41148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120640"/>
            <a:ext cx="1645920" cy="320040"/>
          </a:xfrm>
          <a:prstGeom prst="rect">
            <a:avLst/>
          </a:prstGeom>
          <a:noFill/>
        </p:spPr>
        <p:txBody>
          <a:bodyPr wrap="square">
            <a:spAutoFit/>
          </a:bodyPr>
          <a:lstStyle/>
          <a:p>
            <a:pPr algn="ctr"/>
            <a:r>
              <a:rPr sz="1200" b="1">
                <a:solidFill>
                  <a:srgbClr val="FFFFFF"/>
                </a:solidFill>
                <a:latin typeface="Calibri"/>
              </a:rPr>
              <a:t>Evidence</a:t>
            </a:r>
          </a:p>
        </p:txBody>
      </p:sp>
      <p:sp>
        <p:nvSpPr>
          <p:cNvPr id="26" name="TextBox 25"/>
          <p:cNvSpPr txBox="1"/>
          <p:nvPr/>
        </p:nvSpPr>
        <p:spPr>
          <a:xfrm>
            <a:off x="2468880" y="5120640"/>
            <a:ext cx="8961120" cy="411480"/>
          </a:xfrm>
          <a:prstGeom prst="rect">
            <a:avLst/>
          </a:prstGeom>
          <a:noFill/>
        </p:spPr>
        <p:txBody>
          <a:bodyPr wrap="square">
            <a:spAutoFit/>
          </a:bodyPr>
          <a:lstStyle/>
          <a:p>
            <a:pPr algn="l"/>
            <a:r>
              <a:rPr sz="1500" b="0">
                <a:solidFill>
                  <a:srgbClr val="2D2D2D"/>
                </a:solidFill>
                <a:latin typeface="Calibri"/>
              </a:rPr>
              <a:t>5. Quote one sentence that best supports your main idea.</a:t>
            </a:r>
          </a:p>
        </p:txBody>
      </p:sp>
      <p:sp>
        <p:nvSpPr>
          <p:cNvPr id="27" name="Rectangle 2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26–38 min</a:t>
            </a:r>
          </a:p>
        </p:txBody>
      </p:sp>
      <p:sp>
        <p:nvSpPr>
          <p:cNvPr id="29" name="TextBox 28"/>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16/28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ANSWER KEY</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Model Answers</a:t>
            </a:r>
          </a:p>
        </p:txBody>
      </p:sp>
      <p:sp>
        <p:nvSpPr>
          <p:cNvPr id="7" name="TextBox 6"/>
          <p:cNvSpPr txBox="1"/>
          <p:nvPr/>
        </p:nvSpPr>
        <p:spPr>
          <a:xfrm>
            <a:off x="457200" y="1463040"/>
            <a:ext cx="11247120" cy="4572000"/>
          </a:xfrm>
          <a:prstGeom prst="rect">
            <a:avLst/>
          </a:prstGeom>
          <a:noFill/>
        </p:spPr>
        <p:txBody>
          <a:bodyPr wrap="square">
            <a:spAutoFit/>
          </a:bodyPr>
          <a:lstStyle/>
          <a:p>
            <a:pPr>
              <a:spcAft>
                <a:spcPts val="1400"/>
              </a:spcAft>
            </a:pPr>
            <a:r>
              <a:rPr sz="1600" b="0">
                <a:solidFill>
                  <a:srgbClr val="2D2D2D"/>
                </a:solidFill>
                <a:latin typeface="Calibri"/>
              </a:rPr>
              <a:t>•  Main idea: Small, consistent habits lead to real improvement in reading and grammar.</a:t>
            </a:r>
          </a:p>
          <a:p>
            <a:pPr>
              <a:spcAft>
                <a:spcPts val="1400"/>
              </a:spcAft>
            </a:pPr>
            <a:r>
              <a:rPr sz="1600" b="0">
                <a:solidFill>
                  <a:srgbClr val="2D2D2D"/>
                </a:solidFill>
                <a:latin typeface="Calibri"/>
              </a:rPr>
              <a:t>•  Detail: Daily focused reading builds habit → confidence → stronger skills over time.</a:t>
            </a:r>
          </a:p>
          <a:p>
            <a:pPr>
              <a:spcAft>
                <a:spcPts val="1400"/>
              </a:spcAft>
            </a:pPr>
            <a:r>
              <a:rPr sz="1600" b="0">
                <a:solidFill>
                  <a:srgbClr val="2D2D2D"/>
                </a:solidFill>
                <a:latin typeface="Calibri"/>
              </a:rPr>
              <a:t>•  Inference: It doesn’t work well; learning one pattern at a time is more powerful.</a:t>
            </a:r>
          </a:p>
          <a:p>
            <a:pPr>
              <a:spcAft>
                <a:spcPts val="1400"/>
              </a:spcAft>
            </a:pPr>
            <a:r>
              <a:rPr sz="1600" b="0">
                <a:solidFill>
                  <a:srgbClr val="2D2D2D"/>
                </a:solidFill>
                <a:latin typeface="Calibri"/>
              </a:rPr>
              <a:t>•  Purpose: Mostly persuade/inform — encourage consistency over overnight perfection.</a:t>
            </a:r>
          </a:p>
          <a:p>
            <a:pPr>
              <a:spcAft>
                <a:spcPts val="1400"/>
              </a:spcAft>
            </a:pPr>
            <a:r>
              <a:rPr sz="1600" b="0">
                <a:solidFill>
                  <a:srgbClr val="2D2D2D"/>
                </a:solidFill>
                <a:latin typeface="Calibri"/>
              </a:rPr>
              <a:t>•  Evidence example: “Progress loves consistency.” / “Small habits… look like success.”</a:t>
            </a:r>
          </a:p>
        </p:txBody>
      </p:sp>
      <p:sp>
        <p:nvSpPr>
          <p:cNvPr id="8" name="Rectangle 7"/>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26–38 min</a:t>
            </a:r>
          </a:p>
        </p:txBody>
      </p:sp>
      <p:sp>
        <p:nvSpPr>
          <p:cNvPr id="10" name="TextBox 9"/>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17/28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286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698480" cy="457200"/>
          </a:xfrm>
          <a:prstGeom prst="rect">
            <a:avLst/>
          </a:prstGeom>
          <a:noFill/>
        </p:spPr>
        <p:txBody>
          <a:bodyPr wrap="square">
            <a:spAutoFit/>
          </a:bodyPr>
          <a:lstStyle/>
          <a:p>
            <a:pPr algn="ctr"/>
            <a:r>
              <a:rPr sz="1800" b="1">
                <a:solidFill>
                  <a:srgbClr val="E9A825"/>
                </a:solidFill>
                <a:latin typeface="Calibri"/>
              </a:rPr>
              <a:t>GAME TIME</a:t>
            </a:r>
          </a:p>
        </p:txBody>
      </p:sp>
      <p:sp>
        <p:nvSpPr>
          <p:cNvPr id="5" name="TextBox 4"/>
          <p:cNvSpPr txBox="1"/>
          <p:nvPr/>
        </p:nvSpPr>
        <p:spPr>
          <a:xfrm>
            <a:off x="731520" y="2651760"/>
            <a:ext cx="10698480" cy="914400"/>
          </a:xfrm>
          <a:prstGeom prst="rect">
            <a:avLst/>
          </a:prstGeom>
          <a:noFill/>
        </p:spPr>
        <p:txBody>
          <a:bodyPr wrap="square">
            <a:spAutoFit/>
          </a:bodyPr>
          <a:lstStyle/>
          <a:p>
            <a:pPr algn="ctr"/>
            <a:r>
              <a:rPr sz="4000" b="1">
                <a:solidFill>
                  <a:srgbClr val="FFFFFF"/>
                </a:solidFill>
                <a:latin typeface="Georgia"/>
              </a:rPr>
              <a:t>Sentence Scramble</a:t>
            </a:r>
          </a:p>
        </p:txBody>
      </p:sp>
      <p:sp>
        <p:nvSpPr>
          <p:cNvPr id="6" name="TextBox 5"/>
          <p:cNvSpPr txBox="1"/>
          <p:nvPr/>
        </p:nvSpPr>
        <p:spPr>
          <a:xfrm>
            <a:off x="731520" y="3840480"/>
            <a:ext cx="10698480" cy="457200"/>
          </a:xfrm>
          <a:prstGeom prst="rect">
            <a:avLst/>
          </a:prstGeom>
          <a:noFill/>
        </p:spPr>
        <p:txBody>
          <a:bodyPr wrap="square">
            <a:spAutoFit/>
          </a:bodyPr>
          <a:lstStyle/>
          <a:p>
            <a:pPr algn="ctr"/>
            <a:r>
              <a:rPr sz="2000" b="0">
                <a:solidFill>
                  <a:srgbClr val="C5D4E8"/>
                </a:solidFill>
                <a:latin typeface="Calibri"/>
              </a:rPr>
              <a:t>6 minutes  •  Unscramble → clear sentences!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GAME 3</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6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Sentence Scramble — Rebuild These</a:t>
            </a:r>
          </a:p>
        </p:txBody>
      </p:sp>
      <p:sp>
        <p:nvSpPr>
          <p:cNvPr id="9" name="TextBox 8"/>
          <p:cNvSpPr txBox="1"/>
          <p:nvPr/>
        </p:nvSpPr>
        <p:spPr>
          <a:xfrm>
            <a:off x="457200" y="1325880"/>
            <a:ext cx="10972800" cy="320040"/>
          </a:xfrm>
          <a:prstGeom prst="rect">
            <a:avLst/>
          </a:prstGeom>
          <a:noFill/>
        </p:spPr>
        <p:txBody>
          <a:bodyPr wrap="square">
            <a:spAutoFit/>
          </a:bodyPr>
          <a:lstStyle/>
          <a:p>
            <a:pPr algn="l"/>
            <a:r>
              <a:rPr sz="1500" b="0">
                <a:solidFill>
                  <a:srgbClr val="6B7280"/>
                </a:solidFill>
                <a:latin typeface="Calibri"/>
              </a:rPr>
              <a:t>Put the words in order. Then say if it needs a comma.</a:t>
            </a:r>
          </a:p>
        </p:txBody>
      </p:sp>
      <p:sp>
        <p:nvSpPr>
          <p:cNvPr id="10" name="Rounded Rectangle 9"/>
          <p:cNvSpPr/>
          <p:nvPr/>
        </p:nvSpPr>
        <p:spPr>
          <a:xfrm>
            <a:off x="457200" y="178308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20240"/>
            <a:ext cx="10698480" cy="320040"/>
          </a:xfrm>
          <a:prstGeom prst="rect">
            <a:avLst/>
          </a:prstGeom>
          <a:noFill/>
        </p:spPr>
        <p:txBody>
          <a:bodyPr wrap="square">
            <a:spAutoFit/>
          </a:bodyPr>
          <a:lstStyle/>
          <a:p>
            <a:pPr algn="l"/>
            <a:r>
              <a:rPr sz="1500" b="1">
                <a:solidFill>
                  <a:srgbClr val="1B3A5F"/>
                </a:solidFill>
                <a:latin typeface="Calibri"/>
              </a:rPr>
              <a:t>Round 1:  habits / success / small / create / lasting</a:t>
            </a:r>
          </a:p>
        </p:txBody>
      </p:sp>
      <p:sp>
        <p:nvSpPr>
          <p:cNvPr id="12" name="TextBox 11"/>
          <p:cNvSpPr txBox="1"/>
          <p:nvPr/>
        </p:nvSpPr>
        <p:spPr>
          <a:xfrm>
            <a:off x="731520" y="2286000"/>
            <a:ext cx="10698480" cy="320040"/>
          </a:xfrm>
          <a:prstGeom prst="rect">
            <a:avLst/>
          </a:prstGeom>
          <a:noFill/>
        </p:spPr>
        <p:txBody>
          <a:bodyPr wrap="square">
            <a:spAutoFit/>
          </a:bodyPr>
          <a:lstStyle/>
          <a:p>
            <a:pPr algn="l"/>
            <a:r>
              <a:rPr sz="1400" b="0">
                <a:solidFill>
                  <a:srgbClr val="2A9D8F"/>
                </a:solidFill>
                <a:latin typeface="Calibri"/>
              </a:rPr>
              <a:t>→ Small habits create lasting success.</a:t>
            </a:r>
          </a:p>
        </p:txBody>
      </p:sp>
      <p:sp>
        <p:nvSpPr>
          <p:cNvPr id="13" name="Rounded Rectangle 12"/>
          <p:cNvSpPr/>
          <p:nvPr/>
        </p:nvSpPr>
        <p:spPr>
          <a:xfrm>
            <a:off x="457200" y="2834639"/>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971799"/>
            <a:ext cx="10698480" cy="320040"/>
          </a:xfrm>
          <a:prstGeom prst="rect">
            <a:avLst/>
          </a:prstGeom>
          <a:noFill/>
        </p:spPr>
        <p:txBody>
          <a:bodyPr wrap="square">
            <a:spAutoFit/>
          </a:bodyPr>
          <a:lstStyle/>
          <a:p>
            <a:pPr algn="l"/>
            <a:r>
              <a:rPr sz="1500" b="1">
                <a:solidFill>
                  <a:srgbClr val="1B3A5F"/>
                </a:solidFill>
                <a:latin typeface="Calibri"/>
              </a:rPr>
              <a:t>Round 2:  readers / evidence / strong / use / text</a:t>
            </a:r>
          </a:p>
        </p:txBody>
      </p:sp>
      <p:sp>
        <p:nvSpPr>
          <p:cNvPr id="15" name="TextBox 14"/>
          <p:cNvSpPr txBox="1"/>
          <p:nvPr/>
        </p:nvSpPr>
        <p:spPr>
          <a:xfrm>
            <a:off x="731520" y="3337559"/>
            <a:ext cx="10698480" cy="320040"/>
          </a:xfrm>
          <a:prstGeom prst="rect">
            <a:avLst/>
          </a:prstGeom>
          <a:noFill/>
        </p:spPr>
        <p:txBody>
          <a:bodyPr wrap="square">
            <a:spAutoFit/>
          </a:bodyPr>
          <a:lstStyle/>
          <a:p>
            <a:pPr algn="l"/>
            <a:r>
              <a:rPr sz="1400" b="0">
                <a:solidFill>
                  <a:srgbClr val="2A9D8F"/>
                </a:solidFill>
                <a:latin typeface="Calibri"/>
              </a:rPr>
              <a:t>→ Strong readers use text evidence.</a:t>
            </a:r>
          </a:p>
        </p:txBody>
      </p:sp>
      <p:sp>
        <p:nvSpPr>
          <p:cNvPr id="16" name="Rounded Rectangle 15"/>
          <p:cNvSpPr/>
          <p:nvPr/>
        </p:nvSpPr>
        <p:spPr>
          <a:xfrm>
            <a:off x="457200" y="388620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23360"/>
            <a:ext cx="10698480" cy="320040"/>
          </a:xfrm>
          <a:prstGeom prst="rect">
            <a:avLst/>
          </a:prstGeom>
          <a:noFill/>
        </p:spPr>
        <p:txBody>
          <a:bodyPr wrap="square">
            <a:spAutoFit/>
          </a:bodyPr>
          <a:lstStyle/>
          <a:p>
            <a:pPr algn="l"/>
            <a:r>
              <a:rPr sz="1500" b="1">
                <a:solidFill>
                  <a:srgbClr val="1B3A5F"/>
                </a:solidFill>
                <a:latin typeface="Calibri"/>
              </a:rPr>
              <a:t>Round 3:  but / wanted / she / revise / forgot / to / Maya</a:t>
            </a:r>
          </a:p>
        </p:txBody>
      </p:sp>
      <p:sp>
        <p:nvSpPr>
          <p:cNvPr id="18" name="TextBox 17"/>
          <p:cNvSpPr txBox="1"/>
          <p:nvPr/>
        </p:nvSpPr>
        <p:spPr>
          <a:xfrm>
            <a:off x="731520" y="4389120"/>
            <a:ext cx="10698480" cy="320040"/>
          </a:xfrm>
          <a:prstGeom prst="rect">
            <a:avLst/>
          </a:prstGeom>
          <a:noFill/>
        </p:spPr>
        <p:txBody>
          <a:bodyPr wrap="square">
            <a:spAutoFit/>
          </a:bodyPr>
          <a:lstStyle/>
          <a:p>
            <a:pPr algn="l"/>
            <a:r>
              <a:rPr sz="1400" b="0">
                <a:solidFill>
                  <a:srgbClr val="2A9D8F"/>
                </a:solidFill>
                <a:latin typeface="Calibri"/>
              </a:rPr>
              <a:t>→ Maya wanted to revise, but she forgot.  (comma before but)</a:t>
            </a:r>
          </a:p>
        </p:txBody>
      </p:sp>
      <p:sp>
        <p:nvSpPr>
          <p:cNvPr id="19" name="Rounded Rectangle 18"/>
          <p:cNvSpPr/>
          <p:nvPr/>
        </p:nvSpPr>
        <p:spPr>
          <a:xfrm>
            <a:off x="457200" y="4937759"/>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074919"/>
            <a:ext cx="10698480" cy="320040"/>
          </a:xfrm>
          <a:prstGeom prst="rect">
            <a:avLst/>
          </a:prstGeom>
          <a:noFill/>
        </p:spPr>
        <p:txBody>
          <a:bodyPr wrap="square">
            <a:spAutoFit/>
          </a:bodyPr>
          <a:lstStyle/>
          <a:p>
            <a:pPr algn="l"/>
            <a:r>
              <a:rPr sz="1500" b="1">
                <a:solidFill>
                  <a:srgbClr val="1B3A5F"/>
                </a:solidFill>
                <a:latin typeface="Calibri"/>
              </a:rPr>
              <a:t>Round 4:  agreement / check / always / subject-verb</a:t>
            </a:r>
          </a:p>
        </p:txBody>
      </p:sp>
      <p:sp>
        <p:nvSpPr>
          <p:cNvPr id="21" name="TextBox 20"/>
          <p:cNvSpPr txBox="1"/>
          <p:nvPr/>
        </p:nvSpPr>
        <p:spPr>
          <a:xfrm>
            <a:off x="731520" y="5440679"/>
            <a:ext cx="10698480" cy="320040"/>
          </a:xfrm>
          <a:prstGeom prst="rect">
            <a:avLst/>
          </a:prstGeom>
          <a:noFill/>
        </p:spPr>
        <p:txBody>
          <a:bodyPr wrap="square">
            <a:spAutoFit/>
          </a:bodyPr>
          <a:lstStyle/>
          <a:p>
            <a:pPr algn="l"/>
            <a:r>
              <a:rPr sz="1400" b="0">
                <a:solidFill>
                  <a:srgbClr val="2A9D8F"/>
                </a:solidFill>
                <a:latin typeface="Calibri"/>
              </a:rPr>
              <a:t>→ Always check subject-verb agreement.</a:t>
            </a:r>
          </a:p>
        </p:txBody>
      </p:sp>
      <p:sp>
        <p:nvSpPr>
          <p:cNvPr id="22" name="Rectangle 21"/>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38–44 min</a:t>
            </a:r>
          </a:p>
        </p:txBody>
      </p:sp>
      <p:sp>
        <p:nvSpPr>
          <p:cNvPr id="24" name="TextBox 23"/>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19/28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GRAMMAR</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10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600" b="1">
                <a:solidFill>
                  <a:srgbClr val="1B3A5F"/>
                </a:solidFill>
                <a:latin typeface="Georgia"/>
              </a:rPr>
              <a:t>Grammar Power-Up (High-Impact Fixes)</a:t>
            </a:r>
          </a:p>
        </p:txBody>
      </p:sp>
      <p:sp>
        <p:nvSpPr>
          <p:cNvPr id="9" name="Rounded Rectangle 8"/>
          <p:cNvSpPr/>
          <p:nvPr/>
        </p:nvSpPr>
        <p:spPr>
          <a:xfrm>
            <a:off x="457200" y="1645920"/>
            <a:ext cx="274320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645920"/>
            <a:ext cx="2743200" cy="109728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828800"/>
            <a:ext cx="2468880" cy="822960"/>
          </a:xfrm>
          <a:prstGeom prst="rect">
            <a:avLst/>
          </a:prstGeom>
          <a:noFill/>
        </p:spPr>
        <p:txBody>
          <a:bodyPr wrap="square">
            <a:spAutoFit/>
          </a:bodyPr>
          <a:lstStyle/>
          <a:p>
            <a:pPr algn="ctr"/>
            <a:r>
              <a:rPr sz="1800" b="1">
                <a:solidFill>
                  <a:srgbClr val="FFFFFF"/>
                </a:solidFill>
                <a:latin typeface="Calibri"/>
              </a:rPr>
              <a:t>Subject–Verb
Agreement</a:t>
            </a:r>
          </a:p>
        </p:txBody>
      </p:sp>
      <p:sp>
        <p:nvSpPr>
          <p:cNvPr id="12" name="TextBox 11"/>
          <p:cNvSpPr txBox="1"/>
          <p:nvPr/>
        </p:nvSpPr>
        <p:spPr>
          <a:xfrm>
            <a:off x="640080" y="3108960"/>
            <a:ext cx="2377440" cy="2011680"/>
          </a:xfrm>
          <a:prstGeom prst="rect">
            <a:avLst/>
          </a:prstGeom>
          <a:noFill/>
        </p:spPr>
        <p:txBody>
          <a:bodyPr wrap="square">
            <a:spAutoFit/>
          </a:bodyPr>
          <a:lstStyle/>
          <a:p>
            <a:pPr algn="ctr"/>
            <a:r>
              <a:rPr sz="1500" b="0">
                <a:solidFill>
                  <a:srgbClr val="2D2D2D"/>
                </a:solidFill>
                <a:latin typeface="Calibri"/>
              </a:rPr>
              <a:t>Everyone / each / group → singular verbs</a:t>
            </a:r>
          </a:p>
        </p:txBody>
      </p:sp>
      <p:sp>
        <p:nvSpPr>
          <p:cNvPr id="13" name="Rounded Rectangle 12"/>
          <p:cNvSpPr/>
          <p:nvPr/>
        </p:nvSpPr>
        <p:spPr>
          <a:xfrm>
            <a:off x="3383280" y="1645920"/>
            <a:ext cx="274320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645920"/>
            <a:ext cx="2743200" cy="109728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828800"/>
            <a:ext cx="2468880" cy="822960"/>
          </a:xfrm>
          <a:prstGeom prst="rect">
            <a:avLst/>
          </a:prstGeom>
          <a:noFill/>
        </p:spPr>
        <p:txBody>
          <a:bodyPr wrap="square">
            <a:spAutoFit/>
          </a:bodyPr>
          <a:lstStyle/>
          <a:p>
            <a:pPr algn="ctr"/>
            <a:r>
              <a:rPr sz="1800" b="1">
                <a:solidFill>
                  <a:srgbClr val="FFFFFF"/>
                </a:solidFill>
                <a:latin typeface="Calibri"/>
              </a:rPr>
              <a:t>Comma Power</a:t>
            </a:r>
          </a:p>
        </p:txBody>
      </p:sp>
      <p:sp>
        <p:nvSpPr>
          <p:cNvPr id="16" name="TextBox 15"/>
          <p:cNvSpPr txBox="1"/>
          <p:nvPr/>
        </p:nvSpPr>
        <p:spPr>
          <a:xfrm>
            <a:off x="3566160" y="3108960"/>
            <a:ext cx="2377440" cy="2011680"/>
          </a:xfrm>
          <a:prstGeom prst="rect">
            <a:avLst/>
          </a:prstGeom>
          <a:noFill/>
        </p:spPr>
        <p:txBody>
          <a:bodyPr wrap="square">
            <a:spAutoFit/>
          </a:bodyPr>
          <a:lstStyle/>
          <a:p>
            <a:pPr algn="ctr"/>
            <a:r>
              <a:rPr sz="1500" b="0">
                <a:solidFill>
                  <a:srgbClr val="2D2D2D"/>
                </a:solidFill>
                <a:latin typeface="Calibri"/>
              </a:rPr>
              <a:t>Lists • FANBOYS • Intro phrases</a:t>
            </a:r>
          </a:p>
        </p:txBody>
      </p:sp>
      <p:sp>
        <p:nvSpPr>
          <p:cNvPr id="17" name="Rounded Rectangle 16"/>
          <p:cNvSpPr/>
          <p:nvPr/>
        </p:nvSpPr>
        <p:spPr>
          <a:xfrm>
            <a:off x="6309360" y="1645920"/>
            <a:ext cx="274320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645920"/>
            <a:ext cx="2743200" cy="109728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828800"/>
            <a:ext cx="2468880" cy="822960"/>
          </a:xfrm>
          <a:prstGeom prst="rect">
            <a:avLst/>
          </a:prstGeom>
          <a:noFill/>
        </p:spPr>
        <p:txBody>
          <a:bodyPr wrap="square">
            <a:spAutoFit/>
          </a:bodyPr>
          <a:lstStyle/>
          <a:p>
            <a:pPr algn="ctr"/>
            <a:r>
              <a:rPr sz="1800" b="1">
                <a:solidFill>
                  <a:srgbClr val="FFFFFF"/>
                </a:solidFill>
                <a:latin typeface="Calibri"/>
              </a:rPr>
              <a:t>Tricky Words</a:t>
            </a:r>
          </a:p>
        </p:txBody>
      </p:sp>
      <p:sp>
        <p:nvSpPr>
          <p:cNvPr id="20" name="TextBox 19"/>
          <p:cNvSpPr txBox="1"/>
          <p:nvPr/>
        </p:nvSpPr>
        <p:spPr>
          <a:xfrm>
            <a:off x="6492240" y="3108960"/>
            <a:ext cx="2377440" cy="2011680"/>
          </a:xfrm>
          <a:prstGeom prst="rect">
            <a:avLst/>
          </a:prstGeom>
          <a:noFill/>
        </p:spPr>
        <p:txBody>
          <a:bodyPr wrap="square">
            <a:spAutoFit/>
          </a:bodyPr>
          <a:lstStyle/>
          <a:p>
            <a:pPr algn="ctr"/>
            <a:r>
              <a:rPr sz="1500" b="0">
                <a:solidFill>
                  <a:srgbClr val="2D2D2D"/>
                </a:solidFill>
                <a:latin typeface="Calibri"/>
              </a:rPr>
              <a:t>its/it’s • their/there/they’re • than/then</a:t>
            </a:r>
          </a:p>
        </p:txBody>
      </p:sp>
      <p:sp>
        <p:nvSpPr>
          <p:cNvPr id="21" name="Rounded Rectangle 20"/>
          <p:cNvSpPr/>
          <p:nvPr/>
        </p:nvSpPr>
        <p:spPr>
          <a:xfrm>
            <a:off x="9235440" y="1645920"/>
            <a:ext cx="274320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35440" y="1645920"/>
            <a:ext cx="2743200" cy="109728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1828800"/>
            <a:ext cx="2468880" cy="822960"/>
          </a:xfrm>
          <a:prstGeom prst="rect">
            <a:avLst/>
          </a:prstGeom>
          <a:noFill/>
        </p:spPr>
        <p:txBody>
          <a:bodyPr wrap="square">
            <a:spAutoFit/>
          </a:bodyPr>
          <a:lstStyle/>
          <a:p>
            <a:pPr algn="ctr"/>
            <a:r>
              <a:rPr sz="1800" b="1">
                <a:solidFill>
                  <a:srgbClr val="FFFFFF"/>
                </a:solidFill>
                <a:latin typeface="Calibri"/>
              </a:rPr>
              <a:t>Sentence Sense</a:t>
            </a:r>
          </a:p>
        </p:txBody>
      </p:sp>
      <p:sp>
        <p:nvSpPr>
          <p:cNvPr id="24" name="TextBox 23"/>
          <p:cNvSpPr txBox="1"/>
          <p:nvPr/>
        </p:nvSpPr>
        <p:spPr>
          <a:xfrm>
            <a:off x="9418320" y="3108960"/>
            <a:ext cx="2377440" cy="2011680"/>
          </a:xfrm>
          <a:prstGeom prst="rect">
            <a:avLst/>
          </a:prstGeom>
          <a:noFill/>
        </p:spPr>
        <p:txBody>
          <a:bodyPr wrap="square">
            <a:spAutoFit/>
          </a:bodyPr>
          <a:lstStyle/>
          <a:p>
            <a:pPr algn="ctr"/>
            <a:r>
              <a:rPr sz="1500" b="0">
                <a:solidFill>
                  <a:srgbClr val="2D2D2D"/>
                </a:solidFill>
                <a:latin typeface="Calibri"/>
              </a:rPr>
              <a:t>No fragments, no run-ons</a:t>
            </a:r>
          </a:p>
        </p:txBody>
      </p:sp>
      <p:sp>
        <p:nvSpPr>
          <p:cNvPr id="25" name="Rectangle 24"/>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44–54 min</a:t>
            </a:r>
          </a:p>
        </p:txBody>
      </p:sp>
      <p:sp>
        <p:nvSpPr>
          <p:cNvPr id="27" name="TextBox 26"/>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20/28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QUICK RULES</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Remember These (Grade 7 Essentials)</a:t>
            </a:r>
          </a:p>
        </p:txBody>
      </p:sp>
      <p:sp>
        <p:nvSpPr>
          <p:cNvPr id="7" name="Rounded Rectangle 6"/>
          <p:cNvSpPr/>
          <p:nvPr/>
        </p:nvSpPr>
        <p:spPr>
          <a:xfrm>
            <a:off x="457200" y="1463040"/>
            <a:ext cx="5577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40"/>
            <a:ext cx="5120640" cy="320040"/>
          </a:xfrm>
          <a:prstGeom prst="rect">
            <a:avLst/>
          </a:prstGeom>
          <a:noFill/>
        </p:spPr>
        <p:txBody>
          <a:bodyPr wrap="square">
            <a:spAutoFit/>
          </a:bodyPr>
          <a:lstStyle/>
          <a:p>
            <a:pPr algn="l"/>
            <a:r>
              <a:rPr sz="1600" b="1">
                <a:solidFill>
                  <a:srgbClr val="E76F51"/>
                </a:solidFill>
                <a:latin typeface="Calibri"/>
              </a:rPr>
              <a:t>Agreement</a:t>
            </a:r>
          </a:p>
        </p:txBody>
      </p:sp>
      <p:sp>
        <p:nvSpPr>
          <p:cNvPr id="9" name="TextBox 8"/>
          <p:cNvSpPr txBox="1"/>
          <p:nvPr/>
        </p:nvSpPr>
        <p:spPr>
          <a:xfrm>
            <a:off x="685800" y="2103120"/>
            <a:ext cx="5120640" cy="457200"/>
          </a:xfrm>
          <a:prstGeom prst="rect">
            <a:avLst/>
          </a:prstGeom>
          <a:noFill/>
        </p:spPr>
        <p:txBody>
          <a:bodyPr wrap="square">
            <a:spAutoFit/>
          </a:bodyPr>
          <a:lstStyle/>
          <a:p>
            <a:pPr algn="l"/>
            <a:r>
              <a:rPr sz="1400" b="0">
                <a:solidFill>
                  <a:srgbClr val="2D2D2D"/>
                </a:solidFill>
                <a:latin typeface="Calibri"/>
              </a:rPr>
              <a:t>The basket of apples is heavy.  (basket = singular)</a:t>
            </a:r>
          </a:p>
        </p:txBody>
      </p:sp>
      <p:sp>
        <p:nvSpPr>
          <p:cNvPr id="10" name="Rounded Rectangle 9"/>
          <p:cNvSpPr/>
          <p:nvPr/>
        </p:nvSpPr>
        <p:spPr>
          <a:xfrm>
            <a:off x="6309360" y="1463040"/>
            <a:ext cx="5577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91640"/>
            <a:ext cx="5120640" cy="320040"/>
          </a:xfrm>
          <a:prstGeom prst="rect">
            <a:avLst/>
          </a:prstGeom>
          <a:noFill/>
        </p:spPr>
        <p:txBody>
          <a:bodyPr wrap="square">
            <a:spAutoFit/>
          </a:bodyPr>
          <a:lstStyle/>
          <a:p>
            <a:pPr algn="l"/>
            <a:r>
              <a:rPr sz="1600" b="1">
                <a:solidFill>
                  <a:srgbClr val="E76F51"/>
                </a:solidFill>
                <a:latin typeface="Calibri"/>
              </a:rPr>
              <a:t>FANBOYS</a:t>
            </a:r>
          </a:p>
        </p:txBody>
      </p:sp>
      <p:sp>
        <p:nvSpPr>
          <p:cNvPr id="12" name="TextBox 11"/>
          <p:cNvSpPr txBox="1"/>
          <p:nvPr/>
        </p:nvSpPr>
        <p:spPr>
          <a:xfrm>
            <a:off x="6537960" y="2103120"/>
            <a:ext cx="5120640" cy="457200"/>
          </a:xfrm>
          <a:prstGeom prst="rect">
            <a:avLst/>
          </a:prstGeom>
          <a:noFill/>
        </p:spPr>
        <p:txBody>
          <a:bodyPr wrap="square">
            <a:spAutoFit/>
          </a:bodyPr>
          <a:lstStyle/>
          <a:p>
            <a:pPr algn="l"/>
            <a:r>
              <a:rPr sz="1400" b="0">
                <a:solidFill>
                  <a:srgbClr val="2D2D2D"/>
                </a:solidFill>
                <a:latin typeface="Calibri"/>
              </a:rPr>
              <a:t>I studied, but I still reviewed my notes.</a:t>
            </a:r>
          </a:p>
        </p:txBody>
      </p:sp>
      <p:sp>
        <p:nvSpPr>
          <p:cNvPr id="13" name="Rounded Rectangle 12"/>
          <p:cNvSpPr/>
          <p:nvPr/>
        </p:nvSpPr>
        <p:spPr>
          <a:xfrm>
            <a:off x="457200" y="2971800"/>
            <a:ext cx="5577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200400"/>
            <a:ext cx="5120640" cy="320040"/>
          </a:xfrm>
          <a:prstGeom prst="rect">
            <a:avLst/>
          </a:prstGeom>
          <a:noFill/>
        </p:spPr>
        <p:txBody>
          <a:bodyPr wrap="square">
            <a:spAutoFit/>
          </a:bodyPr>
          <a:lstStyle/>
          <a:p>
            <a:pPr algn="l"/>
            <a:r>
              <a:rPr sz="1600" b="1">
                <a:solidFill>
                  <a:srgbClr val="E76F51"/>
                </a:solidFill>
                <a:latin typeface="Calibri"/>
              </a:rPr>
              <a:t>Intro</a:t>
            </a:r>
          </a:p>
        </p:txBody>
      </p:sp>
      <p:sp>
        <p:nvSpPr>
          <p:cNvPr id="15" name="TextBox 14"/>
          <p:cNvSpPr txBox="1"/>
          <p:nvPr/>
        </p:nvSpPr>
        <p:spPr>
          <a:xfrm>
            <a:off x="685800" y="3611880"/>
            <a:ext cx="5120640" cy="457200"/>
          </a:xfrm>
          <a:prstGeom prst="rect">
            <a:avLst/>
          </a:prstGeom>
          <a:noFill/>
        </p:spPr>
        <p:txBody>
          <a:bodyPr wrap="square">
            <a:spAutoFit/>
          </a:bodyPr>
          <a:lstStyle/>
          <a:p>
            <a:pPr algn="l"/>
            <a:r>
              <a:rPr sz="1400" b="0">
                <a:solidFill>
                  <a:srgbClr val="2D2D2D"/>
                </a:solidFill>
                <a:latin typeface="Calibri"/>
              </a:rPr>
              <a:t>After lunch, we started the reading passage.</a:t>
            </a:r>
          </a:p>
        </p:txBody>
      </p:sp>
      <p:sp>
        <p:nvSpPr>
          <p:cNvPr id="16" name="Rounded Rectangle 15"/>
          <p:cNvSpPr/>
          <p:nvPr/>
        </p:nvSpPr>
        <p:spPr>
          <a:xfrm>
            <a:off x="6309360" y="2971800"/>
            <a:ext cx="5577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3200400"/>
            <a:ext cx="5120640" cy="320040"/>
          </a:xfrm>
          <a:prstGeom prst="rect">
            <a:avLst/>
          </a:prstGeom>
          <a:noFill/>
        </p:spPr>
        <p:txBody>
          <a:bodyPr wrap="square">
            <a:spAutoFit/>
          </a:bodyPr>
          <a:lstStyle/>
          <a:p>
            <a:pPr algn="l"/>
            <a:r>
              <a:rPr sz="1600" b="1">
                <a:solidFill>
                  <a:srgbClr val="E76F51"/>
                </a:solidFill>
                <a:latin typeface="Calibri"/>
              </a:rPr>
              <a:t>it’s / its</a:t>
            </a:r>
          </a:p>
        </p:txBody>
      </p:sp>
      <p:sp>
        <p:nvSpPr>
          <p:cNvPr id="18" name="TextBox 17"/>
          <p:cNvSpPr txBox="1"/>
          <p:nvPr/>
        </p:nvSpPr>
        <p:spPr>
          <a:xfrm>
            <a:off x="6537960" y="3611880"/>
            <a:ext cx="5120640" cy="457200"/>
          </a:xfrm>
          <a:prstGeom prst="rect">
            <a:avLst/>
          </a:prstGeom>
          <a:noFill/>
        </p:spPr>
        <p:txBody>
          <a:bodyPr wrap="square">
            <a:spAutoFit/>
          </a:bodyPr>
          <a:lstStyle/>
          <a:p>
            <a:pPr algn="l"/>
            <a:r>
              <a:rPr sz="1400" b="0">
                <a:solidFill>
                  <a:srgbClr val="2D2D2D"/>
                </a:solidFill>
                <a:latin typeface="Calibri"/>
              </a:rPr>
              <a:t>It’s (= it is) cold. The dog wagged its tail.</a:t>
            </a:r>
          </a:p>
        </p:txBody>
      </p:sp>
      <p:sp>
        <p:nvSpPr>
          <p:cNvPr id="19" name="Rounded Rectangle 18"/>
          <p:cNvSpPr/>
          <p:nvPr/>
        </p:nvSpPr>
        <p:spPr>
          <a:xfrm>
            <a:off x="457200" y="4480560"/>
            <a:ext cx="5577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709160"/>
            <a:ext cx="5120640" cy="320040"/>
          </a:xfrm>
          <a:prstGeom prst="rect">
            <a:avLst/>
          </a:prstGeom>
          <a:noFill/>
        </p:spPr>
        <p:txBody>
          <a:bodyPr wrap="square">
            <a:spAutoFit/>
          </a:bodyPr>
          <a:lstStyle/>
          <a:p>
            <a:pPr algn="l"/>
            <a:r>
              <a:rPr sz="1600" b="1">
                <a:solidFill>
                  <a:srgbClr val="E76F51"/>
                </a:solidFill>
                <a:latin typeface="Calibri"/>
              </a:rPr>
              <a:t>than / then</a:t>
            </a:r>
          </a:p>
        </p:txBody>
      </p:sp>
      <p:sp>
        <p:nvSpPr>
          <p:cNvPr id="21" name="TextBox 20"/>
          <p:cNvSpPr txBox="1"/>
          <p:nvPr/>
        </p:nvSpPr>
        <p:spPr>
          <a:xfrm>
            <a:off x="685800" y="5120640"/>
            <a:ext cx="5120640" cy="457200"/>
          </a:xfrm>
          <a:prstGeom prst="rect">
            <a:avLst/>
          </a:prstGeom>
          <a:noFill/>
        </p:spPr>
        <p:txBody>
          <a:bodyPr wrap="square">
            <a:spAutoFit/>
          </a:bodyPr>
          <a:lstStyle/>
          <a:p>
            <a:pPr algn="l"/>
            <a:r>
              <a:rPr sz="1400" b="0">
                <a:solidFill>
                  <a:srgbClr val="2D2D2D"/>
                </a:solidFill>
                <a:latin typeface="Calibri"/>
              </a:rPr>
              <a:t>Better than before. Read first, then write.</a:t>
            </a:r>
          </a:p>
        </p:txBody>
      </p:sp>
      <p:sp>
        <p:nvSpPr>
          <p:cNvPr id="22" name="Rounded Rectangle 21"/>
          <p:cNvSpPr/>
          <p:nvPr/>
        </p:nvSpPr>
        <p:spPr>
          <a:xfrm>
            <a:off x="6309360" y="4480560"/>
            <a:ext cx="5577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4709160"/>
            <a:ext cx="5120640" cy="320040"/>
          </a:xfrm>
          <a:prstGeom prst="rect">
            <a:avLst/>
          </a:prstGeom>
          <a:noFill/>
        </p:spPr>
        <p:txBody>
          <a:bodyPr wrap="square">
            <a:spAutoFit/>
          </a:bodyPr>
          <a:lstStyle/>
          <a:p>
            <a:pPr algn="l"/>
            <a:r>
              <a:rPr sz="1600" b="1">
                <a:solidFill>
                  <a:srgbClr val="E76F51"/>
                </a:solidFill>
                <a:latin typeface="Calibri"/>
              </a:rPr>
              <a:t>their / there / they’re</a:t>
            </a:r>
          </a:p>
        </p:txBody>
      </p:sp>
      <p:sp>
        <p:nvSpPr>
          <p:cNvPr id="24" name="TextBox 23"/>
          <p:cNvSpPr txBox="1"/>
          <p:nvPr/>
        </p:nvSpPr>
        <p:spPr>
          <a:xfrm>
            <a:off x="6537960" y="5120640"/>
            <a:ext cx="5120640" cy="457200"/>
          </a:xfrm>
          <a:prstGeom prst="rect">
            <a:avLst/>
          </a:prstGeom>
          <a:noFill/>
        </p:spPr>
        <p:txBody>
          <a:bodyPr wrap="square">
            <a:spAutoFit/>
          </a:bodyPr>
          <a:lstStyle/>
          <a:p>
            <a:pPr algn="l"/>
            <a:r>
              <a:rPr sz="1400" b="0">
                <a:solidFill>
                  <a:srgbClr val="2D2D2D"/>
                </a:solidFill>
                <a:latin typeface="Calibri"/>
              </a:rPr>
              <a:t>They’re putting their books over there.</a:t>
            </a:r>
          </a:p>
        </p:txBody>
      </p:sp>
      <p:sp>
        <p:nvSpPr>
          <p:cNvPr id="25" name="Rectangle 24"/>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44–54 min</a:t>
            </a:r>
          </a:p>
        </p:txBody>
      </p:sp>
      <p:sp>
        <p:nvSpPr>
          <p:cNvPr id="27" name="TextBox 26"/>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21/28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PRACTICE</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Live Fix-It Practice</a:t>
            </a:r>
          </a:p>
        </p:txBody>
      </p:sp>
      <p:sp>
        <p:nvSpPr>
          <p:cNvPr id="7" name="Rounded Rectangle 6"/>
          <p:cNvSpPr/>
          <p:nvPr/>
        </p:nvSpPr>
        <p:spPr>
          <a:xfrm>
            <a:off x="457200" y="146304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10698480" cy="411480"/>
          </a:xfrm>
          <a:prstGeom prst="rect">
            <a:avLst/>
          </a:prstGeom>
          <a:noFill/>
        </p:spPr>
        <p:txBody>
          <a:bodyPr wrap="square">
            <a:spAutoFit/>
          </a:bodyPr>
          <a:lstStyle/>
          <a:p>
            <a:pPr algn="l"/>
            <a:r>
              <a:rPr sz="1700" b="0">
                <a:solidFill>
                  <a:srgbClr val="2D2D2D"/>
                </a:solidFill>
                <a:latin typeface="Calibri"/>
              </a:rPr>
              <a:t>1.  Everyone in the class have finished the passage.</a:t>
            </a:r>
          </a:p>
        </p:txBody>
      </p:sp>
      <p:sp>
        <p:nvSpPr>
          <p:cNvPr id="9" name="Rounded Rectangle 8"/>
          <p:cNvSpPr/>
          <p:nvPr/>
        </p:nvSpPr>
        <p:spPr>
          <a:xfrm>
            <a:off x="457200" y="256032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834640"/>
            <a:ext cx="10698480" cy="411480"/>
          </a:xfrm>
          <a:prstGeom prst="rect">
            <a:avLst/>
          </a:prstGeom>
          <a:noFill/>
        </p:spPr>
        <p:txBody>
          <a:bodyPr wrap="square">
            <a:spAutoFit/>
          </a:bodyPr>
          <a:lstStyle/>
          <a:p>
            <a:pPr algn="l"/>
            <a:r>
              <a:rPr sz="1700" b="0">
                <a:solidFill>
                  <a:srgbClr val="2D2D2D"/>
                </a:solidFill>
                <a:latin typeface="Calibri"/>
              </a:rPr>
              <a:t>2.  The pile of worksheets are on the desk.</a:t>
            </a:r>
          </a:p>
        </p:txBody>
      </p:sp>
      <p:sp>
        <p:nvSpPr>
          <p:cNvPr id="11" name="Rounded Rectangle 10"/>
          <p:cNvSpPr/>
          <p:nvPr/>
        </p:nvSpPr>
        <p:spPr>
          <a:xfrm>
            <a:off x="457200" y="365760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931920"/>
            <a:ext cx="10698480" cy="411480"/>
          </a:xfrm>
          <a:prstGeom prst="rect">
            <a:avLst/>
          </a:prstGeom>
          <a:noFill/>
        </p:spPr>
        <p:txBody>
          <a:bodyPr wrap="square">
            <a:spAutoFit/>
          </a:bodyPr>
          <a:lstStyle/>
          <a:p>
            <a:pPr algn="l"/>
            <a:r>
              <a:rPr sz="1700" b="0">
                <a:solidFill>
                  <a:srgbClr val="2D2D2D"/>
                </a:solidFill>
                <a:latin typeface="Calibri"/>
              </a:rPr>
              <a:t>3.  Its important to check your work before your done.</a:t>
            </a:r>
          </a:p>
        </p:txBody>
      </p:sp>
      <p:sp>
        <p:nvSpPr>
          <p:cNvPr id="13" name="Rounded Rectangle 12"/>
          <p:cNvSpPr/>
          <p:nvPr/>
        </p:nvSpPr>
        <p:spPr>
          <a:xfrm>
            <a:off x="457200" y="4754879"/>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029199"/>
            <a:ext cx="10698480" cy="411480"/>
          </a:xfrm>
          <a:prstGeom prst="rect">
            <a:avLst/>
          </a:prstGeom>
          <a:noFill/>
        </p:spPr>
        <p:txBody>
          <a:bodyPr wrap="square">
            <a:spAutoFit/>
          </a:bodyPr>
          <a:lstStyle/>
          <a:p>
            <a:pPr algn="l"/>
            <a:r>
              <a:rPr sz="1700" b="0">
                <a:solidFill>
                  <a:srgbClr val="2D2D2D"/>
                </a:solidFill>
                <a:latin typeface="Calibri"/>
              </a:rPr>
              <a:t>4.  Reading every day has a bigger affect then cramming.</a:t>
            </a:r>
          </a:p>
        </p:txBody>
      </p:sp>
      <p:sp>
        <p:nvSpPr>
          <p:cNvPr id="15" name="Rectangle 14"/>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44–54 min</a:t>
            </a:r>
          </a:p>
        </p:txBody>
      </p:sp>
      <p:sp>
        <p:nvSpPr>
          <p:cNvPr id="17" name="TextBox 16"/>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22/28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ANSWER KEY</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Corrected Versions</a:t>
            </a:r>
          </a:p>
        </p:txBody>
      </p:sp>
      <p:sp>
        <p:nvSpPr>
          <p:cNvPr id="7" name="Rounded Rectangle 6"/>
          <p:cNvSpPr/>
          <p:nvPr/>
        </p:nvSpPr>
        <p:spPr>
          <a:xfrm>
            <a:off x="457200" y="1463040"/>
            <a:ext cx="11247120" cy="96012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10698480" cy="411480"/>
          </a:xfrm>
          <a:prstGeom prst="rect">
            <a:avLst/>
          </a:prstGeom>
          <a:noFill/>
        </p:spPr>
        <p:txBody>
          <a:bodyPr wrap="square">
            <a:spAutoFit/>
          </a:bodyPr>
          <a:lstStyle/>
          <a:p>
            <a:pPr algn="l"/>
            <a:r>
              <a:rPr sz="1700" b="0">
                <a:solidFill>
                  <a:srgbClr val="2D2D2D"/>
                </a:solidFill>
                <a:latin typeface="Calibri"/>
              </a:rPr>
              <a:t>1.  Everyone in the class has finished the passage.</a:t>
            </a:r>
          </a:p>
        </p:txBody>
      </p:sp>
      <p:sp>
        <p:nvSpPr>
          <p:cNvPr id="9" name="Rounded Rectangle 8"/>
          <p:cNvSpPr/>
          <p:nvPr/>
        </p:nvSpPr>
        <p:spPr>
          <a:xfrm>
            <a:off x="457200" y="2560320"/>
            <a:ext cx="11247120" cy="96012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834640"/>
            <a:ext cx="10698480" cy="411480"/>
          </a:xfrm>
          <a:prstGeom prst="rect">
            <a:avLst/>
          </a:prstGeom>
          <a:noFill/>
        </p:spPr>
        <p:txBody>
          <a:bodyPr wrap="square">
            <a:spAutoFit/>
          </a:bodyPr>
          <a:lstStyle/>
          <a:p>
            <a:pPr algn="l"/>
            <a:r>
              <a:rPr sz="1700" b="0">
                <a:solidFill>
                  <a:srgbClr val="2D2D2D"/>
                </a:solidFill>
                <a:latin typeface="Calibri"/>
              </a:rPr>
              <a:t>2.  The pile of worksheets is on the desk.</a:t>
            </a:r>
          </a:p>
        </p:txBody>
      </p:sp>
      <p:sp>
        <p:nvSpPr>
          <p:cNvPr id="11" name="Rounded Rectangle 10"/>
          <p:cNvSpPr/>
          <p:nvPr/>
        </p:nvSpPr>
        <p:spPr>
          <a:xfrm>
            <a:off x="457200" y="3657600"/>
            <a:ext cx="11247120" cy="96012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931920"/>
            <a:ext cx="10698480" cy="411480"/>
          </a:xfrm>
          <a:prstGeom prst="rect">
            <a:avLst/>
          </a:prstGeom>
          <a:noFill/>
        </p:spPr>
        <p:txBody>
          <a:bodyPr wrap="square">
            <a:spAutoFit/>
          </a:bodyPr>
          <a:lstStyle/>
          <a:p>
            <a:pPr algn="l"/>
            <a:r>
              <a:rPr sz="1700" b="0">
                <a:solidFill>
                  <a:srgbClr val="2D2D2D"/>
                </a:solidFill>
                <a:latin typeface="Calibri"/>
              </a:rPr>
              <a:t>3.  It’s important to check your work before you’re done.</a:t>
            </a:r>
          </a:p>
        </p:txBody>
      </p:sp>
      <p:sp>
        <p:nvSpPr>
          <p:cNvPr id="13" name="Rounded Rectangle 12"/>
          <p:cNvSpPr/>
          <p:nvPr/>
        </p:nvSpPr>
        <p:spPr>
          <a:xfrm>
            <a:off x="457200" y="4754879"/>
            <a:ext cx="11247120" cy="96012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029199"/>
            <a:ext cx="10698480" cy="411480"/>
          </a:xfrm>
          <a:prstGeom prst="rect">
            <a:avLst/>
          </a:prstGeom>
          <a:noFill/>
        </p:spPr>
        <p:txBody>
          <a:bodyPr wrap="square">
            <a:spAutoFit/>
          </a:bodyPr>
          <a:lstStyle/>
          <a:p>
            <a:pPr algn="l"/>
            <a:r>
              <a:rPr sz="1700" b="0">
                <a:solidFill>
                  <a:srgbClr val="2D2D2D"/>
                </a:solidFill>
                <a:latin typeface="Calibri"/>
              </a:rPr>
              <a:t>4.  Reading every day has a bigger effect than cramming.</a:t>
            </a:r>
          </a:p>
        </p:txBody>
      </p:sp>
      <p:sp>
        <p:nvSpPr>
          <p:cNvPr id="15" name="Rectangle 14"/>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44–54 min</a:t>
            </a:r>
          </a:p>
        </p:txBody>
      </p:sp>
      <p:sp>
        <p:nvSpPr>
          <p:cNvPr id="17" name="TextBox 16"/>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23/28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286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698480" cy="457200"/>
          </a:xfrm>
          <a:prstGeom prst="rect">
            <a:avLst/>
          </a:prstGeom>
          <a:noFill/>
        </p:spPr>
        <p:txBody>
          <a:bodyPr wrap="square">
            <a:spAutoFit/>
          </a:bodyPr>
          <a:lstStyle/>
          <a:p>
            <a:pPr algn="ctr"/>
            <a:r>
              <a:rPr sz="1800" b="1">
                <a:solidFill>
                  <a:srgbClr val="E9A825"/>
                </a:solidFill>
                <a:latin typeface="Calibri"/>
              </a:rPr>
              <a:t>GAME TIME</a:t>
            </a:r>
          </a:p>
        </p:txBody>
      </p:sp>
      <p:sp>
        <p:nvSpPr>
          <p:cNvPr id="5" name="TextBox 4"/>
          <p:cNvSpPr txBox="1"/>
          <p:nvPr/>
        </p:nvSpPr>
        <p:spPr>
          <a:xfrm>
            <a:off x="731520" y="2651760"/>
            <a:ext cx="10698480" cy="914400"/>
          </a:xfrm>
          <a:prstGeom prst="rect">
            <a:avLst/>
          </a:prstGeom>
          <a:noFill/>
        </p:spPr>
        <p:txBody>
          <a:bodyPr wrap="square">
            <a:spAutoFit/>
          </a:bodyPr>
          <a:lstStyle/>
          <a:p>
            <a:pPr algn="ctr"/>
            <a:r>
              <a:rPr sz="4000" b="1">
                <a:solidFill>
                  <a:srgbClr val="FFFFFF"/>
                </a:solidFill>
                <a:latin typeface="Georgia"/>
              </a:rPr>
              <a:t>Punctuation Rescue</a:t>
            </a:r>
          </a:p>
        </p:txBody>
      </p:sp>
      <p:sp>
        <p:nvSpPr>
          <p:cNvPr id="6" name="TextBox 5"/>
          <p:cNvSpPr txBox="1"/>
          <p:nvPr/>
        </p:nvSpPr>
        <p:spPr>
          <a:xfrm>
            <a:off x="731520" y="3840480"/>
            <a:ext cx="10698480" cy="457200"/>
          </a:xfrm>
          <a:prstGeom prst="rect">
            <a:avLst/>
          </a:prstGeom>
          <a:noFill/>
        </p:spPr>
        <p:txBody>
          <a:bodyPr wrap="square">
            <a:spAutoFit/>
          </a:bodyPr>
          <a:lstStyle/>
          <a:p>
            <a:pPr algn="ctr"/>
            <a:r>
              <a:rPr sz="2000" b="0">
                <a:solidFill>
                  <a:srgbClr val="C5D4E8"/>
                </a:solidFill>
                <a:latin typeface="Calibri"/>
              </a:rPr>
              <a:t>Final game  •  Save the sentences!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GAME 4</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4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600" b="1">
                <a:solidFill>
                  <a:srgbClr val="1B3A5F"/>
                </a:solidFill>
                <a:latin typeface="Georgia"/>
              </a:rPr>
              <a:t>Punctuation Rescue — Add What’s Missing</a:t>
            </a:r>
          </a:p>
        </p:txBody>
      </p:sp>
      <p:sp>
        <p:nvSpPr>
          <p:cNvPr id="9" name="Rounded Rectangle 8"/>
          <p:cNvSpPr/>
          <p:nvPr/>
        </p:nvSpPr>
        <p:spPr>
          <a:xfrm>
            <a:off x="457200" y="1417320"/>
            <a:ext cx="1124712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54480"/>
            <a:ext cx="10698480" cy="320040"/>
          </a:xfrm>
          <a:prstGeom prst="rect">
            <a:avLst/>
          </a:prstGeom>
          <a:noFill/>
        </p:spPr>
        <p:txBody>
          <a:bodyPr wrap="square">
            <a:spAutoFit/>
          </a:bodyPr>
          <a:lstStyle/>
          <a:p>
            <a:pPr algn="l"/>
            <a:r>
              <a:rPr sz="1500" b="0">
                <a:solidFill>
                  <a:srgbClr val="2D2D2D"/>
                </a:solidFill>
                <a:latin typeface="Calibri"/>
              </a:rPr>
              <a:t>1.  After the timer started students began annotating.</a:t>
            </a:r>
          </a:p>
        </p:txBody>
      </p:sp>
      <p:sp>
        <p:nvSpPr>
          <p:cNvPr id="11" name="TextBox 10"/>
          <p:cNvSpPr txBox="1"/>
          <p:nvPr/>
        </p:nvSpPr>
        <p:spPr>
          <a:xfrm>
            <a:off x="731520" y="1920240"/>
            <a:ext cx="10698480" cy="320040"/>
          </a:xfrm>
          <a:prstGeom prst="rect">
            <a:avLst/>
          </a:prstGeom>
          <a:noFill/>
        </p:spPr>
        <p:txBody>
          <a:bodyPr wrap="square">
            <a:spAutoFit/>
          </a:bodyPr>
          <a:lstStyle/>
          <a:p>
            <a:pPr algn="l"/>
            <a:r>
              <a:rPr sz="1400" b="1">
                <a:solidFill>
                  <a:srgbClr val="2A9D8F"/>
                </a:solidFill>
                <a:latin typeface="Calibri"/>
              </a:rPr>
              <a:t>✓  After the timer started, students began annotating.</a:t>
            </a:r>
          </a:p>
        </p:txBody>
      </p:sp>
      <p:sp>
        <p:nvSpPr>
          <p:cNvPr id="12" name="Rounded Rectangle 11"/>
          <p:cNvSpPr/>
          <p:nvPr/>
        </p:nvSpPr>
        <p:spPr>
          <a:xfrm>
            <a:off x="457200" y="2514600"/>
            <a:ext cx="1124712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651760"/>
            <a:ext cx="10698480" cy="320040"/>
          </a:xfrm>
          <a:prstGeom prst="rect">
            <a:avLst/>
          </a:prstGeom>
          <a:noFill/>
        </p:spPr>
        <p:txBody>
          <a:bodyPr wrap="square">
            <a:spAutoFit/>
          </a:bodyPr>
          <a:lstStyle/>
          <a:p>
            <a:pPr algn="l"/>
            <a:r>
              <a:rPr sz="1500" b="0">
                <a:solidFill>
                  <a:srgbClr val="2D2D2D"/>
                </a:solidFill>
                <a:latin typeface="Calibri"/>
              </a:rPr>
              <a:t>2.  She wanted a higher score so she reread the passage.</a:t>
            </a:r>
          </a:p>
        </p:txBody>
      </p:sp>
      <p:sp>
        <p:nvSpPr>
          <p:cNvPr id="14" name="TextBox 13"/>
          <p:cNvSpPr txBox="1"/>
          <p:nvPr/>
        </p:nvSpPr>
        <p:spPr>
          <a:xfrm>
            <a:off x="731520" y="3017520"/>
            <a:ext cx="10698480" cy="320040"/>
          </a:xfrm>
          <a:prstGeom prst="rect">
            <a:avLst/>
          </a:prstGeom>
          <a:noFill/>
        </p:spPr>
        <p:txBody>
          <a:bodyPr wrap="square">
            <a:spAutoFit/>
          </a:bodyPr>
          <a:lstStyle/>
          <a:p>
            <a:pPr algn="l"/>
            <a:r>
              <a:rPr sz="1400" b="1">
                <a:solidFill>
                  <a:srgbClr val="2A9D8F"/>
                </a:solidFill>
                <a:latin typeface="Calibri"/>
              </a:rPr>
              <a:t>✓  She wanted a higher score, so she reread the passage.</a:t>
            </a:r>
          </a:p>
        </p:txBody>
      </p:sp>
      <p:sp>
        <p:nvSpPr>
          <p:cNvPr id="15" name="Rounded Rectangle 14"/>
          <p:cNvSpPr/>
          <p:nvPr/>
        </p:nvSpPr>
        <p:spPr>
          <a:xfrm>
            <a:off x="457200" y="3611880"/>
            <a:ext cx="1124712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49040"/>
            <a:ext cx="10698480" cy="320040"/>
          </a:xfrm>
          <a:prstGeom prst="rect">
            <a:avLst/>
          </a:prstGeom>
          <a:noFill/>
        </p:spPr>
        <p:txBody>
          <a:bodyPr wrap="square">
            <a:spAutoFit/>
          </a:bodyPr>
          <a:lstStyle/>
          <a:p>
            <a:pPr algn="l"/>
            <a:r>
              <a:rPr sz="1500" b="0">
                <a:solidFill>
                  <a:srgbClr val="2D2D2D"/>
                </a:solidFill>
                <a:latin typeface="Calibri"/>
              </a:rPr>
              <a:t>3.  We need pencils notebooks and sticky notes.</a:t>
            </a:r>
          </a:p>
        </p:txBody>
      </p:sp>
      <p:sp>
        <p:nvSpPr>
          <p:cNvPr id="17" name="TextBox 16"/>
          <p:cNvSpPr txBox="1"/>
          <p:nvPr/>
        </p:nvSpPr>
        <p:spPr>
          <a:xfrm>
            <a:off x="731520" y="4114800"/>
            <a:ext cx="10698480" cy="320040"/>
          </a:xfrm>
          <a:prstGeom prst="rect">
            <a:avLst/>
          </a:prstGeom>
          <a:noFill/>
        </p:spPr>
        <p:txBody>
          <a:bodyPr wrap="square">
            <a:spAutoFit/>
          </a:bodyPr>
          <a:lstStyle/>
          <a:p>
            <a:pPr algn="l"/>
            <a:r>
              <a:rPr sz="1400" b="1">
                <a:solidFill>
                  <a:srgbClr val="2A9D8F"/>
                </a:solidFill>
                <a:latin typeface="Calibri"/>
              </a:rPr>
              <a:t>✓  We need pencils, notebooks, and sticky notes.</a:t>
            </a:r>
          </a:p>
        </p:txBody>
      </p:sp>
      <p:sp>
        <p:nvSpPr>
          <p:cNvPr id="18" name="Rounded Rectangle 17"/>
          <p:cNvSpPr/>
          <p:nvPr/>
        </p:nvSpPr>
        <p:spPr>
          <a:xfrm>
            <a:off x="457200" y="4709159"/>
            <a:ext cx="11247120" cy="1005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46319"/>
            <a:ext cx="10698480" cy="320040"/>
          </a:xfrm>
          <a:prstGeom prst="rect">
            <a:avLst/>
          </a:prstGeom>
          <a:noFill/>
        </p:spPr>
        <p:txBody>
          <a:bodyPr wrap="square">
            <a:spAutoFit/>
          </a:bodyPr>
          <a:lstStyle/>
          <a:p>
            <a:pPr algn="l"/>
            <a:r>
              <a:rPr sz="1500" b="0">
                <a:solidFill>
                  <a:srgbClr val="2D2D2D"/>
                </a:solidFill>
                <a:latin typeface="Calibri"/>
              </a:rPr>
              <a:t>4.  My cousin who loves mysteries recommended this book.</a:t>
            </a:r>
          </a:p>
        </p:txBody>
      </p:sp>
      <p:sp>
        <p:nvSpPr>
          <p:cNvPr id="20" name="TextBox 19"/>
          <p:cNvSpPr txBox="1"/>
          <p:nvPr/>
        </p:nvSpPr>
        <p:spPr>
          <a:xfrm>
            <a:off x="731520" y="5212079"/>
            <a:ext cx="10698480" cy="320040"/>
          </a:xfrm>
          <a:prstGeom prst="rect">
            <a:avLst/>
          </a:prstGeom>
          <a:noFill/>
        </p:spPr>
        <p:txBody>
          <a:bodyPr wrap="square">
            <a:spAutoFit/>
          </a:bodyPr>
          <a:lstStyle/>
          <a:p>
            <a:pPr algn="l"/>
            <a:r>
              <a:rPr sz="1400" b="1">
                <a:solidFill>
                  <a:srgbClr val="2A9D8F"/>
                </a:solidFill>
                <a:latin typeface="Calibri"/>
              </a:rPr>
              <a:t>✓  My cousin, who loves mysteries, recommended this book.</a:t>
            </a:r>
          </a:p>
        </p:txBody>
      </p:sp>
      <p:sp>
        <p:nvSpPr>
          <p:cNvPr id="21" name="Rectangle 20"/>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54–58 min</a:t>
            </a:r>
          </a:p>
        </p:txBody>
      </p:sp>
      <p:sp>
        <p:nvSpPr>
          <p:cNvPr id="23" name="TextBox 22"/>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25/28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WRAP-UP</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2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Takeaways &amp; This Week’s Challenge</a:t>
            </a:r>
          </a:p>
        </p:txBody>
      </p:sp>
      <p:sp>
        <p:nvSpPr>
          <p:cNvPr id="9" name="Rounded Rectangle 8"/>
          <p:cNvSpPr/>
          <p:nvPr/>
        </p:nvSpPr>
        <p:spPr>
          <a:xfrm>
            <a:off x="457200" y="1463040"/>
            <a:ext cx="54864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4937760" cy="320040"/>
          </a:xfrm>
          <a:prstGeom prst="rect">
            <a:avLst/>
          </a:prstGeom>
          <a:noFill/>
        </p:spPr>
        <p:txBody>
          <a:bodyPr wrap="square">
            <a:spAutoFit/>
          </a:bodyPr>
          <a:lstStyle/>
          <a:p>
            <a:pPr algn="l"/>
            <a:r>
              <a:rPr sz="1800" b="1">
                <a:solidFill>
                  <a:srgbClr val="2A9D8F"/>
                </a:solidFill>
                <a:latin typeface="Calibri"/>
              </a:rPr>
              <a:t>Reading</a:t>
            </a:r>
          </a:p>
        </p:txBody>
      </p:sp>
      <p:sp>
        <p:nvSpPr>
          <p:cNvPr id="11" name="TextBox 10"/>
          <p:cNvSpPr txBox="1"/>
          <p:nvPr/>
        </p:nvSpPr>
        <p:spPr>
          <a:xfrm>
            <a:off x="731520" y="2103120"/>
            <a:ext cx="4937760" cy="365760"/>
          </a:xfrm>
          <a:prstGeom prst="rect">
            <a:avLst/>
          </a:prstGeom>
          <a:noFill/>
        </p:spPr>
        <p:txBody>
          <a:bodyPr wrap="square">
            <a:spAutoFit/>
          </a:bodyPr>
          <a:lstStyle/>
          <a:p>
            <a:pPr algn="l"/>
            <a:r>
              <a:rPr sz="1400" b="0">
                <a:solidFill>
                  <a:srgbClr val="2D2D2D"/>
                </a:solidFill>
                <a:latin typeface="Calibri"/>
              </a:rPr>
              <a:t>Annotate every time: ★ — ? !</a:t>
            </a:r>
          </a:p>
        </p:txBody>
      </p:sp>
      <p:sp>
        <p:nvSpPr>
          <p:cNvPr id="12" name="Rounded Rectangle 11"/>
          <p:cNvSpPr/>
          <p:nvPr/>
        </p:nvSpPr>
        <p:spPr>
          <a:xfrm>
            <a:off x="457200" y="2834640"/>
            <a:ext cx="54864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63240"/>
            <a:ext cx="4937760" cy="320040"/>
          </a:xfrm>
          <a:prstGeom prst="rect">
            <a:avLst/>
          </a:prstGeom>
          <a:noFill/>
        </p:spPr>
        <p:txBody>
          <a:bodyPr wrap="square">
            <a:spAutoFit/>
          </a:bodyPr>
          <a:lstStyle/>
          <a:p>
            <a:pPr algn="l"/>
            <a:r>
              <a:rPr sz="1800" b="1">
                <a:solidFill>
                  <a:srgbClr val="2A9D8F"/>
                </a:solidFill>
                <a:latin typeface="Calibri"/>
              </a:rPr>
              <a:t>Inference</a:t>
            </a:r>
          </a:p>
        </p:txBody>
      </p:sp>
      <p:sp>
        <p:nvSpPr>
          <p:cNvPr id="14" name="TextBox 13"/>
          <p:cNvSpPr txBox="1"/>
          <p:nvPr/>
        </p:nvSpPr>
        <p:spPr>
          <a:xfrm>
            <a:off x="731520" y="3474720"/>
            <a:ext cx="4937760" cy="365760"/>
          </a:xfrm>
          <a:prstGeom prst="rect">
            <a:avLst/>
          </a:prstGeom>
          <a:noFill/>
        </p:spPr>
        <p:txBody>
          <a:bodyPr wrap="square">
            <a:spAutoFit/>
          </a:bodyPr>
          <a:lstStyle/>
          <a:p>
            <a:pPr algn="l"/>
            <a:r>
              <a:rPr sz="1400" b="0">
                <a:solidFill>
                  <a:srgbClr val="2D2D2D"/>
                </a:solidFill>
                <a:latin typeface="Calibri"/>
              </a:rPr>
              <a:t>Clues + logic = smart guess</a:t>
            </a:r>
          </a:p>
        </p:txBody>
      </p:sp>
      <p:sp>
        <p:nvSpPr>
          <p:cNvPr id="15" name="Rounded Rectangle 14"/>
          <p:cNvSpPr/>
          <p:nvPr/>
        </p:nvSpPr>
        <p:spPr>
          <a:xfrm>
            <a:off x="457200" y="4206240"/>
            <a:ext cx="54864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434840"/>
            <a:ext cx="4937760" cy="320040"/>
          </a:xfrm>
          <a:prstGeom prst="rect">
            <a:avLst/>
          </a:prstGeom>
          <a:noFill/>
        </p:spPr>
        <p:txBody>
          <a:bodyPr wrap="square">
            <a:spAutoFit/>
          </a:bodyPr>
          <a:lstStyle/>
          <a:p>
            <a:pPr algn="l"/>
            <a:r>
              <a:rPr sz="1800" b="1">
                <a:solidFill>
                  <a:srgbClr val="2A9D8F"/>
                </a:solidFill>
                <a:latin typeface="Calibri"/>
              </a:rPr>
              <a:t>Grammar</a:t>
            </a:r>
          </a:p>
        </p:txBody>
      </p:sp>
      <p:sp>
        <p:nvSpPr>
          <p:cNvPr id="17" name="TextBox 16"/>
          <p:cNvSpPr txBox="1"/>
          <p:nvPr/>
        </p:nvSpPr>
        <p:spPr>
          <a:xfrm>
            <a:off x="731520" y="4846320"/>
            <a:ext cx="4937760" cy="365760"/>
          </a:xfrm>
          <a:prstGeom prst="rect">
            <a:avLst/>
          </a:prstGeom>
          <a:noFill/>
        </p:spPr>
        <p:txBody>
          <a:bodyPr wrap="square">
            <a:spAutoFit/>
          </a:bodyPr>
          <a:lstStyle/>
          <a:p>
            <a:pPr algn="l"/>
            <a:r>
              <a:rPr sz="1400" b="0">
                <a:solidFill>
                  <a:srgbClr val="2D2D2D"/>
                </a:solidFill>
                <a:latin typeface="Calibri"/>
              </a:rPr>
              <a:t>Agreement, commas, tricky words</a:t>
            </a:r>
          </a:p>
        </p:txBody>
      </p:sp>
      <p:sp>
        <p:nvSpPr>
          <p:cNvPr id="18" name="Rounded Rectangle 17"/>
          <p:cNvSpPr/>
          <p:nvPr/>
        </p:nvSpPr>
        <p:spPr>
          <a:xfrm>
            <a:off x="6217920" y="1463040"/>
            <a:ext cx="5486400" cy="438912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1737360"/>
            <a:ext cx="4937760" cy="365760"/>
          </a:xfrm>
          <a:prstGeom prst="rect">
            <a:avLst/>
          </a:prstGeom>
          <a:noFill/>
        </p:spPr>
        <p:txBody>
          <a:bodyPr wrap="square">
            <a:spAutoFit/>
          </a:bodyPr>
          <a:lstStyle/>
          <a:p>
            <a:pPr algn="l"/>
            <a:r>
              <a:rPr sz="1800" b="1">
                <a:solidFill>
                  <a:srgbClr val="E9A825"/>
                </a:solidFill>
                <a:latin typeface="Calibri"/>
              </a:rPr>
              <a:t>Weekly Challenge</a:t>
            </a:r>
          </a:p>
        </p:txBody>
      </p:sp>
      <p:sp>
        <p:nvSpPr>
          <p:cNvPr id="20" name="TextBox 19"/>
          <p:cNvSpPr txBox="1"/>
          <p:nvPr/>
        </p:nvSpPr>
        <p:spPr>
          <a:xfrm>
            <a:off x="6492240" y="2286000"/>
            <a:ext cx="4937760" cy="3200400"/>
          </a:xfrm>
          <a:prstGeom prst="rect">
            <a:avLst/>
          </a:prstGeom>
          <a:noFill/>
        </p:spPr>
        <p:txBody>
          <a:bodyPr wrap="square">
            <a:spAutoFit/>
          </a:bodyPr>
          <a:lstStyle/>
          <a:p>
            <a:pPr>
              <a:spcAft>
                <a:spcPts val="1200"/>
              </a:spcAft>
            </a:pPr>
            <a:r>
              <a:rPr sz="1500" b="0">
                <a:solidFill>
                  <a:srgbClr val="FFFFFF"/>
                </a:solidFill>
                <a:latin typeface="Calibri"/>
              </a:rPr>
              <a:t>•  Read 15 minutes daily</a:t>
            </a:r>
          </a:p>
          <a:p>
            <a:pPr>
              <a:spcAft>
                <a:spcPts val="1200"/>
              </a:spcAft>
            </a:pPr>
            <a:r>
              <a:rPr sz="1500" b="0">
                <a:solidFill>
                  <a:srgbClr val="FFFFFF"/>
                </a:solidFill>
                <a:latin typeface="Calibri"/>
              </a:rPr>
              <a:t>•  Annotate one short article</a:t>
            </a:r>
          </a:p>
          <a:p>
            <a:pPr>
              <a:spcAft>
                <a:spcPts val="1200"/>
              </a:spcAft>
            </a:pPr>
            <a:r>
              <a:rPr sz="1500" b="0">
                <a:solidFill>
                  <a:srgbClr val="FFFFFF"/>
                </a:solidFill>
                <a:latin typeface="Calibri"/>
              </a:rPr>
              <a:t>•  Write a 1-sentence main idea</a:t>
            </a:r>
          </a:p>
          <a:p>
            <a:pPr>
              <a:spcAft>
                <a:spcPts val="1200"/>
              </a:spcAft>
            </a:pPr>
            <a:r>
              <a:rPr sz="1500" b="0">
                <a:solidFill>
                  <a:srgbClr val="FFFFFF"/>
                </a:solidFill>
                <a:latin typeface="Calibri"/>
              </a:rPr>
              <a:t>•  Play Grammar Detective on 5 sentences</a:t>
            </a:r>
          </a:p>
          <a:p>
            <a:pPr>
              <a:spcAft>
                <a:spcPts val="1200"/>
              </a:spcAft>
            </a:pPr>
            <a:r>
              <a:rPr sz="1500" b="0">
                <a:solidFill>
                  <a:srgbClr val="FFFFFF"/>
                </a:solidFill>
                <a:latin typeface="Calibri"/>
              </a:rPr>
              <a:t>•  Bring one tricky sentence next time</a:t>
            </a:r>
          </a:p>
        </p:txBody>
      </p:sp>
      <p:sp>
        <p:nvSpPr>
          <p:cNvPr id="21" name="Rectangle 20"/>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58–60 min</a:t>
            </a:r>
          </a:p>
        </p:txBody>
      </p:sp>
      <p:sp>
        <p:nvSpPr>
          <p:cNvPr id="23" name="TextBox 22"/>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26/28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E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457200"/>
          </a:xfrm>
          <a:prstGeom prst="rect">
            <a:avLst/>
          </a:prstGeom>
          <a:noFill/>
        </p:spPr>
        <p:txBody>
          <a:bodyPr wrap="square">
            <a:spAutoFit/>
          </a:bodyPr>
          <a:lstStyle/>
          <a:p>
            <a:pPr algn="ctr"/>
            <a:r>
              <a:rPr sz="2200" b="0">
                <a:solidFill>
                  <a:srgbClr val="E9A825"/>
                </a:solidFill>
                <a:latin typeface="Calibri"/>
              </a:rPr>
              <a:t>You’re already good at English.</a:t>
            </a:r>
          </a:p>
        </p:txBody>
      </p:sp>
      <p:sp>
        <p:nvSpPr>
          <p:cNvPr id="5" name="TextBox 4"/>
          <p:cNvSpPr txBox="1"/>
          <p:nvPr/>
        </p:nvSpPr>
        <p:spPr>
          <a:xfrm>
            <a:off x="731520" y="2468880"/>
            <a:ext cx="10698480" cy="1097280"/>
          </a:xfrm>
          <a:prstGeom prst="rect">
            <a:avLst/>
          </a:prstGeom>
          <a:noFill/>
        </p:spPr>
        <p:txBody>
          <a:bodyPr wrap="square">
            <a:spAutoFit/>
          </a:bodyPr>
          <a:lstStyle/>
          <a:p>
            <a:pPr algn="ctr"/>
            <a:r>
              <a:rPr sz="3200" b="1">
                <a:solidFill>
                  <a:srgbClr val="FFFFFF"/>
                </a:solidFill>
                <a:latin typeface="Georgia"/>
              </a:rPr>
              <a:t>Today you practiced becoming
stronger — and had fun doing it.</a:t>
            </a:r>
          </a:p>
        </p:txBody>
      </p:sp>
      <p:sp>
        <p:nvSpPr>
          <p:cNvPr id="6" name="TextBox 5"/>
          <p:cNvSpPr txBox="1"/>
          <p:nvPr/>
        </p:nvSpPr>
        <p:spPr>
          <a:xfrm>
            <a:off x="731520" y="4023360"/>
            <a:ext cx="10698480" cy="457200"/>
          </a:xfrm>
          <a:prstGeom prst="rect">
            <a:avLst/>
          </a:prstGeom>
          <a:noFill/>
        </p:spPr>
        <p:txBody>
          <a:bodyPr wrap="square">
            <a:spAutoFit/>
          </a:bodyPr>
          <a:lstStyle/>
          <a:p>
            <a:pPr algn="ctr"/>
            <a:r>
              <a:rPr sz="1700" b="0">
                <a:solidFill>
                  <a:srgbClr val="C5D4E8"/>
                </a:solidFill>
                <a:latin typeface="Calibri"/>
              </a:rPr>
              <a:t>Questions? Favorite game? One skill you’ll use this week?</a:t>
            </a:r>
          </a:p>
        </p:txBody>
      </p:sp>
      <p:sp>
        <p:nvSpPr>
          <p:cNvPr id="7" name="TextBox 6"/>
          <p:cNvSpPr txBox="1"/>
          <p:nvPr/>
        </p:nvSpPr>
        <p:spPr>
          <a:xfrm>
            <a:off x="731520" y="5029200"/>
            <a:ext cx="10698480" cy="365760"/>
          </a:xfrm>
          <a:prstGeom prst="rect">
            <a:avLst/>
          </a:prstGeom>
          <a:noFill/>
        </p:spPr>
        <p:txBody>
          <a:bodyPr wrap="square">
            <a:spAutoFit/>
          </a:bodyPr>
          <a:lstStyle/>
          <a:p>
            <a:pPr algn="ctr"/>
            <a:r>
              <a:rPr sz="2200" b="1">
                <a:solidFill>
                  <a:srgbClr val="FFFFFF"/>
                </a:solidFill>
                <a:latin typeface="Calibri"/>
              </a:rPr>
              <a:t>Great work today!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37744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377440" cy="320040"/>
          </a:xfrm>
          <a:prstGeom prst="rect">
            <a:avLst/>
          </a:prstGeom>
          <a:noFill/>
        </p:spPr>
        <p:txBody>
          <a:bodyPr wrap="square">
            <a:spAutoFit/>
          </a:bodyPr>
          <a:lstStyle/>
          <a:p>
            <a:pPr algn="ctr"/>
            <a:r>
              <a:rPr sz="1200" b="1">
                <a:solidFill>
                  <a:srgbClr val="FFFFFF"/>
                </a:solidFill>
                <a:latin typeface="Calibri"/>
              </a:rPr>
              <a:t>FACILITATOR</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How to Run This Demo Smoothly</a:t>
            </a:r>
          </a:p>
        </p:txBody>
      </p:sp>
      <p:sp>
        <p:nvSpPr>
          <p:cNvPr id="7" name="TextBox 6"/>
          <p:cNvSpPr txBox="1"/>
          <p:nvPr/>
        </p:nvSpPr>
        <p:spPr>
          <a:xfrm>
            <a:off x="457200" y="1463040"/>
            <a:ext cx="11247120" cy="4572000"/>
          </a:xfrm>
          <a:prstGeom prst="rect">
            <a:avLst/>
          </a:prstGeom>
          <a:noFill/>
        </p:spPr>
        <p:txBody>
          <a:bodyPr wrap="square">
            <a:spAutoFit/>
          </a:bodyPr>
          <a:lstStyle/>
          <a:p>
            <a:pPr>
              <a:spcAft>
                <a:spcPts val="1200"/>
              </a:spcAft>
            </a:pPr>
            <a:r>
              <a:rPr sz="1600" b="0">
                <a:solidFill>
                  <a:srgbClr val="2D2D2D"/>
                </a:solidFill>
                <a:latin typeface="Calibri"/>
              </a:rPr>
              <a:t>1.  Keep pace tight: games are energizers, not long debates.</a:t>
            </a:r>
          </a:p>
          <a:p>
            <a:pPr>
              <a:spcAft>
                <a:spcPts val="1200"/>
              </a:spcAft>
            </a:pPr>
            <a:r>
              <a:rPr sz="1600" b="0">
                <a:solidFill>
                  <a:srgbClr val="2D2D2D"/>
                </a:solidFill>
                <a:latin typeface="Calibri"/>
              </a:rPr>
              <a:t>2.  Praise process (“smart evidence”) more than perfect answers.</a:t>
            </a:r>
          </a:p>
          <a:p>
            <a:pPr>
              <a:spcAft>
                <a:spcPts val="1200"/>
              </a:spcAft>
            </a:pPr>
            <a:r>
              <a:rPr sz="1600" b="0">
                <a:solidFill>
                  <a:srgbClr val="2D2D2D"/>
                </a:solidFill>
                <a:latin typeface="Calibri"/>
              </a:rPr>
              <a:t>3.  If she finishes early, ask her to invent a harder detective sentence.</a:t>
            </a:r>
          </a:p>
          <a:p>
            <a:pPr>
              <a:spcAft>
                <a:spcPts val="1200"/>
              </a:spcAft>
            </a:pPr>
            <a:r>
              <a:rPr sz="1600" b="0">
                <a:solidFill>
                  <a:srgbClr val="2D2D2D"/>
                </a:solidFill>
                <a:latin typeface="Calibri"/>
              </a:rPr>
              <a:t>4.  For shy moments, give 20 seconds of think-time before speaking.</a:t>
            </a:r>
          </a:p>
          <a:p>
            <a:pPr>
              <a:spcAft>
                <a:spcPts val="1200"/>
              </a:spcAft>
            </a:pPr>
            <a:r>
              <a:rPr sz="1600" b="0">
                <a:solidFill>
                  <a:srgbClr val="2D2D2D"/>
                </a:solidFill>
                <a:latin typeface="Calibri"/>
              </a:rPr>
              <a:t>5.  Tone: coach + game host. Aim for 40% teaching / 60% doing.</a:t>
            </a:r>
          </a:p>
          <a:p>
            <a:pPr>
              <a:spcAft>
                <a:spcPts val="1200"/>
              </a:spcAft>
            </a:pPr>
            <a:r>
              <a:rPr sz="1600" b="0">
                <a:solidFill>
                  <a:srgbClr val="2D2D2D"/>
                </a:solidFill>
                <a:latin typeface="Calibri"/>
              </a:rPr>
              <a:t>6.  Materials: timer, notebook, pencil; optional printed passage.</a:t>
            </a:r>
          </a:p>
        </p:txBody>
      </p:sp>
      <p:sp>
        <p:nvSpPr>
          <p:cNvPr id="8" name="Rectangle 7"/>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7  |  60 Minutes  |  Teacher</a:t>
            </a:r>
          </a:p>
        </p:txBody>
      </p:sp>
      <p:sp>
        <p:nvSpPr>
          <p:cNvPr id="10" name="TextBox 9"/>
          <p:cNvSpPr txBox="1"/>
          <p:nvPr/>
        </p:nvSpPr>
        <p:spPr>
          <a:xfrm>
            <a:off x="10972800" y="6565392"/>
            <a:ext cx="1005840" cy="274320"/>
          </a:xfrm>
          <a:prstGeom prst="rect">
            <a:avLst/>
          </a:prstGeom>
          <a:noFill/>
        </p:spPr>
        <p:txBody>
          <a:bodyPr wrap="square">
            <a:spAutoFit/>
          </a:bodyPr>
          <a:lstStyle/>
          <a:p>
            <a:pPr algn="r"/>
            <a:r>
              <a:rPr sz="1100" b="0">
                <a:solidFill>
                  <a:srgbClr val="FFFFFF"/>
                </a:solidFill>
                <a:latin typeface="Calibri"/>
              </a:rPr>
              <a:t>28/28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