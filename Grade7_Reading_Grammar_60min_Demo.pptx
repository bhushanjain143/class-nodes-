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8288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0" y="-1097280"/>
            <a:ext cx="3657600" cy="3657600"/>
          </a:xfrm>
          <a:prstGeom prst="ellipse">
            <a:avLst/>
          </a:prstGeom>
          <a:solidFill>
            <a:srgbClr val="1A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371600" y="4572000"/>
            <a:ext cx="3200400" cy="3200400"/>
          </a:xfrm>
          <a:prstGeom prst="ellipse">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515600" cy="365760"/>
          </a:xfrm>
          <a:prstGeom prst="rect">
            <a:avLst/>
          </a:prstGeom>
          <a:noFill/>
        </p:spPr>
        <p:txBody>
          <a:bodyPr wrap="square">
            <a:spAutoFit/>
          </a:bodyPr>
          <a:lstStyle/>
          <a:p>
            <a:pPr algn="l"/>
            <a:r>
              <a:rPr sz="1500" b="1">
                <a:solidFill>
                  <a:srgbClr val="F5B301"/>
                </a:solidFill>
                <a:latin typeface="Calibri"/>
              </a:rPr>
              <a:t>LIVE DEMO  •  60 MINUTES  •  GRADE 7</a:t>
            </a:r>
          </a:p>
        </p:txBody>
      </p:sp>
      <p:sp>
        <p:nvSpPr>
          <p:cNvPr id="7" name="TextBox 6"/>
          <p:cNvSpPr txBox="1"/>
          <p:nvPr/>
        </p:nvSpPr>
        <p:spPr>
          <a:xfrm>
            <a:off x="731520" y="1920240"/>
            <a:ext cx="10515600" cy="1188720"/>
          </a:xfrm>
          <a:prstGeom prst="rect">
            <a:avLst/>
          </a:prstGeom>
          <a:noFill/>
        </p:spPr>
        <p:txBody>
          <a:bodyPr wrap="square">
            <a:spAutoFit/>
          </a:bodyPr>
          <a:lstStyle/>
          <a:p>
            <a:pPr algn="l"/>
            <a:r>
              <a:rPr sz="4200" b="1">
                <a:solidFill>
                  <a:srgbClr val="FFFFFF"/>
                </a:solidFill>
                <a:latin typeface="Georgia"/>
              </a:rPr>
              <a:t>Reading Content &amp;
Grammar Level-Up</a:t>
            </a:r>
          </a:p>
        </p:txBody>
      </p:sp>
      <p:sp>
        <p:nvSpPr>
          <p:cNvPr id="8" name="TextBox 7"/>
          <p:cNvSpPr txBox="1"/>
          <p:nvPr/>
        </p:nvSpPr>
        <p:spPr>
          <a:xfrm>
            <a:off x="731520" y="4114800"/>
            <a:ext cx="10515600" cy="365760"/>
          </a:xfrm>
          <a:prstGeom prst="rect">
            <a:avLst/>
          </a:prstGeom>
          <a:noFill/>
        </p:spPr>
        <p:txBody>
          <a:bodyPr wrap="square">
            <a:spAutoFit/>
          </a:bodyPr>
          <a:lstStyle/>
          <a:p>
            <a:pPr algn="l"/>
            <a:r>
              <a:rPr sz="1700" b="0">
                <a:solidFill>
                  <a:srgbClr val="BFDBFE"/>
                </a:solidFill>
                <a:latin typeface="Calibri"/>
              </a:rPr>
              <a:t>Learn with a real passage  →  Play syllabus games  →  Walk out stronger</a:t>
            </a:r>
          </a:p>
        </p:txBody>
      </p:sp>
      <p:sp>
        <p:nvSpPr>
          <p:cNvPr id="9" name="Rectangle 8"/>
          <p:cNvSpPr/>
          <p:nvPr/>
        </p:nvSpPr>
        <p:spPr>
          <a:xfrm>
            <a:off x="0" y="5394960"/>
            <a:ext cx="12191695" cy="14630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669280"/>
            <a:ext cx="10515600" cy="365760"/>
          </a:xfrm>
          <a:prstGeom prst="rect">
            <a:avLst/>
          </a:prstGeom>
          <a:noFill/>
        </p:spPr>
        <p:txBody>
          <a:bodyPr wrap="square">
            <a:spAutoFit/>
          </a:bodyPr>
          <a:lstStyle/>
          <a:p>
            <a:pPr algn="l"/>
            <a:r>
              <a:rPr sz="1600" b="0">
                <a:solidFill>
                  <a:srgbClr val="FFFFFF"/>
                </a:solidFill>
                <a:latin typeface="Calibri"/>
              </a:rPr>
              <a:t>Built for students who are already good at English — and ready to sharpen reading + grammar</a:t>
            </a:r>
          </a:p>
        </p:txBody>
      </p:sp>
      <p:sp>
        <p:nvSpPr>
          <p:cNvPr id="11" name="TextBox 10"/>
          <p:cNvSpPr txBox="1"/>
          <p:nvPr/>
        </p:nvSpPr>
        <p:spPr>
          <a:xfrm>
            <a:off x="731520" y="6126480"/>
            <a:ext cx="10515600" cy="320040"/>
          </a:xfrm>
          <a:prstGeom prst="rect">
            <a:avLst/>
          </a:prstGeom>
          <a:noFill/>
        </p:spPr>
        <p:txBody>
          <a:bodyPr wrap="square">
            <a:spAutoFit/>
          </a:bodyPr>
          <a:lstStyle/>
          <a:p>
            <a:pPr algn="l"/>
            <a:r>
              <a:rPr sz="1400" b="0">
                <a:solidFill>
                  <a:srgbClr val="CCFBF1"/>
                </a:solidFill>
                <a:latin typeface="Calibri"/>
              </a:rPr>
              <a:t>CCSS-aligned focus: Main Idea  •  Inference  •  Text Evidence  •  Conventions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TODAY'S FLOW</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60 minutes</a:t>
            </a:r>
          </a:p>
        </p:txBody>
      </p:sp>
      <p:sp>
        <p:nvSpPr>
          <p:cNvPr id="8" name="TextBox 7"/>
          <p:cNvSpPr txBox="1"/>
          <p:nvPr/>
        </p:nvSpPr>
        <p:spPr>
          <a:xfrm>
            <a:off x="411480" y="777240"/>
            <a:ext cx="10972800" cy="457200"/>
          </a:xfrm>
          <a:prstGeom prst="rect">
            <a:avLst/>
          </a:prstGeom>
          <a:noFill/>
        </p:spPr>
        <p:txBody>
          <a:bodyPr wrap="square">
            <a:spAutoFit/>
          </a:bodyPr>
          <a:lstStyle/>
          <a:p>
            <a:pPr algn="l"/>
            <a:r>
              <a:rPr sz="2800" b="1">
                <a:solidFill>
                  <a:srgbClr val="0F2C59"/>
                </a:solidFill>
                <a:latin typeface="Georgia"/>
              </a:rPr>
              <a:t>One Passage. Four Games. Real Skills.</a:t>
            </a:r>
          </a:p>
        </p:txBody>
      </p:sp>
      <p:sp>
        <p:nvSpPr>
          <p:cNvPr id="9" name="TextBox 8"/>
          <p:cNvSpPr txBox="1"/>
          <p:nvPr/>
        </p:nvSpPr>
        <p:spPr>
          <a:xfrm>
            <a:off x="411480" y="1280160"/>
            <a:ext cx="10972800" cy="320040"/>
          </a:xfrm>
          <a:prstGeom prst="rect">
            <a:avLst/>
          </a:prstGeom>
          <a:noFill/>
        </p:spPr>
        <p:txBody>
          <a:bodyPr wrap="square">
            <a:spAutoFit/>
          </a:bodyPr>
          <a:lstStyle/>
          <a:p>
            <a:pPr algn="l"/>
            <a:r>
              <a:rPr sz="1500" b="0">
                <a:solidFill>
                  <a:srgbClr val="64748B"/>
                </a:solidFill>
                <a:latin typeface="Calibri"/>
              </a:rPr>
              <a:t>Every game uses today’s reading or grammar — so play time = practice time.</a:t>
            </a:r>
          </a:p>
        </p:txBody>
      </p:sp>
      <p:sp>
        <p:nvSpPr>
          <p:cNvPr id="10" name="Rounded Rectangle 9"/>
          <p:cNvSpPr/>
          <p:nvPr/>
        </p:nvSpPr>
        <p:spPr>
          <a:xfrm>
            <a:off x="365760" y="1783080"/>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1783080"/>
            <a:ext cx="2788920" cy="45720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856232"/>
            <a:ext cx="2788920" cy="320040"/>
          </a:xfrm>
          <a:prstGeom prst="rect">
            <a:avLst/>
          </a:prstGeom>
          <a:noFill/>
        </p:spPr>
        <p:txBody>
          <a:bodyPr wrap="square">
            <a:spAutoFit/>
          </a:bodyPr>
          <a:lstStyle/>
          <a:p>
            <a:pPr algn="ctr"/>
            <a:r>
              <a:rPr sz="1300" b="1">
                <a:solidFill>
                  <a:srgbClr val="FFFFFF"/>
                </a:solidFill>
                <a:latin typeface="Calibri"/>
              </a:rPr>
              <a:t>04m</a:t>
            </a:r>
          </a:p>
        </p:txBody>
      </p:sp>
      <p:sp>
        <p:nvSpPr>
          <p:cNvPr id="13" name="TextBox 12"/>
          <p:cNvSpPr txBox="1"/>
          <p:nvPr/>
        </p:nvSpPr>
        <p:spPr>
          <a:xfrm>
            <a:off x="502920" y="2423160"/>
            <a:ext cx="2514600" cy="411480"/>
          </a:xfrm>
          <a:prstGeom prst="rect">
            <a:avLst/>
          </a:prstGeom>
          <a:noFill/>
        </p:spPr>
        <p:txBody>
          <a:bodyPr wrap="square">
            <a:spAutoFit/>
          </a:bodyPr>
          <a:lstStyle/>
          <a:p>
            <a:pPr algn="ctr"/>
            <a:r>
              <a:rPr sz="1600" b="1">
                <a:solidFill>
                  <a:srgbClr val="0F2C59"/>
                </a:solidFill>
                <a:latin typeface="Calibri"/>
              </a:rPr>
              <a:t>Hook</a:t>
            </a:r>
          </a:p>
        </p:txBody>
      </p:sp>
      <p:sp>
        <p:nvSpPr>
          <p:cNvPr id="14" name="TextBox 13"/>
          <p:cNvSpPr txBox="1"/>
          <p:nvPr/>
        </p:nvSpPr>
        <p:spPr>
          <a:xfrm>
            <a:off x="502920" y="2926080"/>
            <a:ext cx="2514600" cy="640080"/>
          </a:xfrm>
          <a:prstGeom prst="rect">
            <a:avLst/>
          </a:prstGeom>
          <a:noFill/>
        </p:spPr>
        <p:txBody>
          <a:bodyPr wrap="square">
            <a:spAutoFit/>
          </a:bodyPr>
          <a:lstStyle/>
          <a:p>
            <a:pPr algn="ctr"/>
            <a:r>
              <a:rPr sz="1300" b="0">
                <a:solidFill>
                  <a:srgbClr val="64748B"/>
                </a:solidFill>
                <a:latin typeface="Calibri"/>
              </a:rPr>
              <a:t>Meet the storm passage</a:t>
            </a:r>
          </a:p>
        </p:txBody>
      </p:sp>
      <p:sp>
        <p:nvSpPr>
          <p:cNvPr id="15" name="Rounded Rectangle 14"/>
          <p:cNvSpPr/>
          <p:nvPr/>
        </p:nvSpPr>
        <p:spPr>
          <a:xfrm>
            <a:off x="3291840" y="1783080"/>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91840" y="1783080"/>
            <a:ext cx="2788920" cy="4572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91840" y="1856232"/>
            <a:ext cx="2788920" cy="320040"/>
          </a:xfrm>
          <a:prstGeom prst="rect">
            <a:avLst/>
          </a:prstGeom>
          <a:noFill/>
        </p:spPr>
        <p:txBody>
          <a:bodyPr wrap="square">
            <a:spAutoFit/>
          </a:bodyPr>
          <a:lstStyle/>
          <a:p>
            <a:pPr algn="ctr"/>
            <a:r>
              <a:rPr sz="1300" b="1">
                <a:solidFill>
                  <a:srgbClr val="FFFFFF"/>
                </a:solidFill>
                <a:latin typeface="Calibri"/>
              </a:rPr>
              <a:t>GAME</a:t>
            </a:r>
          </a:p>
        </p:txBody>
      </p:sp>
      <p:sp>
        <p:nvSpPr>
          <p:cNvPr id="18" name="TextBox 17"/>
          <p:cNvSpPr txBox="1"/>
          <p:nvPr/>
        </p:nvSpPr>
        <p:spPr>
          <a:xfrm>
            <a:off x="3429000" y="2423160"/>
            <a:ext cx="2514600" cy="411480"/>
          </a:xfrm>
          <a:prstGeom prst="rect">
            <a:avLst/>
          </a:prstGeom>
          <a:noFill/>
        </p:spPr>
        <p:txBody>
          <a:bodyPr wrap="square">
            <a:spAutoFit/>
          </a:bodyPr>
          <a:lstStyle/>
          <a:p>
            <a:pPr algn="ctr"/>
            <a:r>
              <a:rPr sz="1600" b="1">
                <a:solidFill>
                  <a:srgbClr val="0F2C59"/>
                </a:solidFill>
                <a:latin typeface="Calibri"/>
              </a:rPr>
              <a:t>Game 1</a:t>
            </a:r>
          </a:p>
        </p:txBody>
      </p:sp>
      <p:sp>
        <p:nvSpPr>
          <p:cNvPr id="19" name="TextBox 18"/>
          <p:cNvSpPr txBox="1"/>
          <p:nvPr/>
        </p:nvSpPr>
        <p:spPr>
          <a:xfrm>
            <a:off x="3429000" y="2926080"/>
            <a:ext cx="2514600" cy="640080"/>
          </a:xfrm>
          <a:prstGeom prst="rect">
            <a:avLst/>
          </a:prstGeom>
          <a:noFill/>
        </p:spPr>
        <p:txBody>
          <a:bodyPr wrap="square">
            <a:spAutoFit/>
          </a:bodyPr>
          <a:lstStyle/>
          <a:p>
            <a:pPr algn="ctr"/>
            <a:r>
              <a:rPr sz="1300" b="0">
                <a:solidFill>
                  <a:srgbClr val="64748B"/>
                </a:solidFill>
                <a:latin typeface="Calibri"/>
              </a:rPr>
              <a:t>Evidence Hunt (from passage)</a:t>
            </a:r>
          </a:p>
        </p:txBody>
      </p:sp>
      <p:sp>
        <p:nvSpPr>
          <p:cNvPr id="20" name="Rounded Rectangle 19"/>
          <p:cNvSpPr/>
          <p:nvPr/>
        </p:nvSpPr>
        <p:spPr>
          <a:xfrm>
            <a:off x="6217920" y="1783080"/>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783080"/>
            <a:ext cx="278892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1856232"/>
            <a:ext cx="2788920" cy="320040"/>
          </a:xfrm>
          <a:prstGeom prst="rect">
            <a:avLst/>
          </a:prstGeom>
          <a:noFill/>
        </p:spPr>
        <p:txBody>
          <a:bodyPr wrap="square">
            <a:spAutoFit/>
          </a:bodyPr>
          <a:lstStyle/>
          <a:p>
            <a:pPr algn="ctr"/>
            <a:r>
              <a:rPr sz="1300" b="1">
                <a:solidFill>
                  <a:srgbClr val="FFFFFF"/>
                </a:solidFill>
                <a:latin typeface="Calibri"/>
              </a:rPr>
              <a:t>08m</a:t>
            </a:r>
          </a:p>
        </p:txBody>
      </p:sp>
      <p:sp>
        <p:nvSpPr>
          <p:cNvPr id="23" name="TextBox 22"/>
          <p:cNvSpPr txBox="1"/>
          <p:nvPr/>
        </p:nvSpPr>
        <p:spPr>
          <a:xfrm>
            <a:off x="6355080" y="2423160"/>
            <a:ext cx="2514600" cy="411480"/>
          </a:xfrm>
          <a:prstGeom prst="rect">
            <a:avLst/>
          </a:prstGeom>
          <a:noFill/>
        </p:spPr>
        <p:txBody>
          <a:bodyPr wrap="square">
            <a:spAutoFit/>
          </a:bodyPr>
          <a:lstStyle/>
          <a:p>
            <a:pPr algn="ctr"/>
            <a:r>
              <a:rPr sz="1600" b="1">
                <a:solidFill>
                  <a:srgbClr val="0F2C59"/>
                </a:solidFill>
                <a:latin typeface="Calibri"/>
              </a:rPr>
              <a:t>Skill Mini</a:t>
            </a:r>
          </a:p>
        </p:txBody>
      </p:sp>
      <p:sp>
        <p:nvSpPr>
          <p:cNvPr id="24" name="TextBox 23"/>
          <p:cNvSpPr txBox="1"/>
          <p:nvPr/>
        </p:nvSpPr>
        <p:spPr>
          <a:xfrm>
            <a:off x="6355080" y="2926080"/>
            <a:ext cx="2514600" cy="640080"/>
          </a:xfrm>
          <a:prstGeom prst="rect">
            <a:avLst/>
          </a:prstGeom>
          <a:noFill/>
        </p:spPr>
        <p:txBody>
          <a:bodyPr wrap="square">
            <a:spAutoFit/>
          </a:bodyPr>
          <a:lstStyle/>
          <a:p>
            <a:pPr algn="ctr"/>
            <a:r>
              <a:rPr sz="1300" b="0">
                <a:solidFill>
                  <a:srgbClr val="64748B"/>
                </a:solidFill>
                <a:latin typeface="Calibri"/>
              </a:rPr>
              <a:t>Main idea + inference tools</a:t>
            </a:r>
          </a:p>
        </p:txBody>
      </p:sp>
      <p:sp>
        <p:nvSpPr>
          <p:cNvPr id="25" name="Rounded Rectangle 24"/>
          <p:cNvSpPr/>
          <p:nvPr/>
        </p:nvSpPr>
        <p:spPr>
          <a:xfrm>
            <a:off x="9144000" y="1783080"/>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000" y="1783080"/>
            <a:ext cx="2788920" cy="4572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1856232"/>
            <a:ext cx="2788920" cy="320040"/>
          </a:xfrm>
          <a:prstGeom prst="rect">
            <a:avLst/>
          </a:prstGeom>
          <a:noFill/>
        </p:spPr>
        <p:txBody>
          <a:bodyPr wrap="square">
            <a:spAutoFit/>
          </a:bodyPr>
          <a:lstStyle/>
          <a:p>
            <a:pPr algn="ctr"/>
            <a:r>
              <a:rPr sz="1300" b="1">
                <a:solidFill>
                  <a:srgbClr val="FFFFFF"/>
                </a:solidFill>
                <a:latin typeface="Calibri"/>
              </a:rPr>
              <a:t>GAME</a:t>
            </a:r>
          </a:p>
        </p:txBody>
      </p:sp>
      <p:sp>
        <p:nvSpPr>
          <p:cNvPr id="28" name="TextBox 27"/>
          <p:cNvSpPr txBox="1"/>
          <p:nvPr/>
        </p:nvSpPr>
        <p:spPr>
          <a:xfrm>
            <a:off x="9281160" y="2423160"/>
            <a:ext cx="2514600" cy="411480"/>
          </a:xfrm>
          <a:prstGeom prst="rect">
            <a:avLst/>
          </a:prstGeom>
          <a:noFill/>
        </p:spPr>
        <p:txBody>
          <a:bodyPr wrap="square">
            <a:spAutoFit/>
          </a:bodyPr>
          <a:lstStyle/>
          <a:p>
            <a:pPr algn="ctr"/>
            <a:r>
              <a:rPr sz="1600" b="1">
                <a:solidFill>
                  <a:srgbClr val="0F2C59"/>
                </a:solidFill>
                <a:latin typeface="Calibri"/>
              </a:rPr>
              <a:t>Game 2</a:t>
            </a:r>
          </a:p>
        </p:txBody>
      </p:sp>
      <p:sp>
        <p:nvSpPr>
          <p:cNvPr id="29" name="TextBox 28"/>
          <p:cNvSpPr txBox="1"/>
          <p:nvPr/>
        </p:nvSpPr>
        <p:spPr>
          <a:xfrm>
            <a:off x="9281160" y="2926080"/>
            <a:ext cx="2514600" cy="640080"/>
          </a:xfrm>
          <a:prstGeom prst="rect">
            <a:avLst/>
          </a:prstGeom>
          <a:noFill/>
        </p:spPr>
        <p:txBody>
          <a:bodyPr wrap="square">
            <a:spAutoFit/>
          </a:bodyPr>
          <a:lstStyle/>
          <a:p>
            <a:pPr algn="ctr"/>
            <a:r>
              <a:rPr sz="1300" b="0">
                <a:solidFill>
                  <a:srgbClr val="64748B"/>
                </a:solidFill>
                <a:latin typeface="Calibri"/>
              </a:rPr>
              <a:t>Inference Relay (same text)</a:t>
            </a:r>
          </a:p>
        </p:txBody>
      </p:sp>
      <p:sp>
        <p:nvSpPr>
          <p:cNvPr id="30" name="Rounded Rectangle 29"/>
          <p:cNvSpPr/>
          <p:nvPr/>
        </p:nvSpPr>
        <p:spPr>
          <a:xfrm>
            <a:off x="365760" y="3977639"/>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977639"/>
            <a:ext cx="2788920" cy="45720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4050791"/>
            <a:ext cx="2788920" cy="320040"/>
          </a:xfrm>
          <a:prstGeom prst="rect">
            <a:avLst/>
          </a:prstGeom>
          <a:noFill/>
        </p:spPr>
        <p:txBody>
          <a:bodyPr wrap="square">
            <a:spAutoFit/>
          </a:bodyPr>
          <a:lstStyle/>
          <a:p>
            <a:pPr algn="ctr"/>
            <a:r>
              <a:rPr sz="1300" b="1">
                <a:solidFill>
                  <a:srgbClr val="FFFFFF"/>
                </a:solidFill>
                <a:latin typeface="Calibri"/>
              </a:rPr>
              <a:t>10m</a:t>
            </a:r>
          </a:p>
        </p:txBody>
      </p:sp>
      <p:sp>
        <p:nvSpPr>
          <p:cNvPr id="33" name="TextBox 32"/>
          <p:cNvSpPr txBox="1"/>
          <p:nvPr/>
        </p:nvSpPr>
        <p:spPr>
          <a:xfrm>
            <a:off x="502920" y="4617719"/>
            <a:ext cx="2514600" cy="411480"/>
          </a:xfrm>
          <a:prstGeom prst="rect">
            <a:avLst/>
          </a:prstGeom>
          <a:noFill/>
        </p:spPr>
        <p:txBody>
          <a:bodyPr wrap="square">
            <a:spAutoFit/>
          </a:bodyPr>
          <a:lstStyle/>
          <a:p>
            <a:pPr algn="ctr"/>
            <a:r>
              <a:rPr sz="1600" b="1">
                <a:solidFill>
                  <a:srgbClr val="0F2C59"/>
                </a:solidFill>
                <a:latin typeface="Calibri"/>
              </a:rPr>
              <a:t>Deep Read</a:t>
            </a:r>
          </a:p>
        </p:txBody>
      </p:sp>
      <p:sp>
        <p:nvSpPr>
          <p:cNvPr id="34" name="TextBox 33"/>
          <p:cNvSpPr txBox="1"/>
          <p:nvPr/>
        </p:nvSpPr>
        <p:spPr>
          <a:xfrm>
            <a:off x="502920" y="5120639"/>
            <a:ext cx="2514600" cy="640080"/>
          </a:xfrm>
          <a:prstGeom prst="rect">
            <a:avLst/>
          </a:prstGeom>
          <a:noFill/>
        </p:spPr>
        <p:txBody>
          <a:bodyPr wrap="square">
            <a:spAutoFit/>
          </a:bodyPr>
          <a:lstStyle/>
          <a:p>
            <a:pPr algn="ctr"/>
            <a:r>
              <a:rPr sz="1300" b="0">
                <a:solidFill>
                  <a:srgbClr val="64748B"/>
                </a:solidFill>
                <a:latin typeface="Calibri"/>
              </a:rPr>
              <a:t>Annotate + answer questions</a:t>
            </a:r>
          </a:p>
        </p:txBody>
      </p:sp>
      <p:sp>
        <p:nvSpPr>
          <p:cNvPr id="35" name="Rounded Rectangle 34"/>
          <p:cNvSpPr/>
          <p:nvPr/>
        </p:nvSpPr>
        <p:spPr>
          <a:xfrm>
            <a:off x="3291840" y="3977639"/>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91840" y="3977639"/>
            <a:ext cx="2788920" cy="4572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91840" y="4050791"/>
            <a:ext cx="2788920" cy="320040"/>
          </a:xfrm>
          <a:prstGeom prst="rect">
            <a:avLst/>
          </a:prstGeom>
          <a:noFill/>
        </p:spPr>
        <p:txBody>
          <a:bodyPr wrap="square">
            <a:spAutoFit/>
          </a:bodyPr>
          <a:lstStyle/>
          <a:p>
            <a:pPr algn="ctr"/>
            <a:r>
              <a:rPr sz="1300" b="1">
                <a:solidFill>
                  <a:srgbClr val="FFFFFF"/>
                </a:solidFill>
                <a:latin typeface="Calibri"/>
              </a:rPr>
              <a:t>GAME</a:t>
            </a:r>
          </a:p>
        </p:txBody>
      </p:sp>
      <p:sp>
        <p:nvSpPr>
          <p:cNvPr id="38" name="TextBox 37"/>
          <p:cNvSpPr txBox="1"/>
          <p:nvPr/>
        </p:nvSpPr>
        <p:spPr>
          <a:xfrm>
            <a:off x="3429000" y="4617719"/>
            <a:ext cx="2514600" cy="411480"/>
          </a:xfrm>
          <a:prstGeom prst="rect">
            <a:avLst/>
          </a:prstGeom>
          <a:noFill/>
        </p:spPr>
        <p:txBody>
          <a:bodyPr wrap="square">
            <a:spAutoFit/>
          </a:bodyPr>
          <a:lstStyle/>
          <a:p>
            <a:pPr algn="ctr"/>
            <a:r>
              <a:rPr sz="1600" b="1">
                <a:solidFill>
                  <a:srgbClr val="0F2C59"/>
                </a:solidFill>
                <a:latin typeface="Calibri"/>
              </a:rPr>
              <a:t>Game 3</a:t>
            </a:r>
          </a:p>
        </p:txBody>
      </p:sp>
      <p:sp>
        <p:nvSpPr>
          <p:cNvPr id="39" name="TextBox 38"/>
          <p:cNvSpPr txBox="1"/>
          <p:nvPr/>
        </p:nvSpPr>
        <p:spPr>
          <a:xfrm>
            <a:off x="3429000" y="5120639"/>
            <a:ext cx="2514600" cy="640080"/>
          </a:xfrm>
          <a:prstGeom prst="rect">
            <a:avLst/>
          </a:prstGeom>
          <a:noFill/>
        </p:spPr>
        <p:txBody>
          <a:bodyPr wrap="square">
            <a:spAutoFit/>
          </a:bodyPr>
          <a:lstStyle/>
          <a:p>
            <a:pPr algn="ctr"/>
            <a:r>
              <a:rPr sz="1300" b="0">
                <a:solidFill>
                  <a:srgbClr val="64748B"/>
                </a:solidFill>
                <a:latin typeface="Calibri"/>
              </a:rPr>
              <a:t>Grammar Fix from the Story</a:t>
            </a:r>
          </a:p>
        </p:txBody>
      </p:sp>
      <p:sp>
        <p:nvSpPr>
          <p:cNvPr id="40" name="Rounded Rectangle 39"/>
          <p:cNvSpPr/>
          <p:nvPr/>
        </p:nvSpPr>
        <p:spPr>
          <a:xfrm>
            <a:off x="6217920" y="3977639"/>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17920" y="3977639"/>
            <a:ext cx="2788920" cy="45720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0" y="4050791"/>
            <a:ext cx="2788920" cy="320040"/>
          </a:xfrm>
          <a:prstGeom prst="rect">
            <a:avLst/>
          </a:prstGeom>
          <a:noFill/>
        </p:spPr>
        <p:txBody>
          <a:bodyPr wrap="square">
            <a:spAutoFit/>
          </a:bodyPr>
          <a:lstStyle/>
          <a:p>
            <a:pPr algn="ctr"/>
            <a:r>
              <a:rPr sz="1300" b="1">
                <a:solidFill>
                  <a:srgbClr val="FFFFFF"/>
                </a:solidFill>
                <a:latin typeface="Calibri"/>
              </a:rPr>
              <a:t>10m</a:t>
            </a:r>
          </a:p>
        </p:txBody>
      </p:sp>
      <p:sp>
        <p:nvSpPr>
          <p:cNvPr id="43" name="TextBox 42"/>
          <p:cNvSpPr txBox="1"/>
          <p:nvPr/>
        </p:nvSpPr>
        <p:spPr>
          <a:xfrm>
            <a:off x="6355080" y="4617719"/>
            <a:ext cx="2514600" cy="411480"/>
          </a:xfrm>
          <a:prstGeom prst="rect">
            <a:avLst/>
          </a:prstGeom>
          <a:noFill/>
        </p:spPr>
        <p:txBody>
          <a:bodyPr wrap="square">
            <a:spAutoFit/>
          </a:bodyPr>
          <a:lstStyle/>
          <a:p>
            <a:pPr algn="ctr"/>
            <a:r>
              <a:rPr sz="1600" b="1">
                <a:solidFill>
                  <a:srgbClr val="0F2C59"/>
                </a:solidFill>
                <a:latin typeface="Calibri"/>
              </a:rPr>
              <a:t>Grammar Lab</a:t>
            </a:r>
          </a:p>
        </p:txBody>
      </p:sp>
      <p:sp>
        <p:nvSpPr>
          <p:cNvPr id="44" name="TextBox 43"/>
          <p:cNvSpPr txBox="1"/>
          <p:nvPr/>
        </p:nvSpPr>
        <p:spPr>
          <a:xfrm>
            <a:off x="6355080" y="5120639"/>
            <a:ext cx="2514600" cy="640080"/>
          </a:xfrm>
          <a:prstGeom prst="rect">
            <a:avLst/>
          </a:prstGeom>
          <a:noFill/>
        </p:spPr>
        <p:txBody>
          <a:bodyPr wrap="square">
            <a:spAutoFit/>
          </a:bodyPr>
          <a:lstStyle/>
          <a:p>
            <a:pPr algn="ctr"/>
            <a:r>
              <a:rPr sz="1300" b="0">
                <a:solidFill>
                  <a:srgbClr val="64748B"/>
                </a:solidFill>
                <a:latin typeface="Calibri"/>
              </a:rPr>
              <a:t>Agreement • commas • word pairs</a:t>
            </a:r>
          </a:p>
        </p:txBody>
      </p:sp>
      <p:sp>
        <p:nvSpPr>
          <p:cNvPr id="45" name="Rounded Rectangle 44"/>
          <p:cNvSpPr/>
          <p:nvPr/>
        </p:nvSpPr>
        <p:spPr>
          <a:xfrm>
            <a:off x="9144000" y="3977639"/>
            <a:ext cx="27889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44000" y="3977639"/>
            <a:ext cx="2788920" cy="4572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0" y="4050791"/>
            <a:ext cx="2788920" cy="320040"/>
          </a:xfrm>
          <a:prstGeom prst="rect">
            <a:avLst/>
          </a:prstGeom>
          <a:noFill/>
        </p:spPr>
        <p:txBody>
          <a:bodyPr wrap="square">
            <a:spAutoFit/>
          </a:bodyPr>
          <a:lstStyle/>
          <a:p>
            <a:pPr algn="ctr"/>
            <a:r>
              <a:rPr sz="1300" b="1">
                <a:solidFill>
                  <a:srgbClr val="FFFFFF"/>
                </a:solidFill>
                <a:latin typeface="Calibri"/>
              </a:rPr>
              <a:t>GAME</a:t>
            </a:r>
          </a:p>
        </p:txBody>
      </p:sp>
      <p:sp>
        <p:nvSpPr>
          <p:cNvPr id="48" name="TextBox 47"/>
          <p:cNvSpPr txBox="1"/>
          <p:nvPr/>
        </p:nvSpPr>
        <p:spPr>
          <a:xfrm>
            <a:off x="9281160" y="4617719"/>
            <a:ext cx="2514600" cy="411480"/>
          </a:xfrm>
          <a:prstGeom prst="rect">
            <a:avLst/>
          </a:prstGeom>
          <a:noFill/>
        </p:spPr>
        <p:txBody>
          <a:bodyPr wrap="square">
            <a:spAutoFit/>
          </a:bodyPr>
          <a:lstStyle/>
          <a:p>
            <a:pPr algn="ctr"/>
            <a:r>
              <a:rPr sz="1600" b="1">
                <a:solidFill>
                  <a:srgbClr val="0F2C59"/>
                </a:solidFill>
                <a:latin typeface="Calibri"/>
              </a:rPr>
              <a:t>Game 4</a:t>
            </a:r>
          </a:p>
        </p:txBody>
      </p:sp>
      <p:sp>
        <p:nvSpPr>
          <p:cNvPr id="49" name="TextBox 48"/>
          <p:cNvSpPr txBox="1"/>
          <p:nvPr/>
        </p:nvSpPr>
        <p:spPr>
          <a:xfrm>
            <a:off x="9281160" y="5120639"/>
            <a:ext cx="2514600" cy="640080"/>
          </a:xfrm>
          <a:prstGeom prst="rect">
            <a:avLst/>
          </a:prstGeom>
          <a:noFill/>
        </p:spPr>
        <p:txBody>
          <a:bodyPr wrap="square">
            <a:spAutoFit/>
          </a:bodyPr>
          <a:lstStyle/>
          <a:p>
            <a:pPr algn="ctr"/>
            <a:r>
              <a:rPr sz="1300" b="0">
                <a:solidFill>
                  <a:srgbClr val="64748B"/>
                </a:solidFill>
                <a:latin typeface="Calibri"/>
              </a:rPr>
              <a:t>Passage Remix Challenge</a:t>
            </a:r>
          </a:p>
        </p:txBody>
      </p:sp>
      <p:sp>
        <p:nvSpPr>
          <p:cNvPr id="50" name="Rectangle 49"/>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Overview</a:t>
            </a:r>
          </a:p>
        </p:txBody>
      </p:sp>
      <p:sp>
        <p:nvSpPr>
          <p:cNvPr id="52" name="TextBox 51"/>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LEARNING TARGETS</a:t>
            </a:r>
          </a:p>
        </p:txBody>
      </p:sp>
      <p:sp>
        <p:nvSpPr>
          <p:cNvPr id="6" name="TextBox 5"/>
          <p:cNvSpPr txBox="1"/>
          <p:nvPr/>
        </p:nvSpPr>
        <p:spPr>
          <a:xfrm>
            <a:off x="411480" y="777240"/>
            <a:ext cx="10972800" cy="457200"/>
          </a:xfrm>
          <a:prstGeom prst="rect">
            <a:avLst/>
          </a:prstGeom>
          <a:noFill/>
        </p:spPr>
        <p:txBody>
          <a:bodyPr wrap="square">
            <a:spAutoFit/>
          </a:bodyPr>
          <a:lstStyle/>
          <a:p>
            <a:pPr algn="l"/>
            <a:r>
              <a:rPr sz="2800" b="1">
                <a:solidFill>
                  <a:srgbClr val="0F2C59"/>
                </a:solidFill>
                <a:latin typeface="Georgia"/>
              </a:rPr>
              <a:t>What You’ll Walk Away With</a:t>
            </a:r>
          </a:p>
        </p:txBody>
      </p:sp>
      <p:sp>
        <p:nvSpPr>
          <p:cNvPr id="7" name="Rounded Rectangle 6"/>
          <p:cNvSpPr/>
          <p:nvPr/>
        </p:nvSpPr>
        <p:spPr>
          <a:xfrm>
            <a:off x="411480" y="1417320"/>
            <a:ext cx="1133856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645920"/>
            <a:ext cx="548640" cy="548640"/>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737360"/>
            <a:ext cx="548640" cy="365760"/>
          </a:xfrm>
          <a:prstGeom prst="rect">
            <a:avLst/>
          </a:prstGeom>
          <a:noFill/>
        </p:spPr>
        <p:txBody>
          <a:bodyPr wrap="square">
            <a:spAutoFit/>
          </a:bodyPr>
          <a:lstStyle/>
          <a:p>
            <a:pPr algn="ctr"/>
            <a:r>
              <a:rPr sz="1800" b="1">
                <a:solidFill>
                  <a:srgbClr val="FFFFFF"/>
                </a:solidFill>
                <a:latin typeface="Calibri"/>
              </a:rPr>
              <a:t>1</a:t>
            </a:r>
          </a:p>
        </p:txBody>
      </p:sp>
      <p:sp>
        <p:nvSpPr>
          <p:cNvPr id="10" name="TextBox 9"/>
          <p:cNvSpPr txBox="1"/>
          <p:nvPr/>
        </p:nvSpPr>
        <p:spPr>
          <a:xfrm>
            <a:off x="1371600" y="1600200"/>
            <a:ext cx="10058400" cy="320040"/>
          </a:xfrm>
          <a:prstGeom prst="rect">
            <a:avLst/>
          </a:prstGeom>
          <a:noFill/>
        </p:spPr>
        <p:txBody>
          <a:bodyPr wrap="square">
            <a:spAutoFit/>
          </a:bodyPr>
          <a:lstStyle/>
          <a:p>
            <a:pPr algn="l"/>
            <a:r>
              <a:rPr sz="2000" b="1">
                <a:solidFill>
                  <a:srgbClr val="0F2C59"/>
                </a:solidFill>
                <a:latin typeface="Calibri"/>
              </a:rPr>
              <a:t>Find the Big Idea</a:t>
            </a:r>
          </a:p>
        </p:txBody>
      </p:sp>
      <p:sp>
        <p:nvSpPr>
          <p:cNvPr id="11" name="TextBox 10"/>
          <p:cNvSpPr txBox="1"/>
          <p:nvPr/>
        </p:nvSpPr>
        <p:spPr>
          <a:xfrm>
            <a:off x="1371600" y="1965960"/>
            <a:ext cx="10058400" cy="320040"/>
          </a:xfrm>
          <a:prstGeom prst="rect">
            <a:avLst/>
          </a:prstGeom>
          <a:noFill/>
        </p:spPr>
        <p:txBody>
          <a:bodyPr wrap="square">
            <a:spAutoFit/>
          </a:bodyPr>
          <a:lstStyle/>
          <a:p>
            <a:pPr algn="l"/>
            <a:r>
              <a:rPr sz="1500" b="0">
                <a:solidFill>
                  <a:srgbClr val="64748B"/>
                </a:solidFill>
                <a:latin typeface="Calibri"/>
              </a:rPr>
              <a:t>State the main idea of a Grade 7 passage in one clear sentence</a:t>
            </a:r>
          </a:p>
        </p:txBody>
      </p:sp>
      <p:sp>
        <p:nvSpPr>
          <p:cNvPr id="12" name="Rounded Rectangle 11"/>
          <p:cNvSpPr/>
          <p:nvPr/>
        </p:nvSpPr>
        <p:spPr>
          <a:xfrm>
            <a:off x="411480" y="2560320"/>
            <a:ext cx="1133856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94360" y="2788920"/>
            <a:ext cx="548640" cy="5486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880360"/>
            <a:ext cx="548640" cy="365760"/>
          </a:xfrm>
          <a:prstGeom prst="rect">
            <a:avLst/>
          </a:prstGeom>
          <a:noFill/>
        </p:spPr>
        <p:txBody>
          <a:bodyPr wrap="square">
            <a:spAutoFit/>
          </a:bodyPr>
          <a:lstStyle/>
          <a:p>
            <a:pPr algn="ctr"/>
            <a:r>
              <a:rPr sz="1800" b="1">
                <a:solidFill>
                  <a:srgbClr val="FFFFFF"/>
                </a:solidFill>
                <a:latin typeface="Calibri"/>
              </a:rPr>
              <a:t>2</a:t>
            </a:r>
          </a:p>
        </p:txBody>
      </p:sp>
      <p:sp>
        <p:nvSpPr>
          <p:cNvPr id="15" name="TextBox 14"/>
          <p:cNvSpPr txBox="1"/>
          <p:nvPr/>
        </p:nvSpPr>
        <p:spPr>
          <a:xfrm>
            <a:off x="1371600" y="2743200"/>
            <a:ext cx="10058400" cy="320040"/>
          </a:xfrm>
          <a:prstGeom prst="rect">
            <a:avLst/>
          </a:prstGeom>
          <a:noFill/>
        </p:spPr>
        <p:txBody>
          <a:bodyPr wrap="square">
            <a:spAutoFit/>
          </a:bodyPr>
          <a:lstStyle/>
          <a:p>
            <a:pPr algn="l"/>
            <a:r>
              <a:rPr sz="2000" b="1">
                <a:solidFill>
                  <a:srgbClr val="0F2C59"/>
                </a:solidFill>
                <a:latin typeface="Calibri"/>
              </a:rPr>
              <a:t>Prove It</a:t>
            </a:r>
          </a:p>
        </p:txBody>
      </p:sp>
      <p:sp>
        <p:nvSpPr>
          <p:cNvPr id="16" name="TextBox 15"/>
          <p:cNvSpPr txBox="1"/>
          <p:nvPr/>
        </p:nvSpPr>
        <p:spPr>
          <a:xfrm>
            <a:off x="1371600" y="3108960"/>
            <a:ext cx="10058400" cy="320040"/>
          </a:xfrm>
          <a:prstGeom prst="rect">
            <a:avLst/>
          </a:prstGeom>
          <a:noFill/>
        </p:spPr>
        <p:txBody>
          <a:bodyPr wrap="square">
            <a:spAutoFit/>
          </a:bodyPr>
          <a:lstStyle/>
          <a:p>
            <a:pPr algn="l"/>
            <a:r>
              <a:rPr sz="1500" b="0">
                <a:solidFill>
                  <a:srgbClr val="64748B"/>
                </a:solidFill>
                <a:latin typeface="Calibri"/>
              </a:rPr>
              <a:t>Support answers with text evidence (not guesses)</a:t>
            </a:r>
          </a:p>
        </p:txBody>
      </p:sp>
      <p:sp>
        <p:nvSpPr>
          <p:cNvPr id="17" name="Rounded Rectangle 16"/>
          <p:cNvSpPr/>
          <p:nvPr/>
        </p:nvSpPr>
        <p:spPr>
          <a:xfrm>
            <a:off x="411480" y="3703320"/>
            <a:ext cx="1133856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3931920"/>
            <a:ext cx="548640" cy="54864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23360"/>
            <a:ext cx="548640" cy="365760"/>
          </a:xfrm>
          <a:prstGeom prst="rect">
            <a:avLst/>
          </a:prstGeom>
          <a:noFill/>
        </p:spPr>
        <p:txBody>
          <a:bodyPr wrap="square">
            <a:spAutoFit/>
          </a:bodyPr>
          <a:lstStyle/>
          <a:p>
            <a:pPr algn="ctr"/>
            <a:r>
              <a:rPr sz="1800" b="1">
                <a:solidFill>
                  <a:srgbClr val="FFFFFF"/>
                </a:solidFill>
                <a:latin typeface="Calibri"/>
              </a:rPr>
              <a:t>3</a:t>
            </a:r>
          </a:p>
        </p:txBody>
      </p:sp>
      <p:sp>
        <p:nvSpPr>
          <p:cNvPr id="20" name="TextBox 19"/>
          <p:cNvSpPr txBox="1"/>
          <p:nvPr/>
        </p:nvSpPr>
        <p:spPr>
          <a:xfrm>
            <a:off x="1371600" y="3886200"/>
            <a:ext cx="10058400" cy="320040"/>
          </a:xfrm>
          <a:prstGeom prst="rect">
            <a:avLst/>
          </a:prstGeom>
          <a:noFill/>
        </p:spPr>
        <p:txBody>
          <a:bodyPr wrap="square">
            <a:spAutoFit/>
          </a:bodyPr>
          <a:lstStyle/>
          <a:p>
            <a:pPr algn="l"/>
            <a:r>
              <a:rPr sz="2000" b="1">
                <a:solidFill>
                  <a:srgbClr val="0F2C59"/>
                </a:solidFill>
                <a:latin typeface="Calibri"/>
              </a:rPr>
              <a:t>Infer Smart</a:t>
            </a:r>
          </a:p>
        </p:txBody>
      </p:sp>
      <p:sp>
        <p:nvSpPr>
          <p:cNvPr id="21" name="TextBox 20"/>
          <p:cNvSpPr txBox="1"/>
          <p:nvPr/>
        </p:nvSpPr>
        <p:spPr>
          <a:xfrm>
            <a:off x="1371600" y="4251960"/>
            <a:ext cx="10058400" cy="320040"/>
          </a:xfrm>
          <a:prstGeom prst="rect">
            <a:avLst/>
          </a:prstGeom>
          <a:noFill/>
        </p:spPr>
        <p:txBody>
          <a:bodyPr wrap="square">
            <a:spAutoFit/>
          </a:bodyPr>
          <a:lstStyle/>
          <a:p>
            <a:pPr algn="l"/>
            <a:r>
              <a:rPr sz="1500" b="0">
                <a:solidFill>
                  <a:srgbClr val="64748B"/>
                </a:solidFill>
                <a:latin typeface="Calibri"/>
              </a:rPr>
              <a:t>Read between the lines using clues from the same story</a:t>
            </a:r>
          </a:p>
        </p:txBody>
      </p:sp>
      <p:sp>
        <p:nvSpPr>
          <p:cNvPr id="22" name="Rounded Rectangle 21"/>
          <p:cNvSpPr/>
          <p:nvPr/>
        </p:nvSpPr>
        <p:spPr>
          <a:xfrm>
            <a:off x="411480" y="4846320"/>
            <a:ext cx="1133856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074920"/>
            <a:ext cx="548640" cy="548640"/>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166360"/>
            <a:ext cx="548640" cy="365760"/>
          </a:xfrm>
          <a:prstGeom prst="rect">
            <a:avLst/>
          </a:prstGeom>
          <a:noFill/>
        </p:spPr>
        <p:txBody>
          <a:bodyPr wrap="square">
            <a:spAutoFit/>
          </a:bodyPr>
          <a:lstStyle/>
          <a:p>
            <a:pPr algn="ctr"/>
            <a:r>
              <a:rPr sz="1800" b="1">
                <a:solidFill>
                  <a:srgbClr val="FFFFFF"/>
                </a:solidFill>
                <a:latin typeface="Calibri"/>
              </a:rPr>
              <a:t>4</a:t>
            </a:r>
          </a:p>
        </p:txBody>
      </p:sp>
      <p:sp>
        <p:nvSpPr>
          <p:cNvPr id="25" name="TextBox 24"/>
          <p:cNvSpPr txBox="1"/>
          <p:nvPr/>
        </p:nvSpPr>
        <p:spPr>
          <a:xfrm>
            <a:off x="1371600" y="5029200"/>
            <a:ext cx="10058400" cy="320040"/>
          </a:xfrm>
          <a:prstGeom prst="rect">
            <a:avLst/>
          </a:prstGeom>
          <a:noFill/>
        </p:spPr>
        <p:txBody>
          <a:bodyPr wrap="square">
            <a:spAutoFit/>
          </a:bodyPr>
          <a:lstStyle/>
          <a:p>
            <a:pPr algn="l"/>
            <a:r>
              <a:rPr sz="2000" b="1">
                <a:solidFill>
                  <a:srgbClr val="0F2C59"/>
                </a:solidFill>
                <a:latin typeface="Calibri"/>
              </a:rPr>
              <a:t>Polish Grammar</a:t>
            </a:r>
          </a:p>
        </p:txBody>
      </p:sp>
      <p:sp>
        <p:nvSpPr>
          <p:cNvPr id="26" name="TextBox 25"/>
          <p:cNvSpPr txBox="1"/>
          <p:nvPr/>
        </p:nvSpPr>
        <p:spPr>
          <a:xfrm>
            <a:off x="1371600" y="5394960"/>
            <a:ext cx="10058400" cy="320040"/>
          </a:xfrm>
          <a:prstGeom prst="rect">
            <a:avLst/>
          </a:prstGeom>
          <a:noFill/>
        </p:spPr>
        <p:txBody>
          <a:bodyPr wrap="square">
            <a:spAutoFit/>
          </a:bodyPr>
          <a:lstStyle/>
          <a:p>
            <a:pPr algn="l"/>
            <a:r>
              <a:rPr sz="1500" b="0">
                <a:solidFill>
                  <a:srgbClr val="64748B"/>
                </a:solidFill>
                <a:latin typeface="Calibri"/>
              </a:rPr>
              <a:t>Fix agreement, commas, and confusing word pairs in context</a:t>
            </a:r>
          </a:p>
        </p:txBody>
      </p:sp>
      <p:sp>
        <p:nvSpPr>
          <p:cNvPr id="27" name="Rectangle 26"/>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Goals</a:t>
            </a:r>
          </a:p>
        </p:txBody>
      </p:sp>
      <p:sp>
        <p:nvSpPr>
          <p:cNvPr id="29" name="TextBox 2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3/30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GAME ↔ SYLLABUS</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Why These Games Aren’t “Just Fun”</a:t>
            </a:r>
          </a:p>
        </p:txBody>
      </p:sp>
      <p:sp>
        <p:nvSpPr>
          <p:cNvPr id="7" name="Rectangle 6"/>
          <p:cNvSpPr/>
          <p:nvPr/>
        </p:nvSpPr>
        <p:spPr>
          <a:xfrm>
            <a:off x="411480" y="1371600"/>
            <a:ext cx="11338560" cy="50292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463040"/>
            <a:ext cx="3200400" cy="320040"/>
          </a:xfrm>
          <a:prstGeom prst="rect">
            <a:avLst/>
          </a:prstGeom>
          <a:noFill/>
        </p:spPr>
        <p:txBody>
          <a:bodyPr wrap="square">
            <a:spAutoFit/>
          </a:bodyPr>
          <a:lstStyle/>
          <a:p>
            <a:pPr algn="l"/>
            <a:r>
              <a:rPr sz="1400" b="1">
                <a:solidFill>
                  <a:srgbClr val="FFFFFF"/>
                </a:solidFill>
                <a:latin typeface="Calibri"/>
              </a:rPr>
              <a:t>Game</a:t>
            </a:r>
          </a:p>
        </p:txBody>
      </p:sp>
      <p:sp>
        <p:nvSpPr>
          <p:cNvPr id="9" name="TextBox 8"/>
          <p:cNvSpPr txBox="1"/>
          <p:nvPr/>
        </p:nvSpPr>
        <p:spPr>
          <a:xfrm>
            <a:off x="3931920" y="1463040"/>
            <a:ext cx="3657600" cy="320040"/>
          </a:xfrm>
          <a:prstGeom prst="rect">
            <a:avLst/>
          </a:prstGeom>
          <a:noFill/>
        </p:spPr>
        <p:txBody>
          <a:bodyPr wrap="square">
            <a:spAutoFit/>
          </a:bodyPr>
          <a:lstStyle/>
          <a:p>
            <a:pPr algn="l"/>
            <a:r>
              <a:rPr sz="1400" b="1">
                <a:solidFill>
                  <a:srgbClr val="FFFFFF"/>
                </a:solidFill>
                <a:latin typeface="Calibri"/>
              </a:rPr>
              <a:t>Syllabus Target</a:t>
            </a:r>
          </a:p>
        </p:txBody>
      </p:sp>
      <p:sp>
        <p:nvSpPr>
          <p:cNvPr id="10" name="TextBox 9"/>
          <p:cNvSpPr txBox="1"/>
          <p:nvPr/>
        </p:nvSpPr>
        <p:spPr>
          <a:xfrm>
            <a:off x="7772400" y="1463040"/>
            <a:ext cx="3749039" cy="320040"/>
          </a:xfrm>
          <a:prstGeom prst="rect">
            <a:avLst/>
          </a:prstGeom>
          <a:noFill/>
        </p:spPr>
        <p:txBody>
          <a:bodyPr wrap="square">
            <a:spAutoFit/>
          </a:bodyPr>
          <a:lstStyle/>
          <a:p>
            <a:pPr algn="l"/>
            <a:r>
              <a:rPr sz="1400" b="1">
                <a:solidFill>
                  <a:srgbClr val="FFFFFF"/>
                </a:solidFill>
                <a:latin typeface="Calibri"/>
              </a:rPr>
              <a:t>Tied To</a:t>
            </a:r>
          </a:p>
        </p:txBody>
      </p:sp>
      <p:sp>
        <p:nvSpPr>
          <p:cNvPr id="11" name="Rectangle 10"/>
          <p:cNvSpPr/>
          <p:nvPr/>
        </p:nvSpPr>
        <p:spPr>
          <a:xfrm>
            <a:off x="411480" y="1965960"/>
            <a:ext cx="1133856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240280"/>
            <a:ext cx="3200400" cy="411480"/>
          </a:xfrm>
          <a:prstGeom prst="rect">
            <a:avLst/>
          </a:prstGeom>
          <a:noFill/>
        </p:spPr>
        <p:txBody>
          <a:bodyPr wrap="square">
            <a:spAutoFit/>
          </a:bodyPr>
          <a:lstStyle/>
          <a:p>
            <a:pPr algn="l"/>
            <a:r>
              <a:rPr sz="1400" b="1">
                <a:solidFill>
                  <a:srgbClr val="0F2C59"/>
                </a:solidFill>
                <a:latin typeface="Calibri"/>
              </a:rPr>
              <a:t>Evidence Hunt</a:t>
            </a:r>
          </a:p>
        </p:txBody>
      </p:sp>
      <p:sp>
        <p:nvSpPr>
          <p:cNvPr id="13" name="TextBox 12"/>
          <p:cNvSpPr txBox="1"/>
          <p:nvPr/>
        </p:nvSpPr>
        <p:spPr>
          <a:xfrm>
            <a:off x="3931920" y="2240280"/>
            <a:ext cx="3657600" cy="411480"/>
          </a:xfrm>
          <a:prstGeom prst="rect">
            <a:avLst/>
          </a:prstGeom>
          <a:noFill/>
        </p:spPr>
        <p:txBody>
          <a:bodyPr wrap="square">
            <a:spAutoFit/>
          </a:bodyPr>
          <a:lstStyle/>
          <a:p>
            <a:pPr algn="l"/>
            <a:r>
              <a:rPr sz="1400" b="0">
                <a:solidFill>
                  <a:srgbClr val="1F2937"/>
                </a:solidFill>
                <a:latin typeface="Calibri"/>
              </a:rPr>
              <a:t>RI.7.1 Text evidence</a:t>
            </a:r>
          </a:p>
        </p:txBody>
      </p:sp>
      <p:sp>
        <p:nvSpPr>
          <p:cNvPr id="14" name="TextBox 13"/>
          <p:cNvSpPr txBox="1"/>
          <p:nvPr/>
        </p:nvSpPr>
        <p:spPr>
          <a:xfrm>
            <a:off x="7772400" y="2240280"/>
            <a:ext cx="3749039" cy="411480"/>
          </a:xfrm>
          <a:prstGeom prst="rect">
            <a:avLst/>
          </a:prstGeom>
          <a:noFill/>
        </p:spPr>
        <p:txBody>
          <a:bodyPr wrap="square">
            <a:spAutoFit/>
          </a:bodyPr>
          <a:lstStyle/>
          <a:p>
            <a:pPr algn="l"/>
            <a:r>
              <a:rPr sz="1400" b="0">
                <a:solidFill>
                  <a:srgbClr val="64748B"/>
                </a:solidFill>
                <a:latin typeface="Calibri"/>
              </a:rPr>
              <a:t>Claims about the storm passage</a:t>
            </a:r>
          </a:p>
        </p:txBody>
      </p:sp>
      <p:sp>
        <p:nvSpPr>
          <p:cNvPr id="15" name="Rectangle 14"/>
          <p:cNvSpPr/>
          <p:nvPr/>
        </p:nvSpPr>
        <p:spPr>
          <a:xfrm>
            <a:off x="411480" y="2926080"/>
            <a:ext cx="11338560" cy="96012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00400"/>
            <a:ext cx="3200400" cy="411480"/>
          </a:xfrm>
          <a:prstGeom prst="rect">
            <a:avLst/>
          </a:prstGeom>
          <a:noFill/>
        </p:spPr>
        <p:txBody>
          <a:bodyPr wrap="square">
            <a:spAutoFit/>
          </a:bodyPr>
          <a:lstStyle/>
          <a:p>
            <a:pPr algn="l"/>
            <a:r>
              <a:rPr sz="1400" b="1">
                <a:solidFill>
                  <a:srgbClr val="0F2C59"/>
                </a:solidFill>
                <a:latin typeface="Calibri"/>
              </a:rPr>
              <a:t>Inference Relay</a:t>
            </a:r>
          </a:p>
        </p:txBody>
      </p:sp>
      <p:sp>
        <p:nvSpPr>
          <p:cNvPr id="17" name="TextBox 16"/>
          <p:cNvSpPr txBox="1"/>
          <p:nvPr/>
        </p:nvSpPr>
        <p:spPr>
          <a:xfrm>
            <a:off x="3931920" y="3200400"/>
            <a:ext cx="3657600" cy="411480"/>
          </a:xfrm>
          <a:prstGeom prst="rect">
            <a:avLst/>
          </a:prstGeom>
          <a:noFill/>
        </p:spPr>
        <p:txBody>
          <a:bodyPr wrap="square">
            <a:spAutoFit/>
          </a:bodyPr>
          <a:lstStyle/>
          <a:p>
            <a:pPr algn="l"/>
            <a:r>
              <a:rPr sz="1400" b="0">
                <a:solidFill>
                  <a:srgbClr val="1F2937"/>
                </a:solidFill>
                <a:latin typeface="Calibri"/>
              </a:rPr>
              <a:t>RL/RI.7.1 Inference</a:t>
            </a:r>
          </a:p>
        </p:txBody>
      </p:sp>
      <p:sp>
        <p:nvSpPr>
          <p:cNvPr id="18" name="TextBox 17"/>
          <p:cNvSpPr txBox="1"/>
          <p:nvPr/>
        </p:nvSpPr>
        <p:spPr>
          <a:xfrm>
            <a:off x="7772400" y="3200400"/>
            <a:ext cx="3749039" cy="411480"/>
          </a:xfrm>
          <a:prstGeom prst="rect">
            <a:avLst/>
          </a:prstGeom>
          <a:noFill/>
        </p:spPr>
        <p:txBody>
          <a:bodyPr wrap="square">
            <a:spAutoFit/>
          </a:bodyPr>
          <a:lstStyle/>
          <a:p>
            <a:pPr algn="l"/>
            <a:r>
              <a:rPr sz="1400" b="0">
                <a:solidFill>
                  <a:srgbClr val="64748B"/>
                </a:solidFill>
                <a:latin typeface="Calibri"/>
              </a:rPr>
              <a:t>Clues pulled from same story</a:t>
            </a:r>
          </a:p>
        </p:txBody>
      </p:sp>
      <p:sp>
        <p:nvSpPr>
          <p:cNvPr id="19" name="Rectangle 18"/>
          <p:cNvSpPr/>
          <p:nvPr/>
        </p:nvSpPr>
        <p:spPr>
          <a:xfrm>
            <a:off x="411480" y="3886200"/>
            <a:ext cx="1133856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0520"/>
            <a:ext cx="3200400" cy="411480"/>
          </a:xfrm>
          <a:prstGeom prst="rect">
            <a:avLst/>
          </a:prstGeom>
          <a:noFill/>
        </p:spPr>
        <p:txBody>
          <a:bodyPr wrap="square">
            <a:spAutoFit/>
          </a:bodyPr>
          <a:lstStyle/>
          <a:p>
            <a:pPr algn="l"/>
            <a:r>
              <a:rPr sz="1400" b="1">
                <a:solidFill>
                  <a:srgbClr val="0F2C59"/>
                </a:solidFill>
                <a:latin typeface="Calibri"/>
              </a:rPr>
              <a:t>Grammar Fix: Storm Edition</a:t>
            </a:r>
          </a:p>
        </p:txBody>
      </p:sp>
      <p:sp>
        <p:nvSpPr>
          <p:cNvPr id="21" name="TextBox 20"/>
          <p:cNvSpPr txBox="1"/>
          <p:nvPr/>
        </p:nvSpPr>
        <p:spPr>
          <a:xfrm>
            <a:off x="3931920" y="4160520"/>
            <a:ext cx="3657600" cy="411480"/>
          </a:xfrm>
          <a:prstGeom prst="rect">
            <a:avLst/>
          </a:prstGeom>
          <a:noFill/>
        </p:spPr>
        <p:txBody>
          <a:bodyPr wrap="square">
            <a:spAutoFit/>
          </a:bodyPr>
          <a:lstStyle/>
          <a:p>
            <a:pPr algn="l"/>
            <a:r>
              <a:rPr sz="1400" b="0">
                <a:solidFill>
                  <a:srgbClr val="1F2937"/>
                </a:solidFill>
                <a:latin typeface="Calibri"/>
              </a:rPr>
              <a:t>L.7.1 / L.7.2 Conventions</a:t>
            </a:r>
          </a:p>
        </p:txBody>
      </p:sp>
      <p:sp>
        <p:nvSpPr>
          <p:cNvPr id="22" name="TextBox 21"/>
          <p:cNvSpPr txBox="1"/>
          <p:nvPr/>
        </p:nvSpPr>
        <p:spPr>
          <a:xfrm>
            <a:off x="7772400" y="4160520"/>
            <a:ext cx="3749039" cy="411480"/>
          </a:xfrm>
          <a:prstGeom prst="rect">
            <a:avLst/>
          </a:prstGeom>
          <a:noFill/>
        </p:spPr>
        <p:txBody>
          <a:bodyPr wrap="square">
            <a:spAutoFit/>
          </a:bodyPr>
          <a:lstStyle/>
          <a:p>
            <a:pPr algn="l"/>
            <a:r>
              <a:rPr sz="1400" b="0">
                <a:solidFill>
                  <a:srgbClr val="64748B"/>
                </a:solidFill>
                <a:latin typeface="Calibri"/>
              </a:rPr>
              <a:t>Sentences about Jordan, Maya, Ms. Reyes</a:t>
            </a:r>
          </a:p>
        </p:txBody>
      </p:sp>
      <p:sp>
        <p:nvSpPr>
          <p:cNvPr id="23" name="Rectangle 22"/>
          <p:cNvSpPr/>
          <p:nvPr/>
        </p:nvSpPr>
        <p:spPr>
          <a:xfrm>
            <a:off x="411480" y="4846320"/>
            <a:ext cx="11338560" cy="96012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120640"/>
            <a:ext cx="3200400" cy="411480"/>
          </a:xfrm>
          <a:prstGeom prst="rect">
            <a:avLst/>
          </a:prstGeom>
          <a:noFill/>
        </p:spPr>
        <p:txBody>
          <a:bodyPr wrap="square">
            <a:spAutoFit/>
          </a:bodyPr>
          <a:lstStyle/>
          <a:p>
            <a:pPr algn="l"/>
            <a:r>
              <a:rPr sz="1400" b="1">
                <a:solidFill>
                  <a:srgbClr val="0F2C59"/>
                </a:solidFill>
                <a:latin typeface="Calibri"/>
              </a:rPr>
              <a:t>Passage Remix Challenge</a:t>
            </a:r>
          </a:p>
        </p:txBody>
      </p:sp>
      <p:sp>
        <p:nvSpPr>
          <p:cNvPr id="25" name="TextBox 24"/>
          <p:cNvSpPr txBox="1"/>
          <p:nvPr/>
        </p:nvSpPr>
        <p:spPr>
          <a:xfrm>
            <a:off x="3931920" y="5120640"/>
            <a:ext cx="3657600" cy="411480"/>
          </a:xfrm>
          <a:prstGeom prst="rect">
            <a:avLst/>
          </a:prstGeom>
          <a:noFill/>
        </p:spPr>
        <p:txBody>
          <a:bodyPr wrap="square">
            <a:spAutoFit/>
          </a:bodyPr>
          <a:lstStyle/>
          <a:p>
            <a:pPr algn="l"/>
            <a:r>
              <a:rPr sz="1400" b="0">
                <a:solidFill>
                  <a:srgbClr val="1F2937"/>
                </a:solidFill>
                <a:latin typeface="Calibri"/>
              </a:rPr>
              <a:t>Reading + Grammar together</a:t>
            </a:r>
          </a:p>
        </p:txBody>
      </p:sp>
      <p:sp>
        <p:nvSpPr>
          <p:cNvPr id="26" name="TextBox 25"/>
          <p:cNvSpPr txBox="1"/>
          <p:nvPr/>
        </p:nvSpPr>
        <p:spPr>
          <a:xfrm>
            <a:off x="7772400" y="5120640"/>
            <a:ext cx="3749039" cy="411480"/>
          </a:xfrm>
          <a:prstGeom prst="rect">
            <a:avLst/>
          </a:prstGeom>
          <a:noFill/>
        </p:spPr>
        <p:txBody>
          <a:bodyPr wrap="square">
            <a:spAutoFit/>
          </a:bodyPr>
          <a:lstStyle/>
          <a:p>
            <a:pPr algn="l"/>
            <a:r>
              <a:rPr sz="1400" b="0">
                <a:solidFill>
                  <a:srgbClr val="64748B"/>
                </a:solidFill>
                <a:latin typeface="Calibri"/>
              </a:rPr>
              <a:t>Edit remix + add inference</a:t>
            </a:r>
          </a:p>
        </p:txBody>
      </p:sp>
      <p:sp>
        <p:nvSpPr>
          <p:cNvPr id="27" name="Rectangle 26"/>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Map</a:t>
            </a:r>
          </a:p>
        </p:txBody>
      </p:sp>
      <p:sp>
        <p:nvSpPr>
          <p:cNvPr id="29" name="TextBox 2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30/30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TODAY'S PASSAGE</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4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Read-Aloud Hook: “The Signal in the Storm”</a:t>
            </a:r>
          </a:p>
        </p:txBody>
      </p:sp>
      <p:sp>
        <p:nvSpPr>
          <p:cNvPr id="9" name="Rounded Rectangle 8"/>
          <p:cNvSpPr/>
          <p:nvPr/>
        </p:nvSpPr>
        <p:spPr>
          <a:xfrm>
            <a:off x="411480" y="1325880"/>
            <a:ext cx="11338560" cy="4160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508760"/>
            <a:ext cx="10789920" cy="3794760"/>
          </a:xfrm>
          <a:prstGeom prst="rect">
            <a:avLst/>
          </a:prstGeom>
          <a:noFill/>
        </p:spPr>
        <p:txBody>
          <a:bodyPr wrap="square">
            <a:spAutoFit/>
          </a:bodyPr>
          <a:lstStyle/>
          <a:p>
            <a:pPr algn="l"/>
            <a:r>
              <a:rPr sz="1500" b="0">
                <a:solidFill>
                  <a:srgbClr val="1F2937"/>
                </a:solidFill>
                <a:latin typeface="Calibri"/>
              </a:rPr>
              <a:t>Rain hammered the windows of Room 214 as the class waited for the power to return. Ms. Reyes kept her voice calm. "We still have ten minutes," she said, holding up a paper packet. "If we finish this reading together, nobody loses progress."
Jordan frowned at the dark projector, then noticed Maya already underlining the first paragraph. Around them, whispers rose—until someone asked a real question: "What does the author want us to notice?" The room shifted. Pencils moved. Ideas connected.
When the lights flickered back on, the class had done more than wait. They had practiced the habit strong readers use every day: ask, find evidence, and revise your thinking. Small choices, made together, had turned a storm delay into learning.</a:t>
            </a:r>
          </a:p>
        </p:txBody>
      </p:sp>
      <p:sp>
        <p:nvSpPr>
          <p:cNvPr id="11" name="Rounded Rectangle 10"/>
          <p:cNvSpPr/>
          <p:nvPr/>
        </p:nvSpPr>
        <p:spPr>
          <a:xfrm>
            <a:off x="411480" y="5623560"/>
            <a:ext cx="11338560" cy="731520"/>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5760720"/>
            <a:ext cx="10881360" cy="457200"/>
          </a:xfrm>
          <a:prstGeom prst="rect">
            <a:avLst/>
          </a:prstGeom>
          <a:noFill/>
        </p:spPr>
        <p:txBody>
          <a:bodyPr wrap="square">
            <a:spAutoFit/>
          </a:bodyPr>
          <a:lstStyle/>
          <a:p>
            <a:pPr algn="l"/>
            <a:r>
              <a:rPr sz="1400" b="1">
                <a:solidFill>
                  <a:srgbClr val="0F2C59"/>
                </a:solidFill>
                <a:latin typeface="Calibri"/>
              </a:rPr>
              <a:t>Quick feel check: What’s the mood? Who seems ready to learn? What’s one question you’d ask?</a:t>
            </a:r>
          </a:p>
        </p:txBody>
      </p:sp>
      <p:sp>
        <p:nvSpPr>
          <p:cNvPr id="13" name="Rectangle 12"/>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0–4 min</a:t>
            </a:r>
          </a:p>
        </p:txBody>
      </p:sp>
      <p:sp>
        <p:nvSpPr>
          <p:cNvPr id="15" name="TextBox 14"/>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4/30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0698480" cy="365760"/>
          </a:xfrm>
          <a:prstGeom prst="rect">
            <a:avLst/>
          </a:prstGeom>
          <a:noFill/>
        </p:spPr>
        <p:txBody>
          <a:bodyPr wrap="square">
            <a:spAutoFit/>
          </a:bodyPr>
          <a:lstStyle/>
          <a:p>
            <a:pPr algn="ctr"/>
            <a:r>
              <a:rPr sz="1600" b="1">
                <a:solidFill>
                  <a:srgbClr val="F5B301"/>
                </a:solidFill>
                <a:latin typeface="Calibri"/>
              </a:rPr>
              <a:t>GAME 1  •  LINKED TO THE PASSAGE</a:t>
            </a:r>
          </a:p>
        </p:txBody>
      </p:sp>
      <p:sp>
        <p:nvSpPr>
          <p:cNvPr id="5" name="TextBox 4"/>
          <p:cNvSpPr txBox="1"/>
          <p:nvPr/>
        </p:nvSpPr>
        <p:spPr>
          <a:xfrm>
            <a:off x="731520" y="2377440"/>
            <a:ext cx="10698480" cy="914400"/>
          </a:xfrm>
          <a:prstGeom prst="rect">
            <a:avLst/>
          </a:prstGeom>
          <a:noFill/>
        </p:spPr>
        <p:txBody>
          <a:bodyPr wrap="square">
            <a:spAutoFit/>
          </a:bodyPr>
          <a:lstStyle/>
          <a:p>
            <a:pPr algn="ctr"/>
            <a:r>
              <a:rPr sz="4400" b="1">
                <a:solidFill>
                  <a:srgbClr val="FFFFFF"/>
                </a:solidFill>
                <a:latin typeface="Georgia"/>
              </a:rPr>
              <a:t>Evidence Hunt</a:t>
            </a:r>
          </a:p>
        </p:txBody>
      </p:sp>
      <p:sp>
        <p:nvSpPr>
          <p:cNvPr id="6" name="TextBox 5"/>
          <p:cNvSpPr txBox="1"/>
          <p:nvPr/>
        </p:nvSpPr>
        <p:spPr>
          <a:xfrm>
            <a:off x="731520" y="3474720"/>
            <a:ext cx="10698480" cy="457200"/>
          </a:xfrm>
          <a:prstGeom prst="rect">
            <a:avLst/>
          </a:prstGeom>
          <a:noFill/>
        </p:spPr>
        <p:txBody>
          <a:bodyPr wrap="square">
            <a:spAutoFit/>
          </a:bodyPr>
          <a:lstStyle/>
          <a:p>
            <a:pPr algn="ctr"/>
            <a:r>
              <a:rPr sz="1800" b="0">
                <a:solidFill>
                  <a:srgbClr val="BFDBFE"/>
                </a:solidFill>
                <a:latin typeface="Calibri"/>
              </a:rPr>
              <a:t>Find proof in “The Signal in the Storm” — not opinions.</a:t>
            </a:r>
          </a:p>
        </p:txBody>
      </p:sp>
      <p:sp>
        <p:nvSpPr>
          <p:cNvPr id="7" name="TextBox 6"/>
          <p:cNvSpPr txBox="1"/>
          <p:nvPr/>
        </p:nvSpPr>
        <p:spPr>
          <a:xfrm>
            <a:off x="731520" y="4206240"/>
            <a:ext cx="10698480" cy="365760"/>
          </a:xfrm>
          <a:prstGeom prst="rect">
            <a:avLst/>
          </a:prstGeom>
          <a:noFill/>
        </p:spPr>
        <p:txBody>
          <a:bodyPr wrap="square">
            <a:spAutoFit/>
          </a:bodyPr>
          <a:lstStyle/>
          <a:p>
            <a:pPr algn="ctr"/>
            <a:r>
              <a:rPr sz="1600" b="0">
                <a:solidFill>
                  <a:srgbClr val="F5B301"/>
                </a:solidFill>
                <a:latin typeface="Calibri"/>
              </a:rPr>
              <a:t>7 minutes  •  Syllabus skill: Text Evidence (RI.7.1)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SYLLABUS GAME</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7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Evidence Hunt — Rules</a:t>
            </a:r>
          </a:p>
        </p:txBody>
      </p:sp>
      <p:sp>
        <p:nvSpPr>
          <p:cNvPr id="9" name="Rounded Rectangle 8"/>
          <p:cNvSpPr/>
          <p:nvPr/>
        </p:nvSpPr>
        <p:spPr>
          <a:xfrm>
            <a:off x="365760" y="1371600"/>
            <a:ext cx="27889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0160" y="1600200"/>
            <a:ext cx="914400" cy="914400"/>
          </a:xfrm>
          <a:prstGeom prst="ellipse">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1783080"/>
            <a:ext cx="914400" cy="548640"/>
          </a:xfrm>
          <a:prstGeom prst="rect">
            <a:avLst/>
          </a:prstGeom>
          <a:noFill/>
        </p:spPr>
        <p:txBody>
          <a:bodyPr wrap="square">
            <a:spAutoFit/>
          </a:bodyPr>
          <a:lstStyle/>
          <a:p>
            <a:pPr algn="ctr"/>
            <a:r>
              <a:rPr sz="2200" b="1">
                <a:solidFill>
                  <a:srgbClr val="FFFFFF"/>
                </a:solidFill>
                <a:latin typeface="Calibri"/>
              </a:rPr>
              <a:t>1</a:t>
            </a:r>
          </a:p>
        </p:txBody>
      </p:sp>
      <p:sp>
        <p:nvSpPr>
          <p:cNvPr id="12" name="TextBox 11"/>
          <p:cNvSpPr txBox="1"/>
          <p:nvPr/>
        </p:nvSpPr>
        <p:spPr>
          <a:xfrm>
            <a:off x="502920" y="2743200"/>
            <a:ext cx="2514600" cy="411480"/>
          </a:xfrm>
          <a:prstGeom prst="rect">
            <a:avLst/>
          </a:prstGeom>
          <a:noFill/>
        </p:spPr>
        <p:txBody>
          <a:bodyPr wrap="square">
            <a:spAutoFit/>
          </a:bodyPr>
          <a:lstStyle/>
          <a:p>
            <a:pPr algn="ctr"/>
            <a:r>
              <a:rPr sz="1800" b="1">
                <a:solidFill>
                  <a:srgbClr val="0F2C59"/>
                </a:solidFill>
                <a:latin typeface="Calibri"/>
              </a:rPr>
              <a:t>Listen</a:t>
            </a:r>
          </a:p>
        </p:txBody>
      </p:sp>
      <p:sp>
        <p:nvSpPr>
          <p:cNvPr id="13" name="TextBox 12"/>
          <p:cNvSpPr txBox="1"/>
          <p:nvPr/>
        </p:nvSpPr>
        <p:spPr>
          <a:xfrm>
            <a:off x="502920" y="3246120"/>
            <a:ext cx="2514600" cy="1005840"/>
          </a:xfrm>
          <a:prstGeom prst="rect">
            <a:avLst/>
          </a:prstGeom>
          <a:noFill/>
        </p:spPr>
        <p:txBody>
          <a:bodyPr wrap="square">
            <a:spAutoFit/>
          </a:bodyPr>
          <a:lstStyle/>
          <a:p>
            <a:pPr algn="ctr"/>
            <a:r>
              <a:rPr sz="1400" b="0">
                <a:solidFill>
                  <a:srgbClr val="64748B"/>
                </a:solidFill>
                <a:latin typeface="Calibri"/>
              </a:rPr>
              <a:t>I’ll read a claim about the passage.</a:t>
            </a:r>
          </a:p>
        </p:txBody>
      </p:sp>
      <p:sp>
        <p:nvSpPr>
          <p:cNvPr id="14" name="Rounded Rectangle 13"/>
          <p:cNvSpPr/>
          <p:nvPr/>
        </p:nvSpPr>
        <p:spPr>
          <a:xfrm>
            <a:off x="3291840" y="1371600"/>
            <a:ext cx="27889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206240" y="1600200"/>
            <a:ext cx="914400" cy="914400"/>
          </a:xfrm>
          <a:prstGeom prst="ellipse">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783080"/>
            <a:ext cx="914400" cy="548640"/>
          </a:xfrm>
          <a:prstGeom prst="rect">
            <a:avLst/>
          </a:prstGeom>
          <a:noFill/>
        </p:spPr>
        <p:txBody>
          <a:bodyPr wrap="square">
            <a:spAutoFit/>
          </a:bodyPr>
          <a:lstStyle/>
          <a:p>
            <a:pPr algn="ctr"/>
            <a:r>
              <a:rPr sz="2200" b="1">
                <a:solidFill>
                  <a:srgbClr val="FFFFFF"/>
                </a:solidFill>
                <a:latin typeface="Calibri"/>
              </a:rPr>
              <a:t>2</a:t>
            </a:r>
          </a:p>
        </p:txBody>
      </p:sp>
      <p:sp>
        <p:nvSpPr>
          <p:cNvPr id="17" name="TextBox 16"/>
          <p:cNvSpPr txBox="1"/>
          <p:nvPr/>
        </p:nvSpPr>
        <p:spPr>
          <a:xfrm>
            <a:off x="3429000" y="2743200"/>
            <a:ext cx="2514600" cy="411480"/>
          </a:xfrm>
          <a:prstGeom prst="rect">
            <a:avLst/>
          </a:prstGeom>
          <a:noFill/>
        </p:spPr>
        <p:txBody>
          <a:bodyPr wrap="square">
            <a:spAutoFit/>
          </a:bodyPr>
          <a:lstStyle/>
          <a:p>
            <a:pPr algn="ctr"/>
            <a:r>
              <a:rPr sz="1800" b="1">
                <a:solidFill>
                  <a:srgbClr val="0F2C59"/>
                </a:solidFill>
                <a:latin typeface="Calibri"/>
              </a:rPr>
              <a:t>Hunt</a:t>
            </a:r>
          </a:p>
        </p:txBody>
      </p:sp>
      <p:sp>
        <p:nvSpPr>
          <p:cNvPr id="18" name="TextBox 17"/>
          <p:cNvSpPr txBox="1"/>
          <p:nvPr/>
        </p:nvSpPr>
        <p:spPr>
          <a:xfrm>
            <a:off x="3429000" y="3246120"/>
            <a:ext cx="2514600" cy="1005840"/>
          </a:xfrm>
          <a:prstGeom prst="rect">
            <a:avLst/>
          </a:prstGeom>
          <a:noFill/>
        </p:spPr>
        <p:txBody>
          <a:bodyPr wrap="square">
            <a:spAutoFit/>
          </a:bodyPr>
          <a:lstStyle/>
          <a:p>
            <a:pPr algn="ctr"/>
            <a:r>
              <a:rPr sz="1400" b="0">
                <a:solidFill>
                  <a:srgbClr val="64748B"/>
                </a:solidFill>
                <a:latin typeface="Calibri"/>
              </a:rPr>
              <a:t>Find a sentence or phrase that proves it.</a:t>
            </a:r>
          </a:p>
        </p:txBody>
      </p:sp>
      <p:sp>
        <p:nvSpPr>
          <p:cNvPr id="19" name="Rounded Rectangle 18"/>
          <p:cNvSpPr/>
          <p:nvPr/>
        </p:nvSpPr>
        <p:spPr>
          <a:xfrm>
            <a:off x="6217920" y="1371600"/>
            <a:ext cx="27889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32320" y="1600200"/>
            <a:ext cx="914400" cy="914400"/>
          </a:xfrm>
          <a:prstGeom prst="ellipse">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0" y="1783080"/>
            <a:ext cx="914400" cy="548640"/>
          </a:xfrm>
          <a:prstGeom prst="rect">
            <a:avLst/>
          </a:prstGeom>
          <a:noFill/>
        </p:spPr>
        <p:txBody>
          <a:bodyPr wrap="square">
            <a:spAutoFit/>
          </a:bodyPr>
          <a:lstStyle/>
          <a:p>
            <a:pPr algn="ctr"/>
            <a:r>
              <a:rPr sz="2200" b="1">
                <a:solidFill>
                  <a:srgbClr val="FFFFFF"/>
                </a:solidFill>
                <a:latin typeface="Calibri"/>
              </a:rPr>
              <a:t>3</a:t>
            </a:r>
          </a:p>
        </p:txBody>
      </p:sp>
      <p:sp>
        <p:nvSpPr>
          <p:cNvPr id="22" name="TextBox 21"/>
          <p:cNvSpPr txBox="1"/>
          <p:nvPr/>
        </p:nvSpPr>
        <p:spPr>
          <a:xfrm>
            <a:off x="6355080" y="2743200"/>
            <a:ext cx="2514600" cy="411480"/>
          </a:xfrm>
          <a:prstGeom prst="rect">
            <a:avLst/>
          </a:prstGeom>
          <a:noFill/>
        </p:spPr>
        <p:txBody>
          <a:bodyPr wrap="square">
            <a:spAutoFit/>
          </a:bodyPr>
          <a:lstStyle/>
          <a:p>
            <a:pPr algn="ctr"/>
            <a:r>
              <a:rPr sz="1800" b="1">
                <a:solidFill>
                  <a:srgbClr val="0F2C59"/>
                </a:solidFill>
                <a:latin typeface="Calibri"/>
              </a:rPr>
              <a:t>Quote</a:t>
            </a:r>
          </a:p>
        </p:txBody>
      </p:sp>
      <p:sp>
        <p:nvSpPr>
          <p:cNvPr id="23" name="TextBox 22"/>
          <p:cNvSpPr txBox="1"/>
          <p:nvPr/>
        </p:nvSpPr>
        <p:spPr>
          <a:xfrm>
            <a:off x="6355080" y="3246120"/>
            <a:ext cx="2514600" cy="1005840"/>
          </a:xfrm>
          <a:prstGeom prst="rect">
            <a:avLst/>
          </a:prstGeom>
          <a:noFill/>
        </p:spPr>
        <p:txBody>
          <a:bodyPr wrap="square">
            <a:spAutoFit/>
          </a:bodyPr>
          <a:lstStyle/>
          <a:p>
            <a:pPr algn="ctr"/>
            <a:r>
              <a:rPr sz="1400" b="0">
                <a:solidFill>
                  <a:srgbClr val="64748B"/>
                </a:solidFill>
                <a:latin typeface="Calibri"/>
              </a:rPr>
              <a:t>Say the evidence out loud (word-for-word).</a:t>
            </a:r>
          </a:p>
        </p:txBody>
      </p:sp>
      <p:sp>
        <p:nvSpPr>
          <p:cNvPr id="24" name="Rounded Rectangle 23"/>
          <p:cNvSpPr/>
          <p:nvPr/>
        </p:nvSpPr>
        <p:spPr>
          <a:xfrm>
            <a:off x="9144000" y="1371600"/>
            <a:ext cx="27889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8400" y="1600200"/>
            <a:ext cx="914400" cy="914400"/>
          </a:xfrm>
          <a:prstGeom prst="ellipse">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1783080"/>
            <a:ext cx="914400" cy="548640"/>
          </a:xfrm>
          <a:prstGeom prst="rect">
            <a:avLst/>
          </a:prstGeom>
          <a:noFill/>
        </p:spPr>
        <p:txBody>
          <a:bodyPr wrap="square">
            <a:spAutoFit/>
          </a:bodyPr>
          <a:lstStyle/>
          <a:p>
            <a:pPr algn="ctr"/>
            <a:r>
              <a:rPr sz="2200" b="1">
                <a:solidFill>
                  <a:srgbClr val="FFFFFF"/>
                </a:solidFill>
                <a:latin typeface="Calibri"/>
              </a:rPr>
              <a:t>4</a:t>
            </a:r>
          </a:p>
        </p:txBody>
      </p:sp>
      <p:sp>
        <p:nvSpPr>
          <p:cNvPr id="27" name="TextBox 26"/>
          <p:cNvSpPr txBox="1"/>
          <p:nvPr/>
        </p:nvSpPr>
        <p:spPr>
          <a:xfrm>
            <a:off x="9281160" y="2743200"/>
            <a:ext cx="2514600" cy="411480"/>
          </a:xfrm>
          <a:prstGeom prst="rect">
            <a:avLst/>
          </a:prstGeom>
          <a:noFill/>
        </p:spPr>
        <p:txBody>
          <a:bodyPr wrap="square">
            <a:spAutoFit/>
          </a:bodyPr>
          <a:lstStyle/>
          <a:p>
            <a:pPr algn="ctr"/>
            <a:r>
              <a:rPr sz="1800" b="1">
                <a:solidFill>
                  <a:srgbClr val="0F2C59"/>
                </a:solidFill>
                <a:latin typeface="Calibri"/>
              </a:rPr>
              <a:t>Score</a:t>
            </a:r>
          </a:p>
        </p:txBody>
      </p:sp>
      <p:sp>
        <p:nvSpPr>
          <p:cNvPr id="28" name="TextBox 27"/>
          <p:cNvSpPr txBox="1"/>
          <p:nvPr/>
        </p:nvSpPr>
        <p:spPr>
          <a:xfrm>
            <a:off x="9281160" y="3246120"/>
            <a:ext cx="2514600" cy="1005840"/>
          </a:xfrm>
          <a:prstGeom prst="rect">
            <a:avLst/>
          </a:prstGeom>
          <a:noFill/>
        </p:spPr>
        <p:txBody>
          <a:bodyPr wrap="square">
            <a:spAutoFit/>
          </a:bodyPr>
          <a:lstStyle/>
          <a:p>
            <a:pPr algn="ctr"/>
            <a:r>
              <a:rPr sz="1400" b="0">
                <a:solidFill>
                  <a:srgbClr val="64748B"/>
                </a:solidFill>
                <a:latin typeface="Calibri"/>
              </a:rPr>
              <a:t>+1 find  •  +1 exact quote  •  Max 2 each round</a:t>
            </a:r>
          </a:p>
        </p:txBody>
      </p:sp>
      <p:sp>
        <p:nvSpPr>
          <p:cNvPr id="29" name="Rounded Rectangle 28"/>
          <p:cNvSpPr/>
          <p:nvPr/>
        </p:nvSpPr>
        <p:spPr>
          <a:xfrm>
            <a:off x="411480" y="5989320"/>
            <a:ext cx="11338560" cy="411480"/>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6062472"/>
            <a:ext cx="10972800" cy="320040"/>
          </a:xfrm>
          <a:prstGeom prst="rect">
            <a:avLst/>
          </a:prstGeom>
          <a:noFill/>
        </p:spPr>
        <p:txBody>
          <a:bodyPr wrap="square">
            <a:spAutoFit/>
          </a:bodyPr>
          <a:lstStyle/>
          <a:p>
            <a:pPr algn="l"/>
            <a:r>
              <a:rPr sz="1300" b="1">
                <a:solidFill>
                  <a:srgbClr val="0F2C59"/>
                </a:solidFill>
                <a:latin typeface="Calibri"/>
              </a:rPr>
              <a:t>Why this game?  Builds RI.7.1 — cite textual evidence to support analysis.</a:t>
            </a:r>
          </a:p>
        </p:txBody>
      </p:sp>
      <p:sp>
        <p:nvSpPr>
          <p:cNvPr id="31" name="Rectangle 30"/>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4–11 min</a:t>
            </a:r>
          </a:p>
        </p:txBody>
      </p:sp>
      <p:sp>
        <p:nvSpPr>
          <p:cNvPr id="33" name="TextBox 32"/>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6/30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SYLLABUS GAME</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400" b="1">
                <a:solidFill>
                  <a:srgbClr val="0F2C59"/>
                </a:solidFill>
                <a:latin typeface="Georgia"/>
              </a:rPr>
              <a:t>Evidence Hunt — Claims (from our passage)</a:t>
            </a:r>
          </a:p>
        </p:txBody>
      </p:sp>
      <p:sp>
        <p:nvSpPr>
          <p:cNvPr id="7" name="Rounded Rectangle 6"/>
          <p:cNvSpPr/>
          <p:nvPr/>
        </p:nvSpPr>
        <p:spPr>
          <a:xfrm>
            <a:off x="411480" y="132588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27048"/>
            <a:ext cx="10972800" cy="411480"/>
          </a:xfrm>
          <a:prstGeom prst="rect">
            <a:avLst/>
          </a:prstGeom>
          <a:noFill/>
        </p:spPr>
        <p:txBody>
          <a:bodyPr wrap="square">
            <a:spAutoFit/>
          </a:bodyPr>
          <a:lstStyle/>
          <a:p>
            <a:pPr algn="l"/>
            <a:r>
              <a:rPr sz="1600" b="0">
                <a:solidFill>
                  <a:srgbClr val="1F2937"/>
                </a:solidFill>
                <a:latin typeface="Calibri"/>
              </a:rPr>
              <a:t>Claim A: The class did not waste the power outage.</a:t>
            </a:r>
          </a:p>
        </p:txBody>
      </p:sp>
      <p:sp>
        <p:nvSpPr>
          <p:cNvPr id="9" name="Rounded Rectangle 8"/>
          <p:cNvSpPr/>
          <p:nvPr/>
        </p:nvSpPr>
        <p:spPr>
          <a:xfrm>
            <a:off x="411480" y="2148840"/>
            <a:ext cx="11338560" cy="731520"/>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50008"/>
            <a:ext cx="10972800" cy="411480"/>
          </a:xfrm>
          <a:prstGeom prst="rect">
            <a:avLst/>
          </a:prstGeom>
          <a:noFill/>
        </p:spPr>
        <p:txBody>
          <a:bodyPr wrap="square">
            <a:spAutoFit/>
          </a:bodyPr>
          <a:lstStyle/>
          <a:p>
            <a:pPr algn="l"/>
            <a:r>
              <a:rPr sz="1600" b="0">
                <a:solidFill>
                  <a:srgbClr val="1F2937"/>
                </a:solidFill>
                <a:latin typeface="Calibri"/>
              </a:rPr>
              <a:t>Claim B: Ms. Reyes wanted students to keep learning.</a:t>
            </a:r>
          </a:p>
        </p:txBody>
      </p:sp>
      <p:sp>
        <p:nvSpPr>
          <p:cNvPr id="11" name="Rounded Rectangle 10"/>
          <p:cNvSpPr/>
          <p:nvPr/>
        </p:nvSpPr>
        <p:spPr>
          <a:xfrm>
            <a:off x="411480" y="297180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72968"/>
            <a:ext cx="10972800" cy="411480"/>
          </a:xfrm>
          <a:prstGeom prst="rect">
            <a:avLst/>
          </a:prstGeom>
          <a:noFill/>
        </p:spPr>
        <p:txBody>
          <a:bodyPr wrap="square">
            <a:spAutoFit/>
          </a:bodyPr>
          <a:lstStyle/>
          <a:p>
            <a:pPr algn="l"/>
            <a:r>
              <a:rPr sz="1600" b="0">
                <a:solidFill>
                  <a:srgbClr val="1F2937"/>
                </a:solidFill>
                <a:latin typeface="Calibri"/>
              </a:rPr>
              <a:t>Claim C: Maya was already using a strong reading habit.</a:t>
            </a:r>
          </a:p>
        </p:txBody>
      </p:sp>
      <p:sp>
        <p:nvSpPr>
          <p:cNvPr id="13" name="Rounded Rectangle 12"/>
          <p:cNvSpPr/>
          <p:nvPr/>
        </p:nvSpPr>
        <p:spPr>
          <a:xfrm>
            <a:off x="411480" y="3794760"/>
            <a:ext cx="11338560" cy="731520"/>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995928"/>
            <a:ext cx="10972800" cy="411480"/>
          </a:xfrm>
          <a:prstGeom prst="rect">
            <a:avLst/>
          </a:prstGeom>
          <a:noFill/>
        </p:spPr>
        <p:txBody>
          <a:bodyPr wrap="square">
            <a:spAutoFit/>
          </a:bodyPr>
          <a:lstStyle/>
          <a:p>
            <a:pPr algn="l"/>
            <a:r>
              <a:rPr sz="1600" b="0">
                <a:solidFill>
                  <a:srgbClr val="1F2937"/>
                </a:solidFill>
                <a:latin typeface="Calibri"/>
              </a:rPr>
              <a:t>Claim D: A good question changed the energy in the room.</a:t>
            </a:r>
          </a:p>
        </p:txBody>
      </p:sp>
      <p:sp>
        <p:nvSpPr>
          <p:cNvPr id="15" name="Rounded Rectangle 14"/>
          <p:cNvSpPr/>
          <p:nvPr/>
        </p:nvSpPr>
        <p:spPr>
          <a:xfrm>
            <a:off x="411480" y="461772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18888"/>
            <a:ext cx="10972800" cy="411480"/>
          </a:xfrm>
          <a:prstGeom prst="rect">
            <a:avLst/>
          </a:prstGeom>
          <a:noFill/>
        </p:spPr>
        <p:txBody>
          <a:bodyPr wrap="square">
            <a:spAutoFit/>
          </a:bodyPr>
          <a:lstStyle/>
          <a:p>
            <a:pPr algn="l"/>
            <a:r>
              <a:rPr sz="1600" b="0">
                <a:solidFill>
                  <a:srgbClr val="1F2937"/>
                </a:solidFill>
                <a:latin typeface="Calibri"/>
              </a:rPr>
              <a:t>Claim E: The author believes small choices can create learning.</a:t>
            </a:r>
          </a:p>
        </p:txBody>
      </p:sp>
      <p:sp>
        <p:nvSpPr>
          <p:cNvPr id="17" name="Rounded Rectangle 16"/>
          <p:cNvSpPr/>
          <p:nvPr/>
        </p:nvSpPr>
        <p:spPr>
          <a:xfrm>
            <a:off x="411480" y="5989320"/>
            <a:ext cx="11338560" cy="411480"/>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062472"/>
            <a:ext cx="10972800" cy="320040"/>
          </a:xfrm>
          <a:prstGeom prst="rect">
            <a:avLst/>
          </a:prstGeom>
          <a:noFill/>
        </p:spPr>
        <p:txBody>
          <a:bodyPr wrap="square">
            <a:spAutoFit/>
          </a:bodyPr>
          <a:lstStyle/>
          <a:p>
            <a:pPr algn="l"/>
            <a:r>
              <a:rPr sz="1300" b="1">
                <a:solidFill>
                  <a:srgbClr val="0F2C59"/>
                </a:solidFill>
                <a:latin typeface="Calibri"/>
              </a:rPr>
              <a:t>Why this game?  Every claim must be proven with words from “The Signal in the Storm.”</a:t>
            </a:r>
          </a:p>
        </p:txBody>
      </p:sp>
      <p:sp>
        <p:nvSpPr>
          <p:cNvPr id="19" name="Rectangle 18"/>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4–11 min</a:t>
            </a:r>
          </a:p>
        </p:txBody>
      </p:sp>
      <p:sp>
        <p:nvSpPr>
          <p:cNvPr id="21" name="TextBox 2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7/30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ANSWER KEY</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400" b="1">
                <a:solidFill>
                  <a:srgbClr val="0F2C59"/>
                </a:solidFill>
                <a:latin typeface="Georgia"/>
              </a:rPr>
              <a:t>Sample Evidence (accept close matches)</a:t>
            </a:r>
          </a:p>
        </p:txBody>
      </p:sp>
      <p:sp>
        <p:nvSpPr>
          <p:cNvPr id="7" name="Rounded Rectangle 6"/>
          <p:cNvSpPr/>
          <p:nvPr/>
        </p:nvSpPr>
        <p:spPr>
          <a:xfrm>
            <a:off x="411480" y="137160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10972800" cy="411480"/>
          </a:xfrm>
          <a:prstGeom prst="rect">
            <a:avLst/>
          </a:prstGeom>
          <a:noFill/>
        </p:spPr>
        <p:txBody>
          <a:bodyPr wrap="square">
            <a:spAutoFit/>
          </a:bodyPr>
          <a:lstStyle/>
          <a:p>
            <a:pPr algn="l"/>
            <a:r>
              <a:rPr sz="1500" b="0">
                <a:solidFill>
                  <a:srgbClr val="1F2937"/>
                </a:solidFill>
                <a:latin typeface="Calibri"/>
              </a:rPr>
              <a:t>A → “They had practiced… turned a storm delay into learning.”</a:t>
            </a:r>
          </a:p>
        </p:txBody>
      </p:sp>
      <p:sp>
        <p:nvSpPr>
          <p:cNvPr id="9" name="Rounded Rectangle 8"/>
          <p:cNvSpPr/>
          <p:nvPr/>
        </p:nvSpPr>
        <p:spPr>
          <a:xfrm>
            <a:off x="411480" y="224028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80"/>
            <a:ext cx="10972800" cy="411480"/>
          </a:xfrm>
          <a:prstGeom prst="rect">
            <a:avLst/>
          </a:prstGeom>
          <a:noFill/>
        </p:spPr>
        <p:txBody>
          <a:bodyPr wrap="square">
            <a:spAutoFit/>
          </a:bodyPr>
          <a:lstStyle/>
          <a:p>
            <a:pPr algn="l"/>
            <a:r>
              <a:rPr sz="1500" b="0">
                <a:solidFill>
                  <a:srgbClr val="1F2937"/>
                </a:solidFill>
                <a:latin typeface="Calibri"/>
              </a:rPr>
              <a:t>B → “If we finish this reading together, nobody loses progress.”</a:t>
            </a:r>
          </a:p>
        </p:txBody>
      </p:sp>
      <p:sp>
        <p:nvSpPr>
          <p:cNvPr id="11" name="Rounded Rectangle 10"/>
          <p:cNvSpPr/>
          <p:nvPr/>
        </p:nvSpPr>
        <p:spPr>
          <a:xfrm>
            <a:off x="411480" y="310896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37560"/>
            <a:ext cx="10972800" cy="411480"/>
          </a:xfrm>
          <a:prstGeom prst="rect">
            <a:avLst/>
          </a:prstGeom>
          <a:noFill/>
        </p:spPr>
        <p:txBody>
          <a:bodyPr wrap="square">
            <a:spAutoFit/>
          </a:bodyPr>
          <a:lstStyle/>
          <a:p>
            <a:pPr algn="l"/>
            <a:r>
              <a:rPr sz="1500" b="0">
                <a:solidFill>
                  <a:srgbClr val="1F2937"/>
                </a:solidFill>
                <a:latin typeface="Calibri"/>
              </a:rPr>
              <a:t>C → “Maya already underlining the first paragraph.”</a:t>
            </a:r>
          </a:p>
        </p:txBody>
      </p:sp>
      <p:sp>
        <p:nvSpPr>
          <p:cNvPr id="13" name="Rounded Rectangle 12"/>
          <p:cNvSpPr/>
          <p:nvPr/>
        </p:nvSpPr>
        <p:spPr>
          <a:xfrm>
            <a:off x="411480" y="3977639"/>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206239"/>
            <a:ext cx="10972800" cy="411480"/>
          </a:xfrm>
          <a:prstGeom prst="rect">
            <a:avLst/>
          </a:prstGeom>
          <a:noFill/>
        </p:spPr>
        <p:txBody>
          <a:bodyPr wrap="square">
            <a:spAutoFit/>
          </a:bodyPr>
          <a:lstStyle/>
          <a:p>
            <a:pPr algn="l"/>
            <a:r>
              <a:rPr sz="1500" b="0">
                <a:solidFill>
                  <a:srgbClr val="1F2937"/>
                </a:solidFill>
                <a:latin typeface="Calibri"/>
              </a:rPr>
              <a:t>D → “What does the author want us to notice?” / “The room shifted.”</a:t>
            </a:r>
          </a:p>
        </p:txBody>
      </p:sp>
      <p:sp>
        <p:nvSpPr>
          <p:cNvPr id="15" name="Rounded Rectangle 14"/>
          <p:cNvSpPr/>
          <p:nvPr/>
        </p:nvSpPr>
        <p:spPr>
          <a:xfrm>
            <a:off x="411480" y="484632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074920"/>
            <a:ext cx="10972800" cy="411480"/>
          </a:xfrm>
          <a:prstGeom prst="rect">
            <a:avLst/>
          </a:prstGeom>
          <a:noFill/>
        </p:spPr>
        <p:txBody>
          <a:bodyPr wrap="square">
            <a:spAutoFit/>
          </a:bodyPr>
          <a:lstStyle/>
          <a:p>
            <a:pPr algn="l"/>
            <a:r>
              <a:rPr sz="1500" b="0">
                <a:solidFill>
                  <a:srgbClr val="1F2937"/>
                </a:solidFill>
                <a:latin typeface="Calibri"/>
              </a:rPr>
              <a:t>E → “Small choices… had turned a storm delay into learning.”</a:t>
            </a:r>
          </a:p>
        </p:txBody>
      </p:sp>
      <p:sp>
        <p:nvSpPr>
          <p:cNvPr id="17" name="Rectangle 16"/>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4–11 min</a:t>
            </a:r>
          </a:p>
        </p:txBody>
      </p:sp>
      <p:sp>
        <p:nvSpPr>
          <p:cNvPr id="19" name="TextBox 1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8/30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SKILL MINI</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8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Reading Toolkit (Grade 7)</a:t>
            </a:r>
          </a:p>
        </p:txBody>
      </p:sp>
      <p:sp>
        <p:nvSpPr>
          <p:cNvPr id="9" name="Rounded Rectangle 8"/>
          <p:cNvSpPr/>
          <p:nvPr/>
        </p:nvSpPr>
        <p:spPr>
          <a:xfrm>
            <a:off x="411480" y="1371600"/>
            <a:ext cx="562356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371600"/>
            <a:ext cx="5623560" cy="50292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463040"/>
            <a:ext cx="5212080" cy="365760"/>
          </a:xfrm>
          <a:prstGeom prst="rect">
            <a:avLst/>
          </a:prstGeom>
          <a:noFill/>
        </p:spPr>
        <p:txBody>
          <a:bodyPr wrap="square">
            <a:spAutoFit/>
          </a:bodyPr>
          <a:lstStyle/>
          <a:p>
            <a:pPr algn="l"/>
            <a:r>
              <a:rPr sz="1800" b="1">
                <a:solidFill>
                  <a:srgbClr val="FFFFFF"/>
                </a:solidFill>
                <a:latin typeface="Calibri"/>
              </a:rPr>
              <a:t>Main Idea</a:t>
            </a:r>
          </a:p>
        </p:txBody>
      </p:sp>
      <p:sp>
        <p:nvSpPr>
          <p:cNvPr id="12" name="TextBox 11"/>
          <p:cNvSpPr txBox="1"/>
          <p:nvPr/>
        </p:nvSpPr>
        <p:spPr>
          <a:xfrm>
            <a:off x="640080" y="2103120"/>
            <a:ext cx="5212080" cy="1097280"/>
          </a:xfrm>
          <a:prstGeom prst="rect">
            <a:avLst/>
          </a:prstGeom>
          <a:noFill/>
        </p:spPr>
        <p:txBody>
          <a:bodyPr wrap="square">
            <a:spAutoFit/>
          </a:bodyPr>
          <a:lstStyle/>
          <a:p>
            <a:pPr algn="l"/>
            <a:r>
              <a:rPr sz="1500" b="0">
                <a:solidFill>
                  <a:srgbClr val="1F2937"/>
                </a:solidFill>
                <a:latin typeface="Calibri"/>
              </a:rPr>
              <a:t>What is the passage mostly about?
One sentence. No side stories.</a:t>
            </a:r>
          </a:p>
        </p:txBody>
      </p:sp>
      <p:sp>
        <p:nvSpPr>
          <p:cNvPr id="13" name="Rounded Rectangle 12"/>
          <p:cNvSpPr/>
          <p:nvPr/>
        </p:nvSpPr>
        <p:spPr>
          <a:xfrm>
            <a:off x="6263640" y="1371600"/>
            <a:ext cx="562356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371600"/>
            <a:ext cx="5623560" cy="5029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463040"/>
            <a:ext cx="5212080" cy="365760"/>
          </a:xfrm>
          <a:prstGeom prst="rect">
            <a:avLst/>
          </a:prstGeom>
          <a:noFill/>
        </p:spPr>
        <p:txBody>
          <a:bodyPr wrap="square">
            <a:spAutoFit/>
          </a:bodyPr>
          <a:lstStyle/>
          <a:p>
            <a:pPr algn="l"/>
            <a:r>
              <a:rPr sz="1800" b="1">
                <a:solidFill>
                  <a:srgbClr val="FFFFFF"/>
                </a:solidFill>
                <a:latin typeface="Calibri"/>
              </a:rPr>
              <a:t>Key Details</a:t>
            </a:r>
          </a:p>
        </p:txBody>
      </p:sp>
      <p:sp>
        <p:nvSpPr>
          <p:cNvPr id="16" name="TextBox 15"/>
          <p:cNvSpPr txBox="1"/>
          <p:nvPr/>
        </p:nvSpPr>
        <p:spPr>
          <a:xfrm>
            <a:off x="6492240" y="2103120"/>
            <a:ext cx="5212080" cy="1097280"/>
          </a:xfrm>
          <a:prstGeom prst="rect">
            <a:avLst/>
          </a:prstGeom>
          <a:noFill/>
        </p:spPr>
        <p:txBody>
          <a:bodyPr wrap="square">
            <a:spAutoFit/>
          </a:bodyPr>
          <a:lstStyle/>
          <a:p>
            <a:pPr algn="l"/>
            <a:r>
              <a:rPr sz="1500" b="0">
                <a:solidFill>
                  <a:srgbClr val="1F2937"/>
                </a:solidFill>
                <a:latin typeface="Calibri"/>
              </a:rPr>
              <a:t>Which moments prove the main idea?
Look for actions + dialogue.</a:t>
            </a:r>
          </a:p>
        </p:txBody>
      </p:sp>
      <p:sp>
        <p:nvSpPr>
          <p:cNvPr id="17" name="Rounded Rectangle 16"/>
          <p:cNvSpPr/>
          <p:nvPr/>
        </p:nvSpPr>
        <p:spPr>
          <a:xfrm>
            <a:off x="411480" y="3657600"/>
            <a:ext cx="562356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657600"/>
            <a:ext cx="5623560" cy="5029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749040"/>
            <a:ext cx="5212080" cy="365760"/>
          </a:xfrm>
          <a:prstGeom prst="rect">
            <a:avLst/>
          </a:prstGeom>
          <a:noFill/>
        </p:spPr>
        <p:txBody>
          <a:bodyPr wrap="square">
            <a:spAutoFit/>
          </a:bodyPr>
          <a:lstStyle/>
          <a:p>
            <a:pPr algn="l"/>
            <a:r>
              <a:rPr sz="1800" b="1">
                <a:solidFill>
                  <a:srgbClr val="FFFFFF"/>
                </a:solidFill>
                <a:latin typeface="Calibri"/>
              </a:rPr>
              <a:t>Inference</a:t>
            </a:r>
          </a:p>
        </p:txBody>
      </p:sp>
      <p:sp>
        <p:nvSpPr>
          <p:cNvPr id="20" name="TextBox 19"/>
          <p:cNvSpPr txBox="1"/>
          <p:nvPr/>
        </p:nvSpPr>
        <p:spPr>
          <a:xfrm>
            <a:off x="640080" y="4389120"/>
            <a:ext cx="5212080" cy="1097280"/>
          </a:xfrm>
          <a:prstGeom prst="rect">
            <a:avLst/>
          </a:prstGeom>
          <a:noFill/>
        </p:spPr>
        <p:txBody>
          <a:bodyPr wrap="square">
            <a:spAutoFit/>
          </a:bodyPr>
          <a:lstStyle/>
          <a:p>
            <a:pPr algn="l"/>
            <a:r>
              <a:rPr sz="1500" b="0">
                <a:solidFill>
                  <a:srgbClr val="1F2937"/>
                </a:solidFill>
                <a:latin typeface="Calibri"/>
              </a:rPr>
              <a:t>What is suggested but not said?
Clue + your logic = inference.</a:t>
            </a:r>
          </a:p>
        </p:txBody>
      </p:sp>
      <p:sp>
        <p:nvSpPr>
          <p:cNvPr id="21" name="Rounded Rectangle 20"/>
          <p:cNvSpPr/>
          <p:nvPr/>
        </p:nvSpPr>
        <p:spPr>
          <a:xfrm>
            <a:off x="6263640" y="3657600"/>
            <a:ext cx="562356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3657600"/>
            <a:ext cx="5623560" cy="50292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749040"/>
            <a:ext cx="5212080" cy="365760"/>
          </a:xfrm>
          <a:prstGeom prst="rect">
            <a:avLst/>
          </a:prstGeom>
          <a:noFill/>
        </p:spPr>
        <p:txBody>
          <a:bodyPr wrap="square">
            <a:spAutoFit/>
          </a:bodyPr>
          <a:lstStyle/>
          <a:p>
            <a:pPr algn="l"/>
            <a:r>
              <a:rPr sz="1800" b="1">
                <a:solidFill>
                  <a:srgbClr val="FFFFFF"/>
                </a:solidFill>
                <a:latin typeface="Calibri"/>
              </a:rPr>
              <a:t>Author’s Purpose</a:t>
            </a:r>
          </a:p>
        </p:txBody>
      </p:sp>
      <p:sp>
        <p:nvSpPr>
          <p:cNvPr id="24" name="TextBox 23"/>
          <p:cNvSpPr txBox="1"/>
          <p:nvPr/>
        </p:nvSpPr>
        <p:spPr>
          <a:xfrm>
            <a:off x="6492240" y="4389120"/>
            <a:ext cx="5212080" cy="1097280"/>
          </a:xfrm>
          <a:prstGeom prst="rect">
            <a:avLst/>
          </a:prstGeom>
          <a:noFill/>
        </p:spPr>
        <p:txBody>
          <a:bodyPr wrap="square">
            <a:spAutoFit/>
          </a:bodyPr>
          <a:lstStyle/>
          <a:p>
            <a:pPr algn="l"/>
            <a:r>
              <a:rPr sz="1500" b="0">
                <a:solidFill>
                  <a:srgbClr val="1F2937"/>
                </a:solidFill>
                <a:latin typeface="Calibri"/>
              </a:rPr>
              <a:t>Why write this?
Inform / persuade / entertain?</a:t>
            </a:r>
          </a:p>
        </p:txBody>
      </p:sp>
      <p:sp>
        <p:nvSpPr>
          <p:cNvPr id="25" name="Rectangle 24"/>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11–19 min</a:t>
            </a:r>
          </a:p>
        </p:txBody>
      </p:sp>
      <p:sp>
        <p:nvSpPr>
          <p:cNvPr id="27" name="TextBox 2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9/30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ANNOTATION</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Mark the Passage Like a Pro</a:t>
            </a:r>
          </a:p>
        </p:txBody>
      </p:sp>
      <p:sp>
        <p:nvSpPr>
          <p:cNvPr id="7" name="Rounded Rectangle 6"/>
          <p:cNvSpPr/>
          <p:nvPr/>
        </p:nvSpPr>
        <p:spPr>
          <a:xfrm>
            <a:off x="41148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234440" y="1737360"/>
            <a:ext cx="1097280" cy="1097280"/>
          </a:xfrm>
          <a:prstGeom prst="ellipse">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1097280" cy="640080"/>
          </a:xfrm>
          <a:prstGeom prst="rect">
            <a:avLst/>
          </a:prstGeom>
          <a:noFill/>
        </p:spPr>
        <p:txBody>
          <a:bodyPr wrap="square">
            <a:spAutoFit/>
          </a:bodyPr>
          <a:lstStyle/>
          <a:p>
            <a:pPr algn="ctr"/>
            <a:r>
              <a:rPr sz="2600" b="1">
                <a:solidFill>
                  <a:srgbClr val="FFFFFF"/>
                </a:solidFill>
                <a:latin typeface="Calibri"/>
              </a:rPr>
              <a:t>★</a:t>
            </a:r>
          </a:p>
        </p:txBody>
      </p:sp>
      <p:sp>
        <p:nvSpPr>
          <p:cNvPr id="10" name="TextBox 9"/>
          <p:cNvSpPr txBox="1"/>
          <p:nvPr/>
        </p:nvSpPr>
        <p:spPr>
          <a:xfrm>
            <a:off x="548640" y="3108960"/>
            <a:ext cx="2514600" cy="411480"/>
          </a:xfrm>
          <a:prstGeom prst="rect">
            <a:avLst/>
          </a:prstGeom>
          <a:noFill/>
        </p:spPr>
        <p:txBody>
          <a:bodyPr wrap="square">
            <a:spAutoFit/>
          </a:bodyPr>
          <a:lstStyle/>
          <a:p>
            <a:pPr algn="ctr"/>
            <a:r>
              <a:rPr sz="2000" b="1">
                <a:solidFill>
                  <a:srgbClr val="0F2C59"/>
                </a:solidFill>
                <a:latin typeface="Calibri"/>
              </a:rPr>
              <a:t>Star</a:t>
            </a:r>
          </a:p>
        </p:txBody>
      </p:sp>
      <p:sp>
        <p:nvSpPr>
          <p:cNvPr id="11" name="TextBox 10"/>
          <p:cNvSpPr txBox="1"/>
          <p:nvPr/>
        </p:nvSpPr>
        <p:spPr>
          <a:xfrm>
            <a:off x="548640" y="3749039"/>
            <a:ext cx="2514600" cy="1097280"/>
          </a:xfrm>
          <a:prstGeom prst="rect">
            <a:avLst/>
          </a:prstGeom>
          <a:noFill/>
        </p:spPr>
        <p:txBody>
          <a:bodyPr wrap="square">
            <a:spAutoFit/>
          </a:bodyPr>
          <a:lstStyle/>
          <a:p>
            <a:pPr algn="ctr"/>
            <a:r>
              <a:rPr sz="1500" b="0">
                <a:solidFill>
                  <a:srgbClr val="64748B"/>
                </a:solidFill>
                <a:latin typeface="Calibri"/>
              </a:rPr>
              <a:t>Main idea moment</a:t>
            </a:r>
          </a:p>
        </p:txBody>
      </p:sp>
      <p:sp>
        <p:nvSpPr>
          <p:cNvPr id="12" name="Rounded Rectangle 11"/>
          <p:cNvSpPr/>
          <p:nvPr/>
        </p:nvSpPr>
        <p:spPr>
          <a:xfrm>
            <a:off x="333756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160520" y="1737360"/>
            <a:ext cx="1097280" cy="109728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1965960"/>
            <a:ext cx="1097280" cy="640080"/>
          </a:xfrm>
          <a:prstGeom prst="rect">
            <a:avLst/>
          </a:prstGeom>
          <a:noFill/>
        </p:spPr>
        <p:txBody>
          <a:bodyPr wrap="square">
            <a:spAutoFit/>
          </a:bodyPr>
          <a:lstStyle/>
          <a:p>
            <a:pPr algn="ctr"/>
            <a:r>
              <a:rPr sz="2600" b="1">
                <a:solidFill>
                  <a:srgbClr val="FFFFFF"/>
                </a:solidFill>
                <a:latin typeface="Calibri"/>
              </a:rPr>
              <a:t>—</a:t>
            </a:r>
          </a:p>
        </p:txBody>
      </p:sp>
      <p:sp>
        <p:nvSpPr>
          <p:cNvPr id="15" name="TextBox 14"/>
          <p:cNvSpPr txBox="1"/>
          <p:nvPr/>
        </p:nvSpPr>
        <p:spPr>
          <a:xfrm>
            <a:off x="3474720" y="3108960"/>
            <a:ext cx="2514600" cy="411480"/>
          </a:xfrm>
          <a:prstGeom prst="rect">
            <a:avLst/>
          </a:prstGeom>
          <a:noFill/>
        </p:spPr>
        <p:txBody>
          <a:bodyPr wrap="square">
            <a:spAutoFit/>
          </a:bodyPr>
          <a:lstStyle/>
          <a:p>
            <a:pPr algn="ctr"/>
            <a:r>
              <a:rPr sz="2000" b="1">
                <a:solidFill>
                  <a:srgbClr val="0F2C59"/>
                </a:solidFill>
                <a:latin typeface="Calibri"/>
              </a:rPr>
              <a:t>Underline</a:t>
            </a:r>
          </a:p>
        </p:txBody>
      </p:sp>
      <p:sp>
        <p:nvSpPr>
          <p:cNvPr id="16" name="TextBox 15"/>
          <p:cNvSpPr txBox="1"/>
          <p:nvPr/>
        </p:nvSpPr>
        <p:spPr>
          <a:xfrm>
            <a:off x="3474720" y="3749039"/>
            <a:ext cx="2514600" cy="1097280"/>
          </a:xfrm>
          <a:prstGeom prst="rect">
            <a:avLst/>
          </a:prstGeom>
          <a:noFill/>
        </p:spPr>
        <p:txBody>
          <a:bodyPr wrap="square">
            <a:spAutoFit/>
          </a:bodyPr>
          <a:lstStyle/>
          <a:p>
            <a:pPr algn="ctr"/>
            <a:r>
              <a:rPr sz="1500" b="0">
                <a:solidFill>
                  <a:srgbClr val="64748B"/>
                </a:solidFill>
                <a:latin typeface="Calibri"/>
              </a:rPr>
              <a:t>Evidence you’ll quote</a:t>
            </a:r>
          </a:p>
        </p:txBody>
      </p:sp>
      <p:sp>
        <p:nvSpPr>
          <p:cNvPr id="17" name="Rounded Rectangle 16"/>
          <p:cNvSpPr/>
          <p:nvPr/>
        </p:nvSpPr>
        <p:spPr>
          <a:xfrm>
            <a:off x="626364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086600" y="1737360"/>
            <a:ext cx="1097280" cy="1097280"/>
          </a:xfrm>
          <a:prstGeom prst="ellipse">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600" y="1965960"/>
            <a:ext cx="1097280" cy="640080"/>
          </a:xfrm>
          <a:prstGeom prst="rect">
            <a:avLst/>
          </a:prstGeom>
          <a:noFill/>
        </p:spPr>
        <p:txBody>
          <a:bodyPr wrap="square">
            <a:spAutoFit/>
          </a:bodyPr>
          <a:lstStyle/>
          <a:p>
            <a:pPr algn="ctr"/>
            <a:r>
              <a:rPr sz="2600" b="1">
                <a:solidFill>
                  <a:srgbClr val="FFFFFF"/>
                </a:solidFill>
                <a:latin typeface="Calibri"/>
              </a:rPr>
              <a:t>?</a:t>
            </a:r>
          </a:p>
        </p:txBody>
      </p:sp>
      <p:sp>
        <p:nvSpPr>
          <p:cNvPr id="20" name="TextBox 19"/>
          <p:cNvSpPr txBox="1"/>
          <p:nvPr/>
        </p:nvSpPr>
        <p:spPr>
          <a:xfrm>
            <a:off x="6400800" y="3108960"/>
            <a:ext cx="2514600" cy="411480"/>
          </a:xfrm>
          <a:prstGeom prst="rect">
            <a:avLst/>
          </a:prstGeom>
          <a:noFill/>
        </p:spPr>
        <p:txBody>
          <a:bodyPr wrap="square">
            <a:spAutoFit/>
          </a:bodyPr>
          <a:lstStyle/>
          <a:p>
            <a:pPr algn="ctr"/>
            <a:r>
              <a:rPr sz="2000" b="1">
                <a:solidFill>
                  <a:srgbClr val="0F2C59"/>
                </a:solidFill>
                <a:latin typeface="Calibri"/>
              </a:rPr>
              <a:t>Question</a:t>
            </a:r>
          </a:p>
        </p:txBody>
      </p:sp>
      <p:sp>
        <p:nvSpPr>
          <p:cNvPr id="21" name="TextBox 20"/>
          <p:cNvSpPr txBox="1"/>
          <p:nvPr/>
        </p:nvSpPr>
        <p:spPr>
          <a:xfrm>
            <a:off x="6400800" y="3749039"/>
            <a:ext cx="2514600" cy="1097280"/>
          </a:xfrm>
          <a:prstGeom prst="rect">
            <a:avLst/>
          </a:prstGeom>
          <a:noFill/>
        </p:spPr>
        <p:txBody>
          <a:bodyPr wrap="square">
            <a:spAutoFit/>
          </a:bodyPr>
          <a:lstStyle/>
          <a:p>
            <a:pPr algn="ctr"/>
            <a:r>
              <a:rPr sz="1500" b="0">
                <a:solidFill>
                  <a:srgbClr val="64748B"/>
                </a:solidFill>
                <a:latin typeface="Calibri"/>
              </a:rPr>
              <a:t>Confusing line</a:t>
            </a:r>
          </a:p>
        </p:txBody>
      </p:sp>
      <p:sp>
        <p:nvSpPr>
          <p:cNvPr id="22" name="Rounded Rectangle 21"/>
          <p:cNvSpPr/>
          <p:nvPr/>
        </p:nvSpPr>
        <p:spPr>
          <a:xfrm>
            <a:off x="918972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12680" y="1737360"/>
            <a:ext cx="1097280" cy="1097280"/>
          </a:xfrm>
          <a:prstGeom prst="ellipse">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12680" y="1965960"/>
            <a:ext cx="1097280" cy="640080"/>
          </a:xfrm>
          <a:prstGeom prst="rect">
            <a:avLst/>
          </a:prstGeom>
          <a:noFill/>
        </p:spPr>
        <p:txBody>
          <a:bodyPr wrap="square">
            <a:spAutoFit/>
          </a:bodyPr>
          <a:lstStyle/>
          <a:p>
            <a:pPr algn="ctr"/>
            <a:r>
              <a:rPr sz="2600" b="1">
                <a:solidFill>
                  <a:srgbClr val="FFFFFF"/>
                </a:solidFill>
                <a:latin typeface="Calibri"/>
              </a:rPr>
              <a:t>!</a:t>
            </a:r>
          </a:p>
        </p:txBody>
      </p:sp>
      <p:sp>
        <p:nvSpPr>
          <p:cNvPr id="25" name="TextBox 24"/>
          <p:cNvSpPr txBox="1"/>
          <p:nvPr/>
        </p:nvSpPr>
        <p:spPr>
          <a:xfrm>
            <a:off x="9326880" y="3108960"/>
            <a:ext cx="2514600" cy="411480"/>
          </a:xfrm>
          <a:prstGeom prst="rect">
            <a:avLst/>
          </a:prstGeom>
          <a:noFill/>
        </p:spPr>
        <p:txBody>
          <a:bodyPr wrap="square">
            <a:spAutoFit/>
          </a:bodyPr>
          <a:lstStyle/>
          <a:p>
            <a:pPr algn="ctr"/>
            <a:r>
              <a:rPr sz="2000" b="1">
                <a:solidFill>
                  <a:srgbClr val="0F2C59"/>
                </a:solidFill>
                <a:latin typeface="Calibri"/>
              </a:rPr>
              <a:t>Aha</a:t>
            </a:r>
          </a:p>
        </p:txBody>
      </p:sp>
      <p:sp>
        <p:nvSpPr>
          <p:cNvPr id="26" name="TextBox 25"/>
          <p:cNvSpPr txBox="1"/>
          <p:nvPr/>
        </p:nvSpPr>
        <p:spPr>
          <a:xfrm>
            <a:off x="9326880" y="3749039"/>
            <a:ext cx="2514600" cy="1097280"/>
          </a:xfrm>
          <a:prstGeom prst="rect">
            <a:avLst/>
          </a:prstGeom>
          <a:noFill/>
        </p:spPr>
        <p:txBody>
          <a:bodyPr wrap="square">
            <a:spAutoFit/>
          </a:bodyPr>
          <a:lstStyle/>
          <a:p>
            <a:pPr algn="ctr"/>
            <a:r>
              <a:rPr sz="1500" b="0">
                <a:solidFill>
                  <a:srgbClr val="64748B"/>
                </a:solidFill>
                <a:latin typeface="Calibri"/>
              </a:rPr>
              <a:t>Tone / shift / surprise</a:t>
            </a:r>
          </a:p>
        </p:txBody>
      </p:sp>
      <p:sp>
        <p:nvSpPr>
          <p:cNvPr id="27" name="Rectangle 26"/>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11–19 min</a:t>
            </a:r>
          </a:p>
        </p:txBody>
      </p:sp>
      <p:sp>
        <p:nvSpPr>
          <p:cNvPr id="29" name="TextBox 2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10/30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0698480" cy="365760"/>
          </a:xfrm>
          <a:prstGeom prst="rect">
            <a:avLst/>
          </a:prstGeom>
          <a:noFill/>
        </p:spPr>
        <p:txBody>
          <a:bodyPr wrap="square">
            <a:spAutoFit/>
          </a:bodyPr>
          <a:lstStyle/>
          <a:p>
            <a:pPr algn="ctr"/>
            <a:r>
              <a:rPr sz="1600" b="1">
                <a:solidFill>
                  <a:srgbClr val="F5B301"/>
                </a:solidFill>
                <a:latin typeface="Calibri"/>
              </a:rPr>
              <a:t>GAME 2  •  SAME PASSAGE, DEEPER THINKING</a:t>
            </a:r>
          </a:p>
        </p:txBody>
      </p:sp>
      <p:sp>
        <p:nvSpPr>
          <p:cNvPr id="5" name="TextBox 4"/>
          <p:cNvSpPr txBox="1"/>
          <p:nvPr/>
        </p:nvSpPr>
        <p:spPr>
          <a:xfrm>
            <a:off x="731520" y="2377440"/>
            <a:ext cx="10698480" cy="914400"/>
          </a:xfrm>
          <a:prstGeom prst="rect">
            <a:avLst/>
          </a:prstGeom>
          <a:noFill/>
        </p:spPr>
        <p:txBody>
          <a:bodyPr wrap="square">
            <a:spAutoFit/>
          </a:bodyPr>
          <a:lstStyle/>
          <a:p>
            <a:pPr algn="ctr"/>
            <a:r>
              <a:rPr sz="4400" b="1">
                <a:solidFill>
                  <a:srgbClr val="FFFFFF"/>
                </a:solidFill>
                <a:latin typeface="Georgia"/>
              </a:rPr>
              <a:t>Inference Relay</a:t>
            </a:r>
          </a:p>
        </p:txBody>
      </p:sp>
      <p:sp>
        <p:nvSpPr>
          <p:cNvPr id="6" name="TextBox 5"/>
          <p:cNvSpPr txBox="1"/>
          <p:nvPr/>
        </p:nvSpPr>
        <p:spPr>
          <a:xfrm>
            <a:off x="731520" y="3474720"/>
            <a:ext cx="10698480" cy="457200"/>
          </a:xfrm>
          <a:prstGeom prst="rect">
            <a:avLst/>
          </a:prstGeom>
          <a:noFill/>
        </p:spPr>
        <p:txBody>
          <a:bodyPr wrap="square">
            <a:spAutoFit/>
          </a:bodyPr>
          <a:lstStyle/>
          <a:p>
            <a:pPr algn="ctr"/>
            <a:r>
              <a:rPr sz="1800" b="0">
                <a:solidFill>
                  <a:srgbClr val="BFDBFE"/>
                </a:solidFill>
                <a:latin typeface="Calibri"/>
              </a:rPr>
              <a:t>What can you figure out that the author never says directly?</a:t>
            </a:r>
          </a:p>
        </p:txBody>
      </p:sp>
      <p:sp>
        <p:nvSpPr>
          <p:cNvPr id="7" name="TextBox 6"/>
          <p:cNvSpPr txBox="1"/>
          <p:nvPr/>
        </p:nvSpPr>
        <p:spPr>
          <a:xfrm>
            <a:off x="731520" y="4206240"/>
            <a:ext cx="10698480" cy="365760"/>
          </a:xfrm>
          <a:prstGeom prst="rect">
            <a:avLst/>
          </a:prstGeom>
          <a:noFill/>
        </p:spPr>
        <p:txBody>
          <a:bodyPr wrap="square">
            <a:spAutoFit/>
          </a:bodyPr>
          <a:lstStyle/>
          <a:p>
            <a:pPr algn="ctr"/>
            <a:r>
              <a:rPr sz="1600" b="0">
                <a:solidFill>
                  <a:srgbClr val="F5B301"/>
                </a:solidFill>
                <a:latin typeface="Calibri"/>
              </a:rPr>
              <a:t>7 minutes  •  Syllabus skill: Make inferences (RL/RI.7.1)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SYLLABUS GAME</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7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400" b="1">
                <a:solidFill>
                  <a:srgbClr val="0F2C59"/>
                </a:solidFill>
                <a:latin typeface="Georgia"/>
              </a:rPr>
              <a:t>Inference Relay — From Our Storm Story</a:t>
            </a:r>
          </a:p>
        </p:txBody>
      </p:sp>
      <p:sp>
        <p:nvSpPr>
          <p:cNvPr id="9" name="TextBox 8"/>
          <p:cNvSpPr txBox="1"/>
          <p:nvPr/>
        </p:nvSpPr>
        <p:spPr>
          <a:xfrm>
            <a:off x="411480" y="1280160"/>
            <a:ext cx="10972800" cy="320040"/>
          </a:xfrm>
          <a:prstGeom prst="rect">
            <a:avLst/>
          </a:prstGeom>
          <a:noFill/>
        </p:spPr>
        <p:txBody>
          <a:bodyPr wrap="square">
            <a:spAutoFit/>
          </a:bodyPr>
          <a:lstStyle/>
          <a:p>
            <a:pPr algn="l"/>
            <a:r>
              <a:rPr sz="1400" b="0">
                <a:solidFill>
                  <a:srgbClr val="64748B"/>
                </a:solidFill>
                <a:latin typeface="Calibri"/>
              </a:rPr>
              <a:t>Say: (1) your inference  (2) the clue words  (3) why the clue fits</a:t>
            </a:r>
          </a:p>
        </p:txBody>
      </p:sp>
      <p:sp>
        <p:nvSpPr>
          <p:cNvPr id="10" name="Rounded Rectangle 9"/>
          <p:cNvSpPr/>
          <p:nvPr/>
        </p:nvSpPr>
        <p:spPr>
          <a:xfrm>
            <a:off x="411480" y="1737360"/>
            <a:ext cx="562356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965960"/>
            <a:ext cx="5212080" cy="320040"/>
          </a:xfrm>
          <a:prstGeom prst="rect">
            <a:avLst/>
          </a:prstGeom>
          <a:noFill/>
        </p:spPr>
        <p:txBody>
          <a:bodyPr wrap="square">
            <a:spAutoFit/>
          </a:bodyPr>
          <a:lstStyle/>
          <a:p>
            <a:pPr algn="l"/>
            <a:r>
              <a:rPr sz="1600" b="1">
                <a:solidFill>
                  <a:srgbClr val="F5B301"/>
                </a:solidFill>
                <a:latin typeface="Calibri"/>
              </a:rPr>
              <a:t>Relay 1</a:t>
            </a:r>
          </a:p>
        </p:txBody>
      </p:sp>
      <p:sp>
        <p:nvSpPr>
          <p:cNvPr id="12" name="TextBox 11"/>
          <p:cNvSpPr txBox="1"/>
          <p:nvPr/>
        </p:nvSpPr>
        <p:spPr>
          <a:xfrm>
            <a:off x="640080" y="2423160"/>
            <a:ext cx="5212080" cy="822960"/>
          </a:xfrm>
          <a:prstGeom prst="rect">
            <a:avLst/>
          </a:prstGeom>
          <a:noFill/>
        </p:spPr>
        <p:txBody>
          <a:bodyPr wrap="square">
            <a:spAutoFit/>
          </a:bodyPr>
          <a:lstStyle/>
          <a:p>
            <a:pPr algn="l"/>
            <a:r>
              <a:rPr sz="1400" b="0">
                <a:solidFill>
                  <a:srgbClr val="1F2937"/>
                </a:solidFill>
                <a:latin typeface="Calibri"/>
              </a:rPr>
              <a:t>Clue: “Jordan frowned at the dark projector…”</a:t>
            </a:r>
          </a:p>
        </p:txBody>
      </p:sp>
      <p:sp>
        <p:nvSpPr>
          <p:cNvPr id="13" name="Rounded Rectangle 12"/>
          <p:cNvSpPr/>
          <p:nvPr/>
        </p:nvSpPr>
        <p:spPr>
          <a:xfrm>
            <a:off x="6263640" y="1737360"/>
            <a:ext cx="562356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965960"/>
            <a:ext cx="5212080" cy="320040"/>
          </a:xfrm>
          <a:prstGeom prst="rect">
            <a:avLst/>
          </a:prstGeom>
          <a:noFill/>
        </p:spPr>
        <p:txBody>
          <a:bodyPr wrap="square">
            <a:spAutoFit/>
          </a:bodyPr>
          <a:lstStyle/>
          <a:p>
            <a:pPr algn="l"/>
            <a:r>
              <a:rPr sz="1600" b="1">
                <a:solidFill>
                  <a:srgbClr val="F5B301"/>
                </a:solidFill>
                <a:latin typeface="Calibri"/>
              </a:rPr>
              <a:t>Relay 2</a:t>
            </a:r>
          </a:p>
        </p:txBody>
      </p:sp>
      <p:sp>
        <p:nvSpPr>
          <p:cNvPr id="15" name="TextBox 14"/>
          <p:cNvSpPr txBox="1"/>
          <p:nvPr/>
        </p:nvSpPr>
        <p:spPr>
          <a:xfrm>
            <a:off x="6492240" y="2423160"/>
            <a:ext cx="5212080" cy="822960"/>
          </a:xfrm>
          <a:prstGeom prst="rect">
            <a:avLst/>
          </a:prstGeom>
          <a:noFill/>
        </p:spPr>
        <p:txBody>
          <a:bodyPr wrap="square">
            <a:spAutoFit/>
          </a:bodyPr>
          <a:lstStyle/>
          <a:p>
            <a:pPr algn="l"/>
            <a:r>
              <a:rPr sz="1400" b="0">
                <a:solidFill>
                  <a:srgbClr val="1F2937"/>
                </a:solidFill>
                <a:latin typeface="Calibri"/>
              </a:rPr>
              <a:t>Clue: “whispers rose—until someone asked a real question”</a:t>
            </a:r>
          </a:p>
        </p:txBody>
      </p:sp>
      <p:sp>
        <p:nvSpPr>
          <p:cNvPr id="16" name="Rounded Rectangle 15"/>
          <p:cNvSpPr/>
          <p:nvPr/>
        </p:nvSpPr>
        <p:spPr>
          <a:xfrm>
            <a:off x="411480" y="3703320"/>
            <a:ext cx="562356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31920"/>
            <a:ext cx="5212080" cy="320040"/>
          </a:xfrm>
          <a:prstGeom prst="rect">
            <a:avLst/>
          </a:prstGeom>
          <a:noFill/>
        </p:spPr>
        <p:txBody>
          <a:bodyPr wrap="square">
            <a:spAutoFit/>
          </a:bodyPr>
          <a:lstStyle/>
          <a:p>
            <a:pPr algn="l"/>
            <a:r>
              <a:rPr sz="1600" b="1">
                <a:solidFill>
                  <a:srgbClr val="F5B301"/>
                </a:solidFill>
                <a:latin typeface="Calibri"/>
              </a:rPr>
              <a:t>Relay 3</a:t>
            </a:r>
          </a:p>
        </p:txBody>
      </p:sp>
      <p:sp>
        <p:nvSpPr>
          <p:cNvPr id="18" name="TextBox 17"/>
          <p:cNvSpPr txBox="1"/>
          <p:nvPr/>
        </p:nvSpPr>
        <p:spPr>
          <a:xfrm>
            <a:off x="640080" y="4389120"/>
            <a:ext cx="5212080" cy="822960"/>
          </a:xfrm>
          <a:prstGeom prst="rect">
            <a:avLst/>
          </a:prstGeom>
          <a:noFill/>
        </p:spPr>
        <p:txBody>
          <a:bodyPr wrap="square">
            <a:spAutoFit/>
          </a:bodyPr>
          <a:lstStyle/>
          <a:p>
            <a:pPr algn="l"/>
            <a:r>
              <a:rPr sz="1400" b="0">
                <a:solidFill>
                  <a:srgbClr val="1F2937"/>
                </a:solidFill>
                <a:latin typeface="Calibri"/>
              </a:rPr>
              <a:t>Clue: “When the lights flickered back on, the class had done more than wait.”</a:t>
            </a:r>
          </a:p>
        </p:txBody>
      </p:sp>
      <p:sp>
        <p:nvSpPr>
          <p:cNvPr id="19" name="Rounded Rectangle 18"/>
          <p:cNvSpPr/>
          <p:nvPr/>
        </p:nvSpPr>
        <p:spPr>
          <a:xfrm>
            <a:off x="6263640" y="3703320"/>
            <a:ext cx="5623560" cy="1783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3931920"/>
            <a:ext cx="5212080" cy="320040"/>
          </a:xfrm>
          <a:prstGeom prst="rect">
            <a:avLst/>
          </a:prstGeom>
          <a:noFill/>
        </p:spPr>
        <p:txBody>
          <a:bodyPr wrap="square">
            <a:spAutoFit/>
          </a:bodyPr>
          <a:lstStyle/>
          <a:p>
            <a:pPr algn="l"/>
            <a:r>
              <a:rPr sz="1600" b="1">
                <a:solidFill>
                  <a:srgbClr val="F5B301"/>
                </a:solidFill>
                <a:latin typeface="Calibri"/>
              </a:rPr>
              <a:t>Relay 4</a:t>
            </a:r>
          </a:p>
        </p:txBody>
      </p:sp>
      <p:sp>
        <p:nvSpPr>
          <p:cNvPr id="21" name="TextBox 20"/>
          <p:cNvSpPr txBox="1"/>
          <p:nvPr/>
        </p:nvSpPr>
        <p:spPr>
          <a:xfrm>
            <a:off x="6492240" y="4389120"/>
            <a:ext cx="5212080" cy="822960"/>
          </a:xfrm>
          <a:prstGeom prst="rect">
            <a:avLst/>
          </a:prstGeom>
          <a:noFill/>
        </p:spPr>
        <p:txBody>
          <a:bodyPr wrap="square">
            <a:spAutoFit/>
          </a:bodyPr>
          <a:lstStyle/>
          <a:p>
            <a:pPr algn="l"/>
            <a:r>
              <a:rPr sz="1400" b="0">
                <a:solidFill>
                  <a:srgbClr val="1F2937"/>
                </a:solidFill>
                <a:latin typeface="Calibri"/>
              </a:rPr>
              <a:t>Clue: “Ms. Reyes kept her voice calm… “nobody loses progress.””</a:t>
            </a:r>
          </a:p>
        </p:txBody>
      </p:sp>
      <p:sp>
        <p:nvSpPr>
          <p:cNvPr id="22" name="Rounded Rectangle 21"/>
          <p:cNvSpPr/>
          <p:nvPr/>
        </p:nvSpPr>
        <p:spPr>
          <a:xfrm>
            <a:off x="411480" y="5989320"/>
            <a:ext cx="11338560" cy="411480"/>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6062472"/>
            <a:ext cx="10972800" cy="320040"/>
          </a:xfrm>
          <a:prstGeom prst="rect">
            <a:avLst/>
          </a:prstGeom>
          <a:noFill/>
        </p:spPr>
        <p:txBody>
          <a:bodyPr wrap="square">
            <a:spAutoFit/>
          </a:bodyPr>
          <a:lstStyle/>
          <a:p>
            <a:pPr algn="l"/>
            <a:r>
              <a:rPr sz="1300" b="1">
                <a:solidFill>
                  <a:srgbClr val="0F2C59"/>
                </a:solidFill>
                <a:latin typeface="Calibri"/>
              </a:rPr>
              <a:t>Why this game?  Inferences must come from today’s passage — keeps reading + play connected.</a:t>
            </a:r>
          </a:p>
        </p:txBody>
      </p:sp>
      <p:sp>
        <p:nvSpPr>
          <p:cNvPr id="24" name="Rectangle 23"/>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19–26 min</a:t>
            </a:r>
          </a:p>
        </p:txBody>
      </p:sp>
      <p:sp>
        <p:nvSpPr>
          <p:cNvPr id="26" name="TextBox 25"/>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12/30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SAMPLE ANSWERS</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Strong Inference Examples</a:t>
            </a:r>
          </a:p>
        </p:txBody>
      </p:sp>
      <p:sp>
        <p:nvSpPr>
          <p:cNvPr id="7" name="Rounded Rectangle 6"/>
          <p:cNvSpPr/>
          <p:nvPr/>
        </p:nvSpPr>
        <p:spPr>
          <a:xfrm>
            <a:off x="411480" y="1417320"/>
            <a:ext cx="11338560" cy="96012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91640"/>
            <a:ext cx="10972800" cy="457200"/>
          </a:xfrm>
          <a:prstGeom prst="rect">
            <a:avLst/>
          </a:prstGeom>
          <a:noFill/>
        </p:spPr>
        <p:txBody>
          <a:bodyPr wrap="square">
            <a:spAutoFit/>
          </a:bodyPr>
          <a:lstStyle/>
          <a:p>
            <a:pPr algn="l"/>
            <a:r>
              <a:rPr sz="1600" b="0">
                <a:solidFill>
                  <a:srgbClr val="1F2937"/>
                </a:solidFill>
                <a:latin typeface="Calibri"/>
              </a:rPr>
              <a:t>1: Jordan feels frustrated/disappointed — clue: frowned + dark projector.</a:t>
            </a:r>
          </a:p>
        </p:txBody>
      </p:sp>
      <p:sp>
        <p:nvSpPr>
          <p:cNvPr id="9" name="Rounded Rectangle 8"/>
          <p:cNvSpPr/>
          <p:nvPr/>
        </p:nvSpPr>
        <p:spPr>
          <a:xfrm>
            <a:off x="411480" y="2514600"/>
            <a:ext cx="11338560" cy="960120"/>
          </a:xfrm>
          <a:prstGeom prst="round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788920"/>
            <a:ext cx="10972800" cy="457200"/>
          </a:xfrm>
          <a:prstGeom prst="rect">
            <a:avLst/>
          </a:prstGeom>
          <a:noFill/>
        </p:spPr>
        <p:txBody>
          <a:bodyPr wrap="square">
            <a:spAutoFit/>
          </a:bodyPr>
          <a:lstStyle/>
          <a:p>
            <a:pPr algn="l"/>
            <a:r>
              <a:rPr sz="1600" b="0">
                <a:solidFill>
                  <a:srgbClr val="1F2937"/>
                </a:solidFill>
                <a:latin typeface="Calibri"/>
              </a:rPr>
              <a:t>2: Students were off-task until a purposeful question refocused them.</a:t>
            </a:r>
          </a:p>
        </p:txBody>
      </p:sp>
      <p:sp>
        <p:nvSpPr>
          <p:cNvPr id="11" name="Rounded Rectangle 10"/>
          <p:cNvSpPr/>
          <p:nvPr/>
        </p:nvSpPr>
        <p:spPr>
          <a:xfrm>
            <a:off x="411480" y="3611880"/>
            <a:ext cx="11338560" cy="96012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886200"/>
            <a:ext cx="10972800" cy="457200"/>
          </a:xfrm>
          <a:prstGeom prst="rect">
            <a:avLst/>
          </a:prstGeom>
          <a:noFill/>
        </p:spPr>
        <p:txBody>
          <a:bodyPr wrap="square">
            <a:spAutoFit/>
          </a:bodyPr>
          <a:lstStyle/>
          <a:p>
            <a:pPr algn="l"/>
            <a:r>
              <a:rPr sz="1600" b="0">
                <a:solidFill>
                  <a:srgbClr val="1F2937"/>
                </a:solidFill>
                <a:latin typeface="Calibri"/>
              </a:rPr>
              <a:t>3: The delay became productive; they used the time to practice reading habits.</a:t>
            </a:r>
          </a:p>
        </p:txBody>
      </p:sp>
      <p:sp>
        <p:nvSpPr>
          <p:cNvPr id="13" name="Rounded Rectangle 12"/>
          <p:cNvSpPr/>
          <p:nvPr/>
        </p:nvSpPr>
        <p:spPr>
          <a:xfrm>
            <a:off x="411480" y="4709159"/>
            <a:ext cx="11338560" cy="960120"/>
          </a:xfrm>
          <a:prstGeom prst="round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83479"/>
            <a:ext cx="10972800" cy="457200"/>
          </a:xfrm>
          <a:prstGeom prst="rect">
            <a:avLst/>
          </a:prstGeom>
          <a:noFill/>
        </p:spPr>
        <p:txBody>
          <a:bodyPr wrap="square">
            <a:spAutoFit/>
          </a:bodyPr>
          <a:lstStyle/>
          <a:p>
            <a:pPr algn="l"/>
            <a:r>
              <a:rPr sz="1600" b="0">
                <a:solidFill>
                  <a:srgbClr val="1F2937"/>
                </a:solidFill>
                <a:latin typeface="Calibri"/>
              </a:rPr>
              <a:t>4: Ms. Reyes is steady and cares about learning continuity, not just control.</a:t>
            </a:r>
          </a:p>
        </p:txBody>
      </p:sp>
      <p:sp>
        <p:nvSpPr>
          <p:cNvPr id="15" name="Rectangle 14"/>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19–26 min</a:t>
            </a:r>
          </a:p>
        </p:txBody>
      </p:sp>
      <p:sp>
        <p:nvSpPr>
          <p:cNvPr id="17" name="TextBox 1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13/30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DEEP READ</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10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Now You Own the Passage</a:t>
            </a:r>
          </a:p>
        </p:txBody>
      </p:sp>
      <p:sp>
        <p:nvSpPr>
          <p:cNvPr id="9" name="Rounded Rectangle 8"/>
          <p:cNvSpPr/>
          <p:nvPr/>
        </p:nvSpPr>
        <p:spPr>
          <a:xfrm>
            <a:off x="411480" y="137160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1536192"/>
            <a:ext cx="1234440" cy="457200"/>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600200"/>
            <a:ext cx="1234440" cy="365760"/>
          </a:xfrm>
          <a:prstGeom prst="rect">
            <a:avLst/>
          </a:prstGeom>
          <a:noFill/>
        </p:spPr>
        <p:txBody>
          <a:bodyPr wrap="square">
            <a:spAutoFit/>
          </a:bodyPr>
          <a:lstStyle/>
          <a:p>
            <a:pPr algn="ctr"/>
            <a:r>
              <a:rPr sz="1300" b="1">
                <a:solidFill>
                  <a:srgbClr val="FFFFFF"/>
                </a:solidFill>
                <a:latin typeface="Calibri"/>
              </a:rPr>
              <a:t>Step 1</a:t>
            </a:r>
          </a:p>
        </p:txBody>
      </p:sp>
      <p:sp>
        <p:nvSpPr>
          <p:cNvPr id="12" name="TextBox 11"/>
          <p:cNvSpPr txBox="1"/>
          <p:nvPr/>
        </p:nvSpPr>
        <p:spPr>
          <a:xfrm>
            <a:off x="2057400" y="1600200"/>
            <a:ext cx="9418320" cy="411480"/>
          </a:xfrm>
          <a:prstGeom prst="rect">
            <a:avLst/>
          </a:prstGeom>
          <a:noFill/>
        </p:spPr>
        <p:txBody>
          <a:bodyPr wrap="square">
            <a:spAutoFit/>
          </a:bodyPr>
          <a:lstStyle/>
          <a:p>
            <a:pPr algn="l"/>
            <a:r>
              <a:rPr sz="1600" b="0">
                <a:solidFill>
                  <a:srgbClr val="1F2937"/>
                </a:solidFill>
                <a:latin typeface="Calibri"/>
              </a:rPr>
              <a:t>Re-read “The Signal in the Storm” silently (2 min).</a:t>
            </a:r>
          </a:p>
        </p:txBody>
      </p:sp>
      <p:sp>
        <p:nvSpPr>
          <p:cNvPr id="13" name="Rounded Rectangle 12"/>
          <p:cNvSpPr/>
          <p:nvPr/>
        </p:nvSpPr>
        <p:spPr>
          <a:xfrm>
            <a:off x="411480" y="224028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2404872"/>
            <a:ext cx="1234440" cy="457200"/>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468880"/>
            <a:ext cx="1234440" cy="365760"/>
          </a:xfrm>
          <a:prstGeom prst="rect">
            <a:avLst/>
          </a:prstGeom>
          <a:noFill/>
        </p:spPr>
        <p:txBody>
          <a:bodyPr wrap="square">
            <a:spAutoFit/>
          </a:bodyPr>
          <a:lstStyle/>
          <a:p>
            <a:pPr algn="ctr"/>
            <a:r>
              <a:rPr sz="1300" b="1">
                <a:solidFill>
                  <a:srgbClr val="FFFFFF"/>
                </a:solidFill>
                <a:latin typeface="Calibri"/>
              </a:rPr>
              <a:t>Step 2</a:t>
            </a:r>
          </a:p>
        </p:txBody>
      </p:sp>
      <p:sp>
        <p:nvSpPr>
          <p:cNvPr id="16" name="TextBox 15"/>
          <p:cNvSpPr txBox="1"/>
          <p:nvPr/>
        </p:nvSpPr>
        <p:spPr>
          <a:xfrm>
            <a:off x="2057400" y="2468880"/>
            <a:ext cx="9418320" cy="411480"/>
          </a:xfrm>
          <a:prstGeom prst="rect">
            <a:avLst/>
          </a:prstGeom>
          <a:noFill/>
        </p:spPr>
        <p:txBody>
          <a:bodyPr wrap="square">
            <a:spAutoFit/>
          </a:bodyPr>
          <a:lstStyle/>
          <a:p>
            <a:pPr algn="l"/>
            <a:r>
              <a:rPr sz="1600" b="0">
                <a:solidFill>
                  <a:srgbClr val="1F2937"/>
                </a:solidFill>
                <a:latin typeface="Calibri"/>
              </a:rPr>
              <a:t>Annotate with ★ — ? !</a:t>
            </a:r>
          </a:p>
        </p:txBody>
      </p:sp>
      <p:sp>
        <p:nvSpPr>
          <p:cNvPr id="17" name="Rounded Rectangle 16"/>
          <p:cNvSpPr/>
          <p:nvPr/>
        </p:nvSpPr>
        <p:spPr>
          <a:xfrm>
            <a:off x="411480" y="310896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3273552"/>
            <a:ext cx="1234440" cy="457200"/>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37560"/>
            <a:ext cx="1234440" cy="365760"/>
          </a:xfrm>
          <a:prstGeom prst="rect">
            <a:avLst/>
          </a:prstGeom>
          <a:noFill/>
        </p:spPr>
        <p:txBody>
          <a:bodyPr wrap="square">
            <a:spAutoFit/>
          </a:bodyPr>
          <a:lstStyle/>
          <a:p>
            <a:pPr algn="ctr"/>
            <a:r>
              <a:rPr sz="1300" b="1">
                <a:solidFill>
                  <a:srgbClr val="FFFFFF"/>
                </a:solidFill>
                <a:latin typeface="Calibri"/>
              </a:rPr>
              <a:t>Step 3</a:t>
            </a:r>
          </a:p>
        </p:txBody>
      </p:sp>
      <p:sp>
        <p:nvSpPr>
          <p:cNvPr id="20" name="TextBox 19"/>
          <p:cNvSpPr txBox="1"/>
          <p:nvPr/>
        </p:nvSpPr>
        <p:spPr>
          <a:xfrm>
            <a:off x="2057400" y="3337560"/>
            <a:ext cx="9418320" cy="411480"/>
          </a:xfrm>
          <a:prstGeom prst="rect">
            <a:avLst/>
          </a:prstGeom>
          <a:noFill/>
        </p:spPr>
        <p:txBody>
          <a:bodyPr wrap="square">
            <a:spAutoFit/>
          </a:bodyPr>
          <a:lstStyle/>
          <a:p>
            <a:pPr algn="l"/>
            <a:r>
              <a:rPr sz="1600" b="0">
                <a:solidFill>
                  <a:srgbClr val="1F2937"/>
                </a:solidFill>
                <a:latin typeface="Calibri"/>
              </a:rPr>
              <a:t>Write a one-sentence main idea.</a:t>
            </a:r>
          </a:p>
        </p:txBody>
      </p:sp>
      <p:sp>
        <p:nvSpPr>
          <p:cNvPr id="21" name="Rounded Rectangle 20"/>
          <p:cNvSpPr/>
          <p:nvPr/>
        </p:nvSpPr>
        <p:spPr>
          <a:xfrm>
            <a:off x="411480" y="3977639"/>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142231"/>
            <a:ext cx="1234440" cy="457200"/>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206239"/>
            <a:ext cx="1234440" cy="365760"/>
          </a:xfrm>
          <a:prstGeom prst="rect">
            <a:avLst/>
          </a:prstGeom>
          <a:noFill/>
        </p:spPr>
        <p:txBody>
          <a:bodyPr wrap="square">
            <a:spAutoFit/>
          </a:bodyPr>
          <a:lstStyle/>
          <a:p>
            <a:pPr algn="ctr"/>
            <a:r>
              <a:rPr sz="1300" b="1">
                <a:solidFill>
                  <a:srgbClr val="FFFFFF"/>
                </a:solidFill>
                <a:latin typeface="Calibri"/>
              </a:rPr>
              <a:t>Step 4</a:t>
            </a:r>
          </a:p>
        </p:txBody>
      </p:sp>
      <p:sp>
        <p:nvSpPr>
          <p:cNvPr id="24" name="TextBox 23"/>
          <p:cNvSpPr txBox="1"/>
          <p:nvPr/>
        </p:nvSpPr>
        <p:spPr>
          <a:xfrm>
            <a:off x="2057400" y="4206239"/>
            <a:ext cx="9418320" cy="411480"/>
          </a:xfrm>
          <a:prstGeom prst="rect">
            <a:avLst/>
          </a:prstGeom>
          <a:noFill/>
        </p:spPr>
        <p:txBody>
          <a:bodyPr wrap="square">
            <a:spAutoFit/>
          </a:bodyPr>
          <a:lstStyle/>
          <a:p>
            <a:pPr algn="l"/>
            <a:r>
              <a:rPr sz="1600" b="0">
                <a:solidFill>
                  <a:srgbClr val="1F2937"/>
                </a:solidFill>
                <a:latin typeface="Calibri"/>
              </a:rPr>
              <a:t>Answer the 5 questions on the next slide.</a:t>
            </a:r>
          </a:p>
        </p:txBody>
      </p:sp>
      <p:sp>
        <p:nvSpPr>
          <p:cNvPr id="25" name="Rounded Rectangle 24"/>
          <p:cNvSpPr/>
          <p:nvPr/>
        </p:nvSpPr>
        <p:spPr>
          <a:xfrm>
            <a:off x="411480" y="484632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94360" y="5010912"/>
            <a:ext cx="1234440" cy="457200"/>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5074920"/>
            <a:ext cx="1234440" cy="365760"/>
          </a:xfrm>
          <a:prstGeom prst="rect">
            <a:avLst/>
          </a:prstGeom>
          <a:noFill/>
        </p:spPr>
        <p:txBody>
          <a:bodyPr wrap="square">
            <a:spAutoFit/>
          </a:bodyPr>
          <a:lstStyle/>
          <a:p>
            <a:pPr algn="ctr"/>
            <a:r>
              <a:rPr sz="1300" b="1">
                <a:solidFill>
                  <a:srgbClr val="FFFFFF"/>
                </a:solidFill>
                <a:latin typeface="Calibri"/>
              </a:rPr>
              <a:t>Step 5</a:t>
            </a:r>
          </a:p>
        </p:txBody>
      </p:sp>
      <p:sp>
        <p:nvSpPr>
          <p:cNvPr id="28" name="TextBox 27"/>
          <p:cNvSpPr txBox="1"/>
          <p:nvPr/>
        </p:nvSpPr>
        <p:spPr>
          <a:xfrm>
            <a:off x="2057400" y="5074920"/>
            <a:ext cx="9418320" cy="411480"/>
          </a:xfrm>
          <a:prstGeom prst="rect">
            <a:avLst/>
          </a:prstGeom>
          <a:noFill/>
        </p:spPr>
        <p:txBody>
          <a:bodyPr wrap="square">
            <a:spAutoFit/>
          </a:bodyPr>
          <a:lstStyle/>
          <a:p>
            <a:pPr algn="l"/>
            <a:r>
              <a:rPr sz="1600" b="0">
                <a:solidFill>
                  <a:srgbClr val="1F2937"/>
                </a:solidFill>
                <a:latin typeface="Calibri"/>
              </a:rPr>
              <a:t>Be ready to share one starred line + why.</a:t>
            </a:r>
          </a:p>
        </p:txBody>
      </p:sp>
      <p:sp>
        <p:nvSpPr>
          <p:cNvPr id="29" name="Rectangle 28"/>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26–36 min</a:t>
            </a:r>
          </a:p>
        </p:txBody>
      </p:sp>
      <p:sp>
        <p:nvSpPr>
          <p:cNvPr id="31" name="TextBox 3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14/30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QUESTIONS</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400" b="1">
                <a:solidFill>
                  <a:srgbClr val="0F2C59"/>
                </a:solidFill>
                <a:latin typeface="Georgia"/>
              </a:rPr>
              <a:t>Comprehension — All About Today’s Passage</a:t>
            </a:r>
          </a:p>
        </p:txBody>
      </p:sp>
      <p:sp>
        <p:nvSpPr>
          <p:cNvPr id="7" name="Rounded Rectangle 6"/>
          <p:cNvSpPr/>
          <p:nvPr/>
        </p:nvSpPr>
        <p:spPr>
          <a:xfrm>
            <a:off x="411480" y="132588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173736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54480"/>
            <a:ext cx="1737360" cy="320040"/>
          </a:xfrm>
          <a:prstGeom prst="rect">
            <a:avLst/>
          </a:prstGeom>
          <a:noFill/>
        </p:spPr>
        <p:txBody>
          <a:bodyPr wrap="square">
            <a:spAutoFit/>
          </a:bodyPr>
          <a:lstStyle/>
          <a:p>
            <a:pPr algn="ctr"/>
            <a:r>
              <a:rPr sz="1200" b="1">
                <a:solidFill>
                  <a:srgbClr val="FFFFFF"/>
                </a:solidFill>
                <a:latin typeface="Calibri"/>
              </a:rPr>
              <a:t>Main Idea</a:t>
            </a:r>
          </a:p>
        </p:txBody>
      </p:sp>
      <p:sp>
        <p:nvSpPr>
          <p:cNvPr id="10" name="TextBox 9"/>
          <p:cNvSpPr txBox="1"/>
          <p:nvPr/>
        </p:nvSpPr>
        <p:spPr>
          <a:xfrm>
            <a:off x="2560320" y="1554480"/>
            <a:ext cx="8961120" cy="411480"/>
          </a:xfrm>
          <a:prstGeom prst="rect">
            <a:avLst/>
          </a:prstGeom>
          <a:noFill/>
        </p:spPr>
        <p:txBody>
          <a:bodyPr wrap="square">
            <a:spAutoFit/>
          </a:bodyPr>
          <a:lstStyle/>
          <a:p>
            <a:pPr algn="l"/>
            <a:r>
              <a:rPr sz="1500" b="0">
                <a:solidFill>
                  <a:srgbClr val="1F2937"/>
                </a:solidFill>
                <a:latin typeface="Calibri"/>
              </a:rPr>
              <a:t>1. What is the central message of “The Signal in the Storm”?</a:t>
            </a:r>
          </a:p>
        </p:txBody>
      </p:sp>
      <p:sp>
        <p:nvSpPr>
          <p:cNvPr id="11" name="Rounded Rectangle 10"/>
          <p:cNvSpPr/>
          <p:nvPr/>
        </p:nvSpPr>
        <p:spPr>
          <a:xfrm>
            <a:off x="411480" y="219456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94360" y="2377440"/>
            <a:ext cx="173736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423160"/>
            <a:ext cx="1737360" cy="320040"/>
          </a:xfrm>
          <a:prstGeom prst="rect">
            <a:avLst/>
          </a:prstGeom>
          <a:noFill/>
        </p:spPr>
        <p:txBody>
          <a:bodyPr wrap="square">
            <a:spAutoFit/>
          </a:bodyPr>
          <a:lstStyle/>
          <a:p>
            <a:pPr algn="ctr"/>
            <a:r>
              <a:rPr sz="1200" b="1">
                <a:solidFill>
                  <a:srgbClr val="FFFFFF"/>
                </a:solidFill>
                <a:latin typeface="Calibri"/>
              </a:rPr>
              <a:t>Detail</a:t>
            </a:r>
          </a:p>
        </p:txBody>
      </p:sp>
      <p:sp>
        <p:nvSpPr>
          <p:cNvPr id="14" name="TextBox 13"/>
          <p:cNvSpPr txBox="1"/>
          <p:nvPr/>
        </p:nvSpPr>
        <p:spPr>
          <a:xfrm>
            <a:off x="2560320" y="2423160"/>
            <a:ext cx="8961120" cy="411480"/>
          </a:xfrm>
          <a:prstGeom prst="rect">
            <a:avLst/>
          </a:prstGeom>
          <a:noFill/>
        </p:spPr>
        <p:txBody>
          <a:bodyPr wrap="square">
            <a:spAutoFit/>
          </a:bodyPr>
          <a:lstStyle/>
          <a:p>
            <a:pPr algn="l"/>
            <a:r>
              <a:rPr sz="1500" b="0">
                <a:solidFill>
                  <a:srgbClr val="1F2937"/>
                </a:solidFill>
                <a:latin typeface="Calibri"/>
              </a:rPr>
              <a:t>2. What does Ms. Reyes want the class to finish during the outage?</a:t>
            </a:r>
          </a:p>
        </p:txBody>
      </p:sp>
      <p:sp>
        <p:nvSpPr>
          <p:cNvPr id="15" name="Rounded Rectangle 14"/>
          <p:cNvSpPr/>
          <p:nvPr/>
        </p:nvSpPr>
        <p:spPr>
          <a:xfrm>
            <a:off x="411480" y="3063239"/>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94360" y="3246119"/>
            <a:ext cx="1737360" cy="411480"/>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291839"/>
            <a:ext cx="1737360" cy="320040"/>
          </a:xfrm>
          <a:prstGeom prst="rect">
            <a:avLst/>
          </a:prstGeom>
          <a:noFill/>
        </p:spPr>
        <p:txBody>
          <a:bodyPr wrap="square">
            <a:spAutoFit/>
          </a:bodyPr>
          <a:lstStyle/>
          <a:p>
            <a:pPr algn="ctr"/>
            <a:r>
              <a:rPr sz="1200" b="1">
                <a:solidFill>
                  <a:srgbClr val="FFFFFF"/>
                </a:solidFill>
                <a:latin typeface="Calibri"/>
              </a:rPr>
              <a:t>Inference</a:t>
            </a:r>
          </a:p>
        </p:txBody>
      </p:sp>
      <p:sp>
        <p:nvSpPr>
          <p:cNvPr id="18" name="TextBox 17"/>
          <p:cNvSpPr txBox="1"/>
          <p:nvPr/>
        </p:nvSpPr>
        <p:spPr>
          <a:xfrm>
            <a:off x="2560320" y="3291839"/>
            <a:ext cx="8961120" cy="411480"/>
          </a:xfrm>
          <a:prstGeom prst="rect">
            <a:avLst/>
          </a:prstGeom>
          <a:noFill/>
        </p:spPr>
        <p:txBody>
          <a:bodyPr wrap="square">
            <a:spAutoFit/>
          </a:bodyPr>
          <a:lstStyle/>
          <a:p>
            <a:pPr algn="l"/>
            <a:r>
              <a:rPr sz="1500" b="0">
                <a:solidFill>
                  <a:srgbClr val="1F2937"/>
                </a:solidFill>
                <a:latin typeface="Calibri"/>
              </a:rPr>
              <a:t>3. Why does the room “shift” after the student’s question?</a:t>
            </a:r>
          </a:p>
        </p:txBody>
      </p:sp>
      <p:sp>
        <p:nvSpPr>
          <p:cNvPr id="19" name="Rounded Rectangle 18"/>
          <p:cNvSpPr/>
          <p:nvPr/>
        </p:nvSpPr>
        <p:spPr>
          <a:xfrm>
            <a:off x="411480" y="393192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4360" y="4114800"/>
            <a:ext cx="1737360" cy="411480"/>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160520"/>
            <a:ext cx="1737360" cy="320040"/>
          </a:xfrm>
          <a:prstGeom prst="rect">
            <a:avLst/>
          </a:prstGeom>
          <a:noFill/>
        </p:spPr>
        <p:txBody>
          <a:bodyPr wrap="square">
            <a:spAutoFit/>
          </a:bodyPr>
          <a:lstStyle/>
          <a:p>
            <a:pPr algn="ctr"/>
            <a:r>
              <a:rPr sz="1200" b="1">
                <a:solidFill>
                  <a:srgbClr val="FFFFFF"/>
                </a:solidFill>
                <a:latin typeface="Calibri"/>
              </a:rPr>
              <a:t>Purpose</a:t>
            </a:r>
          </a:p>
        </p:txBody>
      </p:sp>
      <p:sp>
        <p:nvSpPr>
          <p:cNvPr id="22" name="TextBox 21"/>
          <p:cNvSpPr txBox="1"/>
          <p:nvPr/>
        </p:nvSpPr>
        <p:spPr>
          <a:xfrm>
            <a:off x="2560320" y="4160520"/>
            <a:ext cx="8961120" cy="411480"/>
          </a:xfrm>
          <a:prstGeom prst="rect">
            <a:avLst/>
          </a:prstGeom>
          <a:noFill/>
        </p:spPr>
        <p:txBody>
          <a:bodyPr wrap="square">
            <a:spAutoFit/>
          </a:bodyPr>
          <a:lstStyle/>
          <a:p>
            <a:pPr algn="l"/>
            <a:r>
              <a:rPr sz="1500" b="0">
                <a:solidFill>
                  <a:srgbClr val="1F2937"/>
                </a:solidFill>
                <a:latin typeface="Calibri"/>
              </a:rPr>
              <a:t>4. Is the author mostly informing or persuading? Explain.</a:t>
            </a:r>
          </a:p>
        </p:txBody>
      </p:sp>
      <p:sp>
        <p:nvSpPr>
          <p:cNvPr id="23" name="Rounded Rectangle 22"/>
          <p:cNvSpPr/>
          <p:nvPr/>
        </p:nvSpPr>
        <p:spPr>
          <a:xfrm>
            <a:off x="411480" y="4800600"/>
            <a:ext cx="1133856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94360" y="4983480"/>
            <a:ext cx="1737360" cy="41148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029200"/>
            <a:ext cx="1737360" cy="320040"/>
          </a:xfrm>
          <a:prstGeom prst="rect">
            <a:avLst/>
          </a:prstGeom>
          <a:noFill/>
        </p:spPr>
        <p:txBody>
          <a:bodyPr wrap="square">
            <a:spAutoFit/>
          </a:bodyPr>
          <a:lstStyle/>
          <a:p>
            <a:pPr algn="ctr"/>
            <a:r>
              <a:rPr sz="1200" b="1">
                <a:solidFill>
                  <a:srgbClr val="FFFFFF"/>
                </a:solidFill>
                <a:latin typeface="Calibri"/>
              </a:rPr>
              <a:t>Evidence</a:t>
            </a:r>
          </a:p>
        </p:txBody>
      </p:sp>
      <p:sp>
        <p:nvSpPr>
          <p:cNvPr id="26" name="TextBox 25"/>
          <p:cNvSpPr txBox="1"/>
          <p:nvPr/>
        </p:nvSpPr>
        <p:spPr>
          <a:xfrm>
            <a:off x="2560320" y="5029200"/>
            <a:ext cx="8961120" cy="411480"/>
          </a:xfrm>
          <a:prstGeom prst="rect">
            <a:avLst/>
          </a:prstGeom>
          <a:noFill/>
        </p:spPr>
        <p:txBody>
          <a:bodyPr wrap="square">
            <a:spAutoFit/>
          </a:bodyPr>
          <a:lstStyle/>
          <a:p>
            <a:pPr algn="l"/>
            <a:r>
              <a:rPr sz="1500" b="0">
                <a:solidFill>
                  <a:srgbClr val="1F2937"/>
                </a:solidFill>
                <a:latin typeface="Calibri"/>
              </a:rPr>
              <a:t>5. Quote one sentence that best supports your main idea.</a:t>
            </a:r>
          </a:p>
        </p:txBody>
      </p:sp>
      <p:sp>
        <p:nvSpPr>
          <p:cNvPr id="27" name="Rectangle 26"/>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26–36 min</a:t>
            </a:r>
          </a:p>
        </p:txBody>
      </p:sp>
      <p:sp>
        <p:nvSpPr>
          <p:cNvPr id="29" name="TextBox 2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15/30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MODEL ANSWERS</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Discuss Variations — Reward Evidence</a:t>
            </a:r>
          </a:p>
        </p:txBody>
      </p:sp>
      <p:sp>
        <p:nvSpPr>
          <p:cNvPr id="7" name="TextBox 6"/>
          <p:cNvSpPr txBox="1"/>
          <p:nvPr/>
        </p:nvSpPr>
        <p:spPr>
          <a:xfrm>
            <a:off x="411480" y="1371600"/>
            <a:ext cx="11338560" cy="4572000"/>
          </a:xfrm>
          <a:prstGeom prst="rect">
            <a:avLst/>
          </a:prstGeom>
          <a:noFill/>
        </p:spPr>
        <p:txBody>
          <a:bodyPr wrap="square">
            <a:spAutoFit/>
          </a:bodyPr>
          <a:lstStyle/>
          <a:p>
            <a:pPr>
              <a:spcAft>
                <a:spcPts val="1400"/>
              </a:spcAft>
            </a:pPr>
            <a:r>
              <a:rPr sz="1600" b="0">
                <a:solidFill>
                  <a:srgbClr val="1F2937"/>
                </a:solidFill>
                <a:latin typeface="Calibri"/>
              </a:rPr>
              <a:t>•  Main idea: During a power outage, focused questions and small choices helped the class keep learning.</a:t>
            </a:r>
          </a:p>
          <a:p>
            <a:pPr>
              <a:spcAft>
                <a:spcPts val="1400"/>
              </a:spcAft>
            </a:pPr>
            <a:r>
              <a:rPr sz="1600" b="0">
                <a:solidFill>
                  <a:srgbClr val="1F2937"/>
                </a:solidFill>
                <a:latin typeface="Calibri"/>
              </a:rPr>
              <a:t>•  Detail: The reading packet — so nobody loses progress.</a:t>
            </a:r>
          </a:p>
          <a:p>
            <a:pPr>
              <a:spcAft>
                <a:spcPts val="1400"/>
              </a:spcAft>
            </a:pPr>
            <a:r>
              <a:rPr sz="1600" b="0">
                <a:solidFill>
                  <a:srgbClr val="1F2937"/>
                </a:solidFill>
                <a:latin typeface="Calibri"/>
              </a:rPr>
              <a:t>•  Inference: The question redirected attention from chatter to purposeful reading.</a:t>
            </a:r>
          </a:p>
          <a:p>
            <a:pPr>
              <a:spcAft>
                <a:spcPts val="1400"/>
              </a:spcAft>
            </a:pPr>
            <a:r>
              <a:rPr sz="1600" b="0">
                <a:solidFill>
                  <a:srgbClr val="1F2937"/>
                </a:solidFill>
                <a:latin typeface="Calibri"/>
              </a:rPr>
              <a:t>•  Purpose: Mostly persuade/inform — show that strong reading habits turn delays into learning.</a:t>
            </a:r>
          </a:p>
          <a:p>
            <a:pPr>
              <a:spcAft>
                <a:spcPts val="1400"/>
              </a:spcAft>
            </a:pPr>
            <a:r>
              <a:rPr sz="1600" b="0">
                <a:solidFill>
                  <a:srgbClr val="1F2937"/>
                </a:solidFill>
                <a:latin typeface="Calibri"/>
              </a:rPr>
              <a:t>•  Evidence example: “Small choices… turned a storm delay into learning.”</a:t>
            </a:r>
          </a:p>
        </p:txBody>
      </p:sp>
      <p:sp>
        <p:nvSpPr>
          <p:cNvPr id="8" name="Rectangle 7"/>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26–36 min</a:t>
            </a:r>
          </a:p>
        </p:txBody>
      </p:sp>
      <p:sp>
        <p:nvSpPr>
          <p:cNvPr id="10" name="TextBox 9"/>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16/30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0698480" cy="365760"/>
          </a:xfrm>
          <a:prstGeom prst="rect">
            <a:avLst/>
          </a:prstGeom>
          <a:noFill/>
        </p:spPr>
        <p:txBody>
          <a:bodyPr wrap="square">
            <a:spAutoFit/>
          </a:bodyPr>
          <a:lstStyle/>
          <a:p>
            <a:pPr algn="ctr"/>
            <a:r>
              <a:rPr sz="1600" b="1">
                <a:solidFill>
                  <a:srgbClr val="F5B301"/>
                </a:solidFill>
                <a:latin typeface="Calibri"/>
              </a:rPr>
              <a:t>GAME 3  •  GRAMMAR FROM THE STORY WORLD</a:t>
            </a:r>
          </a:p>
        </p:txBody>
      </p:sp>
      <p:sp>
        <p:nvSpPr>
          <p:cNvPr id="5" name="TextBox 4"/>
          <p:cNvSpPr txBox="1"/>
          <p:nvPr/>
        </p:nvSpPr>
        <p:spPr>
          <a:xfrm>
            <a:off x="731520" y="2377440"/>
            <a:ext cx="10698480" cy="914400"/>
          </a:xfrm>
          <a:prstGeom prst="rect">
            <a:avLst/>
          </a:prstGeom>
          <a:noFill/>
        </p:spPr>
        <p:txBody>
          <a:bodyPr wrap="square">
            <a:spAutoFit/>
          </a:bodyPr>
          <a:lstStyle/>
          <a:p>
            <a:pPr algn="ctr"/>
            <a:r>
              <a:rPr sz="4000" b="1">
                <a:solidFill>
                  <a:srgbClr val="FFFFFF"/>
                </a:solidFill>
                <a:latin typeface="Georgia"/>
              </a:rPr>
              <a:t>Grammar Fix:
Storm Edition</a:t>
            </a:r>
          </a:p>
        </p:txBody>
      </p:sp>
      <p:sp>
        <p:nvSpPr>
          <p:cNvPr id="6" name="TextBox 5"/>
          <p:cNvSpPr txBox="1"/>
          <p:nvPr/>
        </p:nvSpPr>
        <p:spPr>
          <a:xfrm>
            <a:off x="731520" y="4023360"/>
            <a:ext cx="10698480" cy="457200"/>
          </a:xfrm>
          <a:prstGeom prst="rect">
            <a:avLst/>
          </a:prstGeom>
          <a:noFill/>
        </p:spPr>
        <p:txBody>
          <a:bodyPr wrap="square">
            <a:spAutoFit/>
          </a:bodyPr>
          <a:lstStyle/>
          <a:p>
            <a:pPr algn="ctr"/>
            <a:r>
              <a:rPr sz="1800" b="0">
                <a:solidFill>
                  <a:srgbClr val="BFDBFE"/>
                </a:solidFill>
                <a:latin typeface="Calibri"/>
              </a:rPr>
              <a:t>Broken sentences about our characters — you repair them.</a:t>
            </a:r>
          </a:p>
        </p:txBody>
      </p:sp>
      <p:sp>
        <p:nvSpPr>
          <p:cNvPr id="7" name="TextBox 6"/>
          <p:cNvSpPr txBox="1"/>
          <p:nvPr/>
        </p:nvSpPr>
        <p:spPr>
          <a:xfrm>
            <a:off x="731520" y="4663440"/>
            <a:ext cx="10698480" cy="365760"/>
          </a:xfrm>
          <a:prstGeom prst="rect">
            <a:avLst/>
          </a:prstGeom>
          <a:noFill/>
        </p:spPr>
        <p:txBody>
          <a:bodyPr wrap="square">
            <a:spAutoFit/>
          </a:bodyPr>
          <a:lstStyle/>
          <a:p>
            <a:pPr algn="ctr"/>
            <a:r>
              <a:rPr sz="1600" b="0">
                <a:solidFill>
                  <a:srgbClr val="F5B301"/>
                </a:solidFill>
                <a:latin typeface="Calibri"/>
              </a:rPr>
              <a:t>7 minutes  •  Syllabus skill: Conventions (L.7.1 / L.7.2)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SYLLABUS GAME</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7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Fix These — All Tied to the Passage</a:t>
            </a:r>
          </a:p>
        </p:txBody>
      </p:sp>
      <p:sp>
        <p:nvSpPr>
          <p:cNvPr id="9" name="Rounded Rectangle 8"/>
          <p:cNvSpPr/>
          <p:nvPr/>
        </p:nvSpPr>
        <p:spPr>
          <a:xfrm>
            <a:off x="411480" y="132588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27048"/>
            <a:ext cx="10972800" cy="411480"/>
          </a:xfrm>
          <a:prstGeom prst="rect">
            <a:avLst/>
          </a:prstGeom>
          <a:noFill/>
        </p:spPr>
        <p:txBody>
          <a:bodyPr wrap="square">
            <a:spAutoFit/>
          </a:bodyPr>
          <a:lstStyle/>
          <a:p>
            <a:pPr algn="l"/>
            <a:r>
              <a:rPr sz="1500" b="0">
                <a:solidFill>
                  <a:srgbClr val="1F2937"/>
                </a:solidFill>
                <a:latin typeface="Calibri"/>
              </a:rPr>
              <a:t>1.  The class of students are waiting for the power to return.</a:t>
            </a:r>
          </a:p>
        </p:txBody>
      </p:sp>
      <p:sp>
        <p:nvSpPr>
          <p:cNvPr id="11" name="Rounded Rectangle 10"/>
          <p:cNvSpPr/>
          <p:nvPr/>
        </p:nvSpPr>
        <p:spPr>
          <a:xfrm>
            <a:off x="411480" y="214884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0008"/>
            <a:ext cx="10972800" cy="411480"/>
          </a:xfrm>
          <a:prstGeom prst="rect">
            <a:avLst/>
          </a:prstGeom>
          <a:noFill/>
        </p:spPr>
        <p:txBody>
          <a:bodyPr wrap="square">
            <a:spAutoFit/>
          </a:bodyPr>
          <a:lstStyle/>
          <a:p>
            <a:pPr algn="l"/>
            <a:r>
              <a:rPr sz="1500" b="0">
                <a:solidFill>
                  <a:srgbClr val="1F2937"/>
                </a:solidFill>
                <a:latin typeface="Calibri"/>
              </a:rPr>
              <a:t>2.  Maya already underline the first paragraph.</a:t>
            </a:r>
          </a:p>
        </p:txBody>
      </p:sp>
      <p:sp>
        <p:nvSpPr>
          <p:cNvPr id="13" name="Rounded Rectangle 12"/>
          <p:cNvSpPr/>
          <p:nvPr/>
        </p:nvSpPr>
        <p:spPr>
          <a:xfrm>
            <a:off x="411480" y="297180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172968"/>
            <a:ext cx="10972800" cy="411480"/>
          </a:xfrm>
          <a:prstGeom prst="rect">
            <a:avLst/>
          </a:prstGeom>
          <a:noFill/>
        </p:spPr>
        <p:txBody>
          <a:bodyPr wrap="square">
            <a:spAutoFit/>
          </a:bodyPr>
          <a:lstStyle/>
          <a:p>
            <a:pPr algn="l"/>
            <a:r>
              <a:rPr sz="1500" b="0">
                <a:solidFill>
                  <a:srgbClr val="1F2937"/>
                </a:solidFill>
                <a:latin typeface="Calibri"/>
              </a:rPr>
              <a:t>3.  Its important that nobody lose progress.</a:t>
            </a:r>
          </a:p>
        </p:txBody>
      </p:sp>
      <p:sp>
        <p:nvSpPr>
          <p:cNvPr id="15" name="Rounded Rectangle 14"/>
          <p:cNvSpPr/>
          <p:nvPr/>
        </p:nvSpPr>
        <p:spPr>
          <a:xfrm>
            <a:off x="411480" y="379476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95928"/>
            <a:ext cx="10972800" cy="411480"/>
          </a:xfrm>
          <a:prstGeom prst="rect">
            <a:avLst/>
          </a:prstGeom>
          <a:noFill/>
        </p:spPr>
        <p:txBody>
          <a:bodyPr wrap="square">
            <a:spAutoFit/>
          </a:bodyPr>
          <a:lstStyle/>
          <a:p>
            <a:pPr algn="l"/>
            <a:r>
              <a:rPr sz="1500" b="0">
                <a:solidFill>
                  <a:srgbClr val="1F2937"/>
                </a:solidFill>
                <a:latin typeface="Calibri"/>
              </a:rPr>
              <a:t>4.  Jordan frowned at the projector but she kept listening.</a:t>
            </a:r>
          </a:p>
        </p:txBody>
      </p:sp>
      <p:sp>
        <p:nvSpPr>
          <p:cNvPr id="17" name="Rounded Rectangle 16"/>
          <p:cNvSpPr/>
          <p:nvPr/>
        </p:nvSpPr>
        <p:spPr>
          <a:xfrm>
            <a:off x="411480" y="4617720"/>
            <a:ext cx="11338560" cy="731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818888"/>
            <a:ext cx="10972800" cy="411480"/>
          </a:xfrm>
          <a:prstGeom prst="rect">
            <a:avLst/>
          </a:prstGeom>
          <a:noFill/>
        </p:spPr>
        <p:txBody>
          <a:bodyPr wrap="square">
            <a:spAutoFit/>
          </a:bodyPr>
          <a:lstStyle/>
          <a:p>
            <a:pPr algn="l"/>
            <a:r>
              <a:rPr sz="1500" b="0">
                <a:solidFill>
                  <a:srgbClr val="1F2937"/>
                </a:solidFill>
                <a:latin typeface="Calibri"/>
              </a:rPr>
              <a:t>5.  There pencils moved faster then before.</a:t>
            </a:r>
          </a:p>
        </p:txBody>
      </p:sp>
      <p:sp>
        <p:nvSpPr>
          <p:cNvPr id="19" name="Rounded Rectangle 18"/>
          <p:cNvSpPr/>
          <p:nvPr/>
        </p:nvSpPr>
        <p:spPr>
          <a:xfrm>
            <a:off x="411480" y="5989320"/>
            <a:ext cx="11338560" cy="411480"/>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062472"/>
            <a:ext cx="10972800" cy="320040"/>
          </a:xfrm>
          <a:prstGeom prst="rect">
            <a:avLst/>
          </a:prstGeom>
          <a:noFill/>
        </p:spPr>
        <p:txBody>
          <a:bodyPr wrap="square">
            <a:spAutoFit/>
          </a:bodyPr>
          <a:lstStyle/>
          <a:p>
            <a:pPr algn="l"/>
            <a:r>
              <a:rPr sz="1300" b="1">
                <a:solidFill>
                  <a:srgbClr val="0F2C59"/>
                </a:solidFill>
                <a:latin typeface="Calibri"/>
              </a:rPr>
              <a:t>Why this game?  Same characters/setting as the reading — grammar practice feels connected, not random.</a:t>
            </a:r>
          </a:p>
        </p:txBody>
      </p:sp>
      <p:sp>
        <p:nvSpPr>
          <p:cNvPr id="21" name="Rectangle 20"/>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36–43 min</a:t>
            </a:r>
          </a:p>
        </p:txBody>
      </p:sp>
      <p:sp>
        <p:nvSpPr>
          <p:cNvPr id="23" name="TextBox 22"/>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18/30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ANSWER KEY</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Corrected + Rule</a:t>
            </a:r>
          </a:p>
        </p:txBody>
      </p:sp>
      <p:sp>
        <p:nvSpPr>
          <p:cNvPr id="7" name="Rounded Rectangle 6"/>
          <p:cNvSpPr/>
          <p:nvPr/>
        </p:nvSpPr>
        <p:spPr>
          <a:xfrm>
            <a:off x="411480" y="132588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54480"/>
            <a:ext cx="10972800" cy="411480"/>
          </a:xfrm>
          <a:prstGeom prst="rect">
            <a:avLst/>
          </a:prstGeom>
          <a:noFill/>
        </p:spPr>
        <p:txBody>
          <a:bodyPr wrap="square">
            <a:spAutoFit/>
          </a:bodyPr>
          <a:lstStyle/>
          <a:p>
            <a:pPr algn="l"/>
            <a:r>
              <a:rPr sz="1500" b="0">
                <a:solidFill>
                  <a:srgbClr val="1F2937"/>
                </a:solidFill>
                <a:latin typeface="Calibri"/>
              </a:rPr>
              <a:t>1.  The class of students is waiting…  (class = singular collective)</a:t>
            </a:r>
          </a:p>
        </p:txBody>
      </p:sp>
      <p:sp>
        <p:nvSpPr>
          <p:cNvPr id="9" name="Rounded Rectangle 8"/>
          <p:cNvSpPr/>
          <p:nvPr/>
        </p:nvSpPr>
        <p:spPr>
          <a:xfrm>
            <a:off x="411480" y="219456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23160"/>
            <a:ext cx="10972800" cy="411480"/>
          </a:xfrm>
          <a:prstGeom prst="rect">
            <a:avLst/>
          </a:prstGeom>
          <a:noFill/>
        </p:spPr>
        <p:txBody>
          <a:bodyPr wrap="square">
            <a:spAutoFit/>
          </a:bodyPr>
          <a:lstStyle/>
          <a:p>
            <a:pPr algn="l"/>
            <a:r>
              <a:rPr sz="1500" b="0">
                <a:solidFill>
                  <a:srgbClr val="1F2937"/>
                </a:solidFill>
                <a:latin typeface="Calibri"/>
              </a:rPr>
              <a:t>2.  Maya already underlined / is underlining…  (verb tense/form)</a:t>
            </a:r>
          </a:p>
        </p:txBody>
      </p:sp>
      <p:sp>
        <p:nvSpPr>
          <p:cNvPr id="11" name="Rounded Rectangle 10"/>
          <p:cNvSpPr/>
          <p:nvPr/>
        </p:nvSpPr>
        <p:spPr>
          <a:xfrm>
            <a:off x="411480" y="3063239"/>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39"/>
            <a:ext cx="10972800" cy="411480"/>
          </a:xfrm>
          <a:prstGeom prst="rect">
            <a:avLst/>
          </a:prstGeom>
          <a:noFill/>
        </p:spPr>
        <p:txBody>
          <a:bodyPr wrap="square">
            <a:spAutoFit/>
          </a:bodyPr>
          <a:lstStyle/>
          <a:p>
            <a:pPr algn="l"/>
            <a:r>
              <a:rPr sz="1500" b="0">
                <a:solidFill>
                  <a:srgbClr val="1F2937"/>
                </a:solidFill>
                <a:latin typeface="Calibri"/>
              </a:rPr>
              <a:t>3.  It’s important that nobody loses progress.  (it’s / subject-verb)</a:t>
            </a:r>
          </a:p>
        </p:txBody>
      </p:sp>
      <p:sp>
        <p:nvSpPr>
          <p:cNvPr id="13" name="Rounded Rectangle 12"/>
          <p:cNvSpPr/>
          <p:nvPr/>
        </p:nvSpPr>
        <p:spPr>
          <a:xfrm>
            <a:off x="411480" y="393192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160520"/>
            <a:ext cx="10972800" cy="411480"/>
          </a:xfrm>
          <a:prstGeom prst="rect">
            <a:avLst/>
          </a:prstGeom>
          <a:noFill/>
        </p:spPr>
        <p:txBody>
          <a:bodyPr wrap="square">
            <a:spAutoFit/>
          </a:bodyPr>
          <a:lstStyle/>
          <a:p>
            <a:pPr algn="l"/>
            <a:r>
              <a:rPr sz="1500" b="0">
                <a:solidFill>
                  <a:srgbClr val="1F2937"/>
                </a:solidFill>
                <a:latin typeface="Calibri"/>
              </a:rPr>
              <a:t>4.  Jordan frowned at the projector, but she kept listening.  (FANBOYS comma)</a:t>
            </a:r>
          </a:p>
        </p:txBody>
      </p:sp>
      <p:sp>
        <p:nvSpPr>
          <p:cNvPr id="15" name="Rounded Rectangle 14"/>
          <p:cNvSpPr/>
          <p:nvPr/>
        </p:nvSpPr>
        <p:spPr>
          <a:xfrm>
            <a:off x="411480" y="4800600"/>
            <a:ext cx="11338560" cy="77724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029200"/>
            <a:ext cx="10972800" cy="411480"/>
          </a:xfrm>
          <a:prstGeom prst="rect">
            <a:avLst/>
          </a:prstGeom>
          <a:noFill/>
        </p:spPr>
        <p:txBody>
          <a:bodyPr wrap="square">
            <a:spAutoFit/>
          </a:bodyPr>
          <a:lstStyle/>
          <a:p>
            <a:pPr algn="l"/>
            <a:r>
              <a:rPr sz="1500" b="0">
                <a:solidFill>
                  <a:srgbClr val="1F2937"/>
                </a:solidFill>
                <a:latin typeface="Calibri"/>
              </a:rPr>
              <a:t>5.  Their pencils moved faster than before.  (their / than)</a:t>
            </a:r>
          </a:p>
        </p:txBody>
      </p:sp>
      <p:sp>
        <p:nvSpPr>
          <p:cNvPr id="17" name="Rectangle 16"/>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36–43 min</a:t>
            </a:r>
          </a:p>
        </p:txBody>
      </p:sp>
      <p:sp>
        <p:nvSpPr>
          <p:cNvPr id="19" name="TextBox 18"/>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19/30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GRAMMAR LAB</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10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High-Impact Fixes for Grade 7</a:t>
            </a:r>
          </a:p>
        </p:txBody>
      </p:sp>
      <p:sp>
        <p:nvSpPr>
          <p:cNvPr id="9" name="Rounded Rectangle 8"/>
          <p:cNvSpPr/>
          <p:nvPr/>
        </p:nvSpPr>
        <p:spPr>
          <a:xfrm>
            <a:off x="41148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417320"/>
            <a:ext cx="2788920" cy="100584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45920"/>
            <a:ext cx="2514600" cy="548640"/>
          </a:xfrm>
          <a:prstGeom prst="rect">
            <a:avLst/>
          </a:prstGeom>
          <a:noFill/>
        </p:spPr>
        <p:txBody>
          <a:bodyPr wrap="square">
            <a:spAutoFit/>
          </a:bodyPr>
          <a:lstStyle/>
          <a:p>
            <a:pPr algn="ctr"/>
            <a:r>
              <a:rPr sz="1800" b="1">
                <a:solidFill>
                  <a:srgbClr val="FFFFFF"/>
                </a:solidFill>
                <a:latin typeface="Calibri"/>
              </a:rPr>
              <a:t>Agreement</a:t>
            </a:r>
          </a:p>
        </p:txBody>
      </p:sp>
      <p:sp>
        <p:nvSpPr>
          <p:cNvPr id="12" name="TextBox 11"/>
          <p:cNvSpPr txBox="1"/>
          <p:nvPr/>
        </p:nvSpPr>
        <p:spPr>
          <a:xfrm>
            <a:off x="594360" y="2834640"/>
            <a:ext cx="2423160" cy="2286000"/>
          </a:xfrm>
          <a:prstGeom prst="rect">
            <a:avLst/>
          </a:prstGeom>
          <a:noFill/>
        </p:spPr>
        <p:txBody>
          <a:bodyPr wrap="square">
            <a:spAutoFit/>
          </a:bodyPr>
          <a:lstStyle/>
          <a:p>
            <a:pPr algn="ctr"/>
            <a:r>
              <a:rPr sz="1500" b="0">
                <a:solidFill>
                  <a:srgbClr val="1F2937"/>
                </a:solidFill>
                <a:latin typeface="Calibri"/>
              </a:rPr>
              <a:t>Everyone / each / class → singular verbs</a:t>
            </a:r>
          </a:p>
        </p:txBody>
      </p:sp>
      <p:sp>
        <p:nvSpPr>
          <p:cNvPr id="13" name="Rounded Rectangle 12"/>
          <p:cNvSpPr/>
          <p:nvPr/>
        </p:nvSpPr>
        <p:spPr>
          <a:xfrm>
            <a:off x="333756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417320"/>
            <a:ext cx="2788920" cy="100584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1645920"/>
            <a:ext cx="2514600" cy="548640"/>
          </a:xfrm>
          <a:prstGeom prst="rect">
            <a:avLst/>
          </a:prstGeom>
          <a:noFill/>
        </p:spPr>
        <p:txBody>
          <a:bodyPr wrap="square">
            <a:spAutoFit/>
          </a:bodyPr>
          <a:lstStyle/>
          <a:p>
            <a:pPr algn="ctr"/>
            <a:r>
              <a:rPr sz="1800" b="1">
                <a:solidFill>
                  <a:srgbClr val="FFFFFF"/>
                </a:solidFill>
                <a:latin typeface="Calibri"/>
              </a:rPr>
              <a:t>Commas</a:t>
            </a:r>
          </a:p>
        </p:txBody>
      </p:sp>
      <p:sp>
        <p:nvSpPr>
          <p:cNvPr id="16" name="TextBox 15"/>
          <p:cNvSpPr txBox="1"/>
          <p:nvPr/>
        </p:nvSpPr>
        <p:spPr>
          <a:xfrm>
            <a:off x="3520440" y="2834640"/>
            <a:ext cx="2423160" cy="2286000"/>
          </a:xfrm>
          <a:prstGeom prst="rect">
            <a:avLst/>
          </a:prstGeom>
          <a:noFill/>
        </p:spPr>
        <p:txBody>
          <a:bodyPr wrap="square">
            <a:spAutoFit/>
          </a:bodyPr>
          <a:lstStyle/>
          <a:p>
            <a:pPr algn="ctr"/>
            <a:r>
              <a:rPr sz="1500" b="0">
                <a:solidFill>
                  <a:srgbClr val="1F2937"/>
                </a:solidFill>
                <a:latin typeface="Calibri"/>
              </a:rPr>
              <a:t>Lists • FANBOYS • intro phrases</a:t>
            </a:r>
          </a:p>
        </p:txBody>
      </p:sp>
      <p:sp>
        <p:nvSpPr>
          <p:cNvPr id="17" name="Rounded Rectangle 16"/>
          <p:cNvSpPr/>
          <p:nvPr/>
        </p:nvSpPr>
        <p:spPr>
          <a:xfrm>
            <a:off x="626364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417320"/>
            <a:ext cx="2788920" cy="100584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1645920"/>
            <a:ext cx="2514600" cy="548640"/>
          </a:xfrm>
          <a:prstGeom prst="rect">
            <a:avLst/>
          </a:prstGeom>
          <a:noFill/>
        </p:spPr>
        <p:txBody>
          <a:bodyPr wrap="square">
            <a:spAutoFit/>
          </a:bodyPr>
          <a:lstStyle/>
          <a:p>
            <a:pPr algn="ctr"/>
            <a:r>
              <a:rPr sz="1800" b="1">
                <a:solidFill>
                  <a:srgbClr val="FFFFFF"/>
                </a:solidFill>
                <a:latin typeface="Calibri"/>
              </a:rPr>
              <a:t>Word Pairs</a:t>
            </a:r>
          </a:p>
        </p:txBody>
      </p:sp>
      <p:sp>
        <p:nvSpPr>
          <p:cNvPr id="20" name="TextBox 19"/>
          <p:cNvSpPr txBox="1"/>
          <p:nvPr/>
        </p:nvSpPr>
        <p:spPr>
          <a:xfrm>
            <a:off x="6446520" y="2834640"/>
            <a:ext cx="2423160" cy="2286000"/>
          </a:xfrm>
          <a:prstGeom prst="rect">
            <a:avLst/>
          </a:prstGeom>
          <a:noFill/>
        </p:spPr>
        <p:txBody>
          <a:bodyPr wrap="square">
            <a:spAutoFit/>
          </a:bodyPr>
          <a:lstStyle/>
          <a:p>
            <a:pPr algn="ctr"/>
            <a:r>
              <a:rPr sz="1500" b="0">
                <a:solidFill>
                  <a:srgbClr val="1F2937"/>
                </a:solidFill>
                <a:latin typeface="Calibri"/>
              </a:rPr>
              <a:t>its/it’s • their/there/they’re • than/then</a:t>
            </a:r>
          </a:p>
        </p:txBody>
      </p:sp>
      <p:sp>
        <p:nvSpPr>
          <p:cNvPr id="21" name="Rounded Rectangle 20"/>
          <p:cNvSpPr/>
          <p:nvPr/>
        </p:nvSpPr>
        <p:spPr>
          <a:xfrm>
            <a:off x="9189720" y="1417320"/>
            <a:ext cx="2788920" cy="4297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417320"/>
            <a:ext cx="2788920" cy="100584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1645920"/>
            <a:ext cx="2514600" cy="548640"/>
          </a:xfrm>
          <a:prstGeom prst="rect">
            <a:avLst/>
          </a:prstGeom>
          <a:noFill/>
        </p:spPr>
        <p:txBody>
          <a:bodyPr wrap="square">
            <a:spAutoFit/>
          </a:bodyPr>
          <a:lstStyle/>
          <a:p>
            <a:pPr algn="ctr"/>
            <a:r>
              <a:rPr sz="1800" b="1">
                <a:solidFill>
                  <a:srgbClr val="FFFFFF"/>
                </a:solidFill>
                <a:latin typeface="Calibri"/>
              </a:rPr>
              <a:t>Sentence Sense</a:t>
            </a:r>
          </a:p>
        </p:txBody>
      </p:sp>
      <p:sp>
        <p:nvSpPr>
          <p:cNvPr id="24" name="TextBox 23"/>
          <p:cNvSpPr txBox="1"/>
          <p:nvPr/>
        </p:nvSpPr>
        <p:spPr>
          <a:xfrm>
            <a:off x="9372600" y="2834640"/>
            <a:ext cx="2423160" cy="2286000"/>
          </a:xfrm>
          <a:prstGeom prst="rect">
            <a:avLst/>
          </a:prstGeom>
          <a:noFill/>
        </p:spPr>
        <p:txBody>
          <a:bodyPr wrap="square">
            <a:spAutoFit/>
          </a:bodyPr>
          <a:lstStyle/>
          <a:p>
            <a:pPr algn="ctr"/>
            <a:r>
              <a:rPr sz="1500" b="0">
                <a:solidFill>
                  <a:srgbClr val="1F2937"/>
                </a:solidFill>
                <a:latin typeface="Calibri"/>
              </a:rPr>
              <a:t>No fragments, no run-ons</a:t>
            </a:r>
          </a:p>
        </p:txBody>
      </p:sp>
      <p:sp>
        <p:nvSpPr>
          <p:cNvPr id="25" name="Rectangle 24"/>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43–53 min</a:t>
            </a:r>
          </a:p>
        </p:txBody>
      </p:sp>
      <p:sp>
        <p:nvSpPr>
          <p:cNvPr id="27" name="TextBox 2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20/30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QUICK RULES</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Keep These in Your Pocket</a:t>
            </a:r>
          </a:p>
        </p:txBody>
      </p:sp>
      <p:sp>
        <p:nvSpPr>
          <p:cNvPr id="7" name="Rounded Rectangle 6"/>
          <p:cNvSpPr/>
          <p:nvPr/>
        </p:nvSpPr>
        <p:spPr>
          <a:xfrm>
            <a:off x="411480" y="1371600"/>
            <a:ext cx="562356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5212080" cy="320040"/>
          </a:xfrm>
          <a:prstGeom prst="rect">
            <a:avLst/>
          </a:prstGeom>
          <a:noFill/>
        </p:spPr>
        <p:txBody>
          <a:bodyPr wrap="square">
            <a:spAutoFit/>
          </a:bodyPr>
          <a:lstStyle/>
          <a:p>
            <a:pPr algn="l"/>
            <a:r>
              <a:rPr sz="1600" b="1">
                <a:solidFill>
                  <a:srgbClr val="F07359"/>
                </a:solidFill>
                <a:latin typeface="Calibri"/>
              </a:rPr>
              <a:t>Agreement</a:t>
            </a:r>
          </a:p>
        </p:txBody>
      </p:sp>
      <p:sp>
        <p:nvSpPr>
          <p:cNvPr id="9" name="TextBox 8"/>
          <p:cNvSpPr txBox="1"/>
          <p:nvPr/>
        </p:nvSpPr>
        <p:spPr>
          <a:xfrm>
            <a:off x="640080" y="2011680"/>
            <a:ext cx="5212080" cy="457200"/>
          </a:xfrm>
          <a:prstGeom prst="rect">
            <a:avLst/>
          </a:prstGeom>
          <a:noFill/>
        </p:spPr>
        <p:txBody>
          <a:bodyPr wrap="square">
            <a:spAutoFit/>
          </a:bodyPr>
          <a:lstStyle/>
          <a:p>
            <a:pPr algn="l"/>
            <a:r>
              <a:rPr sz="1400" b="0">
                <a:solidFill>
                  <a:srgbClr val="1F2937"/>
                </a:solidFill>
                <a:latin typeface="Calibri"/>
              </a:rPr>
              <a:t>The packet of pages is on the desk. (packet = singular)</a:t>
            </a:r>
          </a:p>
        </p:txBody>
      </p:sp>
      <p:sp>
        <p:nvSpPr>
          <p:cNvPr id="10" name="Rounded Rectangle 9"/>
          <p:cNvSpPr/>
          <p:nvPr/>
        </p:nvSpPr>
        <p:spPr>
          <a:xfrm>
            <a:off x="6263640" y="1371600"/>
            <a:ext cx="562356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600200"/>
            <a:ext cx="5212080" cy="320040"/>
          </a:xfrm>
          <a:prstGeom prst="rect">
            <a:avLst/>
          </a:prstGeom>
          <a:noFill/>
        </p:spPr>
        <p:txBody>
          <a:bodyPr wrap="square">
            <a:spAutoFit/>
          </a:bodyPr>
          <a:lstStyle/>
          <a:p>
            <a:pPr algn="l"/>
            <a:r>
              <a:rPr sz="1600" b="1">
                <a:solidFill>
                  <a:srgbClr val="F07359"/>
                </a:solidFill>
                <a:latin typeface="Calibri"/>
              </a:rPr>
              <a:t>FANBOYS</a:t>
            </a:r>
          </a:p>
        </p:txBody>
      </p:sp>
      <p:sp>
        <p:nvSpPr>
          <p:cNvPr id="12" name="TextBox 11"/>
          <p:cNvSpPr txBox="1"/>
          <p:nvPr/>
        </p:nvSpPr>
        <p:spPr>
          <a:xfrm>
            <a:off x="6492240" y="2011680"/>
            <a:ext cx="5212080" cy="457200"/>
          </a:xfrm>
          <a:prstGeom prst="rect">
            <a:avLst/>
          </a:prstGeom>
          <a:noFill/>
        </p:spPr>
        <p:txBody>
          <a:bodyPr wrap="square">
            <a:spAutoFit/>
          </a:bodyPr>
          <a:lstStyle/>
          <a:p>
            <a:pPr algn="l"/>
            <a:r>
              <a:rPr sz="1400" b="0">
                <a:solidFill>
                  <a:srgbClr val="1F2937"/>
                </a:solidFill>
                <a:latin typeface="Calibri"/>
              </a:rPr>
              <a:t>She wanted to quit, but she kept reading.</a:t>
            </a:r>
          </a:p>
        </p:txBody>
      </p:sp>
      <p:sp>
        <p:nvSpPr>
          <p:cNvPr id="13" name="Rounded Rectangle 12"/>
          <p:cNvSpPr/>
          <p:nvPr/>
        </p:nvSpPr>
        <p:spPr>
          <a:xfrm>
            <a:off x="411480" y="2880360"/>
            <a:ext cx="562356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108960"/>
            <a:ext cx="5212080" cy="320040"/>
          </a:xfrm>
          <a:prstGeom prst="rect">
            <a:avLst/>
          </a:prstGeom>
          <a:noFill/>
        </p:spPr>
        <p:txBody>
          <a:bodyPr wrap="square">
            <a:spAutoFit/>
          </a:bodyPr>
          <a:lstStyle/>
          <a:p>
            <a:pPr algn="l"/>
            <a:r>
              <a:rPr sz="1600" b="1">
                <a:solidFill>
                  <a:srgbClr val="F07359"/>
                </a:solidFill>
                <a:latin typeface="Calibri"/>
              </a:rPr>
              <a:t>Intro comma</a:t>
            </a:r>
          </a:p>
        </p:txBody>
      </p:sp>
      <p:sp>
        <p:nvSpPr>
          <p:cNvPr id="15" name="TextBox 14"/>
          <p:cNvSpPr txBox="1"/>
          <p:nvPr/>
        </p:nvSpPr>
        <p:spPr>
          <a:xfrm>
            <a:off x="640080" y="3520440"/>
            <a:ext cx="5212080" cy="457200"/>
          </a:xfrm>
          <a:prstGeom prst="rect">
            <a:avLst/>
          </a:prstGeom>
          <a:noFill/>
        </p:spPr>
        <p:txBody>
          <a:bodyPr wrap="square">
            <a:spAutoFit/>
          </a:bodyPr>
          <a:lstStyle/>
          <a:p>
            <a:pPr algn="l"/>
            <a:r>
              <a:rPr sz="1400" b="0">
                <a:solidFill>
                  <a:srgbClr val="1F2937"/>
                </a:solidFill>
                <a:latin typeface="Calibri"/>
              </a:rPr>
              <a:t>After the lights returned, pencils kept moving.</a:t>
            </a:r>
          </a:p>
        </p:txBody>
      </p:sp>
      <p:sp>
        <p:nvSpPr>
          <p:cNvPr id="16" name="Rounded Rectangle 15"/>
          <p:cNvSpPr/>
          <p:nvPr/>
        </p:nvSpPr>
        <p:spPr>
          <a:xfrm>
            <a:off x="6263640" y="2880360"/>
            <a:ext cx="562356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108960"/>
            <a:ext cx="5212080" cy="320040"/>
          </a:xfrm>
          <a:prstGeom prst="rect">
            <a:avLst/>
          </a:prstGeom>
          <a:noFill/>
        </p:spPr>
        <p:txBody>
          <a:bodyPr wrap="square">
            <a:spAutoFit/>
          </a:bodyPr>
          <a:lstStyle/>
          <a:p>
            <a:pPr algn="l"/>
            <a:r>
              <a:rPr sz="1600" b="1">
                <a:solidFill>
                  <a:srgbClr val="F07359"/>
                </a:solidFill>
                <a:latin typeface="Calibri"/>
              </a:rPr>
              <a:t>it’s / its</a:t>
            </a:r>
          </a:p>
        </p:txBody>
      </p:sp>
      <p:sp>
        <p:nvSpPr>
          <p:cNvPr id="18" name="TextBox 17"/>
          <p:cNvSpPr txBox="1"/>
          <p:nvPr/>
        </p:nvSpPr>
        <p:spPr>
          <a:xfrm>
            <a:off x="6492240" y="3520440"/>
            <a:ext cx="5212080" cy="457200"/>
          </a:xfrm>
          <a:prstGeom prst="rect">
            <a:avLst/>
          </a:prstGeom>
          <a:noFill/>
        </p:spPr>
        <p:txBody>
          <a:bodyPr wrap="square">
            <a:spAutoFit/>
          </a:bodyPr>
          <a:lstStyle/>
          <a:p>
            <a:pPr algn="l"/>
            <a:r>
              <a:rPr sz="1400" b="0">
                <a:solidFill>
                  <a:srgbClr val="1F2937"/>
                </a:solidFill>
                <a:latin typeface="Calibri"/>
              </a:rPr>
              <a:t>It’s (= it is) raining. The class found its focus.</a:t>
            </a:r>
          </a:p>
        </p:txBody>
      </p:sp>
      <p:sp>
        <p:nvSpPr>
          <p:cNvPr id="19" name="Rounded Rectangle 18"/>
          <p:cNvSpPr/>
          <p:nvPr/>
        </p:nvSpPr>
        <p:spPr>
          <a:xfrm>
            <a:off x="411480" y="4389120"/>
            <a:ext cx="562356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5212080" cy="320040"/>
          </a:xfrm>
          <a:prstGeom prst="rect">
            <a:avLst/>
          </a:prstGeom>
          <a:noFill/>
        </p:spPr>
        <p:txBody>
          <a:bodyPr wrap="square">
            <a:spAutoFit/>
          </a:bodyPr>
          <a:lstStyle/>
          <a:p>
            <a:pPr algn="l"/>
            <a:r>
              <a:rPr sz="1600" b="1">
                <a:solidFill>
                  <a:srgbClr val="F07359"/>
                </a:solidFill>
                <a:latin typeface="Calibri"/>
              </a:rPr>
              <a:t>than / then</a:t>
            </a:r>
          </a:p>
        </p:txBody>
      </p:sp>
      <p:sp>
        <p:nvSpPr>
          <p:cNvPr id="21" name="TextBox 20"/>
          <p:cNvSpPr txBox="1"/>
          <p:nvPr/>
        </p:nvSpPr>
        <p:spPr>
          <a:xfrm>
            <a:off x="640080" y="5029200"/>
            <a:ext cx="5212080" cy="457200"/>
          </a:xfrm>
          <a:prstGeom prst="rect">
            <a:avLst/>
          </a:prstGeom>
          <a:noFill/>
        </p:spPr>
        <p:txBody>
          <a:bodyPr wrap="square">
            <a:spAutoFit/>
          </a:bodyPr>
          <a:lstStyle/>
          <a:p>
            <a:pPr algn="l"/>
            <a:r>
              <a:rPr sz="1400" b="0">
                <a:solidFill>
                  <a:srgbClr val="1F2937"/>
                </a:solidFill>
                <a:latin typeface="Calibri"/>
              </a:rPr>
              <a:t>Better than chatting. Ask first, then annotate.</a:t>
            </a:r>
          </a:p>
        </p:txBody>
      </p:sp>
      <p:sp>
        <p:nvSpPr>
          <p:cNvPr id="22" name="Rounded Rectangle 21"/>
          <p:cNvSpPr/>
          <p:nvPr/>
        </p:nvSpPr>
        <p:spPr>
          <a:xfrm>
            <a:off x="6263640" y="4389120"/>
            <a:ext cx="562356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617720"/>
            <a:ext cx="5212080" cy="320040"/>
          </a:xfrm>
          <a:prstGeom prst="rect">
            <a:avLst/>
          </a:prstGeom>
          <a:noFill/>
        </p:spPr>
        <p:txBody>
          <a:bodyPr wrap="square">
            <a:spAutoFit/>
          </a:bodyPr>
          <a:lstStyle/>
          <a:p>
            <a:pPr algn="l"/>
            <a:r>
              <a:rPr sz="1600" b="1">
                <a:solidFill>
                  <a:srgbClr val="F07359"/>
                </a:solidFill>
                <a:latin typeface="Calibri"/>
              </a:rPr>
              <a:t>their / there / they’re</a:t>
            </a:r>
          </a:p>
        </p:txBody>
      </p:sp>
      <p:sp>
        <p:nvSpPr>
          <p:cNvPr id="24" name="TextBox 23"/>
          <p:cNvSpPr txBox="1"/>
          <p:nvPr/>
        </p:nvSpPr>
        <p:spPr>
          <a:xfrm>
            <a:off x="6492240" y="5029200"/>
            <a:ext cx="5212080" cy="457200"/>
          </a:xfrm>
          <a:prstGeom prst="rect">
            <a:avLst/>
          </a:prstGeom>
          <a:noFill/>
        </p:spPr>
        <p:txBody>
          <a:bodyPr wrap="square">
            <a:spAutoFit/>
          </a:bodyPr>
          <a:lstStyle/>
          <a:p>
            <a:pPr algn="l"/>
            <a:r>
              <a:rPr sz="1400" b="0">
                <a:solidFill>
                  <a:srgbClr val="1F2937"/>
                </a:solidFill>
                <a:latin typeface="Calibri"/>
              </a:rPr>
              <a:t>They’re putting their notes over there.</a:t>
            </a:r>
          </a:p>
        </p:txBody>
      </p:sp>
      <p:sp>
        <p:nvSpPr>
          <p:cNvPr id="25" name="Rectangle 24"/>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43–53 min</a:t>
            </a:r>
          </a:p>
        </p:txBody>
      </p:sp>
      <p:sp>
        <p:nvSpPr>
          <p:cNvPr id="27" name="TextBox 2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21/30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LIVE PRACTICE</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Apply the Rules (Still in Story Context)</a:t>
            </a:r>
          </a:p>
        </p:txBody>
      </p:sp>
      <p:sp>
        <p:nvSpPr>
          <p:cNvPr id="7" name="Rounded Rectangle 6"/>
          <p:cNvSpPr/>
          <p:nvPr/>
        </p:nvSpPr>
        <p:spPr>
          <a:xfrm>
            <a:off x="411480" y="1371600"/>
            <a:ext cx="113385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45920"/>
            <a:ext cx="10972800" cy="411480"/>
          </a:xfrm>
          <a:prstGeom prst="rect">
            <a:avLst/>
          </a:prstGeom>
          <a:noFill/>
        </p:spPr>
        <p:txBody>
          <a:bodyPr wrap="square">
            <a:spAutoFit/>
          </a:bodyPr>
          <a:lstStyle/>
          <a:p>
            <a:pPr algn="l"/>
            <a:r>
              <a:rPr sz="1600" b="0">
                <a:solidFill>
                  <a:srgbClr val="1F2937"/>
                </a:solidFill>
                <a:latin typeface="Calibri"/>
              </a:rPr>
              <a:t>1.  Everyone in Room 214 have a strategy for hard paragraphs.</a:t>
            </a:r>
          </a:p>
        </p:txBody>
      </p:sp>
      <p:sp>
        <p:nvSpPr>
          <p:cNvPr id="9" name="Rounded Rectangle 8"/>
          <p:cNvSpPr/>
          <p:nvPr/>
        </p:nvSpPr>
        <p:spPr>
          <a:xfrm>
            <a:off x="411480" y="2468880"/>
            <a:ext cx="113385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743200"/>
            <a:ext cx="10972800" cy="411480"/>
          </a:xfrm>
          <a:prstGeom prst="rect">
            <a:avLst/>
          </a:prstGeom>
          <a:noFill/>
        </p:spPr>
        <p:txBody>
          <a:bodyPr wrap="square">
            <a:spAutoFit/>
          </a:bodyPr>
          <a:lstStyle/>
          <a:p>
            <a:pPr algn="l"/>
            <a:r>
              <a:rPr sz="1600" b="0">
                <a:solidFill>
                  <a:srgbClr val="1F2937"/>
                </a:solidFill>
                <a:latin typeface="Calibri"/>
              </a:rPr>
              <a:t>2.  The stack of packets are tipping near the window.</a:t>
            </a:r>
          </a:p>
        </p:txBody>
      </p:sp>
      <p:sp>
        <p:nvSpPr>
          <p:cNvPr id="11" name="Rounded Rectangle 10"/>
          <p:cNvSpPr/>
          <p:nvPr/>
        </p:nvSpPr>
        <p:spPr>
          <a:xfrm>
            <a:off x="411480" y="3566160"/>
            <a:ext cx="113385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840480"/>
            <a:ext cx="10972800" cy="411480"/>
          </a:xfrm>
          <a:prstGeom prst="rect">
            <a:avLst/>
          </a:prstGeom>
          <a:noFill/>
        </p:spPr>
        <p:txBody>
          <a:bodyPr wrap="square">
            <a:spAutoFit/>
          </a:bodyPr>
          <a:lstStyle/>
          <a:p>
            <a:pPr algn="l"/>
            <a:r>
              <a:rPr sz="1600" b="0">
                <a:solidFill>
                  <a:srgbClr val="1F2937"/>
                </a:solidFill>
                <a:latin typeface="Calibri"/>
              </a:rPr>
              <a:t>3.  Its clear that asking better questions help readers.</a:t>
            </a:r>
          </a:p>
        </p:txBody>
      </p:sp>
      <p:sp>
        <p:nvSpPr>
          <p:cNvPr id="13" name="Rounded Rectangle 12"/>
          <p:cNvSpPr/>
          <p:nvPr/>
        </p:nvSpPr>
        <p:spPr>
          <a:xfrm>
            <a:off x="411480" y="4663440"/>
            <a:ext cx="113385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37760"/>
            <a:ext cx="10972800" cy="411480"/>
          </a:xfrm>
          <a:prstGeom prst="rect">
            <a:avLst/>
          </a:prstGeom>
          <a:noFill/>
        </p:spPr>
        <p:txBody>
          <a:bodyPr wrap="square">
            <a:spAutoFit/>
          </a:bodyPr>
          <a:lstStyle/>
          <a:p>
            <a:pPr algn="l"/>
            <a:r>
              <a:rPr sz="1600" b="0">
                <a:solidFill>
                  <a:srgbClr val="1F2937"/>
                </a:solidFill>
                <a:latin typeface="Calibri"/>
              </a:rPr>
              <a:t>4.  Reading with evidence has a bigger affect then guessing.</a:t>
            </a:r>
          </a:p>
        </p:txBody>
      </p:sp>
      <p:sp>
        <p:nvSpPr>
          <p:cNvPr id="15" name="Rectangle 14"/>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43–53 min</a:t>
            </a:r>
          </a:p>
        </p:txBody>
      </p:sp>
      <p:sp>
        <p:nvSpPr>
          <p:cNvPr id="17" name="TextBox 1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22/30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ANSWER KEY</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Corrected Versions</a:t>
            </a:r>
          </a:p>
        </p:txBody>
      </p:sp>
      <p:sp>
        <p:nvSpPr>
          <p:cNvPr id="7" name="Rounded Rectangle 6"/>
          <p:cNvSpPr/>
          <p:nvPr/>
        </p:nvSpPr>
        <p:spPr>
          <a:xfrm>
            <a:off x="411480" y="1371600"/>
            <a:ext cx="11338560" cy="96012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45920"/>
            <a:ext cx="10972800" cy="411480"/>
          </a:xfrm>
          <a:prstGeom prst="rect">
            <a:avLst/>
          </a:prstGeom>
          <a:noFill/>
        </p:spPr>
        <p:txBody>
          <a:bodyPr wrap="square">
            <a:spAutoFit/>
          </a:bodyPr>
          <a:lstStyle/>
          <a:p>
            <a:pPr algn="l"/>
            <a:r>
              <a:rPr sz="1600" b="0">
                <a:solidFill>
                  <a:srgbClr val="1F2937"/>
                </a:solidFill>
                <a:latin typeface="Calibri"/>
              </a:rPr>
              <a:t>1.  Everyone in Room 214 has a strategy for hard paragraphs.</a:t>
            </a:r>
          </a:p>
        </p:txBody>
      </p:sp>
      <p:sp>
        <p:nvSpPr>
          <p:cNvPr id="9" name="Rounded Rectangle 8"/>
          <p:cNvSpPr/>
          <p:nvPr/>
        </p:nvSpPr>
        <p:spPr>
          <a:xfrm>
            <a:off x="411480" y="2468880"/>
            <a:ext cx="11338560" cy="96012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743200"/>
            <a:ext cx="10972800" cy="411480"/>
          </a:xfrm>
          <a:prstGeom prst="rect">
            <a:avLst/>
          </a:prstGeom>
          <a:noFill/>
        </p:spPr>
        <p:txBody>
          <a:bodyPr wrap="square">
            <a:spAutoFit/>
          </a:bodyPr>
          <a:lstStyle/>
          <a:p>
            <a:pPr algn="l"/>
            <a:r>
              <a:rPr sz="1600" b="0">
                <a:solidFill>
                  <a:srgbClr val="1F2937"/>
                </a:solidFill>
                <a:latin typeface="Calibri"/>
              </a:rPr>
              <a:t>2.  The stack of packets is tipping near the window.</a:t>
            </a:r>
          </a:p>
        </p:txBody>
      </p:sp>
      <p:sp>
        <p:nvSpPr>
          <p:cNvPr id="11" name="Rounded Rectangle 10"/>
          <p:cNvSpPr/>
          <p:nvPr/>
        </p:nvSpPr>
        <p:spPr>
          <a:xfrm>
            <a:off x="411480" y="3566160"/>
            <a:ext cx="11338560" cy="96012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840480"/>
            <a:ext cx="10972800" cy="411480"/>
          </a:xfrm>
          <a:prstGeom prst="rect">
            <a:avLst/>
          </a:prstGeom>
          <a:noFill/>
        </p:spPr>
        <p:txBody>
          <a:bodyPr wrap="square">
            <a:spAutoFit/>
          </a:bodyPr>
          <a:lstStyle/>
          <a:p>
            <a:pPr algn="l"/>
            <a:r>
              <a:rPr sz="1600" b="0">
                <a:solidFill>
                  <a:srgbClr val="1F2937"/>
                </a:solidFill>
                <a:latin typeface="Calibri"/>
              </a:rPr>
              <a:t>3.  It’s clear that asking better questions helps readers.</a:t>
            </a:r>
          </a:p>
        </p:txBody>
      </p:sp>
      <p:sp>
        <p:nvSpPr>
          <p:cNvPr id="13" name="Rounded Rectangle 12"/>
          <p:cNvSpPr/>
          <p:nvPr/>
        </p:nvSpPr>
        <p:spPr>
          <a:xfrm>
            <a:off x="411480" y="4663440"/>
            <a:ext cx="11338560" cy="96012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37760"/>
            <a:ext cx="10972800" cy="411480"/>
          </a:xfrm>
          <a:prstGeom prst="rect">
            <a:avLst/>
          </a:prstGeom>
          <a:noFill/>
        </p:spPr>
        <p:txBody>
          <a:bodyPr wrap="square">
            <a:spAutoFit/>
          </a:bodyPr>
          <a:lstStyle/>
          <a:p>
            <a:pPr algn="l"/>
            <a:r>
              <a:rPr sz="1600" b="0">
                <a:solidFill>
                  <a:srgbClr val="1F2937"/>
                </a:solidFill>
                <a:latin typeface="Calibri"/>
              </a:rPr>
              <a:t>4.  Reading with evidence has a bigger effect than guessing.</a:t>
            </a:r>
          </a:p>
        </p:txBody>
      </p:sp>
      <p:sp>
        <p:nvSpPr>
          <p:cNvPr id="15" name="Rectangle 14"/>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43–53 min</a:t>
            </a:r>
          </a:p>
        </p:txBody>
      </p:sp>
      <p:sp>
        <p:nvSpPr>
          <p:cNvPr id="17" name="TextBox 16"/>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23/30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0698480" cy="365760"/>
          </a:xfrm>
          <a:prstGeom prst="rect">
            <a:avLst/>
          </a:prstGeom>
          <a:noFill/>
        </p:spPr>
        <p:txBody>
          <a:bodyPr wrap="square">
            <a:spAutoFit/>
          </a:bodyPr>
          <a:lstStyle/>
          <a:p>
            <a:pPr algn="ctr"/>
            <a:r>
              <a:rPr sz="1500" b="1">
                <a:solidFill>
                  <a:srgbClr val="F5B301"/>
                </a:solidFill>
                <a:latin typeface="Calibri"/>
              </a:rPr>
              <a:t>GAME 4  •  FINAL BOSS — READING + GRAMMAR TOGETHER</a:t>
            </a:r>
          </a:p>
        </p:txBody>
      </p:sp>
      <p:sp>
        <p:nvSpPr>
          <p:cNvPr id="5" name="TextBox 4"/>
          <p:cNvSpPr txBox="1"/>
          <p:nvPr/>
        </p:nvSpPr>
        <p:spPr>
          <a:xfrm>
            <a:off x="731520" y="2377440"/>
            <a:ext cx="10698480" cy="914400"/>
          </a:xfrm>
          <a:prstGeom prst="rect">
            <a:avLst/>
          </a:prstGeom>
          <a:noFill/>
        </p:spPr>
        <p:txBody>
          <a:bodyPr wrap="square">
            <a:spAutoFit/>
          </a:bodyPr>
          <a:lstStyle/>
          <a:p>
            <a:pPr algn="ctr"/>
            <a:r>
              <a:rPr sz="4000" b="1">
                <a:solidFill>
                  <a:srgbClr val="FFFFFF"/>
                </a:solidFill>
                <a:latin typeface="Georgia"/>
              </a:rPr>
              <a:t>Passage Remix
Challenge</a:t>
            </a:r>
          </a:p>
        </p:txBody>
      </p:sp>
      <p:sp>
        <p:nvSpPr>
          <p:cNvPr id="6" name="TextBox 5"/>
          <p:cNvSpPr txBox="1"/>
          <p:nvPr/>
        </p:nvSpPr>
        <p:spPr>
          <a:xfrm>
            <a:off x="731520" y="4023360"/>
            <a:ext cx="10698480" cy="457200"/>
          </a:xfrm>
          <a:prstGeom prst="rect">
            <a:avLst/>
          </a:prstGeom>
          <a:noFill/>
        </p:spPr>
        <p:txBody>
          <a:bodyPr wrap="square">
            <a:spAutoFit/>
          </a:bodyPr>
          <a:lstStyle/>
          <a:p>
            <a:pPr algn="ctr"/>
            <a:r>
              <a:rPr sz="1800" b="0">
                <a:solidFill>
                  <a:srgbClr val="BFDBFE"/>
                </a:solidFill>
                <a:latin typeface="Calibri"/>
              </a:rPr>
              <a:t>Edit a messy remix of our story, then add one strong inference.</a:t>
            </a:r>
          </a:p>
        </p:txBody>
      </p:sp>
      <p:sp>
        <p:nvSpPr>
          <p:cNvPr id="7" name="TextBox 6"/>
          <p:cNvSpPr txBox="1"/>
          <p:nvPr/>
        </p:nvSpPr>
        <p:spPr>
          <a:xfrm>
            <a:off x="731520" y="4663440"/>
            <a:ext cx="10698480" cy="365760"/>
          </a:xfrm>
          <a:prstGeom prst="rect">
            <a:avLst/>
          </a:prstGeom>
          <a:noFill/>
        </p:spPr>
        <p:txBody>
          <a:bodyPr wrap="square">
            <a:spAutoFit/>
          </a:bodyPr>
          <a:lstStyle/>
          <a:p>
            <a:pPr algn="ctr"/>
            <a:r>
              <a:rPr sz="1600" b="0">
                <a:solidFill>
                  <a:srgbClr val="F5B301"/>
                </a:solidFill>
                <a:latin typeface="Calibri"/>
              </a:rPr>
              <a:t>7 minutes  •  Integrates RI.7.1 + L.7.1/L.7.2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SYLLABUS GAME</a:t>
            </a:r>
          </a:p>
        </p:txBody>
      </p:sp>
      <p:sp>
        <p:nvSpPr>
          <p:cNvPr id="6" name="Rounded Rectangle 5"/>
          <p:cNvSpPr/>
          <p:nvPr/>
        </p:nvSpPr>
        <p:spPr>
          <a:xfrm>
            <a:off x="9646920" y="292608"/>
            <a:ext cx="2148840" cy="347472"/>
          </a:xfrm>
          <a:prstGeom prst="roundRect">
            <a:avLst/>
          </a:prstGeom>
          <a:solidFill>
            <a:srgbClr val="F073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310896"/>
            <a:ext cx="2148840" cy="320040"/>
          </a:xfrm>
          <a:prstGeom prst="rect">
            <a:avLst/>
          </a:prstGeom>
          <a:noFill/>
        </p:spPr>
        <p:txBody>
          <a:bodyPr wrap="square">
            <a:spAutoFit/>
          </a:bodyPr>
          <a:lstStyle/>
          <a:p>
            <a:pPr algn="ctr"/>
            <a:r>
              <a:rPr sz="1200" b="1">
                <a:solidFill>
                  <a:srgbClr val="FFFFFF"/>
                </a:solidFill>
                <a:latin typeface="Calibri"/>
              </a:rPr>
              <a:t>7 minutes</a:t>
            </a:r>
          </a:p>
        </p:txBody>
      </p:sp>
      <p:sp>
        <p:nvSpPr>
          <p:cNvPr id="8" name="TextBox 7"/>
          <p:cNvSpPr txBox="1"/>
          <p:nvPr/>
        </p:nvSpPr>
        <p:spPr>
          <a:xfrm>
            <a:off x="411480" y="777240"/>
            <a:ext cx="10972800" cy="411480"/>
          </a:xfrm>
          <a:prstGeom prst="rect">
            <a:avLst/>
          </a:prstGeom>
          <a:noFill/>
        </p:spPr>
        <p:txBody>
          <a:bodyPr wrap="square">
            <a:spAutoFit/>
          </a:bodyPr>
          <a:lstStyle/>
          <a:p>
            <a:pPr algn="l"/>
            <a:r>
              <a:rPr sz="2400" b="1">
                <a:solidFill>
                  <a:srgbClr val="0F2C59"/>
                </a:solidFill>
                <a:latin typeface="Georgia"/>
              </a:rPr>
              <a:t>Passage Remix — Rescue This Paragraph</a:t>
            </a:r>
          </a:p>
        </p:txBody>
      </p:sp>
      <p:sp>
        <p:nvSpPr>
          <p:cNvPr id="9" name="Rounded Rectangle 8"/>
          <p:cNvSpPr/>
          <p:nvPr/>
        </p:nvSpPr>
        <p:spPr>
          <a:xfrm>
            <a:off x="411480" y="1325880"/>
            <a:ext cx="113385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63040"/>
            <a:ext cx="10972800" cy="320040"/>
          </a:xfrm>
          <a:prstGeom prst="rect">
            <a:avLst/>
          </a:prstGeom>
          <a:noFill/>
        </p:spPr>
        <p:txBody>
          <a:bodyPr wrap="square">
            <a:spAutoFit/>
          </a:bodyPr>
          <a:lstStyle/>
          <a:p>
            <a:pPr algn="l"/>
            <a:r>
              <a:rPr sz="1400" b="1">
                <a:solidFill>
                  <a:srgbClr val="F07359"/>
                </a:solidFill>
                <a:latin typeface="Calibri"/>
              </a:rPr>
              <a:t>Broken remix (based on today’s passage):</a:t>
            </a:r>
          </a:p>
        </p:txBody>
      </p:sp>
      <p:sp>
        <p:nvSpPr>
          <p:cNvPr id="11" name="TextBox 10"/>
          <p:cNvSpPr txBox="1"/>
          <p:nvPr/>
        </p:nvSpPr>
        <p:spPr>
          <a:xfrm>
            <a:off x="640080" y="1874519"/>
            <a:ext cx="10972800" cy="1371600"/>
          </a:xfrm>
          <a:prstGeom prst="rect">
            <a:avLst/>
          </a:prstGeom>
          <a:noFill/>
        </p:spPr>
        <p:txBody>
          <a:bodyPr wrap="square">
            <a:spAutoFit/>
          </a:bodyPr>
          <a:lstStyle/>
          <a:p>
            <a:pPr algn="l"/>
            <a:r>
              <a:rPr sz="1500" b="0">
                <a:solidFill>
                  <a:srgbClr val="1F2937"/>
                </a:solidFill>
                <a:latin typeface="Calibri"/>
              </a:rPr>
              <a:t>Rain hammer the windows while the class wait. Ms. Reyes stay calm and say nobody lose progress. Maya already underline the paragraph its a smart habit. Asking better questions help the room shift and turn a delay into learning.</a:t>
            </a:r>
          </a:p>
        </p:txBody>
      </p:sp>
      <p:sp>
        <p:nvSpPr>
          <p:cNvPr id="12" name="Rounded Rectangle 11"/>
          <p:cNvSpPr/>
          <p:nvPr/>
        </p:nvSpPr>
        <p:spPr>
          <a:xfrm>
            <a:off x="411480" y="3657600"/>
            <a:ext cx="5532120" cy="2148840"/>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40480"/>
            <a:ext cx="5120640" cy="320040"/>
          </a:xfrm>
          <a:prstGeom prst="rect">
            <a:avLst/>
          </a:prstGeom>
          <a:noFill/>
        </p:spPr>
        <p:txBody>
          <a:bodyPr wrap="square">
            <a:spAutoFit/>
          </a:bodyPr>
          <a:lstStyle/>
          <a:p>
            <a:pPr algn="l"/>
            <a:r>
              <a:rPr sz="1600" b="1">
                <a:solidFill>
                  <a:srgbClr val="0F2C59"/>
                </a:solidFill>
                <a:latin typeface="Calibri"/>
              </a:rPr>
              <a:t>Mission A (4 min)</a:t>
            </a:r>
          </a:p>
        </p:txBody>
      </p:sp>
      <p:sp>
        <p:nvSpPr>
          <p:cNvPr id="14" name="TextBox 13"/>
          <p:cNvSpPr txBox="1"/>
          <p:nvPr/>
        </p:nvSpPr>
        <p:spPr>
          <a:xfrm>
            <a:off x="640080" y="4297680"/>
            <a:ext cx="5120640" cy="1371600"/>
          </a:xfrm>
          <a:prstGeom prst="rect">
            <a:avLst/>
          </a:prstGeom>
          <a:noFill/>
        </p:spPr>
        <p:txBody>
          <a:bodyPr wrap="square">
            <a:spAutoFit/>
          </a:bodyPr>
          <a:lstStyle/>
          <a:p>
            <a:pPr>
              <a:spcAft>
                <a:spcPts val="800"/>
              </a:spcAft>
            </a:pPr>
            <a:r>
              <a:rPr sz="1400" b="0">
                <a:solidFill>
                  <a:srgbClr val="1F2937"/>
                </a:solidFill>
                <a:latin typeface="Calibri"/>
              </a:rPr>
              <a:t>•  Rewrite the paragraph correctly</a:t>
            </a:r>
          </a:p>
          <a:p>
            <a:pPr>
              <a:spcAft>
                <a:spcPts val="800"/>
              </a:spcAft>
            </a:pPr>
            <a:r>
              <a:rPr sz="1400" b="0">
                <a:solidFill>
                  <a:srgbClr val="1F2937"/>
                </a:solidFill>
                <a:latin typeface="Calibri"/>
              </a:rPr>
              <a:t>•  Fix verbs, agreement, it’s/its</a:t>
            </a:r>
          </a:p>
          <a:p>
            <a:pPr>
              <a:spcAft>
                <a:spcPts val="800"/>
              </a:spcAft>
            </a:pPr>
            <a:r>
              <a:rPr sz="1400" b="0">
                <a:solidFill>
                  <a:srgbClr val="1F2937"/>
                </a:solidFill>
                <a:latin typeface="Calibri"/>
              </a:rPr>
              <a:t>•  Keep the original meaning</a:t>
            </a:r>
          </a:p>
        </p:txBody>
      </p:sp>
      <p:sp>
        <p:nvSpPr>
          <p:cNvPr id="15" name="Rounded Rectangle 14"/>
          <p:cNvSpPr/>
          <p:nvPr/>
        </p:nvSpPr>
        <p:spPr>
          <a:xfrm>
            <a:off x="6172200" y="3657600"/>
            <a:ext cx="5577840" cy="2148840"/>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840480"/>
            <a:ext cx="5120640" cy="320040"/>
          </a:xfrm>
          <a:prstGeom prst="rect">
            <a:avLst/>
          </a:prstGeom>
          <a:noFill/>
        </p:spPr>
        <p:txBody>
          <a:bodyPr wrap="square">
            <a:spAutoFit/>
          </a:bodyPr>
          <a:lstStyle/>
          <a:p>
            <a:pPr algn="l"/>
            <a:r>
              <a:rPr sz="1600" b="1">
                <a:solidFill>
                  <a:srgbClr val="0F2C59"/>
                </a:solidFill>
                <a:latin typeface="Calibri"/>
              </a:rPr>
              <a:t>Mission B (3 min)</a:t>
            </a:r>
          </a:p>
        </p:txBody>
      </p:sp>
      <p:sp>
        <p:nvSpPr>
          <p:cNvPr id="17" name="TextBox 16"/>
          <p:cNvSpPr txBox="1"/>
          <p:nvPr/>
        </p:nvSpPr>
        <p:spPr>
          <a:xfrm>
            <a:off x="6400800" y="4297680"/>
            <a:ext cx="5120640" cy="1371600"/>
          </a:xfrm>
          <a:prstGeom prst="rect">
            <a:avLst/>
          </a:prstGeom>
          <a:noFill/>
        </p:spPr>
        <p:txBody>
          <a:bodyPr wrap="square">
            <a:spAutoFit/>
          </a:bodyPr>
          <a:lstStyle/>
          <a:p>
            <a:pPr>
              <a:spcAft>
                <a:spcPts val="800"/>
              </a:spcAft>
            </a:pPr>
            <a:r>
              <a:rPr sz="1400" b="0">
                <a:solidFill>
                  <a:srgbClr val="1F2937"/>
                </a:solidFill>
                <a:latin typeface="Calibri"/>
              </a:rPr>
              <a:t>•  Add 1 inference about the class</a:t>
            </a:r>
          </a:p>
          <a:p>
            <a:pPr>
              <a:spcAft>
                <a:spcPts val="800"/>
              </a:spcAft>
            </a:pPr>
            <a:r>
              <a:rPr sz="1400" b="0">
                <a:solidFill>
                  <a:srgbClr val="1F2937"/>
                </a:solidFill>
                <a:latin typeface="Calibri"/>
              </a:rPr>
              <a:t>•  Include a clue from the passage</a:t>
            </a:r>
          </a:p>
          <a:p>
            <a:pPr>
              <a:spcAft>
                <a:spcPts val="800"/>
              </a:spcAft>
            </a:pPr>
            <a:r>
              <a:rPr sz="1400" b="0">
                <a:solidFill>
                  <a:srgbClr val="1F2937"/>
                </a:solidFill>
                <a:latin typeface="Calibri"/>
              </a:rPr>
              <a:t>•  One clear sentence is enough</a:t>
            </a:r>
          </a:p>
        </p:txBody>
      </p:sp>
      <p:sp>
        <p:nvSpPr>
          <p:cNvPr id="18" name="Rectangle 17"/>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53–60 min</a:t>
            </a:r>
          </a:p>
        </p:txBody>
      </p:sp>
      <p:sp>
        <p:nvSpPr>
          <p:cNvPr id="20" name="TextBox 19"/>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25/30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MODEL RESPONSE</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600" b="1">
                <a:solidFill>
                  <a:srgbClr val="0F2C59"/>
                </a:solidFill>
                <a:latin typeface="Georgia"/>
              </a:rPr>
              <a:t>What a Strong Finish Looks Like</a:t>
            </a:r>
          </a:p>
        </p:txBody>
      </p:sp>
      <p:sp>
        <p:nvSpPr>
          <p:cNvPr id="7" name="Rounded Rectangle 6"/>
          <p:cNvSpPr/>
          <p:nvPr/>
        </p:nvSpPr>
        <p:spPr>
          <a:xfrm>
            <a:off x="411480" y="1371600"/>
            <a:ext cx="1133856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54480"/>
            <a:ext cx="10972800" cy="320040"/>
          </a:xfrm>
          <a:prstGeom prst="rect">
            <a:avLst/>
          </a:prstGeom>
          <a:noFill/>
        </p:spPr>
        <p:txBody>
          <a:bodyPr wrap="square">
            <a:spAutoFit/>
          </a:bodyPr>
          <a:lstStyle/>
          <a:p>
            <a:pPr algn="l"/>
            <a:r>
              <a:rPr sz="1500" b="1">
                <a:solidFill>
                  <a:srgbClr val="0D9488"/>
                </a:solidFill>
                <a:latin typeface="Calibri"/>
              </a:rPr>
              <a:t>Edited paragraph</a:t>
            </a:r>
          </a:p>
        </p:txBody>
      </p:sp>
      <p:sp>
        <p:nvSpPr>
          <p:cNvPr id="9" name="TextBox 8"/>
          <p:cNvSpPr txBox="1"/>
          <p:nvPr/>
        </p:nvSpPr>
        <p:spPr>
          <a:xfrm>
            <a:off x="640080" y="1965960"/>
            <a:ext cx="10972800" cy="1371600"/>
          </a:xfrm>
          <a:prstGeom prst="rect">
            <a:avLst/>
          </a:prstGeom>
          <a:noFill/>
        </p:spPr>
        <p:txBody>
          <a:bodyPr wrap="square">
            <a:spAutoFit/>
          </a:bodyPr>
          <a:lstStyle/>
          <a:p>
            <a:pPr algn="l"/>
            <a:r>
              <a:rPr sz="1500" b="0">
                <a:solidFill>
                  <a:srgbClr val="1F2937"/>
                </a:solidFill>
                <a:latin typeface="Calibri"/>
              </a:rPr>
              <a:t>Rain hammers the windows while the class waits. Ms. Reyes stays calm and says nobody loses progress. Maya already underlines the paragraph; it’s a smart habit. Asking better questions helps the room shift and turns a delay into learning.</a:t>
            </a:r>
          </a:p>
        </p:txBody>
      </p:sp>
      <p:sp>
        <p:nvSpPr>
          <p:cNvPr id="10" name="Rounded Rectangle 9"/>
          <p:cNvSpPr/>
          <p:nvPr/>
        </p:nvSpPr>
        <p:spPr>
          <a:xfrm>
            <a:off x="411480" y="3886200"/>
            <a:ext cx="11338560" cy="2011680"/>
          </a:xfrm>
          <a:prstGeom prst="roundRect">
            <a:avLst/>
          </a:prstGeom>
          <a:solidFill>
            <a:srgbClr val="CCFB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69080"/>
            <a:ext cx="10972800" cy="320040"/>
          </a:xfrm>
          <a:prstGeom prst="rect">
            <a:avLst/>
          </a:prstGeom>
          <a:noFill/>
        </p:spPr>
        <p:txBody>
          <a:bodyPr wrap="square">
            <a:spAutoFit/>
          </a:bodyPr>
          <a:lstStyle/>
          <a:p>
            <a:pPr algn="l"/>
            <a:r>
              <a:rPr sz="1500" b="1">
                <a:solidFill>
                  <a:srgbClr val="0F2C59"/>
                </a:solidFill>
                <a:latin typeface="Calibri"/>
              </a:rPr>
              <a:t>Sample inference</a:t>
            </a:r>
          </a:p>
        </p:txBody>
      </p:sp>
      <p:sp>
        <p:nvSpPr>
          <p:cNvPr id="12" name="TextBox 11"/>
          <p:cNvSpPr txBox="1"/>
          <p:nvPr/>
        </p:nvSpPr>
        <p:spPr>
          <a:xfrm>
            <a:off x="640080" y="4526280"/>
            <a:ext cx="10972800" cy="1097280"/>
          </a:xfrm>
          <a:prstGeom prst="rect">
            <a:avLst/>
          </a:prstGeom>
          <a:noFill/>
        </p:spPr>
        <p:txBody>
          <a:bodyPr wrap="square">
            <a:spAutoFit/>
          </a:bodyPr>
          <a:lstStyle/>
          <a:p>
            <a:pPr algn="l"/>
            <a:r>
              <a:rPr sz="1500" b="0">
                <a:solidFill>
                  <a:srgbClr val="1F2937"/>
                </a:solidFill>
                <a:latin typeface="Calibri"/>
              </a:rPr>
              <a:t>The class values learning even during interruptions, because they choose questions and annotation instead of only waiting for the lights.</a:t>
            </a:r>
          </a:p>
        </p:txBody>
      </p:sp>
      <p:sp>
        <p:nvSpPr>
          <p:cNvPr id="13" name="Rectangle 12"/>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53–60 min</a:t>
            </a:r>
          </a:p>
        </p:txBody>
      </p:sp>
      <p:sp>
        <p:nvSpPr>
          <p:cNvPr id="15" name="TextBox 14"/>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26/30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WRAP-UP</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Takeaways + Weekly Challenge</a:t>
            </a:r>
          </a:p>
        </p:txBody>
      </p:sp>
      <p:sp>
        <p:nvSpPr>
          <p:cNvPr id="7" name="Rounded Rectangle 6"/>
          <p:cNvSpPr/>
          <p:nvPr/>
        </p:nvSpPr>
        <p:spPr>
          <a:xfrm>
            <a:off x="411480" y="1371600"/>
            <a:ext cx="553212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5120640" cy="320040"/>
          </a:xfrm>
          <a:prstGeom prst="rect">
            <a:avLst/>
          </a:prstGeom>
          <a:noFill/>
        </p:spPr>
        <p:txBody>
          <a:bodyPr wrap="square">
            <a:spAutoFit/>
          </a:bodyPr>
          <a:lstStyle/>
          <a:p>
            <a:pPr algn="l"/>
            <a:r>
              <a:rPr sz="1800" b="1">
                <a:solidFill>
                  <a:srgbClr val="0D9488"/>
                </a:solidFill>
                <a:latin typeface="Calibri"/>
              </a:rPr>
              <a:t>Evidence first</a:t>
            </a:r>
          </a:p>
        </p:txBody>
      </p:sp>
      <p:sp>
        <p:nvSpPr>
          <p:cNvPr id="9" name="TextBox 8"/>
          <p:cNvSpPr txBox="1"/>
          <p:nvPr/>
        </p:nvSpPr>
        <p:spPr>
          <a:xfrm>
            <a:off x="640080" y="2011680"/>
            <a:ext cx="5120640" cy="365760"/>
          </a:xfrm>
          <a:prstGeom prst="rect">
            <a:avLst/>
          </a:prstGeom>
          <a:noFill/>
        </p:spPr>
        <p:txBody>
          <a:bodyPr wrap="square">
            <a:spAutoFit/>
          </a:bodyPr>
          <a:lstStyle/>
          <a:p>
            <a:pPr algn="l"/>
            <a:r>
              <a:rPr sz="1400" b="0">
                <a:solidFill>
                  <a:srgbClr val="1F2937"/>
                </a:solidFill>
                <a:latin typeface="Calibri"/>
              </a:rPr>
              <a:t>Quote the text before you explain</a:t>
            </a:r>
          </a:p>
        </p:txBody>
      </p:sp>
      <p:sp>
        <p:nvSpPr>
          <p:cNvPr id="10" name="Rounded Rectangle 9"/>
          <p:cNvSpPr/>
          <p:nvPr/>
        </p:nvSpPr>
        <p:spPr>
          <a:xfrm>
            <a:off x="411480" y="2788920"/>
            <a:ext cx="553212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017520"/>
            <a:ext cx="5120640" cy="320040"/>
          </a:xfrm>
          <a:prstGeom prst="rect">
            <a:avLst/>
          </a:prstGeom>
          <a:noFill/>
        </p:spPr>
        <p:txBody>
          <a:bodyPr wrap="square">
            <a:spAutoFit/>
          </a:bodyPr>
          <a:lstStyle/>
          <a:p>
            <a:pPr algn="l"/>
            <a:r>
              <a:rPr sz="1800" b="1">
                <a:solidFill>
                  <a:srgbClr val="0D9488"/>
                </a:solidFill>
                <a:latin typeface="Calibri"/>
              </a:rPr>
              <a:t>Infer with clues</a:t>
            </a:r>
          </a:p>
        </p:txBody>
      </p:sp>
      <p:sp>
        <p:nvSpPr>
          <p:cNvPr id="12" name="TextBox 11"/>
          <p:cNvSpPr txBox="1"/>
          <p:nvPr/>
        </p:nvSpPr>
        <p:spPr>
          <a:xfrm>
            <a:off x="640080" y="3429000"/>
            <a:ext cx="5120640" cy="365760"/>
          </a:xfrm>
          <a:prstGeom prst="rect">
            <a:avLst/>
          </a:prstGeom>
          <a:noFill/>
        </p:spPr>
        <p:txBody>
          <a:bodyPr wrap="square">
            <a:spAutoFit/>
          </a:bodyPr>
          <a:lstStyle/>
          <a:p>
            <a:pPr algn="l"/>
            <a:r>
              <a:rPr sz="1400" b="0">
                <a:solidFill>
                  <a:srgbClr val="1F2937"/>
                </a:solidFill>
                <a:latin typeface="Calibri"/>
              </a:rPr>
              <a:t>No clue = no claim</a:t>
            </a:r>
          </a:p>
        </p:txBody>
      </p:sp>
      <p:sp>
        <p:nvSpPr>
          <p:cNvPr id="13" name="Rounded Rectangle 12"/>
          <p:cNvSpPr/>
          <p:nvPr/>
        </p:nvSpPr>
        <p:spPr>
          <a:xfrm>
            <a:off x="411480" y="4206240"/>
            <a:ext cx="553212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434840"/>
            <a:ext cx="5120640" cy="320040"/>
          </a:xfrm>
          <a:prstGeom prst="rect">
            <a:avLst/>
          </a:prstGeom>
          <a:noFill/>
        </p:spPr>
        <p:txBody>
          <a:bodyPr wrap="square">
            <a:spAutoFit/>
          </a:bodyPr>
          <a:lstStyle/>
          <a:p>
            <a:pPr algn="l"/>
            <a:r>
              <a:rPr sz="1800" b="1">
                <a:solidFill>
                  <a:srgbClr val="0D9488"/>
                </a:solidFill>
                <a:latin typeface="Calibri"/>
              </a:rPr>
              <a:t>Grammar in context</a:t>
            </a:r>
          </a:p>
        </p:txBody>
      </p:sp>
      <p:sp>
        <p:nvSpPr>
          <p:cNvPr id="15" name="TextBox 14"/>
          <p:cNvSpPr txBox="1"/>
          <p:nvPr/>
        </p:nvSpPr>
        <p:spPr>
          <a:xfrm>
            <a:off x="640080" y="4846320"/>
            <a:ext cx="5120640" cy="365760"/>
          </a:xfrm>
          <a:prstGeom prst="rect">
            <a:avLst/>
          </a:prstGeom>
          <a:noFill/>
        </p:spPr>
        <p:txBody>
          <a:bodyPr wrap="square">
            <a:spAutoFit/>
          </a:bodyPr>
          <a:lstStyle/>
          <a:p>
            <a:pPr algn="l"/>
            <a:r>
              <a:rPr sz="1400" b="0">
                <a:solidFill>
                  <a:srgbClr val="1F2937"/>
                </a:solidFill>
                <a:latin typeface="Calibri"/>
              </a:rPr>
              <a:t>Fix sentences about real reading</a:t>
            </a:r>
          </a:p>
        </p:txBody>
      </p:sp>
      <p:sp>
        <p:nvSpPr>
          <p:cNvPr id="16" name="Rounded Rectangle 15"/>
          <p:cNvSpPr/>
          <p:nvPr/>
        </p:nvSpPr>
        <p:spPr>
          <a:xfrm>
            <a:off x="6172200" y="1371600"/>
            <a:ext cx="5577840" cy="4434840"/>
          </a:xfrm>
          <a:prstGeom prst="round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1645920"/>
            <a:ext cx="5120640" cy="365760"/>
          </a:xfrm>
          <a:prstGeom prst="rect">
            <a:avLst/>
          </a:prstGeom>
          <a:noFill/>
        </p:spPr>
        <p:txBody>
          <a:bodyPr wrap="square">
            <a:spAutoFit/>
          </a:bodyPr>
          <a:lstStyle/>
          <a:p>
            <a:pPr algn="l"/>
            <a:r>
              <a:rPr sz="1800" b="1">
                <a:solidFill>
                  <a:srgbClr val="F5B301"/>
                </a:solidFill>
                <a:latin typeface="Calibri"/>
              </a:rPr>
              <a:t>This Week’s Mission</a:t>
            </a:r>
          </a:p>
        </p:txBody>
      </p:sp>
      <p:sp>
        <p:nvSpPr>
          <p:cNvPr id="18" name="TextBox 17"/>
          <p:cNvSpPr txBox="1"/>
          <p:nvPr/>
        </p:nvSpPr>
        <p:spPr>
          <a:xfrm>
            <a:off x="6446520" y="2240280"/>
            <a:ext cx="5120640" cy="3200400"/>
          </a:xfrm>
          <a:prstGeom prst="rect">
            <a:avLst/>
          </a:prstGeom>
          <a:noFill/>
        </p:spPr>
        <p:txBody>
          <a:bodyPr wrap="square">
            <a:spAutoFit/>
          </a:bodyPr>
          <a:lstStyle/>
          <a:p>
            <a:pPr>
              <a:spcAft>
                <a:spcPts val="1200"/>
              </a:spcAft>
            </a:pPr>
            <a:r>
              <a:rPr sz="1500" b="0">
                <a:solidFill>
                  <a:srgbClr val="FFFFFF"/>
                </a:solidFill>
                <a:latin typeface="Calibri"/>
              </a:rPr>
              <a:t>•  Read 15 minutes daily</a:t>
            </a:r>
          </a:p>
          <a:p>
            <a:pPr>
              <a:spcAft>
                <a:spcPts val="1200"/>
              </a:spcAft>
            </a:pPr>
            <a:r>
              <a:rPr sz="1500" b="0">
                <a:solidFill>
                  <a:srgbClr val="FFFFFF"/>
                </a:solidFill>
                <a:latin typeface="Calibri"/>
              </a:rPr>
              <a:t>•  Annotate one short article (★ — ?)</a:t>
            </a:r>
          </a:p>
          <a:p>
            <a:pPr>
              <a:spcAft>
                <a:spcPts val="1200"/>
              </a:spcAft>
            </a:pPr>
            <a:r>
              <a:rPr sz="1500" b="0">
                <a:solidFill>
                  <a:srgbClr val="FFFFFF"/>
                </a:solidFill>
                <a:latin typeface="Calibri"/>
              </a:rPr>
              <a:t>•  Write a 1-sentence main idea</a:t>
            </a:r>
          </a:p>
          <a:p>
            <a:pPr>
              <a:spcAft>
                <a:spcPts val="1200"/>
              </a:spcAft>
            </a:pPr>
            <a:r>
              <a:rPr sz="1500" b="0">
                <a:solidFill>
                  <a:srgbClr val="FFFFFF"/>
                </a:solidFill>
                <a:latin typeface="Calibri"/>
              </a:rPr>
              <a:t>•  Replay Evidence Hunt on 3 claims</a:t>
            </a:r>
          </a:p>
          <a:p>
            <a:pPr>
              <a:spcAft>
                <a:spcPts val="1200"/>
              </a:spcAft>
            </a:pPr>
            <a:r>
              <a:rPr sz="1500" b="0">
                <a:solidFill>
                  <a:srgbClr val="FFFFFF"/>
                </a:solidFill>
                <a:latin typeface="Calibri"/>
              </a:rPr>
              <a:t>•  Bring one tricky sentence next time</a:t>
            </a:r>
          </a:p>
        </p:txBody>
      </p:sp>
      <p:sp>
        <p:nvSpPr>
          <p:cNvPr id="19" name="Rectangle 18"/>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Close</a:t>
            </a:r>
          </a:p>
        </p:txBody>
      </p:sp>
      <p:sp>
        <p:nvSpPr>
          <p:cNvPr id="21" name="TextBox 20"/>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27/30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B30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20240"/>
            <a:ext cx="10698480" cy="411480"/>
          </a:xfrm>
          <a:prstGeom prst="rect">
            <a:avLst/>
          </a:prstGeom>
          <a:noFill/>
        </p:spPr>
        <p:txBody>
          <a:bodyPr wrap="square">
            <a:spAutoFit/>
          </a:bodyPr>
          <a:lstStyle/>
          <a:p>
            <a:pPr algn="ctr"/>
            <a:r>
              <a:rPr sz="2000" b="0">
                <a:solidFill>
                  <a:srgbClr val="F5B301"/>
                </a:solidFill>
                <a:latin typeface="Calibri"/>
              </a:rPr>
              <a:t>You’re already good at English.</a:t>
            </a:r>
          </a:p>
        </p:txBody>
      </p:sp>
      <p:sp>
        <p:nvSpPr>
          <p:cNvPr id="5" name="TextBox 4"/>
          <p:cNvSpPr txBox="1"/>
          <p:nvPr/>
        </p:nvSpPr>
        <p:spPr>
          <a:xfrm>
            <a:off x="731520" y="2468880"/>
            <a:ext cx="10698480" cy="1188720"/>
          </a:xfrm>
          <a:prstGeom prst="rect">
            <a:avLst/>
          </a:prstGeom>
          <a:noFill/>
        </p:spPr>
        <p:txBody>
          <a:bodyPr wrap="square">
            <a:spAutoFit/>
          </a:bodyPr>
          <a:lstStyle/>
          <a:p>
            <a:pPr algn="ctr"/>
            <a:r>
              <a:rPr sz="3200" b="1">
                <a:solidFill>
                  <a:srgbClr val="FFFFFF"/>
                </a:solidFill>
                <a:latin typeface="Georgia"/>
              </a:rPr>
              <a:t>Today you practiced becoming
sharper — with games that teach.</a:t>
            </a:r>
          </a:p>
        </p:txBody>
      </p:sp>
      <p:sp>
        <p:nvSpPr>
          <p:cNvPr id="6" name="TextBox 5"/>
          <p:cNvSpPr txBox="1"/>
          <p:nvPr/>
        </p:nvSpPr>
        <p:spPr>
          <a:xfrm>
            <a:off x="731520" y="4023360"/>
            <a:ext cx="10698480" cy="411480"/>
          </a:xfrm>
          <a:prstGeom prst="rect">
            <a:avLst/>
          </a:prstGeom>
          <a:noFill/>
        </p:spPr>
        <p:txBody>
          <a:bodyPr wrap="square">
            <a:spAutoFit/>
          </a:bodyPr>
          <a:lstStyle/>
          <a:p>
            <a:pPr algn="ctr"/>
            <a:r>
              <a:rPr sz="1600" b="0">
                <a:solidFill>
                  <a:srgbClr val="BFDBFE"/>
                </a:solidFill>
                <a:latin typeface="Calibri"/>
              </a:rPr>
              <a:t>Favorite game? Best evidence quote? One skill you’ll use tomorrow?</a:t>
            </a:r>
          </a:p>
        </p:txBody>
      </p:sp>
      <p:sp>
        <p:nvSpPr>
          <p:cNvPr id="7" name="TextBox 6"/>
          <p:cNvSpPr txBox="1"/>
          <p:nvPr/>
        </p:nvSpPr>
        <p:spPr>
          <a:xfrm>
            <a:off x="731520" y="4937760"/>
            <a:ext cx="10698480" cy="365760"/>
          </a:xfrm>
          <a:prstGeom prst="rect">
            <a:avLst/>
          </a:prstGeom>
          <a:noFill/>
        </p:spPr>
        <p:txBody>
          <a:bodyPr wrap="square">
            <a:spAutoFit/>
          </a:bodyPr>
          <a:lstStyle/>
          <a:p>
            <a:pPr algn="ctr"/>
            <a:r>
              <a:rPr sz="2200" b="1">
                <a:solidFill>
                  <a:srgbClr val="FFFFFF"/>
                </a:solidFill>
                <a:latin typeface="Calibri"/>
              </a:rPr>
              <a:t>Great work today!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292608"/>
            <a:ext cx="2468880" cy="347472"/>
          </a:xfrm>
          <a:prstGeom prst="roundRect">
            <a:avLst/>
          </a:prstGeom>
          <a:solidFill>
            <a:srgbClr val="1D9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310896"/>
            <a:ext cx="2468880" cy="320040"/>
          </a:xfrm>
          <a:prstGeom prst="rect">
            <a:avLst/>
          </a:prstGeom>
          <a:noFill/>
        </p:spPr>
        <p:txBody>
          <a:bodyPr wrap="square">
            <a:spAutoFit/>
          </a:bodyPr>
          <a:lstStyle/>
          <a:p>
            <a:pPr algn="ctr"/>
            <a:r>
              <a:rPr sz="1200" b="1">
                <a:solidFill>
                  <a:srgbClr val="FFFFFF"/>
                </a:solidFill>
                <a:latin typeface="Calibri"/>
              </a:rPr>
              <a:t>FACILITATOR</a:t>
            </a:r>
          </a:p>
        </p:txBody>
      </p:sp>
      <p:sp>
        <p:nvSpPr>
          <p:cNvPr id="6" name="TextBox 5"/>
          <p:cNvSpPr txBox="1"/>
          <p:nvPr/>
        </p:nvSpPr>
        <p:spPr>
          <a:xfrm>
            <a:off x="411480" y="777240"/>
            <a:ext cx="10972800" cy="411480"/>
          </a:xfrm>
          <a:prstGeom prst="rect">
            <a:avLst/>
          </a:prstGeom>
          <a:noFill/>
        </p:spPr>
        <p:txBody>
          <a:bodyPr wrap="square">
            <a:spAutoFit/>
          </a:bodyPr>
          <a:lstStyle/>
          <a:p>
            <a:pPr algn="l"/>
            <a:r>
              <a:rPr sz="2800" b="1">
                <a:solidFill>
                  <a:srgbClr val="0F2C59"/>
                </a:solidFill>
                <a:latin typeface="Georgia"/>
              </a:rPr>
              <a:t>How to Keep Energy High</a:t>
            </a:r>
          </a:p>
        </p:txBody>
      </p:sp>
      <p:sp>
        <p:nvSpPr>
          <p:cNvPr id="7" name="TextBox 6"/>
          <p:cNvSpPr txBox="1"/>
          <p:nvPr/>
        </p:nvSpPr>
        <p:spPr>
          <a:xfrm>
            <a:off x="411480" y="1371600"/>
            <a:ext cx="11338560" cy="4572000"/>
          </a:xfrm>
          <a:prstGeom prst="rect">
            <a:avLst/>
          </a:prstGeom>
          <a:noFill/>
        </p:spPr>
        <p:txBody>
          <a:bodyPr wrap="square">
            <a:spAutoFit/>
          </a:bodyPr>
          <a:lstStyle/>
          <a:p>
            <a:pPr>
              <a:spcAft>
                <a:spcPts val="1200"/>
              </a:spcAft>
            </a:pPr>
            <a:r>
              <a:rPr sz="1600" b="0">
                <a:solidFill>
                  <a:srgbClr val="1F2937"/>
                </a:solidFill>
                <a:latin typeface="Calibri"/>
              </a:rPr>
              <a:t>1.  Keep one passage all hour — games reuse it so learning feels cohesive.</a:t>
            </a:r>
          </a:p>
          <a:p>
            <a:pPr>
              <a:spcAft>
                <a:spcPts val="1200"/>
              </a:spcAft>
            </a:pPr>
            <a:r>
              <a:rPr sz="1600" b="0">
                <a:solidFill>
                  <a:srgbClr val="1F2937"/>
                </a:solidFill>
                <a:latin typeface="Calibri"/>
              </a:rPr>
              <a:t>2.  Score lightly and celebrate process (“smart quote”) more than speed.</a:t>
            </a:r>
          </a:p>
          <a:p>
            <a:pPr>
              <a:spcAft>
                <a:spcPts val="1200"/>
              </a:spcAft>
            </a:pPr>
            <a:r>
              <a:rPr sz="1600" b="0">
                <a:solidFill>
                  <a:srgbClr val="1F2937"/>
                </a:solidFill>
                <a:latin typeface="Calibri"/>
              </a:rPr>
              <a:t>3.  If she’s stuck, reread one sentence aloud together, then retry.</a:t>
            </a:r>
          </a:p>
          <a:p>
            <a:pPr>
              <a:spcAft>
                <a:spcPts val="1200"/>
              </a:spcAft>
            </a:pPr>
            <a:r>
              <a:rPr sz="1600" b="0">
                <a:solidFill>
                  <a:srgbClr val="1F2937"/>
                </a:solidFill>
                <a:latin typeface="Calibri"/>
              </a:rPr>
              <a:t>4.  Games are short on purpose: 5–7 minutes max, then back to skill.</a:t>
            </a:r>
          </a:p>
          <a:p>
            <a:pPr>
              <a:spcAft>
                <a:spcPts val="1200"/>
              </a:spcAft>
            </a:pPr>
            <a:r>
              <a:rPr sz="1600" b="0">
                <a:solidFill>
                  <a:srgbClr val="1F2937"/>
                </a:solidFill>
                <a:latin typeface="Calibri"/>
              </a:rPr>
              <a:t>5.  Push Grade 7 rigor: require evidence words, not “I feel like…”</a:t>
            </a:r>
          </a:p>
          <a:p>
            <a:pPr>
              <a:spcAft>
                <a:spcPts val="1200"/>
              </a:spcAft>
            </a:pPr>
            <a:r>
              <a:rPr sz="1600" b="0">
                <a:solidFill>
                  <a:srgbClr val="1F2937"/>
                </a:solidFill>
                <a:latin typeface="Calibri"/>
              </a:rPr>
              <a:t>6.  Materials: timer, notebook, pencil; optional printed passage page.</a:t>
            </a:r>
          </a:p>
        </p:txBody>
      </p:sp>
      <p:sp>
        <p:nvSpPr>
          <p:cNvPr id="8" name="Rectangle 7"/>
          <p:cNvSpPr/>
          <p:nvPr/>
        </p:nvSpPr>
        <p:spPr>
          <a:xfrm>
            <a:off x="0" y="6537960"/>
            <a:ext cx="12191695" cy="32004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10241280" cy="274320"/>
          </a:xfrm>
          <a:prstGeom prst="rect">
            <a:avLst/>
          </a:prstGeom>
          <a:noFill/>
        </p:spPr>
        <p:txBody>
          <a:bodyPr wrap="square">
            <a:spAutoFit/>
          </a:bodyPr>
          <a:lstStyle/>
          <a:p>
            <a:pPr algn="l"/>
            <a:r>
              <a:rPr sz="1100" b="0">
                <a:solidFill>
                  <a:srgbClr val="FFFFFF"/>
                </a:solidFill>
                <a:latin typeface="Calibri"/>
              </a:rPr>
              <a:t>Grade 7 ELA Demo  |  Reading + Grammar  |  60 min  |  Teacher</a:t>
            </a:r>
          </a:p>
        </p:txBody>
      </p:sp>
      <p:sp>
        <p:nvSpPr>
          <p:cNvPr id="10" name="TextBox 9"/>
          <p:cNvSpPr txBox="1"/>
          <p:nvPr/>
        </p:nvSpPr>
        <p:spPr>
          <a:xfrm>
            <a:off x="10972800" y="6565392"/>
            <a:ext cx="1005840" cy="274320"/>
          </a:xfrm>
          <a:prstGeom prst="rect">
            <a:avLst/>
          </a:prstGeom>
          <a:noFill/>
        </p:spPr>
        <p:txBody>
          <a:bodyPr wrap="square">
            <a:spAutoFit/>
          </a:bodyPr>
          <a:lstStyle/>
          <a:p>
            <a:pPr algn="r"/>
            <a:r>
              <a:rPr sz="1100" b="0">
                <a:solidFill>
                  <a:srgbClr val="FFFFFF"/>
                </a:solidFill>
                <a:latin typeface="Calibri"/>
              </a:rPr>
              <a:t>29/30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