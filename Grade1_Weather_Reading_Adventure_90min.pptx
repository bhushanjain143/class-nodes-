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2C3945"/>
                </a:solidFill>
                <a:latin typeface="Calibri"/>
              </a:rPr>
              <a:t>🌦️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THE WEATHER READING ADVENTURE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9CC6EC"/>
                </a:solidFill>
                <a:latin typeface="Calibri"/>
              </a:rPr>
              <a:t>"Become a Junior Weather Reporter!"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3337560"/>
            <a:ext cx="1463040" cy="1371600"/>
          </a:xfrm>
          <a:prstGeom prst="roundRect">
            <a:avLst/>
          </a:prstGeom>
          <a:solidFill>
            <a:srgbClr val="253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C6EC"/>
                </a:solidFill>
                <a:latin typeface="Calibri"/>
              </a:rPr>
              <a:t>sun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3337560"/>
            <a:ext cx="1463040" cy="1371600"/>
          </a:xfrm>
          <a:prstGeom prst="roundRect">
            <a:avLst/>
          </a:prstGeom>
          <a:solidFill>
            <a:srgbClr val="253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945"/>
                </a:solidFill>
                <a:latin typeface="Calibri"/>
              </a:rPr>
              <a:t>☁️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C6EC"/>
                </a:solidFill>
                <a:latin typeface="Calibri"/>
              </a:rPr>
              <a:t>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3337560"/>
            <a:ext cx="1463040" cy="1371600"/>
          </a:xfrm>
          <a:prstGeom prst="roundRect">
            <a:avLst/>
          </a:prstGeom>
          <a:solidFill>
            <a:srgbClr val="253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C6EC"/>
                </a:solidFill>
                <a:latin typeface="Calibri"/>
              </a:rPr>
              <a:t>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7336" y="3337560"/>
            <a:ext cx="1463040" cy="1371600"/>
          </a:xfrm>
          <a:prstGeom prst="roundRect">
            <a:avLst/>
          </a:prstGeom>
          <a:solidFill>
            <a:srgbClr val="253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7336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945"/>
                </a:solidFill>
                <a:latin typeface="Calibri"/>
              </a:rPr>
              <a:t>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7336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C6EC"/>
                </a:solidFill>
                <a:latin typeface="Calibri"/>
              </a:rPr>
              <a:t>rainbow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44968" y="3337560"/>
            <a:ext cx="1463040" cy="1371600"/>
          </a:xfrm>
          <a:prstGeom prst="roundRect">
            <a:avLst/>
          </a:prstGeom>
          <a:solidFill>
            <a:srgbClr val="253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945"/>
                </a:solidFill>
                <a:latin typeface="Calibri"/>
              </a:rPr>
              <a:t>🌬️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C6EC"/>
                </a:solidFill>
                <a:latin typeface="Calibri"/>
              </a:rPr>
              <a:t>wind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3337560"/>
            <a:ext cx="1463040" cy="1371600"/>
          </a:xfrm>
          <a:prstGeom prst="roundRect">
            <a:avLst/>
          </a:prstGeom>
          <a:solidFill>
            <a:srgbClr val="253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945"/>
                </a:solidFill>
                <a:latin typeface="Calibri"/>
              </a:rPr>
              <a:t>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C6EC"/>
                </a:solidFill>
                <a:latin typeface="Calibri"/>
              </a:rPr>
              <a:t>report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4937760"/>
            <a:ext cx="6492240" cy="914400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5138928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Grade 1  •  90 Minutes  •  Reading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19088"/>
            <a:ext cx="162555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0–7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 / 75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🎯 Today's Mission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25111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EB5"/>
                </a:solidFill>
                <a:latin typeface="Calibri"/>
              </a:rPr>
              <a:t>We will read words, play weather games, build sentences and read a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440680" cy="182880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20116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1396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945"/>
                </a:solidFill>
                <a:latin typeface="Calibri"/>
              </a:rPr>
              <a:t>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103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430"/>
                </a:solidFill>
                <a:latin typeface="Calibri"/>
              </a:rPr>
              <a:t>Read new words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606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945"/>
                </a:solidFill>
                <a:latin typeface="Calibri"/>
              </a:rPr>
              <a:t>Sounds first, then the whole word.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063240"/>
            <a:ext cx="237744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31089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6EB5"/>
                </a:solidFill>
                <a:latin typeface="Calibri"/>
              </a:rPr>
              <a:t>STEP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737360"/>
            <a:ext cx="5440680" cy="182880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92240" y="20116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1396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945"/>
                </a:solidFill>
                <a:latin typeface="Calibri"/>
              </a:rPr>
              <a:t>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103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430"/>
                </a:solidFill>
                <a:latin typeface="Calibri"/>
              </a:rPr>
              <a:t>Play weather games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606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945"/>
                </a:solidFill>
                <a:latin typeface="Calibri"/>
              </a:rPr>
              <a:t>Matching, sorting and word building.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3063240"/>
            <a:ext cx="237744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31089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6EB5"/>
                </a:solidFill>
                <a:latin typeface="Calibri"/>
              </a:rPr>
              <a:t>STEP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749039"/>
            <a:ext cx="5440680" cy="182880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40" y="4023359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151375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945"/>
                </a:solidFill>
                <a:latin typeface="Calibri"/>
              </a:rPr>
              <a:t>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11479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430"/>
                </a:solidFill>
                <a:latin typeface="Calibri"/>
              </a:rPr>
              <a:t>Build sentences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61771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945"/>
                </a:solidFill>
                <a:latin typeface="Calibri"/>
              </a:rPr>
              <a:t>Put the words in the right order.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5074919"/>
            <a:ext cx="237744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0" y="5120639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6EB5"/>
                </a:solidFill>
                <a:latin typeface="Calibri"/>
              </a:rPr>
              <a:t>STEP 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49039"/>
            <a:ext cx="5440680" cy="182880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92240" y="4023359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151375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945"/>
                </a:solidFill>
                <a:latin typeface="Calibri"/>
              </a:rPr>
              <a:t>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411479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430"/>
                </a:solidFill>
                <a:latin typeface="Calibri"/>
              </a:rPr>
              <a:t>Read a real 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461771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945"/>
                </a:solidFill>
                <a:latin typeface="Calibri"/>
              </a:rPr>
              <a:t>A rainy day story in five short parts.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43800" y="5074919"/>
            <a:ext cx="237744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5120639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6EB5"/>
                </a:solidFill>
                <a:latin typeface="Calibri"/>
              </a:rPr>
              <a:t>STEP 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06440"/>
            <a:ext cx="11292840" cy="457200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897880"/>
            <a:ext cx="11292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At the end you become a 🏆 WEATHER READING STAR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🗺️ Your Weather Journey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87667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EB5"/>
                </a:solidFill>
                <a:latin typeface="Calibri"/>
              </a:rPr>
              <a:t>Six stations. We stop at every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737360" cy="356616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737360"/>
            <a:ext cx="1737360" cy="402336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9222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STOP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0040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Sunny Station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4048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945"/>
                </a:solidFill>
                <a:latin typeface="Calibri"/>
              </a:rPr>
              <a:t>First sounds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17720"/>
            <a:ext cx="1371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725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2900A"/>
                </a:solidFill>
                <a:latin typeface="Calibri"/>
              </a:rPr>
              <a:t>7–17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1408" y="3063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995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68296" y="1737360"/>
            <a:ext cx="1737360" cy="356616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368296" y="1737360"/>
            <a:ext cx="1737360" cy="402336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68296" y="179222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STOP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68296" y="22860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C3945"/>
                </a:solidFill>
                <a:latin typeface="Calibri"/>
              </a:rPr>
              <a:t>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9736" y="320040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Rainbow Station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9736" y="384048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945"/>
                </a:solidFill>
                <a:latin typeface="Calibri"/>
              </a:rPr>
              <a:t>Short vowels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51176" y="4617720"/>
            <a:ext cx="1371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51176" y="46725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4BA8"/>
                </a:solidFill>
                <a:latin typeface="Calibri"/>
              </a:rPr>
              <a:t>17–27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2504" y="3063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995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79392" y="1737360"/>
            <a:ext cx="1737360" cy="356616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79392" y="1737360"/>
            <a:ext cx="1737360" cy="402336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9392" y="179222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STOP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9392" y="22860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C3945"/>
                </a:solidFill>
                <a:latin typeface="Calibri"/>
              </a:rPr>
              <a:t>☁️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832" y="320040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Cloud Station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2" y="384048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945"/>
                </a:solidFill>
                <a:latin typeface="Calibri"/>
              </a:rPr>
              <a:t>Building words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62272" y="4617720"/>
            <a:ext cx="1371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62272" y="46725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E7796"/>
                </a:solidFill>
                <a:latin typeface="Calibri"/>
              </a:rPr>
              <a:t>27–37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063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995"/>
                </a:solidFill>
                <a:latin typeface="Calibri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0488" y="1737360"/>
            <a:ext cx="1737360" cy="356616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190488" y="1737360"/>
            <a:ext cx="1737360" cy="402336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0488" y="179222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STOP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0488" y="22860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1928" y="320040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Rain Station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1928" y="384048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945"/>
                </a:solidFill>
                <a:latin typeface="Calibri"/>
              </a:rPr>
              <a:t>Families &amp; sight words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73368" y="4617720"/>
            <a:ext cx="1371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3368" y="46725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6EB5"/>
                </a:solidFill>
                <a:latin typeface="Calibri"/>
              </a:rPr>
              <a:t>37–59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54696" y="3063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995"/>
                </a:solidFill>
                <a:latin typeface="Calibri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01583" y="1737360"/>
            <a:ext cx="1737360" cy="356616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101583" y="1737360"/>
            <a:ext cx="1737360" cy="402336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01583" y="179222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STOP 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01583" y="22860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C3945"/>
                </a:solidFill>
                <a:latin typeface="Calibri"/>
              </a:rPr>
              <a:t>🌬️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3" y="320040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Wind Station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93023" y="384048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945"/>
                </a:solidFill>
                <a:latin typeface="Calibri"/>
              </a:rPr>
              <a:t>Sentences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84463" y="4617720"/>
            <a:ext cx="1371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84463" y="46725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3867C"/>
                </a:solidFill>
                <a:latin typeface="Calibri"/>
              </a:rPr>
              <a:t>59–68 min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65791" y="3063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995"/>
                </a:solidFill>
                <a:latin typeface="Calibri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12680" y="1737360"/>
            <a:ext cx="1737360" cy="3566160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012680" y="1737360"/>
            <a:ext cx="1737360" cy="402336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12680" y="179222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STOP 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22860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C3945"/>
                </a:solidFill>
                <a:latin typeface="Calibri"/>
              </a:rPr>
              <a:t>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04120" y="320040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Weather Desk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04120" y="384048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945"/>
                </a:solidFill>
                <a:latin typeface="Calibri"/>
              </a:rPr>
              <a:t>Story &amp; report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95560" y="4617720"/>
            <a:ext cx="1371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95560" y="46725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E413D"/>
                </a:solidFill>
                <a:latin typeface="Calibri"/>
              </a:rPr>
              <a:t>68–90 min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5532120"/>
            <a:ext cx="11292840" cy="77724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650992"/>
            <a:ext cx="11292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900A"/>
                </a:solidFill>
                <a:latin typeface="Calibri"/>
              </a:rPr>
              <a:t>🏆 AT THE FINISH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5943600"/>
            <a:ext cx="11292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430"/>
                </a:solidFill>
                <a:latin typeface="Calibri"/>
              </a:rPr>
              <a:t>You read words, sentences and a whole story — and you become a Weather Reading Star.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TALKING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🌤️ Weather Talk — Just Look and Tell 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50223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900A"/>
                </a:solidFill>
                <a:latin typeface="Calibri"/>
              </a:rPr>
              <a:t>No reading yet. Just look at the sky and talk to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754880" cy="402336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 i="0">
                <a:solidFill>
                  <a:srgbClr val="2C3945"/>
                </a:solidFill>
                <a:latin typeface="Calibri"/>
              </a:rPr>
              <a:t>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2900A"/>
                </a:solidFill>
                <a:latin typeface="Calibri"/>
              </a:rPr>
              <a:t>Look out of the window too!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C8995"/>
                </a:solidFill>
                <a:latin typeface="Calibri"/>
              </a:rPr>
              <a:t>There is no wrong answer here.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1737360"/>
            <a:ext cx="29718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1938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C3945"/>
                </a:solidFill>
                <a:latin typeface="Calibri"/>
              </a:rPr>
              <a:t>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9385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What do you see?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1737360"/>
            <a:ext cx="29718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938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19385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Is it sunny?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2120" y="2788920"/>
            <a:ext cx="29718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2990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9900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Is it rainy?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2788920"/>
            <a:ext cx="29718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2990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C3945"/>
                </a:solidFill>
                <a:latin typeface="Calibri"/>
              </a:rPr>
              <a:t>🌤️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9900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Is the sky blue?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8862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SAY IT LIKE THIS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32120" y="4279392"/>
            <a:ext cx="6217920" cy="45720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432511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430"/>
                </a:solidFill>
                <a:latin typeface="Georgia"/>
              </a:rPr>
              <a:t>I see ______.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32120" y="4828031"/>
            <a:ext cx="6217920" cy="45720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4873751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430"/>
                </a:solidFill>
                <a:latin typeface="Georgia"/>
              </a:rPr>
              <a:t>It is ______.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32120" y="5376672"/>
            <a:ext cx="6217920" cy="45720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06440" y="542239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430"/>
                </a:solidFill>
                <a:latin typeface="Georgia"/>
              </a:rPr>
              <a:t>I like ______ weather.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99846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59893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Say your own answer first. She will copy the pattern.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WEATHER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☀️  Weather Word — SUN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12779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900A"/>
                </a:solidFill>
                <a:latin typeface="Calibri"/>
              </a:rPr>
              <a:t>Look, say it, then read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3017520" cy="1188720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SUN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00584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78308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900A"/>
                </a:solidFill>
                <a:latin typeface="Calibri"/>
              </a:rPr>
              <a:t>SAY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075688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430"/>
                </a:solidFill>
                <a:latin typeface="Calibri"/>
              </a:rPr>
              <a:t>"sun"  ·  say it twice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2834640"/>
            <a:ext cx="70408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292608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900A"/>
                </a:solidFill>
                <a:latin typeface="Calibri"/>
              </a:rPr>
              <a:t>WHAT IT MEANS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218688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430"/>
                </a:solidFill>
                <a:latin typeface="Calibri"/>
              </a:rPr>
              <a:t>the big light in the sky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3977639"/>
            <a:ext cx="70408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4069079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900A"/>
                </a:solidFill>
                <a:latin typeface="Calibri"/>
              </a:rPr>
              <a:t>READ THIS SENTENCE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361687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The sun is hot.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5120640"/>
            <a:ext cx="7040880" cy="51206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52120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⭐ YOUR TURN — What colour is the sun?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If she cannot say it, say it first and let her copy you.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WEATHER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🌧️  Weather Word — RAIN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75335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EB5"/>
                </a:solidFill>
                <a:latin typeface="Calibri"/>
              </a:rPr>
              <a:t>Look, say it, then read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3017520" cy="1188720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RAIN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00584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78308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6EB5"/>
                </a:solidFill>
                <a:latin typeface="Calibri"/>
              </a:rPr>
              <a:t>SAY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075688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430"/>
                </a:solidFill>
                <a:latin typeface="Calibri"/>
              </a:rPr>
              <a:t>"rain"  ·  say it twice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2834640"/>
            <a:ext cx="70408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292608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6EB5"/>
                </a:solidFill>
                <a:latin typeface="Calibri"/>
              </a:rPr>
              <a:t>WHAT IT MEANS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218688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430"/>
                </a:solidFill>
                <a:latin typeface="Calibri"/>
              </a:rPr>
              <a:t>water that falls from the clouds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3977639"/>
            <a:ext cx="70408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4069079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6EB5"/>
                </a:solidFill>
                <a:latin typeface="Calibri"/>
              </a:rPr>
              <a:t>READ THIS SENTENCE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361687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I see the rain.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5120640"/>
            <a:ext cx="7040880" cy="51206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52120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⭐ YOUR TURN — Is the rain wet or dry?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If she cannot say it, say it first and let her copy you.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WEATHER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☁️  Weather Word — 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37891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E7796"/>
                </a:solidFill>
                <a:latin typeface="Calibri"/>
              </a:rPr>
              <a:t>Look, say it, then read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C3945"/>
                </a:solidFill>
                <a:latin typeface="Calibri"/>
              </a:rPr>
              <a:t>☁️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3017520" cy="1188720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CLOUD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00584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78308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E7796"/>
                </a:solidFill>
                <a:latin typeface="Calibri"/>
              </a:rPr>
              <a:t>SAY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075688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430"/>
                </a:solidFill>
                <a:latin typeface="Calibri"/>
              </a:rPr>
              <a:t>"cloud"  ·  say it twice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2834640"/>
            <a:ext cx="70408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292608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E7796"/>
                </a:solidFill>
                <a:latin typeface="Calibri"/>
              </a:rPr>
              <a:t>WHAT IT MEANS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218688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430"/>
                </a:solidFill>
                <a:latin typeface="Calibri"/>
              </a:rPr>
              <a:t>a white or grey puff in the sky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3977639"/>
            <a:ext cx="70408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4069079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E7796"/>
                </a:solidFill>
                <a:latin typeface="Calibri"/>
              </a:rPr>
              <a:t>READ THIS SENTENCE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361687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The cloud is big.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5120640"/>
            <a:ext cx="7040880" cy="51206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52120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⭐ YOUR TURN — Can you point to a cloud?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If she cannot say it, say it first and let her copy you.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WEATHER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🌬️  Weather Word — WIND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300447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3867C"/>
                </a:solidFill>
                <a:latin typeface="Calibri"/>
              </a:rPr>
              <a:t>Look, say it, then read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C3945"/>
                </a:solidFill>
                <a:latin typeface="Calibri"/>
              </a:rPr>
              <a:t>🌬️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3017520" cy="1188720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WIND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00584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78308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67C"/>
                </a:solidFill>
                <a:latin typeface="Calibri"/>
              </a:rPr>
              <a:t>SAY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075688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430"/>
                </a:solidFill>
                <a:latin typeface="Calibri"/>
              </a:rPr>
              <a:t>"wind"  ·  say it twice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2834640"/>
            <a:ext cx="70408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2926080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67C"/>
                </a:solidFill>
                <a:latin typeface="Calibri"/>
              </a:rPr>
              <a:t>WHAT IT MEANS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218688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430"/>
                </a:solidFill>
                <a:latin typeface="Calibri"/>
              </a:rPr>
              <a:t>air that moves and pushes things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3977639"/>
            <a:ext cx="70408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4069079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67C"/>
                </a:solidFill>
                <a:latin typeface="Calibri"/>
              </a:rPr>
              <a:t>READ THIS SENTENCE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361687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Calibri"/>
              </a:rPr>
              <a:t>The wind is cold.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5120640"/>
            <a:ext cx="7040880" cy="512064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52120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⭐ YOUR TURN — What can the wind move?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If she cannot say it, say it first and let her copy you.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WEATHER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🌦️ More Weather Words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463003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3867C"/>
                </a:solidFill>
                <a:latin typeface="Calibri"/>
              </a:rPr>
              <a:t>I say the word, you point to the picture.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566160" cy="12801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9659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945"/>
                </a:solidFill>
                <a:latin typeface="Calibri"/>
              </a:rPr>
              <a:t>❄️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8562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3867C"/>
                </a:solidFill>
                <a:latin typeface="Arial Black"/>
              </a:rPr>
              <a:t>snow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4048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945"/>
                </a:solidFill>
                <a:latin typeface="Calibri"/>
              </a:rPr>
              <a:t>soft white flakes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691640"/>
            <a:ext cx="3566160" cy="12801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9659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945"/>
                </a:solidFill>
                <a:latin typeface="Calibri"/>
              </a:rPr>
              <a:t>⛈️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18562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3867C"/>
                </a:solidFill>
                <a:latin typeface="Arial Black"/>
              </a:rPr>
              <a:t>storm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4048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945"/>
                </a:solidFill>
                <a:latin typeface="Calibri"/>
              </a:rPr>
              <a:t>loud rain and wind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691640"/>
            <a:ext cx="3566160" cy="12801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19659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945"/>
                </a:solidFill>
                <a:latin typeface="Calibri"/>
              </a:rPr>
              <a:t>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8562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3867C"/>
                </a:solidFill>
                <a:latin typeface="Arial Black"/>
              </a:rPr>
              <a:t>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4048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945"/>
                </a:solidFill>
                <a:latin typeface="Calibri"/>
              </a:rPr>
              <a:t>very, very warm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108960"/>
            <a:ext cx="3566160" cy="12801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3832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945"/>
                </a:solidFill>
                <a:latin typeface="Calibri"/>
              </a:rPr>
              <a:t>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2735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3867C"/>
                </a:solidFill>
                <a:latin typeface="Arial Black"/>
              </a:rPr>
              <a:t>cold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945"/>
                </a:solidFill>
                <a:latin typeface="Calibri"/>
              </a:rPr>
              <a:t>not warm at all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108960"/>
            <a:ext cx="3566160" cy="12801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33832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945"/>
                </a:solidFill>
                <a:latin typeface="Calibri"/>
              </a:rPr>
              <a:t>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32735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3867C"/>
                </a:solidFill>
                <a:latin typeface="Arial Black"/>
              </a:rPr>
              <a:t>wet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945"/>
                </a:solidFill>
                <a:latin typeface="Calibri"/>
              </a:rPr>
              <a:t>full of water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108960"/>
            <a:ext cx="3566160" cy="12801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33832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945"/>
                </a:solidFill>
                <a:latin typeface="Calibri"/>
              </a:rPr>
              <a:t>🌤️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2735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3867C"/>
                </a:solidFill>
                <a:latin typeface="Arial Black"/>
              </a:rPr>
              <a:t>sky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945"/>
                </a:solidFill>
                <a:latin typeface="Calibri"/>
              </a:rPr>
              <a:t>high up above 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26280"/>
            <a:ext cx="3566160" cy="12801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8006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945"/>
                </a:solidFill>
                <a:latin typeface="Calibri"/>
              </a:rPr>
              <a:t>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46908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3867C"/>
                </a:solidFill>
                <a:latin typeface="Arial Black"/>
              </a:rPr>
              <a:t>coat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52395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945"/>
                </a:solidFill>
                <a:latin typeface="Calibri"/>
              </a:rPr>
              <a:t>you wear it when it is cold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51960" y="4526280"/>
            <a:ext cx="3566160" cy="12801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0" y="48006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945"/>
                </a:solidFill>
                <a:latin typeface="Calibri"/>
              </a:rPr>
              <a:t>☂️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46908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3867C"/>
                </a:solidFill>
                <a:latin typeface="Arial Black"/>
              </a:rPr>
              <a:t>umbrella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52395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945"/>
                </a:solidFill>
                <a:latin typeface="Calibri"/>
              </a:rPr>
              <a:t>it keeps the rain off you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4526280"/>
            <a:ext cx="3566160" cy="12801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83880" y="48006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945"/>
                </a:solidFill>
                <a:latin typeface="Calibri"/>
              </a:rPr>
              <a:t>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6908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3867C"/>
                </a:solidFill>
                <a:latin typeface="Arial Black"/>
              </a:rPr>
              <a:t>rainbow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52395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945"/>
                </a:solidFill>
                <a:latin typeface="Calibri"/>
              </a:rPr>
              <a:t>colours after the rain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6089903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6080759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Only three or four new words today. The rest are for listening.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S  is for  SUN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625559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900A"/>
                </a:solidFill>
                <a:latin typeface="Calibri"/>
              </a:rPr>
              <a:t>S makes the /s/ sound. Say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3017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2900A"/>
                </a:solidFill>
                <a:latin typeface="Arial Black"/>
              </a:rPr>
              <a:t>SUN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7830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8995"/>
                </a:solidFill>
                <a:latin typeface="Calibri"/>
              </a:rPr>
              <a:t>THE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 i="0">
                <a:solidFill>
                  <a:srgbClr val="1B2430"/>
                </a:solidFill>
                <a:latin typeface="Arial Black"/>
              </a:rPr>
              <a:t>S 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657600"/>
            <a:ext cx="3383280" cy="1005840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/s/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657600"/>
            <a:ext cx="338328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8995"/>
                </a:solidFill>
                <a:latin typeface="Calibri"/>
              </a:rPr>
              <a:t>STRETCH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2430"/>
                </a:solidFill>
                <a:latin typeface="Calibri"/>
              </a:rPr>
              <a:t>sss - 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800600"/>
            <a:ext cx="7040880" cy="8229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9204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900A"/>
                </a:solidFill>
                <a:latin typeface="Calibri"/>
              </a:rPr>
              <a:t>⭐ YOUR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755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Say /s/ three times, then say SUN.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Put your hand near your mouth and feel the /s/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R  is for  RAIN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788115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EB5"/>
                </a:solidFill>
                <a:latin typeface="Calibri"/>
              </a:rPr>
              <a:t>R makes the /r/ sound. Say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3017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C6EB5"/>
                </a:solidFill>
                <a:latin typeface="Arial Black"/>
              </a:rPr>
              <a:t>RAIN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7830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8995"/>
                </a:solidFill>
                <a:latin typeface="Calibri"/>
              </a:rPr>
              <a:t>THE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 i="0">
                <a:solidFill>
                  <a:srgbClr val="1B2430"/>
                </a:solidFill>
                <a:latin typeface="Arial Black"/>
              </a:rPr>
              <a:t>R 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657600"/>
            <a:ext cx="3383280" cy="1005840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/r/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657600"/>
            <a:ext cx="338328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8995"/>
                </a:solidFill>
                <a:latin typeface="Calibri"/>
              </a:rPr>
              <a:t>STRETCH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2430"/>
                </a:solidFill>
                <a:latin typeface="Calibri"/>
              </a:rPr>
              <a:t>rrr - 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800600"/>
            <a:ext cx="7040880" cy="8229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9204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6EB5"/>
                </a:solidFill>
                <a:latin typeface="Calibri"/>
              </a:rPr>
              <a:t>⭐ YOUR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755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Say /r/ three times, then say RAIN.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Put your hand near your mouth and feel the /r/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C  is for  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950671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E7796"/>
                </a:solidFill>
                <a:latin typeface="Calibri"/>
              </a:rPr>
              <a:t>C makes the /c/ sound. Say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C3945"/>
                </a:solidFill>
                <a:latin typeface="Calibri"/>
              </a:rPr>
              <a:t>☁️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3017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4E7796"/>
                </a:solidFill>
                <a:latin typeface="Arial Black"/>
              </a:rPr>
              <a:t>CLOUD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7830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8995"/>
                </a:solidFill>
                <a:latin typeface="Calibri"/>
              </a:rPr>
              <a:t>THE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 i="0">
                <a:solidFill>
                  <a:srgbClr val="1B2430"/>
                </a:solidFill>
                <a:latin typeface="Arial Black"/>
              </a:rPr>
              <a:t>C 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657600"/>
            <a:ext cx="3383280" cy="1005840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/c/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657600"/>
            <a:ext cx="338328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8995"/>
                </a:solidFill>
                <a:latin typeface="Calibri"/>
              </a:rPr>
              <a:t>STRETCH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2430"/>
                </a:solidFill>
                <a:latin typeface="Calibri"/>
              </a:rPr>
              <a:t>ccc - loud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800600"/>
            <a:ext cx="7040880" cy="8229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9204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E7796"/>
                </a:solidFill>
                <a:latin typeface="Calibri"/>
              </a:rPr>
              <a:t>⭐ YOUR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755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Say /c/ three times, then say CLOUD.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Put your hand near your mouth and feel the /c/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W  is for  WIND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113227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3867C"/>
                </a:solidFill>
                <a:latin typeface="Calibri"/>
              </a:rPr>
              <a:t>W makes the /w/ sound. Say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C3945"/>
                </a:solidFill>
                <a:latin typeface="Calibri"/>
              </a:rPr>
              <a:t>🌬️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3017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3867C"/>
                </a:solidFill>
                <a:latin typeface="Arial Black"/>
              </a:rPr>
              <a:t>WIND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7830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8995"/>
                </a:solidFill>
                <a:latin typeface="Calibri"/>
              </a:rPr>
              <a:t>THE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 i="0">
                <a:solidFill>
                  <a:srgbClr val="1B2430"/>
                </a:solidFill>
                <a:latin typeface="Arial Black"/>
              </a:rPr>
              <a:t>W 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657600"/>
            <a:ext cx="3383280" cy="1005840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/w/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657600"/>
            <a:ext cx="338328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8995"/>
                </a:solidFill>
                <a:latin typeface="Calibri"/>
              </a:rPr>
              <a:t>STRETCH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2430"/>
                </a:solidFill>
                <a:latin typeface="Calibri"/>
              </a:rPr>
              <a:t>www - ind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800600"/>
            <a:ext cx="7040880" cy="8229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9204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67C"/>
                </a:solidFill>
                <a:latin typeface="Calibri"/>
              </a:rPr>
              <a:t>⭐ YOUR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755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Say /w/ three times, then say WIND.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Put your hand near your mouth and feel the /w/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M  is for  MIST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275783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14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4BA8"/>
                </a:solidFill>
                <a:latin typeface="Calibri"/>
              </a:rPr>
              <a:t>M makes the /m/ sound. Say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C3945"/>
                </a:solidFill>
                <a:latin typeface="Calibri"/>
              </a:rPr>
              <a:t>🌫️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3017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7B4BA8"/>
                </a:solidFill>
                <a:latin typeface="Arial Black"/>
              </a:rPr>
              <a:t>MIST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7830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8995"/>
                </a:solidFill>
                <a:latin typeface="Calibri"/>
              </a:rPr>
              <a:t>THE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 i="0">
                <a:solidFill>
                  <a:srgbClr val="1B2430"/>
                </a:solidFill>
                <a:latin typeface="Arial Black"/>
              </a:rPr>
              <a:t>M 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657600"/>
            <a:ext cx="3383280" cy="1005840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/m/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657600"/>
            <a:ext cx="338328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8995"/>
                </a:solidFill>
                <a:latin typeface="Calibri"/>
              </a:rPr>
              <a:t>STRETCH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2430"/>
                </a:solidFill>
                <a:latin typeface="Calibri"/>
              </a:rPr>
              <a:t>mmm - 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800600"/>
            <a:ext cx="7040880" cy="8229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9204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4BA8"/>
                </a:solidFill>
                <a:latin typeface="Calibri"/>
              </a:rPr>
              <a:t>⭐ YOUR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755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Say /m/ three times, then say MIST.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Put your hand near your mouth and feel the /m/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H  is for  HOT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438339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E413D"/>
                </a:solidFill>
                <a:latin typeface="Calibri"/>
              </a:rPr>
              <a:t>H makes the /h/ sound. Say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2C3945"/>
                </a:solidFill>
                <a:latin typeface="Calibri"/>
              </a:rPr>
              <a:t>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3017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E413D"/>
                </a:solidFill>
                <a:latin typeface="Arial Black"/>
              </a:rPr>
              <a:t>HOT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91640"/>
            <a:ext cx="7040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7830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8995"/>
                </a:solidFill>
                <a:latin typeface="Calibri"/>
              </a:rPr>
              <a:t>THE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1" i="0">
                <a:solidFill>
                  <a:srgbClr val="1B2430"/>
                </a:solidFill>
                <a:latin typeface="Arial Black"/>
              </a:rPr>
              <a:t>H 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657600"/>
            <a:ext cx="3383280" cy="1005840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/h/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657600"/>
            <a:ext cx="338328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764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8995"/>
                </a:solidFill>
                <a:latin typeface="Calibri"/>
              </a:rPr>
              <a:t>STRETCH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2430"/>
                </a:solidFill>
                <a:latin typeface="Calibri"/>
              </a:rPr>
              <a:t>hhh - 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800600"/>
            <a:ext cx="7040880" cy="8229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9204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E413D"/>
                </a:solidFill>
                <a:latin typeface="Calibri"/>
              </a:rPr>
              <a:t>⭐ YOUR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7550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Say /h/ three times, then say HOT.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Put your hand near your mouth and feel the /h/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LISTENING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👂 Which One Starts With /s/?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600894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16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900A"/>
                </a:solidFill>
                <a:latin typeface="Calibri"/>
              </a:rPr>
              <a:t>Name each picture out loud, then listen to the first sound.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645920"/>
            <a:ext cx="3246120" cy="1051560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73736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FIND THE SOUND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029968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/s/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926080"/>
            <a:ext cx="3291840" cy="26517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004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4892040"/>
            <a:ext cx="914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4983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926080"/>
            <a:ext cx="3291840" cy="26517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2004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C3945"/>
                </a:solidFill>
                <a:latin typeface="Calibri"/>
              </a:rPr>
              <a:t>☁️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4892040"/>
            <a:ext cx="914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4983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2926080"/>
            <a:ext cx="3291840" cy="26517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2004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4892040"/>
            <a:ext cx="914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4983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9846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9893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Say all three names slowly, stretching the very first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🎮 Game — Weather Sound 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763450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17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EB5"/>
                </a:solidFill>
                <a:latin typeface="Calibri"/>
              </a:rPr>
              <a:t>I say a sound. You point to the picture that starts with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67128"/>
            <a:ext cx="457200" cy="457200"/>
          </a:xfrm>
          <a:prstGeom prst="ellipse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38728"/>
            <a:ext cx="457200" cy="457200"/>
          </a:xfrm>
          <a:prstGeom prst="ellipse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262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2039112"/>
            <a:ext cx="2286000" cy="713232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20848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3317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/r/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19385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19842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19385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9842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19385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19842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☁️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80160" y="3410712"/>
            <a:ext cx="2286000" cy="713232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456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37033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/c/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23360" y="33101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0" y="3355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33101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355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☁️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33101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3355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0160" y="4782312"/>
            <a:ext cx="2286000" cy="713232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0160" y="4828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50749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/s/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23360" y="46817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0" y="47274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☁️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37960" y="46817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47274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46817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0" y="47274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99846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59893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Name the pictures first, then listen again.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🎮 Game — Three More Sounds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926006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18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3867C"/>
                </a:solidFill>
                <a:latin typeface="Calibri"/>
              </a:rPr>
              <a:t>Same game. Listen, then point.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67128"/>
            <a:ext cx="457200" cy="457200"/>
          </a:xfrm>
          <a:prstGeom prst="ellipse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38728"/>
            <a:ext cx="457200" cy="457200"/>
          </a:xfrm>
          <a:prstGeom prst="ellipse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262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2039112"/>
            <a:ext cx="2286000" cy="713232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20848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3317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/w/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19385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19842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🌬️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19385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9842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19385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19842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80160" y="3410712"/>
            <a:ext cx="2286000" cy="713232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456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37033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/m/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23360" y="33101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0" y="3355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☁️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33101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355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🌫️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33101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3355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0160" y="4782312"/>
            <a:ext cx="2286000" cy="713232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0160" y="4828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50749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/h/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23360" y="46817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0" y="47274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37960" y="46817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47274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4681728"/>
            <a:ext cx="2286000" cy="91440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0" y="47274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🌬️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99846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59893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For /m/ hum with your lips closed. She will hear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WELL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☀️ Sunny Station Finished!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088562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Sunny Station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19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900A"/>
                </a:solidFill>
                <a:latin typeface="Calibri"/>
              </a:rPr>
              <a:t>You know six letter sounds now.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206240" cy="402336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977639"/>
            <a:ext cx="3108960" cy="777240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7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BADGE 1 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C8995"/>
                </a:solidFill>
                <a:latin typeface="Calibri"/>
              </a:rPr>
              <a:t>Give yourself a big clap!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69164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57800" y="1819656"/>
            <a:ext cx="475488" cy="475488"/>
          </a:xfrm>
          <a:prstGeom prst="ellipse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87452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85623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S, R, C, W, M and 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256032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7800" y="2688336"/>
            <a:ext cx="475488" cy="475488"/>
          </a:xfrm>
          <a:prstGeom prst="ellipse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274320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72491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You heard the first sound in a word.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342900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57800" y="3557016"/>
            <a:ext cx="475488" cy="475488"/>
          </a:xfrm>
          <a:prstGeom prst="ellipse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361188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59359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Six sound matches, all done.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297679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57800" y="4425695"/>
            <a:ext cx="475488" cy="475488"/>
          </a:xfrm>
          <a:prstGeom prst="ellipse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4480559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🗣️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462271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You said every sound out loud.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5212080"/>
            <a:ext cx="6766560" cy="475488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530352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NEXT:  🌈 Rainbow Station — the middle sounds.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SHORT VOWELS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🌈 Short A  —  /a/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251118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Rainbow Station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20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900A"/>
                </a:solidFill>
                <a:latin typeface="Calibri"/>
              </a:rPr>
              <a:t>A in the middle says /a/.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200400" cy="402336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E2900A"/>
                </a:solidFill>
                <a:latin typeface="Arial Black"/>
              </a:rPr>
              <a:t>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57600"/>
            <a:ext cx="2468880" cy="731520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7647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/a/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2628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8995"/>
                </a:solidFill>
                <a:latin typeface="Calibri"/>
              </a:rPr>
              <a:t>STRETCH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2430"/>
                </a:solidFill>
                <a:latin typeface="Calibri"/>
              </a:rPr>
              <a:t>h - aaa - 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C3945"/>
                </a:solidFill>
                <a:latin typeface="Calibri"/>
              </a:rPr>
              <a:t>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39" y="3429000"/>
            <a:ext cx="2011680" cy="86868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3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900A"/>
                </a:solidFill>
                <a:latin typeface="Arial Black"/>
              </a:rPr>
              <a:t>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/h/ - /a/ - /t/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C3945"/>
                </a:solidFill>
                <a:latin typeface="Calibri"/>
              </a:rPr>
              <a:t>🗺️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3429000"/>
            <a:ext cx="2011680" cy="86868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900A"/>
                </a:solidFill>
                <a:latin typeface="Arial Black"/>
              </a:rPr>
              <a:t>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/m/ - /a/ - /p/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8115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5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C3945"/>
                </a:solidFill>
                <a:latin typeface="Calibri"/>
              </a:rPr>
              <a:t>🧢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3429000"/>
            <a:ext cx="2011680" cy="86868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5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900A"/>
                </a:solidFill>
                <a:latin typeface="Arial Black"/>
              </a:rPr>
              <a:t>CAP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/c/ - /a/ - /p/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Say the three words in a row. The middle sound never changes: /a/.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SHORT VOWELS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🌈 Short E  —  /e/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413674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Rainbow Station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21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EB5"/>
                </a:solidFill>
                <a:latin typeface="Calibri"/>
              </a:rPr>
              <a:t>E in the middle says /e/.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200400" cy="402336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1C6EB5"/>
                </a:solidFill>
                <a:latin typeface="Arial Black"/>
              </a:rPr>
              <a:t>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57600"/>
            <a:ext cx="2468880" cy="731520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7647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/e/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2628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8995"/>
                </a:solidFill>
                <a:latin typeface="Calibri"/>
              </a:rPr>
              <a:t>STRETCH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2430"/>
                </a:solidFill>
                <a:latin typeface="Calibri"/>
              </a:rPr>
              <a:t>w - eee - 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C3945"/>
                </a:solidFill>
                <a:latin typeface="Calibri"/>
              </a:rPr>
              <a:t>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39" y="3429000"/>
            <a:ext cx="2011680" cy="86868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3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6EB5"/>
                </a:solidFill>
                <a:latin typeface="Arial Black"/>
              </a:rPr>
              <a:t>WET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/w/ - /e/ - /t/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C3945"/>
                </a:solidFill>
                <a:latin typeface="Calibri"/>
              </a:rPr>
              <a:t>🍎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3429000"/>
            <a:ext cx="2011680" cy="86868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6EB5"/>
                </a:solidFill>
                <a:latin typeface="Arial Black"/>
              </a:rPr>
              <a:t>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/r/ - /e/ - /d/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8115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5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C3945"/>
                </a:solidFill>
                <a:latin typeface="Calibri"/>
              </a:rPr>
              <a:t>🛏️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3429000"/>
            <a:ext cx="2011680" cy="86868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5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C6EB5"/>
                </a:solidFill>
                <a:latin typeface="Arial Black"/>
              </a:rPr>
              <a:t>BED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/b/ - /e/ - /d/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Say the three words in a row. The middle sound never changes: /e/.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SHORT VOWELS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🌈 Short I  —  /i/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576230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Rainbow Station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22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4BA8"/>
                </a:solidFill>
                <a:latin typeface="Calibri"/>
              </a:rPr>
              <a:t>I in the middle says /i/.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200400" cy="402336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7B4BA8"/>
                </a:solidFill>
                <a:latin typeface="Arial Black"/>
              </a:rPr>
              <a:t>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57600"/>
            <a:ext cx="2468880" cy="731520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7647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/i/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2628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8995"/>
                </a:solidFill>
                <a:latin typeface="Calibri"/>
              </a:rPr>
              <a:t>STRETCH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2430"/>
                </a:solidFill>
                <a:latin typeface="Calibri"/>
              </a:rPr>
              <a:t>s - iii - 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C3945"/>
                </a:solidFill>
                <a:latin typeface="Calibri"/>
              </a:rPr>
              <a:t>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39" y="3429000"/>
            <a:ext cx="2011680" cy="8686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3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B4BA8"/>
                </a:solidFill>
                <a:latin typeface="Arial Black"/>
              </a:rPr>
              <a:t>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/s/ - /i/ - /t/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C3945"/>
                </a:solidFill>
                <a:latin typeface="Calibri"/>
              </a:rPr>
              <a:t>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3429000"/>
            <a:ext cx="2011680" cy="8686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B4BA8"/>
                </a:solidFill>
                <a:latin typeface="Arial Black"/>
              </a:rPr>
              <a:t>BIG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/b/ - /i/ - /g/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8115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5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C3945"/>
                </a:solidFill>
                <a:latin typeface="Calibri"/>
              </a:rPr>
              <a:t>🥊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3429000"/>
            <a:ext cx="2011680" cy="8686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5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B4BA8"/>
                </a:solidFill>
                <a:latin typeface="Arial Black"/>
              </a:rPr>
              <a:t>HIT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/h/ - /i/ - /t/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Say the three words in a row. The middle sound never changes: /i/.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SHORT VOWELS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🌈 Short O  —  /o/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738786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Rainbow Station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23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E7796"/>
                </a:solidFill>
                <a:latin typeface="Calibri"/>
              </a:rPr>
              <a:t>O in the middle says /o/.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200400" cy="402336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4E7796"/>
                </a:solidFill>
                <a:latin typeface="Arial Black"/>
              </a:rPr>
              <a:t>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57600"/>
            <a:ext cx="2468880" cy="731520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7647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/o/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2628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8995"/>
                </a:solidFill>
                <a:latin typeface="Calibri"/>
              </a:rPr>
              <a:t>STRETCH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2430"/>
                </a:solidFill>
                <a:latin typeface="Calibri"/>
              </a:rPr>
              <a:t>h - ooo - 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C3945"/>
                </a:solidFill>
                <a:latin typeface="Calibri"/>
              </a:rPr>
              <a:t>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39" y="3429000"/>
            <a:ext cx="2011680" cy="86868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3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E7796"/>
                </a:solidFill>
                <a:latin typeface="Arial Black"/>
              </a:rPr>
              <a:t>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/h/ - /o/ - /t/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C3945"/>
                </a:solidFill>
                <a:latin typeface="Calibri"/>
              </a:rPr>
              <a:t>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3429000"/>
            <a:ext cx="2011680" cy="86868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E7796"/>
                </a:solidFill>
                <a:latin typeface="Arial Black"/>
              </a:rPr>
              <a:t>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/l/ - /o/ - /g/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81159" y="1691640"/>
            <a:ext cx="2468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59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C3945"/>
                </a:solidFill>
                <a:latin typeface="Calibri"/>
              </a:rPr>
              <a:t>🌫️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3429000"/>
            <a:ext cx="2011680" cy="86868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59" y="3584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E7796"/>
                </a:solidFill>
                <a:latin typeface="Arial Black"/>
              </a:rPr>
              <a:t>FOG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/f/ - /o/ - /g/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Say the three words in a row. The middle sound never changes: /o/.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🌈 Rainbow Vowel Sort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901342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Rainbow Station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24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4BA8"/>
                </a:solidFill>
                <a:latin typeface="Calibri"/>
              </a:rPr>
              <a:t>Read each word, then put it on the right rainbow band.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651760" cy="260604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691640"/>
            <a:ext cx="2651760" cy="685800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7393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2900A"/>
                </a:solidFill>
                <a:latin typeface="Calibri"/>
              </a:rPr>
              <a:t>/a/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718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995"/>
                </a:solidFill>
                <a:latin typeface="Calibri"/>
              </a:rPr>
              <a:t>____________
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00984" y="1691640"/>
            <a:ext cx="2651760" cy="260604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00984" y="1691640"/>
            <a:ext cx="2651760" cy="685800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00984" y="177393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00984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C6EB5"/>
                </a:solidFill>
                <a:latin typeface="Calibri"/>
              </a:rPr>
              <a:t>/e/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29718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995"/>
                </a:solidFill>
                <a:latin typeface="Calibri"/>
              </a:rPr>
              <a:t>____________
____________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1691640"/>
            <a:ext cx="2651760" cy="260604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651760" cy="685800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177393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B4BA8"/>
                </a:solidFill>
                <a:latin typeface="Calibri"/>
              </a:rPr>
              <a:t>/i/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9718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995"/>
                </a:solidFill>
                <a:latin typeface="Calibri"/>
              </a:rPr>
              <a:t>____________
____________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88552" y="1691640"/>
            <a:ext cx="2651760" cy="260604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88552" y="1691640"/>
            <a:ext cx="2651760" cy="685800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88552" y="177393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88552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E7796"/>
                </a:solidFill>
                <a:latin typeface="Calibri"/>
              </a:rPr>
              <a:t>/o/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872" y="29718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995"/>
                </a:solidFill>
                <a:latin typeface="Calibri"/>
              </a:rPr>
              <a:t>____________
____________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434840"/>
            <a:ext cx="11292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4BA8"/>
                </a:solidFill>
                <a:latin typeface="Calibri"/>
              </a:rPr>
              <a:t>WORDS TO SORT — read each one first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846320"/>
            <a:ext cx="1737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015483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HAT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50008" y="4846320"/>
            <a:ext cx="1737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50008" y="5015483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RED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42816" y="4846320"/>
            <a:ext cx="1737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42816" y="5015483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BIG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35623" y="4846320"/>
            <a:ext cx="1737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3" y="5015483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HOT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28431" y="4846320"/>
            <a:ext cx="1737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28431" y="5015483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MAP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21240" y="4846320"/>
            <a:ext cx="1737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21240" y="5015483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FOG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Say the word slowly and listen for the sound in the middle.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🎮 Game — Which Vowel Is Missing?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063898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Rainbow Station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25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4BA8"/>
                </a:solidFill>
                <a:latin typeface="Calibri"/>
              </a:rPr>
              <a:t>The picture tells you the word. Pick the middle letter.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67128"/>
            <a:ext cx="457200" cy="457200"/>
          </a:xfrm>
          <a:prstGeom prst="ellipse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38728"/>
            <a:ext cx="457200" cy="457200"/>
          </a:xfrm>
          <a:prstGeom prst="ellipse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262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208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3945"/>
                </a:solidFill>
                <a:latin typeface="Calibri"/>
              </a:rPr>
              <a:t>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20574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B2430"/>
                </a:solidFill>
                <a:latin typeface="Arial Black"/>
              </a:rPr>
              <a:t>H _ 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0574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1305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B4BA8"/>
                </a:solidFill>
                <a:latin typeface="Arial Black"/>
              </a:rPr>
              <a:t>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20574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21305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B4BA8"/>
                </a:solidFill>
                <a:latin typeface="Arial Black"/>
              </a:rPr>
              <a:t>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20574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21305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B4BA8"/>
                </a:solidFill>
                <a:latin typeface="Arial Black"/>
              </a:rPr>
              <a:t>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3924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3945"/>
                </a:solidFill>
                <a:latin typeface="Calibri"/>
              </a:rPr>
              <a:t>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34290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B2430"/>
                </a:solidFill>
                <a:latin typeface="Arial Black"/>
              </a:rPr>
              <a:t>B _ 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34290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502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B4BA8"/>
                </a:solidFill>
                <a:latin typeface="Arial Black"/>
              </a:rPr>
              <a:t>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34290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3502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B4BA8"/>
                </a:solidFill>
                <a:latin typeface="Arial Black"/>
              </a:rPr>
              <a:t>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0" y="34290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3502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B4BA8"/>
                </a:solidFill>
                <a:latin typeface="Arial Black"/>
              </a:rPr>
              <a:t>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7640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3945"/>
                </a:solidFill>
                <a:latin typeface="Calibri"/>
              </a:rPr>
              <a:t>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8006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B2430"/>
                </a:solidFill>
                <a:latin typeface="Arial Black"/>
              </a:rPr>
              <a:t>W _ 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48006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873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B4BA8"/>
                </a:solidFill>
                <a:latin typeface="Arial Black"/>
              </a:rPr>
              <a:t>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79" y="48006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4873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B4BA8"/>
                </a:solidFill>
                <a:latin typeface="Arial Black"/>
              </a:rPr>
              <a:t>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75520" y="48006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0" y="4873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B4BA8"/>
                </a:solidFill>
                <a:latin typeface="Arial Black"/>
              </a:rPr>
              <a:t>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Say the word, then say only the middle sound on its own.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🎮 Game — Two More Words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226454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Rainbow Station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26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E7796"/>
                </a:solidFill>
                <a:latin typeface="Calibri"/>
              </a:rPr>
              <a:t>Last two. Look at the picture, then choose.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920240"/>
            <a:ext cx="112928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331719"/>
            <a:ext cx="457200" cy="457200"/>
          </a:xfrm>
          <a:prstGeom prst="ellipse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865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83280"/>
            <a:ext cx="112928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794759"/>
            <a:ext cx="457200" cy="457200"/>
          </a:xfrm>
          <a:prstGeom prst="ellipse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496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15798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3945"/>
                </a:solidFill>
                <a:latin typeface="Calibri"/>
              </a:rPr>
              <a:t>🗺️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19456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B2430"/>
                </a:solidFill>
                <a:latin typeface="Arial Black"/>
              </a:rPr>
              <a:t>M _ 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19456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226771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E7796"/>
                </a:solidFill>
                <a:latin typeface="Arial Black"/>
              </a:rP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219456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226771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E7796"/>
                </a:solidFill>
                <a:latin typeface="Arial Black"/>
              </a:rPr>
              <a:t>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219456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226771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E7796"/>
                </a:solidFill>
                <a:latin typeface="Arial Black"/>
              </a:rPr>
              <a:t>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6210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3945"/>
                </a:solidFill>
                <a:latin typeface="Calibri"/>
              </a:rPr>
              <a:t>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6576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B2430"/>
                </a:solidFill>
                <a:latin typeface="Arial Black"/>
              </a:rPr>
              <a:t>L _ 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6576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3730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E7796"/>
                </a:solidFill>
                <a:latin typeface="Arial Black"/>
              </a:rPr>
              <a:t>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36576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3730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E7796"/>
                </a:solidFill>
                <a:latin typeface="Arial Black"/>
              </a:rPr>
              <a:t>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20" y="36576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3730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E7796"/>
                </a:solidFill>
                <a:latin typeface="Arial Black"/>
              </a:rPr>
              <a:t>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846320"/>
            <a:ext cx="11292840" cy="77724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956048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4BA8"/>
                </a:solidFill>
                <a:latin typeface="Calibri"/>
              </a:rPr>
              <a:t>⭐ WEATHER STAR CHALLENGE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248656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430"/>
                </a:solidFill>
                <a:latin typeface="Calibri"/>
              </a:rPr>
              <a:t>Read all four vowel sounds in a row:  /a/  /e/  /i/  /o/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If she picks the wrong letter, read her word back to her.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WELL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🌈 Rainbow Station Finished!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389010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Rainbow Station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27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4BA8"/>
                </a:solidFill>
                <a:latin typeface="Calibri"/>
              </a:rPr>
              <a:t>You know the four short vowel sounds.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206240" cy="402336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2C3945"/>
                </a:solidFill>
                <a:latin typeface="Calibri"/>
              </a:rPr>
              <a:t>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977639"/>
            <a:ext cx="3108960" cy="777240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7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BADGE 2 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C8995"/>
                </a:solidFill>
                <a:latin typeface="Calibri"/>
              </a:rPr>
              <a:t>Give yourself a big clap!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69164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57800" y="1819656"/>
            <a:ext cx="475488" cy="475488"/>
          </a:xfrm>
          <a:prstGeom prst="ellipse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87452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85623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A, E, I and O in the middle.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256032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7800" y="2688336"/>
            <a:ext cx="475488" cy="475488"/>
          </a:xfrm>
          <a:prstGeom prst="ellipse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274320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72491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Six words sorted onto the right band.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342900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57800" y="3557016"/>
            <a:ext cx="475488" cy="475488"/>
          </a:xfrm>
          <a:prstGeom prst="ellipse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361188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59359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Five missing vowels found.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297679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57800" y="4425695"/>
            <a:ext cx="475488" cy="475488"/>
          </a:xfrm>
          <a:prstGeom prst="ellipse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4480559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462271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You heard the middle sound on its own.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5212080"/>
            <a:ext cx="6766560" cy="475488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530352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NEXT:  ☁️ Cloud Station — pushing sounds together.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S + U + N  →  SUN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551566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Cloud Station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28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900A"/>
                </a:solidFill>
                <a:latin typeface="Calibri"/>
              </a:rPr>
              <a:t>Touch each cloud,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2900A"/>
                </a:solidFill>
                <a:latin typeface="Arial Black"/>
              </a:rPr>
              <a:t>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2900A"/>
                </a:solidFill>
                <a:latin typeface="Arial Black"/>
              </a:rPr>
              <a:t>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/u/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2900A"/>
                </a:solidFill>
                <a:latin typeface="Arial Black"/>
              </a:rPr>
              <a:t>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/n/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C8995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830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6888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SUN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8995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430"/>
                </a:solidFill>
                <a:latin typeface="Calibri"/>
              </a:rPr>
              <a:t>/s/ … /u/ … /n/      →      sun      →      SUN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900A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Georgia"/>
              </a:rPr>
              <a:t>I see the sun.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Stuck? Blend the first two only: su … then add /n/.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R + U + N  → 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714122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Cloud Station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29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3867C"/>
                </a:solidFill>
                <a:latin typeface="Calibri"/>
              </a:rPr>
              <a:t>Touch each cloud,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3867C"/>
                </a:solidFill>
                <a:latin typeface="Arial Black"/>
              </a:rPr>
              <a:t>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/r/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3867C"/>
                </a:solidFill>
                <a:latin typeface="Arial Black"/>
              </a:rPr>
              <a:t>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/u/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3867C"/>
                </a:solidFill>
                <a:latin typeface="Arial Black"/>
              </a:rPr>
              <a:t>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/n/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C8995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830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945"/>
                </a:solidFill>
                <a:latin typeface="Calibri"/>
              </a:rPr>
              <a:t>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6888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RUN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8995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430"/>
                </a:solidFill>
                <a:latin typeface="Calibri"/>
              </a:rPr>
              <a:t>/r/ … /u/ … /n/      →      run      →      RUN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67C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Georgia"/>
              </a:rPr>
              <a:t>I can run.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Stuck? Blend the first two only: ru … then add /n/.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H + A + T  →  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876678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Cloud Station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30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4BA8"/>
                </a:solidFill>
                <a:latin typeface="Calibri"/>
              </a:rPr>
              <a:t>Touch each cloud,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7B4BA8"/>
                </a:solidFill>
                <a:latin typeface="Arial Black"/>
              </a:rPr>
              <a:t>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/h/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7B4BA8"/>
                </a:solidFill>
                <a:latin typeface="Arial Black"/>
              </a:rPr>
              <a:t>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/a/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7B4BA8"/>
                </a:solidFill>
                <a:latin typeface="Arial Black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/t/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C8995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830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945"/>
                </a:solidFill>
                <a:latin typeface="Calibri"/>
              </a:rPr>
              <a:t>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6888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HAT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8995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430"/>
                </a:solidFill>
                <a:latin typeface="Calibri"/>
              </a:rPr>
              <a:t>/h/ … /a/ … /t/      →      hat      →      HAT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4BA8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Georgia"/>
              </a:rPr>
              <a:t>My hat is wet.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Stuck? Blend the first two only: ha … then add /t/.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W + E + T  →  WET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039233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Cloud Station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31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EB5"/>
                </a:solidFill>
                <a:latin typeface="Calibri"/>
              </a:rPr>
              <a:t>Touch each cloud,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C6EB5"/>
                </a:solidFill>
                <a:latin typeface="Arial Black"/>
              </a:rPr>
              <a:t>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/w/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C6EB5"/>
                </a:solidFill>
                <a:latin typeface="Arial Black"/>
              </a:rPr>
              <a:t>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/e/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C6EB5"/>
                </a:solidFill>
                <a:latin typeface="Arial Black"/>
              </a:rP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/t/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C8995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830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945"/>
                </a:solidFill>
                <a:latin typeface="Calibri"/>
              </a:rPr>
              <a:t>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6888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WET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8995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430"/>
                </a:solidFill>
                <a:latin typeface="Calibri"/>
              </a:rPr>
              <a:t>/w/ … /e/ … /t/      →      wet      →      WET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6EB5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Georgia"/>
              </a:rPr>
              <a:t>The dog is wet.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Stuck? Blend the first two only: we … then add /t/.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B + I + G  →  BIG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201789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Cloud Station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32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E7796"/>
                </a:solidFill>
                <a:latin typeface="Calibri"/>
              </a:rPr>
              <a:t>Touch each cloud,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4E7796"/>
                </a:solidFill>
                <a:latin typeface="Arial Black"/>
              </a:rPr>
              <a:t>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/b/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4E7796"/>
                </a:solidFill>
                <a:latin typeface="Arial Black"/>
              </a:rPr>
              <a:t>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/i/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4E7796"/>
                </a:solidFill>
                <a:latin typeface="Arial Black"/>
              </a:rPr>
              <a:t>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/g/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C8995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830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945"/>
                </a:solidFill>
                <a:latin typeface="Calibri"/>
              </a:rPr>
              <a:t>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6888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BIG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8995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430"/>
                </a:solidFill>
                <a:latin typeface="Calibri"/>
              </a:rPr>
              <a:t>/b/ … /i/ … /g/      →      big      →      BIG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E7796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Georgia"/>
              </a:rPr>
              <a:t>I see a big cloud.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Stuck? Blend the first two only: bi … then add /g/.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F + O + G  →  FOG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364345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Cloud Station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33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E413D"/>
                </a:solidFill>
                <a:latin typeface="Calibri"/>
              </a:rPr>
              <a:t>Touch each cloud, say the sound, then push them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691640"/>
            <a:ext cx="2103120" cy="1828800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E413D"/>
                </a:solidFill>
                <a:latin typeface="Arial Black"/>
              </a:rPr>
              <a:t>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/f/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1691640"/>
            <a:ext cx="2103120" cy="1828800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E413D"/>
                </a:solidFill>
                <a:latin typeface="Arial Black"/>
              </a:rPr>
              <a:t>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/o/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1691640"/>
            <a:ext cx="2103120" cy="1828800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E413D"/>
                </a:solidFill>
                <a:latin typeface="Arial Black"/>
              </a:rPr>
              <a:t>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39" y="2880360"/>
            <a:ext cx="1371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39" y="29443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430"/>
                </a:solidFill>
                <a:latin typeface="Calibri"/>
              </a:rPr>
              <a:t>/g/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03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C8995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691640"/>
            <a:ext cx="3063240" cy="1828800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7830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945"/>
                </a:solidFill>
                <a:latin typeface="Calibri"/>
              </a:rPr>
              <a:t>🌫️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6888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 Black"/>
              </a:rPr>
              <a:t>FOG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03320"/>
            <a:ext cx="11201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947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8995"/>
                </a:solidFill>
                <a:latin typeface="Calibri"/>
              </a:rPr>
              <a:t>SLOW, THEN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430"/>
                </a:solidFill>
                <a:latin typeface="Calibri"/>
              </a:rPr>
              <a:t>/f/ … /o/ … /g/      →      fog      →      FOG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201400" cy="868680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E413D"/>
                </a:solidFill>
                <a:latin typeface="Calibri"/>
              </a:rPr>
              <a:t>NOW READ THE WHOLE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Georgia"/>
              </a:rPr>
              <a:t>The fog is grey.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Stuck? Blend the first two only: fo … then add /g/.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☁️ Cloud Word Builder — Fill the Gap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526901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Cloud Station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34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E7796"/>
                </a:solidFill>
                <a:latin typeface="Calibri"/>
              </a:rPr>
              <a:t>One letter blew away. Which one finishes the word?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67128"/>
            <a:ext cx="457200" cy="457200"/>
          </a:xfrm>
          <a:prstGeom prst="ellipse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538728"/>
            <a:ext cx="457200" cy="457200"/>
          </a:xfrm>
          <a:prstGeom prst="ellipse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262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208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20574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B2430"/>
                </a:solidFill>
                <a:latin typeface="Arial Black"/>
              </a:rPr>
              <a:t>S _ 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0574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1305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E7796"/>
                </a:solidFill>
                <a:latin typeface="Arial Black"/>
              </a:rPr>
              <a:t>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20574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21305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E7796"/>
                </a:solidFill>
                <a:latin typeface="Arial Black"/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20574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21305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E7796"/>
                </a:solidFill>
                <a:latin typeface="Arial Black"/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3924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3945"/>
                </a:solidFill>
                <a:latin typeface="Calibri"/>
              </a:rPr>
              <a:t>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34290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B2430"/>
                </a:solidFill>
                <a:latin typeface="Arial Black"/>
              </a:rPr>
              <a:t>H _ 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34290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502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E7796"/>
                </a:solidFill>
                <a:latin typeface="Arial Black"/>
              </a:rPr>
              <a:t>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34290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3502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E7796"/>
                </a:solidFill>
                <a:latin typeface="Arial Black"/>
              </a:rPr>
              <a:t>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0" y="34290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35021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E7796"/>
                </a:solidFill>
                <a:latin typeface="Arial Black"/>
              </a:rPr>
              <a:t>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7640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3945"/>
                </a:solidFill>
                <a:latin typeface="Calibri"/>
              </a:rPr>
              <a:t>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8006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B2430"/>
                </a:solidFill>
                <a:latin typeface="Arial Black"/>
              </a:rPr>
              <a:t>L _ 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48006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873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E7796"/>
                </a:solidFill>
                <a:latin typeface="Arial Black"/>
              </a:rPr>
              <a:t>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79" y="48006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4873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E7796"/>
                </a:solidFill>
                <a:latin typeface="Arial Black"/>
              </a:rPr>
              <a:t>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75520" y="4800600"/>
            <a:ext cx="1691640" cy="676656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0" y="4873752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E7796"/>
                </a:solidFill>
                <a:latin typeface="Arial Black"/>
              </a:rPr>
              <a:t>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Try each letter in the gap and say the word. One will sound right.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🎮 Mix the Clouds — Put Them in Order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689457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Cloud Station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35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3867C"/>
                </a:solidFill>
                <a:latin typeface="Calibri"/>
              </a:rPr>
              <a:t>The letters are mixed up. The picture is the clue.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440680" cy="19202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1901952"/>
            <a:ext cx="457200" cy="457200"/>
          </a:xfrm>
          <a:prstGeom prst="ellipse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956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0116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C3945"/>
                </a:solidFill>
                <a:latin typeface="Calibri"/>
              </a:rPr>
              <a:t>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2011680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2139696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2430"/>
                </a:solidFill>
                <a:latin typeface="Arial Black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1720" y="2011680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720" y="2139696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2430"/>
                </a:solidFill>
                <a:latin typeface="Arial Black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79" y="2011680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79" y="2139696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2430"/>
                </a:solidFill>
                <a:latin typeface="Arial Black"/>
              </a:rPr>
              <a:t>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2971800"/>
            <a:ext cx="43434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307238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C8995"/>
                </a:solidFill>
                <a:latin typeface="Calibri"/>
              </a:rPr>
              <a:t>write it here:  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737360"/>
            <a:ext cx="5440680" cy="19202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1901952"/>
            <a:ext cx="457200" cy="457200"/>
          </a:xfrm>
          <a:prstGeom prst="ellipse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956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20116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C3945"/>
                </a:solidFill>
                <a:latin typeface="Calibri"/>
              </a:rPr>
              <a:t>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95160" y="2011680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2139696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2430"/>
                </a:solidFill>
                <a:latin typeface="Arial Black"/>
              </a:rPr>
              <a:t>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2011680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2139696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2430"/>
                </a:solidFill>
                <a:latin typeface="Arial Black"/>
              </a:rPr>
              <a:t>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2011680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2139696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2430"/>
                </a:solidFill>
                <a:latin typeface="Arial Black"/>
              </a:rP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95160" y="2971800"/>
            <a:ext cx="43434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0" y="307238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C8995"/>
                </a:solidFill>
                <a:latin typeface="Calibri"/>
              </a:rPr>
              <a:t>write it here:  ______________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840479"/>
            <a:ext cx="5440680" cy="19202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5800" y="4005071"/>
            <a:ext cx="457200" cy="457200"/>
          </a:xfrm>
          <a:prstGeom prst="ellipse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05993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4114799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80160" y="4114799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80160" y="4242815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2430"/>
                </a:solidFill>
                <a:latin typeface="Arial Black"/>
              </a:rPr>
              <a:t>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31720" y="4114799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31720" y="4242815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2430"/>
                </a:solidFill>
                <a:latin typeface="Arial Black"/>
              </a:rPr>
              <a:t>U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83279" y="4114799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79" y="4242815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2430"/>
                </a:solidFill>
                <a:latin typeface="Arial Black"/>
              </a:rPr>
              <a:t>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80160" y="5074919"/>
            <a:ext cx="43434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175503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C8995"/>
                </a:solidFill>
                <a:latin typeface="Calibri"/>
              </a:rPr>
              <a:t>write it here:  ______________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3840479"/>
            <a:ext cx="5440680" cy="19202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00800" y="4005071"/>
            <a:ext cx="457200" cy="457200"/>
          </a:xfrm>
          <a:prstGeom prst="ellipse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05993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4114799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C3945"/>
                </a:solidFill>
                <a:latin typeface="Calibri"/>
              </a:rPr>
              <a:t>💧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95160" y="4114799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95160" y="4242815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2430"/>
                </a:solidFill>
                <a:latin typeface="Arial Black"/>
              </a:rPr>
              <a:t>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46720" y="4114799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0" y="4242815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2430"/>
                </a:solidFill>
                <a:latin typeface="Arial Black"/>
              </a:rPr>
              <a:t>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98280" y="4114799"/>
            <a:ext cx="914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98280" y="4242815"/>
            <a:ext cx="914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2430"/>
                </a:solidFill>
                <a:latin typeface="Arial Black"/>
              </a:rPr>
              <a:t>W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95160" y="5074919"/>
            <a:ext cx="43434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23760" y="5175503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C8995"/>
                </a:solidFill>
                <a:latin typeface="Calibri"/>
              </a:rPr>
              <a:t>write it here:  ______________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6089903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91840" y="6080759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Ask which letter comes first. The first sound unlocks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WELL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☁️ Cloud Station Finished!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852013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Cloud Station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36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E7796"/>
                </a:solidFill>
                <a:latin typeface="Calibri"/>
              </a:rPr>
              <a:t>You can push three sounds into one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206240" cy="402336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2C3945"/>
                </a:solidFill>
                <a:latin typeface="Calibri"/>
              </a:rPr>
              <a:t>☁️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977639"/>
            <a:ext cx="3108960" cy="777240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7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BADGE 3 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C8995"/>
                </a:solidFill>
                <a:latin typeface="Calibri"/>
              </a:rPr>
              <a:t>Give yourself a big clap!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69164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57800" y="1819656"/>
            <a:ext cx="475488" cy="475488"/>
          </a:xfrm>
          <a:prstGeom prst="ellipse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87452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85623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Six words blended: sun, run, hat, wet, big, fog.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256032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7800" y="2688336"/>
            <a:ext cx="475488" cy="475488"/>
          </a:xfrm>
          <a:prstGeom prst="ellipse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274320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☁️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72491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Three missing letters found.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342900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57800" y="3557016"/>
            <a:ext cx="475488" cy="475488"/>
          </a:xfrm>
          <a:prstGeom prst="ellipse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361188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59359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Four mixed-up words put in order.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297679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57800" y="4425695"/>
            <a:ext cx="475488" cy="475488"/>
          </a:xfrm>
          <a:prstGeom prst="ellipse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4480559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462271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You read a sentence for every word.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5212080"/>
            <a:ext cx="6766560" cy="475488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530352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NEXT:  🌧️ Rain Station — words that rhyme.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WORD FAMILIES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☔ The -AT 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014569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 Station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37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900A"/>
                </a:solidFill>
                <a:latin typeface="Calibri"/>
              </a:rPr>
              <a:t>Every word here ends the same way: -AT. They all rhyme.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926080" cy="4023360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1" i="0">
                <a:solidFill>
                  <a:srgbClr val="FFFFFF"/>
                </a:solidFill>
                <a:latin typeface="Arial Black"/>
              </a:rPr>
              <a:t>-AT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say it: 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23774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8995"/>
                </a:solidFill>
                <a:latin typeface="Calibri"/>
              </a:rPr>
              <a:t>HOW MANY?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2900A"/>
                </a:solidFill>
                <a:latin typeface="Calibri"/>
              </a:rPr>
              <a:t>4 words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1691640"/>
            <a:ext cx="1908810" cy="402336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103120"/>
            <a:ext cx="190881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C3945"/>
                </a:solidFill>
                <a:latin typeface="Calibri"/>
              </a:rPr>
              <a:t>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3474720"/>
            <a:ext cx="154305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657600"/>
            <a:ext cx="154305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5720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900A"/>
                </a:solidFill>
                <a:latin typeface="Calibri"/>
              </a:rPr>
              <a:t>h + 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0292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9290" y="1691640"/>
            <a:ext cx="1908810" cy="402336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9290" y="2103120"/>
            <a:ext cx="190881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C3945"/>
                </a:solidFill>
                <a:latin typeface="Calibri"/>
              </a:rPr>
              <a:t>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32170" y="3474720"/>
            <a:ext cx="154305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32170" y="3657600"/>
            <a:ext cx="154305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BAT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0730" y="45720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900A"/>
                </a:solidFill>
                <a:latin typeface="Calibri"/>
              </a:rPr>
              <a:t>b + 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0730" y="50292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40979" y="1691640"/>
            <a:ext cx="1908810" cy="402336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0979" y="2103120"/>
            <a:ext cx="190881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C3945"/>
                </a:solidFill>
                <a:latin typeface="Calibri"/>
              </a:rPr>
              <a:t>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3859" y="3474720"/>
            <a:ext cx="154305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23859" y="3657600"/>
            <a:ext cx="154305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CAT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2419" y="45720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900A"/>
                </a:solidFill>
                <a:latin typeface="Calibri"/>
              </a:rPr>
              <a:t>c + 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2419" y="50292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32670" y="1691640"/>
            <a:ext cx="1908810" cy="402336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32670" y="2103120"/>
            <a:ext cx="190881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C3945"/>
                </a:solidFill>
                <a:latin typeface="Calibri"/>
              </a:rPr>
              <a:t>🟫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15550" y="3474720"/>
            <a:ext cx="154305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15550" y="3657600"/>
            <a:ext cx="154305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MAT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24110" y="45720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900A"/>
                </a:solidFill>
                <a:latin typeface="Calibri"/>
              </a:rPr>
              <a:t>m + 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4110" y="5029200"/>
            <a:ext cx="17259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Cover the first letter, read the ending, then uncover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WORD FAMILIES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☔ The -OG 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177125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 Station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38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E7796"/>
                </a:solidFill>
                <a:latin typeface="Calibri"/>
              </a:rPr>
              <a:t>Every word here ends the same way: -OG. They all rhyme.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926080" cy="4023360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1" i="0">
                <a:solidFill>
                  <a:srgbClr val="FFFFFF"/>
                </a:solidFill>
                <a:latin typeface="Arial Black"/>
              </a:rPr>
              <a:t>-OG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say it: 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23774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8995"/>
                </a:solidFill>
                <a:latin typeface="Calibri"/>
              </a:rPr>
              <a:t>HOW MANY?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E7796"/>
                </a:solidFill>
                <a:latin typeface="Calibri"/>
              </a:rPr>
              <a:t>3 words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1691640"/>
            <a:ext cx="2606040" cy="402336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C3945"/>
                </a:solidFill>
                <a:latin typeface="Calibri"/>
              </a:rPr>
              <a:t>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DOG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E7796"/>
                </a:solidFill>
                <a:latin typeface="Calibri"/>
              </a:rPr>
              <a:t>d + 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1691640"/>
            <a:ext cx="2606040" cy="402336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C3945"/>
                </a:solidFill>
                <a:latin typeface="Calibri"/>
              </a:rPr>
              <a:t>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E7796"/>
                </a:solidFill>
                <a:latin typeface="Calibri"/>
              </a:rPr>
              <a:t>l + 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1691640"/>
            <a:ext cx="2606040" cy="402336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C3945"/>
                </a:solidFill>
                <a:latin typeface="Calibri"/>
              </a:rPr>
              <a:t>🌫️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FOG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E7796"/>
                </a:solidFill>
                <a:latin typeface="Calibri"/>
              </a:rPr>
              <a:t>f + 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Cover the first letter, read the ending, then uncover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WORD FAMILIES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☔ The -UN 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339681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 Station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39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EB5"/>
                </a:solidFill>
                <a:latin typeface="Calibri"/>
              </a:rPr>
              <a:t>Every word here ends the same way: -UN. They all rhyme.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926080" cy="4023360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1" i="0">
                <a:solidFill>
                  <a:srgbClr val="FFFFFF"/>
                </a:solidFill>
                <a:latin typeface="Arial Black"/>
              </a:rPr>
              <a:t>-UN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say it: 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23774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8995"/>
                </a:solidFill>
                <a:latin typeface="Calibri"/>
              </a:rPr>
              <a:t>HOW MANY?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6EB5"/>
                </a:solidFill>
                <a:latin typeface="Calibri"/>
              </a:rPr>
              <a:t>3 words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1691640"/>
            <a:ext cx="2606040" cy="402336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SUN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6EB5"/>
                </a:solidFill>
                <a:latin typeface="Calibri"/>
              </a:rPr>
              <a:t>s + 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1691640"/>
            <a:ext cx="2606040" cy="402336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C3945"/>
                </a:solidFill>
                <a:latin typeface="Calibri"/>
              </a:rPr>
              <a:t>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6EB5"/>
                </a:solidFill>
                <a:latin typeface="Calibri"/>
              </a:rPr>
              <a:t>r + 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1691640"/>
            <a:ext cx="2606040" cy="402336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10312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C3945"/>
                </a:solidFill>
                <a:latin typeface="Calibri"/>
              </a:rPr>
              <a:t>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347472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657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FUN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5720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6EB5"/>
                </a:solidFill>
                <a:latin typeface="Calibri"/>
              </a:rPr>
              <a:t>f + 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5029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995"/>
                </a:solidFill>
                <a:latin typeface="Calibri"/>
              </a:rPr>
              <a:t>☐ I read 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Cover the first letter, read the ending, then uncover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☔ Raindrop Sort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502237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 Station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40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EB5"/>
                </a:solidFill>
                <a:latin typeface="Calibri"/>
              </a:rPr>
              <a:t>Read each raindrop word, then drop it in the right bucket.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5440680" cy="237744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691640"/>
            <a:ext cx="5440680" cy="603504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83080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-AT  bucket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23160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945"/>
                </a:solidFill>
                <a:latin typeface="Calibri"/>
              </a:rPr>
              <a:t>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63240"/>
            <a:ext cx="4343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995"/>
                </a:solidFill>
                <a:latin typeface="Calibri"/>
              </a:rPr>
              <a:t>____________      ____________
____________      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691640"/>
            <a:ext cx="5440680" cy="237744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1691640"/>
            <a:ext cx="5440680" cy="603504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783080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-UN  bucket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423160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945"/>
                </a:solidFill>
                <a:latin typeface="Calibri"/>
              </a:rPr>
              <a:t>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063240"/>
            <a:ext cx="4343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995"/>
                </a:solidFill>
                <a:latin typeface="Calibri"/>
              </a:rPr>
              <a:t>____________      ____________
____________      ____________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11292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6EB5"/>
                </a:solidFill>
                <a:latin typeface="Calibri"/>
              </a:rPr>
              <a:t>RAINDROP WORDS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17720"/>
            <a:ext cx="1737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74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6EB5"/>
                </a:solidFill>
                <a:latin typeface="Arial Black"/>
              </a:rPr>
              <a:t>HAT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50008" y="4617720"/>
            <a:ext cx="1737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50008" y="4709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50008" y="5074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6EB5"/>
                </a:solidFill>
                <a:latin typeface="Arial Black"/>
              </a:rPr>
              <a:t>SUN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42816" y="4617720"/>
            <a:ext cx="1737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2816" y="4709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2816" y="5074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6EB5"/>
                </a:solidFill>
                <a:latin typeface="Arial Black"/>
              </a:rPr>
              <a:t>MAT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35623" y="4617720"/>
            <a:ext cx="1737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3" y="4709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35623" y="5074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6EB5"/>
                </a:solidFill>
                <a:latin typeface="Arial Black"/>
              </a:rPr>
              <a:t>RUN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8431" y="4617720"/>
            <a:ext cx="1737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28431" y="4709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28431" y="5074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6EB5"/>
                </a:solidFill>
                <a:latin typeface="Arial Black"/>
              </a:rPr>
              <a:t>CAT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21240" y="4617720"/>
            <a:ext cx="1737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1240" y="4709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5074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C6EB5"/>
                </a:solidFill>
                <a:latin typeface="Arial Black"/>
              </a:rPr>
              <a:t>FUN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Say two words together. If they rhyme, they share a bucket.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🎮 Who Does Not Belong?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664793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 Station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41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3867C"/>
                </a:solidFill>
                <a:latin typeface="Calibri"/>
              </a:rPr>
              <a:t>Read all three out loud, then cross out the odd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18872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03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20208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1305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CAT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0208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1305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HAT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0208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21305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2020824"/>
            <a:ext cx="15544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216712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8995"/>
                </a:solidFill>
                <a:latin typeface="Calibri"/>
              </a:rPr>
              <a:t>✗ odd 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154680"/>
            <a:ext cx="11292840" cy="118872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3520440"/>
            <a:ext cx="457200" cy="457200"/>
          </a:xfrm>
          <a:prstGeom prst="ellipse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575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54480" y="33924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35021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DOG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33924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35021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LOG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33924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35021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SIT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3392424"/>
            <a:ext cx="15544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353872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8995"/>
                </a:solidFill>
                <a:latin typeface="Calibri"/>
              </a:rPr>
              <a:t>✗ odd 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526280"/>
            <a:ext cx="11292840" cy="118872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31520" y="4892040"/>
            <a:ext cx="457200" cy="457200"/>
          </a:xfrm>
          <a:prstGeom prst="ellipse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9469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54480" y="47640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54480" y="48737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SUN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80" y="47640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80" y="48737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FUN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40880" y="4764024"/>
            <a:ext cx="2468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48737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Arial Black"/>
              </a:rPr>
              <a:t>MAP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66960" y="4764024"/>
            <a:ext cx="15544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66960" y="491032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8995"/>
                </a:solidFill>
                <a:latin typeface="Calibri"/>
              </a:rPr>
              <a:t>✗ odd one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Two of them rhyme. Say them as a pair and the odd one pops out.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⭐ Make a Rhyme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827349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 Station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42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4BA8"/>
                </a:solidFill>
                <a:latin typeface="Calibri"/>
              </a:rPr>
              <a:t>Say a word that rhymes. You can use the choices if you want.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574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945"/>
                </a:solidFill>
                <a:latin typeface="Calibri"/>
              </a:rPr>
              <a:t>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60" y="2039112"/>
            <a:ext cx="2194560" cy="676656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214884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16712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995"/>
                </a:solidFill>
                <a:latin typeface="Calibri"/>
              </a:rPr>
              <a:t>rhymes with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2039112"/>
            <a:ext cx="1920240" cy="676656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21488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430"/>
                </a:solidFill>
                <a:latin typeface="Calibri"/>
              </a:rPr>
              <a:t>CAT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039112"/>
            <a:ext cx="1920240" cy="676656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1488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430"/>
                </a:solidFill>
                <a:latin typeface="Calibri"/>
              </a:rPr>
              <a:t>DOG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2039112"/>
            <a:ext cx="1920240" cy="676656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21488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430"/>
                </a:solidFill>
                <a:latin typeface="Calibri"/>
              </a:rPr>
              <a:t>SUN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15468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4290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945"/>
                </a:solidFill>
                <a:latin typeface="Calibri"/>
              </a:rPr>
              <a:t>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37360" y="3410712"/>
            <a:ext cx="2194560" cy="676656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0" y="352044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53872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995"/>
                </a:solidFill>
                <a:latin typeface="Calibri"/>
              </a:rPr>
              <a:t>rhymes with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32120" y="3410712"/>
            <a:ext cx="1920240" cy="676656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32120" y="35204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430"/>
                </a:solidFill>
                <a:latin typeface="Calibri"/>
              </a:rPr>
              <a:t>FOG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3410712"/>
            <a:ext cx="1920240" cy="676656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35204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430"/>
                </a:solidFill>
                <a:latin typeface="Calibri"/>
              </a:rPr>
              <a:t>HAT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920" y="3410712"/>
            <a:ext cx="1920240" cy="676656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35204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430"/>
                </a:solidFill>
                <a:latin typeface="Calibri"/>
              </a:rPr>
              <a:t>RUN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52628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8006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37360" y="4782312"/>
            <a:ext cx="2194560" cy="676656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37360" y="489204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SUN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491032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995"/>
                </a:solidFill>
                <a:latin typeface="Calibri"/>
              </a:rPr>
              <a:t>rhymes with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32120" y="4782312"/>
            <a:ext cx="1920240" cy="676656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2120" y="48920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430"/>
                </a:solidFill>
                <a:latin typeface="Calibri"/>
              </a:rPr>
              <a:t>FUN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0" y="4782312"/>
            <a:ext cx="1920240" cy="676656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0" y="48920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430"/>
                </a:solidFill>
                <a:latin typeface="Calibri"/>
              </a:rPr>
              <a:t>BIG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46920" y="4782312"/>
            <a:ext cx="1920240" cy="676656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46920" y="48920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430"/>
                </a:solidFill>
                <a:latin typeface="Calibri"/>
              </a:rPr>
              <a:t>WET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A rhyme sounds the same at the end. Say both words twice.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44–49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🌦️ Brain Break — Weather Freeze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989905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 Station  |  44–49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43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E413D"/>
                </a:solidFill>
                <a:latin typeface="Calibri"/>
              </a:rPr>
              <a:t>Stay in your chair. Move only your arms and hands.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291840" cy="4023360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C3945"/>
                </a:solidFill>
                <a:latin typeface="Calibri"/>
              </a:rPr>
              <a:t>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7763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E413D"/>
                </a:solidFill>
                <a:latin typeface="Georgia"/>
              </a:rPr>
              <a:t>5 MINUTES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09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8995"/>
                </a:solidFill>
                <a:latin typeface="Calibri"/>
              </a:rPr>
              <a:t>then sight words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1691640"/>
            <a:ext cx="77724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18196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1819656"/>
            <a:ext cx="1737360" cy="457200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18928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SUN!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856232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Make a big sunshine with your arms.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77639" y="2514600"/>
            <a:ext cx="77724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26426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2642616"/>
            <a:ext cx="1737360" cy="457200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271576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RAIN!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679192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Tap your fingers like raindrops.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77639" y="3337560"/>
            <a:ext cx="77724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346557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C3945"/>
                </a:solidFill>
                <a:latin typeface="Calibri"/>
              </a:rPr>
              <a:t>🌬️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2040" y="3465576"/>
            <a:ext cx="1737360" cy="457200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353872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WIND!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502152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Sway your hands side to side.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77639" y="4160520"/>
            <a:ext cx="77724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428853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C3945"/>
                </a:solidFill>
                <a:latin typeface="Calibri"/>
              </a:rPr>
              <a:t>❄️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2040" y="4288536"/>
            <a:ext cx="1737360" cy="457200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436168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SNOW!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325112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Float your fingers down slowly.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77639" y="4983480"/>
            <a:ext cx="77724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51114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C3945"/>
                </a:solidFill>
                <a:latin typeface="Calibri"/>
              </a:rPr>
              <a:t>🧊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92040" y="5111496"/>
            <a:ext cx="1737360" cy="457200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2040" y="518464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FREEZE!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148072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Stop and hold very still.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95274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94360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Say the calls quickly and out of order. That is the fun part.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44–49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🌦️ Freeze — Now Read One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152461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 Station  |  44–49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44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3867C"/>
                </a:solidFill>
                <a:latin typeface="Calibri"/>
              </a:rPr>
              <a:t>After each freeze, I give you one small reading job.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743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7451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880360"/>
            <a:ext cx="2103120" cy="77724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035808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3867C"/>
                </a:solidFill>
                <a:latin typeface="Arial Black"/>
              </a:rPr>
              <a:t>SUN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92424" y="1691640"/>
            <a:ext cx="2743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2424" y="187451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12464" y="2880360"/>
            <a:ext cx="2103120" cy="77724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2464" y="3035808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3867C"/>
                </a:solidFill>
                <a:latin typeface="Arial Black"/>
              </a:rPr>
              <a:t>RAIN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1691640"/>
            <a:ext cx="2743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187451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7688" y="2880360"/>
            <a:ext cx="2103120" cy="77724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3035808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3867C"/>
                </a:solidFill>
                <a:latin typeface="Arial Black"/>
              </a:rPr>
              <a:t>HAT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62872" y="1691640"/>
            <a:ext cx="2743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187451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C3945"/>
                </a:solidFill>
                <a:latin typeface="Calibri"/>
              </a:rPr>
              <a:t>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82912" y="2880360"/>
            <a:ext cx="2103120" cy="77724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82912" y="3035808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3867C"/>
                </a:solidFill>
                <a:latin typeface="Arial Black"/>
              </a:rPr>
              <a:t>BIG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14800"/>
            <a:ext cx="5440680" cy="713232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2611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945"/>
                </a:solidFill>
                <a:latin typeface="Calibri"/>
              </a:rPr>
              <a:t>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26110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2430"/>
                </a:solidFill>
                <a:latin typeface="Calibri"/>
              </a:rPr>
              <a:t>Point to SUN.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114800"/>
            <a:ext cx="5440680" cy="713232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2611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945"/>
                </a:solidFill>
                <a:latin typeface="Calibri"/>
              </a:rPr>
              <a:t>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26110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2430"/>
                </a:solidFill>
                <a:latin typeface="Calibri"/>
              </a:rPr>
              <a:t>Point to RAIN.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937760"/>
            <a:ext cx="5440680" cy="713232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0840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945"/>
                </a:solidFill>
                <a:latin typeface="Calibri"/>
              </a:rPr>
              <a:t>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08406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2430"/>
                </a:solidFill>
                <a:latin typeface="Calibri"/>
              </a:rPr>
              <a:t>Read HAT.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4937760"/>
            <a:ext cx="5440680" cy="713232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50840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945"/>
                </a:solidFill>
                <a:latin typeface="Calibri"/>
              </a:rPr>
              <a:t>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08406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2430"/>
                </a:solidFill>
                <a:latin typeface="Calibri"/>
              </a:rPr>
              <a:t>Read BIG.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5274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594360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Two jobs are pointing and two are reading. Keep it under a minute.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SIGHT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🌧️ Sight Word — 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315017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 Station  |  49–59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45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900A"/>
                </a:solidFill>
                <a:latin typeface="Calibri"/>
              </a:rPr>
              <a:t>This word is a friend. We know it by looking, not sounding it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572000" cy="2377440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Arial Black"/>
              </a:rPr>
              <a:t>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51960"/>
            <a:ext cx="4572000" cy="14630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900A"/>
                </a:solidFill>
                <a:latin typeface="Calibri"/>
              </a:rPr>
              <a:t>SAY IT THREE TIMES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028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8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1691640"/>
            <a:ext cx="6446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178308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900A"/>
                </a:solidFill>
                <a:latin typeface="Calibri"/>
              </a:rPr>
              <a:t>WHAT IT DOES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103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You say this word about yourself.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2880360"/>
            <a:ext cx="6446520" cy="118872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29992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900A"/>
                </a:solidFill>
                <a:latin typeface="Calibri"/>
              </a:rPr>
              <a:t>READ IT IN A SENTENCE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337560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I can run.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4206240"/>
            <a:ext cx="64465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43159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900A"/>
                </a:solidFill>
                <a:latin typeface="Calibri"/>
              </a:rPr>
              <a:t>⭐ FIND IT — point to it in this row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4709160"/>
            <a:ext cx="914400" cy="658368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2900A"/>
                </a:solidFill>
                <a:latin typeface="Arial Black"/>
              </a:rPr>
              <a:t>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65392" y="4709160"/>
            <a:ext cx="914400" cy="658368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2900A"/>
                </a:solidFill>
                <a:latin typeface="Arial Black"/>
              </a:rPr>
              <a:t>see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52944" y="4709160"/>
            <a:ext cx="914400" cy="658368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52944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2900A"/>
                </a:solidFill>
                <a:latin typeface="Arial Black"/>
              </a:rPr>
              <a:t>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40496" y="4709160"/>
            <a:ext cx="914400" cy="658368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0496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2900A"/>
                </a:solidFill>
                <a:latin typeface="Arial Black"/>
              </a:rPr>
              <a:t>the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28048" y="4709160"/>
            <a:ext cx="914400" cy="658368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28048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2900A"/>
                </a:solidFill>
                <a:latin typeface="Arial Black"/>
              </a:rPr>
              <a:t>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15600" y="4709160"/>
            <a:ext cx="914400" cy="658368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2900A"/>
                </a:solidFill>
                <a:latin typeface="Arial Black"/>
              </a:rPr>
              <a:t>my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Say it, clap it, then hunt for the same shape in the row.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SIGHT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🌧️ Sight Word — SEE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477572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 Station  |  49–59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46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EB5"/>
                </a:solidFill>
                <a:latin typeface="Calibri"/>
              </a:rPr>
              <a:t>This word is a friend. We know it by looking, not sounding it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572000" cy="2377440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Arial Black"/>
              </a:rPr>
              <a:t>see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51960"/>
            <a:ext cx="4572000" cy="14630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6EB5"/>
                </a:solidFill>
                <a:latin typeface="Calibri"/>
              </a:rPr>
              <a:t>SAY IT THREE TIMES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028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8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800600"/>
            <a:ext cx="914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4956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1691640"/>
            <a:ext cx="6446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178308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6EB5"/>
                </a:solidFill>
                <a:latin typeface="Calibri"/>
              </a:rPr>
              <a:t>WHAT IT DOES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103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This word is about your eyes.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2880360"/>
            <a:ext cx="6446520" cy="118872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29992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6EB5"/>
                </a:solidFill>
                <a:latin typeface="Calibri"/>
              </a:rPr>
              <a:t>READ IT IN A SENTENCE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337560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I see the sun.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4206240"/>
            <a:ext cx="64465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43159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6EB5"/>
                </a:solidFill>
                <a:latin typeface="Calibri"/>
              </a:rPr>
              <a:t>⭐ FIND IT — point to it in this row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4709160"/>
            <a:ext cx="914400" cy="658368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C6EB5"/>
                </a:solidFill>
                <a:latin typeface="Arial Black"/>
              </a:rPr>
              <a:t>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65392" y="4709160"/>
            <a:ext cx="914400" cy="658368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C6EB5"/>
                </a:solidFill>
                <a:latin typeface="Arial Black"/>
              </a:rPr>
              <a:t>see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52944" y="4709160"/>
            <a:ext cx="914400" cy="658368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52944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C6EB5"/>
                </a:solidFill>
                <a:latin typeface="Arial Black"/>
              </a:rPr>
              <a:t>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40496" y="4709160"/>
            <a:ext cx="914400" cy="658368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0496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C6EB5"/>
                </a:solidFill>
                <a:latin typeface="Arial Black"/>
              </a:rPr>
              <a:t>the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28048" y="4709160"/>
            <a:ext cx="914400" cy="658368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28048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C6EB5"/>
                </a:solidFill>
                <a:latin typeface="Arial Black"/>
              </a:rPr>
              <a:t>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15600" y="4709160"/>
            <a:ext cx="914400" cy="658368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C6EB5"/>
                </a:solidFill>
                <a:latin typeface="Arial Black"/>
              </a:rPr>
              <a:t>my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Say it, clap it, then hunt for the same shape in the row.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SIGHT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🌧️ Sight Word — A  ·  THE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640128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 Station  |  49–59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47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E7796"/>
                </a:solidFill>
                <a:latin typeface="Calibri"/>
              </a:rPr>
              <a:t>These words are friends. We know them by looking, not sounding them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572000" cy="1828800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488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86200"/>
            <a:ext cx="4572000" cy="1828800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 Black"/>
              </a:rPr>
              <a:t>the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1691640"/>
            <a:ext cx="6446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178308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E7796"/>
                </a:solidFill>
                <a:latin typeface="Calibri"/>
              </a:rPr>
              <a:t>WHAT IT DOES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103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Two tiny words. They sit before a naming word.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2880360"/>
            <a:ext cx="6446520" cy="118872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29992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E7796"/>
                </a:solidFill>
                <a:latin typeface="Calibri"/>
              </a:rPr>
              <a:t>READ IT IN A SENTENCE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337560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I see a cloud.  ·  I see the cloud.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4206240"/>
            <a:ext cx="64465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43159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E7796"/>
                </a:solidFill>
                <a:latin typeface="Calibri"/>
              </a:rPr>
              <a:t>⭐ FIND IT — point to it in this row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0" y="4709160"/>
            <a:ext cx="914400" cy="658368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E7796"/>
                </a:solidFill>
                <a:latin typeface="Arial Black"/>
              </a:rPr>
              <a:t>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5392" y="4709160"/>
            <a:ext cx="914400" cy="658368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E7796"/>
                </a:solidFill>
                <a:latin typeface="Arial Black"/>
              </a:rPr>
              <a:t>see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4709160"/>
            <a:ext cx="914400" cy="658368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2944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E7796"/>
                </a:solidFill>
                <a:latin typeface="Arial Black"/>
              </a:rPr>
              <a:t>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40496" y="4709160"/>
            <a:ext cx="914400" cy="658368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E7796"/>
                </a:solidFill>
                <a:latin typeface="Arial Black"/>
              </a:rPr>
              <a:t>the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28048" y="4709160"/>
            <a:ext cx="914400" cy="658368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8048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E7796"/>
                </a:solidFill>
                <a:latin typeface="Arial Black"/>
              </a:rPr>
              <a:t>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15600" y="4709160"/>
            <a:ext cx="914400" cy="658368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E7796"/>
                </a:solidFill>
                <a:latin typeface="Arial Black"/>
              </a:rPr>
              <a:t>my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Say it, clap it, then hunt for the same shape in the row.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SIGHT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🌧️ Sight Word — IS  ·  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802684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 Station  |  49–59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48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4BA8"/>
                </a:solidFill>
                <a:latin typeface="Calibri"/>
              </a:rPr>
              <a:t>These words are friends. We know them by looking, not sounding them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572000" cy="1828800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488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 Black"/>
              </a:rPr>
              <a:t>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86200"/>
            <a:ext cx="4572000" cy="1828800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 Black"/>
              </a:rPr>
              <a:t>my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1691640"/>
            <a:ext cx="6446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178308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4BA8"/>
                </a:solidFill>
                <a:latin typeface="Calibri"/>
              </a:rPr>
              <a:t>WHAT IT DOES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103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One word joins. One word says it belongs to you.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2880360"/>
            <a:ext cx="6446520" cy="118872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29992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4BA8"/>
                </a:solidFill>
                <a:latin typeface="Calibri"/>
              </a:rPr>
              <a:t>READ IT IN A SENTENCE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337560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My hat is wet.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4206240"/>
            <a:ext cx="64465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43159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4BA8"/>
                </a:solidFill>
                <a:latin typeface="Calibri"/>
              </a:rPr>
              <a:t>⭐ FIND IT — point to it in this row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0" y="4709160"/>
            <a:ext cx="914400" cy="65836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B4BA8"/>
                </a:solidFill>
                <a:latin typeface="Arial Black"/>
              </a:rPr>
              <a:t>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5392" y="4709160"/>
            <a:ext cx="914400" cy="65836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B4BA8"/>
                </a:solidFill>
                <a:latin typeface="Arial Black"/>
              </a:rPr>
              <a:t>see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4709160"/>
            <a:ext cx="914400" cy="65836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2944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B4BA8"/>
                </a:solidFill>
                <a:latin typeface="Arial Black"/>
              </a:rPr>
              <a:t>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40496" y="4709160"/>
            <a:ext cx="914400" cy="65836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B4BA8"/>
                </a:solidFill>
                <a:latin typeface="Arial Black"/>
              </a:rPr>
              <a:t>the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28048" y="4709160"/>
            <a:ext cx="914400" cy="65836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8048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B4BA8"/>
                </a:solidFill>
                <a:latin typeface="Arial Black"/>
              </a:rPr>
              <a:t>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15600" y="4709160"/>
            <a:ext cx="914400" cy="65836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B4BA8"/>
                </a:solidFill>
                <a:latin typeface="Arial Black"/>
              </a:rPr>
              <a:t>my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Say it, clap it, then hunt for the same shape in the row.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🧩 Build It —  I see the sun.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965240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 Station  |  49–59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49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900A"/>
                </a:solidFill>
                <a:latin typeface="Calibri"/>
              </a:rPr>
              <a:t>Read each card, then read the whole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017520" cy="274320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94835" y="1874519"/>
            <a:ext cx="548640" cy="548640"/>
          </a:xfrm>
          <a:prstGeom prst="ellipse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483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2430"/>
                </a:solidFill>
                <a:latin typeface="Arial Black"/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26429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7944" y="1874519"/>
            <a:ext cx="548640" cy="548640"/>
          </a:xfrm>
          <a:prstGeom prst="ellipse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7944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6429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2430"/>
                </a:solidFill>
                <a:latin typeface="Arial Black"/>
              </a:rPr>
              <a:t>see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6429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4954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41055" y="1874519"/>
            <a:ext cx="548640" cy="548640"/>
          </a:xfrm>
          <a:prstGeom prst="ellipse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105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954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2430"/>
                </a:solidFill>
                <a:latin typeface="Arial Black"/>
              </a:rPr>
              <a:t>the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954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7265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64165" y="1874519"/>
            <a:ext cx="548640" cy="548640"/>
          </a:xfrm>
          <a:prstGeom prst="ellipse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6416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265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2430"/>
                </a:solidFill>
                <a:latin typeface="Arial Black"/>
              </a:rPr>
              <a:t>sun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265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92840" cy="1051560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64608"/>
            <a:ext cx="11292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I see the sun.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🧩 Build It —  The sun is hot.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127796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 Station  |  49–59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50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E413D"/>
                </a:solidFill>
                <a:latin typeface="Calibri"/>
              </a:rPr>
              <a:t>Read each card, then read the whole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017520" cy="2743200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2C3945"/>
                </a:solidFill>
                <a:latin typeface="Calibri"/>
              </a:rPr>
              <a:t>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94835" y="1874519"/>
            <a:ext cx="548640" cy="548640"/>
          </a:xfrm>
          <a:prstGeom prst="ellipse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483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2430"/>
                </a:solidFill>
                <a:latin typeface="Arial Black"/>
              </a:rPr>
              <a:t>The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26429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7944" y="1874519"/>
            <a:ext cx="548640" cy="548640"/>
          </a:xfrm>
          <a:prstGeom prst="ellipse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7944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6429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2430"/>
                </a:solidFill>
                <a:latin typeface="Arial Black"/>
              </a:rPr>
              <a:t>sun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6429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4954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41055" y="1874519"/>
            <a:ext cx="548640" cy="548640"/>
          </a:xfrm>
          <a:prstGeom prst="ellipse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105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954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2430"/>
                </a:solidFill>
                <a:latin typeface="Arial Black"/>
              </a:rPr>
              <a:t>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954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7265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64165" y="1874519"/>
            <a:ext cx="548640" cy="548640"/>
          </a:xfrm>
          <a:prstGeom prst="ellipse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6416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265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2430"/>
                </a:solidFill>
                <a:latin typeface="Arial Black"/>
              </a:rPr>
              <a:t>hot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265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92840" cy="1051560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64608"/>
            <a:ext cx="11292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The sun is hot.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🧩 Build It —  My hat is wet.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290352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 Station  |  49–59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51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EB5"/>
                </a:solidFill>
                <a:latin typeface="Calibri"/>
              </a:rPr>
              <a:t>Read each card, then read the whole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017520" cy="274320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2C3945"/>
                </a:solidFill>
                <a:latin typeface="Calibri"/>
              </a:rPr>
              <a:t>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94835" y="1874519"/>
            <a:ext cx="548640" cy="548640"/>
          </a:xfrm>
          <a:prstGeom prst="ellipse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483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2430"/>
                </a:solidFill>
                <a:latin typeface="Arial Black"/>
              </a:rPr>
              <a:t>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26429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7944" y="1874519"/>
            <a:ext cx="548640" cy="548640"/>
          </a:xfrm>
          <a:prstGeom prst="ellipse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7944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6429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2430"/>
                </a:solidFill>
                <a:latin typeface="Arial Black"/>
              </a:rPr>
              <a:t>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6429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4954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41055" y="1874519"/>
            <a:ext cx="548640" cy="548640"/>
          </a:xfrm>
          <a:prstGeom prst="ellipse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105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954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2430"/>
                </a:solidFill>
                <a:latin typeface="Arial Black"/>
              </a:rPr>
              <a:t>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954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72650" y="1691640"/>
            <a:ext cx="1840229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64165" y="1874519"/>
            <a:ext cx="548640" cy="548640"/>
          </a:xfrm>
          <a:prstGeom prst="ellipse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64165" y="19476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2650" y="2697480"/>
            <a:ext cx="184022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2430"/>
                </a:solidFill>
                <a:latin typeface="Arial Black"/>
              </a:rPr>
              <a:t>wet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2650" y="3703320"/>
            <a:ext cx="1840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92840" cy="1051560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64608"/>
            <a:ext cx="11292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My hat is wet.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WELL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37–59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🌧️ Rain Station Finished!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452908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Rain Station  |  37–59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52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EB5"/>
                </a:solidFill>
                <a:latin typeface="Calibri"/>
              </a:rPr>
              <a:t>You can read whole sentences now.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206240" cy="402336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977639"/>
            <a:ext cx="3108960" cy="777240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7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BADGE 4 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C8995"/>
                </a:solidFill>
                <a:latin typeface="Calibri"/>
              </a:rPr>
              <a:t>Give yourself a big clap!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69164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57800" y="1819656"/>
            <a:ext cx="475488" cy="475488"/>
          </a:xfrm>
          <a:prstGeom prst="ellipse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87452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85623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Three word families: -at, -og, -un.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256032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7800" y="2688336"/>
            <a:ext cx="475488" cy="475488"/>
          </a:xfrm>
          <a:prstGeom prst="ellipse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274320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72491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Six sight words you know by looking.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3429000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57800" y="3557016"/>
            <a:ext cx="475488" cy="475488"/>
          </a:xfrm>
          <a:prstGeom prst="ellipse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361188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59359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Three sentences built card by card.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297679"/>
            <a:ext cx="6766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57800" y="4425695"/>
            <a:ext cx="475488" cy="475488"/>
          </a:xfrm>
          <a:prstGeom prst="ellipse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4480559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  <a:latin typeface="Calibri"/>
              </a:rPr>
              <a:t>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462271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Calibri"/>
              </a:rPr>
              <a:t>You read every sentence out loud.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5212080"/>
            <a:ext cx="6766560" cy="47548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530352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NEXT:  🌬️ Wind Station — sentence puzzles.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PUZZLE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59–68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🧩 Weather Sentence Puzzles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615464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Wind Station  |  59–68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53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3867C"/>
                </a:solidFill>
                <a:latin typeface="Calibri"/>
              </a:rPr>
              <a:t>The words are jumbled. Put them in an order that makes sense.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92024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1965960"/>
            <a:ext cx="475488" cy="475488"/>
          </a:xfrm>
          <a:prstGeom prst="ellipse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208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197510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67C"/>
                </a:solidFill>
                <a:latin typeface="Calibri"/>
              </a:rPr>
              <a:t>MIXED-UP WORDS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2340864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2468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see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2340864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468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2340864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2468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sun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340864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2468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the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24028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3127248"/>
            <a:ext cx="85953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3182112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C8995"/>
                </a:solidFill>
                <a:latin typeface="Calibri"/>
              </a:rPr>
              <a:t>say it in order:  ______________________________________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840479"/>
            <a:ext cx="11292840" cy="192024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4069079"/>
            <a:ext cx="475488" cy="475488"/>
          </a:xfrm>
          <a:prstGeom prst="ellipse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123943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078223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67C"/>
                </a:solidFill>
                <a:latin typeface="Calibri"/>
              </a:rPr>
              <a:t>MIXED-UP WORDS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4443983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4571999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hot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11880" y="4443983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1880" y="4571999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52160" y="4443983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4571999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sun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2440" y="4443983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4571999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4343399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C3945"/>
                </a:solidFill>
                <a:latin typeface="Calibri"/>
              </a:rPr>
              <a:t>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71600" y="5230367"/>
            <a:ext cx="85953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00200" y="5285231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C8995"/>
                </a:solidFill>
                <a:latin typeface="Calibri"/>
              </a:rPr>
              <a:t>say it in order:  ______________________________________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089903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6080759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Which word would you say first? A sentence starts with a capital letter.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PUZZLE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59–68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🧩 Two More Puzzles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778020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Wind Station  |  59–68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54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4BA8"/>
                </a:solidFill>
                <a:latin typeface="Calibri"/>
              </a:rPr>
              <a:t>Last two. Read your sentence back to me when you finish.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92024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1965960"/>
            <a:ext cx="475488" cy="475488"/>
          </a:xfrm>
          <a:prstGeom prst="ellipse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208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197510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4BA8"/>
                </a:solidFill>
                <a:latin typeface="Calibri"/>
              </a:rPr>
              <a:t>MIXED-UP WORDS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2340864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2468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wet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2340864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468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hat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2340864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2468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My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340864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2468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24028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C3945"/>
                </a:solidFill>
                <a:latin typeface="Calibri"/>
              </a:rPr>
              <a:t>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3127248"/>
            <a:ext cx="85953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3182112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C8995"/>
                </a:solidFill>
                <a:latin typeface="Calibri"/>
              </a:rPr>
              <a:t>say it in order:  ______________________________________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840479"/>
            <a:ext cx="11292840" cy="192024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4069079"/>
            <a:ext cx="475488" cy="475488"/>
          </a:xfrm>
          <a:prstGeom prst="ellipse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123943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078223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4BA8"/>
                </a:solidFill>
                <a:latin typeface="Calibri"/>
              </a:rPr>
              <a:t>MIXED-UP WORDS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4443983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4571999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can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11880" y="4443983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1880" y="4571999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52160" y="4443983"/>
            <a:ext cx="2103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4571999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2430"/>
                </a:solidFill>
                <a:latin typeface="Arial Black"/>
              </a:rPr>
              <a:t>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4343399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C3945"/>
                </a:solidFill>
                <a:latin typeface="Calibri"/>
              </a:rPr>
              <a:t>🏃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71600" y="5230367"/>
            <a:ext cx="85953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00200" y="5285231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C8995"/>
                </a:solidFill>
                <a:latin typeface="Calibri"/>
              </a:rPr>
              <a:t>say it in order:  ______________________________________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089903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6080759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Move one card at a time. Read it out loud after every move.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59–68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🎮 Weather Sentence 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940576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Wind Station  |  59–68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55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EB5"/>
                </a:solidFill>
                <a:latin typeface="Calibri"/>
              </a:rPr>
              <a:t>Read the sentence, then point to the picture it tells about.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9659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1965960"/>
            <a:ext cx="45720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4884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1B2430"/>
                </a:solidFill>
                <a:latin typeface="Georgia"/>
              </a:rPr>
              <a:t>The hat is wet.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26080"/>
            <a:ext cx="4572000" cy="457200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9923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 READ  →  WE READ  →  YOU READ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201168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194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C3945"/>
                </a:solidFill>
                <a:latin typeface="Calibri"/>
              </a:rPr>
              <a:t>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0358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01168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194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0358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201168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194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C3945"/>
                </a:solidFill>
                <a:latin typeface="Calibri"/>
              </a:rPr>
              <a:t>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0358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886200"/>
            <a:ext cx="11292840" cy="196596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4114800"/>
            <a:ext cx="45720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29768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1B2430"/>
                </a:solidFill>
                <a:latin typeface="Georgia"/>
              </a:rPr>
              <a:t>I see the rain.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074920"/>
            <a:ext cx="4572000" cy="457200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14807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 READ  →  WE READ  →  YOU READ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416052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4343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C3945"/>
                </a:solidFill>
                <a:latin typeface="Calibri"/>
              </a:rPr>
              <a:t>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51846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416052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4343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1846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84080" y="4160520"/>
            <a:ext cx="1828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0" y="4343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2C3945"/>
                </a:solidFill>
                <a:latin typeface="Calibri"/>
              </a:rPr>
              <a:t>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51846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089903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6080759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Read the sentence twice. The important word is the last one.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59–68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🎮 Real or Silly?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103132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Wind Station  |  59–68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56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900A"/>
                </a:solidFill>
                <a:latin typeface="Calibri"/>
              </a:rPr>
              <a:t>Read it, then tell me: could that really happen?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1984248"/>
            <a:ext cx="457200" cy="457200"/>
          </a:xfrm>
          <a:prstGeom prst="ellipse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391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1965960"/>
            <a:ext cx="5852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The sun is hot.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993392"/>
            <a:ext cx="1783080" cy="45720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205740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3867C"/>
                </a:solidFill>
                <a:latin typeface="Calibri"/>
              </a:rPr>
              <a:t>✅ REAL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1993392"/>
            <a:ext cx="1783080" cy="457200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05740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E413D"/>
                </a:solidFill>
                <a:latin typeface="Calibri"/>
              </a:rPr>
              <a:t>❌ SILLY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807208"/>
            <a:ext cx="11292840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008376"/>
            <a:ext cx="457200" cy="457200"/>
          </a:xfrm>
          <a:prstGeom prst="ellipse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063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2990088"/>
            <a:ext cx="5852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The sun is wet.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3017520"/>
            <a:ext cx="1783080" cy="45720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3081528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3867C"/>
                </a:solidFill>
                <a:latin typeface="Calibri"/>
              </a:rPr>
              <a:t>✅ REAL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3017520"/>
            <a:ext cx="1783080" cy="457200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3081528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E413D"/>
                </a:solidFill>
                <a:latin typeface="Calibri"/>
              </a:rPr>
              <a:t>❌ SILLY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831336"/>
            <a:ext cx="11292840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4032504"/>
            <a:ext cx="457200" cy="457200"/>
          </a:xfrm>
          <a:prstGeom prst="ellipse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0873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014216"/>
            <a:ext cx="5852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My coat is red.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4041648"/>
            <a:ext cx="1783080" cy="45720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410565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3867C"/>
                </a:solidFill>
                <a:latin typeface="Calibri"/>
              </a:rPr>
              <a:t>✅ REAL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46920" y="4041648"/>
            <a:ext cx="1783080" cy="457200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410565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E413D"/>
                </a:solidFill>
                <a:latin typeface="Calibri"/>
              </a:rPr>
              <a:t>❌ SILLY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855464"/>
            <a:ext cx="11292840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1520" y="5056632"/>
            <a:ext cx="457200" cy="457200"/>
          </a:xfrm>
          <a:prstGeom prst="ellipse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1114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038344"/>
            <a:ext cx="5852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The rain is hot.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80960" y="5065776"/>
            <a:ext cx="1783080" cy="45720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0" y="512978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3867C"/>
                </a:solidFill>
                <a:latin typeface="Calibri"/>
              </a:rPr>
              <a:t>✅ REAL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46920" y="5065776"/>
            <a:ext cx="1783080" cy="457200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6920" y="512978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E413D"/>
                </a:solidFill>
                <a:latin typeface="Calibri"/>
              </a:rPr>
              <a:t>❌ SILLY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925312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🔦 WEATHER HINT — For a silly one, ask: "Can the sun really be wet?" Then laugh about it together.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68–78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📖 Story Time — The Rainy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265688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  |  68–78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57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E413D"/>
                </a:solidFill>
                <a:latin typeface="Calibri"/>
              </a:rPr>
              <a:t>Before we read: what do you think this story is about?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5120640" cy="4023360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E413D"/>
                </a:solidFill>
                <a:latin typeface="Georgia"/>
              </a:rPr>
              <a:t>THE RAINY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8995"/>
                </a:solidFill>
                <a:latin typeface="Calibri"/>
              </a:rPr>
              <a:t>five short parts  ·  I read first, then we read together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737360"/>
            <a:ext cx="5897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E413D"/>
                </a:solidFill>
                <a:latin typeface="Calibri"/>
              </a:rPr>
              <a:t>🤔 WHAT DO YOU THINK?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194560"/>
            <a:ext cx="5897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995"/>
                </a:solidFill>
                <a:latin typeface="Calibri"/>
              </a:rPr>
              <a:t>Point to your guess. Any guess is a good guess.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2697480"/>
            <a:ext cx="58978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880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8986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430"/>
                </a:solidFill>
                <a:latin typeface="Calibri"/>
              </a:rPr>
              <a:t>a rainy day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3703320"/>
            <a:ext cx="58978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886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90448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430"/>
                </a:solidFill>
                <a:latin typeface="Calibri"/>
              </a:rPr>
              <a:t>a hot day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4709160"/>
            <a:ext cx="58978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4892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945"/>
                </a:solidFill>
                <a:latin typeface="Calibri"/>
              </a:rPr>
              <a:t>❄️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9103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430"/>
                </a:solidFill>
                <a:latin typeface="Calibri"/>
              </a:rPr>
              <a:t>a snow day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870448"/>
            <a:ext cx="589788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593445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900A"/>
                </a:solidFill>
                <a:latin typeface="Calibri"/>
              </a:rPr>
              <a:t>Remember your guess. We check it at the end!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68–78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🌧️ The Rainy Day — Part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428244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  |  68–78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58 / 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98448"/>
            <a:ext cx="3200400" cy="438912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C3945"/>
                </a:solidFill>
                <a:latin typeface="Calibri"/>
              </a:rPr>
              <a:t>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200400"/>
            <a:ext cx="2011680" cy="457200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PART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6EB5"/>
                </a:solidFill>
                <a:latin typeface="Calibri"/>
              </a:rPr>
              <a:t>💬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What does Sam see out the window?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298448"/>
            <a:ext cx="78638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4813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Sam looks out the window.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31136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It is a rainy 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98094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Drip, drip, drip. The rain taps on the glass.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07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Sam does not feel sad. He has a plan.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617720"/>
            <a:ext cx="7863840" cy="105156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7183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6EB5"/>
                </a:solidFill>
                <a:latin typeface="Calibri"/>
              </a:rPr>
              <a:t>⭐ YOU READ THIS LINE ON YOUR 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Georgia"/>
              </a:rPr>
              <a:t>It is a rainy day.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68–78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🌧️ The Rainy Day — Part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590800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  |  68–78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59 / 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98448"/>
            <a:ext cx="3200400" cy="4389120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C3945"/>
                </a:solidFill>
                <a:latin typeface="Calibri"/>
              </a:rPr>
              <a:t>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200400"/>
            <a:ext cx="2011680" cy="457200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PART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E413D"/>
                </a:solidFill>
                <a:latin typeface="Calibri"/>
              </a:rPr>
              <a:t>💬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What does Sam put on first?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298448"/>
            <a:ext cx="78638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4813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Sam puts on his red coat.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31136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He gets his hat.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98094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He pulls on his big boots.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07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"I am ready!" says Sam.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617720"/>
            <a:ext cx="7863840" cy="1051560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7183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E413D"/>
                </a:solidFill>
                <a:latin typeface="Calibri"/>
              </a:rPr>
              <a:t>⭐ YOU READ THIS LINE ON YOUR 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Georgia"/>
              </a:rPr>
              <a:t>He gets his hat.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68–78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🌧️ The Rainy Day — Part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753356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  |  68–78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60 / 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98448"/>
            <a:ext cx="3200400" cy="438912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C3945"/>
                </a:solidFill>
                <a:latin typeface="Calibri"/>
              </a:rPr>
              <a:t>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200400"/>
            <a:ext cx="2011680" cy="457200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PART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3867C"/>
                </a:solidFill>
                <a:latin typeface="Calibri"/>
              </a:rPr>
              <a:t>💬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What does Sam jump in?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298448"/>
            <a:ext cx="78638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4813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Sam goes out in the rain.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31136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He sees a big puddle.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98094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Sam jumps in the puddle. Splash!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07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Sam laughs and laughs.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617720"/>
            <a:ext cx="7863840" cy="105156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7183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67C"/>
                </a:solidFill>
                <a:latin typeface="Calibri"/>
              </a:rPr>
              <a:t>⭐ YOU READ THIS LINE ON YOUR 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Georgia"/>
              </a:rPr>
              <a:t>He sees a big puddle.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68–78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🌧️ The Rainy Day — Part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915911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  |  68–78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61 / 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98448"/>
            <a:ext cx="3200400" cy="438912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200400"/>
            <a:ext cx="2011680" cy="457200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PART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900A"/>
                </a:solidFill>
                <a:latin typeface="Calibri"/>
              </a:rPr>
              <a:t>💬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What happens to the rain?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298448"/>
            <a:ext cx="78638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4813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Then the rain stops.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31136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The clouds go away.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98094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Sam looks up at the sky. He sees the sun.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07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The sun is warm on his face.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617720"/>
            <a:ext cx="7863840" cy="105156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7183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900A"/>
                </a:solidFill>
                <a:latin typeface="Calibri"/>
              </a:rPr>
              <a:t>⭐ YOU READ THIS LINE ON YOUR 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Georgia"/>
              </a:rPr>
              <a:t>He sees the sun.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68–78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🌧️ The Rainy Day — Part 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078467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  |  68–78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62 / 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98448"/>
            <a:ext cx="3200400" cy="438912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C3945"/>
                </a:solidFill>
                <a:latin typeface="Calibri"/>
              </a:rPr>
              <a:t>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200400"/>
            <a:ext cx="2011680" cy="457200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PART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4BA8"/>
                </a:solidFill>
                <a:latin typeface="Calibri"/>
              </a:rPr>
              <a:t>💬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Calibri"/>
              </a:rPr>
              <a:t>How does Sam feel at the end?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298448"/>
            <a:ext cx="78638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4813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A rainbow is in the sky.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31136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It is red and gold.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98094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"Look at that!" says Sam.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07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430"/>
                </a:solidFill>
                <a:latin typeface="Georgia"/>
              </a:rPr>
              <a:t>"I like rainy days," he says with a smile.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617720"/>
            <a:ext cx="7863840" cy="105156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7183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4BA8"/>
                </a:solidFill>
                <a:latin typeface="Calibri"/>
              </a:rPr>
              <a:t>⭐ YOU READ THIS LINE ON YOUR 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Georgia"/>
              </a:rPr>
              <a:t>A rainbow is in the sky.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 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Your turn!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78–85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🔎 Story Detective — Question 1 and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241023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  |  78–85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63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EB5"/>
                </a:solidFill>
                <a:latin typeface="Calibri"/>
              </a:rPr>
              <a:t>Point to your answer. You can look back at the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32304"/>
            <a:ext cx="457200" cy="457200"/>
          </a:xfrm>
          <a:prstGeom prst="ellipse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07408"/>
            <a:ext cx="457200" cy="457200"/>
          </a:xfrm>
          <a:prstGeom prst="ellipse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62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0116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945"/>
                </a:solidFill>
                <a:latin typeface="Calibri"/>
              </a:rPr>
              <a:t>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19659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2430"/>
                </a:solidFill>
                <a:latin typeface="Calibri"/>
              </a:rPr>
              <a:t>Who is in the story?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2788920"/>
            <a:ext cx="1828800" cy="402336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84378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look in Part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167128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6EB5"/>
                </a:solidFill>
                <a:latin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430"/>
                </a:solidFill>
                <a:latin typeface="Calibri"/>
              </a:rPr>
              <a:t>Sam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2167128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6EB5"/>
                </a:solidFill>
                <a:latin typeface="Calibri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430"/>
                </a:solidFill>
                <a:latin typeface="Calibri"/>
              </a:rPr>
              <a:t>Mia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2167128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6EB5"/>
                </a:solidFill>
                <a:latin typeface="Calibri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430"/>
                </a:solidFill>
                <a:latin typeface="Calibri"/>
              </a:rPr>
              <a:t>Ben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986784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3941064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2430"/>
                </a:solidFill>
                <a:latin typeface="Calibri"/>
              </a:rPr>
              <a:t>What is the weather like?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" y="4764024"/>
            <a:ext cx="1828800" cy="402336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4560" y="481888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look in Part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142232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6EB5"/>
                </a:solidFill>
                <a:latin typeface="Calibri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430"/>
                </a:solidFill>
                <a:latin typeface="Calibri"/>
              </a:rPr>
              <a:t>Sunny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4142232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6EB5"/>
                </a:solidFill>
                <a:latin typeface="Calibri"/>
              </a:rP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430"/>
                </a:solidFill>
                <a:latin typeface="Calibri"/>
              </a:rPr>
              <a:t>Rainy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60" y="4142232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9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6EB5"/>
                </a:solidFill>
                <a:latin typeface="Calibri"/>
              </a:rP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430"/>
                </a:solidFill>
                <a:latin typeface="Calibri"/>
              </a:rPr>
              <a:t>Snowy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Read the question again slowly, then read each choice.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78–85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🔎 Story Detective — Question 3 and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403579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  |  78–85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64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4BA8"/>
                </a:solidFill>
                <a:latin typeface="Calibri"/>
              </a:rPr>
              <a:t>Two more. Point to the part of the story if you need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32304"/>
            <a:ext cx="457200" cy="457200"/>
          </a:xfrm>
          <a:prstGeom prst="ellipse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07408"/>
            <a:ext cx="457200" cy="457200"/>
          </a:xfrm>
          <a:prstGeom prst="ellipse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62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0116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945"/>
                </a:solidFill>
                <a:latin typeface="Calibri"/>
              </a:rPr>
              <a:t>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19659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2430"/>
                </a:solidFill>
                <a:latin typeface="Calibri"/>
              </a:rPr>
              <a:t>What does Sam put on?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2788920"/>
            <a:ext cx="1828800" cy="402336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84378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look in Part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167128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4BA8"/>
                </a:solidFill>
                <a:latin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430"/>
                </a:solidFill>
                <a:latin typeface="Calibri"/>
              </a:rPr>
              <a:t>A red coat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2167128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4BA8"/>
                </a:solidFill>
                <a:latin typeface="Calibri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430"/>
                </a:solidFill>
                <a:latin typeface="Calibri"/>
              </a:rPr>
              <a:t>A blue shirt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2167128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4BA8"/>
                </a:solidFill>
                <a:latin typeface="Calibri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569464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430"/>
                </a:solidFill>
                <a:latin typeface="Calibri"/>
              </a:rPr>
              <a:t>A green 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986784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945"/>
                </a:solidFill>
                <a:latin typeface="Calibri"/>
              </a:rPr>
              <a:t>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3941064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2430"/>
                </a:solidFill>
                <a:latin typeface="Calibri"/>
              </a:rPr>
              <a:t>What does Sam see after the rain?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" y="4764024"/>
            <a:ext cx="1828800" cy="402336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4560" y="481888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look in Part 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142232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4BA8"/>
                </a:solidFill>
                <a:latin typeface="Calibri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430"/>
                </a:solidFill>
                <a:latin typeface="Calibri"/>
              </a:rPr>
              <a:t>A rainbow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4142232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4BA8"/>
                </a:solidFill>
                <a:latin typeface="Calibri"/>
              </a:rP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430"/>
                </a:solidFill>
                <a:latin typeface="Calibri"/>
              </a:rPr>
              <a:t>A train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60" y="4142232"/>
            <a:ext cx="1691640" cy="100584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960" y="426110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4BA8"/>
                </a:solidFill>
                <a:latin typeface="Calibri"/>
              </a:rP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4544568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430"/>
                </a:solidFill>
                <a:latin typeface="Calibri"/>
              </a:rPr>
              <a:t>A bird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Cover one wrong choice. Two choices is still good thinking.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78–85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🔢 Put the Story in Order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566135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  |  78–85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65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3867C"/>
                </a:solidFill>
                <a:latin typeface="Calibri"/>
              </a:rPr>
              <a:t>These four things are mixed up. Number them 1 to 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2743200" cy="301752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00200" y="1920240"/>
            <a:ext cx="457200" cy="457200"/>
          </a:xfrm>
          <a:prstGeom prst="ellipse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19751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14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29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2430"/>
                </a:solidFill>
                <a:latin typeface="Calibri"/>
              </a:rPr>
              <a:t>Sam sees the sun.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4114800"/>
            <a:ext cx="10972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C8995"/>
                </a:solidFill>
                <a:latin typeface="Calibri"/>
              </a:rPr>
              <a:t>___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2424" y="1737360"/>
            <a:ext cx="2743200" cy="301752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35424" y="1920240"/>
            <a:ext cx="457200" cy="457200"/>
          </a:xfrm>
          <a:prstGeom prst="ellipse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19751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2424" y="2514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3945"/>
                </a:solidFill>
                <a:latin typeface="Calibri"/>
              </a:rPr>
              <a:t>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75304" y="3429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2430"/>
                </a:solidFill>
                <a:latin typeface="Calibri"/>
              </a:rPr>
              <a:t>Sam puts on his coat.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15384" y="4114800"/>
            <a:ext cx="10972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5384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C8995"/>
                </a:solidFill>
                <a:latin typeface="Calibri"/>
              </a:rPr>
              <a:t>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7648" y="1737360"/>
            <a:ext cx="2743200" cy="301752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70648" y="1920240"/>
            <a:ext cx="457200" cy="457200"/>
          </a:xfrm>
          <a:prstGeom prst="ellipse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0648" y="19751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2514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3429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2430"/>
                </a:solidFill>
                <a:latin typeface="Calibri"/>
              </a:rPr>
              <a:t>It rains.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50608" y="4114800"/>
            <a:ext cx="10972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50608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C8995"/>
                </a:solidFill>
                <a:latin typeface="Calibri"/>
              </a:rPr>
              <a:t>___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62872" y="1737360"/>
            <a:ext cx="2743200" cy="301752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05872" y="1920240"/>
            <a:ext cx="457200" cy="457200"/>
          </a:xfrm>
          <a:prstGeom prst="ellipse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05872" y="19751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2872" y="2514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3945"/>
                </a:solidFill>
                <a:latin typeface="Calibri"/>
              </a:rPr>
              <a:t>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45752" y="3429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2430"/>
                </a:solidFill>
                <a:latin typeface="Calibri"/>
              </a:rPr>
              <a:t>Sam sees a rainbow.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85832" y="4114800"/>
            <a:ext cx="10972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85832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C8995"/>
                </a:solidFill>
                <a:latin typeface="Calibri"/>
              </a:rPr>
              <a:t>___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937760"/>
            <a:ext cx="112928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02920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67C"/>
                </a:solidFill>
                <a:latin typeface="Calibri"/>
              </a:rPr>
              <a:t>NOW WRITE THE ORDER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2180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C8995"/>
                </a:solidFill>
                <a:latin typeface="Calibri"/>
              </a:rPr>
              <a:t>____  →  ____  →  ____  →  ____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9253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59161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Ask what happened at the very start of the story.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78–85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🔎 Show Me the Answer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728691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  |  78–85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66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E413D"/>
                </a:solidFill>
                <a:latin typeface="Calibri"/>
              </a:rPr>
              <a:t>Do not just tell me. Point to the line in the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121408"/>
            <a:ext cx="475488" cy="475488"/>
          </a:xfrm>
          <a:prstGeom prst="ellipse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7627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1883664"/>
            <a:ext cx="42976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2430"/>
                </a:solidFill>
                <a:latin typeface="Calibri"/>
              </a:rPr>
              <a:t>Where does Sam jump?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2542032"/>
            <a:ext cx="164592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25877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3867C"/>
                </a:solidFill>
                <a:latin typeface="Calibri"/>
              </a:rPr>
              <a:t>look in Part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2011680"/>
            <a:ext cx="5623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210312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867C"/>
                </a:solidFill>
                <a:latin typeface="Calibri"/>
              </a:rPr>
              <a:t>🔎  Go back and put your finger on the 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3957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8995"/>
                </a:solidFill>
                <a:latin typeface="Calibri"/>
              </a:rPr>
              <a:t>☐ found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3493008"/>
            <a:ext cx="475488" cy="475488"/>
          </a:xfrm>
          <a:prstGeom prst="ellipse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4787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255264"/>
            <a:ext cx="42976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2430"/>
                </a:solidFill>
                <a:latin typeface="Calibri"/>
              </a:rPr>
              <a:t>What colour is Sam's coat?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20" y="3913632"/>
            <a:ext cx="164592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3959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E413D"/>
                </a:solidFill>
                <a:latin typeface="Calibri"/>
              </a:rPr>
              <a:t>look in Part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3383280"/>
            <a:ext cx="5623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347472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E413D"/>
                </a:solidFill>
                <a:latin typeface="Calibri"/>
              </a:rPr>
              <a:t>🔎  Go back and put your finger on the line.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7673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8995"/>
                </a:solidFill>
                <a:latin typeface="Calibri"/>
              </a:rPr>
              <a:t>☐ found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" y="4864608"/>
            <a:ext cx="475488" cy="475488"/>
          </a:xfrm>
          <a:prstGeom prst="ellipse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1947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4626864"/>
            <a:ext cx="42976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2430"/>
                </a:solidFill>
                <a:latin typeface="Calibri"/>
              </a:rPr>
              <a:t>What is in the sky at the end?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17320" y="5285232"/>
            <a:ext cx="164592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17320" y="53309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4BA8"/>
                </a:solidFill>
                <a:latin typeface="Calibri"/>
              </a:rPr>
              <a:t>look in Part 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0" y="4754880"/>
            <a:ext cx="5623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484632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4BA8"/>
                </a:solidFill>
                <a:latin typeface="Calibri"/>
              </a:rPr>
              <a:t>🔎  Go back and put your finger on the line.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51389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8995"/>
                </a:solidFill>
                <a:latin typeface="Calibri"/>
              </a:rPr>
              <a:t>☐ found 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907024"/>
            <a:ext cx="11292840" cy="402336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971032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3867C"/>
                </a:solidFill>
                <a:latin typeface="Calibri"/>
              </a:rPr>
              <a:t>Finding the line in the book is the real skill here — not remembering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85–88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📺 Your First Weather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891247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  |  85–88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67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900A"/>
                </a:solidFill>
                <a:latin typeface="Calibri"/>
              </a:rPr>
              <a:t>Look at the picture, then finish the sentence out loud.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5440680" cy="402336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3756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7C8995"/>
                </a:solidFill>
                <a:latin typeface="Calibri"/>
              </a:rPr>
              <a:t>a sunny day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886200"/>
            <a:ext cx="45262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Georgia"/>
              </a:rPr>
              <a:t>It is ______.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900A"/>
                </a:solidFill>
                <a:latin typeface="Calibri"/>
              </a:rPr>
              <a:t>words you could 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5074920"/>
            <a:ext cx="13716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1755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2900A"/>
                </a:solidFill>
                <a:latin typeface="Calibri"/>
              </a:rPr>
              <a:t>sunny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5074920"/>
            <a:ext cx="13716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51755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2900A"/>
                </a:solidFill>
                <a:latin typeface="Calibri"/>
              </a:rPr>
              <a:t>hot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77639" y="5074920"/>
            <a:ext cx="13716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39" y="51755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2900A"/>
                </a:solidFill>
                <a:latin typeface="Calibri"/>
              </a:rPr>
              <a:t>bright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691640"/>
            <a:ext cx="5440680" cy="402336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1920240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33756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7C8995"/>
                </a:solidFill>
                <a:latin typeface="Calibri"/>
              </a:rPr>
              <a:t>a rainy day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3886200"/>
            <a:ext cx="45262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06908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430"/>
                </a:solidFill>
                <a:latin typeface="Georgia"/>
              </a:rPr>
              <a:t>It is ______.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754880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6EB5"/>
                </a:solidFill>
                <a:latin typeface="Calibri"/>
              </a:rPr>
              <a:t>words you could use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5074920"/>
            <a:ext cx="13716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1755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C6EB5"/>
                </a:solidFill>
                <a:latin typeface="Calibri"/>
              </a:rPr>
              <a:t>rainy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80" y="5074920"/>
            <a:ext cx="13716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51755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C6EB5"/>
                </a:solidFill>
                <a:latin typeface="Calibri"/>
              </a:rPr>
              <a:t>wet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92639" y="5074920"/>
            <a:ext cx="13716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39" y="51755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C6EB5"/>
                </a:solidFill>
                <a:latin typeface="Calibri"/>
              </a:rPr>
              <a:t>grey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94360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Say one whole sentence yourself first, then hand it over.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85–88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🎤 Be the Weather Reporter!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053803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  |  85–88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68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E413D"/>
                </a:solidFill>
                <a:latin typeface="Calibri"/>
              </a:rPr>
              <a:t>Say two or three sentences. You are on TV now!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023360" cy="4023360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2C3945"/>
                </a:solidFill>
                <a:latin typeface="Calibri"/>
              </a:rPr>
              <a:t>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E413D"/>
                </a:solidFill>
                <a:latin typeface="Georgia"/>
              </a:rPr>
              <a:t>"Good morning!"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46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start like this if you get stuck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1737360"/>
            <a:ext cx="69494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20848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945"/>
                </a:solidFill>
                <a:latin typeface="Calibri"/>
              </a:rPr>
              <a:t>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87452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Georgia"/>
              </a:rPr>
              <a:t>Today it is ______.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3957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C8995"/>
                </a:solidFill>
                <a:latin typeface="Calibri"/>
              </a:rPr>
              <a:t>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3108960"/>
            <a:ext cx="69494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34564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945"/>
                </a:solidFill>
                <a:latin typeface="Calibri"/>
              </a:rPr>
              <a:t>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324612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Georgia"/>
              </a:rPr>
              <a:t>I see ______.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37673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C8995"/>
                </a:solidFill>
                <a:latin typeface="Calibri"/>
              </a:rPr>
              <a:t>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4480560"/>
            <a:ext cx="69494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4828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945"/>
                </a:solidFill>
                <a:latin typeface="Calibri"/>
              </a:rPr>
              <a:t>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461772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430"/>
                </a:solidFill>
                <a:latin typeface="Georgia"/>
              </a:rPr>
              <a:t>I like ______.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C8995"/>
                </a:solidFill>
                <a:latin typeface="Calibri"/>
              </a:rPr>
              <a:t>______________________________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5274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94360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Let her hold something as a pretend microphone. It helps a lot.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88–90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🏆 Final Weather Reading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216359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  |  88–90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69 /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4BA8"/>
                </a:solidFill>
                <a:latin typeface="Calibri"/>
              </a:rPr>
              <a:t>Three last jobs. You already know all of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566160" cy="402336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691640"/>
            <a:ext cx="3566160" cy="548640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922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🔤  SOUND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231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66160"/>
            <a:ext cx="3017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947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B2430"/>
                </a:solidFill>
                <a:latin typeface="Calibri"/>
              </a:rPr>
              <a:t>What sound does SUN start with?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4892040"/>
            <a:ext cx="16459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9926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900A"/>
                </a:solidFill>
                <a:latin typeface="Calibri"/>
              </a:rPr>
              <a:t>☐ done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1691640"/>
            <a:ext cx="3566160" cy="402336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51960" y="1691640"/>
            <a:ext cx="3566160" cy="548640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17922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🧩  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4231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566160"/>
            <a:ext cx="3017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7947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B2430"/>
                </a:solidFill>
                <a:latin typeface="Calibri"/>
              </a:rPr>
              <a:t>Read this word:  RAIN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2080" y="4892040"/>
            <a:ext cx="16459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9926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6EB5"/>
                </a:solidFill>
                <a:latin typeface="Calibri"/>
              </a:rPr>
              <a:t>☐ done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1691640"/>
            <a:ext cx="3566160" cy="402336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0" y="1691640"/>
            <a:ext cx="3566160" cy="548640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17922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📖  SENTENCE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4231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C3945"/>
                </a:solidFill>
                <a:latin typeface="Calibri"/>
              </a:rPr>
              <a:t>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3566160"/>
            <a:ext cx="3017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37947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B2430"/>
                </a:solidFill>
                <a:latin typeface="Calibri"/>
              </a:rPr>
              <a:t>Read this:  I see the sun.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40" y="4892040"/>
            <a:ext cx="16459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49926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B4BA8"/>
                </a:solidFill>
                <a:latin typeface="Calibri"/>
              </a:rPr>
              <a:t>☐ done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94360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Hints are still allowed here. Finishing is what matters.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566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945"/>
                </a:solidFill>
                <a:latin typeface="Calibri"/>
              </a:rP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566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945"/>
                </a:solidFill>
                <a:latin typeface="Calibri"/>
              </a:rPr>
              <a:t>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945"/>
                </a:solidFill>
                <a:latin typeface="Calibri"/>
              </a:rPr>
              <a:t>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4937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945"/>
                </a:solidFill>
                <a:latin typeface="Calibri"/>
              </a:rPr>
              <a:t>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C3945"/>
                </a:solidFill>
                <a:latin typeface="Calibri"/>
              </a:rPr>
              <a:t>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Georgia"/>
              </a:rPr>
              <a:t>WEATHER READING STAR!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3CE7E"/>
                </a:solidFill>
                <a:latin typeface="Calibri"/>
              </a:rPr>
              <a:t>Look what you did today 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246120"/>
            <a:ext cx="1783080" cy="1371600"/>
          </a:xfrm>
          <a:prstGeom prst="roundRect">
            <a:avLst/>
          </a:prstGeom>
          <a:solidFill>
            <a:srgbClr val="263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40156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C3945"/>
                </a:solidFill>
                <a:latin typeface="Calibri"/>
              </a:rPr>
              <a:t>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95020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read words!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246120"/>
            <a:ext cx="1783080" cy="1371600"/>
          </a:xfrm>
          <a:prstGeom prst="roundRect">
            <a:avLst/>
          </a:prstGeom>
          <a:solidFill>
            <a:srgbClr val="263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40156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C3945"/>
                </a:solidFill>
                <a:latin typeface="Calibri"/>
              </a:rPr>
              <a:t>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395020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blended sounds!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3246120"/>
            <a:ext cx="1783080" cy="1371600"/>
          </a:xfrm>
          <a:prstGeom prst="roundRect">
            <a:avLst/>
          </a:prstGeom>
          <a:solidFill>
            <a:srgbClr val="263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0156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C3945"/>
                </a:solidFill>
                <a:latin typeface="Calibri"/>
              </a:rPr>
              <a:t>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395020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read sentences!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19" y="3246120"/>
            <a:ext cx="1783080" cy="1371600"/>
          </a:xfrm>
          <a:prstGeom prst="roundRect">
            <a:avLst/>
          </a:prstGeom>
          <a:solidFill>
            <a:srgbClr val="263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9" y="340156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C3945"/>
                </a:solidFill>
                <a:latin typeface="Calibri"/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7" y="395020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read a story!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3246120"/>
            <a:ext cx="1783080" cy="1371600"/>
          </a:xfrm>
          <a:prstGeom prst="roundRect">
            <a:avLst/>
          </a:prstGeom>
          <a:solidFill>
            <a:srgbClr val="263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340156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C3945"/>
                </a:solidFill>
                <a:latin typeface="Calibri"/>
              </a:rPr>
              <a:t>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395020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answered questions!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94560" y="4800600"/>
            <a:ext cx="7772400" cy="1005840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0" y="5029200"/>
            <a:ext cx="7772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Georgia"/>
              </a:rPr>
              <a:t>"I AM A WEATHER READING STAR!"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94360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3CE7E"/>
                </a:solidFill>
                <a:latin typeface="Calibri"/>
              </a:rPr>
              <a:t>🌈  📚  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19088"/>
            <a:ext cx="11378915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  |  88–90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70 / 75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🎲 Extra Game Bank — If There Is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541471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71 / 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3867C"/>
                </a:solidFill>
                <a:latin typeface="Calibri"/>
              </a:rPr>
              <a:t>Six spare games. Play any of them, in any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3566160" cy="393192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737360"/>
            <a:ext cx="3566160" cy="457200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1 — WEATHER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945"/>
                </a:solidFill>
                <a:latin typeface="Calibri"/>
              </a:rPr>
              <a:t>☀️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Match the word to its picture.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66160"/>
            <a:ext cx="28346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2834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2900A"/>
                </a:solidFill>
                <a:latin typeface="Calibri"/>
              </a:rPr>
              <a:t>SUN  ·  RAIN  ·  HAT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43400"/>
            <a:ext cx="28346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80559"/>
            <a:ext cx="2834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2900A"/>
                </a:solidFill>
                <a:latin typeface="Calibri"/>
              </a:rPr>
              <a:t>☀️   🌧️   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1737360"/>
            <a:ext cx="3566160" cy="3931920"/>
          </a:xfrm>
          <a:prstGeom prst="roundRect">
            <a:avLst/>
          </a:prstGeom>
          <a:solidFill>
            <a:srgbClr val="E9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15968" y="1737360"/>
            <a:ext cx="3566160" cy="457200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2 — MISSING LETTER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228600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945"/>
                </a:solidFill>
                <a:latin typeface="Calibri"/>
              </a:rPr>
              <a:t>☁️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Fill the gap in the cloud.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81728" y="3566160"/>
            <a:ext cx="28346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8" y="3703320"/>
            <a:ext cx="2834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E7796"/>
                </a:solidFill>
                <a:latin typeface="Calibri"/>
              </a:rPr>
              <a:t>S _ 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81728" y="4343400"/>
            <a:ext cx="28346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4480559"/>
            <a:ext cx="2834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E7796"/>
                </a:solidFill>
                <a:latin typeface="Calibri"/>
              </a:rPr>
              <a:t>A  ·  U  ·  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74736" y="1737360"/>
            <a:ext cx="3566160" cy="3931920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74736" y="1737360"/>
            <a:ext cx="3566160" cy="457200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3 — WORD OR PICTURE?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228600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945"/>
                </a:solidFill>
                <a:latin typeface="Calibri"/>
              </a:rPr>
              <a:t>🌧️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Read the word, then point.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0496" y="3566160"/>
            <a:ext cx="28346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496" y="3703320"/>
            <a:ext cx="2834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6EB5"/>
                </a:solidFill>
                <a:latin typeface="Calibri"/>
              </a:rPr>
              <a:t>RAIN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40496" y="4343400"/>
            <a:ext cx="28346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0496" y="4480559"/>
            <a:ext cx="2834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6EB5"/>
                </a:solidFill>
                <a:latin typeface="Calibri"/>
              </a:rPr>
              <a:t>🌧️   🔥   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5274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94360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Every game uses today's words only. Nothing new to learn.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🎲 Extra Game Bank — Three More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704027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72 / 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4BA8"/>
                </a:solidFill>
                <a:latin typeface="Calibri"/>
              </a:rPr>
              <a:t>Three more, plus when to use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2651760" cy="393192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737360"/>
            <a:ext cx="2651760" cy="457200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4 — RHYME RAINBOW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945"/>
                </a:solidFill>
                <a:latin typeface="Calibri"/>
              </a:rPr>
              <a:t>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Which one rhymes?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66160"/>
            <a:ext cx="19202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B4BA8"/>
                </a:solidFill>
                <a:latin typeface="Calibri"/>
              </a:rPr>
              <a:t>HAT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43400"/>
            <a:ext cx="19202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80559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B4BA8"/>
                </a:solidFill>
                <a:latin typeface="Calibri"/>
              </a:rPr>
              <a:t>CAT  ·  DOG  ·  SUN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00984" y="1737360"/>
            <a:ext cx="2651760" cy="393192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00984" y="1737360"/>
            <a:ext cx="2651760" cy="457200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00984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5 — FIND THE WORD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0984" y="22860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945"/>
                </a:solidFill>
                <a:latin typeface="Calibri"/>
              </a:rPr>
              <a:t>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9584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Find one word in the sentence.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66744" y="3566160"/>
            <a:ext cx="19202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66744" y="370332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3867C"/>
                </a:solidFill>
                <a:latin typeface="Calibri"/>
              </a:rPr>
              <a:t>I see the sun.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66744" y="4343400"/>
            <a:ext cx="19202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66744" y="4480559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3867C"/>
                </a:solidFill>
                <a:latin typeface="Calibri"/>
              </a:rPr>
              <a:t>Find SUN.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1737360"/>
            <a:ext cx="2651760" cy="3931920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44768" y="1737360"/>
            <a:ext cx="2651760" cy="457200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6 — WEATHER WORD SORT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22860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945"/>
                </a:solidFill>
                <a:latin typeface="Calibri"/>
              </a:rPr>
              <a:t>🌦️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430"/>
                </a:solidFill>
                <a:latin typeface="Calibri"/>
              </a:rPr>
              <a:t>Sort the pictures under the words.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0528" y="3566160"/>
            <a:ext cx="19202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370332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E413D"/>
                </a:solidFill>
                <a:latin typeface="Calibri"/>
              </a:rPr>
              <a:t>HOT  ·  COLD  ·  WET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10528" y="4343400"/>
            <a:ext cx="1920239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4480559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E413D"/>
                </a:solidFill>
                <a:latin typeface="Calibri"/>
              </a:rPr>
              <a:t>🔥   🧊   💧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88552" y="1737360"/>
            <a:ext cx="2761488" cy="393192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2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4BA8"/>
                </a:solidFill>
                <a:latin typeface="Calibri"/>
              </a:rPr>
              <a:t>WHEN TO USE THESE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237744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2C3945"/>
                </a:solidFill>
                <a:latin typeface="Calibri"/>
              </a:rPr>
              <a:t>•  She finishes an activity early.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C3945"/>
                </a:solidFill>
                <a:latin typeface="Calibri"/>
              </a:rPr>
              <a:t>•  Her focus starts to drop.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C3945"/>
                </a:solidFill>
                <a:latin typeface="Calibri"/>
              </a:rPr>
              <a:t>•  One sound needs more practice.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C3945"/>
                </a:solidFill>
                <a:latin typeface="Calibri"/>
              </a:rPr>
              <a:t>•  You have five spare minutes.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C3945"/>
                </a:solidFill>
                <a:latin typeface="Calibri"/>
              </a:rPr>
              <a:t>•  She asks to play one more.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5274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900A"/>
                </a:solidFill>
                <a:latin typeface="Calibri"/>
              </a:rPr>
              <a:t>🔦 WEATHER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594360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alibri"/>
              </a:rPr>
              <a:t>Stop a game while she is still enjoying it, not after.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🧰 Support System — For the Teacher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866583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73 / 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E7796"/>
                </a:solidFill>
                <a:latin typeface="Calibri"/>
              </a:rPr>
              <a:t>Levels, the hint ladder, and the words to 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91640"/>
            <a:ext cx="3566160" cy="2057400"/>
          </a:xfrm>
          <a:prstGeom prst="roundRect">
            <a:avLst/>
          </a:prstGeom>
          <a:solidFill>
            <a:srgbClr val="D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945"/>
                </a:solidFill>
                <a:latin typeface="Calibri"/>
              </a:rPr>
              <a:t>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3867C"/>
                </a:solidFill>
                <a:latin typeface="Calibri"/>
              </a:rPr>
              <a:t>WEATHER HINT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945"/>
                </a:solidFill>
                <a:latin typeface="Calibri"/>
              </a:rPr>
              <a:t>Needs a picture or a first sound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430"/>
                </a:solidFill>
                <a:latin typeface="Calibri"/>
              </a:rPr>
              <a:t>Point at the picture, then the first letter.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691640"/>
            <a:ext cx="3566160" cy="2057400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945"/>
                </a:solidFill>
                <a:latin typeface="Calibri"/>
              </a:rPr>
              <a:t>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900A"/>
                </a:solidFill>
                <a:latin typeface="Calibri"/>
              </a:rPr>
              <a:t>WEATHER 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945"/>
                </a:solidFill>
                <a:latin typeface="Calibri"/>
              </a:rPr>
              <a:t>Solves it with a little help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430"/>
                </a:solidFill>
                <a:latin typeface="Calibri"/>
              </a:rPr>
              <a:t>Ask one small question, then wait quietly.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691640"/>
            <a:ext cx="3566160" cy="205740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945"/>
                </a:solidFill>
                <a:latin typeface="Calibri"/>
              </a:rPr>
              <a:t>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4BA8"/>
                </a:solidFill>
                <a:latin typeface="Calibri"/>
              </a:rPr>
              <a:t>WEATHER STAR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945"/>
                </a:solidFill>
                <a:latin typeface="Calibri"/>
              </a:rPr>
              <a:t>Reads it on her own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430"/>
                </a:solidFill>
                <a:latin typeface="Calibri"/>
              </a:rPr>
              <a:t>Ask her to build a new sentence with the word.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886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7796"/>
                </a:solidFill>
                <a:latin typeface="Calibri"/>
              </a:rPr>
              <a:t>HINT LADDER — never reveal the answer first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261104"/>
            <a:ext cx="5486400" cy="38404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8" y="4306824"/>
            <a:ext cx="1097280" cy="292608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3251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30682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430"/>
                </a:solidFill>
                <a:latin typeface="Calibri"/>
              </a:rPr>
              <a:t>Look at the first letter.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681728"/>
            <a:ext cx="5486400" cy="38404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" y="4727448"/>
            <a:ext cx="1097280" cy="29260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7457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47274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430"/>
                </a:solidFill>
                <a:latin typeface="Calibri"/>
              </a:rPr>
              <a:t>Say each sound.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102352"/>
            <a:ext cx="5486400" cy="38404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6928" y="5148072"/>
            <a:ext cx="1097280" cy="292608"/>
          </a:xfrm>
          <a:prstGeom prst="roundRect">
            <a:avLst/>
          </a:prstGeom>
          <a:solidFill>
            <a:srgbClr val="7B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5166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1480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430"/>
                </a:solidFill>
                <a:latin typeface="Calibri"/>
              </a:rPr>
              <a:t>Blend the sounds together.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522976"/>
            <a:ext cx="5486400" cy="38404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66928" y="5568696"/>
            <a:ext cx="1097280" cy="292608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5869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55686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430"/>
                </a:solidFill>
                <a:latin typeface="Calibri"/>
              </a:rPr>
              <a:t>Let's read it together.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43600"/>
            <a:ext cx="5486400" cy="384048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66928" y="5989320"/>
            <a:ext cx="1097280" cy="292608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60076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9893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430"/>
                </a:solidFill>
                <a:latin typeface="Calibri"/>
              </a:rPr>
              <a:t>I read it, then you read it.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867C"/>
                </a:solidFill>
                <a:latin typeface="Calibri"/>
              </a:rPr>
              <a:t>SAY THIS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315968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3867C"/>
                </a:solidFill>
                <a:latin typeface="Calibri"/>
              </a:rPr>
              <a:t>•  "Let's solve this word together."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3867C"/>
                </a:solidFill>
                <a:latin typeface="Calibri"/>
              </a:rPr>
              <a:t>•  "Good try."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3867C"/>
                </a:solidFill>
                <a:latin typeface="Calibri"/>
              </a:rPr>
              <a:t>•  "Look closely at the first sound."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3867C"/>
                </a:solidFill>
                <a:latin typeface="Calibri"/>
              </a:rPr>
              <a:t>•  "You are getting it."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3867C"/>
                </a:solidFill>
                <a:latin typeface="Calibri"/>
              </a:rPr>
              <a:t>•  "Let's try it one more time."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3867C"/>
                </a:solidFill>
                <a:latin typeface="Calibri"/>
              </a:rPr>
              <a:t>•  "You found it yourself!"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38862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E413D"/>
                </a:solidFill>
                <a:latin typeface="Calibri"/>
              </a:rPr>
              <a:t>NEVER SAY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315968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CE413D"/>
                </a:solidFill>
                <a:latin typeface="Calibri"/>
              </a:rPr>
              <a:t>•  "You can't read this."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CE413D"/>
                </a:solidFill>
                <a:latin typeface="Calibri"/>
              </a:rPr>
              <a:t>•  "That's wrong."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CE413D"/>
                </a:solidFill>
                <a:latin typeface="Calibri"/>
              </a:rPr>
              <a:t>•  "You should know this by now."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44000" y="5760720"/>
            <a:ext cx="2606040" cy="530352"/>
          </a:xfrm>
          <a:prstGeom prst="roundRect">
            <a:avLst/>
          </a:prstGeom>
          <a:solidFill>
            <a:srgbClr val="FB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587044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E413D"/>
                </a:solidFill>
                <a:latin typeface="Calibri"/>
              </a:rPr>
              <a:t>After any hint, let her try again.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📋 End-of-Class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029139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74 / 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900A"/>
                </a:solidFill>
                <a:latin typeface="Calibri"/>
              </a:rPr>
              <a:t>Tick one box per skill right after the lesson.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64208"/>
            <a:ext cx="11292840" cy="384048"/>
          </a:xfrm>
          <a:prstGeom prst="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0078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INDEPENDENT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WITH HELP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NEEDS MORE PRACTICE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03120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1214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Beginning sounds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23160"/>
            <a:ext cx="11292840" cy="30175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441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Short vowels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24323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4323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4323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743200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7614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CVC words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27523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7523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7523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063239"/>
            <a:ext cx="11292840" cy="30175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08152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Blending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30723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0723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0723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383279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40156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Word families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33924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33924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33924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703320"/>
            <a:ext cx="11292840" cy="30175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7216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Sight words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3712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3712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3712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023359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04164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Phrase reading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60" y="403250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403250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403250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343400"/>
            <a:ext cx="11292840" cy="30175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3616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Sentence reading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6360" y="43525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43525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55480" y="43525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663440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6817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Story reading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6360" y="46725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20" y="46725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55480" y="46725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983479"/>
            <a:ext cx="11292840" cy="301752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00176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Comprehension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60" y="49926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20" y="49926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55480" y="49926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303520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53218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Speaking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66360" y="53126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60920" y="53126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55480" y="53126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995"/>
                </a:solidFill>
                <a:latin typeface="Calibri"/>
              </a:rPr>
              <a:t>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5715000"/>
            <a:ext cx="11292840" cy="621792"/>
          </a:xfrm>
          <a:prstGeom prst="roundRect">
            <a:avLst/>
          </a:prstGeom>
          <a:solidFill>
            <a:srgbClr val="FD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589788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430"/>
                </a:solidFill>
                <a:latin typeface="Calibri"/>
              </a:rPr>
              <a:t>WORDS TO REVIEW:  ____________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80559" y="589788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430"/>
                </a:solidFill>
                <a:latin typeface="Calibri"/>
              </a:rPr>
              <a:t>SIGHT WORDS TO REVIEW:  ____________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589788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430"/>
                </a:solidFill>
                <a:latin typeface="Calibri"/>
              </a:rPr>
              <a:t>NEXT READING GOAL:  ____________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430"/>
                </a:solidFill>
                <a:latin typeface="Georgia"/>
              </a:rPr>
              <a:t>🔑 Answer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1C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🌦️ The Weather Reading Adventure  |  Grade 1  |  90 min  |  Weather 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75 / 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EB5"/>
                </a:solidFill>
                <a:latin typeface="Calibri"/>
              </a:rPr>
              <a:t>For the teacher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91640"/>
            <a:ext cx="5440680" cy="201168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691640"/>
            <a:ext cx="5440680" cy="420624"/>
          </a:xfrm>
          <a:prstGeom prst="roundRect">
            <a:avLst/>
          </a:prstGeom>
          <a:solidFill>
            <a:srgbClr val="E29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4650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SOUNDS AND VOWELS (10–26)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22199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•  Starts with /s/: the sun picture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•  Sound match: rain · cloud · sun ·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      wind · mist · hot (fire)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•  Rainbow sort: A hat, map · E red ·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      I big · O hot, fog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•  Missing vowel: O · I · E · A · 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91640"/>
            <a:ext cx="5440680" cy="201168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1691640"/>
            <a:ext cx="5440680" cy="420624"/>
          </a:xfrm>
          <a:prstGeom prst="roundRect">
            <a:avLst/>
          </a:prstGeom>
          <a:solidFill>
            <a:srgbClr val="4E7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4650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BLENDING AND FAMILIES (28–42)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2199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•  Missing letter: SUN · HAT · LOG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•  Mixed up: HAT · BIG · SUN · WET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•  Raindrop sort: -AT hat, mat, cat ·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      -UN sun, run, fun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•  Odd one out: RUN · SIT · MAP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•  Rhymes: CAT · FOG · FUN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86200"/>
            <a:ext cx="5440680" cy="201168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886200"/>
            <a:ext cx="5440680" cy="420624"/>
          </a:xfrm>
          <a:prstGeom prst="roundRect">
            <a:avLst/>
          </a:prstGeom>
          <a:solidFill>
            <a:srgbClr val="138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4106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SENTENCES (49–56)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1655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•  Puzzles: I see the sun. · The sun is hot.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      My hat is wet. · I can run.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•  Sentence match: the hat · the rain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•  Real or silly: real · silly · real · silly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•  Sight words: I, see, a, the, is, my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886200"/>
            <a:ext cx="5440680" cy="2011680"/>
          </a:xfrm>
          <a:prstGeom prst="round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3886200"/>
            <a:ext cx="5440680" cy="420624"/>
          </a:xfrm>
          <a:prstGeom prst="roundRect">
            <a:avLst/>
          </a:prstGeom>
          <a:solidFill>
            <a:srgbClr val="CE4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94106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STORY AND QUESTIONS (58–66)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1655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•  Q1 Sam · Q2 Rainy · Q3 A red coat ·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      Q4 A rainbow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•  Order: C → B → A → D  (3 → 2 → 1 → 4)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•  Evidence: in the puddle (Part 3) ·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      red (Part 2) · a rainbow (Part 5)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C3945"/>
                </a:solidFill>
                <a:latin typeface="Calibri"/>
              </a:rPr>
              <a:t>•  Story words: 120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126480"/>
            <a:ext cx="11292840" cy="384048"/>
          </a:xfrm>
          <a:prstGeom prst="roundRect">
            <a:avLst/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18134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6EB5"/>
                </a:solidFill>
                <a:latin typeface="Calibri"/>
              </a:rPr>
              <a:t>Accept any sensible answer for the rhymes, the weather report and the speaking tasks.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