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120640"/>
            <a:ext cx="777240" cy="777240"/>
          </a:xfrm>
          <a:prstGeom prst="ellipse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18520" y="5074920"/>
            <a:ext cx="777240" cy="777240"/>
          </a:xfrm>
          <a:prstGeom prst="ellipse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WELCOME, SMART SHOPPER!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1">
                <a:solidFill>
                  <a:srgbClr val="A8D4B6"/>
                </a:solidFill>
                <a:latin typeface="Calibri"/>
              </a:rPr>
              <a:t>Today you are helping in a grocery store!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46120"/>
            <a:ext cx="1508760" cy="1234440"/>
          </a:xfrm>
          <a:prstGeom prst="roundRect">
            <a:avLst/>
          </a:prstGeom>
          <a:solidFill>
            <a:srgbClr val="243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1071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C4D0"/>
                </a:solidFill>
                <a:latin typeface="Calibri"/>
              </a:rPr>
              <a:t>apple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246120"/>
            <a:ext cx="1508760" cy="1234440"/>
          </a:xfrm>
          <a:prstGeom prst="roundRect">
            <a:avLst/>
          </a:prstGeom>
          <a:solidFill>
            <a:srgbClr val="243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341071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C4D0"/>
                </a:solidFill>
                <a:latin typeface="Calibri"/>
              </a:rPr>
              <a:t>milk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246120"/>
            <a:ext cx="1508760" cy="1234440"/>
          </a:xfrm>
          <a:prstGeom prst="roundRect">
            <a:avLst/>
          </a:prstGeom>
          <a:solidFill>
            <a:srgbClr val="243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41071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C4D0"/>
                </a:solidFill>
                <a:latin typeface="Calibri"/>
              </a:rPr>
              <a:t>bread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246120"/>
            <a:ext cx="1508760" cy="1234440"/>
          </a:xfrm>
          <a:prstGeom prst="roundRect">
            <a:avLst/>
          </a:prstGeom>
          <a:solidFill>
            <a:srgbClr val="243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41071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C4D0"/>
                </a:solidFill>
                <a:latin typeface="Calibri"/>
              </a:rPr>
              <a:t>banana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3246120"/>
            <a:ext cx="1508760" cy="1234440"/>
          </a:xfrm>
          <a:prstGeom prst="roundRect">
            <a:avLst/>
          </a:prstGeom>
          <a:solidFill>
            <a:srgbClr val="243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341071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C4D0"/>
                </a:solidFill>
                <a:latin typeface="Calibri"/>
              </a:rPr>
              <a:t>carrot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3246120"/>
            <a:ext cx="1508760" cy="1234440"/>
          </a:xfrm>
          <a:prstGeom prst="roundRect">
            <a:avLst/>
          </a:prstGeom>
          <a:solidFill>
            <a:srgbClr val="243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341071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C4D0"/>
                </a:solidFill>
                <a:latin typeface="Calibri"/>
              </a:rPr>
              <a:t>cart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0" y="4754880"/>
            <a:ext cx="6126480" cy="1051560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498348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Grade 2  •  90 Minutes  •  Reading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19088"/>
            <a:ext cx="190495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Produce  |  0–7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 / 64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⭐ You Are the Grocery Store Helper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80990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Produce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B4E"/>
                </a:solidFill>
                <a:latin typeface="Calibri"/>
              </a:rPr>
              <a:t>Today you are the Grocery Store Helper!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937760" cy="411480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77639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8B4E"/>
                </a:solidFill>
                <a:latin typeface="Arial Black"/>
              </a:rPr>
              <a:t>THAT'S YOU!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091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894"/>
                </a:solidFill>
                <a:latin typeface="Calibri"/>
              </a:rPr>
              <a:t>A helper who reads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1737360"/>
            <a:ext cx="6035040" cy="932688"/>
          </a:xfrm>
          <a:prstGeom prst="roundRect">
            <a:avLst/>
          </a:prstGeom>
          <a:solidFill>
            <a:srgbClr val="FDF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0" y="193852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993392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C3742"/>
                </a:solidFill>
                <a:latin typeface="Calibri"/>
              </a:rPr>
              <a:t>🗺️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99339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430"/>
                </a:solidFill>
                <a:latin typeface="Calibri"/>
              </a:rPr>
              <a:t>We visit six aisles today.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2816352"/>
            <a:ext cx="6035040" cy="932688"/>
          </a:xfrm>
          <a:prstGeom prst="roundRect">
            <a:avLst/>
          </a:prstGeom>
          <a:solidFill>
            <a:srgbClr val="FDF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3017520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3072384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C3742"/>
                </a:solidFill>
                <a:latin typeface="Calibri"/>
              </a:rPr>
              <a:t>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07238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430"/>
                </a:solidFill>
                <a:latin typeface="Calibri"/>
              </a:rPr>
              <a:t>Each aisle has one reading job.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3895344"/>
            <a:ext cx="6035040" cy="932688"/>
          </a:xfrm>
          <a:prstGeom prst="roundRect">
            <a:avLst/>
          </a:prstGeom>
          <a:solidFill>
            <a:srgbClr val="FDF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43600" y="409651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4151376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C3742"/>
                </a:solidFill>
                <a:latin typeface="Calibri"/>
              </a:rPr>
              <a:t>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1513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430"/>
                </a:solidFill>
                <a:latin typeface="Calibri"/>
              </a:rPr>
              <a:t>Every job you finish earns a shopping point.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4974336"/>
            <a:ext cx="6035040" cy="932688"/>
          </a:xfrm>
          <a:prstGeom prst="roundRect">
            <a:avLst/>
          </a:prstGeom>
          <a:solidFill>
            <a:srgbClr val="FDF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43600" y="517550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523036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C3742"/>
                </a:solidFill>
                <a:latin typeface="Calibri"/>
              </a:rPr>
              <a:t>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2303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430"/>
                </a:solidFill>
                <a:latin typeface="Calibri"/>
              </a:rPr>
              <a:t>At the end you become a Smart Shopper Champion.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🗺️ Our Store 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71485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Produce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A008"/>
                </a:solidFill>
                <a:latin typeface="Calibri"/>
              </a:rPr>
              <a:t>Six aisles. One reading job at each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737360" cy="320040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93392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8B4E"/>
                </a:solidFill>
                <a:latin typeface="Calibri"/>
              </a:rPr>
              <a:t>Produce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11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742"/>
                </a:solidFill>
                <a:latin typeface="Calibri"/>
              </a:rPr>
              <a:t>First sounds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297680"/>
            <a:ext cx="1463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3342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8894"/>
                </a:solidFill>
                <a:latin typeface="Calibri"/>
              </a:rPr>
              <a:t>0–17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59152" y="1783080"/>
            <a:ext cx="1737360" cy="3200400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9152" y="1993392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4872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7BB8"/>
                </a:solidFill>
                <a:latin typeface="Calibri"/>
              </a:rPr>
              <a:t>Dairy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" y="3611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742"/>
                </a:solidFill>
                <a:latin typeface="Calibri"/>
              </a:rPr>
              <a:t>Short vowels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96312" y="4297680"/>
            <a:ext cx="1463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6312" y="43342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8894"/>
                </a:solidFill>
                <a:latin typeface="Calibri"/>
              </a:rPr>
              <a:t>17–27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61104" y="1783080"/>
            <a:ext cx="1737360" cy="3200400"/>
          </a:xfrm>
          <a:prstGeom prst="roundRect">
            <a:avLst/>
          </a:prstGeom>
          <a:solidFill>
            <a:srgbClr val="FDF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1104" y="1993392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6824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2A008"/>
                </a:solidFill>
                <a:latin typeface="Calibri"/>
              </a:rPr>
              <a:t>Breakfast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2544" y="3611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742"/>
                </a:solidFill>
                <a:latin typeface="Calibri"/>
              </a:rPr>
              <a:t>Building words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98264" y="4297680"/>
            <a:ext cx="1463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98264" y="43342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8894"/>
                </a:solidFill>
                <a:latin typeface="Calibri"/>
              </a:rPr>
              <a:t>27–37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3056" y="1783080"/>
            <a:ext cx="1737360" cy="3200400"/>
          </a:xfrm>
          <a:prstGeom prst="roundRect">
            <a:avLst/>
          </a:prstGeom>
          <a:solidFill>
            <a:srgbClr val="F8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3056" y="1993392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8776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9702F"/>
                </a:solidFill>
                <a:latin typeface="Calibri"/>
              </a:rPr>
              <a:t>Bakery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4496" y="3611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742"/>
                </a:solidFill>
                <a:latin typeface="Calibri"/>
              </a:rPr>
              <a:t>Word families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0216" y="4297680"/>
            <a:ext cx="1463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0216" y="43342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8894"/>
                </a:solidFill>
                <a:latin typeface="Calibri"/>
              </a:rPr>
              <a:t>37–49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65008" y="1783080"/>
            <a:ext cx="1737360" cy="320040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65008" y="1993392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0728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546A8"/>
                </a:solidFill>
                <a:latin typeface="Calibri"/>
              </a:rPr>
              <a:t>Shopping Cart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3611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742"/>
                </a:solidFill>
                <a:latin typeface="Calibri"/>
              </a:rPr>
              <a:t>Words &amp; sentences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02168" y="4297680"/>
            <a:ext cx="1463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02168" y="43342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8894"/>
                </a:solidFill>
                <a:latin typeface="Calibri"/>
              </a:rPr>
              <a:t>49–68 min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66960" y="1783080"/>
            <a:ext cx="1737360" cy="3200400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66960" y="1993392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27889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6402F"/>
                </a:solidFill>
                <a:latin typeface="Calibri"/>
              </a:rPr>
              <a:t>Checkout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3611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742"/>
                </a:solidFill>
                <a:latin typeface="Calibri"/>
              </a:rPr>
              <a:t>Story &amp; questions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04120" y="4297680"/>
            <a:ext cx="146304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04120" y="43342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8894"/>
                </a:solidFill>
                <a:latin typeface="Calibri"/>
              </a:rPr>
              <a:t>68–90 min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166360"/>
            <a:ext cx="11292840" cy="82296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39496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🥕  →  🥛  →  🥣  →  🍞  →  🛒  →  💳    Finish all six and you are a SMART SHOPPER CHAMPION!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PROMISE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🤝 How I Help You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61980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Produce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857A"/>
                </a:solidFill>
                <a:latin typeface="Calibri"/>
              </a:rPr>
              <a:t>You never read alone. Here is how it works.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5440680" cy="178308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37744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46888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C3742"/>
                </a:solidFill>
                <a:latin typeface="Calibri"/>
              </a:rPr>
              <a:t>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19456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857A"/>
                </a:solidFill>
                <a:latin typeface="Calibri"/>
              </a:rPr>
              <a:t>Shopping Hint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74320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742"/>
                </a:solidFill>
                <a:latin typeface="Calibri"/>
              </a:rPr>
              <a:t>A hint always comes before the answer.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828800"/>
            <a:ext cx="5440680" cy="178308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4808" y="237744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246888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C3742"/>
                </a:solidFill>
                <a:latin typeface="Calibri"/>
              </a:rPr>
              <a:t>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19456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857A"/>
                </a:solidFill>
                <a:latin typeface="Calibri"/>
              </a:rPr>
              <a:t>Shopping 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74320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742"/>
                </a:solidFill>
                <a:latin typeface="Calibri"/>
              </a:rPr>
              <a:t>Then you try it, and I go quiet.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40480"/>
            <a:ext cx="5440680" cy="178308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808" y="438912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48056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C3742"/>
                </a:solidFill>
                <a:latin typeface="Calibri"/>
              </a:rPr>
              <a:t>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2062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857A"/>
                </a:solidFill>
                <a:latin typeface="Calibri"/>
              </a:rPr>
              <a:t>Bonus Shopper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75488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742"/>
                </a:solidFill>
                <a:latin typeface="Calibri"/>
              </a:rPr>
              <a:t>Finished early? There is always one more.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840480"/>
            <a:ext cx="5440680" cy="178308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64808" y="438912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448056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42062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857A"/>
                </a:solidFill>
                <a:latin typeface="Calibri"/>
              </a:rPr>
              <a:t>One Cart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475488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742"/>
                </a:solidFill>
                <a:latin typeface="Calibri"/>
              </a:rPr>
              <a:t>Every word today goes in the same small cart.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Read all four out loud. Knowing help is coming makes her braver.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WARM-UP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🏪 Picture Talk — Inside the Store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52476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Produce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402F"/>
                </a:solidFill>
                <a:latin typeface="Calibri"/>
              </a:rPr>
              <a:t>Just look and talk. No reading yet!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3566160" cy="1920240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38528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2962656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0632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6402F"/>
                </a:solidFill>
                <a:latin typeface="Calibri"/>
              </a:rPr>
              <a:t>apple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737360"/>
            <a:ext cx="3566160" cy="1920240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1938528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2C3742"/>
                </a:solidFill>
                <a:latin typeface="Calibri"/>
              </a:rPr>
              <a:t>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2962656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30632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6402F"/>
                </a:solidFill>
                <a:latin typeface="Calibri"/>
              </a:rPr>
              <a:t>milk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737360"/>
            <a:ext cx="3566160" cy="1920240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938528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2C3742"/>
                </a:solidFill>
                <a:latin typeface="Calibri"/>
              </a:rPr>
              <a:t>🍞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2962656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30632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6402F"/>
                </a:solidFill>
                <a:latin typeface="Calibri"/>
              </a:rPr>
              <a:t>bread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840479"/>
            <a:ext cx="3566160" cy="1920240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41647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2C3742"/>
                </a:solidFill>
                <a:latin typeface="Calibri"/>
              </a:rPr>
              <a:t>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80160" y="5065775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5166359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6402F"/>
                </a:solidFill>
                <a:latin typeface="Calibri"/>
              </a:rPr>
              <a:t>banana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3840479"/>
            <a:ext cx="3566160" cy="1920240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4041647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2C3742"/>
                </a:solidFill>
                <a:latin typeface="Calibri"/>
              </a:rPr>
              <a:t>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4920" y="5065775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5166359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6402F"/>
                </a:solidFill>
                <a:latin typeface="Calibri"/>
              </a:rPr>
              <a:t>carrot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840479"/>
            <a:ext cx="3566160" cy="1920240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4041647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5065775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0" y="5166359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6402F"/>
                </a:solidFill>
                <a:latin typeface="Calibri"/>
              </a:rPr>
              <a:t>cart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6402F"/>
                </a:solidFill>
                <a:latin typeface="Calibri"/>
              </a:rPr>
              <a:t>🗣️ SPEAKING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Point at whatever she names. Pointing back shows you are listening.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🗣️ Talk About the Store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42971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Produce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402F"/>
                </a:solidFill>
                <a:latin typeface="Calibri"/>
              </a:rPr>
              <a:t>Answer out loud. Try a whole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051560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03911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93976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🗣️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084832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430"/>
                </a:solidFill>
                <a:latin typeface="Calibri"/>
              </a:rPr>
              <a:t>What do you see?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783080"/>
            <a:ext cx="5440680" cy="1051560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03911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093976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084832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430"/>
                </a:solidFill>
                <a:latin typeface="Calibri"/>
              </a:rPr>
              <a:t>Do you see an apple?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17520"/>
            <a:ext cx="5440680" cy="1051560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27355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328416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319272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430"/>
                </a:solidFill>
                <a:latin typeface="Calibri"/>
              </a:rPr>
              <a:t>What color is the banana?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17520"/>
            <a:ext cx="5440680" cy="1051560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327355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328416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319272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430"/>
                </a:solidFill>
                <a:latin typeface="Calibri"/>
              </a:rPr>
              <a:t>Which food do you like?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343400"/>
            <a:ext cx="5440680" cy="1005840"/>
          </a:xfrm>
          <a:prstGeom prst="roundRect">
            <a:avLst/>
          </a:prstGeom>
          <a:solidFill>
            <a:srgbClr val="FDF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59028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  <a:latin typeface="Calibri"/>
              </a:rPr>
              <a:t>I see a ______.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343400"/>
            <a:ext cx="5440680" cy="1005840"/>
          </a:xfrm>
          <a:prstGeom prst="roundRect">
            <a:avLst/>
          </a:prstGeom>
          <a:solidFill>
            <a:srgbClr val="FDF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59028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  <a:latin typeface="Calibri"/>
              </a:rPr>
              <a:t>I like ______.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If she answers with one word, say it back as a full sentence first.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👂 First Sounds — Listen and Say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333466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Produce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B4E"/>
                </a:solidFill>
                <a:latin typeface="Calibri"/>
              </a:rPr>
              <a:t>I say the sound. You say it back to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192024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1109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55117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A2430"/>
                </a:solidFill>
                <a:latin typeface="Arial Black"/>
              </a:rPr>
              <a:t>APPLE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3026664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11810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8B4E"/>
                </a:solidFill>
                <a:latin typeface="Calibri"/>
              </a:rPr>
              <a:t>A  says  /a/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1783080"/>
            <a:ext cx="3566160" cy="192024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191109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55117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A2430"/>
                </a:solidFill>
                <a:latin typeface="Arial Black"/>
              </a:rPr>
              <a:t>BANANA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3026664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311810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8B4E"/>
                </a:solidFill>
                <a:latin typeface="Calibri"/>
              </a:rPr>
              <a:t>B  says  /b/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783080"/>
            <a:ext cx="3566160" cy="192024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191109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255117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A2430"/>
                </a:solidFill>
                <a:latin typeface="Arial Black"/>
              </a:rPr>
              <a:t>CARROT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3026664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311810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8B4E"/>
                </a:solidFill>
                <a:latin typeface="Calibri"/>
              </a:rPr>
              <a:t>C  says  /k/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886200"/>
            <a:ext cx="3566160" cy="192024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1421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65429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A2430"/>
                </a:solidFill>
                <a:latin typeface="Arial Black"/>
              </a:rPr>
              <a:t>MILK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34440" y="5129784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522122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8B4E"/>
                </a:solidFill>
                <a:latin typeface="Calibri"/>
              </a:rPr>
              <a:t>M  says  /m/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60" y="3886200"/>
            <a:ext cx="3566160" cy="192024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401421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65429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A2430"/>
                </a:solidFill>
                <a:latin typeface="Arial Black"/>
              </a:rPr>
              <a:t>JUICE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0" y="5129784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522122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8B4E"/>
                </a:solidFill>
                <a:latin typeface="Calibri"/>
              </a:rPr>
              <a:t>J  says  /j/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3886200"/>
            <a:ext cx="3566160" cy="192024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401421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465429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A2430"/>
                </a:solidFill>
                <a:latin typeface="Arial Black"/>
              </a:rPr>
              <a:t>EGG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23960" y="5129784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23960" y="522122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8B4E"/>
                </a:solidFill>
                <a:latin typeface="Calibri"/>
              </a:rPr>
              <a:t>E  says  /e/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Say the sound, not the letter name. Stretch it: mmmmm.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🛒 Game: Put It in the Cart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523961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Produce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B4E"/>
                </a:solidFill>
                <a:latin typeface="Calibri"/>
              </a:rPr>
              <a:t>Which food STARTS with the letter on the cart?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116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2066544"/>
            <a:ext cx="1554480" cy="56692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21396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69080" y="18836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90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apple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18836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milk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18836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bread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33832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94560" y="3438144"/>
            <a:ext cx="1554480" cy="56692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4560" y="35112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69080" y="32552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90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carrot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32552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banana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98280" y="32552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egg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7548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94560" y="4809744"/>
            <a:ext cx="1554480" cy="56692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94560" y="48828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069080" y="46268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908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🥛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908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milk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0" y="46268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carrot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98280" y="46268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9828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apple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Say each food name out loud first. Stretch the first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🛒 Put It in the Cart — Rounds 4 to 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714457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Produce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B4E"/>
                </a:solidFill>
                <a:latin typeface="Calibri"/>
              </a:rPr>
              <a:t>Three more items for the cart.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116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2066544"/>
            <a:ext cx="1554480" cy="56692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21396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69080" y="18836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90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apple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18836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juice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18836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banana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33832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94560" y="3438144"/>
            <a:ext cx="1554480" cy="56692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4560" y="35112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J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69080" y="32552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90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cheese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32552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juice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98280" y="32552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bread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7548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94560" y="4809744"/>
            <a:ext cx="1554480" cy="56692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94560" y="48828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069080" y="46268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908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908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egg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0" y="46268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carrot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98280" y="46268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9828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cart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Too many choices? Cover one with your hand and leave only two.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🛒 Cart Challenge — The Last Two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904952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Produce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B4E"/>
                </a:solidFill>
                <a:latin typeface="Calibri"/>
              </a:rPr>
              <a:t>Two last items. Then the produce aisle is done!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0116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2066544"/>
            <a:ext cx="1554480" cy="56692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21396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BR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18836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bread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18836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milk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18836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apple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3832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0" y="3438144"/>
            <a:ext cx="1554480" cy="56692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35112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69080" y="32552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690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drink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32552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apple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98280" y="3255264"/>
            <a:ext cx="228600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430"/>
                </a:solidFill>
                <a:latin typeface="Calibri"/>
              </a:rPr>
              <a:t>egg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526280"/>
            <a:ext cx="11292840" cy="1170432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64515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546A8"/>
                </a:solidFill>
                <a:latin typeface="Calibri"/>
              </a:rPr>
              <a:t>⭐ BONUS SHOPPER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430"/>
                </a:solidFill>
                <a:latin typeface="Calibri"/>
              </a:rPr>
              <a:t>Can you name one more food that starts with /m/?  How about /b/?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Any real food counts, even one that is not in this store.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🔚 Ending Sounds — What Do You Hear Last?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095447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Produce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857A"/>
                </a:solidFill>
                <a:latin typeface="Calibri"/>
              </a:rPr>
              <a:t>Say the word. Now listen only to the LAST sound.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208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61488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2990088"/>
            <a:ext cx="457200" cy="457200"/>
          </a:xfrm>
          <a:prstGeom prst="ellipse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449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85616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014216"/>
            <a:ext cx="457200" cy="457200"/>
          </a:xfrm>
          <a:prstGeom prst="ellipse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09744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038344"/>
            <a:ext cx="457200" cy="457200"/>
          </a:xfrm>
          <a:prstGeom prst="ellipse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093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1901952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🛍️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1920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  <a:latin typeface="Arial Black"/>
              </a:rPr>
              <a:t>BAG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1911096"/>
            <a:ext cx="2194560" cy="56692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198424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57A"/>
                </a:solidFill>
                <a:latin typeface="Arial Black"/>
              </a:rPr>
              <a:t>/g/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67728" y="1911096"/>
            <a:ext cx="2194560" cy="56692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7728" y="198424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57A"/>
                </a:solidFill>
                <a:latin typeface="Arial Black"/>
              </a:rPr>
              <a:t>/t/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63456" y="1911096"/>
            <a:ext cx="2194560" cy="56692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63456" y="198424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57A"/>
                </a:solidFill>
                <a:latin typeface="Arial Black"/>
              </a:rPr>
              <a:t>/p/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26080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29443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  <a:latin typeface="Arial Black"/>
              </a:rPr>
              <a:t>MILK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2935224"/>
            <a:ext cx="2194560" cy="56692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00837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57A"/>
                </a:solidFill>
                <a:latin typeface="Arial Black"/>
              </a:rPr>
              <a:t>/k/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67728" y="2935224"/>
            <a:ext cx="2194560" cy="56692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67728" y="300837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57A"/>
                </a:solidFill>
                <a:latin typeface="Arial Black"/>
              </a:rPr>
              <a:t>/t/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63456" y="2935224"/>
            <a:ext cx="2194560" cy="56692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6" y="300837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57A"/>
                </a:solidFill>
                <a:latin typeface="Arial Black"/>
              </a:rPr>
              <a:t>/m/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3950208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3968496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  <a:latin typeface="Arial Black"/>
              </a:rPr>
              <a:t>EGG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0" y="3959352"/>
            <a:ext cx="2194560" cy="56692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0" y="4032504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57A"/>
                </a:solidFill>
                <a:latin typeface="Arial Black"/>
              </a:rPr>
              <a:t>/g/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67728" y="3959352"/>
            <a:ext cx="2194560" cy="56692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67728" y="4032504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57A"/>
                </a:solidFill>
                <a:latin typeface="Arial Black"/>
              </a:rPr>
              <a:t>/d/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63456" y="3959352"/>
            <a:ext cx="2194560" cy="56692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63456" y="4032504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57A"/>
                </a:solidFill>
                <a:latin typeface="Arial Black"/>
              </a:rPr>
              <a:t>/n/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0160" y="4974336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499262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  <a:latin typeface="Arial Black"/>
              </a:rPr>
              <a:t>CUP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0" y="4983480"/>
            <a:ext cx="2194560" cy="56692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0" y="5056632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57A"/>
                </a:solidFill>
                <a:latin typeface="Arial Black"/>
              </a:rPr>
              <a:t>/b/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67728" y="4983480"/>
            <a:ext cx="2194560" cy="56692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67728" y="5056632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57A"/>
                </a:solidFill>
                <a:latin typeface="Arial Black"/>
              </a:rPr>
              <a:t>/p/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63456" y="4983480"/>
            <a:ext cx="2194560" cy="566928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63456" y="5056632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57A"/>
                </a:solidFill>
                <a:latin typeface="Arial Black"/>
              </a:rPr>
              <a:t>/t/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Whisper the word, then say the last sound loudly: ba-G!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AISLE 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🥕 Produce Aisle 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285942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Produce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12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B4E"/>
                </a:solidFill>
                <a:latin typeface="Calibri"/>
              </a:rPr>
              <a:t>You can hear the first and last sound in a word.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846320" cy="402336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C3742"/>
                </a:solidFill>
                <a:latin typeface="Calibri"/>
              </a:rPr>
              <a:t>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8B4E"/>
                </a:solidFill>
                <a:latin typeface="Georgia"/>
              </a:rPr>
              <a:t>POINT 1 EARNED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894"/>
                </a:solidFill>
                <a:latin typeface="Calibri"/>
              </a:rPr>
              <a:t>⭐ shopping point earned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737360"/>
            <a:ext cx="6126480" cy="877824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97880" y="19202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1975104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9568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A, B, C, M, J and E sounds.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2761488"/>
            <a:ext cx="6126480" cy="877824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97880" y="294436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29992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98094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You filled the cart eight times.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3785616"/>
            <a:ext cx="6126480" cy="877824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97880" y="39684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402336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0050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You heard the last sound too.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4809744"/>
            <a:ext cx="6126480" cy="877824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97880" y="499262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80" y="5047488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🗣️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You said every food name out loud.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A008"/>
                </a:solidFill>
                <a:latin typeface="Calibri"/>
              </a:rPr>
              <a:t>➡️ NEXT AISLE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Dairy Aisle — the sound hiding in the MIDDLE of a word.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🧺 Short Vowels — Four Baskets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476438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Dairy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7BB8"/>
                </a:solidFill>
                <a:latin typeface="Calibri"/>
              </a:rPr>
              <a:t>Every word has a sound hiding in the middle.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1783080"/>
            <a:ext cx="2514600" cy="3749039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6596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2651760"/>
            <a:ext cx="1234440" cy="1051560"/>
          </a:xfrm>
          <a:prstGeom prst="round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2788920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4048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🛍️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4572000"/>
            <a:ext cx="1600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672584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6402F"/>
                </a:solidFill>
                <a:latin typeface="Calibri"/>
              </a:rPr>
              <a:t>bag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1783080"/>
            <a:ext cx="2514600" cy="3749039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196596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2651760"/>
            <a:ext cx="1234440" cy="1051560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2788920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 Black"/>
              </a:rP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84048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4572000"/>
            <a:ext cx="1600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4672584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8B4E"/>
                </a:solidFill>
                <a:latin typeface="Calibri"/>
              </a:rPr>
              <a:t>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1783080"/>
            <a:ext cx="2514600" cy="3749039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96596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2651760"/>
            <a:ext cx="1234440" cy="1051560"/>
          </a:xfrm>
          <a:prstGeom prst="roundRect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2788920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 Black"/>
              </a:rPr>
              <a:t>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84048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0" y="4572000"/>
            <a:ext cx="1600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4672584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7BB8"/>
                </a:solidFill>
                <a:latin typeface="Calibri"/>
              </a:rPr>
              <a:t>sit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60" y="1783080"/>
            <a:ext cx="2514600" cy="3749039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196596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92640" y="2651760"/>
            <a:ext cx="1234440" cy="1051560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2788920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 Black"/>
              </a:rPr>
              <a:t>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384048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09760" y="4572000"/>
            <a:ext cx="1600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760" y="4672584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546A8"/>
                </a:solidFill>
                <a:latin typeface="Calibri"/>
              </a:rPr>
              <a:t>box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Stretch the middle: b-aaa-g. That is the sound she is listening for.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🧺 Game: Sort the Shopping Words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666933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Dairy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14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7BB8"/>
                </a:solidFill>
                <a:latin typeface="Calibri"/>
              </a:rPr>
              <a:t>Which basket does this word belong in?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299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🛍️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Arial Black"/>
              </a:rPr>
              <a:t>BAG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487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C8894"/>
                </a:solidFill>
                <a:latin typeface="Calibri"/>
              </a:rPr>
              <a:t>/b/ /a/ /g/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19933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20116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2286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96328" y="19933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96328" y="20116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6328" y="2286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09176" y="19933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9176" y="20116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9176" y="2286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34015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Arial Black"/>
              </a:rPr>
              <a:t>JAM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3858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C8894"/>
                </a:solidFill>
                <a:latin typeface="Calibri"/>
              </a:rPr>
              <a:t>/j/ /a/ /m/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83480" y="33649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83480" y="33832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96328" y="33649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96328" y="33832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96328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09176" y="33649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09176" y="33832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9176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7731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94560" y="4663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Arial Black"/>
              </a:rPr>
              <a:t>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52303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C8894"/>
                </a:solidFill>
                <a:latin typeface="Calibri"/>
              </a:rPr>
              <a:t>/r/ /e/ /d/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983480" y="47365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83480" y="47548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83480" y="50292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96328" y="47365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96328" y="47548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96328" y="50292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09176" y="47365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09176" y="47548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09176" y="50292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Say the word slowly and hold the middle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🧺 Sort the Shopping Words — 4 to 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857428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Dairy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15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7BB8"/>
                </a:solidFill>
                <a:latin typeface="Calibri"/>
              </a:rPr>
              <a:t>Three more words to sort.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299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🛏️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Arial Black"/>
              </a:rPr>
              <a:t>BED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487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C8894"/>
                </a:solidFill>
                <a:latin typeface="Calibri"/>
              </a:rPr>
              <a:t>/b/ /e/ /d/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19933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20116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2286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96328" y="19933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96328" y="20116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6328" y="2286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09176" y="19933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9176" y="20116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9176" y="2286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34015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Arial Black"/>
              </a:rPr>
              <a:t>SIT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3858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C8894"/>
                </a:solidFill>
                <a:latin typeface="Calibri"/>
              </a:rPr>
              <a:t>/s/ /i/ /t/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83480" y="33649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83480" y="33832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96328" y="33649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96328" y="33832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96328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09176" y="33649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09176" y="33832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9176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7731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94560" y="4663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Arial Black"/>
              </a:rPr>
              <a:t>BOX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52303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C8894"/>
                </a:solidFill>
                <a:latin typeface="Calibri"/>
              </a:rPr>
              <a:t>/b/ /o/ /x/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983480" y="47365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83480" y="47548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83480" y="50292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96328" y="47365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96328" y="47548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96328" y="50292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09176" y="47365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09176" y="47548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09176" y="50292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I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Baskets:  A  ·  E  ·  I  ·  O.  Say each one before she chooses.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BONUS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⭐ Basket Bonus — Two More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047923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Dairy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16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546A8"/>
                </a:solidFill>
                <a:latin typeface="Calibri"/>
              </a:rPr>
              <a:t>Bonus round! These two are a little trickier.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0299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Arial Black"/>
              </a:rPr>
              <a:t>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2487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C8894"/>
                </a:solidFill>
                <a:latin typeface="Calibri"/>
              </a:rPr>
              <a:t>/h/ /o/ /t/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19933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20116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2286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96328" y="19933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96328" y="20116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2286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09176" y="19933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9176" y="20116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9176" y="2286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4015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Arial Black"/>
              </a:rPr>
              <a:t>CAN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3858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C8894"/>
                </a:solidFill>
                <a:latin typeface="Calibri"/>
              </a:rPr>
              <a:t>/k/ /a/ /n/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33649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3480" y="33832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96328" y="33649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96328" y="33832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96328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09176" y="3364992"/>
            <a:ext cx="2011680" cy="694944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09176" y="33832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09176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Arial Black"/>
              </a:rPr>
              <a:t>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526280"/>
            <a:ext cx="11292840" cy="1170432"/>
          </a:xfrm>
          <a:prstGeom prst="roundRect">
            <a:avLst/>
          </a:prstGeom>
          <a:solidFill>
            <a:srgbClr val="FDF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64515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A008"/>
                </a:solidFill>
                <a:latin typeface="Calibri"/>
              </a:rPr>
              <a:t>⭐ BONUS SHOPPER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430"/>
                </a:solidFill>
                <a:latin typeface="Calibri"/>
              </a:rPr>
              <a:t>Pick any basket. Can you think of one more word that goes inside it?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Skip this if she is tired. It is a bonus, not a requirement.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VOCABULARY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🛍️ Shopping Words We Will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238418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Dairy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17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546A8"/>
                </a:solidFill>
                <a:latin typeface="Calibri"/>
              </a:rPr>
              <a:t>Every word today comes from this list. Nothing new later.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737360" cy="120700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385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🛍️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48716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5603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546A8"/>
                </a:solidFill>
                <a:latin typeface="Calibri"/>
              </a:rPr>
              <a:t>bag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59152" y="1828800"/>
            <a:ext cx="1737360" cy="120700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9152" y="19385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96312" y="248716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96312" y="25603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546A8"/>
                </a:solidFill>
                <a:latin typeface="Calibri"/>
              </a:rPr>
              <a:t>box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1104" y="1828800"/>
            <a:ext cx="1737360" cy="120700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61104" y="19385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248716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8264" y="25603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546A8"/>
                </a:solidFill>
                <a:latin typeface="Calibri"/>
              </a:rPr>
              <a:t>jam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6" y="1828800"/>
            <a:ext cx="1737360" cy="120700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3056" y="19385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0216" y="248716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0216" y="25603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546A8"/>
                </a:solidFill>
                <a:latin typeface="Calibri"/>
              </a:rPr>
              <a:t>ham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5008" y="1828800"/>
            <a:ext cx="1737360" cy="120700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5008" y="19385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02168" y="248716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2168" y="25603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546A8"/>
                </a:solidFill>
                <a:latin typeface="Calibri"/>
              </a:rPr>
              <a:t>milk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1828800"/>
            <a:ext cx="1737360" cy="120700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19385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04120" y="248716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04120" y="25603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546A8"/>
                </a:solidFill>
                <a:latin typeface="Calibri"/>
              </a:rPr>
              <a:t>bun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154680"/>
            <a:ext cx="1737360" cy="120700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26440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381304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38862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546A8"/>
                </a:solidFill>
                <a:latin typeface="Calibri"/>
              </a:rPr>
              <a:t>cup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59152" y="3154680"/>
            <a:ext cx="1737360" cy="120700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59152" y="326440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🍳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96312" y="381304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96312" y="38862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546A8"/>
                </a:solidFill>
                <a:latin typeface="Calibri"/>
              </a:rPr>
              <a:t>pan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61104" y="3154680"/>
            <a:ext cx="1737360" cy="120700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61104" y="326440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🥚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98264" y="381304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98264" y="38862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546A8"/>
                </a:solidFill>
                <a:latin typeface="Calibri"/>
              </a:rPr>
              <a:t>egg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63056" y="3154680"/>
            <a:ext cx="1737360" cy="120700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63056" y="326440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🔴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00216" y="381304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0216" y="38862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546A8"/>
                </a:solidFill>
                <a:latin typeface="Calibri"/>
              </a:rPr>
              <a:t>red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65008" y="3154680"/>
            <a:ext cx="1737360" cy="120700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65008" y="326440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🔥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02168" y="381304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02168" y="38862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546A8"/>
                </a:solidFill>
                <a:latin typeface="Calibri"/>
              </a:rPr>
              <a:t>hot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66960" y="3154680"/>
            <a:ext cx="1737360" cy="120700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66960" y="326440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💧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104120" y="381304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04120" y="38862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546A8"/>
                </a:solidFill>
                <a:latin typeface="Calibri"/>
              </a:rPr>
              <a:t>wet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4480560"/>
            <a:ext cx="1737360" cy="120700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45902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🥫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513892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4360" y="52120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546A8"/>
                </a:solidFill>
                <a:latin typeface="Calibri"/>
              </a:rPr>
              <a:t>can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359152" y="4480560"/>
            <a:ext cx="1737360" cy="120700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59152" y="45902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🗺️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496312" y="513892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496312" y="52120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546A8"/>
                </a:solidFill>
                <a:latin typeface="Calibri"/>
              </a:rPr>
              <a:t>map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61104" y="4480560"/>
            <a:ext cx="1737360" cy="120700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61104" y="45902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☀️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398264" y="513892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98264" y="52120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546A8"/>
                </a:solidFill>
                <a:latin typeface="Calibri"/>
              </a:rPr>
              <a:t>sun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63056" y="4480560"/>
            <a:ext cx="1737360" cy="120700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63056" y="45902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🪑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300216" y="513892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00216" y="52120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546A8"/>
                </a:solidFill>
                <a:latin typeface="Calibri"/>
              </a:rPr>
              <a:t>sit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065008" y="4480560"/>
            <a:ext cx="1737360" cy="120700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65008" y="45902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🏃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202168" y="513892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02168" y="52120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546A8"/>
                </a:solidFill>
                <a:latin typeface="Calibri"/>
              </a:rPr>
              <a:t>run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966960" y="4480560"/>
            <a:ext cx="1737360" cy="120700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966960" y="45902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🐸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104120" y="513892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104120" y="52120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546A8"/>
                </a:solidFill>
                <a:latin typeface="Calibri"/>
              </a:rPr>
              <a:t>hop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Read them across in a rhythm. She joins in wherever she can.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AISLE 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🥛 Dairy Aisle 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428914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Dairy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18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B4E"/>
                </a:solidFill>
                <a:latin typeface="Calibri"/>
              </a:rPr>
              <a:t>You found the middle sound in every word.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846320" cy="402336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C3742"/>
                </a:solidFill>
                <a:latin typeface="Calibri"/>
              </a:rPr>
              <a:t>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8B4E"/>
                </a:solidFill>
                <a:latin typeface="Georgia"/>
              </a:rPr>
              <a:t>POINT 2 EARNED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894"/>
                </a:solidFill>
                <a:latin typeface="Calibri"/>
              </a:rPr>
              <a:t>⭐ shopping point earned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737360"/>
            <a:ext cx="6126480" cy="877824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97880" y="19202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1975104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9568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Baskets A, E, I and 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2761488"/>
            <a:ext cx="6126480" cy="877824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97880" y="294436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29992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98094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bag · jam · red · bed · sit · box.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3785616"/>
            <a:ext cx="6126480" cy="877824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97880" y="39684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402336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0050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Even the bonus words: hot and can.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4809744"/>
            <a:ext cx="6126480" cy="877824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97880" y="499262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80" y="5047488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🛍️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Eighteen shopping words are now yours.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A008"/>
                </a:solidFill>
                <a:latin typeface="Calibri"/>
              </a:rPr>
              <a:t>➡️ NEXT AISLE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Breakfast Aisle — where we build whole words from letters.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🥣 Our Five Steps for Any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619409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Breakfast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19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A008"/>
                </a:solidFill>
                <a:latin typeface="Calibri"/>
              </a:rPr>
              <a:t>When a word looks hard, we always do these five steps.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103120" cy="3291840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34440" y="1993392"/>
            <a:ext cx="548640" cy="548640"/>
          </a:xfrm>
          <a:prstGeom prst="ellipse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2084831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97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6402F"/>
                </a:solidFill>
                <a:latin typeface="Arial Black"/>
              </a:rPr>
              <a:t>TOUCH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273552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742"/>
                </a:solidFill>
                <a:latin typeface="Calibri"/>
              </a:rPr>
              <a:t>Touch each letter.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69080"/>
            <a:ext cx="1737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245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6402F"/>
                </a:solidFill>
                <a:latin typeface="Calibri"/>
              </a:rPr>
              <a:t>B  A  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34056" y="1783080"/>
            <a:ext cx="2103120" cy="3291840"/>
          </a:xfrm>
          <a:prstGeom prst="roundRect">
            <a:avLst/>
          </a:prstGeom>
          <a:solidFill>
            <a:srgbClr val="FDF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11296" y="1993392"/>
            <a:ext cx="548640" cy="548640"/>
          </a:xfrm>
          <a:prstGeom prst="ellipse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11296" y="2084831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25496" y="2697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2A008"/>
                </a:solidFill>
                <a:latin typeface="Arial Black"/>
              </a:rPr>
              <a:t>SAY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648" y="3273552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742"/>
                </a:solidFill>
                <a:latin typeface="Calibri"/>
              </a:rPr>
              <a:t>Say each sound.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16936" y="4069080"/>
            <a:ext cx="1737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16936" y="42245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2A008"/>
                </a:solidFill>
                <a:latin typeface="Calibri"/>
              </a:rPr>
              <a:t>/b/ /a/ /g/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10912" y="1783080"/>
            <a:ext cx="2103120" cy="3291840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788152" y="1993392"/>
            <a:ext cx="548640" cy="548640"/>
          </a:xfrm>
          <a:prstGeom prst="ellipse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88152" y="2084831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2352" y="2697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7BB8"/>
                </a:solidFill>
                <a:latin typeface="Arial Black"/>
              </a:rPr>
              <a:t>BLEND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5504" y="3273552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742"/>
                </a:solidFill>
                <a:latin typeface="Calibri"/>
              </a:rPr>
              <a:t>Push them together.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93792" y="4069080"/>
            <a:ext cx="1737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93792" y="42245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7BB8"/>
                </a:solidFill>
                <a:latin typeface="Calibri"/>
              </a:rPr>
              <a:t>b-a-g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87768" y="1783080"/>
            <a:ext cx="2103120" cy="329184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65008" y="1993392"/>
            <a:ext cx="548640" cy="548640"/>
          </a:xfrm>
          <a:prstGeom prst="ellipse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5008" y="2084831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79208" y="2697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8B4E"/>
                </a:solidFill>
                <a:latin typeface="Arial Black"/>
              </a:rPr>
              <a:t>READ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60" y="3273552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742"/>
                </a:solidFill>
                <a:latin typeface="Calibri"/>
              </a:rPr>
              <a:t>Read the whole word.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70648" y="4069080"/>
            <a:ext cx="1737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70648" y="42245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8B4E"/>
                </a:solidFill>
                <a:latin typeface="Calibri"/>
              </a:rPr>
              <a:t>BAG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64624" y="1783080"/>
            <a:ext cx="2103120" cy="329184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41864" y="1993392"/>
            <a:ext cx="548640" cy="548640"/>
          </a:xfrm>
          <a:prstGeom prst="ellipse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41864" y="2084831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56064" y="2697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546A8"/>
                </a:solidFill>
                <a:latin typeface="Arial Black"/>
              </a:rPr>
              <a:t>MATCH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29216" y="3273552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742"/>
                </a:solidFill>
                <a:latin typeface="Calibri"/>
              </a:rPr>
              <a:t>Find the picture.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47504" y="4069080"/>
            <a:ext cx="1737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47504" y="42245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546A8"/>
                </a:solidFill>
                <a:latin typeface="Calibri"/>
              </a:rPr>
              <a:t>🛍️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257800"/>
            <a:ext cx="11292840" cy="45720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5330952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B4E"/>
                </a:solidFill>
                <a:latin typeface="Calibri"/>
              </a:rPr>
              <a:t>Never skip step 5. Matching the picture is what makes the word mean something.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🛒 Game: Shopping Word Builder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809904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Breakfast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20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A008"/>
                </a:solidFill>
                <a:latin typeface="Calibri"/>
              </a:rPr>
              <a:t>Say each sound. Then say the whole word fast.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29968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🛍️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6402F"/>
                </a:solidFill>
                <a:latin typeface="Arial Black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6402F"/>
                </a:solidFill>
                <a:latin typeface="Arial Black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6402F"/>
                </a:solidFill>
                <a:latin typeface="Arial Black"/>
              </a:rPr>
              <a:t>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1579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8894"/>
                </a:solidFill>
                <a:latin typeface="Calibri"/>
              </a:rPr>
              <a:t>/b/  /a/  /g/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121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6402F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1965960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048256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6402F"/>
                </a:solidFill>
                <a:latin typeface="Arial Black"/>
              </a:rPr>
              <a:t>BAG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127248"/>
            <a:ext cx="11292840" cy="1225296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419856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546A8"/>
                </a:solidFill>
                <a:latin typeface="Arial Black"/>
              </a:rPr>
              <a:t>J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324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546A8"/>
                </a:solidFill>
                <a:latin typeface="Arial Black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546A8"/>
                </a:solidFill>
                <a:latin typeface="Arial Black"/>
              </a:rPr>
              <a:t>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8894"/>
                </a:solidFill>
                <a:latin typeface="Calibri"/>
              </a:rPr>
              <a:t>/j/  /a/  /m/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5112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546A8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3355848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3438144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546A8"/>
                </a:solidFill>
                <a:latin typeface="Arial Black"/>
              </a:rPr>
              <a:t>JAM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517136"/>
            <a:ext cx="11292840" cy="1225296"/>
          </a:xfrm>
          <a:prstGeom prst="roundRect">
            <a:avLst/>
          </a:prstGeom>
          <a:solidFill>
            <a:srgbClr val="F8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80974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🍖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2880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9702F"/>
                </a:solidFill>
                <a:latin typeface="Arial Black"/>
              </a:rPr>
              <a:t>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6324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6324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9702F"/>
                </a:solidFill>
                <a:latin typeface="Arial Black"/>
              </a:rPr>
              <a:t>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768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9702F"/>
                </a:solidFill>
                <a:latin typeface="Arial Black"/>
              </a:rPr>
              <a:t>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0" y="4937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8894"/>
                </a:solidFill>
                <a:latin typeface="Calibri"/>
              </a:rPr>
              <a:t>/h/  /a/  /m/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49011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9702F"/>
                </a:solidFill>
                <a:latin typeface="Calibr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0" y="4745736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4828032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9702F"/>
                </a:solidFill>
                <a:latin typeface="Arial Black"/>
              </a:rPr>
              <a:t>HAM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99846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08960" y="598932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Cover the last letter so she blends only two sounds first.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🛒 Word Builder — Three More Shelves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000399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Breakfast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21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A008"/>
                </a:solidFill>
                <a:latin typeface="Calibri"/>
              </a:rPr>
              <a:t>Every word you build goes onto the shelf.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DF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29968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2A008"/>
                </a:solidFill>
                <a:latin typeface="Arial Black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2A008"/>
                </a:solidFill>
                <a:latin typeface="Arial Black"/>
              </a:rPr>
              <a:t>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2A008"/>
                </a:solidFill>
                <a:latin typeface="Arial Black"/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1579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8894"/>
                </a:solidFill>
                <a:latin typeface="Calibri"/>
              </a:rPr>
              <a:t>/b/  /o/  /x/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121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A00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1965960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048256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2A008"/>
                </a:solidFill>
                <a:latin typeface="Arial Black"/>
              </a:rPr>
              <a:t>BOX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127248"/>
            <a:ext cx="11292840" cy="1225296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419856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E7BB8"/>
                </a:solidFill>
                <a:latin typeface="Arial Black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324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E7BB8"/>
                </a:solidFill>
                <a:latin typeface="Arial Black"/>
              </a:rPr>
              <a:t>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E7BB8"/>
                </a:solidFill>
                <a:latin typeface="Arial Black"/>
              </a:rPr>
              <a:t>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8894"/>
                </a:solidFill>
                <a:latin typeface="Calibri"/>
              </a:rPr>
              <a:t>/k/  /u/  /p/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5112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7BB8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3355848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3438144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E7BB8"/>
                </a:solidFill>
                <a:latin typeface="Arial Black"/>
              </a:rPr>
              <a:t>CUP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517136"/>
            <a:ext cx="11292840" cy="1225296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80974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🪑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2880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B4E"/>
                </a:solidFill>
                <a:latin typeface="Arial Black"/>
              </a:rPr>
              <a:t>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6324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6324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B4E"/>
                </a:solidFill>
                <a:latin typeface="Arial Black"/>
              </a:rPr>
              <a:t>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768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B4E"/>
                </a:solidFill>
                <a:latin typeface="Arial Black"/>
              </a:rPr>
              <a:t>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0" y="4937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8894"/>
                </a:solidFill>
                <a:latin typeface="Calibri"/>
              </a:rPr>
              <a:t>/s/  /i/  /t/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49011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8B4E"/>
                </a:solidFill>
                <a:latin typeface="Calibr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0" y="4745736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4828032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B4E"/>
                </a:solidFill>
                <a:latin typeface="Arial Black"/>
              </a:rPr>
              <a:t>SIT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99846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08960" y="598932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Slide your finger under the letters, then sweep it fast.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🛒 Word Builder — The Last Three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190895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Breakfast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22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A008"/>
                </a:solidFill>
                <a:latin typeface="Calibri"/>
              </a:rPr>
              <a:t>Three left. Then the shelf is full!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29968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6402F"/>
                </a:solidFill>
                <a:latin typeface="Arial Black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6402F"/>
                </a:solidFill>
                <a:latin typeface="Arial Black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6402F"/>
                </a:solidFill>
                <a:latin typeface="Arial Black"/>
              </a:rP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1579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8894"/>
                </a:solidFill>
                <a:latin typeface="Calibri"/>
              </a:rPr>
              <a:t>/k/  /a/  /n/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121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6402F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1965960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048256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6402F"/>
                </a:solidFill>
                <a:latin typeface="Arial Black"/>
              </a:rPr>
              <a:t>CAN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127248"/>
            <a:ext cx="11292840" cy="1225296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419856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857A"/>
                </a:solidFill>
                <a:latin typeface="Arial Black"/>
              </a:rPr>
              <a:t>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324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857A"/>
                </a:solidFill>
                <a:latin typeface="Arial Black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857A"/>
                </a:solidFill>
                <a:latin typeface="Arial Black"/>
              </a:rPr>
              <a:t>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8894"/>
                </a:solidFill>
                <a:latin typeface="Calibri"/>
              </a:rPr>
              <a:t>/p/  /a/  /n/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5112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857A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3355848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3438144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857A"/>
                </a:solidFill>
                <a:latin typeface="Arial Black"/>
              </a:rPr>
              <a:t>PAN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517136"/>
            <a:ext cx="11292840" cy="1225296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80974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🗺️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2880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546A8"/>
                </a:solidFill>
                <a:latin typeface="Arial Black"/>
              </a:rPr>
              <a:t>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6324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6324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546A8"/>
                </a:solidFill>
                <a:latin typeface="Arial Black"/>
              </a:rPr>
              <a:t>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768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546A8"/>
                </a:solidFill>
                <a:latin typeface="Arial Black"/>
              </a:rPr>
              <a:t>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0" y="4937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8894"/>
                </a:solidFill>
                <a:latin typeface="Calibri"/>
              </a:rPr>
              <a:t>/m/  /a/  /p/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49011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546A8"/>
                </a:solidFill>
                <a:latin typeface="Calibr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0" y="4745736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4828032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546A8"/>
                </a:solidFill>
                <a:latin typeface="Arial Black"/>
              </a:rPr>
              <a:t>MAP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99846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08960" y="598932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These three all share the short A sound. Stretch the middle.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🔤 Game: Missing Letter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381390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Breakfast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23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857A"/>
                </a:solidFill>
                <a:latin typeface="Calibri"/>
              </a:rPr>
              <a:t>One letter fell off the label. Which one goes back?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1975104"/>
            <a:ext cx="457200" cy="457200"/>
          </a:xfrm>
          <a:prstGeom prst="ellipse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299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79776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723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22191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059935"/>
            <a:ext cx="457200" cy="457200"/>
          </a:xfrm>
          <a:prstGeom prst="ellipse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147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64608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102352"/>
            <a:ext cx="457200" cy="457200"/>
          </a:xfrm>
          <a:prstGeom prst="ellipse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1572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1901952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🛍️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1901952"/>
            <a:ext cx="2286000" cy="603504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197510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2430"/>
                </a:solidFill>
                <a:latin typeface="Arial Black"/>
              </a:rPr>
              <a:t>B _ 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0" y="1920240"/>
            <a:ext cx="20116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19933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857A"/>
                </a:solidFill>
                <a:latin typeface="Arial Black"/>
              </a:rPr>
              <a:t>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60" y="1920240"/>
            <a:ext cx="20116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19933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857A"/>
                </a:solidFill>
                <a:latin typeface="Arial Black"/>
              </a:rPr>
              <a:t>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1920240"/>
            <a:ext cx="20116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19933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857A"/>
                </a:solidFill>
                <a:latin typeface="Arial Black"/>
              </a:rPr>
              <a:t>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2944368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0" y="2944368"/>
            <a:ext cx="2286000" cy="603504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2430"/>
                </a:solidFill>
                <a:latin typeface="Arial Black"/>
              </a:rPr>
              <a:t>C _ 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0" y="2962656"/>
            <a:ext cx="20116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303580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857A"/>
                </a:solidFill>
                <a:latin typeface="Arial Black"/>
              </a:rPr>
              <a:t>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23760" y="2962656"/>
            <a:ext cx="20116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0" y="303580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857A"/>
                </a:solidFill>
                <a:latin typeface="Arial Black"/>
              </a:rPr>
              <a:t>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18320" y="2962656"/>
            <a:ext cx="20116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303580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857A"/>
                </a:solidFill>
                <a:latin typeface="Arial Black"/>
              </a:rPr>
              <a:t>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3986783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📦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86000" y="3986783"/>
            <a:ext cx="2286000" cy="603504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0" y="405993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2430"/>
                </a:solidFill>
                <a:latin typeface="Arial Black"/>
              </a:rPr>
              <a:t>B _ 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0" y="4005071"/>
            <a:ext cx="20116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0" y="4078223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857A"/>
                </a:solidFill>
                <a:latin typeface="Arial Black"/>
              </a:rPr>
              <a:t>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23760" y="4005071"/>
            <a:ext cx="20116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23760" y="4078223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857A"/>
                </a:solidFill>
                <a:latin typeface="Arial Black"/>
              </a:rPr>
              <a:t>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18320" y="4005071"/>
            <a:ext cx="20116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18320" y="4078223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857A"/>
                </a:solidFill>
                <a:latin typeface="Arial Black"/>
              </a:rPr>
              <a:t>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0" y="5029200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🍳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286000" y="5029200"/>
            <a:ext cx="2286000" cy="603504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86000" y="51023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2430"/>
                </a:solidFill>
                <a:latin typeface="Arial Black"/>
              </a:rPr>
              <a:t>P _ 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0" y="5047488"/>
            <a:ext cx="20116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0" y="5120640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857A"/>
                </a:solidFill>
                <a:latin typeface="Arial Black"/>
              </a:rPr>
              <a:t>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23760" y="5047488"/>
            <a:ext cx="20116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23760" y="5120640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857A"/>
                </a:solidFill>
                <a:latin typeface="Arial Black"/>
              </a:rPr>
              <a:t>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418320" y="5047488"/>
            <a:ext cx="20116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18320" y="5120640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857A"/>
                </a:solidFill>
                <a:latin typeface="Arial Black"/>
              </a:rPr>
              <a:t>O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Say the word out loud with each letter. Only one sounds right.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🧩 Game: Word Puzzle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571885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Breakfast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24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546A8"/>
                </a:solidFill>
                <a:latin typeface="Calibri"/>
              </a:rPr>
              <a:t>The letters got mixed up. Put them back in order.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1975104"/>
            <a:ext cx="457200" cy="457200"/>
          </a:xfrm>
          <a:prstGeom prst="ellipse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299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79776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723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22191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059935"/>
            <a:ext cx="457200" cy="457200"/>
          </a:xfrm>
          <a:prstGeom prst="ellipse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147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64608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102352"/>
            <a:ext cx="457200" cy="457200"/>
          </a:xfrm>
          <a:prstGeom prst="ellipse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1572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1901952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🛍️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1920240"/>
            <a:ext cx="1005840" cy="56692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1993392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546A8"/>
                </a:solidFill>
                <a:latin typeface="Arial Black"/>
              </a:rPr>
              <a:t>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1920240"/>
            <a:ext cx="1005840" cy="56692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1993392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546A8"/>
                </a:solidFill>
                <a:latin typeface="Arial Black"/>
              </a:rPr>
              <a:t>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1920240"/>
            <a:ext cx="1005840" cy="56692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1993392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546A8"/>
                </a:solidFill>
                <a:latin typeface="Arial Black"/>
              </a:rP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201168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894"/>
                </a:solidFill>
                <a:latin typeface="Calibr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1920240"/>
            <a:ext cx="47548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2011680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8894"/>
                </a:solidFill>
                <a:latin typeface="Calibri"/>
              </a:rPr>
              <a:t>your word:  ____________________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2944368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86000" y="2962656"/>
            <a:ext cx="1005840" cy="56692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3035808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546A8"/>
                </a:solidFill>
                <a:latin typeface="Arial Black"/>
              </a:rPr>
              <a:t>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2962656"/>
            <a:ext cx="1005840" cy="56692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3035808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546A8"/>
                </a:solidFill>
                <a:latin typeface="Arial Black"/>
              </a:rPr>
              <a:t>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0" y="2962656"/>
            <a:ext cx="1005840" cy="56692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35808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546A8"/>
                </a:solidFill>
                <a:latin typeface="Arial Black"/>
              </a:rPr>
              <a:t>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3054096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894"/>
                </a:solidFill>
                <a:latin typeface="Calibri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2962656"/>
            <a:ext cx="47548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03720" y="3054096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8894"/>
                </a:solidFill>
                <a:latin typeface="Calibri"/>
              </a:rPr>
              <a:t>your word:  ____________________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3986783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🍯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86000" y="4005071"/>
            <a:ext cx="1005840" cy="56692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86000" y="4078223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546A8"/>
                </a:solidFill>
                <a:latin typeface="Arial Black"/>
              </a:rPr>
              <a:t>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29000" y="4005071"/>
            <a:ext cx="1005840" cy="56692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29000" y="4078223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546A8"/>
                </a:solidFill>
                <a:latin typeface="Arial Black"/>
              </a:rPr>
              <a:t>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0" y="4005071"/>
            <a:ext cx="1005840" cy="56692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0" y="4078223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546A8"/>
                </a:solidFill>
                <a:latin typeface="Arial Black"/>
              </a:rPr>
              <a:t>J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409651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894"/>
                </a:solidFill>
                <a:latin typeface="Calibr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75120" y="4005071"/>
            <a:ext cx="47548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03720" y="4096511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8894"/>
                </a:solidFill>
                <a:latin typeface="Calibri"/>
              </a:rPr>
              <a:t>your word:  ____________________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" y="5029200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🥤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86000" y="5047488"/>
            <a:ext cx="1005840" cy="56692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86000" y="5120640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546A8"/>
                </a:solidFill>
                <a:latin typeface="Arial Black"/>
              </a:rPr>
              <a:t>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429000" y="5047488"/>
            <a:ext cx="1005840" cy="56692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29000" y="5120640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546A8"/>
                </a:solidFill>
                <a:latin typeface="Arial Black"/>
              </a:rPr>
              <a:t>U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0" y="5047488"/>
            <a:ext cx="1005840" cy="56692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0" y="5120640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546A8"/>
                </a:solidFill>
                <a:latin typeface="Arial Black"/>
              </a:rPr>
              <a:t>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513892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894"/>
                </a:solidFill>
                <a:latin typeface="Calibri"/>
              </a:rPr>
              <a:t>→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675120" y="5047488"/>
            <a:ext cx="47548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03720" y="5138928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8894"/>
                </a:solidFill>
                <a:latin typeface="Calibri"/>
              </a:rPr>
              <a:t>your word:  ____________________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Find the vowel first. It almost always sits in the middle.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📖 No Letter Cards — Just Read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762380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Breakfast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25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B4E"/>
                </a:solidFill>
                <a:latin typeface="Calibri"/>
              </a:rPr>
              <a:t>This time there are no letter cards. You can do it!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783080"/>
            <a:ext cx="3520440" cy="1874519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9476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🛍️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26974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28072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8B4E"/>
                </a:solidFill>
                <a:latin typeface="Arial Black"/>
              </a:rPr>
              <a:t>BAG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1783080"/>
            <a:ext cx="3520440" cy="1874519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19476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59" y="26974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59" y="28072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8B4E"/>
                </a:solidFill>
                <a:latin typeface="Arial Black"/>
              </a:rPr>
              <a:t>JAM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1783080"/>
            <a:ext cx="3520440" cy="1874519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9" y="19476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799" y="26974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799" y="28072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8B4E"/>
                </a:solidFill>
                <a:latin typeface="Arial Black"/>
              </a:rPr>
              <a:t>BOX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840480"/>
            <a:ext cx="3520440" cy="1874519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0050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47548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48646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8B4E"/>
                </a:solidFill>
                <a:latin typeface="Arial Black"/>
              </a:rPr>
              <a:t>CUP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79" y="3840480"/>
            <a:ext cx="3520440" cy="1874519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79" y="40050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🥫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59" y="47548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59" y="48646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8B4E"/>
                </a:solidFill>
                <a:latin typeface="Arial Black"/>
              </a:rPr>
              <a:t>CAN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19" y="3840480"/>
            <a:ext cx="3520440" cy="1874519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40050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🗺️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799" y="47548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799" y="48646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8B4E"/>
                </a:solidFill>
                <a:latin typeface="Arial Black"/>
              </a:rPr>
              <a:t>MAP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If she stalls, put your finger under the first letter. Say nothing.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AISLE 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🥣 Breakfast Aisle 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952876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Breakfast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26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B4E"/>
                </a:solidFill>
                <a:latin typeface="Calibri"/>
              </a:rPr>
              <a:t>You built nine whole words from single letters.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846320" cy="402336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C3742"/>
                </a:solidFill>
                <a:latin typeface="Calibri"/>
              </a:rPr>
              <a:t>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8B4E"/>
                </a:solidFill>
                <a:latin typeface="Georgia"/>
              </a:rPr>
              <a:t>POINT 3 EARNED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C8894"/>
                </a:solidFill>
                <a:latin typeface="Calibri"/>
              </a:rPr>
              <a:t>⭐ shopping point earned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737360"/>
            <a:ext cx="6126480" cy="877824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97880" y="19202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1975104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9568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bag · jam · ham · box · cup · sit.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2761488"/>
            <a:ext cx="6126480" cy="877824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97880" y="294436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29992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98094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can · pan · map as well.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3785616"/>
            <a:ext cx="6126480" cy="877824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97880" y="39684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402336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0050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You put missing letters back in place.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4809744"/>
            <a:ext cx="6126480" cy="877824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97880" y="499262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80" y="5047488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And you read six words with no letter cards.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DF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A008"/>
                </a:solidFill>
                <a:latin typeface="Calibri"/>
              </a:rPr>
              <a:t>➡️ NEXT AISLE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Bakery — words that rhyme and belong to the same family.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97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A97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🍞 Bakery Word Families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143371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Bakery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27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9702F"/>
                </a:solidFill>
                <a:latin typeface="Calibri"/>
              </a:rPr>
              <a:t>Same ending sound = same word family.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783080"/>
            <a:ext cx="2651760" cy="3566160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2011680"/>
            <a:ext cx="1737360" cy="731520"/>
          </a:xfrm>
          <a:prstGeom prst="round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13055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-AT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2971800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04495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6402F"/>
                </a:solidFill>
                <a:latin typeface="Calibri"/>
              </a:rPr>
              <a:t>cat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630168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70332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6402F"/>
                </a:solidFill>
                <a:latin typeface="Calibri"/>
              </a:rPr>
              <a:t>hat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288536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6168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6402F"/>
                </a:solidFill>
                <a:latin typeface="Calibri"/>
              </a:rPr>
              <a:t>bat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01568" y="1783080"/>
            <a:ext cx="2651760" cy="356616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58768" y="2011680"/>
            <a:ext cx="1737360" cy="731520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58768" y="213055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-AN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13048" y="2971800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3048" y="304495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B4E"/>
                </a:solidFill>
                <a:latin typeface="Calibri"/>
              </a:rPr>
              <a:t>can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3048" y="3630168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13048" y="370332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B4E"/>
                </a:solidFill>
                <a:latin typeface="Calibri"/>
              </a:rPr>
              <a:t>man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3048" y="4288536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3048" y="436168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B4E"/>
                </a:solidFill>
                <a:latin typeface="Calibri"/>
              </a:rPr>
              <a:t>pan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54496" y="1783080"/>
            <a:ext cx="2651760" cy="3566160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711696" y="2011680"/>
            <a:ext cx="1737360" cy="731520"/>
          </a:xfrm>
          <a:prstGeom prst="roundRect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213055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-OP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65976" y="2971800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65976" y="304495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7BB8"/>
                </a:solidFill>
                <a:latin typeface="Calibri"/>
              </a:rPr>
              <a:t>hop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65976" y="3630168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65976" y="370332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7BB8"/>
                </a:solidFill>
                <a:latin typeface="Calibri"/>
              </a:rPr>
              <a:t>top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65976" y="4288536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65976" y="436168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7BB8"/>
                </a:solidFill>
                <a:latin typeface="Calibri"/>
              </a:rPr>
              <a:t>mop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07424" y="1783080"/>
            <a:ext cx="2651760" cy="356616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564624" y="2011680"/>
            <a:ext cx="1737360" cy="731520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64624" y="213055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-IG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18904" y="2971800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18904" y="304495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546A8"/>
                </a:solidFill>
                <a:latin typeface="Calibri"/>
              </a:rPr>
              <a:t>big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18904" y="3630168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18904" y="370332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546A8"/>
                </a:solidFill>
                <a:latin typeface="Calibri"/>
              </a:rPr>
              <a:t>pig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18904" y="4288536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18904" y="436168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546A8"/>
                </a:solidFill>
                <a:latin typeface="Calibri"/>
              </a:rPr>
              <a:t>dig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Read down each column. The ending never changes — only the first sound does.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97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A97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🍞 Game: Bakery Word Family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333866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Bakery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28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9702F"/>
                </a:solidFill>
                <a:latin typeface="Calibri"/>
              </a:rPr>
              <a:t>Three of these four belong. Which one does not?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A97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A97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2860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2377440"/>
            <a:ext cx="1737360" cy="640080"/>
          </a:xfrm>
          <a:prstGeom prst="round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24780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-AT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2331720"/>
            <a:ext cx="1691640" cy="731520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430"/>
                </a:solidFill>
                <a:latin typeface="Arial Black"/>
              </a:rPr>
              <a:t>CAT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2331720"/>
            <a:ext cx="1691640" cy="731520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430"/>
                </a:solidFill>
                <a:latin typeface="Arial Black"/>
              </a:rPr>
              <a:t>CAN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2331720"/>
            <a:ext cx="1691640" cy="731520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430"/>
                </a:solidFill>
                <a:latin typeface="Arial Black"/>
              </a:rPr>
              <a:t>HAT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60" y="2331720"/>
            <a:ext cx="1691640" cy="731520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430"/>
                </a:solidFill>
                <a:latin typeface="Arial Black"/>
              </a:rPr>
              <a:t>BIG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312724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8894"/>
                </a:solidFill>
                <a:latin typeface="Calibri"/>
              </a:rPr>
              <a:t>Read all four out loud, then cross out the one that does not belong.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2519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🍞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0" y="4343400"/>
            <a:ext cx="1737360" cy="640080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444398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-AN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60" y="4297680"/>
            <a:ext cx="1691640" cy="73152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430"/>
                </a:solidFill>
                <a:latin typeface="Arial Black"/>
              </a:rPr>
              <a:t>CAN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0760" y="4297680"/>
            <a:ext cx="1691640" cy="73152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430"/>
                </a:solidFill>
                <a:latin typeface="Arial Black"/>
              </a:rPr>
              <a:t>MAN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297680"/>
            <a:ext cx="1691640" cy="73152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430"/>
                </a:solidFill>
                <a:latin typeface="Arial Black"/>
              </a:rPr>
              <a:t>HOP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60" y="4297680"/>
            <a:ext cx="1691640" cy="73152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430"/>
                </a:solidFill>
                <a:latin typeface="Arial Black"/>
              </a:rPr>
              <a:t>PAN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509320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8894"/>
                </a:solidFill>
                <a:latin typeface="Calibri"/>
              </a:rPr>
              <a:t>Read all four out loud, then cross out the one that does not belong.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Cover the first letter. Now only the ending is showing.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97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A97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🍞 Bakery Word Family — Rounds 3 and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524361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Bakery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29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9702F"/>
                </a:solidFill>
                <a:latin typeface="Calibri"/>
              </a:rPr>
              <a:t>Two more families. Read every word out loud first.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A97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A97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2860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2377440"/>
            <a:ext cx="1737360" cy="640080"/>
          </a:xfrm>
          <a:prstGeom prst="roundRect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24780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-OP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2331720"/>
            <a:ext cx="1691640" cy="731520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430"/>
                </a:solidFill>
                <a:latin typeface="Arial Black"/>
              </a:rPr>
              <a:t>HOP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2331720"/>
            <a:ext cx="1691640" cy="731520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430"/>
                </a:solidFill>
                <a:latin typeface="Arial Black"/>
              </a:rPr>
              <a:t>TOP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2331720"/>
            <a:ext cx="1691640" cy="731520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430"/>
                </a:solidFill>
                <a:latin typeface="Arial Black"/>
              </a:rPr>
              <a:t>BAG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60" y="2331720"/>
            <a:ext cx="1691640" cy="731520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430"/>
                </a:solidFill>
                <a:latin typeface="Arial Black"/>
              </a:rPr>
              <a:t>MOP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312724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8894"/>
                </a:solidFill>
                <a:latin typeface="Calibri"/>
              </a:rPr>
              <a:t>Read all four out loud, then cross out the one that does not belong.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2519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🍞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0" y="4343400"/>
            <a:ext cx="1737360" cy="640080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444398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-IG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60" y="4297680"/>
            <a:ext cx="1691640" cy="73152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430"/>
                </a:solidFill>
                <a:latin typeface="Arial Black"/>
              </a:rPr>
              <a:t>BIG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0760" y="4297680"/>
            <a:ext cx="1691640" cy="73152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430"/>
                </a:solidFill>
                <a:latin typeface="Arial Black"/>
              </a:rPr>
              <a:t>PIG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297680"/>
            <a:ext cx="1691640" cy="73152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430"/>
                </a:solidFill>
                <a:latin typeface="Arial Black"/>
              </a:rPr>
              <a:t>DIG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60" y="4297680"/>
            <a:ext cx="1691640" cy="73152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430"/>
                </a:solidFill>
                <a:latin typeface="Arial Black"/>
              </a:rPr>
              <a:t>HAT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509320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8894"/>
                </a:solidFill>
                <a:latin typeface="Calibri"/>
              </a:rPr>
              <a:t>Read all four out loud, then cross out the one that does not belong.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Read the family ending out loud before each round: -op, -ig.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🥖 Bake a Brand New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714857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Bakery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30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A008"/>
                </a:solidFill>
                <a:latin typeface="Calibri"/>
              </a:rPr>
              <a:t>Add one letter to the front. What word comes out?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93268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1920240"/>
            <a:ext cx="118872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99339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6402F"/>
                </a:solidFill>
                <a:latin typeface="Arial Black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1920240"/>
            <a:ext cx="15544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199339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6402F"/>
                </a:solidFill>
                <a:latin typeface="Arial Black"/>
              </a:rPr>
              <a:t>-AT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19751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6402F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1920240"/>
            <a:ext cx="237744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19933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6402F"/>
                </a:solidFill>
                <a:latin typeface="Arial Black"/>
              </a:rPr>
              <a:t>BAT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1938528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02996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8894"/>
                </a:solidFill>
                <a:latin typeface="Calibri"/>
              </a:rPr>
              <a:t>read it · then use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779776"/>
            <a:ext cx="11292840" cy="93268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2962656"/>
            <a:ext cx="118872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03580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8B4E"/>
                </a:solidFill>
                <a:latin typeface="Arial Black"/>
              </a:rPr>
              <a:t>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305409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2962656"/>
            <a:ext cx="15544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30358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8B4E"/>
                </a:solidFill>
                <a:latin typeface="Arial Black"/>
              </a:rPr>
              <a:t>-AN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B4E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0" y="2962656"/>
            <a:ext cx="237744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30358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8B4E"/>
                </a:solidFill>
                <a:latin typeface="Arial Black"/>
              </a:rPr>
              <a:t>VAN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980944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3072384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8894"/>
                </a:solidFill>
                <a:latin typeface="Calibri"/>
              </a:rPr>
              <a:t>read it · then use 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822191"/>
            <a:ext cx="11292840" cy="932688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4400" y="4005071"/>
            <a:ext cx="118872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078223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7BB8"/>
                </a:solidFill>
                <a:latin typeface="Arial Black"/>
              </a:rPr>
              <a:t>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4096511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97480" y="4005071"/>
            <a:ext cx="15544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97480" y="4078223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7BB8"/>
                </a:solidFill>
                <a:latin typeface="Arial Black"/>
              </a:rPr>
              <a:t>-OP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4059935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Calibri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20640" y="4005071"/>
            <a:ext cx="237744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0640" y="4078223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7BB8"/>
                </a:solidFill>
                <a:latin typeface="Arial Black"/>
              </a:rPr>
              <a:t>MOP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023359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4114799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8894"/>
                </a:solidFill>
                <a:latin typeface="Calibri"/>
              </a:rPr>
              <a:t>read it · then use it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864608"/>
            <a:ext cx="11292840" cy="93268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14400" y="5047488"/>
            <a:ext cx="118872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1206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8546A8"/>
                </a:solidFill>
                <a:latin typeface="Arial Black"/>
              </a:rPr>
              <a:t>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4560" y="51389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8894"/>
                </a:solidFill>
                <a:latin typeface="Calibri"/>
              </a:rPr>
              <a:t>+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97480" y="5047488"/>
            <a:ext cx="15544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97480" y="5120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546A8"/>
                </a:solidFill>
                <a:latin typeface="Arial Black"/>
              </a:rPr>
              <a:t>-IG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51023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546A8"/>
                </a:solidFill>
                <a:latin typeface="Calibr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120640" y="5047488"/>
            <a:ext cx="237744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0" y="5120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8546A8"/>
                </a:solidFill>
                <a:latin typeface="Arial Black"/>
              </a:rPr>
              <a:t>PIG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5065776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C3742"/>
                </a:solidFill>
                <a:latin typeface="Calibri"/>
              </a:rPr>
              <a:t>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0" y="515721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8894"/>
                </a:solidFill>
                <a:latin typeface="Calibri"/>
              </a:rPr>
              <a:t>read it · then use it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She does not need to know the word first. Blending will find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44–49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🧠 Brain Break — Shopping Freeze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905352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Bakery  |  44–49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31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857A"/>
                </a:solidFill>
                <a:latin typeface="Calibri"/>
              </a:rPr>
              <a:t>Stay by your chair. Act out whatever I call.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937760" cy="402336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2C3742"/>
                </a:solidFill>
                <a:latin typeface="Calibri"/>
              </a:rPr>
              <a:t>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857A"/>
                </a:solidFill>
                <a:latin typeface="Georgia"/>
              </a:rPr>
              <a:t>5 MINUTES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8894"/>
                </a:solidFill>
                <a:latin typeface="Calibri"/>
              </a:rPr>
              <a:t>then straight back to the words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1737360"/>
            <a:ext cx="6035040" cy="877824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89320" y="19202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1975104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95681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Stay beside your chair the whole time.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2761488"/>
            <a:ext cx="6035040" cy="877824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89320" y="294436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29992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98094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"Freeze!" means stop completely.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3785616"/>
            <a:ext cx="6035040" cy="877824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89320" y="39684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4023360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0050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Some calls are reading calls too.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4809744"/>
            <a:ext cx="6035040" cy="877824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89320" y="499262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5047488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029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The last two rounds, you call and I act.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Letting her call the commands is the part that resets her focus.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44–49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🧊 Shopping Freeze — Six 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095847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Bakery  |  44–49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32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857A"/>
                </a:solidFill>
                <a:latin typeface="Calibri"/>
              </a:rPr>
              <a:t>Listen for the call. Then act it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3566160" cy="192024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019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5786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857A"/>
                </a:solidFill>
                <a:latin typeface="Georgia"/>
              </a:rPr>
              <a:t>Apple!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0723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Pretend to pick an apple.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737360"/>
            <a:ext cx="3566160" cy="192024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19019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5786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857A"/>
                </a:solidFill>
                <a:latin typeface="Georgia"/>
              </a:rPr>
              <a:t>Banana!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0723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Pretend to peel a banana.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737360"/>
            <a:ext cx="3566160" cy="192024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9019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5786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857A"/>
                </a:solidFill>
                <a:latin typeface="Georgia"/>
              </a:rPr>
              <a:t>Cart!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0723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Pretend to push the cart.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840479"/>
            <a:ext cx="3566160" cy="192024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0507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681727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857A"/>
                </a:solidFill>
                <a:latin typeface="Georgia"/>
              </a:rPr>
              <a:t>Freeze!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75503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Stop and hold completely still.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3840479"/>
            <a:ext cx="3566160" cy="192024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400507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681727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857A"/>
                </a:solidFill>
                <a:latin typeface="Georgia"/>
              </a:rPr>
              <a:t>Point to APPLE!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5175503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Point at the written word.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840479"/>
            <a:ext cx="3566160" cy="1920240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400507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4681727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857A"/>
                </a:solidFill>
                <a:latin typeface="Georgia"/>
              </a:rPr>
              <a:t>Read BAG!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175503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742"/>
                </a:solidFill>
                <a:latin typeface="Calibri"/>
              </a:rPr>
              <a:t>Read the word out loud.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Mix the order. The two reading calls keep the break on task.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🛒 Sight Words — Group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286342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Shopping Cart  |  49–59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33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546A8"/>
                </a:solidFill>
                <a:latin typeface="Calibri"/>
              </a:rPr>
              <a:t>These three words we do NOT sound out. We just know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783080"/>
            <a:ext cx="3474720" cy="356616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3000" y="2057400"/>
            <a:ext cx="2468880" cy="1097280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258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 Black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742"/>
                </a:solidFill>
                <a:latin typeface="Calibri"/>
              </a:rPr>
              <a:t>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06240"/>
            <a:ext cx="29260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8546A8"/>
                </a:solidFill>
                <a:latin typeface="Calibri"/>
              </a:rPr>
              <a:t>I can shop.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1783080"/>
            <a:ext cx="3474720" cy="356616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92040" y="2057400"/>
            <a:ext cx="2468880" cy="1097280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258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 Black"/>
              </a:rPr>
              <a:t>see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742"/>
                </a:solidFill>
                <a:latin typeface="Calibri"/>
              </a:rPr>
              <a:t>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4206240"/>
            <a:ext cx="29260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370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8546A8"/>
                </a:solidFill>
                <a:latin typeface="Calibri"/>
              </a:rPr>
              <a:t>I see a bag.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1783080"/>
            <a:ext cx="3474720" cy="356616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41079" y="2057400"/>
            <a:ext cx="2468880" cy="1097280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79" y="2258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79" y="4206240"/>
            <a:ext cx="29260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9" y="4370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8546A8"/>
                </a:solidFill>
                <a:latin typeface="Calibri"/>
              </a:rPr>
              <a:t>a red apple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Say the word, she repeats, then she finds it in the phrase below.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🛒 Sight Words — Group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476837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Shopping Cart  |  49–59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34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546A8"/>
                </a:solidFill>
                <a:latin typeface="Calibri"/>
              </a:rPr>
              <a:t>Three more. Only three at a time — never a long list.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783080"/>
            <a:ext cx="3474720" cy="356616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3000" y="2057400"/>
            <a:ext cx="2468880" cy="1097280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258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 Black"/>
              </a:rPr>
              <a:t>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742"/>
                </a:solidFill>
                <a:latin typeface="Calibri"/>
              </a:rPr>
              <a:t>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06240"/>
            <a:ext cx="29260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8546A8"/>
                </a:solidFill>
                <a:latin typeface="Calibri"/>
              </a:rPr>
              <a:t>the big box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1783080"/>
            <a:ext cx="3474720" cy="356616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92040" y="2057400"/>
            <a:ext cx="2468880" cy="1097280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258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 Black"/>
              </a:rPr>
              <a:t>my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742"/>
                </a:solidFill>
                <a:latin typeface="Calibri"/>
              </a:rPr>
              <a:t>🛍️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4206240"/>
            <a:ext cx="29260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370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8546A8"/>
                </a:solidFill>
                <a:latin typeface="Calibri"/>
              </a:rPr>
              <a:t>my bag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1783080"/>
            <a:ext cx="3474720" cy="356616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41079" y="2057400"/>
            <a:ext cx="2468880" cy="1097280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79" y="2258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 Black"/>
              </a:rPr>
              <a:t>can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742"/>
                </a:solidFill>
                <a:latin typeface="Calibri"/>
              </a:rPr>
              <a:t>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79" y="4206240"/>
            <a:ext cx="29260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9" y="4370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8546A8"/>
                </a:solidFill>
                <a:latin typeface="Calibri"/>
              </a:rPr>
              <a:t>I can read.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Go back to Group 1 for ten seconds before you start Group 2.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🛒 Game: Fill the Shopping Cart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667333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Shopping Cart  |  49–59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35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546A8"/>
                </a:solidFill>
                <a:latin typeface="Calibri"/>
              </a:rPr>
              <a:t>Read the word to put one item in the cart.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984248"/>
            <a:ext cx="475488" cy="475488"/>
          </a:xfrm>
          <a:prstGeom prst="ellipse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03911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02996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8894"/>
                </a:solidFill>
                <a:latin typeface="Calibri"/>
              </a:rPr>
              <a:t>READ: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1965960"/>
            <a:ext cx="1737360" cy="530352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204825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1911096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202082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002536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79" y="1911096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22007" y="202082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59" y="2002536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1911096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202082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002536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see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807208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3232" y="3008376"/>
            <a:ext cx="475488" cy="475488"/>
          </a:xfrm>
          <a:prstGeom prst="ellipse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306324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05409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8894"/>
                </a:solidFill>
                <a:latin typeface="Calibri"/>
              </a:rPr>
              <a:t>READ: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31720" y="2990088"/>
            <a:ext cx="1737360" cy="530352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31720" y="307238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see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2935224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4568" y="30449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302666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see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12279" y="2935224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22007" y="30449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59" y="302666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the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89720" y="2935224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99448" y="30449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302666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my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831336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3232" y="4032504"/>
            <a:ext cx="475488" cy="475488"/>
          </a:xfrm>
          <a:prstGeom prst="ellipse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408736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4078224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8894"/>
                </a:solidFill>
                <a:latin typeface="Calibri"/>
              </a:rPr>
              <a:t>READ: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331720" y="4014216"/>
            <a:ext cx="1737360" cy="530352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31720" y="40965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34840" y="3959352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44568" y="406908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74920" y="405079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can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12279" y="3959352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22007" y="406908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52359" y="405079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89720" y="3959352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99448" y="406908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9800" y="405079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I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4855464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13232" y="5056632"/>
            <a:ext cx="475488" cy="475488"/>
          </a:xfrm>
          <a:prstGeom prst="ellipse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" y="5111496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1600" y="5102352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8894"/>
                </a:solidFill>
                <a:latin typeface="Calibri"/>
              </a:rPr>
              <a:t>READ: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331720" y="5038344"/>
            <a:ext cx="1737360" cy="530352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31720" y="51206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the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434840" y="4983480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44568" y="50932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74920" y="50749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my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12279" y="4983480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22007" y="50932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52359" y="50749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the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89720" y="4983480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99448" y="50932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29800" y="50749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see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Read all three carts out loud. Listening beats looking.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🛒 Fill the Cart — Items 5 to 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857828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Shopping Cart  |  49–59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36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546A8"/>
                </a:solidFill>
                <a:latin typeface="Calibri"/>
              </a:rPr>
              <a:t>Four more items and the cart is full.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984248"/>
            <a:ext cx="475488" cy="475488"/>
          </a:xfrm>
          <a:prstGeom prst="ellipse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03911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02996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8894"/>
                </a:solidFill>
                <a:latin typeface="Calibri"/>
              </a:rPr>
              <a:t>READ: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1965960"/>
            <a:ext cx="1737360" cy="530352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204825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my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1911096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202082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002536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my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79" y="1911096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22007" y="202082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59" y="2002536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can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1911096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202082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002536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807208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3232" y="3008376"/>
            <a:ext cx="475488" cy="475488"/>
          </a:xfrm>
          <a:prstGeom prst="ellipse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306324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05409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8894"/>
                </a:solidFill>
                <a:latin typeface="Calibri"/>
              </a:rPr>
              <a:t>READ: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31720" y="2990088"/>
            <a:ext cx="1737360" cy="530352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31720" y="307238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can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2935224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4568" y="30449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302666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12279" y="2935224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22007" y="30449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59" y="302666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can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89720" y="2935224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99448" y="30449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302666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the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831336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3232" y="4032504"/>
            <a:ext cx="475488" cy="475488"/>
          </a:xfrm>
          <a:prstGeom prst="ellipse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408736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4078224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8894"/>
                </a:solidFill>
                <a:latin typeface="Calibri"/>
              </a:rPr>
              <a:t>READ: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331720" y="4014216"/>
            <a:ext cx="1737360" cy="530352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31720" y="40965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is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34840" y="3959352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44568" y="406908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74920" y="405079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see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12279" y="3959352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22007" y="406908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52359" y="405079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is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89720" y="3959352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99448" y="406908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9800" y="405079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my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4855464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13232" y="5056632"/>
            <a:ext cx="475488" cy="475488"/>
          </a:xfrm>
          <a:prstGeom prst="ellipse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" y="5111496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1600" y="5102352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8894"/>
                </a:solidFill>
                <a:latin typeface="Calibri"/>
              </a:rPr>
              <a:t>READ: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331720" y="5038344"/>
            <a:ext cx="1737360" cy="530352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31720" y="51206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in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434840" y="4983480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44568" y="50932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74920" y="50749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in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12279" y="4983480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22007" y="50932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52359" y="50749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a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89720" y="4983480"/>
            <a:ext cx="2194560" cy="64008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99448" y="50932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29800" y="50749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430"/>
                </a:solidFill>
                <a:latin typeface="Arial Black"/>
              </a:rPr>
              <a:t>can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Seen this word already today? Say so. Repetition is the point.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🔗 Two and Three Words Together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048323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Shopping Cart  |  49–59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37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546A8"/>
                </a:solidFill>
                <a:latin typeface="Calibri"/>
              </a:rPr>
              <a:t>Not a whole sentence yet. Just a few words joined 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18872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574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075688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  <a:latin typeface="Calibri"/>
              </a:rPr>
              <a:t>a red apple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83080"/>
            <a:ext cx="5440680" cy="118872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0574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🛍️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075688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  <a:latin typeface="Calibri"/>
              </a:rPr>
              <a:t>my big bag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54680"/>
            <a:ext cx="5440680" cy="118872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290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447288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  <a:latin typeface="Calibri"/>
              </a:rPr>
              <a:t>the cold milk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54680"/>
            <a:ext cx="5440680" cy="118872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4290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447288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  <a:latin typeface="Calibri"/>
              </a:rPr>
              <a:t>in the cart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26280"/>
            <a:ext cx="5440680" cy="118872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006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818888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  <a:latin typeface="Calibri"/>
              </a:rPr>
              <a:t>a box of eggs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526280"/>
            <a:ext cx="5440680" cy="118872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8006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742"/>
                </a:solidFill>
                <a:latin typeface="Calibri"/>
              </a:rPr>
              <a:t>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4818888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  <a:latin typeface="Calibri"/>
              </a:rPr>
              <a:t>I can shop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089903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6080759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Sweep your finger under the whole phrase so it sounds like talking.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59–68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📕 How We Read Every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238818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Shopping Cart  |  59–68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38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A008"/>
                </a:solidFill>
                <a:latin typeface="Calibri"/>
              </a:rPr>
              <a:t>Three steps, every single time. You are never first.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783080"/>
            <a:ext cx="3566160" cy="361188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1783080"/>
            <a:ext cx="3566160" cy="658368"/>
          </a:xfrm>
          <a:prstGeom prst="round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9019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6974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6402F"/>
                </a:solidFill>
                <a:latin typeface="Georgia"/>
              </a:rPr>
              <a:t>I 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118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742"/>
                </a:solidFill>
                <a:latin typeface="Calibri"/>
              </a:rPr>
              <a:t>Teacher reads it first.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526280"/>
            <a:ext cx="24688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626864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6402F"/>
                </a:solidFill>
                <a:latin typeface="Calibri"/>
              </a:rPr>
              <a:t>👩‍🏫  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783080"/>
            <a:ext cx="3566160" cy="361188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97680" y="1783080"/>
            <a:ext cx="3566160" cy="658368"/>
          </a:xfrm>
          <a:prstGeom prst="round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19019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6974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2A008"/>
                </a:solidFill>
                <a:latin typeface="Georgia"/>
              </a:rPr>
              <a:t>We read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6118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742"/>
                </a:solidFill>
                <a:latin typeface="Calibri"/>
              </a:rPr>
              <a:t>Teacher and child together.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4526280"/>
            <a:ext cx="24688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626864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2A008"/>
                </a:solidFill>
                <a:latin typeface="Calibri"/>
              </a:rPr>
              <a:t>👩‍🏫🙋  both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1783080"/>
            <a:ext cx="3566160" cy="361188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92440" y="1783080"/>
            <a:ext cx="3566160" cy="65836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19019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26974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E8B4E"/>
                </a:solidFill>
                <a:latin typeface="Georgia"/>
              </a:rPr>
              <a:t>You read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6118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742"/>
                </a:solidFill>
                <a:latin typeface="Calibri"/>
              </a:rPr>
              <a:t>Child reads it alone — if ready.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1080" y="4526280"/>
            <a:ext cx="24688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80" y="4626864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8B4E"/>
                </a:solidFill>
                <a:latin typeface="Calibri"/>
              </a:rPr>
              <a:t>🙋  you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Only move to step 3 when step 2 sounded smooth. No rush.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59–68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📕 Sentence Shopping — First Two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429314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Shopping Cart  |  59–68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39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546A8"/>
                </a:solidFill>
                <a:latin typeface="Calibri"/>
              </a:rPr>
              <a:t>A whole sentence now. I read it first.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313432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331719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2430"/>
                </a:solidFill>
                <a:latin typeface="Calibri"/>
              </a:rPr>
              <a:t>I see an apple.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441447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6402F"/>
                </a:solidFill>
                <a:latin typeface="Calibri"/>
              </a:rPr>
              <a:t>I · WE ·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79392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742"/>
                </a:solidFill>
                <a:latin typeface="Calibri"/>
              </a:rPr>
              <a:t>🛍️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297679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2430"/>
                </a:solidFill>
                <a:latin typeface="Calibri"/>
              </a:rPr>
              <a:t>The bag is big.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4407407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546A8"/>
                </a:solidFill>
                <a:latin typeface="Calibri"/>
              </a:rPr>
              <a:t>I · WE · YOU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Point at each word as you read so her eyes follow left to right.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59–68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📕 Sentence Shopping — Three More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619809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Shopping Cart  |  59–68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40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546A8"/>
                </a:solidFill>
                <a:latin typeface="Calibri"/>
              </a:rPr>
              <a:t>Three more sentences. Read them like you are talking.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DF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96596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 i="0">
                <a:solidFill>
                  <a:srgbClr val="2C3742"/>
                </a:solidFill>
                <a:latin typeface="Calibri"/>
              </a:rP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1984248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2430"/>
                </a:solidFill>
                <a:latin typeface="Calibri"/>
              </a:rPr>
              <a:t>I have a red box.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093976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167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2A008"/>
                </a:solidFill>
                <a:latin typeface="Calibri"/>
              </a:rPr>
              <a:t>I · WE ·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33756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 i="0">
                <a:solidFill>
                  <a:srgbClr val="2C3742"/>
                </a:solidFill>
                <a:latin typeface="Calibri"/>
              </a:rPr>
              <a:t>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355848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2430"/>
                </a:solidFill>
                <a:latin typeface="Calibri"/>
              </a:rPr>
              <a:t>The milk is cold.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3465576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3538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7BB8"/>
                </a:solidFill>
                <a:latin typeface="Calibri"/>
              </a:rPr>
              <a:t>I · WE · YOU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70916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 i="0">
                <a:solidFill>
                  <a:srgbClr val="2C3742"/>
                </a:solidFill>
                <a:latin typeface="Calibri"/>
              </a:rPr>
              <a:t>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727448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2430"/>
                </a:solidFill>
                <a:latin typeface="Calibri"/>
              </a:rPr>
              <a:t>I can shop.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4837176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49103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8B4E"/>
                </a:solidFill>
                <a:latin typeface="Calibri"/>
              </a:rPr>
              <a:t>I · WE · YOU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A stuck word? Give only the first sound and wait five seconds.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59–68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🧩 Game: Build the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810304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Shopping Cart  |  59–68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41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A008"/>
                </a:solidFill>
                <a:latin typeface="Calibri"/>
              </a:rPr>
              <a:t>These word cards are mixed up. Put them in order.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28600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2084832"/>
            <a:ext cx="1783080" cy="65836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6402F"/>
                </a:solidFill>
                <a:latin typeface="Calibri"/>
              </a:rPr>
              <a:t>see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2084832"/>
            <a:ext cx="1783080" cy="65836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6402F"/>
                </a:solidFill>
                <a:latin typeface="Calibri"/>
              </a:rPr>
              <a:t>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084832"/>
            <a:ext cx="1783080" cy="65836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6402F"/>
                </a:solidFill>
                <a:latin typeface="Calibri"/>
              </a:rPr>
              <a:t>apple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084832"/>
            <a:ext cx="1783080" cy="65836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6402F"/>
                </a:solidFill>
                <a:latin typeface="Calibri"/>
              </a:rPr>
              <a:t>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2852928"/>
            <a:ext cx="9189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2962656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8894"/>
                </a:solidFill>
                <a:latin typeface="Calibri"/>
              </a:rPr>
              <a:t>Put them in order, then read it out loud:  ____________________________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25196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🛍️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4050792"/>
            <a:ext cx="1783080" cy="65836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546A8"/>
                </a:solidFill>
                <a:latin typeface="Calibri"/>
              </a:rPr>
              <a:t>big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4050792"/>
            <a:ext cx="1783080" cy="65836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546A8"/>
                </a:solidFill>
                <a:latin typeface="Calibri"/>
              </a:rPr>
              <a:t>bag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4050792"/>
            <a:ext cx="1783080" cy="65836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546A8"/>
                </a:solidFill>
                <a:latin typeface="Calibri"/>
              </a:rPr>
              <a:t>The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050792"/>
            <a:ext cx="1783080" cy="658368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546A8"/>
                </a:solidFill>
                <a:latin typeface="Calibri"/>
              </a:rPr>
              <a:t>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86000" y="4818888"/>
            <a:ext cx="9189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14600" y="4928616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8894"/>
                </a:solidFill>
                <a:latin typeface="Calibri"/>
              </a:rPr>
              <a:t>Put them in order, then read it out loud:  ____________________________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Find the capital letter. That word always goes first.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59–68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🧩 Build the Sentence — Rounds 3 and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000799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Shopping Cart  |  59–68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42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A008"/>
                </a:solidFill>
                <a:latin typeface="Calibri"/>
              </a:rPr>
              <a:t>Two more. Read it out loud after you fix the order.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28600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2084832"/>
            <a:ext cx="1783080" cy="658368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Calibri"/>
              </a:rPr>
              <a:t>milk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2084832"/>
            <a:ext cx="1783080" cy="658368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Calibri"/>
              </a:rPr>
              <a:t>The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084832"/>
            <a:ext cx="1783080" cy="658368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Calibri"/>
              </a:rPr>
              <a:t>cold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084832"/>
            <a:ext cx="1783080" cy="658368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7BB8"/>
                </a:solidFill>
                <a:latin typeface="Calibri"/>
              </a:rPr>
              <a:t>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2852928"/>
            <a:ext cx="9189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2962656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8894"/>
                </a:solidFill>
                <a:latin typeface="Calibri"/>
              </a:rPr>
              <a:t>Put them in order, then read it out loud:  ____________________________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25196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🏪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4050792"/>
            <a:ext cx="1783080" cy="65836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B4E"/>
                </a:solidFill>
                <a:latin typeface="Calibri"/>
              </a:rPr>
              <a:t>can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4050792"/>
            <a:ext cx="1783080" cy="65836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B4E"/>
                </a:solidFill>
                <a:latin typeface="Calibri"/>
              </a:rPr>
              <a:t>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4050792"/>
            <a:ext cx="1783080" cy="65836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B4E"/>
                </a:solidFill>
                <a:latin typeface="Calibri"/>
              </a:rPr>
              <a:t>shop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0" y="4818888"/>
            <a:ext cx="9189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14600" y="4928616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8894"/>
                </a:solidFill>
                <a:latin typeface="Calibri"/>
              </a:rPr>
              <a:t>Put them in order, then read it out loud:  ____________________________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Read her version back exactly as written. Silly is a clue.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59–68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🎯 Game: Correct or Silly?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191295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Shopping Cart  |  59–68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43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857A"/>
                </a:solidFill>
                <a:latin typeface="Calibri"/>
              </a:rPr>
              <a:t>Look at the picture. Which sentence is TRUE?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25296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057400"/>
            <a:ext cx="1097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742"/>
                </a:solidFill>
                <a:latin typeface="Calibri"/>
              </a:rPr>
              <a:t>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2057400"/>
            <a:ext cx="4480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2167128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430"/>
                </a:solidFill>
                <a:latin typeface="Calibri"/>
              </a:rPr>
              <a:t>I see a banana.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2057400"/>
            <a:ext cx="4480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2167128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430"/>
                </a:solidFill>
                <a:latin typeface="Calibri"/>
              </a:rPr>
              <a:t>I see a shoe.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72968"/>
            <a:ext cx="11292840" cy="1225296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447288"/>
            <a:ext cx="1097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742"/>
                </a:solidFill>
                <a:latin typeface="Calibri"/>
              </a:rPr>
              <a:t>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3447288"/>
            <a:ext cx="4480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3557016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430"/>
                </a:solidFill>
                <a:latin typeface="Calibri"/>
              </a:rPr>
              <a:t>The milk is hot.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3447288"/>
            <a:ext cx="4480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3557016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430"/>
                </a:solidFill>
                <a:latin typeface="Calibri"/>
              </a:rPr>
              <a:t>The milk is cold.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62856"/>
            <a:ext cx="11292840" cy="1225296"/>
          </a:xfrm>
          <a:prstGeom prst="roundRect">
            <a:avLst/>
          </a:prstGeom>
          <a:solidFill>
            <a:srgbClr val="E0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837176"/>
            <a:ext cx="1097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0" y="4837176"/>
            <a:ext cx="4480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4946904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430"/>
                </a:solidFill>
                <a:latin typeface="Calibri"/>
              </a:rPr>
              <a:t>The cart is big.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4837176"/>
            <a:ext cx="448056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4946904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430"/>
                </a:solidFill>
                <a:latin typeface="Calibri"/>
              </a:rPr>
              <a:t>The cart can run.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Let her laugh at the silly one. Then ask why it cannot be true.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59–68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🗣️ Now You Make the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381790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Shopping Cart  |  59–68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44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B4E"/>
                </a:solidFill>
                <a:latin typeface="Calibri"/>
              </a:rPr>
              <a:t>Pick a picture. Say a sentence about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783080"/>
            <a:ext cx="2697480" cy="237744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011680"/>
            <a:ext cx="2697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108960"/>
            <a:ext cx="1874519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21868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B4E"/>
                </a:solidFill>
                <a:latin typeface="Calibri"/>
              </a:rPr>
              <a:t>apple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1783080"/>
            <a:ext cx="2697480" cy="237744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2011680"/>
            <a:ext cx="2697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3742"/>
                </a:solidFill>
                <a:latin typeface="Calibri"/>
              </a:rPr>
              <a:t>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3108960"/>
            <a:ext cx="1874519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321868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B4E"/>
                </a:solidFill>
                <a:latin typeface="Calibri"/>
              </a:rPr>
              <a:t>milk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1783080"/>
            <a:ext cx="2697480" cy="237744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2011680"/>
            <a:ext cx="2697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3742"/>
                </a:solidFill>
                <a:latin typeface="Calibri"/>
              </a:rPr>
              <a:t>🍞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39" y="3108960"/>
            <a:ext cx="1874519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39" y="321868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B4E"/>
                </a:solidFill>
                <a:latin typeface="Calibri"/>
              </a:rPr>
              <a:t>bread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19" y="1783080"/>
            <a:ext cx="2697480" cy="237744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19" y="2011680"/>
            <a:ext cx="2697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199" y="3108960"/>
            <a:ext cx="1874519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199" y="321868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B4E"/>
                </a:solidFill>
                <a:latin typeface="Calibri"/>
              </a:rPr>
              <a:t>cart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434840"/>
            <a:ext cx="5532120" cy="1051560"/>
          </a:xfrm>
          <a:prstGeom prst="roundRect">
            <a:avLst/>
          </a:prstGeom>
          <a:solidFill>
            <a:srgbClr val="FDF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68172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  <a:latin typeface="Calibri"/>
              </a:rPr>
              <a:t>I see a ______.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79" y="4434840"/>
            <a:ext cx="5532120" cy="1051560"/>
          </a:xfrm>
          <a:prstGeom prst="roundRect">
            <a:avLst/>
          </a:prstGeom>
          <a:solidFill>
            <a:srgbClr val="FDF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39" y="468172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  <a:latin typeface="Calibri"/>
              </a:rPr>
              <a:t>I like the ______.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Two sentences is plenty. Speaking warms her up for the story.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68–80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📖 Story Time — Mia Goes Shopping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572285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Checkout  |  68–80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45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402F"/>
                </a:solidFill>
                <a:latin typeface="Calibri"/>
              </a:rPr>
              <a:t>Six words to watch for. You already know all six.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937760" cy="4023360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402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2C3742"/>
                </a:solidFill>
                <a:latin typeface="Calibri"/>
              </a:rPr>
              <a:t>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D6402F"/>
                </a:solidFill>
                <a:latin typeface="Georgia"/>
              </a:rPr>
              <a:t>MIA GOES SHOPPING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8894"/>
                </a:solidFill>
                <a:latin typeface="Calibri"/>
              </a:rPr>
              <a:t>four short parts  ·  we read it twice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7373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6402F"/>
                </a:solidFill>
                <a:latin typeface="Calibri"/>
              </a:rPr>
              <a:t>WATCH FOR THESE WORDS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2331720"/>
            <a:ext cx="1874519" cy="150876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2496312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🛍️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7880" y="3136392"/>
            <a:ext cx="15087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3227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6402F"/>
                </a:solidFill>
                <a:latin typeface="Calibri"/>
              </a:rPr>
              <a:t>bag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2331720"/>
            <a:ext cx="1874519" cy="150876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2496312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3136392"/>
            <a:ext cx="15087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3227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6402F"/>
                </a:solidFill>
                <a:latin typeface="Calibri"/>
              </a:rPr>
              <a:t>apple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2331720"/>
            <a:ext cx="1874519" cy="150876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2496312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3136392"/>
            <a:ext cx="15087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32278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6402F"/>
                </a:solidFill>
                <a:latin typeface="Calibri"/>
              </a:rPr>
              <a:t>milk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0" y="4023360"/>
            <a:ext cx="1874519" cy="150876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4187952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97880" y="4828032"/>
            <a:ext cx="15087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97880" y="491947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6402F"/>
                </a:solidFill>
                <a:latin typeface="Calibri"/>
              </a:rPr>
              <a:t>box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4023360"/>
            <a:ext cx="1874519" cy="150876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4187952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80" y="4828032"/>
            <a:ext cx="15087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0" y="491947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6402F"/>
                </a:solidFill>
                <a:latin typeface="Calibri"/>
              </a:rPr>
              <a:t>cart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29800" y="4023360"/>
            <a:ext cx="1874519" cy="150876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29800" y="4187952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12680" y="4828032"/>
            <a:ext cx="15087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12680" y="491947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6402F"/>
                </a:solidFill>
                <a:latin typeface="Calibri"/>
              </a:rPr>
              <a:t>red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Read the six words together now. Meeting them early removes the fear.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68–80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📖 Mia Goes Shopping — Part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762780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Checkout  |  68–80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46 / 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3931920" cy="4343400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7744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4114800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2153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6402F"/>
                </a:solidFill>
                <a:latin typeface="Calibri"/>
              </a:rPr>
              <a:t>PART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280160"/>
            <a:ext cx="7086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481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Mia goes to the store with Dad.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1671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She has a small red bag.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8529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The store is big.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5387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Mia can see lots of food.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2245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Dad pushes the cart.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910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She is happy to help.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68–80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📖 Mia Goes Shopping — Part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953276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Checkout  |  68–80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47 / 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3931920" cy="434340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7744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4114800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2153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8B4E"/>
                </a:solidFill>
                <a:latin typeface="Calibri"/>
              </a:rPr>
              <a:t>PART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280160"/>
            <a:ext cx="7086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481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First, Mia gets an apple.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1671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The apple is red and big.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8529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Then she gets some milk.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5387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The milk is cold.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2245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It is good for her.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910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Mia puts it in the cart.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68–80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📖 Mia Goes Shopping — Part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143771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Checkout  |  68–80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48 / 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3931920" cy="4343400"/>
          </a:xfrm>
          <a:prstGeom prst="roundRect">
            <a:avLst/>
          </a:prstGeom>
          <a:solidFill>
            <a:srgbClr val="FDF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7744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C3742"/>
                </a:solidFill>
                <a:latin typeface="Calibri"/>
              </a:rPr>
              <a:t>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4114800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2153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2A008"/>
                </a:solidFill>
                <a:latin typeface="Calibri"/>
              </a:rPr>
              <a:t>PART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280160"/>
            <a:ext cx="7086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481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Mia sees a big box.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1671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It is a box of cereal.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8529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Mia can read the box.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5387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She puts the box in the cart.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2245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Dad says, "Good job, Mia!"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910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Mia is a good helper.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68–80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📖 Mia Goes Shopping — Part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334266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Checkout  |  68–80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49 / 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3931920" cy="434340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7744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C3742"/>
                </a:solidFill>
                <a:latin typeface="Calibri"/>
              </a:rPr>
              <a:t>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4114800"/>
            <a:ext cx="20116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2153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546A8"/>
                </a:solidFill>
                <a:latin typeface="Calibri"/>
              </a:rPr>
              <a:t>PART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280160"/>
            <a:ext cx="7086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481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At the checkout, Dad asks, "Did we get everything?"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1671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Mia looks in the cart.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8529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She sees an apple, milk, and a box.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5387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"Yes!" says Mia.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2245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They take the food home.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910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2430"/>
                </a:solidFill>
                <a:latin typeface="Calibri"/>
              </a:rPr>
              <a:t>Mia had a fun day.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68–80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🔁 Read It Again — Your Turn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524761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Checkout  |  68–80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50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B4E"/>
                </a:solidFill>
                <a:latin typeface="Calibri"/>
              </a:rPr>
              <a:t>Six easy lines from the story. Read them on your 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18872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130552"/>
            <a:ext cx="502920" cy="502920"/>
          </a:xfrm>
          <a:prstGeom prst="ellipse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8541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130552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430"/>
                </a:solidFill>
                <a:latin typeface="Calibri"/>
              </a:rPr>
              <a:t>The store is big.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783080"/>
            <a:ext cx="5440680" cy="118872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130552"/>
            <a:ext cx="502920" cy="502920"/>
          </a:xfrm>
          <a:prstGeom prst="ellipse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18541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130552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430"/>
                </a:solidFill>
                <a:latin typeface="Calibri"/>
              </a:rPr>
              <a:t>The milk is cold.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154680"/>
            <a:ext cx="5440680" cy="118872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502152"/>
            <a:ext cx="502920" cy="502920"/>
          </a:xfrm>
          <a:prstGeom prst="ellipse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5701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502152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430"/>
                </a:solidFill>
                <a:latin typeface="Calibri"/>
              </a:rPr>
              <a:t>Mia can read the box.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54680"/>
            <a:ext cx="5440680" cy="118872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3502152"/>
            <a:ext cx="502920" cy="502920"/>
          </a:xfrm>
          <a:prstGeom prst="ellipse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55701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502152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430"/>
                </a:solidFill>
                <a:latin typeface="Calibri"/>
              </a:rPr>
              <a:t>"Yes!" says Mia.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526280"/>
            <a:ext cx="5440680" cy="118872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4873752"/>
            <a:ext cx="502920" cy="502920"/>
          </a:xfrm>
          <a:prstGeom prst="ellipse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92861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873752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430"/>
                </a:solidFill>
                <a:latin typeface="Calibri"/>
              </a:rPr>
              <a:t>She is happy to help.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526280"/>
            <a:ext cx="5440680" cy="118872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20" y="4873752"/>
            <a:ext cx="502920" cy="502920"/>
          </a:xfrm>
          <a:prstGeom prst="ellipse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92861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873752"/>
            <a:ext cx="4206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430"/>
                </a:solidFill>
                <a:latin typeface="Calibri"/>
              </a:rPr>
              <a:t>Mia had a fun day.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98932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044183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603504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Second reading is always smoother. Say so out loud when it is.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80–85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🔎 Shopping Story Detective — Q1 and Q2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715256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Checkout  |  80–85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51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402F"/>
                </a:solidFill>
                <a:latin typeface="Calibri"/>
              </a:rPr>
              <a:t>Answer from the story, not from your memory.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23160"/>
            <a:ext cx="475488" cy="475488"/>
          </a:xfrm>
          <a:prstGeom prst="ellipse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780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33172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240280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2430"/>
                </a:solidFill>
                <a:latin typeface="Calibri"/>
              </a:rPr>
              <a:t>Where does Mia go?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8620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8894"/>
                </a:solidFill>
                <a:latin typeface="Calibri"/>
              </a:rPr>
              <a:t>show me this in Part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240280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38658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To the store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240280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38658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To school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240280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38658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To bed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58184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398264"/>
            <a:ext cx="475488" cy="475488"/>
          </a:xfrm>
          <a:prstGeom prst="ellipse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531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30682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215384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2430"/>
                </a:solidFill>
                <a:latin typeface="Calibri"/>
              </a:rPr>
              <a:t>Who goes with Mia?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8371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8894"/>
                </a:solidFill>
                <a:latin typeface="Calibri"/>
              </a:rPr>
              <a:t>show me this in Part 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4215384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436168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Dad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4215384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436168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Mom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4215384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436168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A cat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Turn back to the part named under the question. Let her find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80–85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🔎 Story Detective — Q3 and Q4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905752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Checkout  |  80–85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52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402F"/>
                </a:solidFill>
                <a:latin typeface="Calibri"/>
              </a:rPr>
              <a:t>Two more. Point to the line that proves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23160"/>
            <a:ext cx="475488" cy="475488"/>
          </a:xfrm>
          <a:prstGeom prst="ellipse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780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33172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240280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2430"/>
                </a:solidFill>
                <a:latin typeface="Calibri"/>
              </a:rPr>
              <a:t>What color is her bag?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8620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8894"/>
                </a:solidFill>
                <a:latin typeface="Calibri"/>
              </a:rPr>
              <a:t>show me this in Part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240280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38658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🔴 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240280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38658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🔵 Blue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240280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38658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🟢 Green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58184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398264"/>
            <a:ext cx="475488" cy="475488"/>
          </a:xfrm>
          <a:prstGeom prst="ellipse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531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30682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215384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2430"/>
                </a:solidFill>
                <a:latin typeface="Calibri"/>
              </a:rPr>
              <a:t>What does she get first?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8371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8894"/>
                </a:solidFill>
                <a:latin typeface="Calibri"/>
              </a:rPr>
              <a:t>show me this in Part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4215384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436168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An apple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4215384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436168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Bread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4215384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436168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Juice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Read the question out loud for her. The answer must be her work.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80–85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🔎 Story Detective — Q5 and Q6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096247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Checkout  |  80–85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53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402F"/>
                </a:solidFill>
                <a:latin typeface="Calibri"/>
              </a:rPr>
              <a:t>These two need you to remember two parts at once.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23160"/>
            <a:ext cx="475488" cy="475488"/>
          </a:xfrm>
          <a:prstGeom prst="ellipse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780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33172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240280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2430"/>
                </a:solidFill>
                <a:latin typeface="Calibri"/>
              </a:rPr>
              <a:t>What does she put in the cart?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8620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8894"/>
                </a:solidFill>
                <a:latin typeface="Calibri"/>
              </a:rPr>
              <a:t>show me this in Part 2 and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240280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38658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Milk and a box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240280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38658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A hat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240280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38658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A map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58184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398264"/>
            <a:ext cx="475488" cy="475488"/>
          </a:xfrm>
          <a:prstGeom prst="ellipse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531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30682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215384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2430"/>
                </a:solidFill>
                <a:latin typeface="Calibri"/>
              </a:rPr>
              <a:t>What does Dad ask?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8371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8894"/>
                </a:solidFill>
                <a:latin typeface="Calibri"/>
              </a:rPr>
              <a:t>show me this in Part 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4215384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436168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"Did we get everything?"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4215384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436168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"Where is the cat?"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4215384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436168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"Can you run?"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Cover one wrong answer. Two choices is still real thinking.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80–85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🔎 Story Detective — Last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286742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Checkout  |  80–85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54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402F"/>
                </a:solidFill>
                <a:latin typeface="Calibri"/>
              </a:rPr>
              <a:t>The last question. Then we go to the checkout!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23160"/>
            <a:ext cx="475488" cy="475488"/>
          </a:xfrm>
          <a:prstGeom prst="ellipse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780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33172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742"/>
                </a:solidFill>
                <a:latin typeface="Calibri"/>
              </a:rPr>
              <a:t>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240280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2430"/>
                </a:solidFill>
                <a:latin typeface="Calibri"/>
              </a:rPr>
              <a:t>What does Mia say at the end?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8620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8894"/>
                </a:solidFill>
                <a:latin typeface="Calibri"/>
              </a:rPr>
              <a:t>show me this in Part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240280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38658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"Yes!"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240280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38658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"No!"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240280"/>
            <a:ext cx="1828800" cy="841248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38658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430"/>
                </a:solidFill>
                <a:latin typeface="Calibri"/>
              </a:rPr>
              <a:t>"Stop!"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931920"/>
            <a:ext cx="11292840" cy="173736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114800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B4E"/>
                </a:solidFill>
                <a:latin typeface="Calibri"/>
              </a:rPr>
              <a:t>⭐ BONUS SHOPPER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553712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430"/>
                </a:solidFill>
                <a:latin typeface="Calibri"/>
              </a:rPr>
              <a:t>Tell me the story in your own words. Start with: "Mia went to..."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20640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8894"/>
                </a:solidFill>
                <a:latin typeface="Calibri"/>
              </a:rPr>
              <a:t>Three sentences is a full retell.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Retelling shows she understood. It matters more than any answer.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85–90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🧾 Checkout Game — Read the Receipt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477237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Checkout  |  85–90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55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546A8"/>
                </a:solidFill>
                <a:latin typeface="Calibri"/>
              </a:rPr>
              <a:t>Read each item on the receipt out loud.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45920"/>
            <a:ext cx="2468880" cy="411480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2C3742"/>
                </a:solidFill>
                <a:latin typeface="Calibri"/>
              </a:rPr>
              <a:t>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546A8"/>
                </a:solidFill>
                <a:latin typeface="Calibri"/>
              </a:rPr>
              <a:t>You are at the checkout counter.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645920"/>
            <a:ext cx="2468880" cy="411480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546A8"/>
                </a:solidFill>
                <a:latin typeface="Calibri"/>
              </a:rPr>
              <a:t>HOW TO 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28600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2C3742"/>
                </a:solidFill>
                <a:latin typeface="Calibri"/>
              </a:rPr>
              <a:t>•  Point at the item.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2C3742"/>
                </a:solidFill>
                <a:latin typeface="Calibri"/>
              </a:rPr>
              <a:t>•  Say the first sound.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2C3742"/>
                </a:solidFill>
                <a:latin typeface="Calibri"/>
              </a:rPr>
              <a:t>•  Blend the whole word.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2C3742"/>
                </a:solidFill>
                <a:latin typeface="Calibri"/>
              </a:rPr>
              <a:t>•  Read it out loud.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2C3742"/>
                </a:solidFill>
                <a:latin typeface="Calibri"/>
              </a:rPr>
              <a:t>•  Tick the box.</a:t>
            </a:r>
          </a:p>
          <a:p>
            <a:pPr>
              <a:spcAft>
                <a:spcPts val="900"/>
              </a:spcAft>
            </a:pPr>
            <a:r>
              <a:rPr sz="1200" b="0">
                <a:solidFill>
                  <a:srgbClr val="2C3742"/>
                </a:solidFill>
                <a:latin typeface="Calibri"/>
              </a:rPr>
              <a:t>•  Move to the next 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0" y="1645920"/>
            <a:ext cx="59436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0" y="1645920"/>
            <a:ext cx="5943600" cy="566928"/>
          </a:xfrm>
          <a:prstGeom prst="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175564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🧾  MIA'S SHOPPING 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39572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41401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430"/>
                </a:solidFill>
                <a:latin typeface="Arial Black"/>
              </a:rPr>
              <a:t>APPLE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468880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546A8"/>
                </a:solidFill>
                <a:latin typeface="Calibri"/>
              </a:rPr>
              <a:t>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03580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742"/>
                </a:solidFill>
                <a:latin typeface="Calibri"/>
              </a:rPr>
              <a:t>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05409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430"/>
                </a:solidFill>
                <a:latin typeface="Arial Black"/>
              </a:rPr>
              <a:t>MILK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108960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546A8"/>
                </a:solidFill>
                <a:latin typeface="Calibri"/>
              </a:rP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675887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742"/>
                </a:solidFill>
                <a:latin typeface="Calibri"/>
              </a:rPr>
              <a:t>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694175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430"/>
                </a:solidFill>
                <a:latin typeface="Arial Black"/>
              </a:rPr>
              <a:t>BOX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749039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546A8"/>
                </a:solidFill>
                <a:latin typeface="Calibri"/>
              </a:rPr>
              <a:t>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31596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742"/>
                </a:solidFill>
                <a:latin typeface="Calibri"/>
              </a:rPr>
              <a:t>🛍️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33425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430"/>
                </a:solidFill>
                <a:latin typeface="Arial Black"/>
              </a:rPr>
              <a:t>BAG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389120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546A8"/>
                </a:solidFill>
                <a:latin typeface="Calibri"/>
              </a:rP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742"/>
                </a:solidFill>
                <a:latin typeface="Calibri"/>
              </a:rPr>
              <a:t>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97433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430"/>
                </a:solidFill>
                <a:latin typeface="Arial Black"/>
              </a:rPr>
              <a:t>EGG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5029200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546A8"/>
                </a:solidFill>
                <a:latin typeface="Calibri"/>
              </a:rPr>
              <a:t>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5486400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8894"/>
                </a:solidFill>
                <a:latin typeface="Calibri"/>
              </a:rPr>
              <a:t>tick each box as you read 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Five items read on her own is a real win. Say it out loud.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85–90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💳 Checkout Counter — Say It to Pay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667733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Checkout  |  85–90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56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546A8"/>
                </a:solidFill>
                <a:latin typeface="Calibri"/>
              </a:rPr>
              <a:t>Read the sentence to pay for the item.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96596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 i="0">
                <a:solidFill>
                  <a:srgbClr val="2C3742"/>
                </a:solidFill>
                <a:latin typeface="Calibri"/>
              </a:rPr>
              <a:t>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1984248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2430"/>
                </a:solidFill>
                <a:latin typeface="Calibri"/>
              </a:rPr>
              <a:t>I have milk.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093976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167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7BB8"/>
                </a:solidFill>
                <a:latin typeface="Calibri"/>
              </a:rPr>
              <a:t>I · WE ·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33756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355848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2430"/>
                </a:solidFill>
                <a:latin typeface="Calibri"/>
              </a:rPr>
              <a:t>I see an apple.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3465576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3538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6402F"/>
                </a:solidFill>
                <a:latin typeface="Calibri"/>
              </a:rPr>
              <a:t>I · WE · YOU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70916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 i="0">
                <a:solidFill>
                  <a:srgbClr val="2C3742"/>
                </a:solidFill>
                <a:latin typeface="Calibri"/>
              </a:rPr>
              <a:t>🛍️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727448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2430"/>
                </a:solidFill>
                <a:latin typeface="Calibri"/>
              </a:rPr>
              <a:t>The bag is big.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4837176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49103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546A8"/>
                </a:solidFill>
                <a:latin typeface="Calibri"/>
              </a:rPr>
              <a:t>I · WE · YOU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253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59161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Each sentence uses only words she has already read today.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85–90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🏆 Final Challenge — Smart Shopper (1 of 2)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858228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Checkout  |  85–90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57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A008"/>
                </a:solidFill>
                <a:latin typeface="Calibri"/>
              </a:rPr>
              <a:t>Five last tasks. You have done every one before.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121408"/>
            <a:ext cx="475488" cy="475488"/>
          </a:xfrm>
          <a:prstGeom prst="ellipse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7627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066544"/>
            <a:ext cx="731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2121408"/>
            <a:ext cx="1554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219456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8B4E"/>
                </a:solidFill>
                <a:latin typeface="Calibri"/>
              </a:rPr>
              <a:t>SOUND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21214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742"/>
                </a:solidFill>
                <a:latin typeface="Calibri"/>
              </a:rPr>
              <a:t>What sound does APPLE start with?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011680"/>
            <a:ext cx="393192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103120"/>
            <a:ext cx="3931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8B4E"/>
                </a:solidFill>
                <a:latin typeface="Arial Black"/>
              </a:rPr>
              <a:t>🍎  APPLE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C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3493008"/>
            <a:ext cx="475488" cy="475488"/>
          </a:xfrm>
          <a:prstGeom prst="ellipse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4787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438144"/>
            <a:ext cx="731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3493008"/>
            <a:ext cx="1554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356616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6402F"/>
                </a:solidFill>
                <a:latin typeface="Calibri"/>
              </a:rPr>
              <a:t>WORD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34930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742"/>
                </a:solidFill>
                <a:latin typeface="Calibri"/>
              </a:rPr>
              <a:t>Read this word: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3383280"/>
            <a:ext cx="393192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3474720"/>
            <a:ext cx="3931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6402F"/>
                </a:solidFill>
                <a:latin typeface="Arial Black"/>
              </a:rPr>
              <a:t>BAG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E6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" y="4864608"/>
            <a:ext cx="475488" cy="475488"/>
          </a:xfrm>
          <a:prstGeom prst="ellipse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91947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4809744"/>
            <a:ext cx="731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0" y="4864608"/>
            <a:ext cx="1554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0" y="493776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7BB8"/>
                </a:solidFill>
                <a:latin typeface="Calibri"/>
              </a:rPr>
              <a:t>BLEND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48646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742"/>
                </a:solidFill>
                <a:latin typeface="Calibri"/>
              </a:rPr>
              <a:t>Blend these sounds: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89520" y="4754880"/>
            <a:ext cx="393192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9520" y="4846320"/>
            <a:ext cx="3931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7BB8"/>
                </a:solidFill>
                <a:latin typeface="Arial Black"/>
              </a:rPr>
              <a:t>M - I - L - 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99846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08960" y="598932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Hints are still allowed here. Finishing matters, not scoring.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85–90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🏆 Final Challenge — Smart Shopper (2 of 2)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048723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Checkout  |  85–90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58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A008"/>
                </a:solidFill>
                <a:latin typeface="Calibri"/>
              </a:rPr>
              <a:t>Two to go. Then you are a champion.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371600"/>
          </a:xfrm>
          <a:prstGeom prst="roundRect">
            <a:avLst/>
          </a:prstGeom>
          <a:solidFill>
            <a:srgbClr val="FDF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240280"/>
            <a:ext cx="475488" cy="475488"/>
          </a:xfrm>
          <a:prstGeom prst="ellipse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29514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185416"/>
            <a:ext cx="731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2240280"/>
            <a:ext cx="1554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231343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A008"/>
                </a:solidFill>
                <a:latin typeface="Calibri"/>
              </a:rPr>
              <a:t>SENTENCE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742"/>
                </a:solidFill>
                <a:latin typeface="Calibri"/>
              </a:rPr>
              <a:t>Read this out loud: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112264"/>
            <a:ext cx="4480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2221992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2A008"/>
                </a:solidFill>
                <a:latin typeface="Calibri"/>
              </a:rPr>
              <a:t>I see an apple.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55848"/>
            <a:ext cx="11292840" cy="137160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3813048"/>
            <a:ext cx="475488" cy="475488"/>
          </a:xfrm>
          <a:prstGeom prst="ellipse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86791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758184"/>
            <a:ext cx="731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3813048"/>
            <a:ext cx="1554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388620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546A8"/>
                </a:solidFill>
                <a:latin typeface="Calibri"/>
              </a:rPr>
              <a:t>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38130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742"/>
                </a:solidFill>
                <a:latin typeface="Calibri"/>
              </a:rPr>
              <a:t>From the story: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3685032"/>
            <a:ext cx="44805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3794760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546A8"/>
                </a:solidFill>
                <a:latin typeface="Calibri"/>
              </a:rPr>
              <a:t>What did Mia buy?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983480"/>
            <a:ext cx="11292840" cy="73152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166360"/>
            <a:ext cx="10607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8B4E"/>
                </a:solidFill>
                <a:latin typeface="Calibri"/>
              </a:rPr>
              <a:t>✅  All five done? Ring the bell — the checkout is complete!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9846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98932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Count out loud with her: one, two, three, four, five.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7033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7033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50292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3742"/>
                </a:solidFill>
                <a:latin typeface="Calibri"/>
              </a:rPr>
              <a:t>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0" i="0">
                <a:solidFill>
                  <a:srgbClr val="2C3742"/>
                </a:solidFill>
                <a:latin typeface="Calibri"/>
              </a:rPr>
              <a:t>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Georgia"/>
              </a:rPr>
              <a:t>SMART SHOPPER READING CHAMPION!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0D896"/>
                </a:solidFill>
                <a:latin typeface="Calibri"/>
              </a:rPr>
              <a:t>Six aisles. Six points. One very good reader.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429000"/>
            <a:ext cx="1508760" cy="1188720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8444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Produce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429000"/>
            <a:ext cx="1508760" cy="1188720"/>
          </a:xfrm>
          <a:prstGeom prst="roundRect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358444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Dairy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429000"/>
            <a:ext cx="1508760" cy="1188720"/>
          </a:xfrm>
          <a:prstGeom prst="round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58444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Breakfast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429000"/>
            <a:ext cx="1508760" cy="1188720"/>
          </a:xfrm>
          <a:prstGeom prst="roundRect">
            <a:avLst/>
          </a:prstGeom>
          <a:solidFill>
            <a:srgbClr val="A97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58444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Bakery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3429000"/>
            <a:ext cx="1508760" cy="1188720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358444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2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Shopping Cart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3429000"/>
            <a:ext cx="1508760" cy="1188720"/>
          </a:xfrm>
          <a:prstGeom prst="round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358444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C3742"/>
                </a:solidFill>
                <a:latin typeface="Calibri"/>
              </a:rPr>
              <a:t>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912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Checkout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0" y="4800600"/>
            <a:ext cx="5943600" cy="1005840"/>
          </a:xfrm>
          <a:prstGeom prst="round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5029200"/>
            <a:ext cx="5943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2430"/>
                </a:solidFill>
                <a:latin typeface="Georgia"/>
              </a:rPr>
              <a:t>"I CAN READ!"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419088"/>
            <a:ext cx="11239218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Checkout  |  85–90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59 / 64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CHECKLIST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85–90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✅ Today I Can...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429714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Checkout  |  85–90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60 /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B4E"/>
                </a:solidFill>
                <a:latin typeface="Calibri"/>
              </a:rPr>
              <a:t>Tick every one you did today. Read them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5440680" cy="768096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19019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Beginning sounds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93852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8894"/>
                </a:solidFill>
                <a:latin typeface="Calibri"/>
              </a:rPr>
              <a:t>a  b  c  m  j  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9019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E8B4E"/>
                </a:solidFill>
                <a:latin typeface="Calibri"/>
              </a:rPr>
              <a:t>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737360"/>
            <a:ext cx="5440680" cy="768096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19019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Ending sounds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193852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8894"/>
                </a:solidFill>
                <a:latin typeface="Calibri"/>
              </a:rPr>
              <a:t>bag  milk  egg  cup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19019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E8B4E"/>
                </a:solidFill>
                <a:latin typeface="Calibri"/>
              </a:rPr>
              <a:t>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606039"/>
            <a:ext cx="5440680" cy="768096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7889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277063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Short vowels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807207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8894"/>
                </a:solidFill>
                <a:latin typeface="Calibri"/>
              </a:rPr>
              <a:t>a  e  i  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2770631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E8B4E"/>
                </a:solidFill>
                <a:latin typeface="Calibri"/>
              </a:rPr>
              <a:t>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606039"/>
            <a:ext cx="5440680" cy="768096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7889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77063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Blending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807207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8894"/>
                </a:solidFill>
                <a:latin typeface="Calibri"/>
              </a:rPr>
              <a:t>/b/ /a/ /g/ → BAG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2770631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E8B4E"/>
                </a:solidFill>
                <a:latin typeface="Calibri"/>
              </a:rPr>
              <a:t>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474720"/>
            <a:ext cx="5440680" cy="768096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36393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CVC words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367588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8894"/>
                </a:solidFill>
                <a:latin typeface="Calibri"/>
              </a:rPr>
              <a:t>bag  box  cup  can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363931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E8B4E"/>
                </a:solidFill>
                <a:latin typeface="Calibri"/>
              </a:rPr>
              <a:t>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3474720"/>
            <a:ext cx="5440680" cy="768096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🍞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36393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Word families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367588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8894"/>
                </a:solidFill>
                <a:latin typeface="Calibri"/>
              </a:rPr>
              <a:t>-at  -an  -op  -ig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363931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E8B4E"/>
                </a:solidFill>
                <a:latin typeface="Calibri"/>
              </a:rPr>
              <a:t>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343400"/>
            <a:ext cx="5440680" cy="768096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45079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Sight words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454456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8894"/>
                </a:solidFill>
                <a:latin typeface="Calibri"/>
              </a:rPr>
              <a:t>I  see  a  the  my  can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4960" y="450799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E8B4E"/>
                </a:solidFill>
                <a:latin typeface="Calibri"/>
              </a:rPr>
              <a:t>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4343400"/>
            <a:ext cx="5440680" cy="768096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45079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Short phrases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72600" y="454456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8894"/>
                </a:solidFill>
                <a:latin typeface="Calibri"/>
              </a:rPr>
              <a:t>a red apple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09960" y="450799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E8B4E"/>
                </a:solidFill>
                <a:latin typeface="Calibri"/>
              </a:rPr>
              <a:t>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212079"/>
            <a:ext cx="5440680" cy="768096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53949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" y="537667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Sentences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0" y="5413247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8894"/>
                </a:solidFill>
                <a:latin typeface="Calibri"/>
              </a:rPr>
              <a:t>The milk is cold.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4960" y="5376671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E8B4E"/>
                </a:solidFill>
                <a:latin typeface="Calibri"/>
              </a:rPr>
              <a:t>☐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72200" y="5212079"/>
            <a:ext cx="5440680" cy="768096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53949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📖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95160" y="537667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30"/>
                </a:solidFill>
                <a:latin typeface="Calibri"/>
              </a:rPr>
              <a:t>A whole story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72600" y="5413247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8894"/>
                </a:solidFill>
                <a:latin typeface="Calibri"/>
              </a:rPr>
              <a:t>Mia Goes Shopping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09960" y="5376671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E8B4E"/>
                </a:solidFill>
                <a:latin typeface="Calibri"/>
              </a:rPr>
              <a:t>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089903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08960" y="6080759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Read the list aloud together. Hearing the whole list is the point.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🎲 Extra Games — If There Is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620209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Checkout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61 / 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857A"/>
                </a:solidFill>
                <a:latin typeface="Calibri"/>
              </a:rPr>
              <a:t>Seven quick games for a fast finisher or a slow moment.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83080"/>
            <a:ext cx="2697480" cy="201168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63040" y="1984248"/>
            <a:ext cx="685800" cy="685800"/>
          </a:xfrm>
          <a:prstGeom prst="ellipse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208483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742"/>
                </a:solidFill>
                <a:latin typeface="Calibri"/>
              </a:rPr>
              <a:t>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7432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6402F"/>
                </a:solidFill>
                <a:latin typeface="Calibri"/>
              </a:rPr>
              <a:t>WHAT'S IN MY BAG?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742"/>
                </a:solidFill>
                <a:latin typeface="Calibri"/>
              </a:rPr>
              <a:t>Show a picture, she reads the word.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1783080"/>
            <a:ext cx="2697480" cy="201168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43400" y="1984248"/>
            <a:ext cx="685800" cy="685800"/>
          </a:xfrm>
          <a:prstGeom prst="ellipse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08483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742"/>
                </a:solidFill>
                <a:latin typeface="Calibri"/>
              </a:rPr>
              <a:t>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7432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8B4E"/>
                </a:solidFill>
                <a:latin typeface="Calibri"/>
              </a:rPr>
              <a:t>CART SORT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2004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742"/>
                </a:solidFill>
                <a:latin typeface="Calibri"/>
              </a:rPr>
              <a:t>Sort words into FOOD and NOT FOOD.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83080"/>
            <a:ext cx="2697480" cy="201168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23760" y="1984248"/>
            <a:ext cx="685800" cy="685800"/>
          </a:xfrm>
          <a:prstGeom prst="ellipse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208483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742"/>
                </a:solidFill>
                <a:latin typeface="Calibri"/>
              </a:rPr>
              <a:t>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7432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7BB8"/>
                </a:solidFill>
                <a:latin typeface="Calibri"/>
              </a:rPr>
              <a:t>MISSING LETTER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004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742"/>
                </a:solidFill>
                <a:latin typeface="Calibri"/>
              </a:rPr>
              <a:t>B _ G  →  A, E or I?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1783080"/>
            <a:ext cx="2697480" cy="201168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04120" y="1984248"/>
            <a:ext cx="685800" cy="685800"/>
          </a:xfrm>
          <a:prstGeom prst="ellipse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208483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742"/>
                </a:solidFill>
                <a:latin typeface="Calibri"/>
              </a:rPr>
              <a:t>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7432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2A008"/>
                </a:solidFill>
                <a:latin typeface="Calibri"/>
              </a:rPr>
              <a:t>WORD PUZZLE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2004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742"/>
                </a:solidFill>
                <a:latin typeface="Calibri"/>
              </a:rPr>
              <a:t>G-A-B  →  she rebuilds BAG.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977639"/>
            <a:ext cx="2697480" cy="201168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63040" y="4178807"/>
            <a:ext cx="685800" cy="685800"/>
          </a:xfrm>
          <a:prstGeom prst="ellipse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63040" y="4279391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742"/>
                </a:solidFill>
                <a:latin typeface="Calibri"/>
              </a:rPr>
              <a:t>🗣️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937759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546A8"/>
                </a:solidFill>
                <a:latin typeface="Calibri"/>
              </a:rPr>
              <a:t>SAY IT!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394959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742"/>
                </a:solidFill>
                <a:latin typeface="Calibri"/>
              </a:rPr>
              <a:t>Show a picture: "I see a ____."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37560" y="3977639"/>
            <a:ext cx="2697480" cy="201168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343400" y="4178807"/>
            <a:ext cx="685800" cy="685800"/>
          </a:xfrm>
          <a:prstGeom prst="ellipse">
            <a:avLst/>
          </a:prstGeom>
          <a:solidFill>
            <a:srgbClr val="12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4279391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742"/>
                </a:solidFill>
                <a:latin typeface="Calibri"/>
              </a:rPr>
              <a:t>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4937759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857A"/>
                </a:solidFill>
                <a:latin typeface="Calibri"/>
              </a:rPr>
              <a:t>FIND THE WORD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0440" y="5394959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742"/>
                </a:solidFill>
                <a:latin typeface="Calibri"/>
              </a:rPr>
              <a:t>Point to MILK inside a sentence.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977639"/>
            <a:ext cx="2697480" cy="201168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223760" y="4178807"/>
            <a:ext cx="685800" cy="685800"/>
          </a:xfrm>
          <a:prstGeom prst="ellipse">
            <a:avLst/>
          </a:prstGeom>
          <a:solidFill>
            <a:srgbClr val="A97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0" y="4279391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742"/>
                </a:solidFill>
                <a:latin typeface="Calibri"/>
              </a:rPr>
              <a:t>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937759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9702F"/>
                </a:solidFill>
                <a:latin typeface="Calibri"/>
              </a:rPr>
              <a:t>CORRECT OR SILLY?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394959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742"/>
                </a:solidFill>
                <a:latin typeface="Calibri"/>
              </a:rPr>
              <a:t>Which sentence matches the picture?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98280" y="3977639"/>
            <a:ext cx="2651760" cy="1737360"/>
          </a:xfrm>
          <a:prstGeom prst="roundRect">
            <a:avLst/>
          </a:prstGeom>
          <a:solidFill>
            <a:srgbClr val="FDF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411480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A008"/>
                </a:solidFill>
                <a:latin typeface="Calibri"/>
              </a:rPr>
              <a:t>WHEN TO USE THESE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4498848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2C3742"/>
                </a:solidFill>
                <a:latin typeface="Calibri"/>
              </a:rPr>
              <a:t>•  She finishes an activity early.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C3742"/>
                </a:solidFill>
                <a:latin typeface="Calibri"/>
              </a:rPr>
              <a:t>•  Focus is dropping mid-block.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C3742"/>
                </a:solidFill>
                <a:latin typeface="Calibri"/>
              </a:rPr>
              <a:t>•  A skill needs one more pass.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9527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4E"/>
                </a:solidFill>
                <a:latin typeface="Calibri"/>
              </a:rPr>
              <a:t>🟢 SHOPPING HINT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8960" y="5943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430"/>
                </a:solidFill>
                <a:latin typeface="Calibri"/>
              </a:rPr>
              <a:t>Every game reuses today's words only. Nothing new appears.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🧰 Support System — For the Teacher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810704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Checkout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62 / 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7BB8"/>
                </a:solidFill>
                <a:latin typeface="Calibri"/>
              </a:rPr>
              <a:t>Levels, hint ladder and the words to say.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91640"/>
            <a:ext cx="3566160" cy="2057400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1847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8B4E"/>
                </a:solidFill>
                <a:latin typeface="Calibri"/>
              </a:rPr>
              <a:t>SHOPPING HINT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742"/>
                </a:solidFill>
                <a:latin typeface="Calibri"/>
              </a:rPr>
              <a:t>Picture + sound + teacher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80360"/>
            <a:ext cx="3017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8094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430"/>
                </a:solidFill>
                <a:latin typeface="Calibri"/>
              </a:rPr>
              <a:t>Say the word first, then let her repeat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691640"/>
            <a:ext cx="3566160" cy="2057400"/>
          </a:xfrm>
          <a:prstGeom prst="roundRect">
            <a:avLst/>
          </a:prstGeom>
          <a:solidFill>
            <a:srgbClr val="FDF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1847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A008"/>
                </a:solidFill>
                <a:latin typeface="Calibri"/>
              </a:rPr>
              <a:t>SHOPPING 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742"/>
                </a:solidFill>
                <a:latin typeface="Calibri"/>
              </a:rPr>
              <a:t>She reads with limited help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2880360"/>
            <a:ext cx="3017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298094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430"/>
                </a:solidFill>
                <a:latin typeface="Calibri"/>
              </a:rPr>
              <a:t>Give the first sound only, then go quiet.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691640"/>
            <a:ext cx="3566160" cy="2057400"/>
          </a:xfrm>
          <a:prstGeom prst="roundRect">
            <a:avLst/>
          </a:prstGeom>
          <a:solidFill>
            <a:srgbClr val="F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847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742"/>
                </a:solidFill>
                <a:latin typeface="Calibri"/>
              </a:rPr>
              <a:t>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847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546A8"/>
                </a:solidFill>
                <a:latin typeface="Calibri"/>
              </a:rPr>
              <a:t>BONUS SHOPPER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742"/>
                </a:solidFill>
                <a:latin typeface="Calibri"/>
              </a:rPr>
              <a:t>She reads alone or makes a sentence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2880360"/>
            <a:ext cx="301752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298094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430"/>
                </a:solidFill>
                <a:latin typeface="Calibri"/>
              </a:rPr>
              <a:t>Ask for a sentence using the word.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886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7BB8"/>
                </a:solidFill>
                <a:latin typeface="Calibri"/>
              </a:rPr>
              <a:t>HINT LADDER — never skip a step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261104"/>
            <a:ext cx="5486400" cy="384048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6928" y="4306824"/>
            <a:ext cx="914400" cy="292608"/>
          </a:xfrm>
          <a:prstGeom prst="round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3251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430682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430"/>
                </a:solidFill>
                <a:latin typeface="Calibri"/>
              </a:rPr>
              <a:t>Look at the first letter.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681728"/>
            <a:ext cx="5486400" cy="384048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6928" y="4727448"/>
            <a:ext cx="914400" cy="292608"/>
          </a:xfrm>
          <a:prstGeom prst="roundRect">
            <a:avLst/>
          </a:prstGeom>
          <a:solidFill>
            <a:srgbClr val="E2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7457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47274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430"/>
                </a:solidFill>
                <a:latin typeface="Calibri"/>
              </a:rPr>
              <a:t>Say the sounds.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102352"/>
            <a:ext cx="5486400" cy="384048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66928" y="5148072"/>
            <a:ext cx="914400" cy="292608"/>
          </a:xfrm>
          <a:prstGeom prst="roundRect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51663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20" y="514807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430"/>
                </a:solidFill>
                <a:latin typeface="Calibri"/>
              </a:rPr>
              <a:t>Let's blend it together.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522976"/>
            <a:ext cx="5486400" cy="384048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66928" y="5568696"/>
            <a:ext cx="914400" cy="292608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55869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45920" y="556869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430"/>
                </a:solidFill>
                <a:latin typeface="Calibri"/>
              </a:rPr>
              <a:t>Let's read it together.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943600"/>
            <a:ext cx="5486400" cy="384048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66928" y="5989320"/>
            <a:ext cx="914400" cy="292608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60076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59893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430"/>
                </a:solidFill>
                <a:latin typeface="Calibri"/>
              </a:rPr>
              <a:t>I read it, then you repeat.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7BB8"/>
                </a:solidFill>
                <a:latin typeface="Calibri"/>
              </a:rPr>
              <a:t>HINT BANK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315968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Look at the first letter.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Say the sounds slowly.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Blend the sounds together.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Look at the picture.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Read it one more time.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Look back at the story.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38862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B4E"/>
                </a:solidFill>
                <a:latin typeface="Calibri"/>
              </a:rPr>
              <a:t>WORDS TO USE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4315968"/>
            <a:ext cx="2606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2E8B4E"/>
                </a:solidFill>
                <a:latin typeface="Calibri"/>
              </a:rPr>
              <a:t>•  "Nice try!"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E8B4E"/>
                </a:solidFill>
                <a:latin typeface="Calibri"/>
              </a:rPr>
              <a:t>•  "Let's look again."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E8B4E"/>
                </a:solidFill>
                <a:latin typeface="Calibri"/>
              </a:rPr>
              <a:t>•  "You found the first sound!"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E8B4E"/>
                </a:solidFill>
                <a:latin typeface="Calibri"/>
              </a:rPr>
              <a:t>•  "Great blending!"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E8B4E"/>
                </a:solidFill>
                <a:latin typeface="Calibri"/>
              </a:rPr>
              <a:t>•  "You figured that one out!"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E8B4E"/>
                </a:solidFill>
                <a:latin typeface="Calibri"/>
              </a:rPr>
              <a:t>•  "Let's read it together."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97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A97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📋 End-of-Class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001199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Checkout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63 / 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9702F"/>
                </a:solidFill>
                <a:latin typeface="Calibri"/>
              </a:rPr>
              <a:t>Tick one box per skill right after the lesson.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64208"/>
            <a:ext cx="11292840" cy="384048"/>
          </a:xfrm>
          <a:prstGeom prst="rect">
            <a:avLst/>
          </a:prstGeom>
          <a:solidFill>
            <a:srgbClr val="A97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00784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70078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🟢 SECURE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70078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🟡 GROWING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170078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🔴 NEEDS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03120"/>
            <a:ext cx="11292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1214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30"/>
                </a:solidFill>
                <a:latin typeface="Calibri"/>
              </a:rPr>
              <a:t>Beginning sounds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1122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122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1122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32303"/>
            <a:ext cx="11292840" cy="310896"/>
          </a:xfrm>
          <a:prstGeom prst="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450591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30"/>
                </a:solidFill>
                <a:latin typeface="Calibri"/>
              </a:rPr>
              <a:t>Short vowels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244144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44144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44144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761487"/>
            <a:ext cx="11292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779775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30"/>
                </a:solidFill>
                <a:latin typeface="Calibri"/>
              </a:rPr>
              <a:t>CVC words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2770631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2770631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2770631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090672"/>
            <a:ext cx="11292840" cy="310896"/>
          </a:xfrm>
          <a:prstGeom prst="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108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30"/>
                </a:solidFill>
                <a:latin typeface="Calibri"/>
              </a:rPr>
              <a:t>Blending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30998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30998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0998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419856"/>
            <a:ext cx="11292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43814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30"/>
                </a:solidFill>
                <a:latin typeface="Calibri"/>
              </a:rPr>
              <a:t>Word families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3429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3429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5480" y="3429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749039"/>
            <a:ext cx="11292840" cy="310896"/>
          </a:xfrm>
          <a:prstGeom prst="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76732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30"/>
                </a:solidFill>
                <a:latin typeface="Calibri"/>
              </a:rPr>
              <a:t>Sight words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375818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375818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375818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078224"/>
            <a:ext cx="11292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0965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30"/>
                </a:solidFill>
                <a:latin typeface="Calibri"/>
              </a:rPr>
              <a:t>Phrase reading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6360" y="40873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40873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40873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407408"/>
            <a:ext cx="11292840" cy="310896"/>
          </a:xfrm>
          <a:prstGeom prst="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42569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30"/>
                </a:solidFill>
                <a:latin typeface="Calibri"/>
              </a:rPr>
              <a:t>Sentence reading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66360" y="44165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44165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55480" y="44165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736592"/>
            <a:ext cx="11292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47548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30"/>
                </a:solidFill>
                <a:latin typeface="Calibri"/>
              </a:rPr>
              <a:t>Story reading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66360" y="47457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0920" y="47457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55480" y="47457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065775"/>
            <a:ext cx="11292840" cy="310896"/>
          </a:xfrm>
          <a:prstGeom prst="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5084063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430"/>
                </a:solidFill>
                <a:latin typeface="Calibri"/>
              </a:rPr>
              <a:t>Comprehension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60" y="507491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0920" y="507491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55480" y="507491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8894"/>
                </a:solidFill>
                <a:latin typeface="Calibri"/>
              </a:rPr>
              <a:t>☐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5504688"/>
            <a:ext cx="11292840" cy="822960"/>
          </a:xfrm>
          <a:prstGeom prst="roundRect">
            <a:avLst/>
          </a:prstGeom>
          <a:solidFill>
            <a:srgbClr val="F8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557784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9702F"/>
                </a:solidFill>
                <a:latin typeface="Calibri"/>
              </a:rPr>
              <a:t>NEXT LESSON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5925312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430"/>
                </a:solidFill>
                <a:latin typeface="Calibri"/>
              </a:rPr>
              <a:t>1. Reading skill to continue:  ____________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80559" y="5925312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430"/>
                </a:solidFill>
                <a:latin typeface="Calibri"/>
              </a:rPr>
              <a:t>2. Words needing practice:  ____________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0" y="5925312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430"/>
                </a:solidFill>
                <a:latin typeface="Calibri"/>
              </a:rPr>
              <a:t>3. Sight words needing practice:  ____________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430"/>
                </a:solidFill>
                <a:latin typeface="Georgia"/>
              </a:rPr>
              <a:t>🔑 Answer Key — Teacher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1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🛒 The Amazing Grocery Store  |  Grade 2  |  90 min  |  Checkout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64 / 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6402F"/>
                </a:solidFill>
                <a:latin typeface="Calibri"/>
              </a:rPr>
              <a:t>Quick reference for every game in this deck.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37360"/>
            <a:ext cx="5440680" cy="192024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737360"/>
            <a:ext cx="5440680" cy="420624"/>
          </a:xfrm>
          <a:prstGeom prst="roundRect">
            <a:avLst/>
          </a:prstGeom>
          <a:solidFill>
            <a:srgbClr val="2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9222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PUT IT IN THE CART (7–17)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286000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1 milk  2 banana  3 carrot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4 apple  5 juice  6 egg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7 bread  8 drink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Ending sounds: /g/ /k/ /g/ /p/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737360"/>
            <a:ext cx="5440680" cy="192024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1737360"/>
            <a:ext cx="5440680" cy="420624"/>
          </a:xfrm>
          <a:prstGeom prst="roundRect">
            <a:avLst/>
          </a:prstGeom>
          <a:solidFill>
            <a:srgbClr val="1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9222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BASKETS &amp; BUILDER (17–37)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86000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Sort: A  A  E  ·  E  I  O  ·  O  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Missing letter: A  U  O  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Word puzzle: BAG BOX JAM CUP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Builder: bag jam ham box cup sit can pan 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40479"/>
            <a:ext cx="5440680" cy="192024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840479"/>
            <a:ext cx="5440680" cy="420624"/>
          </a:xfrm>
          <a:prstGeom prst="roundRect">
            <a:avLst/>
          </a:prstGeom>
          <a:solidFill>
            <a:srgbClr val="85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95343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BAKERY &amp; CART (37–68)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389119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Odd one out: BIG · HOP · BAG · HAT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New words: BAT VAN MOP PIG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Fill the cart: I see a the · my can is in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Sentences: I see an apple. / The bag is big.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840479"/>
            <a:ext cx="5440680" cy="1920240"/>
          </a:xfrm>
          <a:prstGeom prst="roundRect">
            <a:avLst/>
          </a:prstGeom>
          <a:solidFill>
            <a:srgbClr val="F2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3840479"/>
            <a:ext cx="5440680" cy="420624"/>
          </a:xfrm>
          <a:prstGeom prst="roundRect">
            <a:avLst/>
          </a:prstGeom>
          <a:solidFill>
            <a:srgbClr val="D64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895343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STORY &amp; CHECKOUT (68–90)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89119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1 store  2 Dad  3 red  4 apple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5 milk and a box  6 "Did we get everything?"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7 "Yes!"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2C3742"/>
                </a:solidFill>
                <a:latin typeface="Calibri"/>
              </a:rPr>
              <a:t>•  Correct: banana · cold · big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943600"/>
            <a:ext cx="11292840" cy="384048"/>
          </a:xfrm>
          <a:prstGeom prst="roundRect">
            <a:avLst/>
          </a:prstGeom>
          <a:solidFill>
            <a:srgbClr val="E5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99846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B4E"/>
                </a:solidFill>
                <a:latin typeface="Calibri"/>
              </a:rPr>
              <a:t>Accept any sensible answer for the speaking tasks and the retell — fluency matters more than exact wording.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