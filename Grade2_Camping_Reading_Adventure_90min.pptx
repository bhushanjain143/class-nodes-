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5074920"/>
            <a:ext cx="777240" cy="777240"/>
          </a:xfrm>
          <a:prstGeom prst="ellipse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5029200"/>
            <a:ext cx="777240" cy="77724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CAMPING READING ADVENTURE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A6D6B8"/>
                </a:solidFill>
                <a:latin typeface="Calibri"/>
              </a:rPr>
              <a:t>"Become a Junior Camp Explorer!"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00400"/>
            <a:ext cx="1508760" cy="123444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6499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93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3CF"/>
                </a:solidFill>
                <a:latin typeface="Calibri"/>
              </a:rPr>
              <a:t>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00400"/>
            <a:ext cx="1508760" cy="123444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36499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593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3CF"/>
                </a:solidFill>
                <a:latin typeface="Calibri"/>
              </a:rPr>
              <a:t>campfire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00400"/>
            <a:ext cx="1508760" cy="123444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36499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3640"/>
                </a:solidFill>
                <a:latin typeface="Calibri"/>
              </a:rPr>
              <a:t>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9593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3CF"/>
                </a:solidFill>
                <a:latin typeface="Calibri"/>
              </a:rPr>
              <a:t>trees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00400"/>
            <a:ext cx="1508760" cy="123444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6499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593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3CF"/>
                </a:solidFill>
                <a:latin typeface="Calibri"/>
              </a:rPr>
              <a:t>backpack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200400"/>
            <a:ext cx="1508760" cy="123444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36499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9593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3CF"/>
                </a:solidFill>
                <a:latin typeface="Calibri"/>
              </a:rPr>
              <a:t>flashlight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200400"/>
            <a:ext cx="1508760" cy="123444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36499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9593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3CF"/>
                </a:solidFill>
                <a:latin typeface="Calibri"/>
              </a:rPr>
              <a:t>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709160"/>
            <a:ext cx="6126480" cy="105156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9377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Grade 2  •  90 Minutes  •  Reading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7416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0–8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70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⭐ Your Mission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833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0–8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Today you are a Junior Camp Explorer.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7D4F"/>
                </a:solidFill>
                <a:latin typeface="Georgia"/>
              </a:rPr>
              <a:t>JUNIOR CAMP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98690"/>
                </a:solidFill>
                <a:latin typeface="Calibri"/>
              </a:rPr>
              <a:t>that is you, all lesson long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8778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Read new 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21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Sounds first, then whole words.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761488"/>
            <a:ext cx="6035040" cy="8778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5292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Solve camp clues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461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Puzzles, sorting and matching games.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3785616"/>
            <a:ext cx="6035040" cy="8778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7705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Read a real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70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A camp story with five short parts.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4809744"/>
            <a:ext cx="6035040" cy="8778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90118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Explore the camp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2943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Six stops, one badge at each one.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the four missions out loud together before you set off.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🗺️ Our Camp 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250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0–8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Six stops. One reading job at each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737360" cy="320040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D4F"/>
                </a:solidFill>
                <a:latin typeface="Calibri"/>
              </a:rPr>
              <a:t>Camp Entrance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First 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8690"/>
                </a:solidFill>
                <a:latin typeface="Calibri"/>
              </a:rPr>
              <a:t>0–17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9152" y="1783080"/>
            <a:ext cx="1737360" cy="320040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4A7A"/>
                </a:solidFill>
                <a:latin typeface="Calibri"/>
              </a:rPr>
              <a:t>Tent 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Short vowels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96312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8690"/>
                </a:solidFill>
                <a:latin typeface="Calibri"/>
              </a:rPr>
              <a:t>17–26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1783080"/>
            <a:ext cx="1737360" cy="320040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9E0B"/>
                </a:solidFill>
                <a:latin typeface="Calibri"/>
              </a:rPr>
              <a:t>Word Cave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Building words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8264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8690"/>
                </a:solidFill>
                <a:latin typeface="Calibri"/>
              </a:rPr>
              <a:t>26–40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783080"/>
            <a:ext cx="1737360" cy="320040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5A32"/>
                </a:solidFill>
                <a:latin typeface="Calibri"/>
              </a:rPr>
              <a:t>Animal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Word families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0216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8690"/>
                </a:solidFill>
                <a:latin typeface="Calibri"/>
              </a:rPr>
              <a:t>40–52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1783080"/>
            <a:ext cx="1737360" cy="320040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8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4B24"/>
                </a:solidFill>
                <a:latin typeface="Calibri"/>
              </a:rPr>
              <a:t>Campfire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Words &amp; sentences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2168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8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8690"/>
                </a:solidFill>
                <a:latin typeface="Calibri"/>
              </a:rPr>
              <a:t>52–70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1783080"/>
            <a:ext cx="1737360" cy="320040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7D74"/>
                </a:solidFill>
                <a:latin typeface="Calibri"/>
              </a:rPr>
              <a:t>Morning Picnic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Story &amp; questions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04120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98690"/>
                </a:solidFill>
                <a:latin typeface="Calibri"/>
              </a:rPr>
              <a:t>70–90 min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166360"/>
            <a:ext cx="11292840" cy="8229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3949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🏕️  →  ⛺  →  🔦  →  🐾  →  🔥  →  🌅    Finish all six and you are a CAMP READING CHAMPION!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🗣️ Warm-Up — Look at the Camp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666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0–8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Just look and talk. No reading yet!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566160" cy="12984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65960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75688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1762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7D74"/>
                </a:solidFill>
                <a:latin typeface="Calibri"/>
              </a:rPr>
              <a:t>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12984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65960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075688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1762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7D74"/>
                </a:solidFill>
                <a:latin typeface="Calibri"/>
              </a:rPr>
              <a:t>campfire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691640"/>
            <a:ext cx="3566160" cy="12984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075688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1762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7D74"/>
                </a:solidFill>
                <a:latin typeface="Calibri"/>
              </a:rPr>
              <a:t>trees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54680"/>
            <a:ext cx="3566160" cy="12984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538728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36393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7D74"/>
                </a:solidFill>
                <a:latin typeface="Calibri"/>
              </a:rPr>
              <a:t>backpack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154680"/>
            <a:ext cx="3566160" cy="12984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429000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3538728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36393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7D74"/>
                </a:solidFill>
                <a:latin typeface="Calibri"/>
              </a:rPr>
              <a:t>flashlight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154680"/>
            <a:ext cx="3566160" cy="12984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429000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3538728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6393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7D74"/>
                </a:solidFill>
                <a:latin typeface="Calibri"/>
              </a:rPr>
              <a:t>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6344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🗣️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6344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12B"/>
                </a:solidFill>
                <a:latin typeface="Calibri"/>
              </a:rPr>
              <a:t>What do you see at the camp?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66344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🛏️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66344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12B"/>
                </a:solidFill>
                <a:latin typeface="Calibri"/>
              </a:rPr>
              <a:t>Where would you sleep?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3036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2303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12B"/>
                </a:solidFill>
                <a:latin typeface="Calibri"/>
              </a:rPr>
              <a:t>What would you take camping?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23036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2303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12B"/>
                </a:solidFill>
                <a:latin typeface="Calibri"/>
              </a:rPr>
              <a:t>What would you do first?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852160"/>
            <a:ext cx="5440680" cy="45720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161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212B"/>
                </a:solidFill>
                <a:latin typeface="Calibri"/>
              </a:rPr>
              <a:t>I see a ______.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5852160"/>
            <a:ext cx="5440680" cy="45720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9161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212B"/>
                </a:solidFill>
                <a:latin typeface="Calibri"/>
              </a:rPr>
              <a:t>I would take ______.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🔤 Camp Sound Scout — C says /k/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1920240"/>
            <a:ext cx="2377440" cy="173736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194560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F7D4F"/>
                </a:solidFill>
                <a:latin typeface="Georgia"/>
              </a:rPr>
              <a:t>says /k/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stretch it — do not say the letter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691640"/>
            <a:ext cx="61264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82880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80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2F7D4F"/>
                </a:solidFill>
                <a:latin typeface="Arial Black"/>
              </a:rPr>
              <a:t>CAMP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434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7D4F"/>
                </a:solidFill>
                <a:latin typeface="Calibri"/>
              </a:rPr>
              <a:t>MORE WORDS WITH THIS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camp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0104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cup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can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/k/ three times, then say CAMP. He copies you each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🔤 Camp Sound Scout — T says /t/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5002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4A7A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1920240"/>
            <a:ext cx="2377440" cy="173736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194560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4A7A"/>
                </a:solidFill>
                <a:latin typeface="Georgia"/>
              </a:rPr>
              <a:t>says /t/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stretch it — do not say the letter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691640"/>
            <a:ext cx="61264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82880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80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2B4A7A"/>
                </a:solidFill>
                <a:latin typeface="Arial Black"/>
              </a:rPr>
              <a:t>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434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4A7A"/>
                </a:solidFill>
                <a:latin typeface="Calibri"/>
              </a:rPr>
              <a:t>MORE WORDS WITH THIS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0104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ten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/t/ three times, then say TENT. He copies you each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🔤 Camp Sound Scout — M says /m/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1916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1920240"/>
            <a:ext cx="2377440" cy="1737360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194560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D9E0B"/>
                </a:solidFill>
                <a:latin typeface="Georgia"/>
              </a:rPr>
              <a:t>says /m/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stretch it — do not say the letter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691640"/>
            <a:ext cx="61264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82880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80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D9E0B"/>
                </a:solidFill>
                <a:latin typeface="Arial Black"/>
              </a:rPr>
              <a:t>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434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MORE WORDS WITH THIS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0104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mud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man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/m/ three times, then say MAP. He copies you each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🔤 Camp Sound Scout — B says /b/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9333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1920240"/>
            <a:ext cx="2377440" cy="173736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194560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A4FA3"/>
                </a:solidFill>
                <a:latin typeface="Georgia"/>
              </a:rPr>
              <a:t>says /b/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stretch it — do not say the letter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691640"/>
            <a:ext cx="61264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82880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80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7A4FA3"/>
                </a:solidFill>
                <a:latin typeface="Arial Black"/>
              </a:rPr>
              <a:t>BAG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434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4FA3"/>
                </a:solidFill>
                <a:latin typeface="Calibri"/>
              </a:rPr>
              <a:t>MORE WORDS WITH THIS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bag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0104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bed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bug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/b/ three times, then say BAG. He copies you each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🔤 Camp Sound Scout — F says /f/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6750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1920240"/>
            <a:ext cx="2377440" cy="173736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194560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64B24"/>
                </a:solidFill>
                <a:latin typeface="Georgia"/>
              </a:rPr>
              <a:t>says /f/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stretch it — do not say the letter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691640"/>
            <a:ext cx="61264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82880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80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64B24"/>
                </a:solidFill>
                <a:latin typeface="Arial Black"/>
              </a:rPr>
              <a:t>FIRE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434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4B24"/>
                </a:solidFill>
                <a:latin typeface="Calibri"/>
              </a:rPr>
              <a:t>MORE WORDS WITH THIS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fire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0104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fox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4846320"/>
            <a:ext cx="1920240" cy="65836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956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Calibri"/>
              </a:rPr>
              <a:t>fan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/f/ three times, then say FIRE. He copies you each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👂 Which Word Starts With That Sound?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4167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Say all three names out loud, then pick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116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48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86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/t/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97696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" y="33832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3419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fire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088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map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7696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tent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0160" y="47548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4791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STARTS WITH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029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bag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19088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camp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7696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97696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97696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flashlight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Stretch the first sound of each picture: t-t-tent.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🎒 Game: Pack the Backpack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1583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Find the thing that starts with my sound. Pack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116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48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 SOMETHING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86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97696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fire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" y="33832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3419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 SOMETHING WITH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/m/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boots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088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map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7696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log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0160" y="47548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4791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 SOMETHING WITH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029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/t/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flashlight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19088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tent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7696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97696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97696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bag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Too many choices? Cover one with your hand and leave only two.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🎒 Pack the Backpack — Rounds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9000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Three more things and the backpack is full.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20116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048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 SOMETHING WITH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86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/k/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camp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fire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8836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97696" y="19202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24505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boots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0160" y="33832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3419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 SOMETHING WITH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088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fire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32552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32918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7696" y="38221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tent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0160" y="4754880"/>
            <a:ext cx="2286000" cy="67665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4791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 SOMETHING WITH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029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/l/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log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19088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bag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7696" y="4626864"/>
            <a:ext cx="2377440" cy="93268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97696" y="4663440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97696" y="51937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212B"/>
                </a:solidFill>
                <a:latin typeface="Calibri"/>
              </a:rPr>
              <a:t>camp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Ask him to say the word slowly: what sound do you hear first?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STOP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🏕️ Camp Entrance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6417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 Entrance  |  8–17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You can hear the first sound in a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F7D4F"/>
                </a:solidFill>
                <a:latin typeface="Georgia"/>
              </a:rPr>
              <a:t>BADGE 1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98690"/>
                </a:solidFill>
                <a:latin typeface="Calibri"/>
              </a:rPr>
              <a:t>⭐ explorer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C, T, M, B and F sounds.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packed the backpack six times.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🗣️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said every camp word out loud.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did it without reading a single sentence.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➡️ NEXT 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Tent Station — the sound hiding in the MIDDLE of a 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Flashlight Vowel — A says /a/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Shine the flashlight on the middle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2697480"/>
            <a:ext cx="2194560" cy="160020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64B24"/>
                </a:solidFill>
                <a:latin typeface="Georgia"/>
              </a:rPr>
              <a:t>says /a/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102352"/>
            <a:ext cx="29260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4B24"/>
                </a:solidFill>
                <a:latin typeface="Calibri"/>
              </a:rPr>
              <a:t>say it like this:  m-aaa-p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200400"/>
            <a:ext cx="1828800" cy="8686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A is in the middle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846320"/>
            <a:ext cx="1371600" cy="50292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/a/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3200400"/>
            <a:ext cx="1828800" cy="8686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BAG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A is in the middle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4846320"/>
            <a:ext cx="1371600" cy="50292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/a/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3200400"/>
            <a:ext cx="1828800" cy="8686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CAMP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A is in the middle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4846320"/>
            <a:ext cx="1371600" cy="50292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/a/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Hold the middle sound out loud: m-aaa-p. That is the sound he is hunting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Flashlight Vowel — E says /e/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1250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Shine the flashlight on the middle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2697480"/>
            <a:ext cx="2194560" cy="160020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F7D4F"/>
                </a:solidFill>
                <a:latin typeface="Georgia"/>
              </a:rPr>
              <a:t>says /e/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102352"/>
            <a:ext cx="29260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D4F"/>
                </a:solidFill>
                <a:latin typeface="Calibri"/>
              </a:rPr>
              <a:t>say it like this:  b-eee-d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200400"/>
            <a:ext cx="1828800" cy="86868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E is in the middle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846320"/>
            <a:ext cx="1371600" cy="50292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/e/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🛏️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3200400"/>
            <a:ext cx="1828800" cy="86868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BED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E is in the middle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4846320"/>
            <a:ext cx="1371600" cy="50292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/e/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3200400"/>
            <a:ext cx="1828800" cy="86868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E is in the middle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4846320"/>
            <a:ext cx="1371600" cy="50292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/e/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Hold the middle sound out loud: b-eee-d. That is the sound he is hunting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Flashlight Vowel — I says /i/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8667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4A7A"/>
                </a:solidFill>
                <a:latin typeface="Calibri"/>
              </a:rPr>
              <a:t>Shine the flashlight on the middle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2697480"/>
            <a:ext cx="2194560" cy="160020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4A7A"/>
                </a:solidFill>
                <a:latin typeface="Georgia"/>
              </a:rPr>
              <a:t>says /i/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102352"/>
            <a:ext cx="29260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4A7A"/>
                </a:solidFill>
                <a:latin typeface="Calibri"/>
              </a:rPr>
              <a:t>say it like this:  s-iii-t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200400"/>
            <a:ext cx="1828800" cy="86868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I is in the middle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846320"/>
            <a:ext cx="1371600" cy="50292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/i/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3200400"/>
            <a:ext cx="1828800" cy="86868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BIG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I is in the middle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4846320"/>
            <a:ext cx="1371600" cy="50292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/i/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3200400"/>
            <a:ext cx="1828800" cy="86868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HIT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I is in the middle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4846320"/>
            <a:ext cx="1371600" cy="50292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/i/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Hold the middle sound out loud: s-iii-t. That is the sound he is hunting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Flashlight Vowel — O says /o/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96084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Shine the flashlight on the middle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3931920" cy="402336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2697480"/>
            <a:ext cx="2194560" cy="160020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926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4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A4FA3"/>
                </a:solidFill>
                <a:latin typeface="Georgia"/>
              </a:rPr>
              <a:t>says /o/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102352"/>
            <a:ext cx="29260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4FA3"/>
                </a:solidFill>
                <a:latin typeface="Calibri"/>
              </a:rPr>
              <a:t>say it like this:  h-ooo-t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200400"/>
            <a:ext cx="1828800" cy="86868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O is in the middle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846320"/>
            <a:ext cx="1371600" cy="50292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/o/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3200400"/>
            <a:ext cx="1828800" cy="86868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O is in the middle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4846320"/>
            <a:ext cx="1371600" cy="50292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/o/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1691640"/>
            <a:ext cx="21945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057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3200400"/>
            <a:ext cx="1828800" cy="86868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3337560"/>
            <a:ext cx="1828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FOX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the O is in the middle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4846320"/>
            <a:ext cx="1371600" cy="50292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/o/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Hold the middle sound out loud: h-ooo-t. That is the sound he is hunting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Game: Flashlight Sort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3500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Which beam does this word belong under?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0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61488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85616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14216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038344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93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8836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212B"/>
                </a:solidFill>
                <a:latin typeface="Arial Black"/>
              </a:rPr>
              <a:t>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3042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/m/ /a/ /p/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1911096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0025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97510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21424" y="1911096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58584" y="20025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224" y="197510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53728" y="1911096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20025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197510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292608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212B"/>
                </a:solidFill>
                <a:latin typeface="Arial Black"/>
              </a:rPr>
              <a:t>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3284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/r/ /e/ /d/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2935224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30266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29992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21424" y="2935224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8584" y="30266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07224" y="29992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53728" y="2935224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0888" y="30266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29992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395020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212B"/>
                </a:solidFill>
                <a:latin typeface="Arial Black"/>
              </a:rPr>
              <a:t>SIT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43525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/s/ /i/ /t/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959352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4050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402336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21424" y="3959352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58584" y="4050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07224" y="402336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53728" y="3959352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90888" y="4050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39528" y="402336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97433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212B"/>
                </a:solidFill>
                <a:latin typeface="Arial Black"/>
              </a:rPr>
              <a:t>HOT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4560" y="5376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/h/ /o/ /t/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89120" y="4983480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2628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504748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21424" y="4983480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58584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07224" y="504748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53728" y="4983480"/>
            <a:ext cx="224028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90888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39528" y="504748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Arial Black"/>
              </a:rPr>
              <a:t>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Beams are A, E, I and O. Say all four before he chooses.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⚡ Quick Challenge — Missing Vowel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0917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4A7A"/>
                </a:solidFill>
                <a:latin typeface="Calibri"/>
              </a:rPr>
              <a:t>One letter fell out of the word. Which one goes back?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9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9935"/>
            <a:ext cx="457200" cy="457200"/>
          </a:xfrm>
          <a:prstGeom prst="ellipse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7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02352"/>
            <a:ext cx="457200" cy="457200"/>
          </a:xfrm>
          <a:prstGeom prst="ellipse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01952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19751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M _ 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1920240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199339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8623" y="1920240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8623" y="199339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6608" y="1920240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6608" y="199339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94436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🛏️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2944368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B _ 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2962656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03580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3" y="2962656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3" y="303580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36608" y="2962656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36608" y="303580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3986783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3986783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4059935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L _ 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0" y="4005071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4078223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78623" y="4005071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8623" y="4078223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36608" y="4005071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36608" y="4078223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0292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0" y="5029200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0" y="51023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C _ M 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0" y="5047488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0" y="51206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78623" y="5047488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8623" y="51206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36608" y="5047488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36608" y="51206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Arial Black"/>
              </a:rPr>
              <a:t>U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Try the word out loud with each letter. Only one sounds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STOP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⛺ Tent Station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8334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Tent Station  |  17–26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4A7A"/>
                </a:solidFill>
                <a:latin typeface="Calibri"/>
              </a:rPr>
              <a:t>You found the middle sound in every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B4A7A"/>
                </a:solidFill>
                <a:latin typeface="Georgia"/>
              </a:rPr>
              <a:t>BADGE 2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98690"/>
                </a:solidFill>
                <a:latin typeface="Calibri"/>
              </a:rPr>
              <a:t>⭐ explorer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Beams A, E, I and 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map · red · sit · hot.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put four missing vowels 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heard the difference between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➡️ NEXT 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Flashlight Word Cave — where we build whole words.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🎒 Camp Words We Will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5750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Every word today comes from this list. Nothing new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2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76272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camp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12464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03904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3904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0096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31536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fire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9168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torch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forest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22992" y="192024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22992" y="205740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🛤️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14432" y="269748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14432" y="277063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trail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boots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84832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84832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76272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76272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backpack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12464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12464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🏞️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03904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03904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river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40096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40096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31536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31536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animal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67728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67728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59168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9168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tracks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95360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🛏️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0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bed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22992" y="3474720"/>
            <a:ext cx="1481328" cy="138988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22992" y="3611880"/>
            <a:ext cx="14813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🧺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14432" y="4251960"/>
            <a:ext cx="129844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14432" y="432511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picnic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120640"/>
            <a:ext cx="11292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23036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9E0B"/>
                </a:solidFill>
                <a:latin typeface="Calibri"/>
              </a:rPr>
              <a:t>For each one:  picture  →  say it  →  what it means  →  read it  →  use it in a sentence.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across in a rhythm. He joins in wherever he can.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🧭 Our Six Steps for Any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83167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When a word looks hard, we always do these six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737360" cy="338328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1993392"/>
            <a:ext cx="548640" cy="54864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F7D4F"/>
                </a:solidFill>
                <a:latin typeface="Arial Black"/>
              </a:rPr>
              <a:t>LOOK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73552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Look at the picture.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1463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3159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7D4F"/>
                </a:solidFill>
                <a:latin typeface="Calibri"/>
              </a:rPr>
              <a:t>🗺️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0008" y="1783080"/>
            <a:ext cx="1737360" cy="338328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44368" y="1993392"/>
            <a:ext cx="548640" cy="548640"/>
          </a:xfrm>
          <a:prstGeom prst="ellipse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B4A7A"/>
                </a:solidFill>
                <a:latin typeface="Arial Black"/>
              </a:rPr>
              <a:t>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9736" y="3273552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Say the word out loud.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4160520"/>
            <a:ext cx="1463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43159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4A7A"/>
                </a:solidFill>
                <a:latin typeface="Calibri"/>
              </a:rPr>
              <a:t>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2816" y="1783080"/>
            <a:ext cx="1737360" cy="338328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37176" y="1993392"/>
            <a:ext cx="548640" cy="54864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176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D9E0B"/>
                </a:solidFill>
                <a:latin typeface="Arial Black"/>
              </a:rPr>
              <a:t>SOUND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3273552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Find each sound.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9976" y="4160520"/>
            <a:ext cx="1463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43159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D9E0B"/>
                </a:solidFill>
                <a:latin typeface="Calibri"/>
              </a:rPr>
              <a:t>/m/ /a/ /p/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5623" y="1783080"/>
            <a:ext cx="1737360" cy="338328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29983" y="1993392"/>
            <a:ext cx="548640" cy="54864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3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3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A5A32"/>
                </a:solidFill>
                <a:latin typeface="Arial Black"/>
              </a:rPr>
              <a:t>BLEND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3273552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Push them together.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2783" y="4160520"/>
            <a:ext cx="1463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3" y="43159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5A32"/>
                </a:solidFill>
                <a:latin typeface="Calibri"/>
              </a:rPr>
              <a:t>m-a-p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1783080"/>
            <a:ext cx="1737360" cy="33832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22791" y="1993392"/>
            <a:ext cx="548640" cy="548640"/>
          </a:xfrm>
          <a:prstGeom prst="ellipse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2791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1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4B24"/>
                </a:solidFill>
                <a:latin typeface="Arial Black"/>
              </a:rPr>
              <a:t>READ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59" y="3273552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Read the whole word.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65591" y="4160520"/>
            <a:ext cx="1463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5591" y="43159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4B24"/>
                </a:solidFill>
                <a:latin typeface="Calibri"/>
              </a:rPr>
              <a:t>MAP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21240" y="1783080"/>
            <a:ext cx="1737360" cy="33832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515600" y="1993392"/>
            <a:ext cx="548640" cy="548640"/>
          </a:xfrm>
          <a:prstGeom prst="ellipse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0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2697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47D74"/>
                </a:solidFill>
                <a:latin typeface="Arial Black"/>
              </a:rPr>
              <a:t>GET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0968" y="3273552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3640"/>
                </a:solidFill>
                <a:latin typeface="Calibri"/>
              </a:rPr>
              <a:t>Match it to a picture.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0" y="4160520"/>
            <a:ext cx="1463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43159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7D74"/>
                </a:solidFill>
                <a:latin typeface="Calibri"/>
              </a:rPr>
              <a:t>🗺️ = MAP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349240"/>
            <a:ext cx="11292840" cy="45720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42239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7D4F"/>
                </a:solidFill>
                <a:latin typeface="Calibri"/>
              </a:rPr>
              <a:t>Never skip step 6. Matching the picture is what makes the word mean something.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Build the Camp Word — CAMP and 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05842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Say each sound. Then say the whole word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8690"/>
                </a:solidFill>
                <a:latin typeface="Calibri"/>
              </a:rPr>
              <a:t>/k/ /a/ /m/ /p/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F7D4F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28600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3774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F7D4F"/>
                </a:solidFill>
                <a:latin typeface="Arial Black"/>
              </a:rPr>
              <a:t>CAMP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1821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Touch each letter and say its sound, then say the whole word fast.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97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37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23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66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8690"/>
                </a:solidFill>
                <a:latin typeface="Calibri"/>
              </a:rPr>
              <a:t>/t/ /e/ /n/ /t/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B4A7A"/>
                </a:solidFill>
                <a:latin typeface="Calibr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42519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3434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B4A7A"/>
                </a:solidFill>
                <a:latin typeface="Arial Black"/>
              </a:rPr>
              <a:t>TENT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37360" y="514807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Touch each letter and say its sound, then say the whole word fast.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Four letters is a lot. Cover the last two and blend the first two.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Build the Camp Word — MAP and BAG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18000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Three sounds each. Slide your finger as you blend.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D9E0B"/>
                </a:solidFill>
                <a:latin typeface="Arial Black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D9E0B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D9E0B"/>
                </a:solidFill>
                <a:latin typeface="Arial Black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8690"/>
                </a:solidFill>
                <a:latin typeface="Calibri"/>
              </a:rPr>
              <a:t>/m/ /a/ /p/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D9E0B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228600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3774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D9E0B"/>
                </a:solidFill>
                <a:latin typeface="Arial Black"/>
              </a:rPr>
              <a:t>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1821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Touch each letter and say its sound, then say the whole word fast.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97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8690"/>
                </a:solidFill>
                <a:latin typeface="Calibri"/>
              </a:rPr>
              <a:t>/b/ /a/ /g/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4FA3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42519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43434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A4FA3"/>
                </a:solidFill>
                <a:latin typeface="Arial Black"/>
              </a:rPr>
              <a:t>BAG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14807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Touch each letter and say its sound, then say the whole word fast.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Slide your finger under the letters, then sweep it fast.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Build the Camp Word — LOG and FOX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5417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Two more words and the cave is lit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A5A32"/>
                </a:solidFill>
                <a:latin typeface="Arial Black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A5A32"/>
                </a:solidFill>
                <a:latin typeface="Arial Black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54203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28600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37744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A5A32"/>
                </a:solidFill>
                <a:latin typeface="Arial Black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8690"/>
                </a:solidFill>
                <a:latin typeface="Calibri"/>
              </a:rPr>
              <a:t>/l/ /o/ /g/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A5A32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228600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3774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A5A32"/>
                </a:solidFill>
                <a:latin typeface="Arial Black"/>
              </a:rPr>
              <a:t>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1821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Touch each letter and say its sound, then say the whole word fast.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97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507992"/>
            <a:ext cx="137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98690"/>
                </a:solidFill>
                <a:latin typeface="Calibri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4251960"/>
            <a:ext cx="1005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0" y="4343400"/>
            <a:ext cx="1005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8690"/>
                </a:solidFill>
                <a:latin typeface="Calibri"/>
              </a:rPr>
              <a:t>/f/ /o/ /x/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64B24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42519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43434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B24"/>
                </a:solidFill>
                <a:latin typeface="Arial Black"/>
              </a:rPr>
              <a:t>FOX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14807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Touch each letter and say its sound, then say the whole word fast.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Both words have O in the middle. Stretch it: l-ooo-g.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🔤 Game: Missing Letter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2834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A letter dropped off the camp sign. Put it 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9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9935"/>
            <a:ext cx="457200" cy="457200"/>
          </a:xfrm>
          <a:prstGeom prst="ellipse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7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02352"/>
            <a:ext cx="457200" cy="457200"/>
          </a:xfrm>
          <a:prstGeom prst="ellipse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01952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19751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C _ M 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1920240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199339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8623" y="1920240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8623" y="199339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6608" y="1920240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6608" y="199339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94436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2944368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B _ 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2962656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03580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3" y="2962656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78623" y="303580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36608" y="2962656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36608" y="303580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3986783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3986783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4059935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F _ 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0" y="4005071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4078223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78623" y="4005071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8623" y="4078223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36608" y="4005071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36608" y="4078223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0292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☀️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0" y="5029200"/>
            <a:ext cx="2377440" cy="60350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0" y="51023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212B"/>
                </a:solidFill>
                <a:latin typeface="Arial Black"/>
              </a:rPr>
              <a:t>S _ 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0" y="5047488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0" y="51206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U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78623" y="5047488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8623" y="51206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36608" y="5047488"/>
            <a:ext cx="19659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36608" y="512064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Arial Black"/>
              </a:rPr>
              <a:t>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the word out loud with each letter. Only one sounds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🧩 Camp Word Builder — Mixed 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0251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The letters got mixed up. Put them back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9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9935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7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02352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20240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199339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1920240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199339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1920240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99339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9933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8690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1920240"/>
            <a:ext cx="3886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2011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your word:  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294436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2962656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2962656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2962656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0" y="2962656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0358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8690"/>
                </a:solidFill>
                <a:latin typeface="Calibr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2962656"/>
            <a:ext cx="3886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30540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your word:  ______________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986783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0" y="4005071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0" y="4078223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29000" y="4005071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4078223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4005071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4078223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078223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8690"/>
                </a:solidFill>
                <a:latin typeface="Calibri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0" y="4005071"/>
            <a:ext cx="3886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20" y="409651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your word:  ______________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0292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86000" y="5047488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0" y="5120640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29000" y="5047488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29000" y="5120640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0" y="5047488"/>
            <a:ext cx="1005840" cy="56692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5120640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D9E0B"/>
                </a:solidFill>
                <a:latin typeface="Arial Black"/>
              </a:rPr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12064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98690"/>
                </a:solidFill>
                <a:latin typeface="Calibri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9520" y="5047488"/>
            <a:ext cx="3886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18120" y="51389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your word:  ______________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Find the vowel first. It almost always sits in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No Letter Cards — Just Read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This time there are no letter cards. You can do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CAMP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7830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5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7830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79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BAG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8404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5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8404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79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79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FOX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If he stalls, put your finger under the first letter. Say nothing.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STOP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26–40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Word Cave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5084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Word Cave  |  26–40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You built six whole words from single letters.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DD9E0B"/>
                </a:solidFill>
                <a:latin typeface="Georgia"/>
              </a:rPr>
              <a:t>BADGE 3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98690"/>
                </a:solidFill>
                <a:latin typeface="Calibri"/>
              </a:rPr>
              <a:t>⭐ explorer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camp · tent · map · bag · log · fox.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put four missing letters 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You unscrambled four mixed-up words.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And you read six words with no letter cards.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➡️ NEXT 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Animal Track Trail — words that rhyme travel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🐾 Animal Track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25012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Same ending sound = same track family.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5176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2011680"/>
            <a:ext cx="1737360" cy="73152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B24"/>
                </a:solidFill>
                <a:latin typeface="Calibri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B24"/>
                </a:solidFill>
                <a:latin typeface="Calibri"/>
              </a:rPr>
              <a:t>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B24"/>
                </a:solidFill>
                <a:latin typeface="Calibri"/>
              </a:rPr>
              <a:t>bat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1783080"/>
            <a:ext cx="2651760" cy="35661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58768" y="2011680"/>
            <a:ext cx="1737360" cy="73152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3048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F7D4F"/>
                </a:solidFill>
                <a:latin typeface="Calibri"/>
              </a:rPr>
              <a:t>dog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3048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F7D4F"/>
                </a:solidFill>
                <a:latin typeface="Calibri"/>
              </a:rPr>
              <a:t>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3048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3048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F7D4F"/>
                </a:solidFill>
                <a:latin typeface="Calibri"/>
              </a:rPr>
              <a:t>fog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1783080"/>
            <a:ext cx="2651760" cy="356616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11696" y="2011680"/>
            <a:ext cx="1737360" cy="73152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-OX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5976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5976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4A7A"/>
                </a:solidFill>
                <a:latin typeface="Calibri"/>
              </a:rPr>
              <a:t>fox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5976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5976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4A7A"/>
                </a:solidFill>
                <a:latin typeface="Calibri"/>
              </a:rPr>
              <a:t>box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07424" y="1783080"/>
            <a:ext cx="2651760" cy="356616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64624" y="2011680"/>
            <a:ext cx="1737360" cy="73152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64624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18904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18904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A4FA3"/>
                </a:solidFill>
                <a:latin typeface="Calibri"/>
              </a:rPr>
              <a:t>sun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18904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18904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A4FA3"/>
                </a:solidFill>
                <a:latin typeface="Calibri"/>
              </a:rPr>
              <a:t>run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18904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A4FA3"/>
                </a:solidFill>
                <a:latin typeface="Calibri"/>
              </a:rPr>
              <a:t>fun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down each column. Only the first sound changes.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🐾 Game: Track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9917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Read the word, then find the picture it belongs 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02536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39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99815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54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928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294376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1938528"/>
            <a:ext cx="2103120" cy="585216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202082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FOX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186537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19202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86537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9202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86537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9202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☀️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3035807"/>
            <a:ext cx="2103120" cy="585216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311810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DOG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2962655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3017519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☀️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962655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017519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2962655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3017519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34440" y="4133088"/>
            <a:ext cx="2103120" cy="585216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421538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405993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1148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05993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1148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405993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0" y="41148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☀️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4440" y="5230368"/>
            <a:ext cx="2103120" cy="585216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531266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0" y="515721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521208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515721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21208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20" y="5157216"/>
            <a:ext cx="2468880" cy="73152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0" y="521208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08990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608075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the word first, every time. Guessing from pictures is easy — reading is the job.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🐾 Who Belongs to the Family?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7334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Three of these four belong. Which one does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CAT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DOG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BAT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DOG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FOX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FOG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Cover the first letter. Now only the ending is showing.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🐾 Who Belongs? — Rounds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74751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Two more families. Read every word out loud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FOX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BAG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SUN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RUN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FUN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the family ending out loud before each round: -ox, -un.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🐾 Make a New Track — Rhyming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92168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Which word rhymes with mine?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78992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7510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93392"/>
            <a:ext cx="1828800" cy="585216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7568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CAT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05740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B24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993392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0756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993392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0756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DOG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993392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756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SUN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44368"/>
            <a:ext cx="11292840" cy="1078992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182112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200400"/>
            <a:ext cx="1828800" cy="585216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8269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64408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F7D4F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3200400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28269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3200400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28269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DOG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3200400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28269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TENT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151376"/>
            <a:ext cx="11292840" cy="1078992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93640"/>
                </a:solidFill>
                <a:latin typeface="Calibri"/>
              </a:rPr>
              <a:t>☀️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407408"/>
            <a:ext cx="1828800" cy="585216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448970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471416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4A7A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4407408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48970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4407408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48970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BOX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4407408"/>
            <a:ext cx="210312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448970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2B"/>
                </a:solidFill>
                <a:latin typeface="Arial Black"/>
              </a:rPr>
              <a:t>BED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58384"/>
            <a:ext cx="11292840" cy="402336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42239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4FA3"/>
                </a:solidFill>
                <a:latin typeface="Calibri"/>
              </a:rPr>
              <a:t>⭐ TRAIL CHALLENGE — Can you think of one more word that rhymes with CAT?  Any real word counts.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Rhyme means the ending sounds the same. Say both words back to back.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🧠 Brain Break — Campfire Freeze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Stay by your chair. Act out whatever I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47D74"/>
                </a:solidFill>
                <a:latin typeface="Georgia"/>
              </a:rPr>
              <a:t>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then straight back to the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5681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Stay beside your chair the whole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761488"/>
            <a:ext cx="603504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932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9809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"Freeze!" means stop completely.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785616"/>
            <a:ext cx="603504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932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05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Some calls are reading calls too.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809744"/>
            <a:ext cx="603504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8932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The last two rounds, you call and I act.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Letting him call the commands is the part that resets his focus.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🧊 Campfire Freeze — Six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7001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Listen for the call. Then act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019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78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Fire!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3640"/>
                </a:solidFill>
                <a:latin typeface="Calibri"/>
              </a:rPr>
              <a:t>Make a fire shape with your hands.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9019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78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Camp!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3640"/>
                </a:solidFill>
                <a:latin typeface="Calibri"/>
              </a:rPr>
              <a:t>Make a tent shape over your head.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019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578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Flashlight!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3640"/>
                </a:solidFill>
                <a:latin typeface="Calibri"/>
              </a:rPr>
              <a:t>Pretend to hold a flashlight.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0507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817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Freeze!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7550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3640"/>
                </a:solidFill>
                <a:latin typeface="Calibri"/>
              </a:rPr>
              <a:t>Stop and hold still.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79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00507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6817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Tracks!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7550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3640"/>
                </a:solidFill>
                <a:latin typeface="Calibri"/>
              </a:rPr>
              <a:t>March in place, two steps.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79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0507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6817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Tree!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17550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93640"/>
                </a:solidFill>
                <a:latin typeface="Calibri"/>
              </a:rPr>
              <a:t>Stand tall with your arms up.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Mix the order so he has to listen, not predict.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🗣️ Camper Says — With Reading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44418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Only do it if I say "Camper says" first!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118872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665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214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116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Camper says clap twice.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4963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7D74"/>
                </a:solidFill>
                <a:latin typeface="Calibri"/>
              </a:rPr>
              <a:t>movement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20665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214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0116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Camper says point to 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963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4B24"/>
                </a:solidFill>
                <a:latin typeface="Calibri"/>
              </a:rPr>
              <a:t>reading 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0896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34381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930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3832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Camper says read FOX.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679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4B24"/>
                </a:solidFill>
                <a:latin typeface="Calibri"/>
              </a:rPr>
              <a:t>reading 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10896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34381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930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3832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Camper says whisper MAP.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679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4B24"/>
                </a:solidFill>
                <a:latin typeface="Calibri"/>
              </a:rPr>
              <a:t>reading call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0560"/>
            <a:ext cx="5440680" cy="118872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8097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646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7548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Camper says stand on one foot.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2395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7D74"/>
                </a:solidFill>
                <a:latin typeface="Calibri"/>
              </a:rPr>
              <a:t>movement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48056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46520" y="48097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86460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75488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Camper says read BIG out loud.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23951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4B24"/>
                </a:solidFill>
                <a:latin typeface="Calibri"/>
              </a:rPr>
              <a:t>reading call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Four of these six are reading calls. That keeps the break on task.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40–52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🌲 Calm Down — Ready for the Campfire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1834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Animal Trail  |  40–52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Four quiet things, then we read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51760" cy="2926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🌬️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Breathe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49039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98690"/>
                </a:solidFill>
                <a:latin typeface="Calibri"/>
              </a:rPr>
              <a:t>count to three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783080"/>
            <a:ext cx="2651760" cy="2926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20116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😮‍💨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Breathe 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0752" y="3749039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8587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98690"/>
                </a:solidFill>
                <a:latin typeface="Calibri"/>
              </a:rPr>
              <a:t>count to three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3" y="1783080"/>
            <a:ext cx="2651760" cy="2926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3" y="20116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3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Shake your hands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2823" y="3749039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3" y="38587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98690"/>
                </a:solidFill>
                <a:latin typeface="Calibri"/>
              </a:rPr>
              <a:t>five seconds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83080"/>
            <a:ext cx="2651760" cy="2926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20116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Georgia"/>
              </a:rPr>
              <a:t>Sit tall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54896" y="3749039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54896" y="38587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98690"/>
                </a:solidFill>
                <a:latin typeface="Calibri"/>
              </a:rPr>
              <a:t>ready for the campfire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937760"/>
            <a:ext cx="11292840" cy="77724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F7D4F"/>
                </a:solidFill>
                <a:latin typeface="Georgia"/>
              </a:rPr>
              <a:t>"You are ready for the next mission!"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the line out loud together. It marks the end of the break.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🔥 Campfire Sight Words — Group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79251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These three words we do NOT sound out. We just know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2057400"/>
            <a:ext cx="2468880" cy="10972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I can camp.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83080"/>
            <a:ext cx="347472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92040" y="2057400"/>
            <a:ext cx="2468880" cy="10972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I see a tent.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783080"/>
            <a:ext cx="347472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79" y="2057400"/>
            <a:ext cx="2468880" cy="10972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9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9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a big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Say the word, he repeats, then he finds it in the phrase below.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🔥 Campfire Sight Words — Group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66682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Three more. Only three at a time — never a long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2057400"/>
            <a:ext cx="2468880" cy="10972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the hot fire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83080"/>
            <a:ext cx="347472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92040" y="2057400"/>
            <a:ext cx="2468880" cy="10972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my red bag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783080"/>
            <a:ext cx="3474720" cy="35661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79" y="2057400"/>
            <a:ext cx="2468880" cy="109728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9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9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I can 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Go back to Group 1 for ten seconds before you start Group 2.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Game: Light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14084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Shine the flashlight on the word I say.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90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911096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00253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79" y="1911096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39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00253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11096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00253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see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90"/>
                </a:solidFill>
                <a:latin typeface="Calibri"/>
              </a:rPr>
              <a:t>FIND: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2935224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02666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see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79" y="2935224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39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02666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the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2935224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02666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90"/>
                </a:solidFill>
                <a:latin typeface="Calibri"/>
              </a:rPr>
              <a:t>FIND: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3959352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my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79" y="3959352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39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the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20" y="3959352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405079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can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90"/>
                </a:solidFill>
                <a:latin typeface="Calibri"/>
              </a:rPr>
              <a:t>FIND: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34840" y="4983480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0" y="507492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12279" y="4983480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39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79" y="507492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can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4983480"/>
            <a:ext cx="2194560" cy="64008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75520" y="507492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2B"/>
                </a:solidFill>
                <a:latin typeface="Arial Black"/>
              </a:rPr>
              <a:t>go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all three out loud first. Listening beats looking.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📕 Build a Camp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A whole sentence now. I read it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3171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212B"/>
                </a:solidFill>
                <a:latin typeface="Calibri"/>
              </a:rPr>
              <a:t>I see a 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4A7A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7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212B"/>
                </a:solidFill>
                <a:latin typeface="Calibri"/>
              </a:rPr>
              <a:t>I see a campfire.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4B24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Point at each word as you read so his eyes track left to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📕 Build a Camp Sentence — Two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8918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Two more. Read them like you are talking.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3171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212B"/>
                </a:solidFill>
                <a:latin typeface="Calibri"/>
              </a:rPr>
              <a:t>My bag is big.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4FA3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7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212B"/>
                </a:solidFill>
                <a:latin typeface="Calibri"/>
              </a:rPr>
              <a:t>We can go to camp.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7D4F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A stuck word? Give only the first sound and wait five seconds.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🔗 Two and Three Words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6335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Not a whole sentence yet. Just a few words joined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756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a big 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756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my red bag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472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the hot fire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4472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in the forest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188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on the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8188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I can go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8990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608075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Sweep your finger under the whole phrase so it sounds like talking.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How We Read Every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3751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Three steps, every single time. You are never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783080"/>
            <a:ext cx="3566160" cy="361188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1783080"/>
            <a:ext cx="3566160" cy="65836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64B24"/>
                </a:solidFill>
                <a:latin typeface="Georgia"/>
              </a:rPr>
              <a:t>I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93640"/>
                </a:solidFill>
                <a:latin typeface="Calibri"/>
              </a:rPr>
              <a:t>Teacher reads it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526280"/>
            <a:ext cx="2468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268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4B24"/>
                </a:solidFill>
                <a:latin typeface="Calibri"/>
              </a:rPr>
              <a:t>🧑‍🏫  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783080"/>
            <a:ext cx="3566160" cy="361188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1783080"/>
            <a:ext cx="3566160" cy="65836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D9E0B"/>
                </a:solidFill>
                <a:latin typeface="Georgia"/>
              </a:rPr>
              <a:t>We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93640"/>
                </a:solidFill>
                <a:latin typeface="Calibri"/>
              </a:rPr>
              <a:t>Teacher and child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4526280"/>
            <a:ext cx="2468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6268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D9E0B"/>
                </a:solidFill>
                <a:latin typeface="Calibri"/>
              </a:rPr>
              <a:t>🧑‍🏫🙋  both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783080"/>
            <a:ext cx="3566160" cy="361188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1783080"/>
            <a:ext cx="3566160" cy="65836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F7D4F"/>
                </a:solidFill>
                <a:latin typeface="Georgia"/>
              </a:rPr>
              <a:t>You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93640"/>
                </a:solidFill>
                <a:latin typeface="Calibri"/>
              </a:rPr>
              <a:t>Child reads it alone — if ready.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4526280"/>
            <a:ext cx="2468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46268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F7D4F"/>
                </a:solidFill>
                <a:latin typeface="Calibri"/>
              </a:rPr>
              <a:t>🙋  you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Only move to step 3 when step 2 sounded smooth. No rush.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🧩 Camp Sentence Puzzle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01168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These word cards are mixed up. Put them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Calibri"/>
              </a:rPr>
              <a:t>see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Calibri"/>
              </a:rPr>
              <a:t>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Calibri"/>
              </a:rPr>
              <a:t>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84832"/>
            <a:ext cx="1783080" cy="658368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4A7A"/>
                </a:solidFill>
                <a:latin typeface="Calibri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4F"/>
                </a:solidFill>
                <a:latin typeface="Calibri"/>
              </a:rPr>
              <a:t>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4F"/>
                </a:solidFill>
                <a:latin typeface="Calibri"/>
              </a:rPr>
              <a:t>The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4F"/>
                </a:solidFill>
                <a:latin typeface="Calibri"/>
              </a:rPr>
              <a:t>big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D4F"/>
                </a:solidFill>
                <a:latin typeface="Calibri"/>
              </a:rPr>
              <a:t>tent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Find the capital letter. That word always goes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🧩 Camp Sentence Puzzle — Rounds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85852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Two more. Read it out loud after you fix the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Calibri"/>
              </a:rPr>
              <a:t>can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Calibri"/>
              </a:rPr>
              <a:t>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D9E0B"/>
                </a:solidFill>
                <a:latin typeface="Calibri"/>
              </a:rPr>
              <a:t>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Calibri"/>
              </a:rPr>
              <a:t>my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Calibri"/>
              </a:rPr>
              <a:t>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Calibri"/>
              </a:rPr>
              <a:t>bag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4FA3"/>
                </a:solidFill>
                <a:latin typeface="Calibri"/>
              </a:rPr>
              <a:t>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8690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his version back exactly as written. Silly is a clue.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🖼️ Game: Picture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36001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Read the sentence, then find the picture it describes.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2048256"/>
            <a:ext cx="2926080" cy="603504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21305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212B"/>
                </a:solidFill>
                <a:latin typeface="Calibri"/>
              </a:rPr>
              <a:t>The fox can run.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18836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9751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79" y="18836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79" y="19751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18836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19751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3419856"/>
            <a:ext cx="2926080" cy="603504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3502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212B"/>
                </a:solidFill>
                <a:latin typeface="Calibri"/>
              </a:rPr>
              <a:t>The tent is big.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2552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3467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79" y="32552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79" y="33467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32552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33467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4440" y="4791456"/>
            <a:ext cx="2926080" cy="603504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4873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212B"/>
                </a:solidFill>
                <a:latin typeface="Calibri"/>
              </a:rPr>
              <a:t>I see a log.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46268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7183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79" y="46268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79" y="47183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4626864"/>
            <a:ext cx="219456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471830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93640"/>
                </a:solidFill>
                <a:latin typeface="Calibri"/>
              </a:rPr>
              <a:t>☀️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the sentence twice before he points. The second read is where it clicks.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🎯 Game: Sentence or Silly?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3418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Look at the picture. Which sentence makes sense?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5740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057400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1671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The tent is 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6712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✅ / 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57400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1671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The tent is eating.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16712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✅ / 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72968"/>
            <a:ext cx="11292840" cy="1225296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47288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447288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35570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The fox can run.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557016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✅ / 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3447288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35570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The fox can read.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557016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✅ / 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62856"/>
            <a:ext cx="11292840" cy="1225296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37176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4837176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494690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The fire is hot.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94690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✅ / 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4837176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494690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The fire is wet.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94690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98690"/>
                </a:solidFill>
                <a:latin typeface="Calibri"/>
              </a:rPr>
              <a:t>✅ / 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Let him laugh at the silly one, then ask why it cannot be true.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🗣️ Now You Make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Pick a picture. Say a whole sentence about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97480" cy="23774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7D74"/>
                </a:solidFill>
                <a:latin typeface="Calibri"/>
              </a:rPr>
              <a:t>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783080"/>
            <a:ext cx="2697480" cy="23774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7D74"/>
                </a:solidFill>
                <a:latin typeface="Calibri"/>
              </a:rPr>
              <a:t>fire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783080"/>
            <a:ext cx="2697480" cy="23774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39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39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7D74"/>
                </a:solidFill>
                <a:latin typeface="Calibri"/>
              </a:rPr>
              <a:t>bag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1783080"/>
            <a:ext cx="2697480" cy="23774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199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9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7D74"/>
                </a:solidFill>
                <a:latin typeface="Calibri"/>
              </a:rPr>
              <a:t>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34840"/>
            <a:ext cx="5532120" cy="105156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6817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I see a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79" y="4434840"/>
            <a:ext cx="5532120" cy="105156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39" y="46817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B"/>
                </a:solidFill>
                <a:latin typeface="Calibri"/>
              </a:rPr>
              <a:t>I can see the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Two sentences is plenty. Speaking warms him up for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STOP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52–70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🔥 Campfire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8252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Campfire  |  52–70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You read real sentences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D64B24"/>
                </a:solidFill>
                <a:latin typeface="Georgia"/>
              </a:rPr>
              <a:t>BADGE 4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98690"/>
                </a:solidFill>
                <a:latin typeface="Calibri"/>
              </a:rPr>
              <a:t>⭐ explorer badge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Sight words: I · see · a · the · my · can.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Six camp phrases.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Four sentence puzzles put back in order.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🗣️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And you made up sentences of your own.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➡️ NEXT 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Morning Picnic — a whole story, start to finish.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Story Time — The Lost Flashlight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5668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Six words to watch for. You already know all six.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47D74"/>
                </a:solidFill>
                <a:latin typeface="Georgia"/>
              </a:rPr>
              <a:t>THE LOST FLASHLIGHT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4206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D74"/>
                </a:solidFill>
                <a:latin typeface="Calibri"/>
              </a:rPr>
              <a:t>🤔 BEFORE WE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What do you think Sam will lose?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7D74"/>
                </a:solidFill>
                <a:latin typeface="Calibri"/>
              </a:rPr>
              <a:t>WATCH FOR THESE 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2331720"/>
            <a:ext cx="1874519" cy="150876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4963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13639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3227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7D74"/>
                </a:solidFill>
                <a:latin typeface="Calibri"/>
              </a:rPr>
              <a:t>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1874519" cy="150876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4963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13639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227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7D74"/>
                </a:solidFill>
                <a:latin typeface="Calibri"/>
              </a:rPr>
              <a:t>bag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2331720"/>
            <a:ext cx="1874519" cy="150876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24963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313639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3227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7D74"/>
                </a:solidFill>
                <a:latin typeface="Calibri"/>
              </a:rPr>
              <a:t>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4023360"/>
            <a:ext cx="1874519" cy="150876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418795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482803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49194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7D74"/>
                </a:solidFill>
                <a:latin typeface="Calibri"/>
              </a:rPr>
              <a:t>light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023360"/>
            <a:ext cx="1874519" cy="150876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18795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482803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49194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7D74"/>
                </a:solidFill>
                <a:latin typeface="Calibri"/>
              </a:rPr>
              <a:t>dad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9800" y="4023360"/>
            <a:ext cx="1874519" cy="150876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418795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12680" y="482803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12680" y="49194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7D74"/>
                </a:solidFill>
                <a:latin typeface="Calibri"/>
              </a:rPr>
              <a:t>camp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the six words together now. Meeting them early removes the fear.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The Lost Flashlight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23085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D4F"/>
                </a:solidFill>
                <a:latin typeface="Calibri"/>
              </a:rPr>
              <a:t>PART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is camping with his 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They have a small green 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has a flashlight in his bag.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 sun goes down.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 camp gets dark.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is happy to camp.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The Lost Flashlight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0502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4A7A"/>
                </a:solidFill>
                <a:latin typeface="Calibri"/>
              </a:rPr>
              <a:t>PART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At night, Sam looks in his bag.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He wants his flashlight.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 bag is empty.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He cannot find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"Where can it be?" says Sam.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is sad.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The Lost Flashlight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7918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9E0B"/>
                </a:solidFill>
                <a:latin typeface="Calibri"/>
              </a:rPr>
              <a:t>PART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looks near the 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He looks under his bed.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He looks by the big log.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It is not in the tent.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Then he sees a small light.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 light is near the log.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The Lost Flashlight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4B24"/>
                </a:solidFill>
                <a:latin typeface="Calibri"/>
              </a:rPr>
              <a:t>PART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walks to the 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There is the flashlight!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smiles a big smile.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He takes it back to the tent.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Dad says, "Good looking, Sam!"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 flashlight is not lost now.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📖 The Lost Flashlight — Part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92752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93640"/>
                </a:solidFill>
                <a:latin typeface="Calibri"/>
              </a:rPr>
              <a:t>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4FA3"/>
                </a:solidFill>
                <a:latin typeface="Calibri"/>
              </a:rPr>
              <a:t>PART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turns on the light.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Now the tent is bright.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reads a book in bed.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Dad reads with him.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It is a good camp night.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is a good camper.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70–82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🔁 Read It Again — Your 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0169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70–82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Six easy lines from the story. Read them on your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30552"/>
            <a:ext cx="502920" cy="50292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854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1305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is sad.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130552"/>
            <a:ext cx="502920" cy="50292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854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1305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 bag is empty.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02152"/>
            <a:ext cx="502920" cy="50292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570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5021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walks to the log.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502152"/>
            <a:ext cx="502920" cy="50292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570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021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There is the flashlight!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873752"/>
            <a:ext cx="502920" cy="50292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286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737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Now the tent is bright.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873752"/>
            <a:ext cx="502920" cy="50292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286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8737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6212B"/>
                </a:solidFill>
                <a:latin typeface="Calibri"/>
              </a:rPr>
              <a:t>Sam is a good camper.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4418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603504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Second reading is always smoother. Say so out loud when it is.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82–88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🔎 Story Detective — Q1 and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7585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82–88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Answer from the story, not from your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Who is in the story?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 answer is in Part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Sam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Mia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Ben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What did Sam lose?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 answer is in Part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A 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His flashlight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His bag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Turn back to the part named under the question. Let him find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82–88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🔎 Story Detective — Q3 and Q4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50024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82–88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7D74"/>
                </a:solidFill>
                <a:latin typeface="Calibri"/>
              </a:rPr>
              <a:t>Two more. Point to the line that proves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Where did Sam find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 answer is in Part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Near a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In the river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In the car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6212B"/>
                </a:solidFill>
                <a:latin typeface="Calibri"/>
              </a:rPr>
              <a:t>What did Sam do next?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 answer is in Part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Went home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Took it to the tent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Threw it away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Cover one wrong answer. Two choices is still real thinking.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82–88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🔦 Find the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24191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82–88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Show me the sentence that tells us the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21408"/>
            <a:ext cx="475488" cy="47548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762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9385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Who is camping with Sam?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432304"/>
            <a:ext cx="1828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4871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7D4F"/>
                </a:solidFill>
                <a:latin typeface="Calibri"/>
              </a:rPr>
              <a:t>look in Part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011680"/>
            <a:ext cx="589788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1031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7D4F"/>
                </a:solidFill>
                <a:latin typeface="Calibri"/>
              </a:rPr>
              <a:t>🔎  Turn back to the story and point to the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395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Then read it out loud.  ☐ found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493008"/>
            <a:ext cx="475488" cy="475488"/>
          </a:xfrm>
          <a:prstGeom prst="ellipse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3101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What was in the bag?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3803904"/>
            <a:ext cx="1828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38587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4A7A"/>
                </a:solidFill>
                <a:latin typeface="Calibri"/>
              </a:rPr>
              <a:t>look in Part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3383280"/>
            <a:ext cx="589788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4747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4A7A"/>
                </a:solidFill>
                <a:latin typeface="Calibri"/>
              </a:rPr>
              <a:t>🔎  Turn back to the story and point to the 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767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Then read it out loud.  ☐ found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64608"/>
            <a:ext cx="475488" cy="475488"/>
          </a:xfrm>
          <a:prstGeom prst="ellipse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94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681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12B"/>
                </a:solidFill>
                <a:latin typeface="Calibri"/>
              </a:rPr>
              <a:t>Where was the light?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5175504"/>
            <a:ext cx="18288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52303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D9E0B"/>
                </a:solidFill>
                <a:latin typeface="Calibri"/>
              </a:rPr>
              <a:t>look in Part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754880"/>
            <a:ext cx="589788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48463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D9E0B"/>
                </a:solidFill>
                <a:latin typeface="Calibri"/>
              </a:rPr>
              <a:t>🔎  Turn back to the story and point to the line.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138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8690"/>
                </a:solidFill>
                <a:latin typeface="Calibri"/>
              </a:rPr>
              <a:t>Then read it out loud.  ☐ found 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07024"/>
            <a:ext cx="11292840" cy="40233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7103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7D4F"/>
                </a:solidFill>
                <a:latin typeface="Calibri"/>
              </a:rPr>
              <a:t>Pointing to the proof matters more than getting the answer fast. This is how real reading works.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🏆 Final Camp Challenge —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798358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Six words. You have read every one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3520440" cy="1874519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F7D4F"/>
                </a:solidFill>
                <a:latin typeface="Arial Black"/>
              </a:rPr>
              <a:t>CAMP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783080"/>
            <a:ext cx="3520440" cy="1874519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5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B4A7A"/>
                </a:solidFill>
                <a:latin typeface="Arial Black"/>
              </a:rPr>
              <a:t>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783080"/>
            <a:ext cx="3520440" cy="1874519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🗺️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79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D9E0B"/>
                </a:solidFill>
                <a:latin typeface="Arial Black"/>
              </a:rPr>
              <a:t>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3520440" cy="1874519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64B24"/>
                </a:solidFill>
                <a:latin typeface="Arial Black"/>
              </a:rPr>
              <a:t>FOX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840480"/>
            <a:ext cx="3520440" cy="1874519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5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A4FA3"/>
                </a:solidFill>
                <a:latin typeface="Arial Black"/>
              </a:rPr>
              <a:t>BAG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840480"/>
            <a:ext cx="3520440" cy="1874519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3640"/>
                </a:solidFill>
                <a:latin typeface="Calibri"/>
              </a:rPr>
              <a:t>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79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79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A5A32"/>
                </a:solidFill>
                <a:latin typeface="Arial Black"/>
              </a:rPr>
              <a:t>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Hints are still allowed here. Finishing matters, not scoring.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🏆 Final Camp Challenge —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97252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63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D9E0B"/>
                </a:solidFill>
                <a:latin typeface="Calibri"/>
              </a:rPr>
              <a:t>Three sentences. Then you are a champion.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659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93640"/>
                </a:solidFill>
                <a:latin typeface="Calibri"/>
              </a:rPr>
              <a:t>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9842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12B"/>
                </a:solidFill>
                <a:latin typeface="Calibri"/>
              </a:rPr>
              <a:t>I see a 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0939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4A7A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93640"/>
                </a:solidFill>
                <a:latin typeface="Calibri"/>
              </a:rPr>
              <a:t>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3558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12B"/>
                </a:solidFill>
                <a:latin typeface="Calibri"/>
              </a:rPr>
              <a:t>The fox can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4655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38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4B24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93640"/>
                </a:solidFill>
                <a:latin typeface="Calibri"/>
              </a:rPr>
              <a:t>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7274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12B"/>
                </a:solidFill>
                <a:latin typeface="Calibri"/>
              </a:rPr>
              <a:t>My bag is 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8371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910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4FA3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86400"/>
            <a:ext cx="11292840" cy="45720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5955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F7D4F"/>
                </a:solidFill>
                <a:latin typeface="Calibri"/>
              </a:rPr>
              <a:t>✅  All three read? Ring the camp bell — the adventure is complete!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04418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603504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Support is fine on this slide. Reading it at all is the win.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11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11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4983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293640"/>
                </a:solidFill>
                <a:latin typeface="Calibri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CAMP READING CHAMPION!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FD695"/>
                </a:solidFill>
                <a:latin typeface="Calibri"/>
              </a:rPr>
              <a:t>Junior Camp Explorer badge — earned at all six stops.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337560"/>
            <a:ext cx="1783080" cy="137160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93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3640"/>
                </a:solidFill>
                <a:latin typeface="Calibri"/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0416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new words!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337560"/>
            <a:ext cx="1783080" cy="137160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493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3640"/>
                </a:solidFill>
                <a:latin typeface="Calibri"/>
              </a:rP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40416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blended sounds!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337560"/>
            <a:ext cx="1783080" cy="137160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93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3640"/>
                </a:solidFill>
                <a:latin typeface="Calibri"/>
              </a:rPr>
              <a:t>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40416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built sentences!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19" y="3337560"/>
            <a:ext cx="1783080" cy="137160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3493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3640"/>
                </a:solidFill>
                <a:latin typeface="Calibri"/>
              </a:rPr>
              <a:t>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7" y="40416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read a story!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337560"/>
            <a:ext cx="1783080" cy="1371600"/>
          </a:xfrm>
          <a:prstGeom prst="roundRect">
            <a:avLst/>
          </a:prstGeom>
          <a:solidFill>
            <a:srgbClr val="21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493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3640"/>
                </a:solidFill>
                <a:latin typeface="Calibri"/>
              </a:rPr>
              <a:t>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40416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 answered questions!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4892040"/>
            <a:ext cx="5943600" cy="1005840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512064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6212B"/>
                </a:solidFill>
                <a:latin typeface="Georgia"/>
              </a:rPr>
              <a:t>"I AM A READER!"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1146692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88–90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64 / 70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88–90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✅ Today I Can...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320859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  |  88–90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65 /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F7D4F"/>
                </a:solidFill>
                <a:latin typeface="Calibri"/>
              </a:rPr>
              <a:t>Tick every one you did today. Read them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901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8836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Beginning sounds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2024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c  t  m  b  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8836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01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8836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Short vowels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a  e  i  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18836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06039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7706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75234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Blending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78891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/m/ /a/ /p/ →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75234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606039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706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🏕️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75234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CVC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78891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camp  tent  map  bag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275234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74720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639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36210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Word families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65760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-at  -og  -ox  -un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62102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474720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639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6210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Sight words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65760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I  see  a  the  my  can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362102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343400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507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4897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Short phrases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52628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a big tent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48970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343400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507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44897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Sentences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52628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The fox can run.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448970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12079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766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35838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A whole 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3949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The Lost Flashlight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535838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5212079"/>
            <a:ext cx="5440680" cy="768096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53766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535838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2B"/>
                </a:solidFill>
                <a:latin typeface="Calibri"/>
              </a:rPr>
              <a:t>Finding the answer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2600" y="53949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8690"/>
                </a:solidFill>
                <a:latin typeface="Calibri"/>
              </a:rPr>
              <a:t>pointing to the proof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535838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F7D4F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08990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0" y="608075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Read the list aloud together. Hearing the whole list is the point.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🎲 Extra Games — If There Is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495026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66 /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Five spare games. Use any of them, in any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C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1 — MYSTERY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_ A P  —  which letter?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9008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93592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06824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64B24"/>
                </a:solidFill>
                <a:latin typeface="Calibri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any of the three makes a real word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1737360"/>
            <a:ext cx="3566160" cy="393192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1737360"/>
            <a:ext cx="3566160" cy="457200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2 — WORD OR PICTURE?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Read FOX, then point.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1728" y="2880360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99008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F7D4F"/>
                </a:solidFill>
                <a:latin typeface="Calibri"/>
              </a:rPr>
              <a:t>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593592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703320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F7D4F"/>
                </a:solidFill>
                <a:latin typeface="Calibri"/>
              </a:rPr>
              <a:t>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4306824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416552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F7D4F"/>
                </a:solidFill>
                <a:latin typeface="Calibri"/>
              </a:rPr>
              <a:t>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51663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he must read the word before pointing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4736" y="1737360"/>
            <a:ext cx="3566160" cy="3931920"/>
          </a:xfrm>
          <a:prstGeom prst="roundRect">
            <a:avLst/>
          </a:prstGeom>
          <a:solidFill>
            <a:srgbClr val="E7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74736" y="1737360"/>
            <a:ext cx="3566160" cy="457200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3 — MISSING 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"I see a ____."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0496" y="2880360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299008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B4A7A"/>
                </a:solidFill>
                <a:latin typeface="Calibri"/>
              </a:rPr>
              <a:t>tent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40496" y="3593592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0496" y="3703320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B4A7A"/>
                </a:solidFill>
                <a:latin typeface="Calibri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0496" y="4306824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4416552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B4A7A"/>
                </a:solidFill>
                <a:latin typeface="Calibri"/>
              </a:rPr>
              <a:t>hot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51663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only one word fits the sentence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These reuse today's words only. Nothing new appears.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🎲 Extra Games — Two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669193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67 /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One rhyming game and one speaking game.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566160" cy="393192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3566160" cy="457200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4 — RHYME CAMP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CAT rhymes with...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9008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D9E0B"/>
                </a:solidFill>
                <a:latin typeface="Calibri"/>
              </a:rPr>
              <a:t>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93592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D9E0B"/>
                </a:solidFill>
                <a:latin typeface="Calibri"/>
              </a:rPr>
              <a:t>DOG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06824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D9E0B"/>
                </a:solidFill>
                <a:latin typeface="Calibri"/>
              </a:rPr>
              <a:t>SUN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say both words back to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1737360"/>
            <a:ext cx="3566160" cy="393192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1737360"/>
            <a:ext cx="3566160" cy="457200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 5 — CAMPER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212B"/>
                </a:solidFill>
                <a:latin typeface="Calibri"/>
              </a:rPr>
              <a:t>Look at the picture: 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1728" y="2880360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99008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Calibri"/>
              </a:rPr>
              <a:t>I see a ____.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593592"/>
            <a:ext cx="2834639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703320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7D74"/>
                </a:solidFill>
                <a:latin typeface="Calibri"/>
              </a:rPr>
              <a:t>My ____ is big.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51663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98690"/>
                </a:solidFill>
                <a:latin typeface="Calibri"/>
              </a:rPr>
              <a:t>accept any sensible sentence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1737360"/>
            <a:ext cx="3566160" cy="393192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4FA3"/>
                </a:solidFill>
                <a:latin typeface="Calibri"/>
              </a:rPr>
              <a:t>WHEN TO USE THESE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7744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293640"/>
                </a:solidFill>
                <a:latin typeface="Calibri"/>
              </a:rPr>
              <a:t>•  He finishes an activity early.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93640"/>
                </a:solidFill>
                <a:latin typeface="Calibri"/>
              </a:rPr>
              <a:t>•  Focus is dropping mid-block.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93640"/>
                </a:solidFill>
                <a:latin typeface="Calibri"/>
              </a:rPr>
              <a:t>•  A skill needs one more pass.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93640"/>
                </a:solidFill>
                <a:latin typeface="Calibri"/>
              </a:rPr>
              <a:t>•  You have five minutes spare.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293640"/>
                </a:solidFill>
                <a:latin typeface="Calibri"/>
              </a:rPr>
              <a:t>•  He asks to play one more.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D9E0B"/>
                </a:solidFill>
                <a:latin typeface="Calibri"/>
              </a:rPr>
              <a:t>🔦 CAMP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2B"/>
                </a:solidFill>
                <a:latin typeface="Calibri"/>
              </a:rPr>
              <a:t>Stop while he still wants one more. That is the right moment.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🧰 Support System — For the 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43360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68 /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4A7A"/>
                </a:solidFill>
                <a:latin typeface="Calibri"/>
              </a:rPr>
              <a:t>Levels, hint ladder and the words to say.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566160" cy="2057400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F7D4F"/>
                </a:solidFill>
                <a:latin typeface="Calibri"/>
              </a:rPr>
              <a:t>CAMP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3640"/>
                </a:solidFill>
                <a:latin typeface="Calibri"/>
              </a:rPr>
              <a:t>Picture + sound + teacher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212B"/>
                </a:solidFill>
                <a:latin typeface="Calibri"/>
              </a:rPr>
              <a:t>Say the word first, then he repeats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2057400"/>
          </a:xfrm>
          <a:prstGeom prst="round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D9E0B"/>
                </a:solidFill>
                <a:latin typeface="Calibri"/>
              </a:rPr>
              <a:t>CAMP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3640"/>
                </a:solidFill>
                <a:latin typeface="Calibri"/>
              </a:rPr>
              <a:t>He reads with limited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212B"/>
                </a:solidFill>
                <a:latin typeface="Calibri"/>
              </a:rPr>
              <a:t>Give the first sound only, then go quiet.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2057400"/>
          </a:xfrm>
          <a:prstGeom prst="roundRect">
            <a:avLst/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93640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4FA3"/>
                </a:solidFill>
                <a:latin typeface="Calibri"/>
              </a:rPr>
              <a:t>TRAIL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3640"/>
                </a:solidFill>
                <a:latin typeface="Calibri"/>
              </a:rPr>
              <a:t>He reads alone or makes a sentence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212B"/>
                </a:solidFill>
                <a:latin typeface="Calibri"/>
              </a:rPr>
              <a:t>Ask for a sentence using the 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4A7A"/>
                </a:solidFill>
                <a:latin typeface="Calibri"/>
              </a:rPr>
              <a:t>HINT LADDER — never skip a step, never give the answer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61104"/>
            <a:ext cx="5486400" cy="38404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306824"/>
            <a:ext cx="914400" cy="29260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251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3068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2B"/>
                </a:solidFill>
                <a:latin typeface="Calibri"/>
              </a:rPr>
              <a:t>Look at the first letter.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81728"/>
            <a:ext cx="5486400" cy="38404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727448"/>
            <a:ext cx="914400" cy="292608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457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727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2B"/>
                </a:solidFill>
                <a:latin typeface="Calibri"/>
              </a:rPr>
              <a:t>Say the sounds.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02352"/>
            <a:ext cx="5486400" cy="38404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5148072"/>
            <a:ext cx="914400" cy="292608"/>
          </a:xfrm>
          <a:prstGeom prst="roundRect">
            <a:avLst/>
          </a:prstGeom>
          <a:solidFill>
            <a:srgbClr val="2B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66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14807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2B"/>
                </a:solidFill>
                <a:latin typeface="Calibri"/>
              </a:rPr>
              <a:t>Let's blend them.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5486400" cy="38404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5568696"/>
            <a:ext cx="914400" cy="29260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869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55686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2B"/>
                </a:solidFill>
                <a:latin typeface="Calibri"/>
              </a:rPr>
              <a:t>Let's read it together.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5486400" cy="384048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989320"/>
            <a:ext cx="914400" cy="292608"/>
          </a:xfrm>
          <a:prstGeom prst="roundRect">
            <a:avLst/>
          </a:prstGeom>
          <a:solidFill>
            <a:srgbClr val="7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007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5989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2B"/>
                </a:solidFill>
                <a:latin typeface="Calibri"/>
              </a:rPr>
              <a:t>I read it, then you repeat.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4A7A"/>
                </a:solidFill>
                <a:latin typeface="Calibri"/>
              </a:rPr>
              <a:t>HINT BANK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Look at the first letter.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Say the sounds slowly.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Blend the sounds together.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Look at the picture.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Read it one more time.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Look back at the story.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8862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7D4F"/>
                </a:solidFill>
                <a:latin typeface="Calibri"/>
              </a:rPr>
              <a:t>WORDS TO USE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F7D4F"/>
                </a:solidFill>
                <a:latin typeface="Calibri"/>
              </a:rPr>
              <a:t>•  "Nice try!"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F7D4F"/>
                </a:solidFill>
                <a:latin typeface="Calibri"/>
              </a:rPr>
              <a:t>•  "Let's look again."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F7D4F"/>
                </a:solidFill>
                <a:latin typeface="Calibri"/>
              </a:rPr>
              <a:t>•  "You found the first sound!"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F7D4F"/>
                </a:solidFill>
                <a:latin typeface="Calibri"/>
              </a:rPr>
              <a:t>•  "Great blending!"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F7D4F"/>
                </a:solidFill>
                <a:latin typeface="Calibri"/>
              </a:rPr>
              <a:t>•  "You figured that one out!"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F7D4F"/>
                </a:solidFill>
                <a:latin typeface="Calibri"/>
              </a:rPr>
              <a:t>•  "Let's read it together."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📋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017527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69 /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5A32"/>
                </a:solidFill>
                <a:latin typeface="Calibri"/>
              </a:rPr>
              <a:t>Tick one box per skill right after the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11292840" cy="384048"/>
          </a:xfrm>
          <a:prstGeom prst="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Beginning sounds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32303"/>
            <a:ext cx="11292840" cy="310896"/>
          </a:xfrm>
          <a:prstGeom prst="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5059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Short vowels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414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414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4414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61487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79775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CVC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7706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7706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706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90672"/>
            <a:ext cx="11292840" cy="310896"/>
          </a:xfrm>
          <a:prstGeom prst="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Blending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99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99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99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19856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381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Word families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49039"/>
            <a:ext cx="11292840" cy="310896"/>
          </a:xfrm>
          <a:prstGeom prst="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673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Sight words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7581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581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7581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78224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965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Phrase reading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087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87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087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407408"/>
            <a:ext cx="11292840" cy="310896"/>
          </a:xfrm>
          <a:prstGeom prst="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256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736592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Story reading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745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745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745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065775"/>
            <a:ext cx="11292840" cy="310896"/>
          </a:xfrm>
          <a:prstGeom prst="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084063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2B"/>
                </a:solidFill>
                <a:latin typeface="Calibri"/>
              </a:rPr>
              <a:t>Comprehension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90"/>
                </a:solidFill>
                <a:latin typeface="Calibri"/>
              </a:rPr>
              <a:t>☐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504688"/>
            <a:ext cx="11292840" cy="822960"/>
          </a:xfrm>
          <a:prstGeom prst="roundRect">
            <a:avLst/>
          </a:prstGeom>
          <a:solidFill>
            <a:srgbClr val="F5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57784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5A32"/>
                </a:solidFill>
                <a:latin typeface="Calibri"/>
              </a:rPr>
              <a:t>FOR NEXT CLASS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9253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212B"/>
                </a:solidFill>
                <a:latin typeface="Calibri"/>
              </a:rPr>
              <a:t>1. Words to practice:  ____________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59" y="59253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212B"/>
                </a:solidFill>
                <a:latin typeface="Calibri"/>
              </a:rPr>
              <a:t>2. Sight words to practice:  ____________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59253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212B"/>
                </a:solidFill>
                <a:latin typeface="Calibri"/>
              </a:rPr>
              <a:t>3. Reading skill for next class:  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12B"/>
                </a:solidFill>
                <a:latin typeface="Georgia"/>
              </a:rPr>
              <a:t>🔑 Answer Key — Teacher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🏕️ The Camping Reading Adventure  |  Grade 2  |  90 min  |  Morning Picnic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70 /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B24"/>
                </a:solidFill>
                <a:latin typeface="Calibri"/>
              </a:rPr>
              <a:t>Quick reference for every game in this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5440680" cy="192024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5440680" cy="420624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9222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SOUNDS &amp; VOWELS (8–26)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Starts with: tent · map · bag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Backpack: bag · map · tent · camp · fire · log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Flashlight sort: A · E · I · 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Missing vowel: A  E  O 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37360"/>
            <a:ext cx="5440680" cy="192024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737360"/>
            <a:ext cx="5440680" cy="420624"/>
          </a:xfrm>
          <a:prstGeom prst="roundRect">
            <a:avLst/>
          </a:prstGeom>
          <a:solidFill>
            <a:srgbClr val="DD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9222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BUILDING WORDS (26–40)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Blend: camp · tent · map · bag · log · fox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Missing letter: A  A  O  U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Mixed letters: MAP · TENT · LOG · BAG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No cards: all six read as written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79"/>
            <a:ext cx="5440680" cy="192024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40479"/>
            <a:ext cx="5440680" cy="420624"/>
          </a:xfrm>
          <a:prstGeom prst="roundRect">
            <a:avLst/>
          </a:prstGeom>
          <a:solidFill>
            <a:srgbClr val="8A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95343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TRAIL &amp; CAMPFIRE (40–70)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89119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Odd one out: DOG · FOX · BAG · HAT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Rhymes: HAT · DOG · RUN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Light the word: I · see · the · can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Puzzles: I see a tent. / The tent is big. /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      I can run. / My bag is 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40479"/>
            <a:ext cx="5440680" cy="1920240"/>
          </a:xfrm>
          <a:prstGeom prst="roundRect">
            <a:avLst/>
          </a:prstGeom>
          <a:solidFill>
            <a:srgbClr val="F1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40479"/>
            <a:ext cx="5440680" cy="420624"/>
          </a:xfrm>
          <a:prstGeom prst="roundRect">
            <a:avLst/>
          </a:prstGeom>
          <a:solidFill>
            <a:srgbClr val="14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95343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STORY &amp; QUESTIONS (70–90)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19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1 Sam  2 his flashlight  3 near a log  4 took it to the tent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Picture match: fox running · big tent · a log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Sentence or silly: is red · can run · is hot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•  Evidence: "Sam is camping with his dad." /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93640"/>
                </a:solidFill>
                <a:latin typeface="Calibri"/>
              </a:rPr>
              <a:t>      "The bag is empty." / "The light is near the log."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43600"/>
            <a:ext cx="11292840" cy="384048"/>
          </a:xfrm>
          <a:prstGeom prst="roundRect">
            <a:avLst/>
          </a:prstGeom>
          <a:solidFill>
            <a:srgbClr val="E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9846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D4F"/>
                </a:solidFill>
                <a:latin typeface="Calibri"/>
              </a:rPr>
              <a:t>Accept any sensible answer for the speaking and rhyming tasks — fluency matters more than exact wording.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