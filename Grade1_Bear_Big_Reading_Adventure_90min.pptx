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100"/>
              <a:t>TEACHER SAYS</a:t>
            </a:r>
          </a:p>
          <a:p>
            <a:r>
              <a:rPr sz="1100"/>
              <a:t>Welcome! Today you and I are going on an adventure with Bear. Bear needs a Reading Hero, and that is going to be you.</a:t>
            </a:r>
          </a:p>
          <a:p/>
          <a:p>
            <a:r>
              <a:rPr b="1" sz="1100"/>
              <a:t>ASK</a:t>
            </a:r>
          </a:p>
          <a:p>
            <a:r>
              <a:rPr sz="1100"/>
              <a:t>Are you ready to help Bear?</a:t>
            </a:r>
          </a:p>
          <a:p/>
          <a:p>
            <a:r>
              <a:rPr b="1" sz="1100"/>
              <a:t>EXPECTED ANSWER</a:t>
            </a:r>
          </a:p>
          <a:p>
            <a:r>
              <a:rPr sz="1100"/>
              <a:t>Yes! (Any excited response is perfect.)</a:t>
            </a:r>
          </a:p>
          <a:p/>
          <a:p>
            <a:r>
              <a:rPr b="1" sz="1100"/>
              <a:t>IF CHILD STRUGGLES</a:t>
            </a:r>
          </a:p>
          <a:p>
            <a:r>
              <a:rPr sz="1100"/>
              <a:t>If the child is shy, point at the six stops and say: we only do one at a time, and I will help you at every single one.</a:t>
            </a:r>
          </a:p>
          <a:p/>
          <a:p>
            <a:r>
              <a:rPr b="1" sz="1100"/>
              <a:t>IF CHILD IS DOING WELL</a:t>
            </a:r>
          </a:p>
          <a:p>
            <a:r>
              <a:rPr sz="1100"/>
              <a:t>Ask which stop looks the most fun and start building excitement for it.</a:t>
            </a:r>
          </a:p>
          <a:p/>
          <a:p>
            <a:r>
              <a:rPr b="1" sz="1100"/>
              <a:t>PRAISE</a:t>
            </a:r>
          </a:p>
          <a:p>
            <a:r>
              <a:rPr sz="1100"/>
              <a:t>"I already know you are going to be a great Reading Hero."</a:t>
            </a:r>
          </a:p>
          <a:p/>
          <a:p>
            <a:r>
              <a:rPr b="1" sz="1100"/>
              <a:t>TIME</a:t>
            </a:r>
          </a:p>
          <a:p>
            <a:r>
              <a:rPr sz="1100"/>
              <a:t>1 minute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100"/>
              <a:t>TEACHER SAYS</a:t>
            </a:r>
          </a:p>
          <a:p>
            <a:r>
              <a:rPr sz="1100"/>
              <a:t>This is Bear. Bear loves stories, but some words are tricky for him. He needs someone brave to read with him.</a:t>
            </a:r>
          </a:p>
          <a:p/>
          <a:p>
            <a:r>
              <a:rPr b="1" sz="1100"/>
              <a:t>ASK</a:t>
            </a:r>
          </a:p>
          <a:p>
            <a:r>
              <a:rPr sz="1100"/>
              <a:t>Can you say hi to Bear?</a:t>
            </a:r>
          </a:p>
          <a:p/>
          <a:p>
            <a:r>
              <a:rPr b="1" sz="1100"/>
              <a:t>EXPECTED ANSWER</a:t>
            </a:r>
          </a:p>
          <a:p>
            <a:r>
              <a:rPr sz="1100"/>
              <a:t>Hi Bear! (Or a wave.)</a:t>
            </a:r>
          </a:p>
          <a:p/>
          <a:p>
            <a:r>
              <a:rPr b="1" sz="1100"/>
              <a:t>IF CHILD STRUGGLES</a:t>
            </a:r>
          </a:p>
          <a:p>
            <a:r>
              <a:rPr sz="1100"/>
              <a:t>If the child will not speak yet, wave to Bear yourself and let the child copy the wave. Do not push for words.</a:t>
            </a:r>
          </a:p>
          <a:p/>
          <a:p>
            <a:r>
              <a:rPr b="1" sz="1100"/>
              <a:t>IF CHILD IS DOING WELL</a:t>
            </a:r>
          </a:p>
          <a:p>
            <a:r>
              <a:rPr sz="1100"/>
              <a:t>Ask what the child thinks Bear's favourite story might be.</a:t>
            </a:r>
          </a:p>
          <a:p/>
          <a:p>
            <a:r>
              <a:rPr b="1" sz="1100"/>
              <a:t>PRAISE</a:t>
            </a:r>
          </a:p>
          <a:p>
            <a:r>
              <a:rPr sz="1100"/>
              <a:t>"Bear is already smiling because you are here."</a:t>
            </a:r>
          </a:p>
          <a:p/>
          <a:p>
            <a:r>
              <a:rPr b="1" sz="1100"/>
              <a:t>TIME</a:t>
            </a:r>
          </a:p>
          <a:p>
            <a:r>
              <a:rPr sz="1100"/>
              <a:t>1–2 minutes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100"/>
              <a:t>TEACHER SAYS</a:t>
            </a:r>
          </a:p>
          <a:p>
            <a:r>
              <a:rPr sz="1100"/>
              <a:t>Here are my four promises to you today. You never read alone, we can always try again, we break hard words into sounds, and every single try gets praise.</a:t>
            </a:r>
          </a:p>
          <a:p/>
          <a:p>
            <a:r>
              <a:rPr b="1" sz="1100"/>
              <a:t>ASK</a:t>
            </a:r>
          </a:p>
          <a:p>
            <a:r>
              <a:rPr sz="1100"/>
              <a:t>Which promise do you like best?</a:t>
            </a:r>
          </a:p>
          <a:p/>
          <a:p>
            <a:r>
              <a:rPr b="1" sz="1100"/>
              <a:t>EXPECTED ANSWER</a:t>
            </a:r>
          </a:p>
          <a:p>
            <a:r>
              <a:rPr sz="1100"/>
              <a:t>Any choice. The point is that the child hears there is no failing today.</a:t>
            </a:r>
          </a:p>
          <a:p/>
          <a:p>
            <a:r>
              <a:rPr b="1" sz="1100"/>
              <a:t>IF CHILD STRUGGLES</a:t>
            </a:r>
          </a:p>
          <a:p>
            <a:r>
              <a:rPr sz="1100"/>
              <a:t>Read all four promises out loud slowly and point at each icon. Ask the child to repeat just the first one.</a:t>
            </a:r>
          </a:p>
          <a:p/>
          <a:p>
            <a:r>
              <a:rPr b="1" sz="1100"/>
              <a:t>IF CHILD IS DOING WELL</a:t>
            </a:r>
          </a:p>
          <a:p>
            <a:r>
              <a:rPr sz="1100"/>
              <a:t>Ask the child to say one of the promises back in his own words.</a:t>
            </a:r>
          </a:p>
          <a:p/>
          <a:p>
            <a:r>
              <a:rPr b="1" sz="1100"/>
              <a:t>PRAISE</a:t>
            </a:r>
          </a:p>
          <a:p>
            <a:r>
              <a:rPr sz="1100"/>
              <a:t>"You are already listening like a Reading Hero."</a:t>
            </a:r>
          </a:p>
          <a:p/>
          <a:p>
            <a:r>
              <a:rPr b="1" sz="1100"/>
              <a:t>TIME</a:t>
            </a:r>
          </a:p>
          <a:p>
            <a:r>
              <a:rPr sz="1100"/>
              <a:t>1–2 minutes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100"/>
              <a:t>TEACHER SAYS</a:t>
            </a:r>
          </a:p>
          <a:p>
            <a:r>
              <a:rPr sz="1100"/>
              <a:t>Look at our map. We start at Bear's House, then the Forest, the Reading Bridge, Camp, Star Mountain, and at the very end you become a Reading Hero.</a:t>
            </a:r>
          </a:p>
          <a:p/>
          <a:p>
            <a:r>
              <a:rPr b="1" sz="1100"/>
              <a:t>ASK</a:t>
            </a:r>
          </a:p>
          <a:p>
            <a:r>
              <a:rPr sz="1100"/>
              <a:t>Which stop do you want to get to the most?</a:t>
            </a:r>
          </a:p>
          <a:p/>
          <a:p>
            <a:r>
              <a:rPr b="1" sz="1100"/>
              <a:t>EXPECTED ANSWER</a:t>
            </a:r>
          </a:p>
          <a:p>
            <a:r>
              <a:rPr sz="1100"/>
              <a:t>Any stop. Usually Star Mountain or Reading Hero.</a:t>
            </a:r>
          </a:p>
          <a:p/>
          <a:p>
            <a:r>
              <a:rPr b="1" sz="1100"/>
              <a:t>IF CHILD STRUGGLES</a:t>
            </a:r>
          </a:p>
          <a:p>
            <a:r>
              <a:rPr sz="1100"/>
              <a:t>If six stops feel like a lot, cover the last three with your hand and say we only need to think about the first three right now.</a:t>
            </a:r>
          </a:p>
          <a:p/>
          <a:p>
            <a:r>
              <a:rPr b="1" sz="1100"/>
              <a:t>IF CHILD IS DOING WELL</a:t>
            </a:r>
          </a:p>
          <a:p>
            <a:r>
              <a:rPr sz="1100"/>
              <a:t>Ask the child to count the stops out loud from one to six.</a:t>
            </a:r>
          </a:p>
          <a:p/>
          <a:p>
            <a:r>
              <a:rPr b="1" sz="1100"/>
              <a:t>PRAISE</a:t>
            </a:r>
          </a:p>
          <a:p>
            <a:r>
              <a:rPr sz="1100"/>
              <a:t>"Great looking! You found our whole map already."</a:t>
            </a:r>
          </a:p>
          <a:p/>
          <a:p>
            <a:r>
              <a:rPr b="1" sz="1100"/>
              <a:t>TIME</a:t>
            </a:r>
          </a:p>
          <a:p>
            <a:r>
              <a:rPr sz="1100"/>
              <a:t>1–2 minutes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100"/>
              <a:t>TEACHER SAYS</a:t>
            </a:r>
          </a:p>
          <a:p>
            <a:r>
              <a:rPr sz="1100"/>
              <a:t>Before we read anything, let's just talk about what we can see. There are no wrong answers here.</a:t>
            </a:r>
          </a:p>
          <a:p/>
          <a:p>
            <a:r>
              <a:rPr b="1" sz="1100"/>
              <a:t>ASK</a:t>
            </a:r>
          </a:p>
          <a:p>
            <a:r>
              <a:rPr sz="1100"/>
              <a:t>What do you see? What is your favorite one? Can you find the bear?</a:t>
            </a:r>
          </a:p>
          <a:p/>
          <a:p>
            <a:r>
              <a:rPr b="1" sz="1100"/>
              <a:t>EXPECTED ANSWER</a:t>
            </a:r>
          </a:p>
          <a:p>
            <a:r>
              <a:rPr sz="1100"/>
              <a:t>Bear, tree, sun, house, star — in any order, one word or a full sentence.</a:t>
            </a:r>
          </a:p>
          <a:p/>
          <a:p>
            <a:r>
              <a:rPr b="1" sz="1100"/>
              <a:t>IF CHILD STRUGGLES</a:t>
            </a:r>
          </a:p>
          <a:p>
            <a:r>
              <a:rPr sz="1100"/>
              <a:t>If the child says nothing, name one picture yourself and ask him to point to a different one. Pointing counts as an answer.</a:t>
            </a:r>
          </a:p>
          <a:p/>
          <a:p>
            <a:r>
              <a:rPr b="1" sz="1100"/>
              <a:t>IF CHILD IS DOING WELL</a:t>
            </a:r>
          </a:p>
          <a:p>
            <a:r>
              <a:rPr sz="1100"/>
              <a:t>Ask him to say a whole sentence: "I see a sun." This previews slide 25.</a:t>
            </a:r>
          </a:p>
          <a:p/>
          <a:p>
            <a:r>
              <a:rPr b="1" sz="1100"/>
              <a:t>PRAISE</a:t>
            </a:r>
          </a:p>
          <a:p>
            <a:r>
              <a:rPr sz="1100"/>
              <a:t>"You are noticing so much. That is what good readers do."</a:t>
            </a:r>
          </a:p>
          <a:p/>
          <a:p>
            <a:r>
              <a:rPr b="1" sz="1100"/>
              <a:t>TIME</a:t>
            </a:r>
          </a:p>
          <a:p>
            <a:r>
              <a:rPr sz="1100"/>
              <a:t>3–4 minutes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100"/>
              <a:t>TEACHER SAYS</a:t>
            </a:r>
          </a:p>
          <a:p>
            <a:r>
              <a:rPr sz="1100"/>
              <a:t>Here are our eight sounds for today. Bear says: b says /b/, like bear. Cat starts with /k/. Sun starts with /s/. Go through all eight, pointing at each picture.</a:t>
            </a:r>
          </a:p>
          <a:p/>
          <a:p>
            <a:r>
              <a:rPr b="1" sz="1100"/>
              <a:t>ASK</a:t>
            </a:r>
          </a:p>
          <a:p>
            <a:r>
              <a:rPr sz="1100"/>
              <a:t>Can you say /b/? Can you say /s/?</a:t>
            </a:r>
          </a:p>
          <a:p/>
          <a:p>
            <a:r>
              <a:rPr b="1" sz="1100"/>
              <a:t>EXPECTED ANSWER</a:t>
            </a:r>
          </a:p>
          <a:p>
            <a:r>
              <a:rPr sz="1100"/>
              <a:t>The child repeats each sound after you.</a:t>
            </a:r>
          </a:p>
          <a:p/>
          <a:p>
            <a:r>
              <a:rPr b="1" sz="1100"/>
              <a:t>IF CHILD STRUGGLES</a:t>
            </a:r>
          </a:p>
          <a:p>
            <a:r>
              <a:rPr sz="1100"/>
              <a:t>Say the sound on its own, not the letter name. Stretch it: /mmmm/. Let the child feel his lips. Do only four sounds if eight is too many.</a:t>
            </a:r>
          </a:p>
          <a:p/>
          <a:p>
            <a:r>
              <a:rPr b="1" sz="1100"/>
              <a:t>IF CHILD IS DOING WELL</a:t>
            </a:r>
          </a:p>
          <a:p>
            <a:r>
              <a:rPr sz="1100"/>
              <a:t>Ask him to think of another word that starts with /b/.</a:t>
            </a:r>
          </a:p>
          <a:p/>
          <a:p>
            <a:r>
              <a:rPr b="1" sz="1100"/>
              <a:t>PRAISE</a:t>
            </a:r>
          </a:p>
          <a:p>
            <a:r>
              <a:rPr sz="1100"/>
              <a:t>"Your mouth is making that sound perfectly."</a:t>
            </a:r>
          </a:p>
          <a:p/>
          <a:p>
            <a:r>
              <a:rPr b="1" sz="1100"/>
              <a:t>TIME</a:t>
            </a:r>
          </a:p>
          <a:p>
            <a:r>
              <a:rPr sz="1100"/>
              <a:t>4–5 minutes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100"/>
              <a:t>TEACHER SAYS</a:t>
            </a:r>
          </a:p>
          <a:p>
            <a:r>
              <a:rPr sz="1100"/>
              <a:t>Bear is hunting for sounds. I will give you a sound, and you point to the picture that starts with it. Round one: /b/.</a:t>
            </a:r>
          </a:p>
          <a:p/>
          <a:p>
            <a:r>
              <a:rPr b="1" sz="1100"/>
              <a:t>ASK</a:t>
            </a:r>
          </a:p>
          <a:p>
            <a:r>
              <a:rPr sz="1100"/>
              <a:t>Which picture starts with /b/? /s/? /k/?</a:t>
            </a:r>
          </a:p>
          <a:p/>
          <a:p>
            <a:r>
              <a:rPr b="1" sz="1100"/>
              <a:t>EXPECTED ANSWER</a:t>
            </a:r>
          </a:p>
          <a:p>
            <a:r>
              <a:rPr sz="1100"/>
              <a:t>1. Bear  2. Sun  3. Cat</a:t>
            </a:r>
          </a:p>
          <a:p/>
          <a:p>
            <a:r>
              <a:rPr b="1" sz="1100"/>
              <a:t>IF CHILD STRUGGLES</a:t>
            </a:r>
          </a:p>
          <a:p>
            <a:r>
              <a:rPr sz="1100"/>
              <a:t>Say all three picture names out loud yourself, stretching the first sound: bbbbear, sssun, cccat. Then ask again. Never say "wrong" — say "let's listen to that one again."</a:t>
            </a:r>
          </a:p>
          <a:p/>
          <a:p>
            <a:r>
              <a:rPr b="1" sz="1100"/>
              <a:t>IF CHILD IS DOING WELL</a:t>
            </a:r>
          </a:p>
          <a:p>
            <a:r>
              <a:rPr sz="1100"/>
              <a:t>Ask him to make up a fourth picture that would also start with that sound.</a:t>
            </a:r>
          </a:p>
          <a:p/>
          <a:p>
            <a:r>
              <a:rPr b="1" sz="1100"/>
              <a:t>PRAISE</a:t>
            </a:r>
          </a:p>
          <a:p>
            <a:r>
              <a:rPr sz="1100"/>
              <a:t>"Your ears caught that sound so fast!"</a:t>
            </a:r>
          </a:p>
          <a:p/>
          <a:p>
            <a:r>
              <a:rPr b="1" sz="1100"/>
              <a:t>TIME</a:t>
            </a:r>
          </a:p>
          <a:p>
            <a:r>
              <a:rPr sz="1100"/>
              <a:t>4 minutes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100"/>
              <a:t>TEACHER SAYS</a:t>
            </a:r>
          </a:p>
          <a:p>
            <a:r>
              <a:rPr sz="1100"/>
              <a:t>Three more for Bear. Listen carefully to the very first sound of each word.</a:t>
            </a:r>
          </a:p>
          <a:p/>
          <a:p>
            <a:r>
              <a:rPr b="1" sz="1100"/>
              <a:t>ASK</a:t>
            </a:r>
          </a:p>
          <a:p>
            <a:r>
              <a:rPr sz="1100"/>
              <a:t>Which picture starts with /d/? /p/? /m/?</a:t>
            </a:r>
          </a:p>
          <a:p/>
          <a:p>
            <a:r>
              <a:rPr b="1" sz="1100"/>
              <a:t>EXPECTED ANSWER</a:t>
            </a:r>
          </a:p>
          <a:p>
            <a:r>
              <a:rPr sz="1100"/>
              <a:t>4. Dog  5. Pig  6. Mat</a:t>
            </a:r>
          </a:p>
          <a:p/>
          <a:p>
            <a:r>
              <a:rPr b="1" sz="1100"/>
              <a:t>IF CHILD STRUGGLES</a:t>
            </a:r>
          </a:p>
          <a:p>
            <a:r>
              <a:rPr sz="1100"/>
              <a:t>Cover two of the three pictures with your hand so only two choices remain. Two choices is much easier than three.</a:t>
            </a:r>
          </a:p>
          <a:p/>
          <a:p>
            <a:r>
              <a:rPr b="1" sz="1100"/>
              <a:t>IF CHILD IS DOING WELL</a:t>
            </a:r>
          </a:p>
          <a:p>
            <a:r>
              <a:rPr sz="1100"/>
              <a:t>Ask him to say the whole word and then just the first sound on its own.</a:t>
            </a:r>
          </a:p>
          <a:p/>
          <a:p>
            <a:r>
              <a:rPr b="1" sz="1100"/>
              <a:t>PRAISE</a:t>
            </a:r>
          </a:p>
          <a:p>
            <a:r>
              <a:rPr sz="1100"/>
              <a:t>"That is six sounds found. Bear gets a star!"</a:t>
            </a:r>
          </a:p>
          <a:p/>
          <a:p>
            <a:r>
              <a:rPr b="1" sz="1100"/>
              <a:t>TIME</a:t>
            </a:r>
          </a:p>
          <a:p>
            <a:r>
              <a:rPr sz="1100"/>
              <a:t>4 minutes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100"/>
              <a:t>TEACHER SAYS</a:t>
            </a:r>
          </a:p>
          <a:p>
            <a:r>
              <a:rPr sz="1100"/>
              <a:t>These five letters are special. They are called vowels, and one of them hides inside almost every word. A says /a/ like apple. E says /e/ like egg.</a:t>
            </a:r>
          </a:p>
          <a:p/>
          <a:p>
            <a:r>
              <a:rPr b="1" sz="1100"/>
              <a:t>ASK</a:t>
            </a:r>
          </a:p>
          <a:p>
            <a:r>
              <a:rPr sz="1100"/>
              <a:t>Can you say /a/? What do you see in the apple picture?</a:t>
            </a:r>
          </a:p>
          <a:p/>
          <a:p>
            <a:r>
              <a:rPr b="1" sz="1100"/>
              <a:t>EXPECTED ANSWER</a:t>
            </a:r>
          </a:p>
          <a:p>
            <a:r>
              <a:rPr sz="1100"/>
              <a:t>The child repeats each vowel sound.</a:t>
            </a:r>
          </a:p>
          <a:p/>
          <a:p>
            <a:r>
              <a:rPr b="1" sz="1100"/>
              <a:t>IF CHILD STRUGGLES</a:t>
            </a:r>
          </a:p>
          <a:p>
            <a:r>
              <a:rPr sz="1100"/>
              <a:t>Do not use the word "vowel" if it confuses him. Just call them "the five special sounds." Teach only a, i and u today if five is too many.</a:t>
            </a:r>
          </a:p>
          <a:p/>
          <a:p>
            <a:r>
              <a:rPr b="1" sz="1100"/>
              <a:t>IF CHILD IS DOING WELL</a:t>
            </a:r>
          </a:p>
          <a:p>
            <a:r>
              <a:rPr sz="1100"/>
              <a:t>Ask which vowel he can hear in his own name.</a:t>
            </a:r>
          </a:p>
          <a:p/>
          <a:p>
            <a:r>
              <a:rPr b="1" sz="1100"/>
              <a:t>PRAISE</a:t>
            </a:r>
          </a:p>
          <a:p>
            <a:r>
              <a:rPr sz="1100"/>
              <a:t>"You said all five! Those are the trickiest sounds in English."</a:t>
            </a:r>
          </a:p>
          <a:p/>
          <a:p>
            <a:r>
              <a:rPr b="1" sz="1100"/>
              <a:t>TIME</a:t>
            </a:r>
          </a:p>
          <a:p>
            <a:r>
              <a:rPr sz="1100"/>
              <a:t>3–4 minutes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100"/>
              <a:t>TEACHER SAYS</a:t>
            </a:r>
          </a:p>
          <a:p>
            <a:r>
              <a:rPr sz="1100"/>
              <a:t>Every word has a sound hiding in the middle. Listen: c-aaa-t. The middle sound is /a/. Now you find the middle sound.</a:t>
            </a:r>
          </a:p>
          <a:p/>
          <a:p>
            <a:r>
              <a:rPr b="1" sz="1100"/>
              <a:t>ASK</a:t>
            </a:r>
          </a:p>
          <a:p>
            <a:r>
              <a:rPr sz="1100"/>
              <a:t>What vowel do you hear in CAT? In PIG? In SUN?</a:t>
            </a:r>
          </a:p>
          <a:p/>
          <a:p>
            <a:r>
              <a:rPr b="1" sz="1100"/>
              <a:t>EXPECTED ANSWER</a:t>
            </a:r>
          </a:p>
          <a:p>
            <a:r>
              <a:rPr sz="1100"/>
              <a:t>1. A  2. I  3. U</a:t>
            </a:r>
          </a:p>
          <a:p/>
          <a:p>
            <a:r>
              <a:rPr b="1" sz="1100"/>
              <a:t>IF CHILD STRUGGLES</a:t>
            </a:r>
          </a:p>
          <a:p>
            <a:r>
              <a:rPr sz="1100"/>
              <a:t>Say the word very slowly and stretch only the middle sound. Then say just that sound on its own and ask which letter it matches.</a:t>
            </a:r>
          </a:p>
          <a:p/>
          <a:p>
            <a:r>
              <a:rPr b="1" sz="1100"/>
              <a:t>IF CHILD IS DOING WELL</a:t>
            </a:r>
          </a:p>
          <a:p>
            <a:r>
              <a:rPr sz="1100"/>
              <a:t>Ask him to say another word with the same middle sound.</a:t>
            </a:r>
          </a:p>
          <a:p/>
          <a:p>
            <a:r>
              <a:rPr b="1" sz="1100"/>
              <a:t>PRAISE</a:t>
            </a:r>
          </a:p>
          <a:p>
            <a:r>
              <a:rPr sz="1100"/>
              <a:t>"You heard the sound right in the middle. That is hard!"</a:t>
            </a:r>
          </a:p>
          <a:p/>
          <a:p>
            <a:r>
              <a:rPr b="1" sz="1100"/>
              <a:t>TIME</a:t>
            </a:r>
          </a:p>
          <a:p>
            <a:r>
              <a:rPr sz="1100"/>
              <a:t>3 minutes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100"/>
              <a:t>TEACHER SAYS</a:t>
            </a:r>
          </a:p>
          <a:p>
            <a:r>
              <a:rPr sz="1100"/>
              <a:t>Bear's basket needs three more vowels. Same game: listen for the middle.</a:t>
            </a:r>
          </a:p>
          <a:p/>
          <a:p>
            <a:r>
              <a:rPr b="1" sz="1100"/>
              <a:t>ASK</a:t>
            </a:r>
          </a:p>
          <a:p>
            <a:r>
              <a:rPr sz="1100"/>
              <a:t>What vowel do you hear in HEN? In DOG? In MAT?</a:t>
            </a:r>
          </a:p>
          <a:p/>
          <a:p>
            <a:r>
              <a:rPr b="1" sz="1100"/>
              <a:t>EXPECTED ANSWER</a:t>
            </a:r>
          </a:p>
          <a:p>
            <a:r>
              <a:rPr sz="1100"/>
              <a:t>4. E  5. O  6. A</a:t>
            </a:r>
          </a:p>
          <a:p/>
          <a:p>
            <a:r>
              <a:rPr b="1" sz="1100"/>
              <a:t>IF CHILD STRUGGLES</a:t>
            </a:r>
          </a:p>
          <a:p>
            <a:r>
              <a:rPr sz="1100"/>
              <a:t>If two choices sound the same to him, model both clearly: /e/ ... /i/. Ask which one matches the word. Accept a pointed finger, not just a spoken answer.</a:t>
            </a:r>
          </a:p>
          <a:p/>
          <a:p>
            <a:r>
              <a:rPr b="1" sz="1100"/>
              <a:t>IF CHILD IS DOING WELL</a:t>
            </a:r>
          </a:p>
          <a:p>
            <a:r>
              <a:rPr sz="1100"/>
              <a:t>Ask him to change the vowel: what happens if MAT becomes MET?</a:t>
            </a:r>
          </a:p>
          <a:p/>
          <a:p>
            <a:r>
              <a:rPr b="1" sz="1100"/>
              <a:t>PRAISE</a:t>
            </a:r>
          </a:p>
          <a:p>
            <a:r>
              <a:rPr sz="1100"/>
              <a:t>"Bear's basket is full. Another star for you!"</a:t>
            </a:r>
          </a:p>
          <a:p/>
          <a:p>
            <a:r>
              <a:rPr b="1" sz="1100"/>
              <a:t>TIME</a:t>
            </a:r>
          </a:p>
          <a:p>
            <a:r>
              <a:rPr sz="1100"/>
              <a:t>3 minutes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100"/>
              <a:t>TEACHER SAYS</a:t>
            </a:r>
          </a:p>
          <a:p>
            <a:r>
              <a:rPr sz="1100"/>
              <a:t>Watch me. I say each sound on its own: /k/ /a/ /t/. Now I push them together fast: CAT. Now let's do it together. Now you try it.</a:t>
            </a:r>
          </a:p>
          <a:p/>
          <a:p>
            <a:r>
              <a:rPr b="1" sz="1100"/>
              <a:t>ASK</a:t>
            </a:r>
          </a:p>
          <a:p>
            <a:r>
              <a:rPr sz="1100"/>
              <a:t>What word do /k/ /a/ /t/ make?</a:t>
            </a:r>
          </a:p>
          <a:p/>
          <a:p>
            <a:r>
              <a:rPr b="1" sz="1100"/>
              <a:t>EXPECTED ANSWER</a:t>
            </a:r>
          </a:p>
          <a:p>
            <a:r>
              <a:rPr sz="1100"/>
              <a:t>CAT</a:t>
            </a:r>
          </a:p>
          <a:p/>
          <a:p>
            <a:r>
              <a:rPr b="1" sz="1100"/>
              <a:t>IF CHILD STRUGGLES</a:t>
            </a:r>
          </a:p>
          <a:p>
            <a:r>
              <a:rPr sz="1100"/>
              <a:t>Slide your finger under the letters as you say the sounds, then sweep it fast for the whole word. The finger sweep is what makes blending click.</a:t>
            </a:r>
          </a:p>
          <a:p/>
          <a:p>
            <a:r>
              <a:rPr b="1" sz="1100"/>
              <a:t>IF CHILD IS DOING WELL</a:t>
            </a:r>
          </a:p>
          <a:p>
            <a:r>
              <a:rPr sz="1100"/>
              <a:t>Ask him to blend a new word you say out loud: /m/ /a/ /t/.</a:t>
            </a:r>
          </a:p>
          <a:p/>
          <a:p>
            <a:r>
              <a:rPr b="1" sz="1100"/>
              <a:t>PRAISE</a:t>
            </a:r>
          </a:p>
          <a:p>
            <a:r>
              <a:rPr sz="1100"/>
              <a:t>"You pushed the sounds together! That is called blending."</a:t>
            </a:r>
          </a:p>
          <a:p/>
          <a:p>
            <a:r>
              <a:rPr b="1" sz="1100"/>
              <a:t>TIME</a:t>
            </a:r>
          </a:p>
          <a:p>
            <a:r>
              <a:rPr sz="1100"/>
              <a:t>4 minutes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100"/>
              <a:t>TEACHER SAYS</a:t>
            </a:r>
          </a:p>
          <a:p>
            <a:r>
              <a:rPr sz="1100"/>
              <a:t>Bear needs three words. For each one, say the sounds, then push them together.</a:t>
            </a:r>
          </a:p>
          <a:p/>
          <a:p>
            <a:r>
              <a:rPr b="1" sz="1100"/>
              <a:t>ASK</a:t>
            </a:r>
          </a:p>
          <a:p>
            <a:r>
              <a:rPr sz="1100"/>
              <a:t>What sounds do you see? Now what is the word?</a:t>
            </a:r>
          </a:p>
          <a:p/>
          <a:p>
            <a:r>
              <a:rPr b="1" sz="1100"/>
              <a:t>EXPECTED ANSWER</a:t>
            </a:r>
          </a:p>
          <a:p>
            <a:r>
              <a:rPr sz="1100"/>
              <a:t>1. CAT  2. SUN  3. PIG</a:t>
            </a:r>
          </a:p>
          <a:p/>
          <a:p>
            <a:r>
              <a:rPr b="1" sz="1100"/>
              <a:t>IF CHILD STRUGGLES</a:t>
            </a:r>
          </a:p>
          <a:p>
            <a:r>
              <a:rPr sz="1100"/>
              <a:t>Cover the last letter so he only blends two sounds first: /k/ /a/. Then uncover the /t/ and blend all three.</a:t>
            </a:r>
          </a:p>
          <a:p/>
          <a:p>
            <a:r>
              <a:rPr b="1" sz="1100"/>
              <a:t>IF CHILD IS DOING WELL</a:t>
            </a:r>
          </a:p>
          <a:p>
            <a:r>
              <a:rPr sz="1100"/>
              <a:t>Ask him to find the vowel in the middle of each word.</a:t>
            </a:r>
          </a:p>
          <a:p/>
          <a:p>
            <a:r>
              <a:rPr b="1" sz="1100"/>
              <a:t>PRAISE</a:t>
            </a:r>
          </a:p>
          <a:p>
            <a:r>
              <a:rPr sz="1100"/>
              <a:t>"Three words built! Bear is so proud."</a:t>
            </a:r>
          </a:p>
          <a:p/>
          <a:p>
            <a:r>
              <a:rPr b="1" sz="1100"/>
              <a:t>TIME</a:t>
            </a:r>
          </a:p>
          <a:p>
            <a:r>
              <a:rPr sz="1100"/>
              <a:t>5 minutes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100"/>
              <a:t>TEACHER SAYS</a:t>
            </a:r>
          </a:p>
          <a:p>
            <a:r>
              <a:rPr sz="1100"/>
              <a:t>Three more. These have different vowels in the middle, so listen carefully.</a:t>
            </a:r>
          </a:p>
          <a:p/>
          <a:p>
            <a:r>
              <a:rPr b="1" sz="1100"/>
              <a:t>ASK</a:t>
            </a:r>
          </a:p>
          <a:p>
            <a:r>
              <a:rPr sz="1100"/>
              <a:t>Say the sounds, then say the word.</a:t>
            </a:r>
          </a:p>
          <a:p/>
          <a:p>
            <a:r>
              <a:rPr b="1" sz="1100"/>
              <a:t>EXPECTED ANSWER</a:t>
            </a:r>
          </a:p>
          <a:p>
            <a:r>
              <a:rPr sz="1100"/>
              <a:t>4. DOG  5. HEN  6. BAT</a:t>
            </a:r>
          </a:p>
          <a:p/>
          <a:p>
            <a:r>
              <a:rPr b="1" sz="1100"/>
              <a:t>IF CHILD STRUGGLES</a:t>
            </a:r>
          </a:p>
          <a:p>
            <a:r>
              <a:rPr sz="1100"/>
              <a:t>Give him the first sound out loud and let him do the rest. Handing him the start is not cheating — it keeps him moving forward.</a:t>
            </a:r>
          </a:p>
          <a:p/>
          <a:p>
            <a:r>
              <a:rPr b="1" sz="1100"/>
              <a:t>IF CHILD IS DOING WELL</a:t>
            </a:r>
          </a:p>
          <a:p>
            <a:r>
              <a:rPr sz="1100"/>
              <a:t>Ask him to change one letter: what does BAT become if we swap B for C?</a:t>
            </a:r>
          </a:p>
          <a:p/>
          <a:p>
            <a:r>
              <a:rPr b="1" sz="1100"/>
              <a:t>PRAISE</a:t>
            </a:r>
          </a:p>
          <a:p>
            <a:r>
              <a:rPr sz="1100"/>
              <a:t>"Six words today. You are really reading now."</a:t>
            </a:r>
          </a:p>
          <a:p/>
          <a:p>
            <a:r>
              <a:rPr b="1" sz="1100"/>
              <a:t>TIME</a:t>
            </a:r>
          </a:p>
          <a:p>
            <a:r>
              <a:rPr sz="1100"/>
              <a:t>5 minutes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100"/>
              <a:t>TEACHER SAYS</a:t>
            </a:r>
          </a:p>
          <a:p>
            <a:r>
              <a:rPr sz="1100"/>
              <a:t>Look at these houses. Every word in the first house ends the same way: cat, bat, hat, mat. They rhyme. If you can read one, you can read all of them.</a:t>
            </a:r>
          </a:p>
          <a:p/>
          <a:p>
            <a:r>
              <a:rPr b="1" sz="1100"/>
              <a:t>ASK</a:t>
            </a:r>
          </a:p>
          <a:p>
            <a:r>
              <a:rPr sz="1100"/>
              <a:t>Can you hear the same part in cat and hat?</a:t>
            </a:r>
          </a:p>
          <a:p/>
          <a:p>
            <a:r>
              <a:rPr b="1" sz="1100"/>
              <a:t>EXPECTED ANSWER</a:t>
            </a:r>
          </a:p>
          <a:p>
            <a:r>
              <a:rPr sz="1100"/>
              <a:t>Yes — the -at sound.</a:t>
            </a:r>
          </a:p>
          <a:p/>
          <a:p>
            <a:r>
              <a:rPr b="1" sz="1100"/>
              <a:t>IF CHILD STRUGGLES</a:t>
            </a:r>
          </a:p>
          <a:p>
            <a:r>
              <a:rPr sz="1100"/>
              <a:t>Read the whole family out loud in a rhythm and let him join in on the last word. Rhyme is easier to hear than it is to explain.</a:t>
            </a:r>
          </a:p>
          <a:p/>
          <a:p>
            <a:r>
              <a:rPr b="1" sz="1100"/>
              <a:t>IF CHILD IS DOING WELL</a:t>
            </a:r>
          </a:p>
          <a:p>
            <a:r>
              <a:rPr sz="1100"/>
              <a:t>Ask him to make up a silly word for one of the houses, like "zat."</a:t>
            </a:r>
          </a:p>
          <a:p/>
          <a:p>
            <a:r>
              <a:rPr b="1" sz="1100"/>
              <a:t>PRAISE</a:t>
            </a:r>
          </a:p>
          <a:p>
            <a:r>
              <a:rPr sz="1100"/>
              <a:t>"You heard the rhyme! That is a big reading trick."</a:t>
            </a:r>
          </a:p>
          <a:p/>
          <a:p>
            <a:r>
              <a:rPr b="1" sz="1100"/>
              <a:t>TIME</a:t>
            </a:r>
          </a:p>
          <a:p>
            <a:r>
              <a:rPr sz="1100"/>
              <a:t>4 minutes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100"/>
              <a:t>TEACHER SAYS</a:t>
            </a:r>
          </a:p>
          <a:p>
            <a:r>
              <a:rPr sz="1100"/>
              <a:t>Each word needs to find its house. Listen to the ending of the word, not the beginning.</a:t>
            </a:r>
          </a:p>
          <a:p/>
          <a:p>
            <a:r>
              <a:rPr b="1" sz="1100"/>
              <a:t>ASK</a:t>
            </a:r>
          </a:p>
          <a:p>
            <a:r>
              <a:rPr sz="1100"/>
              <a:t>Which house does CAT live in? RUN? BIG? HAT?</a:t>
            </a:r>
          </a:p>
          <a:p/>
          <a:p>
            <a:r>
              <a:rPr b="1" sz="1100"/>
              <a:t>EXPECTED ANSWER</a:t>
            </a:r>
          </a:p>
          <a:p>
            <a:r>
              <a:rPr sz="1100"/>
              <a:t>1. -AT  2. -UN  3. -IG  4. -AT</a:t>
            </a:r>
          </a:p>
          <a:p/>
          <a:p>
            <a:r>
              <a:rPr b="1" sz="1100"/>
              <a:t>IF CHILD STRUGGLES</a:t>
            </a:r>
          </a:p>
          <a:p>
            <a:r>
              <a:rPr sz="1100"/>
              <a:t>Cover the first letter of the word with your finger so only the ending shows. Then the match is obvious.</a:t>
            </a:r>
          </a:p>
          <a:p/>
          <a:p>
            <a:r>
              <a:rPr b="1" sz="1100"/>
              <a:t>IF CHILD IS DOING WELL</a:t>
            </a:r>
          </a:p>
          <a:p>
            <a:r>
              <a:rPr sz="1100"/>
              <a:t>Ask him to name another word that lives in the same house.</a:t>
            </a:r>
          </a:p>
          <a:p/>
          <a:p>
            <a:r>
              <a:rPr b="1" sz="1100"/>
              <a:t>PRAISE</a:t>
            </a:r>
          </a:p>
          <a:p>
            <a:r>
              <a:rPr sz="1100"/>
              <a:t>"You found every house. Bear did not get lost once!"</a:t>
            </a:r>
          </a:p>
          <a:p/>
          <a:p>
            <a:r>
              <a:rPr b="1" sz="1100"/>
              <a:t>TIME</a:t>
            </a:r>
          </a:p>
          <a:p>
            <a:r>
              <a:rPr sz="1100"/>
              <a:t>4 minutes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100"/>
              <a:t>TEACHER SAYS</a:t>
            </a:r>
          </a:p>
          <a:p>
            <a:r>
              <a:rPr sz="1100"/>
              <a:t>Four more words are looking for their house. Same trick: listen to the ending.</a:t>
            </a:r>
          </a:p>
          <a:p/>
          <a:p>
            <a:r>
              <a:rPr b="1" sz="1100"/>
              <a:t>ASK</a:t>
            </a:r>
          </a:p>
          <a:p>
            <a:r>
              <a:rPr sz="1100"/>
              <a:t>Which house does FAN live in? BAT? SUN? PIG?</a:t>
            </a:r>
          </a:p>
          <a:p/>
          <a:p>
            <a:r>
              <a:rPr b="1" sz="1100"/>
              <a:t>EXPECTED ANSWER</a:t>
            </a:r>
          </a:p>
          <a:p>
            <a:r>
              <a:rPr sz="1100"/>
              <a:t>5. -AN  6. -AT  7. -UN  8. -IG</a:t>
            </a:r>
          </a:p>
          <a:p/>
          <a:p>
            <a:r>
              <a:rPr b="1" sz="1100"/>
              <a:t>IF CHILD STRUGGLES</a:t>
            </a:r>
          </a:p>
          <a:p>
            <a:r>
              <a:rPr sz="1100"/>
              <a:t>Say the word and an obviously wrong house out loud so he can hear it does not rhyme. Hearing the mismatch teaches faster than being told.</a:t>
            </a:r>
          </a:p>
          <a:p/>
          <a:p>
            <a:r>
              <a:rPr b="1" sz="1100"/>
              <a:t>IF CHILD IS DOING WELL</a:t>
            </a:r>
          </a:p>
          <a:p>
            <a:r>
              <a:rPr sz="1100"/>
              <a:t>Ask him to read all four words in a row without help.</a:t>
            </a:r>
          </a:p>
          <a:p/>
          <a:p>
            <a:r>
              <a:rPr b="1" sz="1100"/>
              <a:t>PRAISE</a:t>
            </a:r>
          </a:p>
          <a:p>
            <a:r>
              <a:rPr sz="1100"/>
              <a:t>"Eight words housed. You are a rhyming expert."</a:t>
            </a:r>
          </a:p>
          <a:p/>
          <a:p>
            <a:r>
              <a:rPr b="1" sz="1100"/>
              <a:t>TIME</a:t>
            </a:r>
          </a:p>
          <a:p>
            <a:r>
              <a:rPr sz="1100"/>
              <a:t>4 minutes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100"/>
              <a:t>TEACHER SAYS</a:t>
            </a:r>
          </a:p>
          <a:p>
            <a:r>
              <a:rPr sz="1100"/>
              <a:t>Time for a quick break, but we stay in our seats. If I say "Bear says," you do it. If I forget to say it, you sit still and catch me out.</a:t>
            </a:r>
          </a:p>
          <a:p/>
          <a:p>
            <a:r>
              <a:rPr b="1" sz="1100"/>
              <a:t>ASK</a:t>
            </a:r>
          </a:p>
          <a:p>
            <a:r>
              <a:rPr sz="1100"/>
              <a:t>Bear says clap two times. Bear says point to CAT.</a:t>
            </a:r>
          </a:p>
          <a:p/>
          <a:p>
            <a:r>
              <a:rPr b="1" sz="1100"/>
              <a:t>EXPECTED ANSWER</a:t>
            </a:r>
          </a:p>
          <a:p>
            <a:r>
              <a:rPr sz="1100"/>
              <a:t>The child performs each action; he freezes on commands without "Bear says."</a:t>
            </a:r>
          </a:p>
          <a:p/>
          <a:p>
            <a:r>
              <a:rPr b="1" sz="1100"/>
              <a:t>IF CHILD STRUGGLES</a:t>
            </a:r>
          </a:p>
          <a:p>
            <a:r>
              <a:rPr sz="1100"/>
              <a:t>Slow the pace right down and use only the clapping and whispering ones. Reading under time pressure is not the goal here.</a:t>
            </a:r>
          </a:p>
          <a:p/>
          <a:p>
            <a:r>
              <a:rPr b="1" sz="1100"/>
              <a:t>IF CHILD IS DOING WELL</a:t>
            </a:r>
          </a:p>
          <a:p>
            <a:r>
              <a:rPr sz="1100"/>
              <a:t>Speed up, and try one command without "Bear says" to see if he catches it.</a:t>
            </a:r>
          </a:p>
          <a:p/>
          <a:p>
            <a:r>
              <a:rPr b="1" sz="1100"/>
              <a:t>PRAISE</a:t>
            </a:r>
          </a:p>
          <a:p>
            <a:r>
              <a:rPr sz="1100"/>
              <a:t>"You caught me! And you read CAT while you were playing."</a:t>
            </a:r>
          </a:p>
          <a:p/>
          <a:p>
            <a:r>
              <a:rPr b="1" sz="1100"/>
              <a:t>TIME</a:t>
            </a:r>
          </a:p>
          <a:p>
            <a:r>
              <a:rPr sz="1100"/>
              <a:t>4 minutes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100"/>
              <a:t>TEACHER SAYS</a:t>
            </a:r>
          </a:p>
          <a:p>
            <a:r>
              <a:rPr sz="1100"/>
              <a:t>Some words do not follow the sound rules, so we just learn them by sight. This one is "I." This one is "the." Show two or three at a time, not all eight.</a:t>
            </a:r>
          </a:p>
          <a:p/>
          <a:p>
            <a:r>
              <a:rPr b="1" sz="1100"/>
              <a:t>ASK</a:t>
            </a:r>
          </a:p>
          <a:p>
            <a:r>
              <a:rPr sz="1100"/>
              <a:t>What is this word? And this one?</a:t>
            </a:r>
          </a:p>
          <a:p/>
          <a:p>
            <a:r>
              <a:rPr b="1" sz="1100"/>
              <a:t>EXPECTED ANSWER</a:t>
            </a:r>
          </a:p>
          <a:p>
            <a:r>
              <a:rPr sz="1100"/>
              <a:t>The child names each word on sight.</a:t>
            </a:r>
          </a:p>
          <a:p/>
          <a:p>
            <a:r>
              <a:rPr b="1" sz="1100"/>
              <a:t>IF CHILD STRUGGLES</a:t>
            </a:r>
          </a:p>
          <a:p>
            <a:r>
              <a:rPr sz="1100"/>
              <a:t>Cover six of the eight cards. Teach only "I" and "the" properly, then come back for more later. Two known words beat eight half-known ones.</a:t>
            </a:r>
          </a:p>
          <a:p/>
          <a:p>
            <a:r>
              <a:rPr b="1" sz="1100"/>
              <a:t>IF CHILD IS DOING WELL</a:t>
            </a:r>
          </a:p>
          <a:p>
            <a:r>
              <a:rPr sz="1100"/>
              <a:t>Put two together and read them as a phrase: "I am," "the sun."</a:t>
            </a:r>
          </a:p>
          <a:p/>
          <a:p>
            <a:r>
              <a:rPr b="1" sz="1100"/>
              <a:t>PRAISE</a:t>
            </a:r>
          </a:p>
          <a:p>
            <a:r>
              <a:rPr sz="1100"/>
              <a:t>"You just knew that word straight away. That is real reading."</a:t>
            </a:r>
          </a:p>
          <a:p/>
          <a:p>
            <a:r>
              <a:rPr b="1" sz="1100"/>
              <a:t>TIME</a:t>
            </a:r>
          </a:p>
          <a:p>
            <a:r>
              <a:rPr sz="1100"/>
              <a:t>4 minutes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100"/>
              <a:t>TEACHER SAYS</a:t>
            </a:r>
          </a:p>
          <a:p>
            <a:r>
              <a:rPr sz="1100"/>
              <a:t>Bear's treasure chest is locked. It opens when you find the right word. First word to find: "I."</a:t>
            </a:r>
          </a:p>
          <a:p/>
          <a:p>
            <a:r>
              <a:rPr b="1" sz="1100"/>
              <a:t>ASK</a:t>
            </a:r>
          </a:p>
          <a:p>
            <a:r>
              <a:rPr sz="1100"/>
              <a:t>Can you find the word I? The word the? The word can?</a:t>
            </a:r>
          </a:p>
          <a:p/>
          <a:p>
            <a:r>
              <a:rPr b="1" sz="1100"/>
              <a:t>EXPECTED ANSWER</a:t>
            </a:r>
          </a:p>
          <a:p>
            <a:r>
              <a:rPr sz="1100"/>
              <a:t>1. I  2. the  3. can</a:t>
            </a:r>
          </a:p>
          <a:p/>
          <a:p>
            <a:r>
              <a:rPr b="1" sz="1100"/>
              <a:t>IF CHILD STRUGGLES</a:t>
            </a:r>
          </a:p>
          <a:p>
            <a:r>
              <a:rPr sz="1100"/>
              <a:t>Read all three choices out loud yourself and ask which one sounded like the word you wanted. Listening is easier than looking.</a:t>
            </a:r>
          </a:p>
          <a:p/>
          <a:p>
            <a:r>
              <a:rPr b="1" sz="1100"/>
              <a:t>IF CHILD IS DOING WELL</a:t>
            </a:r>
          </a:p>
          <a:p>
            <a:r>
              <a:rPr sz="1100"/>
              <a:t>Ask him to use the word in a short sentence out loud.</a:t>
            </a:r>
          </a:p>
          <a:p/>
          <a:p>
            <a:r>
              <a:rPr b="1" sz="1100"/>
              <a:t>PRAISE</a:t>
            </a:r>
          </a:p>
          <a:p>
            <a:r>
              <a:rPr sz="1100"/>
              <a:t>"The treasure is open! You found it."</a:t>
            </a:r>
          </a:p>
          <a:p/>
          <a:p>
            <a:r>
              <a:rPr b="1" sz="1100"/>
              <a:t>TIME</a:t>
            </a:r>
          </a:p>
          <a:p>
            <a:r>
              <a:rPr sz="1100"/>
              <a:t>4 minutes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100"/>
              <a:t>TEACHER SAYS</a:t>
            </a:r>
          </a:p>
          <a:p>
            <a:r>
              <a:rPr sz="1100"/>
              <a:t>Three more chests. These words are in our story later, so finding them now makes the story easier.</a:t>
            </a:r>
          </a:p>
          <a:p/>
          <a:p>
            <a:r>
              <a:rPr b="1" sz="1100"/>
              <a:t>ASK</a:t>
            </a:r>
          </a:p>
          <a:p>
            <a:r>
              <a:rPr sz="1100"/>
              <a:t>Can you find see? my? am?</a:t>
            </a:r>
          </a:p>
          <a:p/>
          <a:p>
            <a:r>
              <a:rPr b="1" sz="1100"/>
              <a:t>EXPECTED ANSWER</a:t>
            </a:r>
          </a:p>
          <a:p>
            <a:r>
              <a:rPr sz="1100"/>
              <a:t>4. see  5. my  6. am</a:t>
            </a:r>
          </a:p>
          <a:p/>
          <a:p>
            <a:r>
              <a:rPr b="1" sz="1100"/>
              <a:t>IF CHILD STRUGGLES</a:t>
            </a:r>
          </a:p>
          <a:p>
            <a:r>
              <a:rPr sz="1100"/>
              <a:t>Point to the word on the previous slide's card so he can compare the shapes side by side. Matching shapes is a valid strategy at this stage.</a:t>
            </a:r>
          </a:p>
          <a:p/>
          <a:p>
            <a:r>
              <a:rPr b="1" sz="1100"/>
              <a:t>IF CHILD IS DOING WELL</a:t>
            </a:r>
          </a:p>
          <a:p>
            <a:r>
              <a:rPr sz="1100"/>
              <a:t>Ask him to read all eight sight words in a row, quickly.</a:t>
            </a:r>
          </a:p>
          <a:p/>
          <a:p>
            <a:r>
              <a:rPr b="1" sz="1100"/>
              <a:t>PRAISE</a:t>
            </a:r>
          </a:p>
          <a:p>
            <a:r>
              <a:rPr sz="1100"/>
              <a:t>"All the treasure is yours. Bear gets another star."</a:t>
            </a:r>
          </a:p>
          <a:p/>
          <a:p>
            <a:r>
              <a:rPr b="1" sz="1100"/>
              <a:t>TIME</a:t>
            </a:r>
          </a:p>
          <a:p>
            <a:r>
              <a:rPr sz="1100"/>
              <a:t>4 minutes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100"/>
              <a:t>TEACHER SAYS</a:t>
            </a:r>
          </a:p>
          <a:p>
            <a:r>
              <a:rPr sz="1100"/>
              <a:t>Look carefully. The words got mixed up and they are under the wrong pictures. Let's put them right.</a:t>
            </a:r>
          </a:p>
          <a:p/>
          <a:p>
            <a:r>
              <a:rPr b="1" sz="1100"/>
              <a:t>ASK</a:t>
            </a:r>
          </a:p>
          <a:p>
            <a:r>
              <a:rPr sz="1100"/>
              <a:t>Which word goes with the dog? With the sun? With the cat?</a:t>
            </a:r>
          </a:p>
          <a:p/>
          <a:p>
            <a:r>
              <a:rPr b="1" sz="1100"/>
              <a:t>EXPECTED ANSWER</a:t>
            </a:r>
          </a:p>
          <a:p>
            <a:r>
              <a:rPr sz="1100"/>
              <a:t>DOG under the dog, SUN under the sun, CAT under the cat.</a:t>
            </a:r>
          </a:p>
          <a:p/>
          <a:p>
            <a:r>
              <a:rPr b="1" sz="1100"/>
              <a:t>IF CHILD STRUGGLES</a:t>
            </a:r>
          </a:p>
          <a:p>
            <a:r>
              <a:rPr sz="1100"/>
              <a:t>Cover two pictures so only one picture and three words remain. Then ask which word starts with the same sound as the picture.</a:t>
            </a:r>
          </a:p>
          <a:p/>
          <a:p>
            <a:r>
              <a:rPr b="1" sz="1100"/>
              <a:t>IF CHILD IS DOING WELL</a:t>
            </a:r>
          </a:p>
          <a:p>
            <a:r>
              <a:rPr sz="1100"/>
              <a:t>Ask him to read the word before he matches it, not after.</a:t>
            </a:r>
          </a:p>
          <a:p/>
          <a:p>
            <a:r>
              <a:rPr b="1" sz="1100"/>
              <a:t>PRAISE</a:t>
            </a:r>
          </a:p>
          <a:p>
            <a:r>
              <a:rPr sz="1100"/>
              <a:t>"You matched them by reading, not just guessing. Well done."</a:t>
            </a:r>
          </a:p>
          <a:p/>
          <a:p>
            <a:r>
              <a:rPr b="1" sz="1100"/>
              <a:t>TIME</a:t>
            </a:r>
          </a:p>
          <a:p>
            <a:r>
              <a:rPr sz="1100"/>
              <a:t>3 minutes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100"/>
              <a:t>TEACHER SAYS</a:t>
            </a:r>
          </a:p>
          <a:p>
            <a:r>
              <a:rPr sz="1100"/>
              <a:t>Three of these have a picture to help you. The last one does not. That means you have to read the word all on your own — and I think you can.</a:t>
            </a:r>
          </a:p>
          <a:p/>
          <a:p>
            <a:r>
              <a:rPr b="1" sz="1100"/>
              <a:t>ASK</a:t>
            </a:r>
          </a:p>
          <a:p>
            <a:r>
              <a:rPr sz="1100"/>
              <a:t>What is this word? And the one with no picture?</a:t>
            </a:r>
          </a:p>
          <a:p/>
          <a:p>
            <a:r>
              <a:rPr b="1" sz="1100"/>
              <a:t>EXPECTED ANSWER</a:t>
            </a:r>
          </a:p>
          <a:p>
            <a:r>
              <a:rPr sz="1100"/>
              <a:t>PIG, BAT, HEN, BALL</a:t>
            </a:r>
          </a:p>
          <a:p/>
          <a:p>
            <a:r>
              <a:rPr b="1" sz="1100"/>
              <a:t>IF CHILD STRUGGLES</a:t>
            </a:r>
          </a:p>
          <a:p>
            <a:r>
              <a:rPr sz="1100"/>
              <a:t>For BALL, cover the -all and show only B. Ask for the first sound, then uncover the rest and read it together.</a:t>
            </a:r>
          </a:p>
          <a:p/>
          <a:p>
            <a:r>
              <a:rPr b="1" sz="1100"/>
              <a:t>IF CHILD IS DOING WELL</a:t>
            </a:r>
          </a:p>
          <a:p>
            <a:r>
              <a:rPr sz="1100"/>
              <a:t>Cover a second picture and ask him to read that word unaided too.</a:t>
            </a:r>
          </a:p>
          <a:p/>
          <a:p>
            <a:r>
              <a:rPr b="1" sz="1100"/>
              <a:t>PRAISE</a:t>
            </a:r>
          </a:p>
          <a:p>
            <a:r>
              <a:rPr sz="1100"/>
              <a:t>"You read a word with no picture at all. That is huge."</a:t>
            </a:r>
          </a:p>
          <a:p/>
          <a:p>
            <a:r>
              <a:rPr b="1" sz="1100"/>
              <a:t>TIME</a:t>
            </a:r>
          </a:p>
          <a:p>
            <a:r>
              <a:rPr sz="1100"/>
              <a:t>4 minutes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100"/>
              <a:t>TEACHER SAYS</a:t>
            </a:r>
          </a:p>
          <a:p>
            <a:r>
              <a:rPr sz="1100"/>
              <a:t>Here is how we read every sentence today. First I read it. Then we read it together. Then, only if you want to, you read it by yourself.</a:t>
            </a:r>
          </a:p>
          <a:p/>
          <a:p>
            <a:r>
              <a:rPr b="1" sz="1100"/>
              <a:t>ASK</a:t>
            </a:r>
          </a:p>
          <a:p>
            <a:r>
              <a:rPr sz="1100"/>
              <a:t>Which step do you want to try first?</a:t>
            </a:r>
          </a:p>
          <a:p/>
          <a:p>
            <a:r>
              <a:rPr b="1" sz="1100"/>
              <a:t>EXPECTED ANSWER</a:t>
            </a:r>
          </a:p>
          <a:p>
            <a:r>
              <a:rPr sz="1100"/>
              <a:t>Any. Most children pick step two.</a:t>
            </a:r>
          </a:p>
          <a:p/>
          <a:p>
            <a:r>
              <a:rPr b="1" sz="1100"/>
              <a:t>IF CHILD STRUGGLES</a:t>
            </a:r>
          </a:p>
          <a:p>
            <a:r>
              <a:rPr sz="1100"/>
              <a:t>Stay on step one and step two for as long as he needs. Step three is optional every single time.</a:t>
            </a:r>
          </a:p>
          <a:p/>
          <a:p>
            <a:r>
              <a:rPr b="1" sz="1100"/>
              <a:t>IF CHILD IS DOING WELL</a:t>
            </a:r>
          </a:p>
          <a:p>
            <a:r>
              <a:rPr sz="1100"/>
              <a:t>Ask him to go straight to step three on an easy sentence.</a:t>
            </a:r>
          </a:p>
          <a:p/>
          <a:p>
            <a:r>
              <a:rPr b="1" sz="1100"/>
              <a:t>PRAISE</a:t>
            </a:r>
          </a:p>
          <a:p>
            <a:r>
              <a:rPr sz="1100"/>
              <a:t>"You get to choose. That is what heroes do."</a:t>
            </a:r>
          </a:p>
          <a:p/>
          <a:p>
            <a:r>
              <a:rPr b="1" sz="1100"/>
              <a:t>TIME</a:t>
            </a:r>
          </a:p>
          <a:p>
            <a:r>
              <a:rPr sz="1100"/>
              <a:t>2 minutes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100"/>
              <a:t>TEACHER SAYS</a:t>
            </a:r>
          </a:p>
          <a:p>
            <a:r>
              <a:rPr sz="1100"/>
              <a:t>I am going to read, and I want your finger to follow along under each word. Ready? "I am Sam." Now let's read it together.</a:t>
            </a:r>
          </a:p>
          <a:p/>
          <a:p>
            <a:r>
              <a:rPr b="1" sz="1100"/>
              <a:t>ASK</a:t>
            </a:r>
          </a:p>
          <a:p>
            <a:r>
              <a:rPr sz="1100"/>
              <a:t>Can you point to the word "I"? Can you read it with me?</a:t>
            </a:r>
          </a:p>
          <a:p/>
          <a:p>
            <a:r>
              <a:rPr b="1" sz="1100"/>
              <a:t>EXPECTED ANSWER</a:t>
            </a:r>
          </a:p>
          <a:p>
            <a:r>
              <a:rPr sz="1100"/>
              <a:t>The child tracks with a finger and joins in on the second reading.</a:t>
            </a:r>
          </a:p>
          <a:p/>
          <a:p>
            <a:r>
              <a:rPr b="1" sz="1100"/>
              <a:t>IF CHILD STRUGGLES</a:t>
            </a:r>
          </a:p>
          <a:p>
            <a:r>
              <a:rPr sz="1100"/>
              <a:t>Read at half speed and tap each word as you say it. If he loses his place, put your finger over his and move it together.</a:t>
            </a:r>
          </a:p>
          <a:p/>
          <a:p>
            <a:r>
              <a:rPr b="1" sz="1100"/>
              <a:t>IF CHILD IS DOING WELL</a:t>
            </a:r>
          </a:p>
          <a:p>
            <a:r>
              <a:rPr sz="1100"/>
              <a:t>Ask him to read the second sentence alone.</a:t>
            </a:r>
          </a:p>
          <a:p/>
          <a:p>
            <a:r>
              <a:rPr b="1" sz="1100"/>
              <a:t>PRAISE</a:t>
            </a:r>
          </a:p>
          <a:p>
            <a:r>
              <a:rPr sz="1100"/>
              <a:t>"Your finger stayed with every word. That is exactly right."</a:t>
            </a:r>
          </a:p>
          <a:p/>
          <a:p>
            <a:r>
              <a:rPr b="1" sz="1100"/>
              <a:t>TIME</a:t>
            </a:r>
          </a:p>
          <a:p>
            <a:r>
              <a:rPr sz="1100"/>
              <a:t>3 minutes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100"/>
              <a:t>TEACHER SAYS</a:t>
            </a:r>
          </a:p>
          <a:p>
            <a:r>
              <a:rPr sz="1100"/>
              <a:t>Before we read, look at the picture. What do you think this sentence might say? Good guess — now let's find out.</a:t>
            </a:r>
          </a:p>
          <a:p/>
          <a:p>
            <a:r>
              <a:rPr b="1" sz="1100"/>
              <a:t>ASK</a:t>
            </a:r>
          </a:p>
          <a:p>
            <a:r>
              <a:rPr sz="1100"/>
              <a:t>What do you think it says? Now let's read it and check.</a:t>
            </a:r>
          </a:p>
          <a:p/>
          <a:p>
            <a:r>
              <a:rPr b="1" sz="1100"/>
              <a:t>EXPECTED ANSWER</a:t>
            </a:r>
          </a:p>
          <a:p>
            <a:r>
              <a:rPr sz="1100"/>
              <a:t>"I see the sun." and "The dog is big."</a:t>
            </a:r>
          </a:p>
          <a:p/>
          <a:p>
            <a:r>
              <a:rPr b="1" sz="1100"/>
              <a:t>IF CHILD STRUGGLES</a:t>
            </a:r>
          </a:p>
          <a:p>
            <a:r>
              <a:rPr sz="1100"/>
              <a:t>If a word blocks him, break it: /d/ /o/ /g/ — DOG. Then go back to the start of the whole sentence and read it again from the beginning.</a:t>
            </a:r>
          </a:p>
          <a:p/>
          <a:p>
            <a:r>
              <a:rPr b="1" sz="1100"/>
              <a:t>IF CHILD IS DOING WELL</a:t>
            </a:r>
          </a:p>
          <a:p>
            <a:r>
              <a:rPr sz="1100"/>
              <a:t>Ask him to read one sentence with no help at all.</a:t>
            </a:r>
          </a:p>
          <a:p/>
          <a:p>
            <a:r>
              <a:rPr b="1" sz="1100"/>
              <a:t>PRAISE</a:t>
            </a:r>
          </a:p>
          <a:p>
            <a:r>
              <a:rPr sz="1100"/>
              <a:t>"You used the picture like a real reader does."</a:t>
            </a:r>
          </a:p>
          <a:p/>
          <a:p>
            <a:r>
              <a:rPr b="1" sz="1100"/>
              <a:t>TIME</a:t>
            </a:r>
          </a:p>
          <a:p>
            <a:r>
              <a:rPr sz="1100"/>
              <a:t>3 minutes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100"/>
              <a:t>TEACHER SAYS</a:t>
            </a:r>
          </a:p>
          <a:p>
            <a:r>
              <a:rPr sz="1100"/>
              <a:t>Three sentences here. You get to choose which one you read by yourself. I will read the other two.</a:t>
            </a:r>
          </a:p>
          <a:p/>
          <a:p>
            <a:r>
              <a:rPr b="1" sz="1100"/>
              <a:t>ASK</a:t>
            </a:r>
          </a:p>
          <a:p>
            <a:r>
              <a:rPr sz="1100"/>
              <a:t>Which one do you want to read?</a:t>
            </a:r>
          </a:p>
          <a:p/>
          <a:p>
            <a:r>
              <a:rPr b="1" sz="1100"/>
              <a:t>EXPECTED ANSWER</a:t>
            </a:r>
          </a:p>
          <a:p>
            <a:r>
              <a:rPr sz="1100"/>
              <a:t>Any choice. "I can run." is the easiest.</a:t>
            </a:r>
          </a:p>
          <a:p/>
          <a:p>
            <a:r>
              <a:rPr b="1" sz="1100"/>
              <a:t>IF CHILD STRUGGLES</a:t>
            </a:r>
          </a:p>
          <a:p>
            <a:r>
              <a:rPr sz="1100"/>
              <a:t>If he will not choose, read all three yourself, then point to the shortest and say: this one is yours, and I will start it with you.</a:t>
            </a:r>
          </a:p>
          <a:p/>
          <a:p>
            <a:r>
              <a:rPr b="1" sz="1100"/>
              <a:t>IF CHILD IS DOING WELL</a:t>
            </a:r>
          </a:p>
          <a:p>
            <a:r>
              <a:rPr sz="1100"/>
              <a:t>Ask him to read a second one, or to make up his own sentence using "my."</a:t>
            </a:r>
          </a:p>
          <a:p/>
          <a:p>
            <a:r>
              <a:rPr b="1" sz="1100"/>
              <a:t>PRAISE</a:t>
            </a:r>
          </a:p>
          <a:p>
            <a:r>
              <a:rPr sz="1100"/>
              <a:t>"You picked a hard one and you read it. Brilliant."</a:t>
            </a:r>
          </a:p>
          <a:p/>
          <a:p>
            <a:r>
              <a:rPr b="1" sz="1100"/>
              <a:t>TIME</a:t>
            </a:r>
          </a:p>
          <a:p>
            <a:r>
              <a:rPr sz="1100"/>
              <a:t>3 minutes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100"/>
              <a:t>TEACHER SAYS</a:t>
            </a:r>
          </a:p>
          <a:p>
            <a:r>
              <a:rPr sz="1100"/>
              <a:t>Oh no, Bear knocked the words over. Let's put them back in the right order, then read the sentence out loud.</a:t>
            </a:r>
          </a:p>
          <a:p/>
          <a:p>
            <a:r>
              <a:rPr b="1" sz="1100"/>
              <a:t>ASK</a:t>
            </a:r>
          </a:p>
          <a:p>
            <a:r>
              <a:rPr sz="1100"/>
              <a:t>Which word goes first? What does the whole sentence say?</a:t>
            </a:r>
          </a:p>
          <a:p/>
          <a:p>
            <a:r>
              <a:rPr b="1" sz="1100"/>
              <a:t>EXPECTED ANSWER</a:t>
            </a:r>
          </a:p>
          <a:p>
            <a:r>
              <a:rPr sz="1100"/>
              <a:t>1. I see a cat.  2. The dog is big.  3. I can run.</a:t>
            </a:r>
          </a:p>
          <a:p/>
          <a:p>
            <a:r>
              <a:rPr b="1" sz="1100"/>
              <a:t>IF CHILD STRUGGLES</a:t>
            </a:r>
          </a:p>
          <a:p>
            <a:r>
              <a:rPr sz="1100"/>
              <a:t>Hand him the first word by pointing at it, then ask only what comes next. One word at a time, not the whole sentence at once.</a:t>
            </a:r>
          </a:p>
          <a:p/>
          <a:p>
            <a:r>
              <a:rPr b="1" sz="1100"/>
              <a:t>IF CHILD IS DOING WELL</a:t>
            </a:r>
          </a:p>
          <a:p>
            <a:r>
              <a:rPr sz="1100"/>
              <a:t>Ask him to rebuild it a second time with the cards mixed differently.</a:t>
            </a:r>
          </a:p>
          <a:p/>
          <a:p>
            <a:r>
              <a:rPr b="1" sz="1100"/>
              <a:t>PRAISE</a:t>
            </a:r>
          </a:p>
          <a:p>
            <a:r>
              <a:rPr sz="1100"/>
              <a:t>"You built a whole sentence! Bear could not do that alone."</a:t>
            </a:r>
          </a:p>
          <a:p/>
          <a:p>
            <a:r>
              <a:rPr b="1" sz="1100"/>
              <a:t>TIME</a:t>
            </a:r>
          </a:p>
          <a:p>
            <a:r>
              <a:rPr sz="1100"/>
              <a:t>4 minutes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100"/>
              <a:t>TEACHER SAYS</a:t>
            </a:r>
          </a:p>
          <a:p>
            <a:r>
              <a:rPr sz="1100"/>
              <a:t>Two more for Bear, and then the best part: you get to build your very own sentence with any word you want.</a:t>
            </a:r>
          </a:p>
          <a:p/>
          <a:p>
            <a:r>
              <a:rPr b="1" sz="1100"/>
              <a:t>ASK</a:t>
            </a:r>
          </a:p>
          <a:p>
            <a:r>
              <a:rPr sz="1100"/>
              <a:t>What will your sentence be?</a:t>
            </a:r>
          </a:p>
          <a:p/>
          <a:p>
            <a:r>
              <a:rPr b="1" sz="1100"/>
              <a:t>EXPECTED ANSWER</a:t>
            </a:r>
          </a:p>
          <a:p>
            <a:r>
              <a:rPr sz="1100"/>
              <a:t>4. My cat is big.  5. I see the sun.  Then any child-made sentence.</a:t>
            </a:r>
          </a:p>
          <a:p/>
          <a:p>
            <a:r>
              <a:rPr b="1" sz="1100"/>
              <a:t>IF CHILD STRUGGLES</a:t>
            </a:r>
          </a:p>
          <a:p>
            <a:r>
              <a:rPr sz="1100"/>
              <a:t>Offer him two words to choose from for the blank, such as cat or dog, so he is picking rather than inventing from nothing.</a:t>
            </a:r>
          </a:p>
          <a:p/>
          <a:p>
            <a:r>
              <a:rPr b="1" sz="1100"/>
              <a:t>IF CHILD IS DOING WELL</a:t>
            </a:r>
          </a:p>
          <a:p>
            <a:r>
              <a:rPr sz="1100"/>
              <a:t>Ask him to write or spell out the word he chose for the blank.</a:t>
            </a:r>
          </a:p>
          <a:p/>
          <a:p>
            <a:r>
              <a:rPr b="1" sz="1100"/>
              <a:t>PRAISE</a:t>
            </a:r>
          </a:p>
          <a:p>
            <a:r>
              <a:rPr sz="1100"/>
              <a:t>"That sentence is yours. Nobody else made that one."</a:t>
            </a:r>
          </a:p>
          <a:p/>
          <a:p>
            <a:r>
              <a:rPr b="1" sz="1100"/>
              <a:t>TIME</a:t>
            </a:r>
          </a:p>
          <a:p>
            <a:r>
              <a:rPr sz="1100"/>
              <a:t>3 minutes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100"/>
              <a:t>TEACHER SAYS</a:t>
            </a:r>
          </a:p>
          <a:p>
            <a:r>
              <a:rPr sz="1100"/>
              <a:t>Now the big moment. This story is called Bear's Sunny Day, and every single word in it is a word you have already read today. Nothing new.</a:t>
            </a:r>
          </a:p>
          <a:p/>
          <a:p>
            <a:r>
              <a:rPr b="1" sz="1100"/>
              <a:t>ASK</a:t>
            </a:r>
          </a:p>
          <a:p>
            <a:r>
              <a:rPr sz="1100"/>
              <a:t>Are you ready to read a whole story?</a:t>
            </a:r>
          </a:p>
          <a:p/>
          <a:p>
            <a:r>
              <a:rPr b="1" sz="1100"/>
              <a:t>EXPECTED ANSWER</a:t>
            </a:r>
          </a:p>
          <a:p>
            <a:r>
              <a:rPr sz="1100"/>
              <a:t>Yes — often with some nerves.</a:t>
            </a:r>
          </a:p>
          <a:p/>
          <a:p>
            <a:r>
              <a:rPr b="1" sz="1100"/>
              <a:t>IF CHILD STRUGGLES</a:t>
            </a:r>
          </a:p>
          <a:p>
            <a:r>
              <a:rPr sz="1100"/>
              <a:t>Say clearly: you will never have to read a page alone. I read first, every time. That promise removes most of the fear.</a:t>
            </a:r>
          </a:p>
          <a:p/>
          <a:p>
            <a:r>
              <a:rPr b="1" sz="1100"/>
              <a:t>IF CHILD IS DOING WELL</a:t>
            </a:r>
          </a:p>
          <a:p>
            <a:r>
              <a:rPr sz="1100"/>
              <a:t>Ask him to predict what happens to Bear on a sunny day.</a:t>
            </a:r>
          </a:p>
          <a:p/>
          <a:p>
            <a:r>
              <a:rPr b="1" sz="1100"/>
              <a:t>PRAISE</a:t>
            </a:r>
          </a:p>
          <a:p>
            <a:r>
              <a:rPr sz="1100"/>
              <a:t>"You have been getting ready for this all lesson."</a:t>
            </a:r>
          </a:p>
          <a:p/>
          <a:p>
            <a:r>
              <a:rPr b="1" sz="1100"/>
              <a:t>TIME</a:t>
            </a:r>
          </a:p>
          <a:p>
            <a:r>
              <a:rPr sz="1100"/>
              <a:t>2 minutes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100"/>
              <a:t>TEACHER SAYS</a:t>
            </a:r>
          </a:p>
          <a:p>
            <a:r>
              <a:rPr sz="1100"/>
              <a:t>Page one. Listen first, then we read it together. "Bear wakes up. Bear sees the sun. The sun is big and hot. Bear puts on his hat."</a:t>
            </a:r>
          </a:p>
          <a:p/>
          <a:p>
            <a:r>
              <a:rPr b="1" sz="1100"/>
              <a:t>ASK</a:t>
            </a:r>
          </a:p>
          <a:p>
            <a:r>
              <a:rPr sz="1100"/>
              <a:t>What is Bear doing? Can you find the word SUN?</a:t>
            </a:r>
          </a:p>
          <a:p/>
          <a:p>
            <a:r>
              <a:rPr b="1" sz="1100"/>
              <a:t>EXPECTED ANSWER</a:t>
            </a:r>
          </a:p>
          <a:p>
            <a:r>
              <a:rPr sz="1100"/>
              <a:t>Bear wakes up and sees the sun. SUN is on the second line.</a:t>
            </a:r>
          </a:p>
          <a:p/>
          <a:p>
            <a:r>
              <a:rPr b="1" sz="1100"/>
              <a:t>IF CHILD STRUGGLES</a:t>
            </a:r>
          </a:p>
          <a:p>
            <a:r>
              <a:rPr sz="1100"/>
              <a:t>Read one line, then stop and let him echo just that line. One line at a time is plenty. Point under each word as you go.</a:t>
            </a:r>
          </a:p>
          <a:p/>
          <a:p>
            <a:r>
              <a:rPr b="1" sz="1100"/>
              <a:t>IF CHILD IS DOING WELL</a:t>
            </a:r>
          </a:p>
          <a:p>
            <a:r>
              <a:rPr sz="1100"/>
              <a:t>Ask him to read the shortest line, "Bear wakes up," by himself.</a:t>
            </a:r>
          </a:p>
          <a:p/>
          <a:p>
            <a:r>
              <a:rPr b="1" sz="1100"/>
              <a:t>PRAISE</a:t>
            </a:r>
          </a:p>
          <a:p>
            <a:r>
              <a:rPr sz="1100"/>
              <a:t>"You read a page of a real story."</a:t>
            </a:r>
          </a:p>
          <a:p/>
          <a:p>
            <a:r>
              <a:rPr b="1" sz="1100"/>
              <a:t>TIME</a:t>
            </a:r>
          </a:p>
          <a:p>
            <a:r>
              <a:rPr sz="1100"/>
              <a:t>2 minutes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100"/>
              <a:t>TEACHER SAYS</a:t>
            </a:r>
          </a:p>
          <a:p>
            <a:r>
              <a:rPr sz="1100"/>
              <a:t>Page two. Bear is going somewhere. "Bear goes to the park. Bear sees a dog. The dog is big. The dog can run."</a:t>
            </a:r>
          </a:p>
          <a:p/>
          <a:p>
            <a:r>
              <a:rPr b="1" sz="1100"/>
              <a:t>ASK</a:t>
            </a:r>
          </a:p>
          <a:p>
            <a:r>
              <a:rPr sz="1100"/>
              <a:t>Where does Bear go? What does he see there?</a:t>
            </a:r>
          </a:p>
          <a:p/>
          <a:p>
            <a:r>
              <a:rPr b="1" sz="1100"/>
              <a:t>EXPECTED ANSWER</a:t>
            </a:r>
          </a:p>
          <a:p>
            <a:r>
              <a:rPr sz="1100"/>
              <a:t>The park. He sees a dog.</a:t>
            </a:r>
          </a:p>
          <a:p/>
          <a:p>
            <a:r>
              <a:rPr b="1" sz="1100"/>
              <a:t>IF CHILD STRUGGLES</a:t>
            </a:r>
          </a:p>
          <a:p>
            <a:r>
              <a:rPr sz="1100"/>
              <a:t>The word "park" is new-ish. Say it for him rather than making him decode it, and keep the momentum of the story going.</a:t>
            </a:r>
          </a:p>
          <a:p/>
          <a:p>
            <a:r>
              <a:rPr b="1" sz="1100"/>
              <a:t>IF CHILD IS DOING WELL</a:t>
            </a:r>
          </a:p>
          <a:p>
            <a:r>
              <a:rPr sz="1100"/>
              <a:t>Ask him to find the word DOG twice on this page.</a:t>
            </a:r>
          </a:p>
          <a:p/>
          <a:p>
            <a:r>
              <a:rPr b="1" sz="1100"/>
              <a:t>PRAISE</a:t>
            </a:r>
          </a:p>
          <a:p>
            <a:r>
              <a:rPr sz="1100"/>
              <a:t>"You are following the story so well."</a:t>
            </a:r>
          </a:p>
          <a:p/>
          <a:p>
            <a:r>
              <a:rPr b="1" sz="1100"/>
              <a:t>TIME</a:t>
            </a:r>
          </a:p>
          <a:p>
            <a:r>
              <a:rPr sz="1100"/>
              <a:t>2 minutes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100"/>
              <a:t>TEACHER SAYS</a:t>
            </a:r>
          </a:p>
          <a:p>
            <a:r>
              <a:rPr sz="1100"/>
              <a:t>Page three. Something fun happens. "The dog has a ball. Bear and the dog play. They run and run. It is fun."</a:t>
            </a:r>
          </a:p>
          <a:p/>
          <a:p>
            <a:r>
              <a:rPr b="1" sz="1100"/>
              <a:t>ASK</a:t>
            </a:r>
          </a:p>
          <a:p>
            <a:r>
              <a:rPr sz="1100"/>
              <a:t>What does the dog have? Do you think Bear is having a good time?</a:t>
            </a:r>
          </a:p>
          <a:p/>
          <a:p>
            <a:r>
              <a:rPr b="1" sz="1100"/>
              <a:t>EXPECTED ANSWER</a:t>
            </a:r>
          </a:p>
          <a:p>
            <a:r>
              <a:rPr sz="1100"/>
              <a:t>A ball. Yes.</a:t>
            </a:r>
          </a:p>
          <a:p/>
          <a:p>
            <a:r>
              <a:rPr b="1" sz="1100"/>
              <a:t>IF CHILD STRUGGLES</a:t>
            </a:r>
          </a:p>
          <a:p>
            <a:r>
              <a:rPr sz="1100"/>
              <a:t>"It is fun" is the easiest line in the whole story. If he is tired, let that be his only independent line on this page.</a:t>
            </a:r>
          </a:p>
          <a:p/>
          <a:p>
            <a:r>
              <a:rPr b="1" sz="1100"/>
              <a:t>IF CHILD IS DOING WELL</a:t>
            </a:r>
          </a:p>
          <a:p>
            <a:r>
              <a:rPr sz="1100"/>
              <a:t>Ask him to read "They run and run" with an excited voice.</a:t>
            </a:r>
          </a:p>
          <a:p/>
          <a:p>
            <a:r>
              <a:rPr b="1" sz="1100"/>
              <a:t>PRAISE</a:t>
            </a:r>
          </a:p>
          <a:p>
            <a:r>
              <a:rPr sz="1100"/>
              <a:t>"You made the story sound fun. That is expression!"</a:t>
            </a:r>
          </a:p>
          <a:p/>
          <a:p>
            <a:r>
              <a:rPr b="1" sz="1100"/>
              <a:t>TIME</a:t>
            </a:r>
          </a:p>
          <a:p>
            <a:r>
              <a:rPr sz="1100"/>
              <a:t>2 minutes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100"/>
              <a:t>TEACHER SAYS</a:t>
            </a:r>
          </a:p>
          <a:p>
            <a:r>
              <a:rPr sz="1100"/>
              <a:t>Last page. "Bear is happy. Bear goes home. Bear sees a cat at home. Bear had a fun day."</a:t>
            </a:r>
          </a:p>
          <a:p/>
          <a:p>
            <a:r>
              <a:rPr b="1" sz="1100"/>
              <a:t>ASK</a:t>
            </a:r>
          </a:p>
          <a:p>
            <a:r>
              <a:rPr sz="1100"/>
              <a:t>How does Bear feel? What does he see at home?</a:t>
            </a:r>
          </a:p>
          <a:p/>
          <a:p>
            <a:r>
              <a:rPr b="1" sz="1100"/>
              <a:t>EXPECTED ANSWER</a:t>
            </a:r>
          </a:p>
          <a:p>
            <a:r>
              <a:rPr sz="1100"/>
              <a:t>Happy. A cat.</a:t>
            </a:r>
          </a:p>
          <a:p/>
          <a:p>
            <a:r>
              <a:rPr b="1" sz="1100"/>
              <a:t>IF CHILD STRUGGLES</a:t>
            </a:r>
          </a:p>
          <a:p>
            <a:r>
              <a:rPr sz="1100"/>
              <a:t>Point out that CAT was the very first word he built today. Coming full circle is worth saying out loud — it shows him how far he came.</a:t>
            </a:r>
          </a:p>
          <a:p/>
          <a:p>
            <a:r>
              <a:rPr b="1" sz="1100"/>
              <a:t>IF CHILD IS DOING WELL</a:t>
            </a:r>
          </a:p>
          <a:p>
            <a:r>
              <a:rPr sz="1100"/>
              <a:t>Ask him to read the last line as a big happy ending.</a:t>
            </a:r>
          </a:p>
          <a:p/>
          <a:p>
            <a:r>
              <a:rPr b="1" sz="1100"/>
              <a:t>PRAISE</a:t>
            </a:r>
          </a:p>
          <a:p>
            <a:r>
              <a:rPr sz="1100"/>
              <a:t>"You read the whole story, all four pages."</a:t>
            </a:r>
          </a:p>
          <a:p/>
          <a:p>
            <a:r>
              <a:rPr b="1" sz="1100"/>
              <a:t>TIME</a:t>
            </a:r>
          </a:p>
          <a:p>
            <a:r>
              <a:rPr sz="1100"/>
              <a:t>2 minutes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100"/>
              <a:t>TEACHER SAYS</a:t>
            </a:r>
          </a:p>
          <a:p>
            <a:r>
              <a:rPr sz="1100"/>
              <a:t>These are the six easiest lines from Bear's story. You choose two and read them to me by yourself. I will stay right here.</a:t>
            </a:r>
          </a:p>
          <a:p/>
          <a:p>
            <a:r>
              <a:rPr b="1" sz="1100"/>
              <a:t>ASK</a:t>
            </a:r>
          </a:p>
          <a:p>
            <a:r>
              <a:rPr sz="1100"/>
              <a:t>Which two do you want?</a:t>
            </a:r>
          </a:p>
          <a:p/>
          <a:p>
            <a:r>
              <a:rPr b="1" sz="1100"/>
              <a:t>EXPECTED ANSWER</a:t>
            </a:r>
          </a:p>
          <a:p>
            <a:r>
              <a:rPr sz="1100"/>
              <a:t>Any two. "It is fun" and "Bear is happy" are the easiest.</a:t>
            </a:r>
          </a:p>
          <a:p/>
          <a:p>
            <a:r>
              <a:rPr b="1" sz="1100"/>
              <a:t>IF CHILD STRUGGLES</a:t>
            </a:r>
          </a:p>
          <a:p>
            <a:r>
              <a:rPr sz="1100"/>
              <a:t>Read the first word out loud for him and then go quiet. The silence gives him room. Do not fill it too quickly.</a:t>
            </a:r>
          </a:p>
          <a:p/>
          <a:p>
            <a:r>
              <a:rPr b="1" sz="1100"/>
              <a:t>IF CHILD IS DOING WELL</a:t>
            </a:r>
          </a:p>
          <a:p>
            <a:r>
              <a:rPr sz="1100"/>
              <a:t>Ask for a third line, or ask him to read one to a family member later.</a:t>
            </a:r>
          </a:p>
          <a:p/>
          <a:p>
            <a:r>
              <a:rPr b="1" sz="1100"/>
              <a:t>PRAISE</a:t>
            </a:r>
          </a:p>
          <a:p>
            <a:r>
              <a:rPr sz="1100"/>
              <a:t>"You just read on your own. Remember that feeling."</a:t>
            </a:r>
          </a:p>
          <a:p/>
          <a:p>
            <a:r>
              <a:rPr b="1" sz="1100"/>
              <a:t>TIME</a:t>
            </a:r>
          </a:p>
          <a:p>
            <a:r>
              <a:rPr sz="1100"/>
              <a:t>3 minutes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100"/>
              <a:t>TEACHER SAYS</a:t>
            </a:r>
          </a:p>
          <a:p>
            <a:r>
              <a:rPr sz="1100"/>
              <a:t>Now you are a detective. I will ask about Bear's day and you find the answer.</a:t>
            </a:r>
          </a:p>
          <a:p/>
          <a:p>
            <a:r>
              <a:rPr b="1" sz="1100"/>
              <a:t>ASK</a:t>
            </a:r>
          </a:p>
          <a:p>
            <a:r>
              <a:rPr sz="1100"/>
              <a:t>Where does Bear go? What does Bear see?</a:t>
            </a:r>
          </a:p>
          <a:p/>
          <a:p>
            <a:r>
              <a:rPr b="1" sz="1100"/>
              <a:t>EXPECTED ANSWER</a:t>
            </a:r>
          </a:p>
          <a:p>
            <a:r>
              <a:rPr sz="1100"/>
              <a:t>1. A — Park   2. A — Dog</a:t>
            </a:r>
          </a:p>
          <a:p/>
          <a:p>
            <a:r>
              <a:rPr b="1" sz="1100"/>
              <a:t>IF CHILD STRUGGLES</a:t>
            </a:r>
          </a:p>
          <a:p>
            <a:r>
              <a:rPr sz="1100"/>
              <a:t>Go back to story page two and read it together, then ask again. Rereading to find an answer is a comprehension skill, not a failure.</a:t>
            </a:r>
          </a:p>
          <a:p/>
          <a:p>
            <a:r>
              <a:rPr b="1" sz="1100"/>
              <a:t>IF CHILD IS DOING WELL</a:t>
            </a:r>
          </a:p>
          <a:p>
            <a:r>
              <a:rPr sz="1100"/>
              <a:t>Ask him to answer in a full sentence: "Bear goes to the park."</a:t>
            </a:r>
          </a:p>
          <a:p/>
          <a:p>
            <a:r>
              <a:rPr b="1" sz="1100"/>
              <a:t>PRAISE</a:t>
            </a:r>
          </a:p>
          <a:p>
            <a:r>
              <a:rPr sz="1100"/>
              <a:t>"You remembered the story. That means you understood it."</a:t>
            </a:r>
          </a:p>
          <a:p/>
          <a:p>
            <a:r>
              <a:rPr b="1" sz="1100"/>
              <a:t>TIME</a:t>
            </a:r>
          </a:p>
          <a:p>
            <a:r>
              <a:rPr sz="1100"/>
              <a:t>2 minutes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100"/>
              <a:t>TEACHER SAYS</a:t>
            </a:r>
          </a:p>
          <a:p>
            <a:r>
              <a:rPr sz="1100"/>
              <a:t>Two last detective questions, and then something just for you.</a:t>
            </a:r>
          </a:p>
          <a:p/>
          <a:p>
            <a:r>
              <a:rPr b="1" sz="1100"/>
              <a:t>ASK</a:t>
            </a:r>
          </a:p>
          <a:p>
            <a:r>
              <a:rPr sz="1100"/>
              <a:t>What does the dog have? How does Bear feel?</a:t>
            </a:r>
          </a:p>
          <a:p/>
          <a:p>
            <a:r>
              <a:rPr b="1" sz="1100"/>
              <a:t>EXPECTED ANSWER</a:t>
            </a:r>
          </a:p>
          <a:p>
            <a:r>
              <a:rPr sz="1100"/>
              <a:t>3. A — Ball   4. A — Happy</a:t>
            </a:r>
          </a:p>
          <a:p/>
          <a:p>
            <a:r>
              <a:rPr b="1" sz="1100"/>
              <a:t>IF CHILD STRUGGLES</a:t>
            </a:r>
          </a:p>
          <a:p>
            <a:r>
              <a:rPr sz="1100"/>
              <a:t>For the feelings question, ask him to show the face rather than say the word. Then name it for him: yes, that is happy.</a:t>
            </a:r>
          </a:p>
          <a:p/>
          <a:p>
            <a:r>
              <a:rPr b="1" sz="1100"/>
              <a:t>IF CHILD IS DOING WELL</a:t>
            </a:r>
          </a:p>
          <a:p>
            <a:r>
              <a:rPr sz="1100"/>
              <a:t>Ask the bonus question about his own sunny day and let him talk freely.</a:t>
            </a:r>
          </a:p>
          <a:p/>
          <a:p>
            <a:r>
              <a:rPr b="1" sz="1100"/>
              <a:t>PRAISE</a:t>
            </a:r>
          </a:p>
          <a:p>
            <a:r>
              <a:rPr sz="1100"/>
              <a:t>"Four out of four, detective. Bear's mystery is solved."</a:t>
            </a:r>
          </a:p>
          <a:p/>
          <a:p>
            <a:r>
              <a:rPr b="1" sz="1100"/>
              <a:t>TIME</a:t>
            </a:r>
          </a:p>
          <a:p>
            <a:r>
              <a:rPr sz="1100"/>
              <a:t>2 minutes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100"/>
              <a:t>TEACHER SAYS</a:t>
            </a:r>
          </a:p>
          <a:p>
            <a:r>
              <a:rPr sz="1100"/>
              <a:t>Last challenge of the whole adventure. Three words and one sentence. This is not a test — I will help the second you want me to.</a:t>
            </a:r>
          </a:p>
          <a:p/>
          <a:p>
            <a:r>
              <a:rPr b="1" sz="1100"/>
              <a:t>ASK</a:t>
            </a:r>
          </a:p>
          <a:p>
            <a:r>
              <a:rPr sz="1100"/>
              <a:t>Can you read CAT? SUN? DOG? Now the sentence.</a:t>
            </a:r>
          </a:p>
          <a:p/>
          <a:p>
            <a:r>
              <a:rPr b="1" sz="1100"/>
              <a:t>EXPECTED ANSWER</a:t>
            </a:r>
          </a:p>
          <a:p>
            <a:r>
              <a:rPr sz="1100"/>
              <a:t>CAT, SUN, DOG, and "I see a cat."</a:t>
            </a:r>
          </a:p>
          <a:p/>
          <a:p>
            <a:r>
              <a:rPr b="1" sz="1100"/>
              <a:t>IF CHILD STRUGGLES</a:t>
            </a:r>
          </a:p>
          <a:p>
            <a:r>
              <a:rPr sz="1100"/>
              <a:t>Read the sentence together first, then ask him to do it alone. Doing it together first is not cheating; it is how confidence gets built.</a:t>
            </a:r>
          </a:p>
          <a:p/>
          <a:p>
            <a:r>
              <a:rPr b="1" sz="1100"/>
              <a:t>IF CHILD IS DOING WELL</a:t>
            </a:r>
          </a:p>
          <a:p>
            <a:r>
              <a:rPr sz="1100"/>
              <a:t>Ask him to make a new sentence by swapping cat for dog or sun.</a:t>
            </a:r>
          </a:p>
          <a:p/>
          <a:p>
            <a:r>
              <a:rPr b="1" sz="1100"/>
              <a:t>PRAISE</a:t>
            </a:r>
          </a:p>
          <a:p>
            <a:r>
              <a:rPr sz="1100"/>
              <a:t>"That is the whole adventure, finished by you."</a:t>
            </a:r>
          </a:p>
          <a:p/>
          <a:p>
            <a:r>
              <a:rPr b="1" sz="1100"/>
              <a:t>TIME</a:t>
            </a:r>
          </a:p>
          <a:p>
            <a:r>
              <a:rPr sz="1100"/>
              <a:t>1–2 minutes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100"/>
              <a:t>TEACHER SAYS</a:t>
            </a:r>
          </a:p>
          <a:p>
            <a:r>
              <a:rPr sz="1100"/>
              <a:t>Look at this list. Every single one of these is something you did today, in 90 minutes. Sounds, vowels, blending, words, families, sight words, sentences, a whole story, and the questions afterwards.</a:t>
            </a:r>
          </a:p>
          <a:p/>
          <a:p>
            <a:r>
              <a:rPr b="1" sz="1100"/>
              <a:t>ASK</a:t>
            </a:r>
          </a:p>
          <a:p>
            <a:r>
              <a:rPr sz="1100"/>
              <a:t>Which one are you proudest of?</a:t>
            </a:r>
          </a:p>
          <a:p/>
          <a:p>
            <a:r>
              <a:rPr b="1" sz="1100"/>
              <a:t>EXPECTED ANSWER</a:t>
            </a:r>
          </a:p>
          <a:p>
            <a:r>
              <a:rPr sz="1100"/>
              <a:t>Any choice. Let him take his time.</a:t>
            </a:r>
          </a:p>
          <a:p/>
          <a:p>
            <a:r>
              <a:rPr b="1" sz="1100"/>
              <a:t>IF CHILD STRUGGLES</a:t>
            </a:r>
          </a:p>
          <a:p>
            <a:r>
              <a:rPr sz="1100"/>
              <a:t>Read the list to him and let him just point at his favourite. Pointing is a fine answer at the end of a long lesson.</a:t>
            </a:r>
          </a:p>
          <a:p/>
          <a:p>
            <a:r>
              <a:rPr b="1" sz="1100"/>
              <a:t>IF CHILD IS DOING WELL</a:t>
            </a:r>
          </a:p>
          <a:p>
            <a:r>
              <a:rPr sz="1100"/>
              <a:t>Ask him to demonstrate one item again on the spot.</a:t>
            </a:r>
          </a:p>
          <a:p/>
          <a:p>
            <a:r>
              <a:rPr b="1" sz="1100"/>
              <a:t>PRAISE</a:t>
            </a:r>
          </a:p>
          <a:p>
            <a:r>
              <a:rPr sz="1100"/>
              <a:t>"Nine things. You did nine reading jobs today."</a:t>
            </a:r>
          </a:p>
          <a:p/>
          <a:p>
            <a:r>
              <a:rPr b="1" sz="1100"/>
              <a:t>TIME</a:t>
            </a:r>
          </a:p>
          <a:p>
            <a:r>
              <a:rPr sz="1100"/>
              <a:t>1 minute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100"/>
              <a:t>TEACHER SAYS</a:t>
            </a:r>
          </a:p>
          <a:p>
            <a:r>
              <a:rPr sz="1100"/>
              <a:t>You did it. All six stops, every mission. You are officially Bear's Reading Hero, and this badge is yours.</a:t>
            </a:r>
          </a:p>
          <a:p/>
          <a:p>
            <a:r>
              <a:rPr b="1" sz="1100"/>
              <a:t>ASK</a:t>
            </a:r>
          </a:p>
          <a:p>
            <a:r>
              <a:rPr sz="1100"/>
              <a:t>Can you say it with me? I can read!</a:t>
            </a:r>
          </a:p>
          <a:p/>
          <a:p>
            <a:r>
              <a:rPr b="1" sz="1100"/>
              <a:t>EXPECTED ANSWER</a:t>
            </a:r>
          </a:p>
          <a:p>
            <a:r>
              <a:rPr sz="1100"/>
              <a:t>"I can read!"</a:t>
            </a:r>
          </a:p>
          <a:p/>
          <a:p>
            <a:r>
              <a:rPr b="1" sz="1100"/>
              <a:t>IF CHILD STRUGGLES</a:t>
            </a:r>
          </a:p>
          <a:p>
            <a:r>
              <a:rPr sz="1100"/>
              <a:t>If he is too tired to say it, say it for him warmly and let him just smile. The feeling matters more than the words.</a:t>
            </a:r>
          </a:p>
          <a:p/>
          <a:p>
            <a:r>
              <a:rPr b="1" sz="1100"/>
              <a:t>IF CHILD IS DOING WELL</a:t>
            </a:r>
          </a:p>
          <a:p>
            <a:r>
              <a:rPr sz="1100"/>
              <a:t>Ask him what he wants to read with Bear next time.</a:t>
            </a:r>
          </a:p>
          <a:p/>
          <a:p>
            <a:r>
              <a:rPr b="1" sz="1100"/>
              <a:t>PRAISE</a:t>
            </a:r>
          </a:p>
          <a:p>
            <a:r>
              <a:rPr sz="1100"/>
              <a:t>"I cannot wait to read with you again."</a:t>
            </a:r>
          </a:p>
          <a:p/>
          <a:p>
            <a:r>
              <a:rPr b="1" sz="1100"/>
              <a:t>TIME</a:t>
            </a:r>
          </a:p>
          <a:p>
            <a:r>
              <a:rPr sz="1100"/>
              <a:t>1 minute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100"/>
              <a:t>TEACHER SAYS</a:t>
            </a:r>
          </a:p>
          <a:p>
            <a:r>
              <a:rPr sz="1100"/>
              <a:t>Teacher slide. Not shown to the child.</a:t>
            </a:r>
          </a:p>
          <a:p/>
          <a:p>
            <a:r>
              <a:rPr b="1" sz="1100"/>
              <a:t>ASK</a:t>
            </a:r>
          </a:p>
          <a:p>
            <a:r>
              <a:rPr sz="1100"/>
              <a:t>—</a:t>
            </a:r>
          </a:p>
          <a:p/>
          <a:p>
            <a:r>
              <a:rPr b="1" sz="1100"/>
              <a:t>EXPECTED ANSWER</a:t>
            </a:r>
          </a:p>
          <a:p>
            <a:r>
              <a:rPr sz="1100"/>
              <a:t>—</a:t>
            </a:r>
          </a:p>
          <a:p/>
          <a:p>
            <a:r>
              <a:rPr b="1" sz="1100"/>
              <a:t>IF CHILD STRUGGLES</a:t>
            </a:r>
          </a:p>
          <a:p>
            <a:r>
              <a:rPr sz="1100"/>
              <a:t>Fill this in within five minutes of the lesson ending, while the detail is still fresh. Mark what he did today, not what you hoped for.</a:t>
            </a:r>
          </a:p>
          <a:p/>
          <a:p>
            <a:r>
              <a:rPr b="1" sz="1100"/>
              <a:t>IF CHILD IS DOING WELL</a:t>
            </a:r>
          </a:p>
          <a:p>
            <a:r>
              <a:rPr sz="1100"/>
              <a:t>If most marks land in Independent, move the next lesson to CVCC words and two-sentence reading.</a:t>
            </a:r>
          </a:p>
          <a:p/>
          <a:p>
            <a:r>
              <a:rPr b="1" sz="1100"/>
              <a:t>PRAISE</a:t>
            </a:r>
          </a:p>
          <a:p>
            <a:r>
              <a:rPr sz="1100"/>
              <a:t>—</a:t>
            </a:r>
          </a:p>
          <a:p/>
          <a:p>
            <a:r>
              <a:rPr b="1" sz="1100"/>
              <a:t>TIME</a:t>
            </a:r>
          </a:p>
          <a:p>
            <a:r>
              <a:rPr sz="1100"/>
              <a:t>5 minutes after class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100"/>
              <a:t>TEACHER SAYS</a:t>
            </a:r>
          </a:p>
          <a:p>
            <a:r>
              <a:rPr sz="1100"/>
              <a:t>Teacher slide. Not shown to the child.</a:t>
            </a:r>
          </a:p>
          <a:p/>
          <a:p>
            <a:r>
              <a:rPr b="1" sz="1100"/>
              <a:t>ASK</a:t>
            </a:r>
          </a:p>
          <a:p>
            <a:r>
              <a:rPr sz="1100"/>
              <a:t>—</a:t>
            </a:r>
          </a:p>
          <a:p/>
          <a:p>
            <a:r>
              <a:rPr b="1" sz="1100"/>
              <a:t>EXPECTED ANSWER</a:t>
            </a:r>
          </a:p>
          <a:p>
            <a:r>
              <a:rPr sz="1100"/>
              <a:t>—</a:t>
            </a:r>
          </a:p>
          <a:p/>
          <a:p>
            <a:r>
              <a:rPr b="1" sz="1100"/>
              <a:t>IF CHILD STRUGGLES</a:t>
            </a:r>
          </a:p>
          <a:p>
            <a:r>
              <a:rPr sz="1100"/>
              <a:t>If he missed several answers in one section, that section is the starting point for the next lesson rather than something to reteach today.</a:t>
            </a:r>
          </a:p>
          <a:p/>
          <a:p>
            <a:r>
              <a:rPr b="1" sz="1100"/>
              <a:t>IF CHILD IS DOING WELL</a:t>
            </a:r>
          </a:p>
          <a:p>
            <a:r>
              <a:rPr sz="1100"/>
              <a:t>—</a:t>
            </a:r>
          </a:p>
          <a:p/>
          <a:p>
            <a:r>
              <a:rPr b="1" sz="1100"/>
              <a:t>PRAISE</a:t>
            </a:r>
          </a:p>
          <a:p>
            <a:r>
              <a:rPr sz="1100"/>
              <a:t>—</a:t>
            </a:r>
          </a:p>
          <a:p/>
          <a:p>
            <a:r>
              <a:rPr b="1" sz="1100"/>
              <a:t>TIME</a:t>
            </a:r>
          </a:p>
          <a:p>
            <a:r>
              <a:rPr sz="1100"/>
              <a:t>Reference only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200400"/>
            <a:ext cx="868680" cy="86868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27080" y="3108960"/>
            <a:ext cx="868680" cy="868680"/>
          </a:xfrm>
          <a:prstGeom prst="ellipse">
            <a:avLst/>
          </a:prstGeom>
          <a:solidFill>
            <a:srgbClr val="F2A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222A36"/>
                </a:solidFill>
                <a:latin typeface="Calibri"/>
              </a:rPr>
              <a:t>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Georgia"/>
              </a:rPr>
              <a:t>Bear's Big Reading Adventure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FD6EA"/>
                </a:solidFill>
                <a:latin typeface="Calibri"/>
              </a:rPr>
              <a:t>Grade 1  •  90 Minutes  •  🌈 A Fun Reading Adventure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3429000"/>
            <a:ext cx="6126480" cy="109728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3675887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You are the READING HERO.
Bear needs your help!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892040"/>
            <a:ext cx="1508760" cy="822960"/>
          </a:xfrm>
          <a:prstGeom prst="roundRect">
            <a:avLst/>
          </a:prstGeom>
          <a:solidFill>
            <a:srgbClr val="9B6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974336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22A36"/>
                </a:solidFill>
                <a:latin typeface="Calibri"/>
              </a:rPr>
              <a:t>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376672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Bear's House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4892040"/>
            <a:ext cx="1508760" cy="82296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4974336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22A36"/>
                </a:solidFill>
                <a:latin typeface="Calibri"/>
              </a:rPr>
              <a:t>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5376672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Forest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4892040"/>
            <a:ext cx="1508760" cy="822960"/>
          </a:xfrm>
          <a:prstGeom prst="roundRect">
            <a:avLst/>
          </a:prstGeom>
          <a:solidFill>
            <a:srgbClr val="2E7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4974336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22A36"/>
                </a:solidFill>
                <a:latin typeface="Calibri"/>
              </a:rPr>
              <a:t>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5376672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Reading Bridge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4892040"/>
            <a:ext cx="1508760" cy="822960"/>
          </a:xfrm>
          <a:prstGeom prst="roundRect">
            <a:avLst/>
          </a:prstGeom>
          <a:solidFill>
            <a:srgbClr val="F2A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4974336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22A36"/>
                </a:solidFill>
                <a:latin typeface="Calibri"/>
              </a:rPr>
              <a:t>🏕️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5376672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Camp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4892040"/>
            <a:ext cx="1508760" cy="822960"/>
          </a:xfrm>
          <a:prstGeom prst="roundRect">
            <a:avLst/>
          </a:prstGeom>
          <a:solidFill>
            <a:srgbClr val="7B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18120" y="4974336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22A36"/>
                </a:solidFill>
                <a:latin typeface="Calibri"/>
              </a:rPr>
              <a:t>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5376672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Star Mountain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09760" y="4892040"/>
            <a:ext cx="1508760" cy="822960"/>
          </a:xfrm>
          <a:prstGeom prst="roundRect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0" y="4974336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22A36"/>
                </a:solidFill>
                <a:latin typeface="Calibri"/>
              </a:rPr>
              <a:t>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5376672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Reading Hero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19088"/>
            <a:ext cx="290278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Bear's Big Reading Adventure  |  Grade 1  |  90 min  |  Bear's House  |  0–7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 / 42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B6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9B6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MEET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Georgia"/>
              </a:rPr>
              <a:t>🐻 Meet Bear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80556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Bear's Big Reading Adventure  |  Grade 1  |  90 min  |  Bear's House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 / 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B623B"/>
                </a:solidFill>
                <a:latin typeface="Calibri"/>
              </a:rPr>
              <a:t>Say hi to Bear!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937760" cy="4206240"/>
          </a:xfrm>
          <a:prstGeom prst="roundRect">
            <a:avLst/>
          </a:prstGeom>
          <a:solidFill>
            <a:srgbClr val="F6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28600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>
                <a:solidFill>
                  <a:srgbClr val="222A36"/>
                </a:solidFill>
                <a:latin typeface="Calibri"/>
              </a:rPr>
              <a:t>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148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9B623B"/>
                </a:solidFill>
                <a:latin typeface="Arial Black"/>
              </a:rPr>
              <a:t>BEAR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463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B7788"/>
                </a:solidFill>
                <a:latin typeface="Calibri"/>
              </a:rPr>
              <a:t>Your reading buddy today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0" y="1737360"/>
            <a:ext cx="6035040" cy="932688"/>
          </a:xfrm>
          <a:prstGeom prst="roundRect">
            <a:avLst/>
          </a:prstGeom>
          <a:solidFill>
            <a:srgbClr val="FF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43600" y="1938528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1993392"/>
            <a:ext cx="530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22A36"/>
                </a:solidFill>
                <a:latin typeface="Calibri"/>
              </a:rPr>
              <a:t>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199339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2A4A"/>
                </a:solidFill>
                <a:latin typeface="Calibri"/>
              </a:rPr>
              <a:t>"Hi! I am Bear. I love stories."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5000" y="2816352"/>
            <a:ext cx="6035040" cy="932688"/>
          </a:xfrm>
          <a:prstGeom prst="roundRect">
            <a:avLst/>
          </a:prstGeom>
          <a:solidFill>
            <a:srgbClr val="FF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3017520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3072384"/>
            <a:ext cx="530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22A36"/>
                </a:solidFill>
                <a:latin typeface="Calibri"/>
              </a:rPr>
              <a:t>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07238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2A4A"/>
                </a:solidFill>
                <a:latin typeface="Calibri"/>
              </a:rPr>
              <a:t>"But some words are tricky for me."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15000" y="3895344"/>
            <a:ext cx="6035040" cy="932688"/>
          </a:xfrm>
          <a:prstGeom prst="roundRect">
            <a:avLst/>
          </a:prstGeom>
          <a:solidFill>
            <a:srgbClr val="FF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943600" y="4096512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4151376"/>
            <a:ext cx="530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22A36"/>
                </a:solidFill>
                <a:latin typeface="Calibri"/>
              </a:rPr>
              <a:t>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15137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2A4A"/>
                </a:solidFill>
                <a:latin typeface="Calibri"/>
              </a:rPr>
              <a:t>"Will you read them with me?"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15000" y="4974336"/>
            <a:ext cx="6035040" cy="932688"/>
          </a:xfrm>
          <a:prstGeom prst="roundRect">
            <a:avLst/>
          </a:prstGeom>
          <a:solidFill>
            <a:srgbClr val="FF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943600" y="5175504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5230368"/>
            <a:ext cx="530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22A36"/>
                </a:solidFill>
                <a:latin typeface="Calibri"/>
              </a:rPr>
              <a:t>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23036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2A4A"/>
                </a:solidFill>
                <a:latin typeface="Calibri"/>
              </a:rPr>
              <a:t>"You get a star after every mission!"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MISSION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Georgia"/>
              </a:rPr>
              <a:t>⭐ You Are the Reading Hero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70835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Bear's Big Reading Adventure  |  Grade 1  |  90 min  |  Bear's House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 / 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A31B"/>
                </a:solidFill>
                <a:latin typeface="Calibri"/>
              </a:rPr>
              <a:t>This is your job today.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371600"/>
          </a:xfrm>
          <a:prstGeom prst="roundRect">
            <a:avLst/>
          </a:prstGeom>
          <a:solidFill>
            <a:srgbClr val="FF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20240"/>
            <a:ext cx="11292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2A31B"/>
                </a:solidFill>
                <a:latin typeface="Georgia"/>
              </a:rPr>
              <a:t>⭐  Every mission you finish = one star for Bear  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91840"/>
            <a:ext cx="5440680" cy="1188720"/>
          </a:xfrm>
          <a:prstGeom prst="roundRect">
            <a:avLst/>
          </a:prstGeom>
          <a:solidFill>
            <a:srgbClr val="E2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3611880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675888"/>
            <a:ext cx="566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22A36"/>
                </a:solidFill>
                <a:latin typeface="Calibri"/>
              </a:rPr>
              <a:t>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493008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B57"/>
                </a:solidFill>
                <a:latin typeface="Calibri"/>
              </a:rPr>
              <a:t>You never read alone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95020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B2A4A"/>
                </a:solidFill>
                <a:latin typeface="Calibri"/>
              </a:rPr>
              <a:t>I read it first. Always.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291840"/>
            <a:ext cx="5440680" cy="1188720"/>
          </a:xfrm>
          <a:prstGeom prst="roundRect">
            <a:avLst/>
          </a:prstGeom>
          <a:solidFill>
            <a:srgbClr val="E2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3611880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675888"/>
            <a:ext cx="566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22A36"/>
                </a:solidFill>
                <a:latin typeface="Calibri"/>
              </a:rPr>
              <a:t>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493008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B57"/>
                </a:solidFill>
                <a:latin typeface="Calibri"/>
              </a:rPr>
              <a:t>We can try again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95020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B2A4A"/>
                </a:solidFill>
                <a:latin typeface="Calibri"/>
              </a:rPr>
              <a:t>Trying again is not a mistake.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663440"/>
            <a:ext cx="5440680" cy="1188720"/>
          </a:xfrm>
          <a:prstGeom prst="roundRect">
            <a:avLst/>
          </a:prstGeom>
          <a:solidFill>
            <a:srgbClr val="E2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1520" y="4983480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047488"/>
            <a:ext cx="566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22A36"/>
                </a:solidFill>
                <a:latin typeface="Calibri"/>
              </a:rPr>
              <a:t>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4864608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B57"/>
                </a:solidFill>
                <a:latin typeface="Calibri"/>
              </a:rPr>
              <a:t>Hard word? We break 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532180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B2A4A"/>
                </a:solidFill>
                <a:latin typeface="Calibri"/>
              </a:rPr>
              <a:t>/c/ /a/ /t/ → CAT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4663440"/>
            <a:ext cx="5440680" cy="1188720"/>
          </a:xfrm>
          <a:prstGeom prst="roundRect">
            <a:avLst/>
          </a:prstGeom>
          <a:solidFill>
            <a:srgbClr val="E2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46520" y="4983480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5047488"/>
            <a:ext cx="566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22A36"/>
                </a:solidFill>
                <a:latin typeface="Calibri"/>
              </a:rPr>
              <a:t>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4864608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B57"/>
                </a:solidFill>
                <a:latin typeface="Calibri"/>
              </a:rPr>
              <a:t>Every try earns praise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532180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B2A4A"/>
                </a:solidFill>
                <a:latin typeface="Calibri"/>
              </a:rPr>
              <a:t>Even a good guess counts.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Georgia"/>
              </a:rPr>
              <a:t>🗺️ Today's Adventure Map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161113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Bear's Big Reading Adventure  |  Grade 1  |  90 min  |  Bear's House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4 / 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B57"/>
                </a:solidFill>
                <a:latin typeface="Calibri"/>
              </a:rPr>
              <a:t>Six stops. One mission at each stop.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3566160" cy="2011680"/>
          </a:xfrm>
          <a:prstGeom prst="roundRect">
            <a:avLst/>
          </a:prstGeom>
          <a:solidFill>
            <a:srgbClr val="F6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01952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222A36"/>
                </a:solidFill>
                <a:latin typeface="Calibri"/>
              </a:rPr>
              <a:t>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06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9B623B"/>
                </a:solidFill>
                <a:latin typeface="Calibri"/>
              </a:rPr>
              <a:t>Bear's House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0358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A36"/>
                </a:solidFill>
                <a:latin typeface="Calibri"/>
              </a:rPr>
              <a:t>Sounds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63040" y="3364992"/>
            <a:ext cx="155448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3040" y="339242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7788"/>
                </a:solidFill>
                <a:latin typeface="Calibri"/>
              </a:rPr>
              <a:t>0–25 min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1737360"/>
            <a:ext cx="3566160" cy="2011680"/>
          </a:xfrm>
          <a:prstGeom prst="roundRect">
            <a:avLst/>
          </a:prstGeom>
          <a:solidFill>
            <a:srgbClr val="E2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1901952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222A36"/>
                </a:solidFill>
                <a:latin typeface="Calibri"/>
              </a:rPr>
              <a:t>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606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E8B57"/>
                </a:solidFill>
                <a:latin typeface="Calibri"/>
              </a:rPr>
              <a:t>Forest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0358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A36"/>
                </a:solidFill>
                <a:latin typeface="Calibri"/>
              </a:rPr>
              <a:t>Words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57800" y="3364992"/>
            <a:ext cx="155448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57800" y="339242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7788"/>
                </a:solidFill>
                <a:latin typeface="Calibri"/>
              </a:rPr>
              <a:t>25–43 min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1737360"/>
            <a:ext cx="3566160" cy="2011680"/>
          </a:xfrm>
          <a:prstGeom prst="roundRect">
            <a:avLst/>
          </a:prstGeom>
          <a:solidFill>
            <a:srgbClr val="E3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1901952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222A36"/>
                </a:solidFill>
                <a:latin typeface="Calibri"/>
              </a:rPr>
              <a:t>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2606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E7FD9"/>
                </a:solidFill>
                <a:latin typeface="Calibri"/>
              </a:rPr>
              <a:t>Reading Bridge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30358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A36"/>
                </a:solidFill>
                <a:latin typeface="Calibri"/>
              </a:rPr>
              <a:t>Sight words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52560" y="3364992"/>
            <a:ext cx="155448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0" y="339242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7788"/>
                </a:solidFill>
                <a:latin typeface="Calibri"/>
              </a:rPr>
              <a:t>43–63 min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931920"/>
            <a:ext cx="3566160" cy="2011680"/>
          </a:xfrm>
          <a:prstGeom prst="roundRect">
            <a:avLst/>
          </a:prstGeom>
          <a:solidFill>
            <a:srgbClr val="FF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096512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222A36"/>
                </a:solidFill>
                <a:latin typeface="Calibri"/>
              </a:rPr>
              <a:t>🏕️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4800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2A31B"/>
                </a:solidFill>
                <a:latin typeface="Calibri"/>
              </a:rPr>
              <a:t>Camp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23036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A36"/>
                </a:solidFill>
                <a:latin typeface="Calibri"/>
              </a:rPr>
              <a:t>Sentences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463040" y="5559552"/>
            <a:ext cx="155448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63040" y="558698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7788"/>
                </a:solidFill>
                <a:latin typeface="Calibri"/>
              </a:rPr>
              <a:t>63–78 min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51960" y="3931920"/>
            <a:ext cx="3566160" cy="2011680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51960" y="4096512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222A36"/>
                </a:solidFill>
                <a:latin typeface="Calibri"/>
              </a:rPr>
              <a:t>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0" y="4800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7B5CD6"/>
                </a:solidFill>
                <a:latin typeface="Calibri"/>
              </a:rPr>
              <a:t>Star Mountain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523036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A36"/>
                </a:solidFill>
                <a:latin typeface="Calibri"/>
              </a:rPr>
              <a:t>Story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257800" y="5559552"/>
            <a:ext cx="155448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57800" y="558698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7788"/>
                </a:solidFill>
                <a:latin typeface="Calibri"/>
              </a:rPr>
              <a:t>78–88 min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46720" y="3931920"/>
            <a:ext cx="3566160" cy="2011680"/>
          </a:xfrm>
          <a:prstGeom prst="roundRect">
            <a:avLst/>
          </a:prstGeom>
          <a:solidFill>
            <a:srgbClr val="DD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46720" y="4096512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222A36"/>
                </a:solidFill>
                <a:latin typeface="Calibri"/>
              </a:rPr>
              <a:t>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83880" y="4800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9B95"/>
                </a:solidFill>
                <a:latin typeface="Calibri"/>
              </a:rPr>
              <a:t>Reading Hero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523036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A36"/>
                </a:solidFill>
                <a:latin typeface="Calibri"/>
              </a:rPr>
              <a:t>You did it!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52560" y="5559552"/>
            <a:ext cx="155448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52560" y="558698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7788"/>
                </a:solidFill>
                <a:latin typeface="Calibri"/>
              </a:rPr>
              <a:t>88–90 min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TALK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Georgia"/>
              </a:rPr>
              <a:t>👀 Picture Talk — What Do You See?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451392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Bear's Big Reading Adventure  |  Grade 1  |  90 min  |  Bear's House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 / 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B95"/>
                </a:solidFill>
                <a:latin typeface="Calibri"/>
              </a:rPr>
              <a:t>Just look and talk. No reading yet!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2103120" cy="2743200"/>
          </a:xfrm>
          <a:prstGeom prst="roundRect">
            <a:avLst/>
          </a:prstGeom>
          <a:solidFill>
            <a:srgbClr val="DD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0312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>
                <a:solidFill>
                  <a:srgbClr val="222A36"/>
                </a:solidFill>
                <a:latin typeface="Calibri"/>
              </a:rPr>
              <a:t>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429000"/>
            <a:ext cx="164592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566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9B95"/>
                </a:solidFill>
                <a:latin typeface="Calibri"/>
              </a:rPr>
              <a:t>bear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34056" y="1783080"/>
            <a:ext cx="2103120" cy="2743200"/>
          </a:xfrm>
          <a:prstGeom prst="roundRect">
            <a:avLst/>
          </a:prstGeom>
          <a:solidFill>
            <a:srgbClr val="DD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34056" y="210312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>
                <a:solidFill>
                  <a:srgbClr val="222A36"/>
                </a:solidFill>
                <a:latin typeface="Calibri"/>
              </a:rPr>
              <a:t>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62656" y="3429000"/>
            <a:ext cx="164592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62656" y="3566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9B95"/>
                </a:solidFill>
                <a:latin typeface="Calibri"/>
              </a:rPr>
              <a:t>tree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10912" y="1783080"/>
            <a:ext cx="2103120" cy="2743200"/>
          </a:xfrm>
          <a:prstGeom prst="roundRect">
            <a:avLst/>
          </a:prstGeom>
          <a:solidFill>
            <a:srgbClr val="DD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10912" y="210312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>
                <a:solidFill>
                  <a:srgbClr val="222A36"/>
                </a:solidFill>
                <a:latin typeface="Calibri"/>
              </a:rPr>
              <a:t>☀️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39512" y="3429000"/>
            <a:ext cx="164592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39512" y="3566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9B95"/>
                </a:solidFill>
                <a:latin typeface="Calibri"/>
              </a:rPr>
              <a:t>sun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87768" y="1783080"/>
            <a:ext cx="2103120" cy="2743200"/>
          </a:xfrm>
          <a:prstGeom prst="roundRect">
            <a:avLst/>
          </a:prstGeom>
          <a:solidFill>
            <a:srgbClr val="DD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87768" y="210312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>
                <a:solidFill>
                  <a:srgbClr val="222A36"/>
                </a:solidFill>
                <a:latin typeface="Calibri"/>
              </a:rPr>
              <a:t>🏠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16368" y="3429000"/>
            <a:ext cx="164592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16368" y="3566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9B95"/>
                </a:solidFill>
                <a:latin typeface="Calibri"/>
              </a:rPr>
              <a:t>house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64624" y="1783080"/>
            <a:ext cx="2103120" cy="2743200"/>
          </a:xfrm>
          <a:prstGeom prst="roundRect">
            <a:avLst/>
          </a:prstGeom>
          <a:solidFill>
            <a:srgbClr val="DD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64624" y="210312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>
                <a:solidFill>
                  <a:srgbClr val="222A36"/>
                </a:solidFill>
                <a:latin typeface="Calibri"/>
              </a:rPr>
              <a:t>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93224" y="3429000"/>
            <a:ext cx="164592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93224" y="3566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9B95"/>
                </a:solidFill>
                <a:latin typeface="Calibri"/>
              </a:rPr>
              <a:t>star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800600"/>
            <a:ext cx="3566160" cy="868680"/>
          </a:xfrm>
          <a:prstGeom prst="roundRect">
            <a:avLst/>
          </a:prstGeom>
          <a:solidFill>
            <a:srgbClr val="FF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0109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B2A4A"/>
                </a:solidFill>
                <a:latin typeface="Calibri"/>
              </a:rPr>
              <a:t>🗣️ What do you see?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51960" y="4800600"/>
            <a:ext cx="3566160" cy="868680"/>
          </a:xfrm>
          <a:prstGeom prst="roundRect">
            <a:avLst/>
          </a:prstGeom>
          <a:solidFill>
            <a:srgbClr val="FF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34840" y="50109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B2A4A"/>
                </a:solidFill>
                <a:latin typeface="Calibri"/>
              </a:rPr>
              <a:t>⭐ What is your favorite?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4800600"/>
            <a:ext cx="3566160" cy="868680"/>
          </a:xfrm>
          <a:prstGeom prst="roundRect">
            <a:avLst/>
          </a:prstGeom>
          <a:solidFill>
            <a:srgbClr val="FF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0" y="50109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B2A4A"/>
                </a:solidFill>
                <a:latin typeface="Calibri"/>
              </a:rPr>
              <a:t>🐻 Can you find the bear?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Georgia"/>
              </a:rPr>
              <a:t>🔊 Sound Warm-Up — Our 8 Sounds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741670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Bear's Big Reading Adventure  |  Grade 1  |  90 min  |  Bear's House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6 / 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04F5F"/>
                </a:solidFill>
                <a:latin typeface="Calibri"/>
              </a:rPr>
              <a:t>I say the sound. You say it back to 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2651760" cy="1965960"/>
          </a:xfrm>
          <a:prstGeom prst="roundRect">
            <a:avLst/>
          </a:prstGeom>
          <a:solidFill>
            <a:srgbClr val="FD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11096"/>
            <a:ext cx="26517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22A36"/>
                </a:solidFill>
                <a:latin typeface="Calibri"/>
              </a:rPr>
              <a:t>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551176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B2A4A"/>
                </a:solidFill>
                <a:latin typeface="Arial Black"/>
              </a:rPr>
              <a:t>BEAR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008376"/>
            <a:ext cx="182880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099816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04F5F"/>
                </a:solidFill>
                <a:latin typeface="Calibri"/>
              </a:rPr>
              <a:t>b  says  /b/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19272" y="1783080"/>
            <a:ext cx="2651760" cy="1965960"/>
          </a:xfrm>
          <a:prstGeom prst="roundRect">
            <a:avLst/>
          </a:prstGeom>
          <a:solidFill>
            <a:srgbClr val="FD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19272" y="1911096"/>
            <a:ext cx="26517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22A36"/>
                </a:solidFill>
                <a:latin typeface="Calibri"/>
              </a:rPr>
              <a:t>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0712" y="2551176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B2A4A"/>
                </a:solidFill>
                <a:latin typeface="Arial Black"/>
              </a:rPr>
              <a:t>CAT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30752" y="3008376"/>
            <a:ext cx="182880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0752" y="3099816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04F5F"/>
                </a:solidFill>
                <a:latin typeface="Calibri"/>
              </a:rPr>
              <a:t>c  says  /k/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1783080"/>
            <a:ext cx="2651760" cy="1965960"/>
          </a:xfrm>
          <a:prstGeom prst="roundRect">
            <a:avLst/>
          </a:prstGeom>
          <a:solidFill>
            <a:srgbClr val="FD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81344" y="1911096"/>
            <a:ext cx="26517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22A36"/>
                </a:solidFill>
                <a:latin typeface="Calibri"/>
              </a:rPr>
              <a:t>☀️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4" y="2551176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B2A4A"/>
                </a:solidFill>
                <a:latin typeface="Arial Black"/>
              </a:rPr>
              <a:t>SUN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92824" y="3008376"/>
            <a:ext cx="182880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4" y="3099816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04F5F"/>
                </a:solidFill>
                <a:latin typeface="Calibri"/>
              </a:rPr>
              <a:t>s  says  /s/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43416" y="1783080"/>
            <a:ext cx="2651760" cy="1965960"/>
          </a:xfrm>
          <a:prstGeom prst="roundRect">
            <a:avLst/>
          </a:prstGeom>
          <a:solidFill>
            <a:srgbClr val="FD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43416" y="1911096"/>
            <a:ext cx="26517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22A36"/>
                </a:solidFill>
                <a:latin typeface="Calibri"/>
              </a:rPr>
              <a:t>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34856" y="2551176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B2A4A"/>
                </a:solidFill>
                <a:latin typeface="Arial Black"/>
              </a:rPr>
              <a:t>DOG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54896" y="3008376"/>
            <a:ext cx="182880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54896" y="3099816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04F5F"/>
                </a:solidFill>
                <a:latin typeface="Calibri"/>
              </a:rPr>
              <a:t>d  says  /d/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931920"/>
            <a:ext cx="2651760" cy="1965960"/>
          </a:xfrm>
          <a:prstGeom prst="roundRect">
            <a:avLst/>
          </a:prstGeom>
          <a:solidFill>
            <a:srgbClr val="FD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059936"/>
            <a:ext cx="26517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22A36"/>
                </a:solidFill>
                <a:latin typeface="Calibri"/>
              </a:rPr>
              <a:t>🟫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700016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B2A4A"/>
                </a:solidFill>
                <a:latin typeface="Arial Black"/>
              </a:rPr>
              <a:t>MAT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" y="5157216"/>
            <a:ext cx="182880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5248656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04F5F"/>
                </a:solidFill>
                <a:latin typeface="Calibri"/>
              </a:rPr>
              <a:t>m  says  /m/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19272" y="3931920"/>
            <a:ext cx="2651760" cy="1965960"/>
          </a:xfrm>
          <a:prstGeom prst="roundRect">
            <a:avLst/>
          </a:prstGeom>
          <a:solidFill>
            <a:srgbClr val="FD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19272" y="4059936"/>
            <a:ext cx="26517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22A36"/>
                </a:solidFill>
                <a:latin typeface="Calibri"/>
              </a:rPr>
              <a:t>🌳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10712" y="4700016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B2A4A"/>
                </a:solidFill>
                <a:latin typeface="Arial Black"/>
              </a:rPr>
              <a:t>TREE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730752" y="5157216"/>
            <a:ext cx="182880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30752" y="5248656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04F5F"/>
                </a:solidFill>
                <a:latin typeface="Calibri"/>
              </a:rPr>
              <a:t>t  says  /t/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81344" y="3931920"/>
            <a:ext cx="2651760" cy="1965960"/>
          </a:xfrm>
          <a:prstGeom prst="roundRect">
            <a:avLst/>
          </a:prstGeom>
          <a:solidFill>
            <a:srgbClr val="FD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81344" y="4059936"/>
            <a:ext cx="26517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22A36"/>
                </a:solidFill>
                <a:latin typeface="Calibri"/>
              </a:rPr>
              <a:t>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72784" y="4700016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B2A4A"/>
                </a:solidFill>
                <a:latin typeface="Arial Black"/>
              </a:rPr>
              <a:t>PIG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92824" y="5157216"/>
            <a:ext cx="182880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92824" y="5248656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04F5F"/>
                </a:solidFill>
                <a:latin typeface="Calibri"/>
              </a:rPr>
              <a:t>p  says  /p/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043416" y="3931920"/>
            <a:ext cx="2651760" cy="1965960"/>
          </a:xfrm>
          <a:prstGeom prst="roundRect">
            <a:avLst/>
          </a:prstGeom>
          <a:solidFill>
            <a:srgbClr val="FD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43416" y="4059936"/>
            <a:ext cx="26517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22A36"/>
                </a:solidFill>
                <a:latin typeface="Calibri"/>
              </a:rPr>
              <a:t>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34856" y="4700016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B2A4A"/>
                </a:solidFill>
                <a:latin typeface="Arial Black"/>
              </a:rPr>
              <a:t>FUN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454896" y="5157216"/>
            <a:ext cx="182880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54896" y="5248656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04F5F"/>
                </a:solidFill>
                <a:latin typeface="Calibri"/>
              </a:rPr>
              <a:t>f  says  /f/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Georgia"/>
              </a:rPr>
              <a:t>🔎 Game: Bear's Sound Hunt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031949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Bear's Big Reading Adventure  |  Grade 1  |  90 min  |  Bear's House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7 / 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04F5F"/>
                </a:solidFill>
                <a:latin typeface="Calibri"/>
              </a:rPr>
              <a:t>Which picture STARTS with this sound?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21408"/>
            <a:ext cx="457200" cy="457200"/>
          </a:xfrm>
          <a:prstGeom prst="ellipse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176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048256"/>
            <a:ext cx="2377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04F5F"/>
                </a:solidFill>
                <a:latin typeface="Arial Black"/>
              </a:rPr>
              <a:t>/b/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0" y="1883664"/>
            <a:ext cx="2286000" cy="932688"/>
          </a:xfrm>
          <a:prstGeom prst="roundRect">
            <a:avLst/>
          </a:prstGeom>
          <a:solidFill>
            <a:srgbClr val="FD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0" y="19202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24505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B2A4A"/>
                </a:solidFill>
                <a:latin typeface="Calibri"/>
              </a:rPr>
              <a:t>Bear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400" y="1883664"/>
            <a:ext cx="2286000" cy="932688"/>
          </a:xfrm>
          <a:prstGeom prst="roundRect">
            <a:avLst/>
          </a:prstGeom>
          <a:solidFill>
            <a:srgbClr val="FD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19202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☀️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4505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B2A4A"/>
                </a:solidFill>
                <a:latin typeface="Calibri"/>
              </a:rPr>
              <a:t>Sun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1883664"/>
            <a:ext cx="2286000" cy="932688"/>
          </a:xfrm>
          <a:prstGeom prst="roundRect">
            <a:avLst/>
          </a:prstGeom>
          <a:solidFill>
            <a:srgbClr val="FD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19202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4505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B2A4A"/>
                </a:solidFill>
                <a:latin typeface="Calibri"/>
              </a:rPr>
              <a:t>Cat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1089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5800" y="3493008"/>
            <a:ext cx="457200" cy="457200"/>
          </a:xfrm>
          <a:prstGeom prst="ellipse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35478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3419856"/>
            <a:ext cx="2377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04F5F"/>
                </a:solidFill>
                <a:latin typeface="Arial Black"/>
              </a:rPr>
              <a:t>/s/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0" y="3255264"/>
            <a:ext cx="2286000" cy="932688"/>
          </a:xfrm>
          <a:prstGeom prst="roundRect">
            <a:avLst/>
          </a:prstGeom>
          <a:solidFill>
            <a:srgbClr val="FD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0" y="32918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38221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B2A4A"/>
                </a:solidFill>
                <a:latin typeface="Calibri"/>
              </a:rPr>
              <a:t>Dog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29400" y="3255264"/>
            <a:ext cx="2286000" cy="932688"/>
          </a:xfrm>
          <a:prstGeom prst="roundRect">
            <a:avLst/>
          </a:prstGeom>
          <a:solidFill>
            <a:srgbClr val="FD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29400" y="32918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☀️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38221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B2A4A"/>
                </a:solidFill>
                <a:latin typeface="Calibri"/>
              </a:rPr>
              <a:t>Sun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0" y="3255264"/>
            <a:ext cx="2286000" cy="932688"/>
          </a:xfrm>
          <a:prstGeom prst="roundRect">
            <a:avLst/>
          </a:prstGeom>
          <a:solidFill>
            <a:srgbClr val="FD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0" y="32918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38221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B2A4A"/>
                </a:solidFill>
                <a:latin typeface="Calibri"/>
              </a:rPr>
              <a:t>Pig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4805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5800" y="4864608"/>
            <a:ext cx="457200" cy="457200"/>
          </a:xfrm>
          <a:prstGeom prst="ellipse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49194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25880" y="4791456"/>
            <a:ext cx="2377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04F5F"/>
                </a:solidFill>
                <a:latin typeface="Arial Black"/>
              </a:rPr>
              <a:t>/k/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14800" y="4626864"/>
            <a:ext cx="2286000" cy="932688"/>
          </a:xfrm>
          <a:prstGeom prst="roundRect">
            <a:avLst/>
          </a:prstGeom>
          <a:solidFill>
            <a:srgbClr val="FD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0" y="46634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51937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B2A4A"/>
                </a:solidFill>
                <a:latin typeface="Calibri"/>
              </a:rPr>
              <a:t>Cat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629400" y="4626864"/>
            <a:ext cx="2286000" cy="932688"/>
          </a:xfrm>
          <a:prstGeom prst="roundRect">
            <a:avLst/>
          </a:prstGeom>
          <a:solidFill>
            <a:srgbClr val="FD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29400" y="46634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🐻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51937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B2A4A"/>
                </a:solidFill>
                <a:latin typeface="Calibri"/>
              </a:rPr>
              <a:t>Bear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144000" y="4626864"/>
            <a:ext cx="2286000" cy="932688"/>
          </a:xfrm>
          <a:prstGeom prst="roundRect">
            <a:avLst/>
          </a:prstGeom>
          <a:solidFill>
            <a:srgbClr val="FD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00" y="46634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51937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B2A4A"/>
                </a:solidFill>
                <a:latin typeface="Calibri"/>
              </a:rPr>
              <a:t>Hen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5952744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2A4A"/>
                </a:solidFill>
                <a:latin typeface="Calibri"/>
              </a:rPr>
              <a:t>Say each picture name out loud first. Stretch the first sound.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Georgia"/>
              </a:rPr>
              <a:t>🔎 Sound Challenge — Round 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322227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Bear's Big Reading Adventure  |  Grade 1  |  90 min  |  Bear's House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8 / 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04F5F"/>
                </a:solidFill>
                <a:latin typeface="Calibri"/>
              </a:rPr>
              <a:t>Three more sounds. You can do it!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21408"/>
            <a:ext cx="457200" cy="457200"/>
          </a:xfrm>
          <a:prstGeom prst="ellipse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176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048256"/>
            <a:ext cx="2377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04F5F"/>
                </a:solidFill>
                <a:latin typeface="Arial Black"/>
              </a:rPr>
              <a:t>/d/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0" y="1883664"/>
            <a:ext cx="2286000" cy="932688"/>
          </a:xfrm>
          <a:prstGeom prst="roundRect">
            <a:avLst/>
          </a:prstGeom>
          <a:solidFill>
            <a:srgbClr val="FD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0" y="19202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24505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B2A4A"/>
                </a:solidFill>
                <a:latin typeface="Calibri"/>
              </a:rPr>
              <a:t>Pig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400" y="1883664"/>
            <a:ext cx="2286000" cy="932688"/>
          </a:xfrm>
          <a:prstGeom prst="roundRect">
            <a:avLst/>
          </a:prstGeom>
          <a:solidFill>
            <a:srgbClr val="FD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19202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4505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B2A4A"/>
                </a:solidFill>
                <a:latin typeface="Calibri"/>
              </a:rPr>
              <a:t>Dog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1883664"/>
            <a:ext cx="2286000" cy="932688"/>
          </a:xfrm>
          <a:prstGeom prst="roundRect">
            <a:avLst/>
          </a:prstGeom>
          <a:solidFill>
            <a:srgbClr val="FD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19202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☀️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4505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B2A4A"/>
                </a:solidFill>
                <a:latin typeface="Calibri"/>
              </a:rPr>
              <a:t>Sun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1089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5800" y="3493008"/>
            <a:ext cx="457200" cy="457200"/>
          </a:xfrm>
          <a:prstGeom prst="ellipse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35478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3419856"/>
            <a:ext cx="2377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04F5F"/>
                </a:solidFill>
                <a:latin typeface="Arial Black"/>
              </a:rPr>
              <a:t>/p/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0" y="3255264"/>
            <a:ext cx="2286000" cy="932688"/>
          </a:xfrm>
          <a:prstGeom prst="roundRect">
            <a:avLst/>
          </a:prstGeom>
          <a:solidFill>
            <a:srgbClr val="FD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0" y="32918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38221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B2A4A"/>
                </a:solidFill>
                <a:latin typeface="Calibri"/>
              </a:rPr>
              <a:t>Hen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29400" y="3255264"/>
            <a:ext cx="2286000" cy="932688"/>
          </a:xfrm>
          <a:prstGeom prst="roundRect">
            <a:avLst/>
          </a:prstGeom>
          <a:solidFill>
            <a:srgbClr val="FD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29400" y="32918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38221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B2A4A"/>
                </a:solidFill>
                <a:latin typeface="Calibri"/>
              </a:rPr>
              <a:t>Cat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0" y="3255264"/>
            <a:ext cx="2286000" cy="932688"/>
          </a:xfrm>
          <a:prstGeom prst="roundRect">
            <a:avLst/>
          </a:prstGeom>
          <a:solidFill>
            <a:srgbClr val="FD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0" y="32918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38221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B2A4A"/>
                </a:solidFill>
                <a:latin typeface="Calibri"/>
              </a:rPr>
              <a:t>Pig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4805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5800" y="4864608"/>
            <a:ext cx="457200" cy="457200"/>
          </a:xfrm>
          <a:prstGeom prst="ellipse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49194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25880" y="4791456"/>
            <a:ext cx="2377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04F5F"/>
                </a:solidFill>
                <a:latin typeface="Arial Black"/>
              </a:rPr>
              <a:t>/m/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14800" y="4626864"/>
            <a:ext cx="2286000" cy="932688"/>
          </a:xfrm>
          <a:prstGeom prst="roundRect">
            <a:avLst/>
          </a:prstGeom>
          <a:solidFill>
            <a:srgbClr val="FD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0" y="46634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🟫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51937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B2A4A"/>
                </a:solidFill>
                <a:latin typeface="Calibri"/>
              </a:rPr>
              <a:t>Mat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629400" y="4626864"/>
            <a:ext cx="2286000" cy="932688"/>
          </a:xfrm>
          <a:prstGeom prst="roundRect">
            <a:avLst/>
          </a:prstGeom>
          <a:solidFill>
            <a:srgbClr val="FD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29400" y="46634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🐻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51937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B2A4A"/>
                </a:solidFill>
                <a:latin typeface="Calibri"/>
              </a:rPr>
              <a:t>Bear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144000" y="4626864"/>
            <a:ext cx="2286000" cy="932688"/>
          </a:xfrm>
          <a:prstGeom prst="roundRect">
            <a:avLst/>
          </a:prstGeom>
          <a:solidFill>
            <a:srgbClr val="FD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00" y="46634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🐶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51937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B2A4A"/>
                </a:solidFill>
                <a:latin typeface="Calibri"/>
              </a:rPr>
              <a:t>Dog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5952744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2A4A"/>
                </a:solidFill>
                <a:latin typeface="Calibri"/>
              </a:rPr>
              <a:t>Our sounds:  b  c  d  f  m  p  s  t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B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7B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17–25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Georgia"/>
              </a:rPr>
              <a:t>🍎 The Five Vowels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612506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Bear's Big Reading Adventure  |  Grade 1  |  90 min  |  Bear's House  |  17–25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9 / 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B5CD6"/>
                </a:solidFill>
                <a:latin typeface="Calibri"/>
              </a:rPr>
              <a:t>These five sounds live inside almost every word.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2103120" cy="3200400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20" y="2011680"/>
            <a:ext cx="1097280" cy="1005840"/>
          </a:xfrm>
          <a:prstGeom prst="roundRect">
            <a:avLst/>
          </a:prstGeom>
          <a:solidFill>
            <a:srgbClr val="7B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139696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rial Black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20040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22A36"/>
                </a:solidFill>
                <a:latin typeface="Calibri"/>
              </a:rPr>
              <a:t>🍎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06240"/>
            <a:ext cx="173736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31596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7B5CD6"/>
                </a:solidFill>
                <a:latin typeface="Calibri"/>
              </a:rPr>
              <a:t>apple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34056" y="1783080"/>
            <a:ext cx="2103120" cy="3200400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236976" y="2011680"/>
            <a:ext cx="1097280" cy="1005840"/>
          </a:xfrm>
          <a:prstGeom prst="roundRect">
            <a:avLst/>
          </a:prstGeom>
          <a:solidFill>
            <a:srgbClr val="7B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36976" y="2139696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rial Black"/>
              </a:rPr>
              <a:t>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34056" y="320040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22A36"/>
                </a:solidFill>
                <a:latin typeface="Calibri"/>
              </a:rPr>
              <a:t>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16936" y="4206240"/>
            <a:ext cx="173736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16936" y="431596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7B5CD6"/>
                </a:solidFill>
                <a:latin typeface="Calibri"/>
              </a:rPr>
              <a:t>egg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10912" y="1783080"/>
            <a:ext cx="2103120" cy="3200400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513832" y="2011680"/>
            <a:ext cx="1097280" cy="1005840"/>
          </a:xfrm>
          <a:prstGeom prst="roundRect">
            <a:avLst/>
          </a:prstGeom>
          <a:solidFill>
            <a:srgbClr val="7B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13832" y="2139696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rial Black"/>
              </a:rPr>
              <a:t>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0912" y="320040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22A36"/>
                </a:solidFill>
                <a:latin typeface="Calibri"/>
              </a:rPr>
              <a:t>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93792" y="4206240"/>
            <a:ext cx="173736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93792" y="431596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7B5CD6"/>
                </a:solidFill>
                <a:latin typeface="Calibri"/>
              </a:rPr>
              <a:t>insect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87768" y="1783080"/>
            <a:ext cx="2103120" cy="3200400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790688" y="2011680"/>
            <a:ext cx="1097280" cy="1005840"/>
          </a:xfrm>
          <a:prstGeom prst="roundRect">
            <a:avLst/>
          </a:prstGeom>
          <a:solidFill>
            <a:srgbClr val="7B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90688" y="2139696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rial Black"/>
              </a:rPr>
              <a:t>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87768" y="320040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22A36"/>
                </a:solidFill>
                <a:latin typeface="Calibri"/>
              </a:rPr>
              <a:t>🐙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70648" y="4206240"/>
            <a:ext cx="173736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70648" y="431596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7B5CD6"/>
                </a:solidFill>
                <a:latin typeface="Calibri"/>
              </a:rPr>
              <a:t>octopus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64624" y="1783080"/>
            <a:ext cx="2103120" cy="3200400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067544" y="2011680"/>
            <a:ext cx="1097280" cy="1005840"/>
          </a:xfrm>
          <a:prstGeom prst="roundRect">
            <a:avLst/>
          </a:prstGeom>
          <a:solidFill>
            <a:srgbClr val="7B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67544" y="2139696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rial Black"/>
              </a:rPr>
              <a:t>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64624" y="320040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22A36"/>
                </a:solidFill>
                <a:latin typeface="Calibri"/>
              </a:rPr>
              <a:t>☂️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747504" y="4206240"/>
            <a:ext cx="173736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47504" y="431596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7B5CD6"/>
                </a:solidFill>
                <a:latin typeface="Calibri"/>
              </a:rPr>
              <a:t>umbrella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257800"/>
            <a:ext cx="11292840" cy="420624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312664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2A4A"/>
                </a:solidFill>
                <a:latin typeface="Calibri"/>
              </a:rPr>
              <a:t>a · apple    e · egg    i · insect    o · octopus    u · umbrella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B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7B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17–25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Georgia"/>
              </a:rPr>
              <a:t>🎯 Game: Vowel Basket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902784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Bear's Big Reading Adventure  |  Grade 1  |  90 min  |  Bear's House  |  17–25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10 / 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B5CD6"/>
                </a:solidFill>
                <a:latin typeface="Calibri"/>
              </a:rPr>
              <a:t>What vowel sound do you hear in the MIDDLE?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21408"/>
            <a:ext cx="457200" cy="457200"/>
          </a:xfrm>
          <a:prstGeom prst="ellipse">
            <a:avLst/>
          </a:prstGeom>
          <a:solidFill>
            <a:srgbClr val="7B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176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029968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22A36"/>
                </a:solidFill>
                <a:latin typeface="Calibri"/>
              </a:rPr>
              <a:t>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1920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Arial Black"/>
              </a:rPr>
              <a:t>CAT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24871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788"/>
                </a:solidFill>
                <a:latin typeface="Calibri"/>
              </a:rPr>
              <a:t>/k/ /a/ /t/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2011680"/>
            <a:ext cx="2011680" cy="658368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209397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7B5CD6"/>
                </a:solidFill>
                <a:latin typeface="Arial Black"/>
              </a:rPr>
              <a:t>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2011680"/>
            <a:ext cx="2011680" cy="658368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209397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7B5CD6"/>
                </a:solidFill>
                <a:latin typeface="Arial Black"/>
              </a:rPr>
              <a:t>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8320" y="2011680"/>
            <a:ext cx="2011680" cy="658368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209397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7B5CD6"/>
                </a:solidFill>
                <a:latin typeface="Arial Black"/>
              </a:rPr>
              <a:t>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1089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5800" y="3493008"/>
            <a:ext cx="457200" cy="457200"/>
          </a:xfrm>
          <a:prstGeom prst="ellipse">
            <a:avLst/>
          </a:prstGeom>
          <a:solidFill>
            <a:srgbClr val="7B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5478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3401568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22A36"/>
                </a:solidFill>
                <a:latin typeface="Calibri"/>
              </a:rPr>
              <a:t>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32918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Arial Black"/>
              </a:rPr>
              <a:t>PIG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38587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788"/>
                </a:solidFill>
                <a:latin typeface="Calibri"/>
              </a:rPr>
              <a:t>/p/ /i/ /g/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0" y="3383280"/>
            <a:ext cx="2011680" cy="658368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0" y="346557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7B5CD6"/>
                </a:solidFill>
                <a:latin typeface="Arial Black"/>
              </a:rPr>
              <a:t>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23760" y="3383280"/>
            <a:ext cx="2011680" cy="658368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3760" y="346557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7B5CD6"/>
                </a:solidFill>
                <a:latin typeface="Arial Black"/>
              </a:rPr>
              <a:t>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18320" y="3383280"/>
            <a:ext cx="2011680" cy="658368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18320" y="346557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7B5CD6"/>
                </a:solidFill>
                <a:latin typeface="Arial Black"/>
              </a:rPr>
              <a:t>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4805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85800" y="4864608"/>
            <a:ext cx="457200" cy="457200"/>
          </a:xfrm>
          <a:prstGeom prst="ellipse">
            <a:avLst/>
          </a:prstGeom>
          <a:solidFill>
            <a:srgbClr val="7B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49194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4773168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22A36"/>
                </a:solidFill>
                <a:latin typeface="Calibri"/>
              </a:rPr>
              <a:t>☀️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40280" y="46634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Arial Black"/>
              </a:rPr>
              <a:t>SUN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52303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788"/>
                </a:solidFill>
                <a:latin typeface="Calibri"/>
              </a:rPr>
              <a:t>/s/ /u/ /n/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0" y="4754880"/>
            <a:ext cx="2011680" cy="658368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0" y="483717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7B5CD6"/>
                </a:solidFill>
                <a:latin typeface="Arial Black"/>
              </a:rPr>
              <a:t>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223760" y="4754880"/>
            <a:ext cx="2011680" cy="658368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23760" y="483717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7B5CD6"/>
                </a:solidFill>
                <a:latin typeface="Arial Black"/>
              </a:rPr>
              <a:t>U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418320" y="4754880"/>
            <a:ext cx="2011680" cy="658368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18320" y="483717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7B5CD6"/>
                </a:solidFill>
                <a:latin typeface="Arial Black"/>
              </a:rPr>
              <a:t>O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5952744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2A4A"/>
                </a:solidFill>
                <a:latin typeface="Calibri"/>
              </a:rPr>
              <a:t>Say the word slowly and hold the middle sound: c-aaa-t.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B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7B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17–25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Georgia"/>
              </a:rPr>
              <a:t>🎯 Vowel Challenge — Round 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193062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Bear's Big Reading Adventure  |  Grade 1  |  90 min  |  Bear's House  |  17–25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11 / 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B5CD6"/>
                </a:solidFill>
                <a:latin typeface="Calibri"/>
              </a:rPr>
              <a:t>Three more middle sounds.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21408"/>
            <a:ext cx="457200" cy="457200"/>
          </a:xfrm>
          <a:prstGeom prst="ellipse">
            <a:avLst/>
          </a:prstGeom>
          <a:solidFill>
            <a:srgbClr val="7B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176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029968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22A36"/>
                </a:solidFill>
                <a:latin typeface="Calibri"/>
              </a:rPr>
              <a:t>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1920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Arial Black"/>
              </a:rPr>
              <a:t>HEN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24871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788"/>
                </a:solidFill>
                <a:latin typeface="Calibri"/>
              </a:rPr>
              <a:t>/h/ /e/ /n/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2011680"/>
            <a:ext cx="2011680" cy="658368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209397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7B5CD6"/>
                </a:solidFill>
                <a:latin typeface="Arial Black"/>
              </a:rPr>
              <a:t>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2011680"/>
            <a:ext cx="2011680" cy="658368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209397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7B5CD6"/>
                </a:solidFill>
                <a:latin typeface="Arial Black"/>
              </a:rPr>
              <a:t>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8320" y="2011680"/>
            <a:ext cx="2011680" cy="658368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209397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7B5CD6"/>
                </a:solidFill>
                <a:latin typeface="Arial Black"/>
              </a:rPr>
              <a:t>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1089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5800" y="3493008"/>
            <a:ext cx="457200" cy="457200"/>
          </a:xfrm>
          <a:prstGeom prst="ellipse">
            <a:avLst/>
          </a:prstGeom>
          <a:solidFill>
            <a:srgbClr val="7B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5478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3401568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22A36"/>
                </a:solidFill>
                <a:latin typeface="Calibri"/>
              </a:rPr>
              <a:t>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32918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Arial Black"/>
              </a:rPr>
              <a:t>DOG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38587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788"/>
                </a:solidFill>
                <a:latin typeface="Calibri"/>
              </a:rPr>
              <a:t>/d/ /o/ /g/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0" y="3383280"/>
            <a:ext cx="2011680" cy="658368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0" y="346557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7B5CD6"/>
                </a:solidFill>
                <a:latin typeface="Arial Black"/>
              </a:rPr>
              <a:t>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23760" y="3383280"/>
            <a:ext cx="2011680" cy="658368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3760" y="346557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7B5CD6"/>
                </a:solidFill>
                <a:latin typeface="Arial Black"/>
              </a:rPr>
              <a:t>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18320" y="3383280"/>
            <a:ext cx="2011680" cy="658368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18320" y="346557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7B5CD6"/>
                </a:solidFill>
                <a:latin typeface="Arial Black"/>
              </a:rPr>
              <a:t>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4805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85800" y="4864608"/>
            <a:ext cx="457200" cy="457200"/>
          </a:xfrm>
          <a:prstGeom prst="ellipse">
            <a:avLst/>
          </a:prstGeom>
          <a:solidFill>
            <a:srgbClr val="7B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49194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4773168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22A36"/>
                </a:solidFill>
                <a:latin typeface="Calibri"/>
              </a:rPr>
              <a:t>🟫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40280" y="46634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Arial Black"/>
              </a:rPr>
              <a:t>MAT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52303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788"/>
                </a:solidFill>
                <a:latin typeface="Calibri"/>
              </a:rPr>
              <a:t>/m/ /a/ /t/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0" y="4754880"/>
            <a:ext cx="2011680" cy="658368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0" y="483717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7B5CD6"/>
                </a:solidFill>
                <a:latin typeface="Arial Black"/>
              </a:rPr>
              <a:t>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223760" y="4754880"/>
            <a:ext cx="2011680" cy="658368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23760" y="483717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7B5CD6"/>
                </a:solidFill>
                <a:latin typeface="Arial Black"/>
              </a:rPr>
              <a:t>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418320" y="4754880"/>
            <a:ext cx="2011680" cy="658368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18320" y="483717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7B5CD6"/>
                </a:solidFill>
                <a:latin typeface="Arial Black"/>
              </a:rPr>
              <a:t>O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5952744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2A4A"/>
                </a:solidFill>
                <a:latin typeface="Calibri"/>
              </a:rPr>
              <a:t>Vowels:  a  e  i  o  u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25–35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Georgia"/>
              </a:rPr>
              <a:t>🧩 Blending — Pushing Sounds Together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483341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Bear's Big Reading Adventure  |  Grade 1  |  90 min  |  Forest  |  25–35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12 / 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B57"/>
                </a:solidFill>
                <a:latin typeface="Calibri"/>
              </a:rPr>
              <a:t>Three sounds can become one word.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828800"/>
          </a:xfrm>
          <a:prstGeom prst="roundRect">
            <a:avLst/>
          </a:prstGeom>
          <a:solidFill>
            <a:srgbClr val="E2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28600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22A36"/>
                </a:solidFill>
                <a:latin typeface="Calibri"/>
              </a:rPr>
              <a:t>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7440" y="2011680"/>
            <a:ext cx="14630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77440" y="2157984"/>
            <a:ext cx="14630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2E8B57"/>
                </a:solidFill>
                <a:latin typeface="Arial Black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2980944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788"/>
                </a:solidFill>
                <a:latin typeface="Calibri"/>
              </a:rPr>
              <a:t>/k/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2395728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B7788"/>
                </a:solidFill>
                <a:latin typeface="Calibri"/>
              </a:rPr>
              <a:t>+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0" y="2011680"/>
            <a:ext cx="14630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2157984"/>
            <a:ext cx="14630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2E8B57"/>
                </a:solidFill>
                <a:latin typeface="Arial Black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2980944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788"/>
                </a:solidFill>
                <a:latin typeface="Calibri"/>
              </a:rPr>
              <a:t>/a/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2395728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B7788"/>
                </a:solidFill>
                <a:latin typeface="Calibri"/>
              </a:rPr>
              <a:t>+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60" y="2011680"/>
            <a:ext cx="14630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60" y="2157984"/>
            <a:ext cx="14630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2E8B57"/>
                </a:solidFill>
                <a:latin typeface="Arial Black"/>
              </a:rPr>
              <a:t>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2980944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788"/>
                </a:solidFill>
                <a:latin typeface="Calibri"/>
              </a:rPr>
              <a:t>/t/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23774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8B57"/>
                </a:solidFill>
                <a:latin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2011680"/>
            <a:ext cx="32918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79" y="22860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2E8B57"/>
                </a:solidFill>
                <a:latin typeface="Arial Black"/>
              </a:rPr>
              <a:t>CAT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794760"/>
            <a:ext cx="3566160" cy="1920240"/>
          </a:xfrm>
          <a:prstGeom prst="roundRect">
            <a:avLst/>
          </a:prstGeom>
          <a:solidFill>
            <a:srgbClr val="FD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463040" y="4005072"/>
            <a:ext cx="1554480" cy="457200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63040" y="4078224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 DO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617720"/>
            <a:ext cx="301752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84632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04F5F"/>
                </a:solidFill>
                <a:latin typeface="Calibri"/>
              </a:rPr>
              <a:t>"/k/  /a/  /t/"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51960" y="3794760"/>
            <a:ext cx="3566160" cy="1920240"/>
          </a:xfrm>
          <a:prstGeom prst="roundRect">
            <a:avLst/>
          </a:prstGeom>
          <a:solidFill>
            <a:srgbClr val="FF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257800" y="4005072"/>
            <a:ext cx="1554480" cy="457200"/>
          </a:xfrm>
          <a:prstGeom prst="roundRect">
            <a:avLst/>
          </a:prstGeom>
          <a:solidFill>
            <a:srgbClr val="F2A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57800" y="4078224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 DO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26280" y="4617720"/>
            <a:ext cx="301752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17720" y="484632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2A31B"/>
                </a:solidFill>
                <a:latin typeface="Calibri"/>
              </a:rPr>
              <a:t>"/k/ /a/ /t/ — CAT"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46720" y="3794760"/>
            <a:ext cx="3566160" cy="1920240"/>
          </a:xfrm>
          <a:prstGeom prst="roundRect">
            <a:avLst/>
          </a:prstGeom>
          <a:solidFill>
            <a:srgbClr val="E2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052560" y="4005072"/>
            <a:ext cx="1554480" cy="45720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52560" y="4078224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YOU DO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21040" y="4617720"/>
            <a:ext cx="301752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80" y="484632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E8B57"/>
                </a:solidFill>
                <a:latin typeface="Calibri"/>
              </a:rPr>
              <a:t>"CAT!"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25–35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Georgia"/>
              </a:rPr>
              <a:t>🧩 Game: Build Bear's Word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773619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Bear's Big Reading Adventure  |  Grade 1  |  90 min  |  Forest  |  25–35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13 / 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B57"/>
                </a:solidFill>
                <a:latin typeface="Calibri"/>
              </a:rPr>
              <a:t>Say each sound. Then say the whole word fast.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25296"/>
          </a:xfrm>
          <a:prstGeom prst="roundRect">
            <a:avLst/>
          </a:prstGeom>
          <a:solidFill>
            <a:srgbClr val="FD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029968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22A36"/>
                </a:solidFill>
                <a:latin typeface="Calibri"/>
              </a:rPr>
              <a:t>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1965960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2048256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E04F5F"/>
                </a:solidFill>
                <a:latin typeface="Arial Black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2176272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B7788"/>
                </a:solidFill>
                <a:latin typeface="Calibri"/>
              </a:rPr>
              <a:t>+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63240" y="1965960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63240" y="2048256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E04F5F"/>
                </a:solidFill>
                <a:latin typeface="Arial Black"/>
              </a:rP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2176272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B7788"/>
                </a:solidFill>
                <a:latin typeface="Calibri"/>
              </a:rPr>
              <a:t>+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1965960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2048256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E04F5F"/>
                </a:solidFill>
                <a:latin typeface="Arial Black"/>
              </a:rPr>
              <a:t>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215798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7788"/>
                </a:solidFill>
                <a:latin typeface="Calibri"/>
              </a:rPr>
              <a:t>/k/  /a/  /t/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21214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04F5F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0" y="1965960"/>
            <a:ext cx="283464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2048256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E04F5F"/>
                </a:solidFill>
                <a:latin typeface="Arial Black"/>
              </a:rPr>
              <a:t>CAT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127248"/>
            <a:ext cx="11292840" cy="1225296"/>
          </a:xfrm>
          <a:prstGeom prst="roundRect">
            <a:avLst/>
          </a:prstGeom>
          <a:solidFill>
            <a:srgbClr val="FF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419856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22A36"/>
                </a:solidFill>
                <a:latin typeface="Calibri"/>
              </a:rPr>
              <a:t>☀️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28800" y="3355848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0" y="3438144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2A31B"/>
                </a:solidFill>
                <a:latin typeface="Arial Black"/>
              </a:rPr>
              <a:t>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360" y="3566160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B7788"/>
                </a:solidFill>
                <a:latin typeface="Calibri"/>
              </a:rPr>
              <a:t>+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3355848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63240" y="3438144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2A31B"/>
                </a:solidFill>
                <a:latin typeface="Arial Black"/>
              </a:rPr>
              <a:t>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3566160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B7788"/>
                </a:solidFill>
                <a:latin typeface="Calibri"/>
              </a:rPr>
              <a:t>+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80" y="3355848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0" y="3438144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2A31B"/>
                </a:solidFill>
                <a:latin typeface="Arial Black"/>
              </a:rPr>
              <a:t>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35478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7788"/>
                </a:solidFill>
                <a:latin typeface="Calibri"/>
              </a:rPr>
              <a:t>/s/  /u/  /n/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35112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2A31B"/>
                </a:solidFill>
                <a:latin typeface="Calibri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86800" y="3355848"/>
            <a:ext cx="283464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0" y="3438144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2A31B"/>
                </a:solidFill>
                <a:latin typeface="Arial Black"/>
              </a:rPr>
              <a:t>SUN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4517136"/>
            <a:ext cx="11292840" cy="1225296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4809744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22A36"/>
                </a:solidFill>
                <a:latin typeface="Calibri"/>
              </a:rPr>
              <a:t>🐷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828800" y="4745736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28800" y="4828032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7B5CD6"/>
                </a:solidFill>
                <a:latin typeface="Arial Black"/>
              </a:rPr>
              <a:t>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80360" y="4956048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B7788"/>
                </a:solidFill>
                <a:latin typeface="Calibri"/>
              </a:rPr>
              <a:t>+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063240" y="4745736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63240" y="4828032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7B5CD6"/>
                </a:solidFill>
                <a:latin typeface="Arial Black"/>
              </a:rPr>
              <a:t>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0" y="4956048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B7788"/>
                </a:solidFill>
                <a:latin typeface="Calibri"/>
              </a:rPr>
              <a:t>+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297680" y="4745736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97680" y="4828032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7B5CD6"/>
                </a:solidFill>
                <a:latin typeface="Arial Black"/>
              </a:rPr>
              <a:t>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60720" y="4937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7788"/>
                </a:solidFill>
                <a:latin typeface="Calibri"/>
              </a:rPr>
              <a:t>/p/  /i/  /g/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46720" y="490118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5CD6"/>
                </a:solidFill>
                <a:latin typeface="Calibri"/>
              </a:rPr>
              <a:t>→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686800" y="4745736"/>
            <a:ext cx="283464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86800" y="4828032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7B5CD6"/>
                </a:solidFill>
                <a:latin typeface="Arial Black"/>
              </a:rPr>
              <a:t>PIG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5943600"/>
            <a:ext cx="11292840" cy="420624"/>
          </a:xfrm>
          <a:prstGeom prst="roundRect">
            <a:avLst/>
          </a:prstGeom>
          <a:solidFill>
            <a:srgbClr val="E2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0" y="5998464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2A4A"/>
                </a:solidFill>
                <a:latin typeface="Calibri"/>
              </a:rPr>
              <a:t>Slide your finger under the letters as he blends.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25–35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Georgia"/>
              </a:rPr>
              <a:t>🧩 CVC Word Challenge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063898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Bear's Big Reading Adventure  |  Grade 1  |  90 min  |  Forest  |  25–35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14 / 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B57"/>
                </a:solidFill>
                <a:latin typeface="Calibri"/>
              </a:rPr>
              <a:t>Three more words for Bear.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25296"/>
          </a:xfrm>
          <a:prstGeom prst="roundRect">
            <a:avLst/>
          </a:prstGeom>
          <a:solidFill>
            <a:srgbClr val="E2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029968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22A36"/>
                </a:solidFill>
                <a:latin typeface="Calibri"/>
              </a:rPr>
              <a:t>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1965960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2048256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E8B57"/>
                </a:solidFill>
                <a:latin typeface="Arial Black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2176272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B7788"/>
                </a:solidFill>
                <a:latin typeface="Calibri"/>
              </a:rPr>
              <a:t>+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63240" y="1965960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63240" y="2048256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E8B57"/>
                </a:solidFill>
                <a:latin typeface="Arial Black"/>
              </a:rPr>
              <a:t>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2176272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B7788"/>
                </a:solidFill>
                <a:latin typeface="Calibri"/>
              </a:rPr>
              <a:t>+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1965960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2048256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E8B57"/>
                </a:solidFill>
                <a:latin typeface="Arial Black"/>
              </a:rPr>
              <a:t>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215798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7788"/>
                </a:solidFill>
                <a:latin typeface="Calibri"/>
              </a:rPr>
              <a:t>/d/  /o/  /g/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21214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8B57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0" y="1965960"/>
            <a:ext cx="283464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2048256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E8B57"/>
                </a:solidFill>
                <a:latin typeface="Arial Black"/>
              </a:rPr>
              <a:t>DOG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127248"/>
            <a:ext cx="11292840" cy="1225296"/>
          </a:xfrm>
          <a:prstGeom prst="roundRect">
            <a:avLst/>
          </a:prstGeom>
          <a:solidFill>
            <a:srgbClr val="E3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419856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22A36"/>
                </a:solidFill>
                <a:latin typeface="Calibri"/>
              </a:rPr>
              <a:t>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28800" y="3355848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0" y="3438144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E7FD9"/>
                </a:solidFill>
                <a:latin typeface="Arial Black"/>
              </a:rPr>
              <a:t>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360" y="3566160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B7788"/>
                </a:solidFill>
                <a:latin typeface="Calibri"/>
              </a:rPr>
              <a:t>+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3355848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63240" y="3438144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E7FD9"/>
                </a:solidFill>
                <a:latin typeface="Arial Black"/>
              </a:rPr>
              <a:t>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3566160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B7788"/>
                </a:solidFill>
                <a:latin typeface="Calibri"/>
              </a:rPr>
              <a:t>+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80" y="3355848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0" y="3438144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E7FD9"/>
                </a:solidFill>
                <a:latin typeface="Arial Black"/>
              </a:rPr>
              <a:t>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35478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7788"/>
                </a:solidFill>
                <a:latin typeface="Calibri"/>
              </a:rPr>
              <a:t>/h/  /e/  /n/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35112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FD9"/>
                </a:solidFill>
                <a:latin typeface="Calibri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86800" y="3355848"/>
            <a:ext cx="283464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0" y="3438144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E7FD9"/>
                </a:solidFill>
                <a:latin typeface="Arial Black"/>
              </a:rPr>
              <a:t>HEN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4517136"/>
            <a:ext cx="11292840" cy="1225296"/>
          </a:xfrm>
          <a:prstGeom prst="roundRect">
            <a:avLst/>
          </a:prstGeom>
          <a:solidFill>
            <a:srgbClr val="F6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4809744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22A36"/>
                </a:solidFill>
                <a:latin typeface="Calibri"/>
              </a:rPr>
              <a:t>🦇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828800" y="4745736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28800" y="4828032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9B623B"/>
                </a:solidFill>
                <a:latin typeface="Arial Black"/>
              </a:rPr>
              <a:t>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80360" y="4956048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B7788"/>
                </a:solidFill>
                <a:latin typeface="Calibri"/>
              </a:rPr>
              <a:t>+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063240" y="4745736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63240" y="4828032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9B623B"/>
                </a:solidFill>
                <a:latin typeface="Arial Black"/>
              </a:rPr>
              <a:t>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0" y="4956048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B7788"/>
                </a:solidFill>
                <a:latin typeface="Calibri"/>
              </a:rPr>
              <a:t>+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297680" y="4745736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97680" y="4828032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9B623B"/>
                </a:solidFill>
                <a:latin typeface="Arial Black"/>
              </a:rPr>
              <a:t>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60720" y="4937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7788"/>
                </a:solidFill>
                <a:latin typeface="Calibri"/>
              </a:rPr>
              <a:t>/b/  /a/  /t/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46720" y="490118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B623B"/>
                </a:solidFill>
                <a:latin typeface="Calibri"/>
              </a:rPr>
              <a:t>→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686800" y="4745736"/>
            <a:ext cx="283464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86800" y="4828032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9B623B"/>
                </a:solidFill>
                <a:latin typeface="Arial Black"/>
              </a:rPr>
              <a:t>BAT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5943600"/>
            <a:ext cx="11292840" cy="420624"/>
          </a:xfrm>
          <a:prstGeom prst="roundRect">
            <a:avLst/>
          </a:prstGeom>
          <a:solidFill>
            <a:srgbClr val="E2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0" y="5998464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2A4A"/>
                </a:solidFill>
                <a:latin typeface="Calibri"/>
              </a:rPr>
              <a:t>Stuck? Say the first sound for him, then let him finish.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7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2E7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35–43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Georgia"/>
              </a:rPr>
              <a:t>🏠 Word Families — Words That Rhyme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354176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Bear's Big Reading Adventure  |  Grade 1  |  90 min  |  Forest  |  35–43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15 / 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7FD9"/>
                </a:solidFill>
                <a:latin typeface="Calibri"/>
              </a:rPr>
              <a:t>These words have a part that sounds the same.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2651760" cy="3931920"/>
          </a:xfrm>
          <a:prstGeom prst="roundRect">
            <a:avLst/>
          </a:prstGeom>
          <a:solidFill>
            <a:srgbClr val="FD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202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22A36"/>
                </a:solidFill>
                <a:latin typeface="Calibri"/>
              </a:rPr>
              <a:t>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2578608"/>
            <a:ext cx="1645920" cy="658368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268833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 Black"/>
              </a:rPr>
              <a:t>-AT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401568"/>
            <a:ext cx="2011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45643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E04F5F"/>
                </a:solidFill>
                <a:latin typeface="Calibri"/>
              </a:rPr>
              <a:t>cat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950208"/>
            <a:ext cx="2011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005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E04F5F"/>
                </a:solidFill>
                <a:latin typeface="Calibri"/>
              </a:rPr>
              <a:t>bat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498848"/>
            <a:ext cx="2011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55371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E04F5F"/>
                </a:solidFill>
                <a:latin typeface="Calibri"/>
              </a:rPr>
              <a:t>hat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047488"/>
            <a:ext cx="2011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10235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E04F5F"/>
                </a:solidFill>
                <a:latin typeface="Calibri"/>
              </a:rPr>
              <a:t>mat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19272" y="1783080"/>
            <a:ext cx="2651760" cy="3931920"/>
          </a:xfrm>
          <a:prstGeom prst="roundRect">
            <a:avLst/>
          </a:prstGeom>
          <a:solidFill>
            <a:srgbClr val="E2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19272" y="19202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22A36"/>
                </a:solidFill>
                <a:latin typeface="Calibri"/>
              </a:rPr>
              <a:t>🏠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22192" y="2578608"/>
            <a:ext cx="1645920" cy="658368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22192" y="268833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 Black"/>
              </a:rPr>
              <a:t>-AN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39312" y="3401568"/>
            <a:ext cx="2011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39312" y="345643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E8B57"/>
                </a:solidFill>
                <a:latin typeface="Calibri"/>
              </a:rPr>
              <a:t>can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39312" y="3950208"/>
            <a:ext cx="2011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39312" y="4005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E8B57"/>
                </a:solidFill>
                <a:latin typeface="Calibri"/>
              </a:rPr>
              <a:t>man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39312" y="4498848"/>
            <a:ext cx="2011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39312" y="455371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E8B57"/>
                </a:solidFill>
                <a:latin typeface="Calibri"/>
              </a:rPr>
              <a:t>fan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81344" y="1783080"/>
            <a:ext cx="2651760" cy="3931920"/>
          </a:xfrm>
          <a:prstGeom prst="roundRect">
            <a:avLst/>
          </a:prstGeom>
          <a:solidFill>
            <a:srgbClr val="E3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81344" y="19202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22A36"/>
                </a:solidFill>
                <a:latin typeface="Calibri"/>
              </a:rPr>
              <a:t>🏠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84264" y="2578608"/>
            <a:ext cx="1645920" cy="658368"/>
          </a:xfrm>
          <a:prstGeom prst="roundRect">
            <a:avLst/>
          </a:prstGeom>
          <a:solidFill>
            <a:srgbClr val="2E7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84264" y="268833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 Black"/>
              </a:rPr>
              <a:t>-IG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01384" y="3401568"/>
            <a:ext cx="2011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01384" y="345643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E7FD9"/>
                </a:solidFill>
                <a:latin typeface="Calibri"/>
              </a:rPr>
              <a:t>pig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01384" y="3950208"/>
            <a:ext cx="2011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01384" y="4005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E7FD9"/>
                </a:solidFill>
                <a:latin typeface="Calibri"/>
              </a:rPr>
              <a:t>big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43416" y="1783080"/>
            <a:ext cx="2651760" cy="3931920"/>
          </a:xfrm>
          <a:prstGeom prst="roundRect">
            <a:avLst/>
          </a:prstGeom>
          <a:solidFill>
            <a:srgbClr val="FF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43416" y="19202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22A36"/>
                </a:solidFill>
                <a:latin typeface="Calibri"/>
              </a:rPr>
              <a:t>🏠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546336" y="2578608"/>
            <a:ext cx="1645920" cy="658368"/>
          </a:xfrm>
          <a:prstGeom prst="roundRect">
            <a:avLst/>
          </a:prstGeom>
          <a:solidFill>
            <a:srgbClr val="F2A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46336" y="268833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 Black"/>
              </a:rPr>
              <a:t>-UN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363456" y="3401568"/>
            <a:ext cx="2011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63456" y="345643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2A31B"/>
                </a:solidFill>
                <a:latin typeface="Calibri"/>
              </a:rPr>
              <a:t>sun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363456" y="3950208"/>
            <a:ext cx="2011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63456" y="4005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2A31B"/>
                </a:solidFill>
                <a:latin typeface="Calibri"/>
              </a:rPr>
              <a:t>run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363456" y="4498848"/>
            <a:ext cx="2011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63456" y="455371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2A31B"/>
                </a:solidFill>
                <a:latin typeface="Calibri"/>
              </a:rPr>
              <a:t>fun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7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2E7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35–43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Georgia"/>
              </a:rPr>
              <a:t>🏠 Game: Word Family House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644455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Bear's Big Reading Adventure  |  Grade 1  |  90 min  |  Forest  |  35–43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16 / 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7FD9"/>
                </a:solidFill>
                <a:latin typeface="Calibri"/>
              </a:rPr>
              <a:t>Which house does this word live in?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368" y="2002536"/>
            <a:ext cx="457200" cy="4572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057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1947672"/>
            <a:ext cx="822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1929384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Arial Black"/>
              </a:rPr>
              <a:t>CAT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1965960"/>
            <a:ext cx="1645920" cy="530352"/>
          </a:xfrm>
          <a:prstGeom prst="roundRect">
            <a:avLst/>
          </a:prstGeom>
          <a:solidFill>
            <a:srgbClr val="FD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029968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04F5F"/>
                </a:solidFill>
                <a:latin typeface="Calibri"/>
              </a:rPr>
              <a:t>🏠 -AT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82512" y="1965960"/>
            <a:ext cx="1645920" cy="530352"/>
          </a:xfrm>
          <a:prstGeom prst="roundRect">
            <a:avLst/>
          </a:prstGeom>
          <a:solidFill>
            <a:srgbClr val="E2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2029968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E8B57"/>
                </a:solidFill>
                <a:latin typeface="Calibri"/>
              </a:rPr>
              <a:t>🏠 -AN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93024" y="1965960"/>
            <a:ext cx="1645920" cy="530352"/>
          </a:xfrm>
          <a:prstGeom prst="roundRect">
            <a:avLst/>
          </a:prstGeom>
          <a:solidFill>
            <a:srgbClr val="E3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93024" y="2029968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E7FD9"/>
                </a:solidFill>
                <a:latin typeface="Calibri"/>
              </a:rPr>
              <a:t>🏠 -IG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03536" y="1965960"/>
            <a:ext cx="1645920" cy="530352"/>
          </a:xfrm>
          <a:prstGeom prst="roundRect">
            <a:avLst/>
          </a:prstGeom>
          <a:solidFill>
            <a:srgbClr val="FF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03536" y="2029968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2A31B"/>
                </a:solidFill>
                <a:latin typeface="Calibri"/>
              </a:rPr>
              <a:t>🏠 -UN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807208"/>
            <a:ext cx="1129284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58368" y="3026664"/>
            <a:ext cx="457200" cy="4572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0815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2971800"/>
            <a:ext cx="822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2953512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Arial Black"/>
              </a:rPr>
              <a:t>RUN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0" y="2990088"/>
            <a:ext cx="1645920" cy="530352"/>
          </a:xfrm>
          <a:prstGeom prst="roundRect">
            <a:avLst/>
          </a:prstGeom>
          <a:solidFill>
            <a:srgbClr val="FD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0" y="3054096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04F5F"/>
                </a:solidFill>
                <a:latin typeface="Calibri"/>
              </a:rPr>
              <a:t>🏠 -AT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82512" y="2990088"/>
            <a:ext cx="1645920" cy="530352"/>
          </a:xfrm>
          <a:prstGeom prst="roundRect">
            <a:avLst/>
          </a:prstGeom>
          <a:solidFill>
            <a:srgbClr val="E2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82512" y="3054096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E8B57"/>
                </a:solidFill>
                <a:latin typeface="Calibri"/>
              </a:rPr>
              <a:t>🏠 -AN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93024" y="2990088"/>
            <a:ext cx="1645920" cy="530352"/>
          </a:xfrm>
          <a:prstGeom prst="roundRect">
            <a:avLst/>
          </a:prstGeom>
          <a:solidFill>
            <a:srgbClr val="E3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93024" y="3054096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E7FD9"/>
                </a:solidFill>
                <a:latin typeface="Calibri"/>
              </a:rPr>
              <a:t>🏠 -IG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03536" y="2990088"/>
            <a:ext cx="1645920" cy="530352"/>
          </a:xfrm>
          <a:prstGeom prst="roundRect">
            <a:avLst/>
          </a:prstGeom>
          <a:solidFill>
            <a:srgbClr val="FF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03536" y="3054096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2A31B"/>
                </a:solidFill>
                <a:latin typeface="Calibri"/>
              </a:rPr>
              <a:t>🏠 -UN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3831336"/>
            <a:ext cx="1129284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58368" y="4050792"/>
            <a:ext cx="457200" cy="4572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410565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80160" y="3995928"/>
            <a:ext cx="822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94560" y="3977640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Arial Black"/>
              </a:rPr>
              <a:t>BIG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0" y="4014216"/>
            <a:ext cx="1645920" cy="530352"/>
          </a:xfrm>
          <a:prstGeom prst="roundRect">
            <a:avLst/>
          </a:prstGeom>
          <a:solidFill>
            <a:srgbClr val="FD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0" y="4078224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04F5F"/>
                </a:solidFill>
                <a:latin typeface="Calibri"/>
              </a:rPr>
              <a:t>🏠 -AT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82512" y="4014216"/>
            <a:ext cx="1645920" cy="530352"/>
          </a:xfrm>
          <a:prstGeom prst="roundRect">
            <a:avLst/>
          </a:prstGeom>
          <a:solidFill>
            <a:srgbClr val="E2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82512" y="4078224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E8B57"/>
                </a:solidFill>
                <a:latin typeface="Calibri"/>
              </a:rPr>
              <a:t>🏠 -AN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93024" y="4014216"/>
            <a:ext cx="1645920" cy="530352"/>
          </a:xfrm>
          <a:prstGeom prst="roundRect">
            <a:avLst/>
          </a:prstGeom>
          <a:solidFill>
            <a:srgbClr val="E3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93024" y="4078224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E7FD9"/>
                </a:solidFill>
                <a:latin typeface="Calibri"/>
              </a:rPr>
              <a:t>🏠 -IG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003536" y="4014216"/>
            <a:ext cx="1645920" cy="530352"/>
          </a:xfrm>
          <a:prstGeom prst="roundRect">
            <a:avLst/>
          </a:prstGeom>
          <a:solidFill>
            <a:srgbClr val="FF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003536" y="4078224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2A31B"/>
                </a:solidFill>
                <a:latin typeface="Calibri"/>
              </a:rPr>
              <a:t>🏠 -UN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4855464"/>
            <a:ext cx="1129284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58368" y="5074920"/>
            <a:ext cx="457200" cy="4572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8368" y="51297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80160" y="5020056"/>
            <a:ext cx="822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🎩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94560" y="5001768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Arial Black"/>
              </a:rPr>
              <a:t>HAT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0" y="5038344"/>
            <a:ext cx="1645920" cy="530352"/>
          </a:xfrm>
          <a:prstGeom prst="roundRect">
            <a:avLst/>
          </a:prstGeom>
          <a:solidFill>
            <a:srgbClr val="FD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0" y="5102352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04F5F"/>
                </a:solidFill>
                <a:latin typeface="Calibri"/>
              </a:rPr>
              <a:t>🏠 -AT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82512" y="5038344"/>
            <a:ext cx="1645920" cy="530352"/>
          </a:xfrm>
          <a:prstGeom prst="roundRect">
            <a:avLst/>
          </a:prstGeom>
          <a:solidFill>
            <a:srgbClr val="E2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82512" y="5102352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E8B57"/>
                </a:solidFill>
                <a:latin typeface="Calibri"/>
              </a:rPr>
              <a:t>🏠 -AN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193024" y="5038344"/>
            <a:ext cx="1645920" cy="530352"/>
          </a:xfrm>
          <a:prstGeom prst="roundRect">
            <a:avLst/>
          </a:prstGeom>
          <a:solidFill>
            <a:srgbClr val="E3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93024" y="5102352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E7FD9"/>
                </a:solidFill>
                <a:latin typeface="Calibri"/>
              </a:rPr>
              <a:t>🏠 -IG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003536" y="5038344"/>
            <a:ext cx="1645920" cy="530352"/>
          </a:xfrm>
          <a:prstGeom prst="roundRect">
            <a:avLst/>
          </a:prstGeom>
          <a:solidFill>
            <a:srgbClr val="FF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03536" y="5102352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2A31B"/>
                </a:solidFill>
                <a:latin typeface="Calibri"/>
              </a:rPr>
              <a:t>🏠 -UN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57200" y="5943600"/>
            <a:ext cx="11292840" cy="420624"/>
          </a:xfrm>
          <a:prstGeom prst="roundRect">
            <a:avLst/>
          </a:prstGeom>
          <a:solidFill>
            <a:srgbClr val="E3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5998464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2A4A"/>
                </a:solidFill>
                <a:latin typeface="Calibri"/>
              </a:rPr>
              <a:t>Houses:  -AT    -AN    -IG    -UN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7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2E7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35–43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Georgia"/>
              </a:rPr>
              <a:t>🏠 Word Family Challenge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934733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Bear's Big Reading Adventure  |  Grade 1  |  90 min  |  Forest  |  35–43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17 / 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7FD9"/>
                </a:solidFill>
                <a:latin typeface="Calibri"/>
              </a:rPr>
              <a:t>Four more words need a home.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368" y="2002536"/>
            <a:ext cx="457200" cy="4572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057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1947672"/>
            <a:ext cx="822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1929384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Arial Black"/>
              </a:rPr>
              <a:t>FAN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1965960"/>
            <a:ext cx="1645920" cy="530352"/>
          </a:xfrm>
          <a:prstGeom prst="roundRect">
            <a:avLst/>
          </a:prstGeom>
          <a:solidFill>
            <a:srgbClr val="FD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029968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04F5F"/>
                </a:solidFill>
                <a:latin typeface="Calibri"/>
              </a:rPr>
              <a:t>🏠 -AT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82512" y="1965960"/>
            <a:ext cx="1645920" cy="530352"/>
          </a:xfrm>
          <a:prstGeom prst="roundRect">
            <a:avLst/>
          </a:prstGeom>
          <a:solidFill>
            <a:srgbClr val="E2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2029968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E8B57"/>
                </a:solidFill>
                <a:latin typeface="Calibri"/>
              </a:rPr>
              <a:t>🏠 -AN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93024" y="1965960"/>
            <a:ext cx="1645920" cy="530352"/>
          </a:xfrm>
          <a:prstGeom prst="roundRect">
            <a:avLst/>
          </a:prstGeom>
          <a:solidFill>
            <a:srgbClr val="E3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93024" y="2029968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E7FD9"/>
                </a:solidFill>
                <a:latin typeface="Calibri"/>
              </a:rPr>
              <a:t>🏠 -IG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03536" y="1965960"/>
            <a:ext cx="1645920" cy="530352"/>
          </a:xfrm>
          <a:prstGeom prst="roundRect">
            <a:avLst/>
          </a:prstGeom>
          <a:solidFill>
            <a:srgbClr val="FF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03536" y="2029968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2A31B"/>
                </a:solidFill>
                <a:latin typeface="Calibri"/>
              </a:rPr>
              <a:t>🏠 -UN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807208"/>
            <a:ext cx="1129284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58368" y="3026664"/>
            <a:ext cx="457200" cy="4572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0815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2971800"/>
            <a:ext cx="822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2953512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Arial Black"/>
              </a:rPr>
              <a:t>BAT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0" y="2990088"/>
            <a:ext cx="1645920" cy="530352"/>
          </a:xfrm>
          <a:prstGeom prst="roundRect">
            <a:avLst/>
          </a:prstGeom>
          <a:solidFill>
            <a:srgbClr val="FD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0" y="3054096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04F5F"/>
                </a:solidFill>
                <a:latin typeface="Calibri"/>
              </a:rPr>
              <a:t>🏠 -AT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82512" y="2990088"/>
            <a:ext cx="1645920" cy="530352"/>
          </a:xfrm>
          <a:prstGeom prst="roundRect">
            <a:avLst/>
          </a:prstGeom>
          <a:solidFill>
            <a:srgbClr val="E2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82512" y="3054096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E8B57"/>
                </a:solidFill>
                <a:latin typeface="Calibri"/>
              </a:rPr>
              <a:t>🏠 -AN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93024" y="2990088"/>
            <a:ext cx="1645920" cy="530352"/>
          </a:xfrm>
          <a:prstGeom prst="roundRect">
            <a:avLst/>
          </a:prstGeom>
          <a:solidFill>
            <a:srgbClr val="E3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93024" y="3054096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E7FD9"/>
                </a:solidFill>
                <a:latin typeface="Calibri"/>
              </a:rPr>
              <a:t>🏠 -IG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03536" y="2990088"/>
            <a:ext cx="1645920" cy="530352"/>
          </a:xfrm>
          <a:prstGeom prst="roundRect">
            <a:avLst/>
          </a:prstGeom>
          <a:solidFill>
            <a:srgbClr val="FF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03536" y="3054096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2A31B"/>
                </a:solidFill>
                <a:latin typeface="Calibri"/>
              </a:rPr>
              <a:t>🏠 -UN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3831336"/>
            <a:ext cx="1129284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58368" y="4050792"/>
            <a:ext cx="457200" cy="4572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410565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80160" y="3995928"/>
            <a:ext cx="822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☀️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94560" y="3977640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Arial Black"/>
              </a:rPr>
              <a:t>SUN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0" y="4014216"/>
            <a:ext cx="1645920" cy="530352"/>
          </a:xfrm>
          <a:prstGeom prst="roundRect">
            <a:avLst/>
          </a:prstGeom>
          <a:solidFill>
            <a:srgbClr val="FD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0" y="4078224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04F5F"/>
                </a:solidFill>
                <a:latin typeface="Calibri"/>
              </a:rPr>
              <a:t>🏠 -AT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82512" y="4014216"/>
            <a:ext cx="1645920" cy="530352"/>
          </a:xfrm>
          <a:prstGeom prst="roundRect">
            <a:avLst/>
          </a:prstGeom>
          <a:solidFill>
            <a:srgbClr val="E2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82512" y="4078224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E8B57"/>
                </a:solidFill>
                <a:latin typeface="Calibri"/>
              </a:rPr>
              <a:t>🏠 -AN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93024" y="4014216"/>
            <a:ext cx="1645920" cy="530352"/>
          </a:xfrm>
          <a:prstGeom prst="roundRect">
            <a:avLst/>
          </a:prstGeom>
          <a:solidFill>
            <a:srgbClr val="E3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93024" y="4078224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E7FD9"/>
                </a:solidFill>
                <a:latin typeface="Calibri"/>
              </a:rPr>
              <a:t>🏠 -IG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003536" y="4014216"/>
            <a:ext cx="1645920" cy="530352"/>
          </a:xfrm>
          <a:prstGeom prst="roundRect">
            <a:avLst/>
          </a:prstGeom>
          <a:solidFill>
            <a:srgbClr val="FF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003536" y="4078224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2A31B"/>
                </a:solidFill>
                <a:latin typeface="Calibri"/>
              </a:rPr>
              <a:t>🏠 -UN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4855464"/>
            <a:ext cx="1129284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58368" y="5074920"/>
            <a:ext cx="457200" cy="4572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8368" y="51297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80160" y="5020056"/>
            <a:ext cx="822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🐷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94560" y="5001768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Arial Black"/>
              </a:rPr>
              <a:t>PIG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0" y="5038344"/>
            <a:ext cx="1645920" cy="530352"/>
          </a:xfrm>
          <a:prstGeom prst="roundRect">
            <a:avLst/>
          </a:prstGeom>
          <a:solidFill>
            <a:srgbClr val="FD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0" y="5102352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04F5F"/>
                </a:solidFill>
                <a:latin typeface="Calibri"/>
              </a:rPr>
              <a:t>🏠 -AT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82512" y="5038344"/>
            <a:ext cx="1645920" cy="530352"/>
          </a:xfrm>
          <a:prstGeom prst="roundRect">
            <a:avLst/>
          </a:prstGeom>
          <a:solidFill>
            <a:srgbClr val="E2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82512" y="5102352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E8B57"/>
                </a:solidFill>
                <a:latin typeface="Calibri"/>
              </a:rPr>
              <a:t>🏠 -AN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193024" y="5038344"/>
            <a:ext cx="1645920" cy="530352"/>
          </a:xfrm>
          <a:prstGeom prst="roundRect">
            <a:avLst/>
          </a:prstGeom>
          <a:solidFill>
            <a:srgbClr val="E3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93024" y="5102352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E7FD9"/>
                </a:solidFill>
                <a:latin typeface="Calibri"/>
              </a:rPr>
              <a:t>🏠 -IG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003536" y="5038344"/>
            <a:ext cx="1645920" cy="530352"/>
          </a:xfrm>
          <a:prstGeom prst="roundRect">
            <a:avLst/>
          </a:prstGeom>
          <a:solidFill>
            <a:srgbClr val="FF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03536" y="5102352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2A31B"/>
                </a:solidFill>
                <a:latin typeface="Calibri"/>
              </a:rPr>
              <a:t>🏠 -UN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57200" y="5943600"/>
            <a:ext cx="11292840" cy="420624"/>
          </a:xfrm>
          <a:prstGeom prst="roundRect">
            <a:avLst/>
          </a:prstGeom>
          <a:solidFill>
            <a:srgbClr val="E3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5998464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2A4A"/>
                </a:solidFill>
                <a:latin typeface="Calibri"/>
              </a:rPr>
              <a:t>Cover the first letter. Now only the ending is left.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A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F2A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BREAK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43–47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Georgia"/>
              </a:rPr>
              <a:t>🐻 Brain Break: Bear Says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225012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Bear's Big Reading Adventure  |  Grade 1  |  90 min  |  Reading Bridge  |  43–47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18 / 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A31B"/>
                </a:solidFill>
                <a:latin typeface="Calibri"/>
              </a:rPr>
              <a:t>Stay in your seat. Only do it if I say "Bear says."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5440680" cy="1097280"/>
          </a:xfrm>
          <a:prstGeom prst="roundRect">
            <a:avLst/>
          </a:prstGeom>
          <a:solidFill>
            <a:srgbClr val="FF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20574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112264"/>
            <a:ext cx="548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22A36"/>
                </a:solidFill>
                <a:latin typeface="Calibri"/>
              </a:rPr>
              <a:t>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112264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2A4A"/>
                </a:solidFill>
                <a:latin typeface="Calibri"/>
              </a:rPr>
              <a:t>Bear says clap 2 times.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783080"/>
            <a:ext cx="5440680" cy="1097280"/>
          </a:xfrm>
          <a:prstGeom prst="roundRect">
            <a:avLst/>
          </a:prstGeom>
          <a:solidFill>
            <a:srgbClr val="FF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8232" y="20574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2112264"/>
            <a:ext cx="548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22A36"/>
                </a:solidFill>
                <a:latin typeface="Calibri"/>
              </a:rPr>
              <a:t>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2112264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2A4A"/>
                </a:solidFill>
                <a:latin typeface="Calibri"/>
              </a:rPr>
              <a:t>Bear says point to CAT.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063239"/>
            <a:ext cx="5440680" cy="1097280"/>
          </a:xfrm>
          <a:prstGeom prst="roundRect">
            <a:avLst/>
          </a:prstGeom>
          <a:solidFill>
            <a:srgbClr val="FF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3232" y="3337559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392423"/>
            <a:ext cx="548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22A36"/>
                </a:solidFill>
                <a:latin typeface="Calibri"/>
              </a:rPr>
              <a:t>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3392423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2A4A"/>
                </a:solidFill>
                <a:latin typeface="Calibri"/>
              </a:rPr>
              <a:t>Bear says say the /m/ sound.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063239"/>
            <a:ext cx="5440680" cy="1097280"/>
          </a:xfrm>
          <a:prstGeom prst="roundRect">
            <a:avLst/>
          </a:prstGeom>
          <a:solidFill>
            <a:srgbClr val="FF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28232" y="3337559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28232" y="3392423"/>
            <a:ext cx="548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22A36"/>
                </a:solidFill>
                <a:latin typeface="Calibri"/>
              </a:rPr>
              <a:t>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392423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2A4A"/>
                </a:solidFill>
                <a:latin typeface="Calibri"/>
              </a:rPr>
              <a:t>Bear says touch the word SUN.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343400"/>
            <a:ext cx="5440680" cy="1097280"/>
          </a:xfrm>
          <a:prstGeom prst="roundRect">
            <a:avLst/>
          </a:prstGeom>
          <a:solidFill>
            <a:srgbClr val="FF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13232" y="461772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4672584"/>
            <a:ext cx="548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22A36"/>
                </a:solidFill>
                <a:latin typeface="Calibri"/>
              </a:rPr>
              <a:t>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4672584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2A4A"/>
                </a:solidFill>
                <a:latin typeface="Calibri"/>
              </a:rPr>
              <a:t>Bear says spell DOG.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4343400"/>
            <a:ext cx="5440680" cy="1097280"/>
          </a:xfrm>
          <a:prstGeom prst="roundRect">
            <a:avLst/>
          </a:prstGeom>
          <a:solidFill>
            <a:srgbClr val="FF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28232" y="461772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8232" y="4672584"/>
            <a:ext cx="548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22A36"/>
                </a:solidFill>
                <a:latin typeface="Calibri"/>
              </a:rPr>
              <a:t>🤫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4672584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2A4A"/>
                </a:solidFill>
                <a:latin typeface="Calibri"/>
              </a:rPr>
              <a:t>Bear says whisper CAT.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06440"/>
            <a:ext cx="11292840" cy="420624"/>
          </a:xfrm>
          <a:prstGeom prst="roundRect">
            <a:avLst/>
          </a:prstGeom>
          <a:solidFill>
            <a:srgbClr val="FF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861303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2A4A"/>
                </a:solidFill>
                <a:latin typeface="Calibri"/>
              </a:rPr>
              <a:t>Four of these are reading tasks — that is the point. Keep it quick and silly.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7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2E7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47–56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Georgia"/>
              </a:rPr>
              <a:t>💎 Sight Words — Words We Just Know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515290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Bear's Big Reading Adventure  |  Grade 1  |  90 min  |  Reading Bridge  |  47–56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19 / 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7FD9"/>
                </a:solidFill>
                <a:latin typeface="Calibri"/>
              </a:rPr>
              <a:t>We do not sound these out. We just know them.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2651760" cy="1737360"/>
          </a:xfrm>
          <a:prstGeom prst="roundRect">
            <a:avLst/>
          </a:prstGeom>
          <a:solidFill>
            <a:srgbClr val="E3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1947672"/>
            <a:ext cx="182880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075688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7FD9"/>
                </a:solidFill>
                <a:latin typeface="Arial Black"/>
              </a:rPr>
              <a:t>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86207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B2A4A"/>
                </a:solidFill>
                <a:latin typeface="Calibri"/>
              </a:rPr>
              <a:t>I can run.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19272" y="1783080"/>
            <a:ext cx="2651760" cy="1737360"/>
          </a:xfrm>
          <a:prstGeom prst="roundRect">
            <a:avLst/>
          </a:prstGeom>
          <a:solidFill>
            <a:srgbClr val="E3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730752" y="1947672"/>
            <a:ext cx="182880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30752" y="2075688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7FD9"/>
                </a:solidFill>
                <a:latin typeface="Arial Black"/>
              </a:rP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0712" y="286207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B2A4A"/>
                </a:solidFill>
                <a:latin typeface="Calibri"/>
              </a:rPr>
              <a:t>a cat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1344" y="1783080"/>
            <a:ext cx="2651760" cy="1737360"/>
          </a:xfrm>
          <a:prstGeom prst="roundRect">
            <a:avLst/>
          </a:prstGeom>
          <a:solidFill>
            <a:srgbClr val="E3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92824" y="1947672"/>
            <a:ext cx="182880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92824" y="2075688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7FD9"/>
                </a:solidFill>
                <a:latin typeface="Arial Black"/>
              </a:rPr>
              <a:t>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286207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B2A4A"/>
                </a:solidFill>
                <a:latin typeface="Calibri"/>
              </a:rPr>
              <a:t>I am Sam.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43416" y="1783080"/>
            <a:ext cx="2651760" cy="1737360"/>
          </a:xfrm>
          <a:prstGeom prst="roundRect">
            <a:avLst/>
          </a:prstGeom>
          <a:solidFill>
            <a:srgbClr val="E3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454896" y="1947672"/>
            <a:ext cx="182880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54896" y="2075688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7FD9"/>
                </a:solidFill>
                <a:latin typeface="Arial Black"/>
              </a:rPr>
              <a:t>the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34856" y="286207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B2A4A"/>
                </a:solidFill>
                <a:latin typeface="Calibri"/>
              </a:rPr>
              <a:t>the sun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703320"/>
            <a:ext cx="2651760" cy="1737360"/>
          </a:xfrm>
          <a:prstGeom prst="roundRect">
            <a:avLst/>
          </a:prstGeom>
          <a:solidFill>
            <a:srgbClr val="E3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68680" y="3867912"/>
            <a:ext cx="182880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3995928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7FD9"/>
                </a:solidFill>
                <a:latin typeface="Arial Black"/>
              </a:rPr>
              <a:t>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78231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B2A4A"/>
                </a:solidFill>
                <a:latin typeface="Calibri"/>
              </a:rPr>
              <a:t>It is big.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19272" y="3703320"/>
            <a:ext cx="2651760" cy="1737360"/>
          </a:xfrm>
          <a:prstGeom prst="roundRect">
            <a:avLst/>
          </a:prstGeom>
          <a:solidFill>
            <a:srgbClr val="E3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730752" y="3867912"/>
            <a:ext cx="182880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30752" y="3995928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7FD9"/>
                </a:solidFill>
                <a:latin typeface="Arial Black"/>
              </a:rPr>
              <a:t>my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10712" y="478231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B2A4A"/>
                </a:solidFill>
                <a:latin typeface="Calibri"/>
              </a:rPr>
              <a:t>my dog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81344" y="3703320"/>
            <a:ext cx="2651760" cy="1737360"/>
          </a:xfrm>
          <a:prstGeom prst="roundRect">
            <a:avLst/>
          </a:prstGeom>
          <a:solidFill>
            <a:srgbClr val="E3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592824" y="3867912"/>
            <a:ext cx="182880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92824" y="3995928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7FD9"/>
                </a:solidFill>
                <a:latin typeface="Arial Black"/>
              </a:rPr>
              <a:t>can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72784" y="478231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B2A4A"/>
                </a:solidFill>
                <a:latin typeface="Calibri"/>
              </a:rPr>
              <a:t>I can see.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43416" y="3703320"/>
            <a:ext cx="2651760" cy="1737360"/>
          </a:xfrm>
          <a:prstGeom prst="roundRect">
            <a:avLst/>
          </a:prstGeom>
          <a:solidFill>
            <a:srgbClr val="E3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454896" y="3867912"/>
            <a:ext cx="182880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54896" y="3995928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7FD9"/>
                </a:solidFill>
                <a:latin typeface="Arial Black"/>
              </a:rPr>
              <a:t>see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34856" y="478231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B2A4A"/>
                </a:solidFill>
                <a:latin typeface="Calibri"/>
              </a:rPr>
              <a:t>I see a cat.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5715000"/>
            <a:ext cx="11292840" cy="420624"/>
          </a:xfrm>
          <a:prstGeom prst="roundRect">
            <a:avLst/>
          </a:prstGeom>
          <a:solidFill>
            <a:srgbClr val="E3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5769864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2A4A"/>
                </a:solidFill>
                <a:latin typeface="Calibri"/>
              </a:rPr>
              <a:t>👀 Look  →  👂 I say it  →  🗣️ You say it  →  ⚡ Read it fast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7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2E7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47–56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Georgia"/>
              </a:rPr>
              <a:t>💎 Game: Bear's Treasure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805569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Bear's Big Reading Adventure  |  Grade 1  |  90 min  |  Reading Bridge  |  47–56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20 / 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7FD9"/>
                </a:solidFill>
                <a:latin typeface="Calibri"/>
              </a:rPr>
              <a:t>Bear opens the treasure when you find the word!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67128"/>
            <a:ext cx="457200" cy="457200"/>
          </a:xfrm>
          <a:prstGeom prst="ellipse">
            <a:avLst/>
          </a:prstGeom>
          <a:solidFill>
            <a:srgbClr val="2E7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2219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011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B7788"/>
                </a:solidFill>
                <a:latin typeface="Calibri"/>
              </a:rPr>
              <a:t>FIND: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80160" y="2350008"/>
            <a:ext cx="2194560" cy="548640"/>
          </a:xfrm>
          <a:prstGeom prst="roundRect">
            <a:avLst/>
          </a:prstGeom>
          <a:solidFill>
            <a:srgbClr val="2E7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24231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 Black"/>
              </a:rPr>
              <a:t>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31920" y="2093976"/>
            <a:ext cx="2377440" cy="621792"/>
          </a:xfrm>
          <a:prstGeom prst="roundRect">
            <a:avLst/>
          </a:prstGeom>
          <a:solidFill>
            <a:srgbClr val="E3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0" y="2167128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B2A4A"/>
                </a:solidFill>
                <a:latin typeface="Arial Black"/>
              </a:rPr>
              <a:t>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37960" y="2093976"/>
            <a:ext cx="2377440" cy="621792"/>
          </a:xfrm>
          <a:prstGeom prst="roundRect">
            <a:avLst/>
          </a:prstGeom>
          <a:solidFill>
            <a:srgbClr val="E3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167128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B2A4A"/>
                </a:solidFill>
                <a:latin typeface="Arial Black"/>
              </a:rPr>
              <a:t>cat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2093976"/>
            <a:ext cx="2377440" cy="621792"/>
          </a:xfrm>
          <a:prstGeom prst="roundRect">
            <a:avLst/>
          </a:prstGeom>
          <a:solidFill>
            <a:srgbClr val="E3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2167128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B2A4A"/>
                </a:solidFill>
                <a:latin typeface="Arial Black"/>
              </a:rPr>
              <a:t>sun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15468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5800" y="3538728"/>
            <a:ext cx="457200" cy="457200"/>
          </a:xfrm>
          <a:prstGeom prst="ellipse">
            <a:avLst/>
          </a:prstGeom>
          <a:solidFill>
            <a:srgbClr val="2E7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5935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B7788"/>
                </a:solidFill>
                <a:latin typeface="Calibri"/>
              </a:rPr>
              <a:t>FIND: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80160" y="3721608"/>
            <a:ext cx="2194560" cy="548640"/>
          </a:xfrm>
          <a:prstGeom prst="roundRect">
            <a:avLst/>
          </a:prstGeom>
          <a:solidFill>
            <a:srgbClr val="2E7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37947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 Black"/>
              </a:rPr>
              <a:t>the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31920" y="3465576"/>
            <a:ext cx="2377440" cy="621792"/>
          </a:xfrm>
          <a:prstGeom prst="roundRect">
            <a:avLst/>
          </a:prstGeom>
          <a:solidFill>
            <a:srgbClr val="E3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31920" y="3538728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B2A4A"/>
                </a:solidFill>
                <a:latin typeface="Arial Black"/>
              </a:rPr>
              <a:t>dog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37960" y="3465576"/>
            <a:ext cx="2377440" cy="621792"/>
          </a:xfrm>
          <a:prstGeom prst="roundRect">
            <a:avLst/>
          </a:prstGeom>
          <a:solidFill>
            <a:srgbClr val="E3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3538728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B2A4A"/>
                </a:solidFill>
                <a:latin typeface="Arial Black"/>
              </a:rPr>
              <a:t>the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465576"/>
            <a:ext cx="2377440" cy="621792"/>
          </a:xfrm>
          <a:prstGeom prst="roundRect">
            <a:avLst/>
          </a:prstGeom>
          <a:solidFill>
            <a:srgbClr val="E3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538728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B2A4A"/>
                </a:solidFill>
                <a:latin typeface="Arial Black"/>
              </a:rPr>
              <a:t>run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52628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85800" y="4910328"/>
            <a:ext cx="457200" cy="457200"/>
          </a:xfrm>
          <a:prstGeom prst="ellipse">
            <a:avLst/>
          </a:prstGeom>
          <a:solidFill>
            <a:srgbClr val="2E7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49651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4754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B7788"/>
                </a:solidFill>
                <a:latin typeface="Calibri"/>
              </a:rPr>
              <a:t>FIND: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280160" y="5093208"/>
            <a:ext cx="2194560" cy="548640"/>
          </a:xfrm>
          <a:prstGeom prst="roundRect">
            <a:avLst/>
          </a:prstGeom>
          <a:solidFill>
            <a:srgbClr val="2E7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80160" y="51663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 Black"/>
              </a:rPr>
              <a:t>can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931920" y="4837176"/>
            <a:ext cx="2377440" cy="621792"/>
          </a:xfrm>
          <a:prstGeom prst="roundRect">
            <a:avLst/>
          </a:prstGeom>
          <a:solidFill>
            <a:srgbClr val="E3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31920" y="4910328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B2A4A"/>
                </a:solidFill>
                <a:latin typeface="Arial Black"/>
              </a:rPr>
              <a:t>can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37960" y="4837176"/>
            <a:ext cx="2377440" cy="621792"/>
          </a:xfrm>
          <a:prstGeom prst="roundRect">
            <a:avLst/>
          </a:prstGeom>
          <a:solidFill>
            <a:srgbClr val="E3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37960" y="4910328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B2A4A"/>
                </a:solidFill>
                <a:latin typeface="Arial Black"/>
              </a:rPr>
              <a:t>pig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44000" y="4837176"/>
            <a:ext cx="2377440" cy="621792"/>
          </a:xfrm>
          <a:prstGeom prst="roundRect">
            <a:avLst/>
          </a:prstGeom>
          <a:solidFill>
            <a:srgbClr val="E3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0" y="4910328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B2A4A"/>
                </a:solidFill>
                <a:latin typeface="Arial Black"/>
              </a:rPr>
              <a:t>big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5943600"/>
            <a:ext cx="11292840" cy="420624"/>
          </a:xfrm>
          <a:prstGeom prst="roundRect">
            <a:avLst/>
          </a:prstGeom>
          <a:solidFill>
            <a:srgbClr val="E3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5998464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2A4A"/>
                </a:solidFill>
                <a:latin typeface="Calibri"/>
              </a:rPr>
              <a:t>Say the target word out loud before he looks at the choices.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7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2E7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47–56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Georgia"/>
              </a:rPr>
              <a:t>💎 Sight Word Challenge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095847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Bear's Big Reading Adventure  |  Grade 1  |  90 min  |  Reading Bridge  |  47–56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21 / 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7FD9"/>
                </a:solidFill>
                <a:latin typeface="Calibri"/>
              </a:rPr>
              <a:t>Three more treasures to unlock.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67128"/>
            <a:ext cx="457200" cy="457200"/>
          </a:xfrm>
          <a:prstGeom prst="ellipse">
            <a:avLst/>
          </a:prstGeom>
          <a:solidFill>
            <a:srgbClr val="2E7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2219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011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B7788"/>
                </a:solidFill>
                <a:latin typeface="Calibri"/>
              </a:rPr>
              <a:t>FIND: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80160" y="2350008"/>
            <a:ext cx="2194560" cy="548640"/>
          </a:xfrm>
          <a:prstGeom prst="roundRect">
            <a:avLst/>
          </a:prstGeom>
          <a:solidFill>
            <a:srgbClr val="2E7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24231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 Black"/>
              </a:rPr>
              <a:t>see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31920" y="2093976"/>
            <a:ext cx="2377440" cy="621792"/>
          </a:xfrm>
          <a:prstGeom prst="roundRect">
            <a:avLst/>
          </a:prstGeom>
          <a:solidFill>
            <a:srgbClr val="E3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0" y="2167128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B2A4A"/>
                </a:solidFill>
                <a:latin typeface="Arial Black"/>
              </a:rPr>
              <a:t>hat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37960" y="2093976"/>
            <a:ext cx="2377440" cy="621792"/>
          </a:xfrm>
          <a:prstGeom prst="roundRect">
            <a:avLst/>
          </a:prstGeom>
          <a:solidFill>
            <a:srgbClr val="E3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167128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B2A4A"/>
                </a:solidFill>
                <a:latin typeface="Arial Black"/>
              </a:rPr>
              <a:t>see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2093976"/>
            <a:ext cx="2377440" cy="621792"/>
          </a:xfrm>
          <a:prstGeom prst="roundRect">
            <a:avLst/>
          </a:prstGeom>
          <a:solidFill>
            <a:srgbClr val="E3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2167128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B2A4A"/>
                </a:solidFill>
                <a:latin typeface="Arial Black"/>
              </a:rPr>
              <a:t>bat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15468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5800" y="3538728"/>
            <a:ext cx="457200" cy="457200"/>
          </a:xfrm>
          <a:prstGeom prst="ellipse">
            <a:avLst/>
          </a:prstGeom>
          <a:solidFill>
            <a:srgbClr val="2E7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5935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B7788"/>
                </a:solidFill>
                <a:latin typeface="Calibri"/>
              </a:rPr>
              <a:t>FIND: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80160" y="3721608"/>
            <a:ext cx="2194560" cy="548640"/>
          </a:xfrm>
          <a:prstGeom prst="roundRect">
            <a:avLst/>
          </a:prstGeom>
          <a:solidFill>
            <a:srgbClr val="2E7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37947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 Black"/>
              </a:rPr>
              <a:t>my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31920" y="3465576"/>
            <a:ext cx="2377440" cy="621792"/>
          </a:xfrm>
          <a:prstGeom prst="roundRect">
            <a:avLst/>
          </a:prstGeom>
          <a:solidFill>
            <a:srgbClr val="E3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31920" y="3538728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B2A4A"/>
                </a:solidFill>
                <a:latin typeface="Arial Black"/>
              </a:rPr>
              <a:t>my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37960" y="3465576"/>
            <a:ext cx="2377440" cy="621792"/>
          </a:xfrm>
          <a:prstGeom prst="roundRect">
            <a:avLst/>
          </a:prstGeom>
          <a:solidFill>
            <a:srgbClr val="E3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3538728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B2A4A"/>
                </a:solidFill>
                <a:latin typeface="Arial Black"/>
              </a:rPr>
              <a:t>mat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465576"/>
            <a:ext cx="2377440" cy="621792"/>
          </a:xfrm>
          <a:prstGeom prst="roundRect">
            <a:avLst/>
          </a:prstGeom>
          <a:solidFill>
            <a:srgbClr val="E3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538728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B2A4A"/>
                </a:solidFill>
                <a:latin typeface="Arial Black"/>
              </a:rPr>
              <a:t>fun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52628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85800" y="4910328"/>
            <a:ext cx="457200" cy="457200"/>
          </a:xfrm>
          <a:prstGeom prst="ellipse">
            <a:avLst/>
          </a:prstGeom>
          <a:solidFill>
            <a:srgbClr val="2E7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49651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4754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B7788"/>
                </a:solidFill>
                <a:latin typeface="Calibri"/>
              </a:rPr>
              <a:t>FIND: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280160" y="5093208"/>
            <a:ext cx="2194560" cy="548640"/>
          </a:xfrm>
          <a:prstGeom prst="roundRect">
            <a:avLst/>
          </a:prstGeom>
          <a:solidFill>
            <a:srgbClr val="2E7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80160" y="51663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 Black"/>
              </a:rPr>
              <a:t>am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931920" y="4837176"/>
            <a:ext cx="2377440" cy="621792"/>
          </a:xfrm>
          <a:prstGeom prst="roundRect">
            <a:avLst/>
          </a:prstGeom>
          <a:solidFill>
            <a:srgbClr val="E3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31920" y="4910328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B2A4A"/>
                </a:solidFill>
                <a:latin typeface="Arial Black"/>
              </a:rPr>
              <a:t>is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37960" y="4837176"/>
            <a:ext cx="2377440" cy="621792"/>
          </a:xfrm>
          <a:prstGeom prst="roundRect">
            <a:avLst/>
          </a:prstGeom>
          <a:solidFill>
            <a:srgbClr val="E3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37960" y="4910328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B2A4A"/>
                </a:solidFill>
                <a:latin typeface="Arial Black"/>
              </a:rPr>
              <a:t>pen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44000" y="4837176"/>
            <a:ext cx="2377440" cy="621792"/>
          </a:xfrm>
          <a:prstGeom prst="roundRect">
            <a:avLst/>
          </a:prstGeom>
          <a:solidFill>
            <a:srgbClr val="E3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0" y="4910328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B2A4A"/>
                </a:solidFill>
                <a:latin typeface="Arial Black"/>
              </a:rPr>
              <a:t>am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5943600"/>
            <a:ext cx="11292840" cy="420624"/>
          </a:xfrm>
          <a:prstGeom prst="roundRect">
            <a:avLst/>
          </a:prstGeom>
          <a:solidFill>
            <a:srgbClr val="E3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5998464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2A4A"/>
                </a:solidFill>
                <a:latin typeface="Calibri"/>
              </a:rPr>
              <a:t>Missed one? Put it back in the pile and ask again before the story.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56–63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Georgia"/>
              </a:rPr>
              <a:t>🖼️ Word + Picture Match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386125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Bear's Big Reading Adventure  |  Grade 1  |  90 min  |  Reading Bridge  |  56–63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22 / 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B95"/>
                </a:solidFill>
                <a:latin typeface="Calibri"/>
              </a:rPr>
              <a:t>Which word goes with which picture?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0" y="1783080"/>
            <a:ext cx="2743200" cy="1828800"/>
          </a:xfrm>
          <a:prstGeom prst="roundRect">
            <a:avLst/>
          </a:prstGeom>
          <a:solidFill>
            <a:srgbClr val="DD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01168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>
                <a:solidFill>
                  <a:srgbClr val="222A36"/>
                </a:solidFill>
                <a:latin typeface="Calibri"/>
              </a:rPr>
              <a:t>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1783080"/>
            <a:ext cx="2743200" cy="1828800"/>
          </a:xfrm>
          <a:prstGeom prst="roundRect">
            <a:avLst/>
          </a:prstGeom>
          <a:solidFill>
            <a:srgbClr val="DD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201168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>
                <a:solidFill>
                  <a:srgbClr val="222A36"/>
                </a:solidFill>
                <a:latin typeface="Calibri"/>
              </a:rPr>
              <a:t>☀️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1783080"/>
            <a:ext cx="2743200" cy="1828800"/>
          </a:xfrm>
          <a:prstGeom prst="roundRect">
            <a:avLst/>
          </a:prstGeom>
          <a:solidFill>
            <a:srgbClr val="DD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201168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>
                <a:solidFill>
                  <a:srgbClr val="222A36"/>
                </a:solidFill>
                <a:latin typeface="Calibri"/>
              </a:rPr>
              <a:t>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703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B7788"/>
                </a:solidFill>
                <a:latin typeface="Calibri"/>
              </a:rPr>
              <a:t>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703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B7788"/>
                </a:solidFill>
                <a:latin typeface="Calibri"/>
              </a:rPr>
              <a:t>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703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B7788"/>
                </a:solidFill>
                <a:latin typeface="Calibri"/>
              </a:rPr>
              <a:t>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80160" y="4160520"/>
            <a:ext cx="27432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4315968"/>
            <a:ext cx="2743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9B95"/>
                </a:solidFill>
                <a:latin typeface="Arial Black"/>
              </a:rPr>
              <a:t>SUN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4160520"/>
            <a:ext cx="27432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4315968"/>
            <a:ext cx="2743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9B95"/>
                </a:solidFill>
                <a:latin typeface="Arial Black"/>
              </a:rPr>
              <a:t>CAT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4160520"/>
            <a:ext cx="27432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0" y="4315968"/>
            <a:ext cx="2743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9B95"/>
                </a:solidFill>
                <a:latin typeface="Arial Black"/>
              </a:rPr>
              <a:t>DOG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303520"/>
            <a:ext cx="11292840" cy="420624"/>
          </a:xfrm>
          <a:prstGeom prst="roundRect">
            <a:avLst/>
          </a:prstGeom>
          <a:solidFill>
            <a:srgbClr val="DD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358383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2A4A"/>
                </a:solidFill>
                <a:latin typeface="Calibri"/>
              </a:rPr>
              <a:t>Careful — the words are NOT under the right pictures!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56–63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Georgia"/>
              </a:rPr>
              <a:t>🖼️ Game: Match It!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676404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Bear's Big Reading Adventure  |  Grade 1  |  90 min  |  Reading Bridge  |  56–63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23 / 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B95"/>
                </a:solidFill>
                <a:latin typeface="Calibri"/>
              </a:rPr>
              <a:t>Four more. The last one has no picture — read it!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2651760" cy="2194560"/>
          </a:xfrm>
          <a:prstGeom prst="roundRect">
            <a:avLst/>
          </a:prstGeom>
          <a:solidFill>
            <a:srgbClr val="DD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1168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222A36"/>
                </a:solidFill>
                <a:latin typeface="Calibri"/>
              </a:rPr>
              <a:t>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246120"/>
            <a:ext cx="201168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346704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9B95"/>
                </a:solidFill>
                <a:latin typeface="Calibri"/>
              </a:rPr>
              <a:t>picture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19272" y="1783080"/>
            <a:ext cx="2651760" cy="2194560"/>
          </a:xfrm>
          <a:prstGeom prst="roundRect">
            <a:avLst/>
          </a:prstGeom>
          <a:solidFill>
            <a:srgbClr val="DD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9272" y="201168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222A36"/>
                </a:solidFill>
                <a:latin typeface="Calibri"/>
              </a:rPr>
              <a:t>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39312" y="3246120"/>
            <a:ext cx="201168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39312" y="3346704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9B95"/>
                </a:solidFill>
                <a:latin typeface="Calibri"/>
              </a:rPr>
              <a:t>picture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1344" y="1783080"/>
            <a:ext cx="2651760" cy="2194560"/>
          </a:xfrm>
          <a:prstGeom prst="roundRect">
            <a:avLst/>
          </a:prstGeom>
          <a:solidFill>
            <a:srgbClr val="DD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81344" y="201168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222A36"/>
                </a:solidFill>
                <a:latin typeface="Calibri"/>
              </a:rPr>
              <a:t>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01384" y="3246120"/>
            <a:ext cx="201168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01384" y="3346704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9B95"/>
                </a:solidFill>
                <a:latin typeface="Calibri"/>
              </a:rPr>
              <a:t>picture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43416" y="1783080"/>
            <a:ext cx="2651760" cy="2194560"/>
          </a:xfrm>
          <a:prstGeom prst="roundRect">
            <a:avLst/>
          </a:prstGeom>
          <a:solidFill>
            <a:srgbClr val="DD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43416" y="201168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222A36"/>
                </a:solidFill>
                <a:latin typeface="Calibri"/>
              </a:rPr>
              <a:t>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63456" y="3246120"/>
            <a:ext cx="201168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63456" y="3346704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04F5F"/>
                </a:solidFill>
                <a:latin typeface="Calibri"/>
              </a:rPr>
              <a:t>no picture!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206240"/>
            <a:ext cx="265176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370832"/>
            <a:ext cx="26517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B2A4A"/>
                </a:solidFill>
                <a:latin typeface="Arial Black"/>
              </a:rPr>
              <a:t>PIG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19272" y="4206240"/>
            <a:ext cx="265176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19272" y="4370832"/>
            <a:ext cx="26517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B2A4A"/>
                </a:solidFill>
                <a:latin typeface="Arial Black"/>
              </a:rPr>
              <a:t>BAT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81344" y="4206240"/>
            <a:ext cx="265176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81344" y="4370832"/>
            <a:ext cx="26517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B2A4A"/>
                </a:solidFill>
                <a:latin typeface="Arial Black"/>
              </a:rPr>
              <a:t>HEN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43416" y="4206240"/>
            <a:ext cx="265176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43416" y="4370832"/>
            <a:ext cx="26517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B2A4A"/>
                </a:solidFill>
                <a:latin typeface="Arial Black"/>
              </a:rPr>
              <a:t>BALL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349240"/>
            <a:ext cx="11292840" cy="420624"/>
          </a:xfrm>
          <a:prstGeom prst="roundRect">
            <a:avLst/>
          </a:prstGeom>
          <a:solidFill>
            <a:srgbClr val="DD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404103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2A4A"/>
                </a:solidFill>
                <a:latin typeface="Calibri"/>
              </a:rPr>
              <a:t>Now we take the picture away — this is reading the word by itself.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A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F2A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63–72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Georgia"/>
              </a:rPr>
              <a:t>📕 Sentences — How We Read Together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966682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Bear's Big Reading Adventure  |  Grade 1  |  90 min  |  Camp  |  63–72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24 / 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A31B"/>
                </a:solidFill>
                <a:latin typeface="Calibri"/>
              </a:rPr>
              <a:t>You never read a new sentence first. I 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3566160" cy="2606040"/>
          </a:xfrm>
          <a:prstGeom prst="roundRect">
            <a:avLst/>
          </a:prstGeom>
          <a:solidFill>
            <a:srgbClr val="FD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463040" y="2011680"/>
            <a:ext cx="1554480" cy="475488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2084831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STEP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651760"/>
            <a:ext cx="320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04F5F"/>
                </a:solidFill>
                <a:latin typeface="Arial Black"/>
              </a:rPr>
              <a:t>I read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310128"/>
            <a:ext cx="301752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474720"/>
            <a:ext cx="2743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B2A4A"/>
                </a:solidFill>
                <a:latin typeface="Calibri"/>
              </a:rPr>
              <a:t>Teacher reads it out loud.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1783080"/>
            <a:ext cx="3566160" cy="2606040"/>
          </a:xfrm>
          <a:prstGeom prst="roundRect">
            <a:avLst/>
          </a:prstGeom>
          <a:solidFill>
            <a:srgbClr val="FF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257800" y="2011680"/>
            <a:ext cx="1554480" cy="475488"/>
          </a:xfrm>
          <a:prstGeom prst="roundRect">
            <a:avLst/>
          </a:prstGeom>
          <a:solidFill>
            <a:srgbClr val="F2A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7800" y="2084831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STEP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2651760"/>
            <a:ext cx="320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2A31B"/>
                </a:solidFill>
                <a:latin typeface="Arial Black"/>
              </a:rPr>
              <a:t>We read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26280" y="3310128"/>
            <a:ext cx="301752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3474720"/>
            <a:ext cx="2743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B2A4A"/>
                </a:solidFill>
                <a:latin typeface="Calibri"/>
              </a:rPr>
              <a:t>Teacher and child read together.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1783080"/>
            <a:ext cx="3566160" cy="2606040"/>
          </a:xfrm>
          <a:prstGeom prst="roundRect">
            <a:avLst/>
          </a:prstGeom>
          <a:solidFill>
            <a:srgbClr val="E2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052560" y="2011680"/>
            <a:ext cx="1554480" cy="475488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2084831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STEP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651760"/>
            <a:ext cx="320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E8B57"/>
                </a:solidFill>
                <a:latin typeface="Arial Black"/>
              </a:rPr>
              <a:t>You read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3310128"/>
            <a:ext cx="301752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8200" y="3474720"/>
            <a:ext cx="2743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B2A4A"/>
                </a:solidFill>
                <a:latin typeface="Calibri"/>
              </a:rPr>
              <a:t>Child reads it alone — if ready.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617720"/>
            <a:ext cx="11292840" cy="1188720"/>
          </a:xfrm>
          <a:prstGeom prst="round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73659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2A4A"/>
                </a:solidFill>
                <a:latin typeface="Calibri"/>
              </a:rPr>
              <a:t>Hard word inside a sentence? We stop and break it, then go back: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175504"/>
            <a:ext cx="2011680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257800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2A31B"/>
                </a:solidFill>
                <a:latin typeface="Calibri"/>
              </a:rPr>
              <a:t>1. First sound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926080" y="5175504"/>
            <a:ext cx="2011680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80" y="5257800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2A31B"/>
                </a:solidFill>
                <a:latin typeface="Calibri"/>
              </a:rPr>
              <a:t>2. Next sound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20640" y="5175504"/>
            <a:ext cx="2011680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5257800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2A31B"/>
                </a:solidFill>
                <a:latin typeface="Calibri"/>
              </a:rPr>
              <a:t>3. Last sound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199" y="5175504"/>
            <a:ext cx="2011680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199" y="5257800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2A31B"/>
                </a:solidFill>
                <a:latin typeface="Calibri"/>
              </a:rPr>
              <a:t>4. Put together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09760" y="5175504"/>
            <a:ext cx="2011680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60" y="5257800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2A31B"/>
                </a:solidFill>
                <a:latin typeface="Calibri"/>
              </a:rPr>
              <a:t>5. Try again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63–72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Georgia"/>
              </a:rPr>
              <a:t>📕 Read With Me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256961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Bear's Big Reading Adventure  |  Grade 1  |  90 min  |  Camp  |  63–72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25 / 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04F5F"/>
                </a:solidFill>
                <a:latin typeface="Calibri"/>
              </a:rPr>
              <a:t>Point to each word while I read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920240"/>
            <a:ext cx="11292840" cy="1737360"/>
          </a:xfrm>
          <a:prstGeom prst="roundRect">
            <a:avLst/>
          </a:prstGeom>
          <a:solidFill>
            <a:srgbClr val="FD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377439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22A36"/>
                </a:solidFill>
                <a:latin typeface="Calibri"/>
              </a:rPr>
              <a:t>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404872"/>
            <a:ext cx="6949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2B2A4A"/>
                </a:solidFill>
                <a:latin typeface="Calibri"/>
              </a:rPr>
              <a:t>I am Sam.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2532887"/>
            <a:ext cx="2011680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2606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04F5F"/>
                </a:solidFill>
                <a:latin typeface="Calibri"/>
              </a:rPr>
              <a:t>I · WE · YOU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886200"/>
            <a:ext cx="11292840" cy="1737360"/>
          </a:xfrm>
          <a:prstGeom prst="roundRect">
            <a:avLst/>
          </a:prstGeom>
          <a:solidFill>
            <a:srgbClr val="E3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343399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22A36"/>
                </a:solidFill>
                <a:latin typeface="Calibri"/>
              </a:rPr>
              <a:t>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4370832"/>
            <a:ext cx="6949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2B2A4A"/>
                </a:solidFill>
                <a:latin typeface="Calibri"/>
              </a:rPr>
              <a:t>I see a cat.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4498847"/>
            <a:ext cx="2011680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4572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7FD9"/>
                </a:solidFill>
                <a:latin typeface="Calibri"/>
              </a:rPr>
              <a:t>I · WE · YOU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 DO  ·  Teacher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F2A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WE DO  ·  Together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YOU DO  ·  You!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A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F2A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63–72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Georgia"/>
              </a:rPr>
              <a:t>📗 Read With Me — More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547239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Bear's Big Reading Adventure  |  Grade 1  |  90 min  |  Camp  |  63–72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26 / 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A31B"/>
                </a:solidFill>
                <a:latin typeface="Calibri"/>
              </a:rPr>
              <a:t>Look at the picture first. It gives you a clue.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920240"/>
            <a:ext cx="11292840" cy="1737360"/>
          </a:xfrm>
          <a:prstGeom prst="roundRect">
            <a:avLst/>
          </a:prstGeom>
          <a:solidFill>
            <a:srgbClr val="FF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377439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22A36"/>
                </a:solidFill>
                <a:latin typeface="Calibri"/>
              </a:rPr>
              <a:t>☀️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404872"/>
            <a:ext cx="6949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2B2A4A"/>
                </a:solidFill>
                <a:latin typeface="Calibri"/>
              </a:rPr>
              <a:t>I see the sun.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2532887"/>
            <a:ext cx="2011680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2606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2A31B"/>
                </a:solidFill>
                <a:latin typeface="Calibri"/>
              </a:rPr>
              <a:t>I · WE · YOU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886200"/>
            <a:ext cx="11292840" cy="1737360"/>
          </a:xfrm>
          <a:prstGeom prst="roundRect">
            <a:avLst/>
          </a:prstGeom>
          <a:solidFill>
            <a:srgbClr val="E2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343399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22A36"/>
                </a:solidFill>
                <a:latin typeface="Calibri"/>
              </a:rPr>
              <a:t>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4370832"/>
            <a:ext cx="6949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2B2A4A"/>
                </a:solidFill>
                <a:latin typeface="Calibri"/>
              </a:rPr>
              <a:t>The dog is big.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4498847"/>
            <a:ext cx="2011680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4572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8B57"/>
                </a:solidFill>
                <a:latin typeface="Calibri"/>
              </a:rPr>
              <a:t>I · WE · YOU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 DO  ·  Teacher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F2A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WE DO  ·  Together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YOU DO  ·  You!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63–72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Georgia"/>
              </a:rPr>
              <a:t>📘 Read With Me — Your Turn Grows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837518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Bear's Big Reading Adventure  |  Grade 1  |  90 min  |  Camp  |  63–72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27 / 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B57"/>
                </a:solidFill>
                <a:latin typeface="Calibri"/>
              </a:rPr>
              <a:t>Pick the one YOU want to read by yourself.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188720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196596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22A36"/>
                </a:solidFill>
                <a:latin typeface="Calibri"/>
              </a:rPr>
              <a:t>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1993392"/>
            <a:ext cx="6949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B2A4A"/>
                </a:solidFill>
                <a:latin typeface="Calibri"/>
              </a:rPr>
              <a:t>I can run.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2121408"/>
            <a:ext cx="2011680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2194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7B5CD6"/>
                </a:solidFill>
                <a:latin typeface="Calibri"/>
              </a:rPr>
              <a:t>I · WE · YOU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154680"/>
            <a:ext cx="11292840" cy="1188720"/>
          </a:xfrm>
          <a:prstGeom prst="roundRect">
            <a:avLst/>
          </a:prstGeom>
          <a:solidFill>
            <a:srgbClr val="FD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33756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22A36"/>
                </a:solidFill>
                <a:latin typeface="Calibri"/>
              </a:rPr>
              <a:t>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3364992"/>
            <a:ext cx="6949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B2A4A"/>
                </a:solidFill>
                <a:latin typeface="Calibri"/>
              </a:rPr>
              <a:t>My cat is big.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3493008"/>
            <a:ext cx="2011680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3566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04F5F"/>
                </a:solidFill>
                <a:latin typeface="Calibri"/>
              </a:rPr>
              <a:t>I · WE · YOU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526280"/>
            <a:ext cx="11292840" cy="1188720"/>
          </a:xfrm>
          <a:prstGeom prst="roundRect">
            <a:avLst/>
          </a:prstGeom>
          <a:solidFill>
            <a:srgbClr val="FF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70916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22A36"/>
                </a:solidFill>
                <a:latin typeface="Calibri"/>
              </a:rPr>
              <a:t>☀️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4736592"/>
            <a:ext cx="6949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B2A4A"/>
                </a:solidFill>
                <a:latin typeface="Calibri"/>
              </a:rPr>
              <a:t>The sun is hot.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09760" y="4864608"/>
            <a:ext cx="2011680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0" y="4937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2A31B"/>
                </a:solidFill>
                <a:latin typeface="Calibri"/>
              </a:rPr>
              <a:t>I · WE · YOU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 DO  ·  Teacher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F2A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WE DO  ·  Together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YOU DO  ·  You!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A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F2A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72–78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Georgia"/>
              </a:rPr>
              <a:t>🧩 Game: Build Bear's Sentence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127796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Bear's Big Reading Adventure  |  Grade 1  |  90 min  |  Camp  |  72–78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28 / 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A31B"/>
                </a:solidFill>
                <a:latin typeface="Calibri"/>
              </a:rPr>
              <a:t>The words fell over. Put them back in order!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368" y="2148840"/>
            <a:ext cx="457200" cy="457200"/>
          </a:xfrm>
          <a:prstGeom prst="ellipse">
            <a:avLst/>
          </a:prstGeom>
          <a:solidFill>
            <a:srgbClr val="2E7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2037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093976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22A36"/>
                </a:solidFill>
                <a:latin typeface="Calibri"/>
              </a:rPr>
              <a:t>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40280" y="2057400"/>
            <a:ext cx="1554480" cy="640080"/>
          </a:xfrm>
          <a:prstGeom prst="roundRect">
            <a:avLst/>
          </a:prstGeom>
          <a:solidFill>
            <a:srgbClr val="E3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40280" y="2139696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7FD9"/>
                </a:solidFill>
                <a:latin typeface="Calibri"/>
              </a:rPr>
              <a:t>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31920" y="2057400"/>
            <a:ext cx="1554480" cy="640080"/>
          </a:xfrm>
          <a:prstGeom prst="roundRect">
            <a:avLst/>
          </a:prstGeom>
          <a:solidFill>
            <a:srgbClr val="E3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0" y="2139696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7FD9"/>
                </a:solidFill>
                <a:latin typeface="Calibri"/>
              </a:rPr>
              <a:t>see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23560" y="2057400"/>
            <a:ext cx="1554480" cy="640080"/>
          </a:xfrm>
          <a:prstGeom prst="roundRect">
            <a:avLst/>
          </a:prstGeom>
          <a:solidFill>
            <a:srgbClr val="E3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139696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7FD9"/>
                </a:solidFill>
                <a:latin typeface="Calibri"/>
              </a:rPr>
              <a:t>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2057400"/>
            <a:ext cx="1554480" cy="640080"/>
          </a:xfrm>
          <a:prstGeom prst="roundRect">
            <a:avLst/>
          </a:prstGeom>
          <a:solidFill>
            <a:srgbClr val="E3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0" y="2139696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7FD9"/>
                </a:solidFill>
                <a:latin typeface="Calibri"/>
              </a:rPr>
              <a:t>cat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2715768"/>
            <a:ext cx="8778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788"/>
                </a:solidFill>
                <a:latin typeface="Calibri"/>
              </a:rPr>
              <a:t>Put them in order, then read it out loud.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154680"/>
            <a:ext cx="1129284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58368" y="3520440"/>
            <a:ext cx="457200" cy="4572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5753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3465576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22A36"/>
                </a:solidFill>
                <a:latin typeface="Calibri"/>
              </a:rPr>
              <a:t>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40280" y="3429000"/>
            <a:ext cx="1554480" cy="640080"/>
          </a:xfrm>
          <a:prstGeom prst="roundRect">
            <a:avLst/>
          </a:prstGeom>
          <a:solidFill>
            <a:srgbClr val="E2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40280" y="3511296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8B57"/>
                </a:solidFill>
                <a:latin typeface="Calibri"/>
              </a:rPr>
              <a:t>The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931920" y="3429000"/>
            <a:ext cx="1554480" cy="640080"/>
          </a:xfrm>
          <a:prstGeom prst="roundRect">
            <a:avLst/>
          </a:prstGeom>
          <a:solidFill>
            <a:srgbClr val="E2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31920" y="3511296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8B57"/>
                </a:solidFill>
                <a:latin typeface="Calibri"/>
              </a:rPr>
              <a:t>dog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23560" y="3429000"/>
            <a:ext cx="1554480" cy="640080"/>
          </a:xfrm>
          <a:prstGeom prst="roundRect">
            <a:avLst/>
          </a:prstGeom>
          <a:solidFill>
            <a:srgbClr val="E2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23560" y="3511296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8B57"/>
                </a:solidFill>
                <a:latin typeface="Calibri"/>
              </a:rPr>
              <a:t>is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0" y="3429000"/>
            <a:ext cx="1554480" cy="640080"/>
          </a:xfrm>
          <a:prstGeom prst="roundRect">
            <a:avLst/>
          </a:prstGeom>
          <a:solidFill>
            <a:srgbClr val="E2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0" y="3511296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8B57"/>
                </a:solidFill>
                <a:latin typeface="Calibri"/>
              </a:rPr>
              <a:t>big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86000" y="4087368"/>
            <a:ext cx="8778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788"/>
                </a:solidFill>
                <a:latin typeface="Calibri"/>
              </a:rPr>
              <a:t>Put them in order, then read it out loud.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526280"/>
            <a:ext cx="1129284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58368" y="4892040"/>
            <a:ext cx="457200" cy="457200"/>
          </a:xfrm>
          <a:prstGeom prst="ellipse">
            <a:avLst/>
          </a:prstGeom>
          <a:solidFill>
            <a:srgbClr val="7B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49469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34440" y="4837176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22A36"/>
                </a:solidFill>
                <a:latin typeface="Calibri"/>
              </a:rPr>
              <a:t>🏃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240280" y="4800600"/>
            <a:ext cx="1554480" cy="640080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240280" y="4882896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7B5CD6"/>
                </a:solidFill>
                <a:latin typeface="Calibri"/>
              </a:rPr>
              <a:t>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931920" y="4800600"/>
            <a:ext cx="1554480" cy="640080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931920" y="4882896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7B5CD6"/>
                </a:solidFill>
                <a:latin typeface="Calibri"/>
              </a:rPr>
              <a:t>can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623560" y="4800600"/>
            <a:ext cx="1554480" cy="640080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23560" y="4882896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7B5CD6"/>
                </a:solidFill>
                <a:latin typeface="Calibri"/>
              </a:rPr>
              <a:t>run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86000" y="5458968"/>
            <a:ext cx="8778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788"/>
                </a:solidFill>
                <a:latin typeface="Calibri"/>
              </a:rPr>
              <a:t>Put them in order, then read it out loud.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5943600"/>
            <a:ext cx="11292840" cy="420624"/>
          </a:xfrm>
          <a:prstGeom prst="roundRect">
            <a:avLst/>
          </a:prstGeom>
          <a:solidFill>
            <a:srgbClr val="FF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5998464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2A4A"/>
                </a:solidFill>
                <a:latin typeface="Calibri"/>
              </a:rPr>
              <a:t>Hint: the first word always wears a CAPITAL letter.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A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F2A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72–78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Georgia"/>
              </a:rPr>
              <a:t>🧩 Sentence Challenge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418075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Bear's Big Reading Adventure  |  Grade 1  |  90 min  |  Camp  |  72–78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29 / 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A31B"/>
                </a:solidFill>
                <a:latin typeface="Calibri"/>
              </a:rPr>
              <a:t>Two more — then you make one of your own.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368" y="2148840"/>
            <a:ext cx="457200" cy="457200"/>
          </a:xfrm>
          <a:prstGeom prst="ellipse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2037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093976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22A36"/>
                </a:solidFill>
                <a:latin typeface="Calibri"/>
              </a:rPr>
              <a:t>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40280" y="2057400"/>
            <a:ext cx="1554480" cy="640080"/>
          </a:xfrm>
          <a:prstGeom prst="roundRect">
            <a:avLst/>
          </a:prstGeom>
          <a:solidFill>
            <a:srgbClr val="FD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40280" y="2139696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04F5F"/>
                </a:solidFill>
                <a:latin typeface="Calibri"/>
              </a:rPr>
              <a:t>My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31920" y="2057400"/>
            <a:ext cx="1554480" cy="640080"/>
          </a:xfrm>
          <a:prstGeom prst="roundRect">
            <a:avLst/>
          </a:prstGeom>
          <a:solidFill>
            <a:srgbClr val="FD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0" y="2139696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04F5F"/>
                </a:solidFill>
                <a:latin typeface="Calibri"/>
              </a:rPr>
              <a:t>cat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23560" y="2057400"/>
            <a:ext cx="1554480" cy="640080"/>
          </a:xfrm>
          <a:prstGeom prst="roundRect">
            <a:avLst/>
          </a:prstGeom>
          <a:solidFill>
            <a:srgbClr val="FD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139696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04F5F"/>
                </a:solidFill>
                <a:latin typeface="Calibri"/>
              </a:rPr>
              <a:t>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2057400"/>
            <a:ext cx="1554480" cy="640080"/>
          </a:xfrm>
          <a:prstGeom prst="roundRect">
            <a:avLst/>
          </a:prstGeom>
          <a:solidFill>
            <a:srgbClr val="FD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0" y="2139696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04F5F"/>
                </a:solidFill>
                <a:latin typeface="Calibri"/>
              </a:rPr>
              <a:t>big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2715768"/>
            <a:ext cx="8778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788"/>
                </a:solidFill>
                <a:latin typeface="Calibri"/>
              </a:rPr>
              <a:t>Put them in order, then read it out loud.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154680"/>
            <a:ext cx="1129284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58368" y="3520440"/>
            <a:ext cx="457200" cy="457200"/>
          </a:xfrm>
          <a:prstGeom prst="ellipse">
            <a:avLst/>
          </a:prstGeom>
          <a:solidFill>
            <a:srgbClr val="F2A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5753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3465576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22A36"/>
                </a:solidFill>
                <a:latin typeface="Calibri"/>
              </a:rPr>
              <a:t>☀️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40280" y="3429000"/>
            <a:ext cx="1554480" cy="640080"/>
          </a:xfrm>
          <a:prstGeom prst="roundRect">
            <a:avLst/>
          </a:prstGeom>
          <a:solidFill>
            <a:srgbClr val="FF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40280" y="3511296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2A31B"/>
                </a:solidFill>
                <a:latin typeface="Calibri"/>
              </a:rPr>
              <a:t>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931920" y="3429000"/>
            <a:ext cx="1554480" cy="640080"/>
          </a:xfrm>
          <a:prstGeom prst="roundRect">
            <a:avLst/>
          </a:prstGeom>
          <a:solidFill>
            <a:srgbClr val="FF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31920" y="3511296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2A31B"/>
                </a:solidFill>
                <a:latin typeface="Calibri"/>
              </a:rPr>
              <a:t>see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23560" y="3429000"/>
            <a:ext cx="1554480" cy="640080"/>
          </a:xfrm>
          <a:prstGeom prst="roundRect">
            <a:avLst/>
          </a:prstGeom>
          <a:solidFill>
            <a:srgbClr val="FF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23560" y="3511296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2A31B"/>
                </a:solidFill>
                <a:latin typeface="Calibri"/>
              </a:rPr>
              <a:t>the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0" y="3429000"/>
            <a:ext cx="1554480" cy="640080"/>
          </a:xfrm>
          <a:prstGeom prst="roundRect">
            <a:avLst/>
          </a:prstGeom>
          <a:solidFill>
            <a:srgbClr val="FF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0" y="3511296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2A31B"/>
                </a:solidFill>
                <a:latin typeface="Calibri"/>
              </a:rPr>
              <a:t>sun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86000" y="4087368"/>
            <a:ext cx="8778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788"/>
                </a:solidFill>
                <a:latin typeface="Calibri"/>
              </a:rPr>
              <a:t>Put them in order, then read it out loud.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663440"/>
            <a:ext cx="11292840" cy="1417320"/>
          </a:xfrm>
          <a:prstGeom prst="roundRect">
            <a:avLst/>
          </a:prstGeom>
          <a:solidFill>
            <a:srgbClr val="E2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48006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8B57"/>
                </a:solidFill>
                <a:latin typeface="Calibri"/>
              </a:rPr>
              <a:t>⭐ YOUR OWN SENTENCE — use any word you like: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5303520"/>
            <a:ext cx="1074420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840" y="5413248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B2A4A"/>
                </a:solidFill>
                <a:latin typeface="Calibri"/>
              </a:rPr>
              <a:t>I  see  ______________ 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B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7B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78–85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Georgia"/>
              </a:rPr>
              <a:t>📖 Story Time: Bear's Sunny 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708353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Bear's Big Reading Adventure  |  Grade 1  |  90 min  |  Star Mountain  |  78–85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30 / 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B5CD6"/>
                </a:solidFill>
                <a:latin typeface="Calibri"/>
              </a:rPr>
              <a:t>Four short pages. We read each one four times.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5120640" cy="4023360"/>
          </a:xfrm>
          <a:prstGeom prst="roundRect">
            <a:avLst/>
          </a:prstGeom>
          <a:solidFill>
            <a:srgbClr val="F6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28600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600" b="0">
                <a:solidFill>
                  <a:srgbClr val="222A36"/>
                </a:solidFill>
                <a:latin typeface="Calibri"/>
              </a:rPr>
              <a:t>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9B623B"/>
                </a:solidFill>
                <a:latin typeface="Arial Black"/>
              </a:rPr>
              <a:t>BEAR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B7788"/>
                </a:solidFill>
                <a:latin typeface="Calibri"/>
              </a:rPr>
              <a:t>Every word in this story is one you already know.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1737360"/>
            <a:ext cx="5852160" cy="877824"/>
          </a:xfrm>
          <a:prstGeom prst="round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26480" y="1956816"/>
            <a:ext cx="1280160" cy="438912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2020824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PASS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1865376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04F5F"/>
                </a:solidFill>
                <a:latin typeface="Calibri"/>
              </a:rPr>
              <a:t>I read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2240280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788"/>
                </a:solidFill>
                <a:latin typeface="Calibri"/>
              </a:rPr>
              <a:t>Teacher reads. Child points along.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97880" y="2761488"/>
            <a:ext cx="5852160" cy="877824"/>
          </a:xfrm>
          <a:prstGeom prst="round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26480" y="2980944"/>
            <a:ext cx="1280160" cy="438912"/>
          </a:xfrm>
          <a:prstGeom prst="roundRect">
            <a:avLst/>
          </a:prstGeom>
          <a:solidFill>
            <a:srgbClr val="F2A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304495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PASS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889504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2A31B"/>
                </a:solidFill>
                <a:latin typeface="Calibri"/>
              </a:rPr>
              <a:t>Echo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3264408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788"/>
                </a:solidFill>
                <a:latin typeface="Calibri"/>
              </a:rPr>
              <a:t>Teacher reads a line, child repeats it.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97880" y="3785616"/>
            <a:ext cx="5852160" cy="877824"/>
          </a:xfrm>
          <a:prstGeom prst="round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26480" y="4005072"/>
            <a:ext cx="1280160" cy="438912"/>
          </a:xfrm>
          <a:prstGeom prst="roundRect">
            <a:avLst/>
          </a:prstGeom>
          <a:solidFill>
            <a:srgbClr val="2E7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406908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PASS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3913632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7FD9"/>
                </a:solidFill>
                <a:latin typeface="Calibri"/>
              </a:rPr>
              <a:t>We read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4288536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788"/>
                </a:solidFill>
                <a:latin typeface="Calibri"/>
              </a:rPr>
              <a:t>Both read the page together.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97880" y="4809744"/>
            <a:ext cx="5852160" cy="877824"/>
          </a:xfrm>
          <a:prstGeom prst="round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26480" y="5029200"/>
            <a:ext cx="1280160" cy="438912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0" y="509320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PASS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493776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8B57"/>
                </a:solidFill>
                <a:latin typeface="Calibri"/>
              </a:rPr>
              <a:t>You read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5312664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788"/>
                </a:solidFill>
                <a:latin typeface="Calibri"/>
              </a:rPr>
              <a:t>Child reads 2 easy lines alone.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A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F2A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78–85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Georgia"/>
              </a:rPr>
              <a:t>📖 Bear's Sunny Day — Part 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998632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Bear's Big Reading Adventure  |  Grade 1  |  90 min  |  Star Mountain  |  78–85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31 / 42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4114800" cy="4297680"/>
          </a:xfrm>
          <a:prstGeom prst="roundRect">
            <a:avLst/>
          </a:prstGeom>
          <a:solidFill>
            <a:srgbClr val="FF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74320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200" b="0">
                <a:solidFill>
                  <a:srgbClr val="222A36"/>
                </a:solidFill>
                <a:latin typeface="Calibri"/>
              </a:rPr>
              <a:t>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1371600"/>
            <a:ext cx="6949440" cy="4297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17830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B2A4A"/>
                </a:solidFill>
                <a:latin typeface="Calibri"/>
              </a:rPr>
              <a:t>Bear wakes up.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7432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B2A4A"/>
                </a:solidFill>
                <a:latin typeface="Calibri"/>
              </a:rPr>
              <a:t>Bear sees the sun.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7033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B2A4A"/>
                </a:solidFill>
                <a:latin typeface="Calibri"/>
              </a:rPr>
              <a:t>The sun is big and hot.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466344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B2A4A"/>
                </a:solidFill>
                <a:latin typeface="Calibri"/>
              </a:rPr>
              <a:t>Bear puts on his hat.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 DO  ·  Teacher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F2A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WE DO  ·  Together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YOU DO  ·  You!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78–85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Georgia"/>
              </a:rPr>
              <a:t>📖 Bear's Sunny Day — Part 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288910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Bear's Big Reading Adventure  |  Grade 1  |  90 min  |  Star Mountain  |  78–85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32 / 42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4114800" cy="4297680"/>
          </a:xfrm>
          <a:prstGeom prst="roundRect">
            <a:avLst/>
          </a:prstGeom>
          <a:solidFill>
            <a:srgbClr val="E2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74320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200" b="0">
                <a:solidFill>
                  <a:srgbClr val="222A36"/>
                </a:solidFill>
                <a:latin typeface="Calibri"/>
              </a:rPr>
              <a:t>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1371600"/>
            <a:ext cx="6949440" cy="4297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17830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B2A4A"/>
                </a:solidFill>
                <a:latin typeface="Calibri"/>
              </a:rPr>
              <a:t>Bear goes to the park.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7432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B2A4A"/>
                </a:solidFill>
                <a:latin typeface="Calibri"/>
              </a:rPr>
              <a:t>Bear sees a dog.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7033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B2A4A"/>
                </a:solidFill>
                <a:latin typeface="Calibri"/>
              </a:rPr>
              <a:t>The dog is big.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466344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B2A4A"/>
                </a:solidFill>
                <a:latin typeface="Calibri"/>
              </a:rPr>
              <a:t>The dog can run.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 DO  ·  Teacher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F2A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WE DO  ·  Together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YOU DO  ·  You!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7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2E7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78–85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Georgia"/>
              </a:rPr>
              <a:t>📖 Bear's Sunny Day — Part 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579188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Bear's Big Reading Adventure  |  Grade 1  |  90 min  |  Star Mountain  |  78–85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33 / 42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4114800" cy="4297680"/>
          </a:xfrm>
          <a:prstGeom prst="roundRect">
            <a:avLst/>
          </a:prstGeom>
          <a:solidFill>
            <a:srgbClr val="E3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74320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200" b="0">
                <a:solidFill>
                  <a:srgbClr val="222A36"/>
                </a:solidFill>
                <a:latin typeface="Calibri"/>
              </a:rPr>
              <a:t>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1371600"/>
            <a:ext cx="6949440" cy="4297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17830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B2A4A"/>
                </a:solidFill>
                <a:latin typeface="Calibri"/>
              </a:rPr>
              <a:t>The dog has a ball.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7432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B2A4A"/>
                </a:solidFill>
                <a:latin typeface="Calibri"/>
              </a:rPr>
              <a:t>Bear and the dog play.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7033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B2A4A"/>
                </a:solidFill>
                <a:latin typeface="Calibri"/>
              </a:rPr>
              <a:t>They run and run.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466344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B2A4A"/>
                </a:solidFill>
                <a:latin typeface="Calibri"/>
              </a:rPr>
              <a:t>It is fun.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 DO  ·  Teacher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F2A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WE DO  ·  Together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YOU DO  ·  You!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78–85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Georgia"/>
              </a:rPr>
              <a:t>📖 Bear's Sunny Day — Part 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869467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Bear's Big Reading Adventure  |  Grade 1  |  90 min  |  Star Mountain  |  78–85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34 / 42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4114800" cy="4297680"/>
          </a:xfrm>
          <a:prstGeom prst="roundRect">
            <a:avLst/>
          </a:prstGeom>
          <a:solidFill>
            <a:srgbClr val="FD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74320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200" b="0">
                <a:solidFill>
                  <a:srgbClr val="222A36"/>
                </a:solidFill>
                <a:latin typeface="Calibri"/>
              </a:rPr>
              <a:t>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1371600"/>
            <a:ext cx="6949440" cy="4297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17830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B2A4A"/>
                </a:solidFill>
                <a:latin typeface="Calibri"/>
              </a:rPr>
              <a:t>Bear is happy.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7432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B2A4A"/>
                </a:solidFill>
                <a:latin typeface="Calibri"/>
              </a:rPr>
              <a:t>Bear goes home.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7033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B2A4A"/>
                </a:solidFill>
                <a:latin typeface="Calibri"/>
              </a:rPr>
              <a:t>Bear sees a cat at home.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466344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B2A4A"/>
                </a:solidFill>
                <a:latin typeface="Calibri"/>
              </a:rPr>
              <a:t>Bear had a fun day.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 DO  ·  Teacher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F2A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WE DO  ·  Together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YOU DO  ·  You!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78–85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Georgia"/>
              </a:rPr>
              <a:t>⭐ Story Reading Challenge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159745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Bear's Big Reading Adventure  |  Grade 1  |  90 min  |  Star Mountain  |  78–85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35 / 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B57"/>
                </a:solidFill>
                <a:latin typeface="Calibri"/>
              </a:rPr>
              <a:t>Pick TWO lines you want to read all by yourself.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5440680" cy="1115568"/>
          </a:xfrm>
          <a:prstGeom prst="roundRect">
            <a:avLst/>
          </a:prstGeom>
          <a:solidFill>
            <a:srgbClr val="E2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2093976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16712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A36"/>
                </a:solidFill>
                <a:latin typeface="Calibri"/>
              </a:rPr>
              <a:t>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075688"/>
            <a:ext cx="4206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B2A4A"/>
                </a:solidFill>
                <a:latin typeface="Calibri"/>
              </a:rPr>
              <a:t>Bear wakes up.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783080"/>
            <a:ext cx="5440680" cy="1115568"/>
          </a:xfrm>
          <a:prstGeom prst="roundRect">
            <a:avLst/>
          </a:prstGeom>
          <a:solidFill>
            <a:srgbClr val="E2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093976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16712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A36"/>
                </a:solidFill>
                <a:latin typeface="Calibri"/>
              </a:rPr>
              <a:t>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2075688"/>
            <a:ext cx="4206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B2A4A"/>
                </a:solidFill>
                <a:latin typeface="Calibri"/>
              </a:rPr>
              <a:t>The dog is big.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081528"/>
            <a:ext cx="5440680" cy="1115568"/>
          </a:xfrm>
          <a:prstGeom prst="roundRect">
            <a:avLst/>
          </a:prstGeom>
          <a:solidFill>
            <a:srgbClr val="E2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392424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46557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A36"/>
                </a:solidFill>
                <a:latin typeface="Calibri"/>
              </a:rPr>
              <a:t>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3374136"/>
            <a:ext cx="4206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B2A4A"/>
                </a:solidFill>
                <a:latin typeface="Calibri"/>
              </a:rPr>
              <a:t>It is fun.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081528"/>
            <a:ext cx="5440680" cy="1115568"/>
          </a:xfrm>
          <a:prstGeom prst="roundRect">
            <a:avLst/>
          </a:prstGeom>
          <a:solidFill>
            <a:srgbClr val="E2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46520" y="3392424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46557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A36"/>
                </a:solidFill>
                <a:latin typeface="Calibri"/>
              </a:rPr>
              <a:t>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374136"/>
            <a:ext cx="4206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B2A4A"/>
                </a:solidFill>
                <a:latin typeface="Calibri"/>
              </a:rPr>
              <a:t>Bear is happy.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379976"/>
            <a:ext cx="5440680" cy="1115568"/>
          </a:xfrm>
          <a:prstGeom prst="roundRect">
            <a:avLst/>
          </a:prstGeom>
          <a:solidFill>
            <a:srgbClr val="E2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1520" y="4690872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764024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A36"/>
                </a:solidFill>
                <a:latin typeface="Calibri"/>
              </a:rPr>
              <a:t>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4672584"/>
            <a:ext cx="4206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B2A4A"/>
                </a:solidFill>
                <a:latin typeface="Calibri"/>
              </a:rPr>
              <a:t>Bear goes home.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4379976"/>
            <a:ext cx="5440680" cy="1115568"/>
          </a:xfrm>
          <a:prstGeom prst="roundRect">
            <a:avLst/>
          </a:prstGeom>
          <a:solidFill>
            <a:srgbClr val="E2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46520" y="4690872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764024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A36"/>
                </a:solidFill>
                <a:latin typeface="Calibri"/>
              </a:rPr>
              <a:t>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4672584"/>
            <a:ext cx="4206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B2A4A"/>
                </a:solidFill>
                <a:latin typeface="Calibri"/>
              </a:rPr>
              <a:t>The dog can run.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06440"/>
            <a:ext cx="11292840" cy="420624"/>
          </a:xfrm>
          <a:prstGeom prst="roundRect">
            <a:avLst/>
          </a:prstGeom>
          <a:solidFill>
            <a:srgbClr val="E2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861303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2A4A"/>
                </a:solidFill>
                <a:latin typeface="Calibri"/>
              </a:rPr>
              <a:t>He chooses. If he freezes, read the first word for him and then wait.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B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7B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85–88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Georgia"/>
              </a:rPr>
              <a:t>🕵️ Game: Bear's Story Detective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450024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Bear's Big Reading Adventure  |  Grade 1  |  90 min  |  Star Mountain  |  85–88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36 / 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B5CD6"/>
                </a:solidFill>
                <a:latin typeface="Calibri"/>
              </a:rPr>
              <a:t>Think about Bear's day. Which answer is right?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755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423160"/>
            <a:ext cx="475488" cy="475488"/>
          </a:xfrm>
          <a:prstGeom prst="ellipse">
            <a:avLst/>
          </a:prstGeom>
          <a:solidFill>
            <a:srgbClr val="7B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478024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331720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222A36"/>
                </a:solidFill>
                <a:latin typeface="Calibri"/>
              </a:rPr>
              <a:t>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2368296"/>
            <a:ext cx="3108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B2A4A"/>
                </a:solidFill>
                <a:latin typeface="Calibri"/>
              </a:rPr>
              <a:t>Where does Bear go?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0" y="2240280"/>
            <a:ext cx="1828800" cy="841248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0" y="240487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B2A4A"/>
                </a:solidFill>
                <a:latin typeface="Calibri"/>
              </a:rPr>
              <a:t>A. Park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2240280"/>
            <a:ext cx="1828800" cy="841248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240487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B2A4A"/>
                </a:solidFill>
                <a:latin typeface="Calibri"/>
              </a:rPr>
              <a:t>B. School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84080" y="2240280"/>
            <a:ext cx="1828800" cy="841248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0" y="240487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B2A4A"/>
                </a:solidFill>
                <a:latin typeface="Calibri"/>
              </a:rPr>
              <a:t>C. Store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758184"/>
            <a:ext cx="11292840" cy="1755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5800" y="4398264"/>
            <a:ext cx="475488" cy="475488"/>
          </a:xfrm>
          <a:prstGeom prst="ellipse">
            <a:avLst/>
          </a:prstGeom>
          <a:solidFill>
            <a:srgbClr val="7B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453128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306824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222A36"/>
                </a:solidFill>
                <a:latin typeface="Calibri"/>
              </a:rPr>
              <a:t>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4343400"/>
            <a:ext cx="3108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B2A4A"/>
                </a:solidFill>
                <a:latin typeface="Calibri"/>
              </a:rPr>
              <a:t>What does Bear see?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0720" y="4215384"/>
            <a:ext cx="1828800" cy="841248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0" y="4379976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B2A4A"/>
                </a:solidFill>
                <a:latin typeface="Calibri"/>
              </a:rPr>
              <a:t>A. Dog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0" y="4215384"/>
            <a:ext cx="1828800" cy="841248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0" y="4379976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B2A4A"/>
                </a:solidFill>
                <a:latin typeface="Calibri"/>
              </a:rPr>
              <a:t>B. Cat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84080" y="4215384"/>
            <a:ext cx="1828800" cy="841248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0" y="4379976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B2A4A"/>
                </a:solidFill>
                <a:latin typeface="Calibri"/>
              </a:rPr>
              <a:t>C. Bird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806440"/>
            <a:ext cx="11292840" cy="420624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861303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2A4A"/>
                </a:solidFill>
                <a:latin typeface="Calibri"/>
              </a:rPr>
              <a:t>Cannot remember? Flip back a page and read it together.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B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7B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85–88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Georgia"/>
              </a:rPr>
              <a:t>🕵️ Comprehension Challenge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740302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Bear's Big Reading Adventure  |  Grade 1  |  90 min  |  Star Mountain  |  85–88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37 / 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B5CD6"/>
                </a:solidFill>
                <a:latin typeface="Calibri"/>
              </a:rPr>
              <a:t>Two more questions, detective.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755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423160"/>
            <a:ext cx="475488" cy="475488"/>
          </a:xfrm>
          <a:prstGeom prst="ellipse">
            <a:avLst/>
          </a:prstGeom>
          <a:solidFill>
            <a:srgbClr val="7B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478024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331720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222A36"/>
                </a:solidFill>
                <a:latin typeface="Calibri"/>
              </a:rPr>
              <a:t>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2368296"/>
            <a:ext cx="3108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B2A4A"/>
                </a:solidFill>
                <a:latin typeface="Calibri"/>
              </a:rPr>
              <a:t>What does the dog have?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0" y="2240280"/>
            <a:ext cx="1828800" cy="841248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0" y="240487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B2A4A"/>
                </a:solidFill>
                <a:latin typeface="Calibri"/>
              </a:rPr>
              <a:t>A. Ball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2240280"/>
            <a:ext cx="1828800" cy="841248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240487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B2A4A"/>
                </a:solidFill>
                <a:latin typeface="Calibri"/>
              </a:rPr>
              <a:t>B. Book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84080" y="2240280"/>
            <a:ext cx="1828800" cy="841248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0" y="240487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B2A4A"/>
                </a:solidFill>
                <a:latin typeface="Calibri"/>
              </a:rPr>
              <a:t>C. Hat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758184"/>
            <a:ext cx="11292840" cy="1755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5800" y="4398264"/>
            <a:ext cx="475488" cy="475488"/>
          </a:xfrm>
          <a:prstGeom prst="ellipse">
            <a:avLst/>
          </a:prstGeom>
          <a:solidFill>
            <a:srgbClr val="7B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453128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306824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222A36"/>
                </a:solidFill>
                <a:latin typeface="Calibri"/>
              </a:rPr>
              <a:t>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4343400"/>
            <a:ext cx="3108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B2A4A"/>
                </a:solidFill>
                <a:latin typeface="Calibri"/>
              </a:rPr>
              <a:t>How does Bear feel?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0720" y="4215384"/>
            <a:ext cx="1828800" cy="841248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0" y="4379976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B2A4A"/>
                </a:solidFill>
                <a:latin typeface="Calibri"/>
              </a:rPr>
              <a:t>A. Happy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0" y="4215384"/>
            <a:ext cx="1828800" cy="841248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0" y="4379976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B2A4A"/>
                </a:solidFill>
                <a:latin typeface="Calibri"/>
              </a:rPr>
              <a:t>B. Sad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84080" y="4215384"/>
            <a:ext cx="1828800" cy="841248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0" y="4379976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B2A4A"/>
                </a:solidFill>
                <a:latin typeface="Calibri"/>
              </a:rPr>
              <a:t>C. Angry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806440"/>
            <a:ext cx="11292840" cy="420624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861303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2A4A"/>
                </a:solidFill>
                <a:latin typeface="Calibri"/>
              </a:rPr>
              <a:t>Bonus: "What would YOU do on a sunny day?" Any answer is right.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CHALLENGE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88–89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Georgia"/>
              </a:rPr>
              <a:t>⭐ Final Reading Challenge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1030581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Bear's Big Reading Adventure  |  Grade 1  |  90 min  |  Star Mountain  |  88–89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38 / 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A31B"/>
                </a:solidFill>
                <a:latin typeface="Calibri"/>
              </a:rPr>
              <a:t>Read these to finish the adventure. I am right here.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3566160" cy="2103120"/>
          </a:xfrm>
          <a:prstGeom prst="roundRect">
            <a:avLst/>
          </a:prstGeom>
          <a:solidFill>
            <a:srgbClr val="FD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14884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22A36"/>
                </a:solidFill>
                <a:latin typeface="Calibri"/>
              </a:rPr>
              <a:t>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20240" y="2286000"/>
            <a:ext cx="19202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2468880"/>
            <a:ext cx="1920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04F5F"/>
                </a:solidFill>
                <a:latin typeface="Arial Black"/>
              </a:rPr>
              <a:t>CAT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3310128"/>
            <a:ext cx="2468880" cy="411480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374136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Read it! 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1783080"/>
            <a:ext cx="3566160" cy="2103120"/>
          </a:xfrm>
          <a:prstGeom prst="roundRect">
            <a:avLst/>
          </a:prstGeom>
          <a:solidFill>
            <a:srgbClr val="FF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214884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22A36"/>
                </a:solidFill>
                <a:latin typeface="Calibri"/>
              </a:rPr>
              <a:t>☀️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5000" y="2286000"/>
            <a:ext cx="19202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15000" y="2468880"/>
            <a:ext cx="1920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2A31B"/>
                </a:solidFill>
                <a:latin typeface="Arial Black"/>
              </a:rPr>
              <a:t>SUN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00600" y="3310128"/>
            <a:ext cx="2468880" cy="411480"/>
          </a:xfrm>
          <a:prstGeom prst="roundRect">
            <a:avLst/>
          </a:prstGeom>
          <a:solidFill>
            <a:srgbClr val="F2A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600" y="3374136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Read it! 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1783080"/>
            <a:ext cx="3566160" cy="2103120"/>
          </a:xfrm>
          <a:prstGeom prst="roundRect">
            <a:avLst/>
          </a:prstGeom>
          <a:solidFill>
            <a:srgbClr val="E2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214884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22A36"/>
                </a:solidFill>
                <a:latin typeface="Calibri"/>
              </a:rPr>
              <a:t>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9760" y="2286000"/>
            <a:ext cx="19202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0" y="2468880"/>
            <a:ext cx="1920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8B57"/>
                </a:solidFill>
                <a:latin typeface="Arial Black"/>
              </a:rPr>
              <a:t>DOG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95360" y="3310128"/>
            <a:ext cx="2468880" cy="41148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0" y="3374136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Read it! 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114800"/>
            <a:ext cx="11292840" cy="1600200"/>
          </a:xfrm>
          <a:prstGeom prst="roundRect">
            <a:avLst/>
          </a:prstGeom>
          <a:solidFill>
            <a:srgbClr val="FF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429768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22A36"/>
                </a:solidFill>
                <a:latin typeface="Calibri"/>
              </a:rPr>
              <a:t>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68880" y="44348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2B2A4A"/>
                </a:solidFill>
                <a:latin typeface="Arial Black"/>
              </a:rPr>
              <a:t>I SEE A CAT.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89–90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Georgia"/>
              </a:rPr>
              <a:t>✅ What I Can Read Now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1320859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Bear's Big Reading Adventure  |  Grade 1  |  90 min  |  Reading Hero  |  89–90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39 / 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B57"/>
                </a:solidFill>
                <a:latin typeface="Calibri"/>
              </a:rPr>
              <a:t>Look at everything you did today. Read it with 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5440680" cy="841248"/>
          </a:xfrm>
          <a:prstGeom prst="roundRect">
            <a:avLst/>
          </a:prstGeom>
          <a:solidFill>
            <a:srgbClr val="E2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4944" y="1920240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1975104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22A36"/>
                </a:solidFill>
                <a:latin typeface="Calibri"/>
              </a:rPr>
              <a:t>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184708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B57"/>
                </a:solidFill>
                <a:latin typeface="Calibri"/>
              </a:rPr>
              <a:t>Letter sounds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2212848"/>
            <a:ext cx="4206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B2A4A"/>
                </a:solidFill>
                <a:latin typeface="Calibri"/>
              </a:rPr>
              <a:t>b c d f m p s 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737360"/>
            <a:ext cx="5440680" cy="841248"/>
          </a:xfrm>
          <a:prstGeom prst="roundRect">
            <a:avLst/>
          </a:prstGeom>
          <a:solidFill>
            <a:srgbClr val="E2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9944" y="1920240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9944" y="1975104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22A36"/>
                </a:solidFill>
                <a:latin typeface="Calibri"/>
              </a:rPr>
              <a:t>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184708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B57"/>
                </a:solidFill>
                <a:latin typeface="Calibri"/>
              </a:rPr>
              <a:t>Vowels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212848"/>
            <a:ext cx="4206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B2A4A"/>
                </a:solidFill>
                <a:latin typeface="Calibri"/>
              </a:rPr>
              <a:t>a e i o 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706624"/>
            <a:ext cx="5440680" cy="841248"/>
          </a:xfrm>
          <a:prstGeom prst="roundRect">
            <a:avLst/>
          </a:prstGeom>
          <a:solidFill>
            <a:srgbClr val="E2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94944" y="2889504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2944368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22A36"/>
                </a:solidFill>
                <a:latin typeface="Calibri"/>
              </a:rPr>
              <a:t>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2816352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B57"/>
                </a:solidFill>
                <a:latin typeface="Calibri"/>
              </a:rPr>
              <a:t>Blending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3182112"/>
            <a:ext cx="4206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B2A4A"/>
                </a:solidFill>
                <a:latin typeface="Calibri"/>
              </a:rPr>
              <a:t>/k/ /a/ /t/ → CAT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2706624"/>
            <a:ext cx="5440680" cy="841248"/>
          </a:xfrm>
          <a:prstGeom prst="roundRect">
            <a:avLst/>
          </a:prstGeom>
          <a:solidFill>
            <a:srgbClr val="E2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09944" y="2889504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9944" y="2944368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22A36"/>
                </a:solidFill>
                <a:latin typeface="Calibri"/>
              </a:rPr>
              <a:t>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2816352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B57"/>
                </a:solidFill>
                <a:latin typeface="Calibri"/>
              </a:rPr>
              <a:t>Words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3182112"/>
            <a:ext cx="4206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B2A4A"/>
                </a:solidFill>
                <a:latin typeface="Calibri"/>
              </a:rPr>
              <a:t>cat dog sun pig hen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675887"/>
            <a:ext cx="5440680" cy="841248"/>
          </a:xfrm>
          <a:prstGeom prst="roundRect">
            <a:avLst/>
          </a:prstGeom>
          <a:solidFill>
            <a:srgbClr val="E2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94944" y="3858767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4944" y="3913631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22A36"/>
                </a:solidFill>
                <a:latin typeface="Calibri"/>
              </a:rPr>
              <a:t>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25880" y="3785615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B57"/>
                </a:solidFill>
                <a:latin typeface="Calibri"/>
              </a:rPr>
              <a:t>Word families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25880" y="4151375"/>
            <a:ext cx="4206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B2A4A"/>
                </a:solidFill>
                <a:latin typeface="Calibri"/>
              </a:rPr>
              <a:t>-at  -an  -ig  -un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3675887"/>
            <a:ext cx="5440680" cy="841248"/>
          </a:xfrm>
          <a:prstGeom prst="roundRect">
            <a:avLst/>
          </a:prstGeom>
          <a:solidFill>
            <a:srgbClr val="E2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09944" y="3858767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9944" y="3913631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22A36"/>
                </a:solidFill>
                <a:latin typeface="Calibri"/>
              </a:rPr>
              <a:t>💎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3785615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B57"/>
                </a:solidFill>
                <a:latin typeface="Calibri"/>
              </a:rPr>
              <a:t>Sight words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4151375"/>
            <a:ext cx="4206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B2A4A"/>
                </a:solidFill>
                <a:latin typeface="Calibri"/>
              </a:rPr>
              <a:t>I  a  am  the  is  my  can  see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4645152"/>
            <a:ext cx="5440680" cy="841248"/>
          </a:xfrm>
          <a:prstGeom prst="roundRect">
            <a:avLst/>
          </a:prstGeom>
          <a:solidFill>
            <a:srgbClr val="E2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94944" y="4828032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4944" y="4882896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22A36"/>
                </a:solidFill>
                <a:latin typeface="Calibri"/>
              </a:rPr>
              <a:t>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25880" y="4754880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B57"/>
                </a:solidFill>
                <a:latin typeface="Calibri"/>
              </a:rPr>
              <a:t>Sentences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25880" y="5120640"/>
            <a:ext cx="4206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B2A4A"/>
                </a:solidFill>
                <a:latin typeface="Calibri"/>
              </a:rPr>
              <a:t>I see a cat.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72200" y="4645152"/>
            <a:ext cx="5440680" cy="841248"/>
          </a:xfrm>
          <a:prstGeom prst="roundRect">
            <a:avLst/>
          </a:prstGeom>
          <a:solidFill>
            <a:srgbClr val="E2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409944" y="4828032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9944" y="4882896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22A36"/>
                </a:solidFill>
                <a:latin typeface="Calibri"/>
              </a:rPr>
              <a:t>📖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40880" y="4754880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B57"/>
                </a:solidFill>
                <a:latin typeface="Calibri"/>
              </a:rPr>
              <a:t>A story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40880" y="5120640"/>
            <a:ext cx="4206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B2A4A"/>
                </a:solidFill>
                <a:latin typeface="Calibri"/>
              </a:rPr>
              <a:t>Bear's Sunny Day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5614416"/>
            <a:ext cx="11292840" cy="841248"/>
          </a:xfrm>
          <a:prstGeom prst="roundRect">
            <a:avLst/>
          </a:prstGeom>
          <a:solidFill>
            <a:srgbClr val="E2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94944" y="5797296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4944" y="5852160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22A36"/>
                </a:solidFill>
                <a:latin typeface="Calibri"/>
              </a:rPr>
              <a:t>🕵️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25880" y="5724144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B57"/>
                </a:solidFill>
                <a:latin typeface="Calibri"/>
              </a:rPr>
              <a:t>Questions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25880" y="6089904"/>
            <a:ext cx="9966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B2A4A"/>
                </a:solidFill>
                <a:latin typeface="Calibri"/>
              </a:rPr>
              <a:t>I answered them all!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" y="1188720"/>
            <a:ext cx="731520" cy="73152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27080" y="1143000"/>
            <a:ext cx="731520" cy="731520"/>
          </a:xfrm>
          <a:prstGeom prst="ellipse">
            <a:avLst/>
          </a:prstGeom>
          <a:solidFill>
            <a:srgbClr val="2E7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5029200"/>
            <a:ext cx="731520" cy="731520"/>
          </a:xfrm>
          <a:prstGeom prst="ellipse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81360" y="4983480"/>
            <a:ext cx="731520" cy="731520"/>
          </a:xfrm>
          <a:prstGeom prst="ellipse">
            <a:avLst/>
          </a:prstGeom>
          <a:solidFill>
            <a:srgbClr val="F2A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C530"/>
                </a:solidFill>
                <a:latin typeface="Georgia"/>
              </a:rPr>
              <a:t>🏆 READING HERO BADGE 🏆</a:t>
            </a:r>
          </a:p>
        </p:txBody>
      </p:sp>
      <p:sp>
        <p:nvSpPr>
          <p:cNvPr id="9" name="Oval 8"/>
          <p:cNvSpPr/>
          <p:nvPr/>
        </p:nvSpPr>
        <p:spPr>
          <a:xfrm>
            <a:off x="4956048" y="1600200"/>
            <a:ext cx="2286000" cy="2286000"/>
          </a:xfrm>
          <a:prstGeom prst="ellipse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56048" y="210312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>
                <a:solidFill>
                  <a:srgbClr val="222A36"/>
                </a:solidFill>
                <a:latin typeface="Calibri"/>
              </a:rPr>
              <a:t>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Georgia"/>
              </a:rPr>
              <a:t>🎉 MISSION COMPLETE!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00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>
                <a:solidFill>
                  <a:srgbClr val="CFD6EA"/>
                </a:solidFill>
                <a:latin typeface="Calibri"/>
              </a:rPr>
              <a:t>You are a Reading Hero. Bear says thank you!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440680"/>
            <a:ext cx="1508760" cy="566928"/>
          </a:xfrm>
          <a:prstGeom prst="roundRect">
            <a:avLst/>
          </a:prstGeom>
          <a:solidFill>
            <a:srgbClr val="9B6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550408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🏠 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5440680"/>
            <a:ext cx="1508760" cy="566928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5550408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🌳 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5440680"/>
            <a:ext cx="1508760" cy="566928"/>
          </a:xfrm>
          <a:prstGeom prst="roundRect">
            <a:avLst/>
          </a:prstGeom>
          <a:solidFill>
            <a:srgbClr val="2E7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5550408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🌉 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5440680"/>
            <a:ext cx="1508760" cy="566928"/>
          </a:xfrm>
          <a:prstGeom prst="roundRect">
            <a:avLst/>
          </a:prstGeom>
          <a:solidFill>
            <a:srgbClr val="F2A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5550408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🏕️ 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5440680"/>
            <a:ext cx="1508760" cy="566928"/>
          </a:xfrm>
          <a:prstGeom prst="roundRect">
            <a:avLst/>
          </a:prstGeom>
          <a:solidFill>
            <a:srgbClr val="7B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5550408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⭐ 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5440680"/>
            <a:ext cx="1508760" cy="566928"/>
          </a:xfrm>
          <a:prstGeom prst="roundRect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5550408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🏆 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419088"/>
            <a:ext cx="11611138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Bear's Big Reading Adventure  |  Grade 1  |  90 min  |  Reading Hero  |  89–90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40 / 42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TEACHER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Georgia"/>
              </a:rPr>
              <a:t>📋 TEACHER ONLY — Observation Checklist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1901416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Bear's Big Reading Adventure  |  Grade 1  |  90 min  | 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41 / 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188720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04F5F"/>
                </a:solidFill>
                <a:latin typeface="Calibri"/>
              </a:rPr>
              <a:t>Record where he is today, not where he should be. Fill this in right after class.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1554480"/>
            <a:ext cx="3931920" cy="384048"/>
          </a:xfrm>
          <a:prstGeom prst="roundRect">
            <a:avLst/>
          </a:prstGeom>
          <a:solidFill>
            <a:srgbClr val="2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61848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READING SKILL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1554480"/>
            <a:ext cx="2377440" cy="384048"/>
          </a:xfrm>
          <a:prstGeom prst="roundRect">
            <a:avLst/>
          </a:prstGeom>
          <a:solidFill>
            <a:srgbClr val="2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61848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Needs Support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1554480"/>
            <a:ext cx="2194560" cy="384048"/>
          </a:xfrm>
          <a:prstGeom prst="roundRect">
            <a:avLst/>
          </a:prstGeom>
          <a:solidFill>
            <a:srgbClr val="2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16184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Developing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64040" y="1554480"/>
            <a:ext cx="2286000" cy="384048"/>
          </a:xfrm>
          <a:prstGeom prst="roundRect">
            <a:avLst/>
          </a:prstGeom>
          <a:solidFill>
            <a:srgbClr val="2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64040" y="16184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Independent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1993392"/>
            <a:ext cx="393192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020824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B2A4A"/>
                </a:solidFill>
                <a:latin typeface="Calibri"/>
              </a:rPr>
              <a:t>Letter sounds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1993392"/>
            <a:ext cx="237744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200253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788"/>
                </a:solidFill>
                <a:latin typeface="Calibri"/>
              </a:rPr>
              <a:t>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86600" y="1993392"/>
            <a:ext cx="219456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86600" y="200253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788"/>
                </a:solidFill>
                <a:latin typeface="Calibri"/>
              </a:rPr>
              <a:t>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64040" y="1993392"/>
            <a:ext cx="228600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64040" y="20025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788"/>
                </a:solidFill>
                <a:latin typeface="Calibri"/>
              </a:rPr>
              <a:t>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2322576"/>
            <a:ext cx="3931920" cy="310896"/>
          </a:xfrm>
          <a:prstGeom prst="round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235000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B2A4A"/>
                </a:solidFill>
                <a:latin typeface="Calibri"/>
              </a:rPr>
              <a:t>Vowel sounds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26280" y="2322576"/>
            <a:ext cx="2377440" cy="310896"/>
          </a:xfrm>
          <a:prstGeom prst="round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2331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788"/>
                </a:solidFill>
                <a:latin typeface="Calibri"/>
              </a:rPr>
              <a:t>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86600" y="2322576"/>
            <a:ext cx="2194560" cy="310896"/>
          </a:xfrm>
          <a:prstGeom prst="round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86600" y="23317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788"/>
                </a:solidFill>
                <a:latin typeface="Calibri"/>
              </a:rPr>
              <a:t>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64040" y="2322576"/>
            <a:ext cx="2286000" cy="310896"/>
          </a:xfrm>
          <a:prstGeom prst="round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64040" y="2331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788"/>
                </a:solidFill>
                <a:latin typeface="Calibri"/>
              </a:rPr>
              <a:t>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2651760"/>
            <a:ext cx="393192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267919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B2A4A"/>
                </a:solidFill>
                <a:latin typeface="Calibri"/>
              </a:rPr>
              <a:t>Blending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26280" y="2651760"/>
            <a:ext cx="237744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26280" y="266090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788"/>
                </a:solidFill>
                <a:latin typeface="Calibri"/>
              </a:rPr>
              <a:t>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86600" y="2651760"/>
            <a:ext cx="219456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86600" y="266090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788"/>
                </a:solidFill>
                <a:latin typeface="Calibri"/>
              </a:rPr>
              <a:t>☐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464040" y="2651760"/>
            <a:ext cx="228600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64040" y="266090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788"/>
                </a:solidFill>
                <a:latin typeface="Calibri"/>
              </a:rPr>
              <a:t>☐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1480" y="2980944"/>
            <a:ext cx="3931920" cy="310896"/>
          </a:xfrm>
          <a:prstGeom prst="round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3008376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B2A4A"/>
                </a:solidFill>
                <a:latin typeface="Calibri"/>
              </a:rPr>
              <a:t>CVC words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26280" y="2980944"/>
            <a:ext cx="2377440" cy="310896"/>
          </a:xfrm>
          <a:prstGeom prst="round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26280" y="299008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788"/>
                </a:solidFill>
                <a:latin typeface="Calibri"/>
              </a:rPr>
              <a:t>☐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086600" y="2980944"/>
            <a:ext cx="2194560" cy="310896"/>
          </a:xfrm>
          <a:prstGeom prst="round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86600" y="29900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788"/>
                </a:solidFill>
                <a:latin typeface="Calibri"/>
              </a:rPr>
              <a:t>☐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464040" y="2980944"/>
            <a:ext cx="2286000" cy="310896"/>
          </a:xfrm>
          <a:prstGeom prst="round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64040" y="29900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788"/>
                </a:solidFill>
                <a:latin typeface="Calibri"/>
              </a:rPr>
              <a:t>☐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11480" y="3310128"/>
            <a:ext cx="393192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" y="333756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B2A4A"/>
                </a:solidFill>
                <a:latin typeface="Calibri"/>
              </a:rPr>
              <a:t>Word families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26280" y="3310128"/>
            <a:ext cx="237744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26280" y="33192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788"/>
                </a:solidFill>
                <a:latin typeface="Calibri"/>
              </a:rPr>
              <a:t>☐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086600" y="3310128"/>
            <a:ext cx="219456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86600" y="33192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788"/>
                </a:solidFill>
                <a:latin typeface="Calibri"/>
              </a:rPr>
              <a:t>☐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464040" y="3310128"/>
            <a:ext cx="228600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464040" y="33192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788"/>
                </a:solidFill>
                <a:latin typeface="Calibri"/>
              </a:rPr>
              <a:t>☐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11480" y="3639311"/>
            <a:ext cx="3931920" cy="310896"/>
          </a:xfrm>
          <a:prstGeom prst="round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4360" y="3666743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B2A4A"/>
                </a:solidFill>
                <a:latin typeface="Calibri"/>
              </a:rPr>
              <a:t>Sight words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26280" y="3639311"/>
            <a:ext cx="2377440" cy="310896"/>
          </a:xfrm>
          <a:prstGeom prst="round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26280" y="3648455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788"/>
                </a:solidFill>
                <a:latin typeface="Calibri"/>
              </a:rPr>
              <a:t>☐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086600" y="3639311"/>
            <a:ext cx="2194560" cy="310896"/>
          </a:xfrm>
          <a:prstGeom prst="round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086600" y="3648455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788"/>
                </a:solidFill>
                <a:latin typeface="Calibri"/>
              </a:rPr>
              <a:t>☐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464040" y="3639311"/>
            <a:ext cx="2286000" cy="310896"/>
          </a:xfrm>
          <a:prstGeom prst="round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464040" y="364845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788"/>
                </a:solidFill>
                <a:latin typeface="Calibri"/>
              </a:rPr>
              <a:t>☐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11480" y="3968496"/>
            <a:ext cx="393192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4360" y="399592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B2A4A"/>
                </a:solidFill>
                <a:latin typeface="Calibri"/>
              </a:rPr>
              <a:t>Sentence reading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526280" y="3968496"/>
            <a:ext cx="237744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26280" y="39776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788"/>
                </a:solidFill>
                <a:latin typeface="Calibri"/>
              </a:rPr>
              <a:t>☐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086600" y="3968496"/>
            <a:ext cx="219456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086600" y="39776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788"/>
                </a:solidFill>
                <a:latin typeface="Calibri"/>
              </a:rPr>
              <a:t>☐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464040" y="3968496"/>
            <a:ext cx="228600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464040" y="3977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788"/>
                </a:solidFill>
                <a:latin typeface="Calibri"/>
              </a:rPr>
              <a:t>☐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11480" y="4297680"/>
            <a:ext cx="3931920" cy="310896"/>
          </a:xfrm>
          <a:prstGeom prst="round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94360" y="432511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B2A4A"/>
                </a:solidFill>
                <a:latin typeface="Calibri"/>
              </a:rPr>
              <a:t>Story reading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526280" y="4297680"/>
            <a:ext cx="2377440" cy="310896"/>
          </a:xfrm>
          <a:prstGeom prst="round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26280" y="430682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788"/>
                </a:solidFill>
                <a:latin typeface="Calibri"/>
              </a:rPr>
              <a:t>☐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086600" y="4297680"/>
            <a:ext cx="2194560" cy="310896"/>
          </a:xfrm>
          <a:prstGeom prst="round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086600" y="430682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788"/>
                </a:solidFill>
                <a:latin typeface="Calibri"/>
              </a:rPr>
              <a:t>☐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464040" y="4297680"/>
            <a:ext cx="2286000" cy="310896"/>
          </a:xfrm>
          <a:prstGeom prst="round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464040" y="43068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788"/>
                </a:solidFill>
                <a:latin typeface="Calibri"/>
              </a:rPr>
              <a:t>☐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11480" y="4626864"/>
            <a:ext cx="393192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94360" y="4654296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B2A4A"/>
                </a:solidFill>
                <a:latin typeface="Calibri"/>
              </a:rPr>
              <a:t>Comprehension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526280" y="4626864"/>
            <a:ext cx="237744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526280" y="463600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788"/>
                </a:solidFill>
                <a:latin typeface="Calibri"/>
              </a:rPr>
              <a:t>☐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086600" y="4626864"/>
            <a:ext cx="219456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086600" y="463600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788"/>
                </a:solidFill>
                <a:latin typeface="Calibri"/>
              </a:rPr>
              <a:t>☐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9464040" y="4626864"/>
            <a:ext cx="228600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464040" y="46360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788"/>
                </a:solidFill>
                <a:latin typeface="Calibri"/>
              </a:rPr>
              <a:t>☐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11480" y="4956048"/>
            <a:ext cx="3931920" cy="310896"/>
          </a:xfrm>
          <a:prstGeom prst="round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94360" y="498348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B2A4A"/>
                </a:solidFill>
                <a:latin typeface="Calibri"/>
              </a:rPr>
              <a:t>Confidence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526280" y="4956048"/>
            <a:ext cx="2377440" cy="310896"/>
          </a:xfrm>
          <a:prstGeom prst="round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526280" y="496519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788"/>
                </a:solidFill>
                <a:latin typeface="Calibri"/>
              </a:rPr>
              <a:t>☐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7086600" y="4956048"/>
            <a:ext cx="2194560" cy="310896"/>
          </a:xfrm>
          <a:prstGeom prst="round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086600" y="496519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788"/>
                </a:solidFill>
                <a:latin typeface="Calibri"/>
              </a:rPr>
              <a:t>☐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464040" y="4956048"/>
            <a:ext cx="2286000" cy="310896"/>
          </a:xfrm>
          <a:prstGeom prst="round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464040" y="49651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788"/>
                </a:solidFill>
                <a:latin typeface="Calibri"/>
              </a:rPr>
              <a:t>☐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411480" y="5358384"/>
            <a:ext cx="11338560" cy="219456"/>
          </a:xfrm>
          <a:prstGeom prst="roundRect">
            <a:avLst/>
          </a:prstGeom>
          <a:solidFill>
            <a:srgbClr val="FF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94360" y="536752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2A4A"/>
                </a:solidFill>
                <a:latin typeface="Calibri"/>
              </a:rPr>
              <a:t>Words the child read independently: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411480" y="5605272"/>
            <a:ext cx="11338560" cy="219456"/>
          </a:xfrm>
          <a:prstGeom prst="roundRect">
            <a:avLst/>
          </a:prstGeom>
          <a:solidFill>
            <a:srgbClr val="FF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94360" y="5614416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2A4A"/>
                </a:solidFill>
                <a:latin typeface="Calibri"/>
              </a:rPr>
              <a:t>Words requiring teacher support: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411480" y="5852160"/>
            <a:ext cx="11338560" cy="219456"/>
          </a:xfrm>
          <a:prstGeom prst="roundRect">
            <a:avLst/>
          </a:prstGeom>
          <a:solidFill>
            <a:srgbClr val="FF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94360" y="5861304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2A4A"/>
                </a:solidFill>
                <a:latin typeface="Calibri"/>
              </a:rPr>
              <a:t>Main difficulty noticed: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411480" y="6099048"/>
            <a:ext cx="11338560" cy="219456"/>
          </a:xfrm>
          <a:prstGeom prst="roundRect">
            <a:avLst/>
          </a:prstGeom>
          <a:solidFill>
            <a:srgbClr val="FF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94360" y="610819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2A4A"/>
                </a:solidFill>
                <a:latin typeface="Calibri"/>
              </a:rPr>
              <a:t>Recommended next lesson: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TEACHER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A4A"/>
                </a:solidFill>
                <a:latin typeface="Georgia"/>
              </a:rPr>
              <a:t>🔒 TEACHER ONLY — Answer Key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Bear's Big Reading Adventure  |  Grade 1  |  90 min  |  Answer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42 / 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25296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04F5F"/>
                </a:solidFill>
                <a:latin typeface="Calibri"/>
              </a:rPr>
              <a:t>Hide this slide before presenting, or keep it on a second screen.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1627632"/>
            <a:ext cx="5577840" cy="4617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77393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04F5F"/>
                </a:solidFill>
                <a:latin typeface="Calibri"/>
              </a:rPr>
              <a:t>🔊 Sounds · 🍎 Vowels · 🧩 Blending · 🏠 Families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176272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•  Sound Hunt 1–3: Bear, Sun, Cat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•  Sound Hunt 4–6: Dog, Pig, Mat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•  Vowel Basket 1–3: A, I, U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•  Vowel Basket 4–6: E, O, A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•  Build 1–3: CAT, SUN, PIG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•  Build 4–6: DOG, HEN, BAT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•  Family House 1–4: -AT, -UN, -IG, -AT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•  Family House 5–8: -AN, -AT, -UN, -IG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•  Families: -at cat bat hat mat · -an can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      man fan · -ig pig big · -un sun run fun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627632"/>
            <a:ext cx="5577840" cy="4617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7393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FD9"/>
                </a:solidFill>
                <a:latin typeface="Calibri"/>
              </a:rPr>
              <a:t>💎 Sight words · 🖼️ Match · 🧩 Sentences · 📖 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76272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•  Treasure 1–3: I, the, can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•  Treasure 4–6: see, my, am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•  Match It: PIG, BAT, HEN, BALL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      (BALL has no picture on purpose)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•  Puzzle 1–3: I see a cat. / The dog is big. /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      I can run.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•  Puzzle 4–5: My cat is big. / I see the sun.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•  Story Detective 1–2: A Park, A Dog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•  Story Detective 3–4: A Ball, A Happy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•  Final: CAT, SUN, DOG, "I see a cat."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