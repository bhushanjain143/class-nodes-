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5029200"/>
            <a:ext cx="777240" cy="777240"/>
          </a:xfrm>
          <a:prstGeom prst="ellipse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4983480"/>
            <a:ext cx="777240" cy="777240"/>
          </a:xfrm>
          <a:prstGeom prst="ellipse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THE SCIENCE LAB MYSTERY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8FD3D8"/>
                </a:solidFill>
                <a:latin typeface="Calibri"/>
              </a:rPr>
              <a:t>"Can You Solve the Mystery?"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182112"/>
            <a:ext cx="1508760" cy="123444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4670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41063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EBCC7"/>
                </a:solidFill>
                <a:latin typeface="Calibri"/>
              </a:rPr>
              <a:t>test tubes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182112"/>
            <a:ext cx="1508760" cy="123444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34670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41063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EBCC7"/>
                </a:solidFill>
                <a:latin typeface="Calibri"/>
              </a:rPr>
              <a:t>microscope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182112"/>
            <a:ext cx="1508760" cy="123444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34670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941063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EBCC7"/>
                </a:solidFill>
                <a:latin typeface="Calibri"/>
              </a:rPr>
              <a:t>beaker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182112"/>
            <a:ext cx="1508760" cy="123444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4670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41063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EBCC7"/>
                </a:solidFill>
                <a:latin typeface="Calibri"/>
              </a:rPr>
              <a:t>magnifier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182112"/>
            <a:ext cx="1508760" cy="123444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34670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941063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EBCC7"/>
                </a:solidFill>
                <a:latin typeface="Calibri"/>
              </a:rPr>
              <a:t>clipboard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182112"/>
            <a:ext cx="1508760" cy="123444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34670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941063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EBCC7"/>
                </a:solidFill>
                <a:latin typeface="Calibri"/>
              </a:rPr>
              <a:t>locked case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681728"/>
            <a:ext cx="6126480" cy="10515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91032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Grade 5  •  90 Minutes  •  Reading &amp; Grammar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76691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0–7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69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🔬 You Are the Junior Science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5338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Something unusual happened in the school science lab.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0E7C86"/>
                </a:solidFill>
                <a:latin typeface="Georgia"/>
              </a:rPr>
              <a:t>JUNIOR SCIENCE DETECTIVE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6828E"/>
                </a:solidFill>
                <a:latin typeface="Calibri"/>
              </a:rPr>
              <a:t>that is your job for the next 90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Read the clues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21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828E"/>
                </a:solidFill>
                <a:latin typeface="Calibri"/>
              </a:rPr>
              <a:t>A real mystery passage, in five parts.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2761488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✏️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85292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Fix the grammar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461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828E"/>
                </a:solidFill>
                <a:latin typeface="Calibri"/>
              </a:rPr>
              <a:t>Subjects, verbs and tenses.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3785616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7705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Solve word puzzles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702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828E"/>
                </a:solidFill>
                <a:latin typeface="Calibri"/>
              </a:rPr>
              <a:t>Vocabulary and sentence games.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4809744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90118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Report your findings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2943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828E"/>
                </a:solidFill>
                <a:latin typeface="Calibri"/>
              </a:rPr>
              <a:t>Explain the case out loud.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Read the four missions out loud before you open the case.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🗺️ The Case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0073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Six locations. One language mission at each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737360" cy="320040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7C86"/>
                </a:solidFill>
                <a:latin typeface="Calibri"/>
              </a:rPr>
              <a:t>Science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313C"/>
                </a:solidFill>
                <a:latin typeface="Calibri"/>
              </a:rPr>
              <a:t>Vocabulary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0–17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9152" y="1783080"/>
            <a:ext cx="1737360" cy="320040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4B9B"/>
                </a:solidFill>
                <a:latin typeface="Calibri"/>
              </a:rPr>
              <a:t>Observation 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313C"/>
                </a:solidFill>
                <a:latin typeface="Calibri"/>
              </a:rPr>
              <a:t>Subject + verb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96312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17–27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1783080"/>
            <a:ext cx="1737360" cy="320040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D4AA6"/>
                </a:solidFill>
                <a:latin typeface="Calibri"/>
              </a:rPr>
              <a:t>Experiment Station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313C"/>
                </a:solidFill>
                <a:latin typeface="Calibri"/>
              </a:rPr>
              <a:t>Parts of speech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8264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27–40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783080"/>
            <a:ext cx="1737360" cy="320040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8B0E"/>
                </a:solidFill>
                <a:latin typeface="Calibri"/>
              </a:rPr>
              <a:t>Research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313C"/>
                </a:solidFill>
                <a:latin typeface="Calibri"/>
              </a:rPr>
              <a:t>Verb tenses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0216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216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40–50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1783080"/>
            <a:ext cx="1737360" cy="320040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8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B3B"/>
                </a:solidFill>
                <a:latin typeface="Calibri"/>
              </a:rPr>
              <a:t>Mystery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313C"/>
                </a:solidFill>
                <a:latin typeface="Calibri"/>
              </a:rPr>
              <a:t>Reading &amp; clues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2168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8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50–70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1783080"/>
            <a:ext cx="1737360" cy="320040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60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3C72"/>
                </a:solidFill>
                <a:latin typeface="Calibri"/>
              </a:rPr>
              <a:t>Detective HQ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6313C"/>
                </a:solidFill>
                <a:latin typeface="Calibri"/>
              </a:rPr>
              <a:t>Edit, report, solve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04120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70–90 min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166360"/>
            <a:ext cx="11292840" cy="82296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39496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821"/>
                </a:solidFill>
                <a:latin typeface="Calibri"/>
              </a:rPr>
              <a:t>🧪  →  🔍  →  🧫  →  📋  →  📖  →  🏆    Clear all six and the case is solved.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👀 Warm-Up — What Do You Notice?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06764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No reading yet. Just look at the lab and talk.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56616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29384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039112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1396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test tubes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29384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2039112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1396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microscope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691640"/>
            <a:ext cx="356616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29384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039112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1396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beaker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81528"/>
            <a:ext cx="356616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192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429000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35295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magnifier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081528"/>
            <a:ext cx="356616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3192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3429000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35295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clipboard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081528"/>
            <a:ext cx="356616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319272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3429000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5295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locked case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7200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57200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What do you notice in the lab?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57200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57200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What looks unusual to you?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08406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8406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What do you think happened here?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08406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08406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Which detail would you check first?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669280"/>
            <a:ext cx="3566160" cy="475488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75157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I notice ______.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1960" y="5669280"/>
            <a:ext cx="3566160" cy="475488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1960" y="575157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I think ______.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669280"/>
            <a:ext cx="3566160" cy="475488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575157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Maybe ______.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📚 Science Word — OBSERVE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3456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Picture, then the word, then the meaning, then a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840480" cy="402336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6313C"/>
                </a:solidFill>
                <a:latin typeface="Calibri"/>
              </a:rPr>
              <a:t>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3200400" cy="9144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say it twice out 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691640"/>
            <a:ext cx="7178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SIMPLE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19456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to look at something very carefully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00400"/>
            <a:ext cx="7178040" cy="137160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33756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EXAMPLE SENTENCE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Scientists observe the experiment before they touch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709160"/>
            <a:ext cx="7178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828032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⭐ YOUR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166360"/>
            <a:ext cx="6629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What do you observe on this table?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If she stalls, reread the example sentence and stress "observe".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📚 Science Word — DISCOVER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0147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Picture, then the word, then the meaning, then a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840480" cy="402336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6313C"/>
                </a:solidFill>
                <a:latin typeface="Calibri"/>
              </a:rPr>
              <a:t>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3200400" cy="914400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say it twice out 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691640"/>
            <a:ext cx="7178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8B0E"/>
                </a:solidFill>
                <a:latin typeface="Calibri"/>
              </a:rPr>
              <a:t>SIMPLE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19456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to find something new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00400"/>
            <a:ext cx="7178040" cy="137160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33756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8B0E"/>
                </a:solidFill>
                <a:latin typeface="Calibri"/>
              </a:rPr>
              <a:t>EXAMPLE SENTENCE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The students discover a clue near the sink.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709160"/>
            <a:ext cx="7178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828032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⭐ YOUR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166360"/>
            <a:ext cx="6629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Tell me something you discovered this week.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If she stalls, reread the example sentence and stress "discover".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📚 Science Word —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236838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Picture, then the word, then the meaning, then a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840480" cy="402336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3200400" cy="91440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say it twice out 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691640"/>
            <a:ext cx="7178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4B9B"/>
                </a:solidFill>
                <a:latin typeface="Calibri"/>
              </a:rPr>
              <a:t>SIMPLE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19456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information that helps us know what happened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00400"/>
            <a:ext cx="7178040" cy="137160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33756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4B9B"/>
                </a:solidFill>
                <a:latin typeface="Calibri"/>
              </a:rPr>
              <a:t>EXAMPLE SENTENCE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The wet mark on the floor is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709160"/>
            <a:ext cx="7178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828032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⭐ YOUR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166360"/>
            <a:ext cx="6629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Is a guess evidence? Why not?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If she stalls, reread the example sentence and stress "evidence".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📚 Science Word — PREDICT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413529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Picture, then the word, then the meaning, then a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840480" cy="402336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6313C"/>
                </a:solidFill>
                <a:latin typeface="Calibri"/>
              </a:rPr>
              <a:t>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3200400" cy="914400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say it twice out 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691640"/>
            <a:ext cx="7178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SIMPLE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19456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to say what you think will happen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00400"/>
            <a:ext cx="7178040" cy="137160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33756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EXAMPLE SENTENCE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Can you predict the result of the experiment?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709160"/>
            <a:ext cx="7178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828032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⭐ YOUR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166360"/>
            <a:ext cx="6629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Predict what happens if we leave ice in the sun.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If she stalls, reread the example sentence and stress "predict".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📚 Science Word —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90221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3C72"/>
                </a:solidFill>
                <a:latin typeface="Calibri"/>
              </a:rPr>
              <a:t>Picture, then the word, then the meaning, then a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840480" cy="402336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6313C"/>
                </a:solidFill>
                <a:latin typeface="Calibri"/>
              </a:rPr>
              <a:t>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3200400" cy="914400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say it twice out 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691640"/>
            <a:ext cx="71780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3C72"/>
                </a:solidFill>
                <a:latin typeface="Calibri"/>
              </a:rPr>
              <a:t>SIMPLE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19456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what happens at the end of an experiment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00400"/>
            <a:ext cx="7178040" cy="137160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337560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3C72"/>
                </a:solidFill>
                <a:latin typeface="Calibri"/>
              </a:rPr>
              <a:t>EXAMPLE SENTENCE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6629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The result of the test surprised the whole class.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709160"/>
            <a:ext cx="7178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828032"/>
            <a:ext cx="6629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⭐ YOUR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166360"/>
            <a:ext cx="6629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What result did you expect?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If she stalls, reread the example sentence and stress "result".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🖼️ Word and Picture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6691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Read the word, then point to the picture that fits.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19072"/>
            <a:ext cx="112928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29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1847088"/>
            <a:ext cx="2560320" cy="51206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1920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 Black"/>
              </a:rPr>
              <a:t>OBSERVE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810512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84708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810512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84708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10512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84708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560320"/>
            <a:ext cx="112928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2715768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2688336"/>
            <a:ext cx="2560320" cy="51206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27614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 Black"/>
              </a:rPr>
              <a:t>DISCOVER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2651760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2688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2651760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688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2651760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688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01568"/>
            <a:ext cx="112928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3557016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25880" y="3529584"/>
            <a:ext cx="2560320" cy="51206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36027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 Black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3493008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52958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3493008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352958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3493008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352958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242816"/>
            <a:ext cx="112928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5800" y="4398264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4531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25880" y="4370832"/>
            <a:ext cx="2560320" cy="51206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5880" y="44439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 Black"/>
              </a:rPr>
              <a:t>PREDICT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06240" y="4334256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43708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🧫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20840" y="4334256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40" y="43708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📊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440" y="4334256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5440" y="43708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084064"/>
            <a:ext cx="112928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85800" y="5239512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2943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5880" y="5212080"/>
            <a:ext cx="2560320" cy="51206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25880" y="52852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 Black"/>
              </a:rPr>
              <a:t>RESULT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06240" y="5175504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0" y="5212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📊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20840" y="5175504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0840" y="5212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35440" y="5175504"/>
            <a:ext cx="2286000" cy="58521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35440" y="5212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6044183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0" y="603504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Cover one wrong picture with your hand if three is too many.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🧫 Game: Science Word or Not?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43603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Which of these belong in a science mystery?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821"/>
                </a:solidFill>
                <a:latin typeface="Georgia"/>
              </a:rPr>
              <a:t>experiment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34640"/>
            <a:ext cx="137160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443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alibri"/>
              </a:rPr>
              <a:t>🧪 SCIENCE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19" y="2834640"/>
            <a:ext cx="1371600" cy="54864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19" y="29443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828E"/>
                </a:solidFill>
                <a:latin typeface="Calibri"/>
              </a:rPr>
              <a:t>🚫 NOT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057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821"/>
                </a:solidFill>
                <a:latin typeface="Georgia"/>
              </a:rPr>
              <a:t>banana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834640"/>
            <a:ext cx="137160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9443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alibri"/>
              </a:rPr>
              <a:t>🧪 SCIENCE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79" y="2834640"/>
            <a:ext cx="1371600" cy="54864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29443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828E"/>
                </a:solidFill>
                <a:latin typeface="Calibri"/>
              </a:rPr>
              <a:t>🚫 NOT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057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821"/>
                </a:solidFill>
                <a:latin typeface="Georgia"/>
              </a:rPr>
              <a:t>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2834640"/>
            <a:ext cx="137160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9443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alibri"/>
              </a:rPr>
              <a:t>🧪 SCIENCE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9" y="2834640"/>
            <a:ext cx="1371600" cy="54864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39" y="29443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828E"/>
                </a:solidFill>
                <a:latin typeface="Calibri"/>
              </a:rPr>
              <a:t>🚫 NOT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9476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069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821"/>
                </a:solidFill>
                <a:latin typeface="Georgia"/>
              </a:rPr>
              <a:t>discover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846320"/>
            <a:ext cx="137160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56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alibri"/>
              </a:rPr>
              <a:t>🧪 SCIENCE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19" y="4846320"/>
            <a:ext cx="1371600" cy="54864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19" y="4956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828E"/>
                </a:solidFill>
                <a:latin typeface="Calibri"/>
              </a:rPr>
              <a:t>🚫 NOT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79476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4069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821"/>
                </a:solidFill>
                <a:latin typeface="Georgia"/>
              </a:rPr>
              <a:t>pencil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4846320"/>
            <a:ext cx="137160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956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alibri"/>
              </a:rPr>
              <a:t>🧪 SCIENCE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79" y="4846320"/>
            <a:ext cx="1371600" cy="54864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79" y="4956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828E"/>
                </a:solidFill>
                <a:latin typeface="Calibri"/>
              </a:rPr>
              <a:t>🚫 NOT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79476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4069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1821"/>
                </a:solidFill>
                <a:latin typeface="Georgia"/>
              </a:rPr>
              <a:t>predict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66760" y="4846320"/>
            <a:ext cx="137160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4956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alibri"/>
              </a:rPr>
              <a:t>🧪 SCIENCE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39" y="4846320"/>
            <a:ext cx="1371600" cy="54864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39" y="4956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6828E"/>
                </a:solidFill>
                <a:latin typeface="Calibri"/>
              </a:rPr>
              <a:t>🚫 NOT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Ask why. "It is a fruit" is a better answer than just "no".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🎤 Say It! — Use the New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20294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3C72"/>
                </a:solidFill>
                <a:latin typeface="Calibri"/>
              </a:rPr>
              <a:t>Pick a word. Build a whole sentence with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3566160" cy="219456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116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6313C"/>
                </a:solidFill>
                <a:latin typeface="Calibri"/>
              </a:rPr>
              <a:t>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017520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1272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3C72"/>
                </a:solidFill>
                <a:latin typeface="Calibri"/>
              </a:rPr>
              <a:t>observe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783080"/>
            <a:ext cx="3566160" cy="219456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3017520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1272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3C72"/>
                </a:solidFill>
                <a:latin typeface="Calibri"/>
              </a:rPr>
              <a:t>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783080"/>
            <a:ext cx="3566160" cy="219456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0116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6313C"/>
                </a:solidFill>
                <a:latin typeface="Calibri"/>
              </a:rPr>
              <a:t>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017520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31272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3C72"/>
                </a:solidFill>
                <a:latin typeface="Calibri"/>
              </a:rPr>
              <a:t>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51960"/>
            <a:ext cx="11109960" cy="475488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I can ______.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00600"/>
            <a:ext cx="11109960" cy="475488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646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The scientist ______.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49240"/>
            <a:ext cx="11109960" cy="475488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4132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The evidence shows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One good sentence each is plenty. Say it back correctly, then she repeats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📚 Your Word Bank for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296986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Science Lab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Every word in this lesson comes from this bank.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experiment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83664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83664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6816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11096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observe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discover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36592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9744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4024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predict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6952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measure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15984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5984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89136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43416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solution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42448" y="19659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2448" y="20939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0" y="27340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9880" y="28254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mixture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sample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83664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83664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56816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11096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scientist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10128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10128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83280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carefully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36592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36592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↔️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09744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64024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different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63056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63056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⚖️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36208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0488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similar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9520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89520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62672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16952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mystery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15984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15984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📊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89136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43416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result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442448" y="3566160"/>
            <a:ext cx="1298448" cy="14173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42448" y="369417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🕵️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515600" y="4334256"/>
            <a:ext cx="1152144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69880" y="4425696"/>
            <a:ext cx="1243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4B9B"/>
                </a:solidFill>
                <a:latin typeface="Calibri"/>
              </a:rPr>
              <a:t>investigate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5212080"/>
            <a:ext cx="11292840" cy="530352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532180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18B0E"/>
                </a:solidFill>
                <a:latin typeface="Calibri"/>
              </a:rPr>
              <a:t>For any word she does not know:  picture  →  word  →  simple meaning  →  example sentence.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Come back to this slide any time a word blocks 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✏️ Subject + Verb — The Two Key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73677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Every sentence has someone doing something.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21821"/>
                </a:solidFill>
                <a:latin typeface="Georgia"/>
              </a:rPr>
              <a:t>The scientist works in the lab.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5440680" cy="21031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246120"/>
            <a:ext cx="5440680" cy="45720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F4B9B"/>
                </a:solidFill>
                <a:latin typeface="Arial Black"/>
              </a:rPr>
              <a:t>scientist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663440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764024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821"/>
                </a:solidFill>
                <a:latin typeface="Calibri"/>
              </a:rPr>
              <a:t>Who or what is doing it?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246120"/>
            <a:ext cx="5440680" cy="21031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3246120"/>
            <a:ext cx="5440680" cy="4572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3192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794760"/>
            <a:ext cx="5440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E7C86"/>
                </a:solidFill>
                <a:latin typeface="Arial Black"/>
              </a:rPr>
              <a:t>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663440"/>
            <a:ext cx="397763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764024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821"/>
                </a:solidFill>
                <a:latin typeface="Calibri"/>
              </a:rPr>
              <a:t>What are they doing?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The subject usually sits right before the verb. Point at both.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🔍 One or Many? — scientist / scientists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50368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Same idea, two subjects. Watch what happens to the verb.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440680" cy="402336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5440680" cy="47548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739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5440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632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21821"/>
                </a:solidFill>
                <a:latin typeface="Georgia"/>
              </a:rPr>
              <a:t>The scientist works.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E7C86"/>
                </a:solidFill>
                <a:latin typeface="Calibri"/>
              </a:rPr>
              <a:t>scientist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VERB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E7C86"/>
                </a:solidFill>
                <a:latin typeface="Calibri"/>
              </a:rPr>
              <a:t>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6313C"/>
                </a:solidFill>
                <a:latin typeface="Calibri"/>
              </a:rPr>
              <a:t>one scientist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691640"/>
            <a:ext cx="5440680" cy="402336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1691640"/>
            <a:ext cx="5440680" cy="47548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7739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MORE THAN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286000"/>
            <a:ext cx="5440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632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21821"/>
                </a:solidFill>
                <a:latin typeface="Georgia"/>
              </a:rPr>
              <a:t>The scientists work.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SUBJECT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D4AA6"/>
                </a:solidFill>
                <a:latin typeface="Calibri"/>
              </a:rPr>
              <a:t>scientists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VERB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D4AA6"/>
                </a:solidFill>
                <a:latin typeface="Calibri"/>
              </a:rPr>
              <a:t>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8920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6313C"/>
                </a:solidFill>
                <a:latin typeface="Calibri"/>
              </a:rPr>
              <a:t>more than one scientist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Read both sentences out loud back to back. The ear hears the difference.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🔍 One or Many? — experiment / experiments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27059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Same idea, two subjects. Watch what happens to the verb.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440680" cy="402336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691640"/>
            <a:ext cx="5440680" cy="47548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739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5440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632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21821"/>
                </a:solidFill>
                <a:latin typeface="Georgia"/>
              </a:rPr>
              <a:t>The experiment looks strange.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E7C86"/>
                </a:solidFill>
                <a:latin typeface="Calibri"/>
              </a:rPr>
              <a:t>experiment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VERB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E7C86"/>
                </a:solidFill>
                <a:latin typeface="Calibri"/>
              </a:rPr>
              <a:t>looks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6313C"/>
                </a:solidFill>
                <a:latin typeface="Calibri"/>
              </a:rPr>
              <a:t>one experiment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691640"/>
            <a:ext cx="5440680" cy="402336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1691640"/>
            <a:ext cx="5440680" cy="47548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7739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MORE THAN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286000"/>
            <a:ext cx="5440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632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21821"/>
                </a:solidFill>
                <a:latin typeface="Georgia"/>
              </a:rPr>
              <a:t>The experiments look strange.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SUBJECT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D4AA6"/>
                </a:solidFill>
                <a:latin typeface="Calibri"/>
              </a:rPr>
              <a:t>experiments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977639"/>
            <a:ext cx="2103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6828E"/>
                </a:solidFill>
                <a:latin typeface="Calibri"/>
              </a:rPr>
              <a:t>VERB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297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D4AA6"/>
                </a:solidFill>
                <a:latin typeface="Calibri"/>
              </a:rPr>
              <a:t>look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89204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6313C"/>
                </a:solidFill>
                <a:latin typeface="Calibri"/>
              </a:rPr>
              <a:t>more than one experiment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Read both sentences out loud back to back. The ear hears the difference.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🧠 The Rule in Four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00375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Use these four steps on every sentence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347472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08760" y="2011680"/>
            <a:ext cx="548640" cy="548640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F4B9B"/>
                </a:solidFill>
                <a:latin typeface="Calibri"/>
              </a:rPr>
              <a:t>Find the subject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Who or what is doing the action?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89120"/>
            <a:ext cx="21945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26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4B9B"/>
                </a:solidFill>
                <a:latin typeface="Calibri"/>
              </a:rPr>
              <a:t>the scientist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1783080"/>
            <a:ext cx="2651760" cy="347472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52544" y="2011680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2424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E7C86"/>
                </a:solidFill>
                <a:latin typeface="Calibri"/>
              </a:rPr>
              <a:t>One or many?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Is the subject singular or plural?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4" y="4389120"/>
            <a:ext cx="21945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4526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7C86"/>
                </a:solidFill>
                <a:latin typeface="Calibri"/>
              </a:rPr>
              <a:t>one = singular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1783080"/>
            <a:ext cx="2651760" cy="347472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96328" y="2011680"/>
            <a:ext cx="548640" cy="548640"/>
          </a:xfrm>
          <a:prstGeom prst="ellipse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AA6"/>
                </a:solidFill>
                <a:latin typeface="Calibri"/>
              </a:rPr>
              <a:t>Match the verb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Singular subject takes the -s verb.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73368" y="4389120"/>
            <a:ext cx="21945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526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D4AA6"/>
                </a:solidFill>
                <a:latin typeface="Calibri"/>
              </a:rPr>
              <a:t>scientist works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1783080"/>
            <a:ext cx="2651760" cy="347472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40112" y="2011680"/>
            <a:ext cx="548640" cy="548640"/>
          </a:xfrm>
          <a:prstGeom prst="ellipse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18B0E"/>
                </a:solidFill>
                <a:latin typeface="Calibri"/>
              </a:rPr>
              <a:t>Check it out 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313C"/>
                </a:solidFill>
                <a:latin typeface="Calibri"/>
              </a:rPr>
              <a:t>Read the sentence back to yourself.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7152" y="4389120"/>
            <a:ext cx="21945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4526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8B0E"/>
                </a:solidFill>
                <a:latin typeface="Calibri"/>
              </a:rPr>
              <a:t>does it sound right?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394960"/>
            <a:ext cx="11292840" cy="40233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45896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Short version:  ONE subject takes the verb WITH -s.  MANY subjects take the verb WITHOUT -s.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🔍 Which Verb Is Correct?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8044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Find the subject first. Then choose the verb.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19751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scientist ____ carefully.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5420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one scientist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0299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0299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3467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scientists ____ carefully.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9136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more than 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4015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works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015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7183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experiment ____ strange.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2852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one experiment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7731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864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look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7731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864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looks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Cover the choices. Say the sentence both ways out loud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🔍 Which Verb Is Correct? — Rounds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357133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Three more. Same four steps every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19751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experiments ____ strange.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5420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more than 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0299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looks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0299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3467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student ____ the solution.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9136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one student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4015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mix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015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mixes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7183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students ____ the solution.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2852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more than 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7731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864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mixes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77316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864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mix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Ask her to say the subject out loud before she answers.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🛠️ Grammar Detective — Find the Mistake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533824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Each sentence has one mistake. Find it and fix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2029968"/>
            <a:ext cx="1371600" cy="402336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20756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B3B"/>
                </a:solidFill>
                <a:latin typeface="Calibri"/>
              </a:rPr>
              <a:t>❌ BROKEN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scientist work in the lab.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2029968"/>
            <a:ext cx="2103120" cy="402336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0756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6828E"/>
                </a:solidFill>
                <a:latin typeface="Calibri"/>
              </a:rPr>
              <a:t>one scientist → 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2606040"/>
            <a:ext cx="10241280" cy="71323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alibri"/>
              </a:rPr>
              <a:t>✅ NOW FIX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926080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____________________________________________________________________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3995928"/>
            <a:ext cx="1371600" cy="402336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0416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B3B"/>
                </a:solidFill>
                <a:latin typeface="Calibri"/>
              </a:rPr>
              <a:t>❌ BROKEN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977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students studies the result.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3995928"/>
            <a:ext cx="2103120" cy="402336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04164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6828E"/>
                </a:solidFill>
                <a:latin typeface="Calibri"/>
              </a:rPr>
              <a:t>more than one student → study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4572000"/>
            <a:ext cx="10241280" cy="71323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4636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alibri"/>
              </a:rPr>
              <a:t>✅ NOW FIX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892040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____________________________________________________________________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The mistake is always the verb. Check it against the subject.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🛠️ Grammar Detective — Rounds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1051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Two more broken sentences. You know the rule now.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2029968"/>
            <a:ext cx="1371600" cy="402336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20756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B3B"/>
                </a:solidFill>
                <a:latin typeface="Calibri"/>
              </a:rPr>
              <a:t>❌ BROKEN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experiments looks cold.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2029968"/>
            <a:ext cx="2103120" cy="402336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0756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6828E"/>
                </a:solidFill>
                <a:latin typeface="Calibri"/>
              </a:rPr>
              <a:t>more than one experiment → look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2606040"/>
            <a:ext cx="10241280" cy="71323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alibri"/>
              </a:rPr>
              <a:t>✅ NOW FIX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926080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____________________________________________________________________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3995928"/>
            <a:ext cx="1371600" cy="402336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0416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B3B"/>
                </a:solidFill>
                <a:latin typeface="Calibri"/>
              </a:rPr>
              <a:t>❌ BROKEN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977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My teacher check the samples.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3995928"/>
            <a:ext cx="2103120" cy="402336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04164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6828E"/>
                </a:solidFill>
                <a:latin typeface="Calibri"/>
              </a:rPr>
              <a:t>one teacher →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4572000"/>
            <a:ext cx="10241280" cy="71323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4636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alibri"/>
              </a:rPr>
              <a:t>✅ NOW FIX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892040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____________________________________________________________________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Have her read her fixed version out loud. It should sound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CASE FILE UPDATED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🔍 Observation Desk Cleared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887207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Observation Desk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You can match any verb to its subject.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6313C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2F4B9B"/>
                </a:solidFill>
                <a:latin typeface="Georgia"/>
              </a:rPr>
              <a:t>BADGE 1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6828E"/>
                </a:solidFill>
                <a:latin typeface="Calibri"/>
              </a:rPr>
              <a:t>⭐ detective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✏️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Subject and verb in every sentence.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Singular takes -s · plural does not.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Six correct verb choices.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Four broken sentences repaired.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B0E"/>
                </a:solidFill>
                <a:latin typeface="Calibri"/>
              </a:rPr>
              <a:t>➡️ NEXT 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Experiment Station — nouns, verbs, adjectives and adverbs.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🏷️ Four Labels for Four Jobs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27–40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Every word in a sentence has a job. These are the four.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365760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83080"/>
            <a:ext cx="2651760" cy="56692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92807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a person, place or 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319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4B9B"/>
                </a:solidFill>
                <a:latin typeface="Calibri"/>
              </a:rPr>
              <a:t>scientist · lab · sample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1783080"/>
            <a:ext cx="2651760" cy="365760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00984" y="1783080"/>
            <a:ext cx="2651760" cy="56692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00984" y="1892807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9584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the action 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9584" y="39319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4069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7C86"/>
                </a:solidFill>
                <a:latin typeface="Calibri"/>
              </a:rPr>
              <a:t>mixes · measures · checks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1783080"/>
            <a:ext cx="2651760" cy="365760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44768" y="1783080"/>
            <a:ext cx="2651760" cy="56692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1892807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describes a noun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73368" y="39319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069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EXAMPLES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4AA6"/>
                </a:solidFill>
                <a:latin typeface="Calibri"/>
              </a:rPr>
              <a:t>careful · strange · cold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1783080"/>
            <a:ext cx="2651760" cy="365760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88552" y="1783080"/>
            <a:ext cx="2651760" cy="56692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2" y="1892807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2606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describes the verb, often ends -ly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17152" y="39319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4069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6828E"/>
                </a:solidFill>
                <a:latin typeface="Calibri"/>
              </a:rPr>
              <a:t>EXAMPLES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18B0E"/>
                </a:solidFill>
                <a:latin typeface="Calibri"/>
              </a:rPr>
              <a:t>carefully · quickly · slowly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77840"/>
            <a:ext cx="11292840" cy="402336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64184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18B0E"/>
                </a:solidFill>
                <a:latin typeface="Calibri"/>
              </a:rPr>
              <a:t>Quick test:  adjectives describe a NOUN, adverbs describe a VERB — and most adverbs end in -ly.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🧫 Label the Sentence — Noun and Verb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240589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27–40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Write the noun and the verb in the jars below.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21821"/>
                </a:solidFill>
                <a:latin typeface="Georgia"/>
              </a:rPr>
              <a:t>The student mixes the solution.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5463540" cy="192024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246120"/>
            <a:ext cx="5463540" cy="45720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54635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5463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49149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70832"/>
            <a:ext cx="4914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3620" y="3246120"/>
            <a:ext cx="5463540" cy="19202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03620" y="3246120"/>
            <a:ext cx="5463540" cy="4572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3620" y="3319272"/>
            <a:ext cx="54635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3620" y="3794760"/>
            <a:ext cx="5463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7940" y="4206240"/>
            <a:ext cx="49149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7940" y="4370832"/>
            <a:ext cx="4914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76672"/>
            <a:ext cx="2651760" cy="420624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0984" y="5376672"/>
            <a:ext cx="26517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0984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5376672"/>
            <a:ext cx="2651760" cy="420624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552" y="5376672"/>
            <a:ext cx="26517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🧫 Label the Sentence — Add the Adjective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41728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27–40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Three jobs this time. The adjective describes a noun.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21821"/>
                </a:solidFill>
                <a:latin typeface="Georgia"/>
              </a:rPr>
              <a:t>The careful scientist measures the liquid.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3581399" cy="192024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246120"/>
            <a:ext cx="3581399" cy="45720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35813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581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3032759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70832"/>
            <a:ext cx="3032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1480" y="3246120"/>
            <a:ext cx="3581399" cy="19202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21480" y="3246120"/>
            <a:ext cx="3581399" cy="4572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1480" y="3319272"/>
            <a:ext cx="35813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1480" y="3794760"/>
            <a:ext cx="3581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5800" y="4206240"/>
            <a:ext cx="3032759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5800" y="4370832"/>
            <a:ext cx="3032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5759" y="3246120"/>
            <a:ext cx="3581399" cy="192024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85759" y="3246120"/>
            <a:ext cx="3581399" cy="457200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5759" y="3319272"/>
            <a:ext cx="35813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759" y="3794760"/>
            <a:ext cx="3581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0079" y="4206240"/>
            <a:ext cx="3032759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0079" y="4370832"/>
            <a:ext cx="3032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76672"/>
            <a:ext cx="2651760" cy="420624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00984" y="5376672"/>
            <a:ext cx="26517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00984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5376672"/>
            <a:ext cx="2651760" cy="420624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88552" y="5376672"/>
            <a:ext cx="26517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2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🧫 Label the Sentence — Add the Adverb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9397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27–40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The adverb tells you HOW the action was 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21821"/>
                </a:solidFill>
                <a:latin typeface="Georgia"/>
              </a:rPr>
              <a:t>The scientist carefully checks the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3581399" cy="192024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246120"/>
            <a:ext cx="3581399" cy="45720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35813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581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3032759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70832"/>
            <a:ext cx="3032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1480" y="3246120"/>
            <a:ext cx="3581399" cy="19202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21480" y="3246120"/>
            <a:ext cx="3581399" cy="4572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1480" y="3319272"/>
            <a:ext cx="35813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1480" y="3794760"/>
            <a:ext cx="3581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5800" y="4206240"/>
            <a:ext cx="3032759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5800" y="4370832"/>
            <a:ext cx="3032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5759" y="3246120"/>
            <a:ext cx="3581399" cy="192024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85759" y="3246120"/>
            <a:ext cx="3581399" cy="457200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5759" y="3319272"/>
            <a:ext cx="35813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759" y="3794760"/>
            <a:ext cx="3581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6828E"/>
                </a:solidFill>
                <a:latin typeface="Calibri"/>
              </a:rPr>
              <a:t>write the word here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0079" y="4206240"/>
            <a:ext cx="3032759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0079" y="4370832"/>
            <a:ext cx="3032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76672"/>
            <a:ext cx="2651760" cy="420624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00984" y="5376672"/>
            <a:ext cx="26517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00984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5376672"/>
            <a:ext cx="2651760" cy="420624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88552" y="5376672"/>
            <a:ext cx="26517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2" y="54223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🧪 Game: Grammar Sort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770663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27–40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Drop each word into the right beaker.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651760" cy="228600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2103120" cy="50292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0984" y="1737360"/>
            <a:ext cx="2651760" cy="228600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00984" y="1874519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75304" y="2606040"/>
            <a:ext cx="2103120" cy="5029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3246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737360"/>
            <a:ext cx="2651760" cy="228600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1874519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2606040"/>
            <a:ext cx="2103120" cy="502920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246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8552" y="1737360"/>
            <a:ext cx="2651760" cy="228600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8552" y="1874519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872" y="2606040"/>
            <a:ext cx="2103120" cy="502920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2872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3246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____________
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0624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WORDS TO SORT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17720"/>
            <a:ext cx="17373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scientist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59152" y="4617720"/>
            <a:ext cx="17373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4754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quickly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1104" y="4617720"/>
            <a:ext cx="17373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4" y="4754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experiment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3056" y="4617720"/>
            <a:ext cx="17373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4754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careful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5008" y="4617720"/>
            <a:ext cx="17373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5008" y="4754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measure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66960" y="4617720"/>
            <a:ext cx="17373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4754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21821"/>
                </a:solidFill>
                <a:latin typeface="Calibri"/>
              </a:rPr>
              <a:t>bright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57784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632703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623559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Try the word in a sentence. "A careful ____" proves it is an adjective.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⚡ Fast Lab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947354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27–40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Three quick rounds. Read, then pick one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121408"/>
            <a:ext cx="2011680" cy="47548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0370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 the VERB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920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The scientist carefully checks the experiment.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4323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4963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7C86"/>
                </a:solidFill>
                <a:latin typeface="Calibri"/>
              </a:rPr>
              <a:t>scientist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24323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4963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7C86"/>
                </a:solidFill>
                <a:latin typeface="Calibri"/>
              </a:rPr>
              <a:t>carefully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4323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4963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7C86"/>
                </a:solidFill>
                <a:latin typeface="Calibri"/>
              </a:rPr>
              <a:t>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3493008"/>
            <a:ext cx="2011680" cy="47548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7530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 the ADJECTIVE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291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The strange experiment surprised everyone.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8039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8679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strange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38039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38679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experiment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8039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8679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D4AA6"/>
                </a:solidFill>
                <a:latin typeface="Calibri"/>
              </a:rPr>
              <a:t>surprised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4864608"/>
            <a:ext cx="2011680" cy="47548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4690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 the ADVERB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663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The scientist carefully measured the liquid.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51755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52395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18B0E"/>
                </a:solidFill>
                <a:latin typeface="Calibri"/>
              </a:rPr>
              <a:t>scientist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51755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52395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18B0E"/>
                </a:solidFill>
                <a:latin typeface="Calibri"/>
              </a:rPr>
              <a:t>carefully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5175504"/>
            <a:ext cx="26974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52395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18B0E"/>
                </a:solidFill>
                <a:latin typeface="Calibri"/>
              </a:rPr>
              <a:t>measured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Say the four labels out loud before round 1 as a reminder.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CASE FILE UPDATED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🧫 Experiment Station Cleared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12404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27–40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You can name the job of any word in a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6313C"/>
                </a:solidFill>
                <a:latin typeface="Calibri"/>
              </a:rPr>
              <a:t>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6D4AA6"/>
                </a:solidFill>
                <a:latin typeface="Georgia"/>
              </a:rPr>
              <a:t>BADGE 2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6828E"/>
                </a:solidFill>
                <a:latin typeface="Calibri"/>
              </a:rPr>
              <a:t>⭐ detective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🏷️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Noun · verb · adjective · adverb.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Three sentences fully labelled.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Six words sorted into the right beaker.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Three fast rounds, no hints needed at the end.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B0E"/>
                </a:solidFill>
                <a:latin typeface="Calibri"/>
              </a:rPr>
              <a:t>➡️ NEXT 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Brain break, then the Research Table and verb tenses.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🧠 Brain Break — Scientist Says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00736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35–40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3C72"/>
                </a:solidFill>
                <a:latin typeface="Calibri"/>
              </a:rPr>
              <a:t>Stay by your chair. Only move if I say "Scientist says".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6313C"/>
                </a:solidFill>
                <a:latin typeface="Calibri"/>
              </a:rPr>
              <a:t>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03C72"/>
                </a:solidFill>
                <a:latin typeface="Georgia"/>
              </a:rPr>
              <a:t>5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6828E"/>
                </a:solidFill>
                <a:latin typeface="Calibri"/>
              </a:rPr>
              <a:t>then straight into verb tenses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5681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Stay beside your chair the whole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761488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932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9809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"Freeze!" means stop completely.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785616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8932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✏️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05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Half the calls are grammar calls.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809744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8932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The last two rounds, you call and I move.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Letting her give the commands is the part that resets her focus.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🥼 Scientist Says — Six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477428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35–40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3C72"/>
                </a:solidFill>
                <a:latin typeface="Calibri"/>
              </a:rPr>
              <a:t>Listen for "Scientist says" — then do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18872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665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214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116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Scientist says touch your notebook.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4963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3C72"/>
                </a:solidFill>
                <a:latin typeface="Calibri"/>
              </a:rPr>
              <a:t>movement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118872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20665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214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0116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Scientist says pretend to mix.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963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3C72"/>
                </a:solidFill>
                <a:latin typeface="Calibri"/>
              </a:rPr>
              <a:t>movement 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08960"/>
            <a:ext cx="5440680" cy="11887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34381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930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✏️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3832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Scientist says point to the VERB.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679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E7C86"/>
                </a:solidFill>
                <a:latin typeface="Calibri"/>
              </a:rPr>
              <a:t>grammar 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108960"/>
            <a:ext cx="5440680" cy="11887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34381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930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3832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Scientist says point to the NOUN.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8679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E7C86"/>
                </a:solidFill>
                <a:latin typeface="Calibri"/>
              </a:rPr>
              <a:t>grammar call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80560"/>
            <a:ext cx="5440680" cy="118872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48097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8646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7548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Scientist says freeze!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2395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3C72"/>
                </a:solidFill>
                <a:latin typeface="Calibri"/>
              </a:rPr>
              <a:t>movement 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480560"/>
            <a:ext cx="5440680" cy="11887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8097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8646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7548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Scientist says find the ADJECTIVE.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2395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E7C86"/>
                </a:solidFill>
                <a:latin typeface="Calibri"/>
              </a:rPr>
              <a:t>grammar call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Mix the order so she has to listen rather than predict.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35–40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🧊 Freeze! Now Find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54119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Experiment Station  |  35–40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One sentence, four quick finds. Point, do not write.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21821"/>
                </a:solidFill>
                <a:latin typeface="Georgia"/>
              </a:rPr>
              <a:t>The careful scientist quickly checked the strange sample.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2651760" cy="210312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2194560" cy="502920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 an ADJECTIVE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3291840"/>
            <a:ext cx="2651760" cy="21031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0984" y="347472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4114800"/>
            <a:ext cx="2194560" cy="5029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 the VERB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291840"/>
            <a:ext cx="2651760" cy="210312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347472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4114800"/>
            <a:ext cx="2194560" cy="502920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 the ADVERB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2" y="3291840"/>
            <a:ext cx="2651760" cy="21031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8552" y="347472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17152" y="4114800"/>
            <a:ext cx="2194560" cy="50292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Find a NOUN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754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62356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67842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66928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Two of these have more than one right answer. Either is fine.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⏳ Past, Now, Future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3081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Research Table  |  40–50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Same sentence, three different times.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365760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3566160" cy="56692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470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76828E"/>
                </a:solidFill>
                <a:latin typeface="Calibri"/>
              </a:rPr>
              <a:t>yesterday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2971800"/>
            <a:ext cx="2560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272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D4AA6"/>
                </a:solidFill>
                <a:latin typeface="Arial Black"/>
              </a:rPr>
              <a:t>checked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The scientist checked the experiment.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37360"/>
            <a:ext cx="3566160" cy="365760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1737360"/>
            <a:ext cx="3566160" cy="56692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18470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76828E"/>
                </a:solidFill>
                <a:latin typeface="Calibri"/>
              </a:rPr>
              <a:t>every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971800"/>
            <a:ext cx="2560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1272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E7C86"/>
                </a:solidFill>
                <a:latin typeface="Arial Black"/>
              </a:rPr>
              <a:t>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97763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The scientist checks the experiment.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37360"/>
            <a:ext cx="3566160" cy="365760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1737360"/>
            <a:ext cx="3566160" cy="56692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8470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76828E"/>
                </a:solidFill>
                <a:latin typeface="Calibri"/>
              </a:rPr>
              <a:t>tomorrow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2971800"/>
            <a:ext cx="2560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1272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18B0E"/>
                </a:solidFill>
                <a:latin typeface="Arial Black"/>
              </a:rPr>
              <a:t>will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7763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The scientist will check the experiment.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32120"/>
            <a:ext cx="11292840" cy="45720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614416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1821"/>
                </a:solidFill>
                <a:latin typeface="Calibri"/>
              </a:rPr>
              <a:t>PAST  ←——————  NOW  ——————→  FUTURE        -ed  ·  -s  ·  will + verb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⏱️ Time Machine — Which Tense Is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07501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Research Table  |  40–50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Look at the verb, then name the tense.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19751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scientist measures the liquid.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5420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find the verb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0299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1214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A.  Past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20299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1214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B.  Present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20299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1214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C.  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3467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The students recorded the result.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9136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find the verb first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4015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930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A.  Past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6760" y="34015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4930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B.  Present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34015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34930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C.  Future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7183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We will test the sample tomorrow.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2852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find the verb — it is two words here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47731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8646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A.  Past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66760" y="47731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48646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B.  Present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4773168"/>
            <a:ext cx="1627632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0" y="486460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1821"/>
                </a:solidFill>
                <a:latin typeface="Calibri"/>
              </a:rPr>
              <a:t>C.  Future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No time word in the sentence? Then the verb ending is the only clue.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⏪ Change It to the Past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184193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Research Table  |  40–50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Only the verb changes. Rewrite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3736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84248"/>
            <a:ext cx="155448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299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7C86"/>
                </a:solidFill>
                <a:latin typeface="Calibri"/>
              </a:rPr>
              <a:t>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9659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scientist measures the liquid.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06040"/>
            <a:ext cx="1554480" cy="402336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2560320"/>
            <a:ext cx="8961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74320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11292840" cy="173736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950207"/>
            <a:ext cx="155448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959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7C86"/>
                </a:solidFill>
                <a:latin typeface="Calibri"/>
              </a:rPr>
              <a:t>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931919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students record the result.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571999"/>
            <a:ext cx="1554480" cy="402336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1771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0" y="4526279"/>
            <a:ext cx="8961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4709159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Most past-tense verbs add -ed. Say it out loud to check.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⏩ Change It to the Future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360884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Research Table  |  40–50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Add one helper word in front of the verb.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3736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84248"/>
            <a:ext cx="155448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299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7C86"/>
                </a:solidFill>
                <a:latin typeface="Calibri"/>
              </a:rPr>
              <a:t>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9659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scientist measures the liquid.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06040"/>
            <a:ext cx="1554480" cy="402336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2560320"/>
            <a:ext cx="8961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74320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11292840" cy="173736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950207"/>
            <a:ext cx="155448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959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7C86"/>
                </a:solidFill>
                <a:latin typeface="Calibri"/>
              </a:rPr>
              <a:t>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931919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students record the result.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571999"/>
            <a:ext cx="1554480" cy="402336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1771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0" y="4526279"/>
            <a:ext cx="8961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4709159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Future needs "will" plus the plain verb — not "will measures".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⚡ Quick Challenge — Pick the Right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3757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Research Table  |  40–50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The time word tells you which verb to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15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15798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Yesterday, the scientist ____ the sample.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7249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underline the time 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21284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3042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21284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3042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checked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89534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1821"/>
                </a:solidFill>
                <a:latin typeface="Calibri"/>
              </a:rPr>
              <a:t>Tomorrow, we ____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622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clue: underline the time 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395020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0416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recorded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950208"/>
            <a:ext cx="2286000" cy="6400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0416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will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20640"/>
            <a:ext cx="11292840" cy="566928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395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4AA6"/>
                </a:solidFill>
                <a:latin typeface="Calibri"/>
              </a:rPr>
              <a:t>⭐ EXPERT CHALLENGE — Say the same sentence in all three tenses, without looking back.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Underline the time word first. It decides the answer.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CASE FILE UPDATED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📋 Research Table Cleared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714266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Research Table  |  40–50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You can move a sentence through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6313C"/>
                </a:solidFill>
                <a:latin typeface="Calibr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D18B0E"/>
                </a:solidFill>
                <a:latin typeface="Georgia"/>
              </a:rPr>
              <a:t>BADGE 3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6828E"/>
                </a:solidFill>
                <a:latin typeface="Calibri"/>
              </a:rPr>
              <a:t>⭐ detective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Past · present · future.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⏱️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Three tenses identified from the verb alone.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Two sentences rewritten in the past.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Two sentences rewritten in the future.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B0E"/>
                </a:solidFill>
                <a:latin typeface="Calibri"/>
              </a:rPr>
              <a:t>➡️ NEXT 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Mystery File — the passage, and the clues inside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📖 Open the Mystery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90958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Before we read: what do you think happened?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6313C"/>
                </a:solidFill>
                <a:latin typeface="Calibri"/>
              </a:rPr>
              <a:t>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03B3B"/>
                </a:solidFill>
                <a:latin typeface="Georgia"/>
              </a:rPr>
              <a:t>THE MYSTERY OF THE MISSING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6828E"/>
                </a:solidFill>
                <a:latin typeface="Calibri"/>
              </a:rPr>
              <a:t>five parts  ·  I read first, then we read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B3B"/>
                </a:solidFill>
                <a:latin typeface="Calibri"/>
              </a:rPr>
              <a:t>🤔 MAKE A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1945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There is no wrong answer here. A prediction is a smart guess.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2697480"/>
            <a:ext cx="6035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2862072"/>
            <a:ext cx="411480" cy="41148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898648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B3B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8036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1"/>
                </a:solidFill>
                <a:latin typeface="Calibri"/>
              </a:rPr>
              <a:t>Someone took it by mistake.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3566160"/>
            <a:ext cx="6035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0" y="3730752"/>
            <a:ext cx="411480" cy="41148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767328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B3B"/>
                </a:solidFill>
                <a:latin typeface="Calibr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4904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1"/>
                </a:solidFill>
                <a:latin typeface="Calibri"/>
              </a:rPr>
              <a:t>It rolled off the 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434840"/>
            <a:ext cx="6035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0" y="4599432"/>
            <a:ext cx="411480" cy="41148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4636008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B3B"/>
                </a:solidFill>
                <a:latin typeface="Calibr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1772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1"/>
                </a:solidFill>
                <a:latin typeface="Calibri"/>
              </a:rPr>
              <a:t>A teacher moved it on purpose.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5303520"/>
            <a:ext cx="6035040" cy="402336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536752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B0E"/>
                </a:solidFill>
                <a:latin typeface="Calibri"/>
              </a:rPr>
              <a:t>Write your prediction down. We will check it at the end.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Predicting first gives her a reason to read carefully.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📖 The Mystery of the Missing Sample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067649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474720" cy="434340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834640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9352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7C86"/>
                </a:solidFill>
                <a:latin typeface="Calibri"/>
              </a:rPr>
              <a:t>PART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2926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🔎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How many jars did Mr. Alvarez place on the table?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280160"/>
            <a:ext cx="75438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361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Mr. Alvarez's science class was getting ready for an important experiment. On the long table at the front of the room, he placed six small jars.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07791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Each jar had a neat white label. Inside the jars were different samples the class would study that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793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Mr. Alvarez reminded everyone to handle the samples carefully. Then he sent the students to the supply closet to collect goggles and notebooks.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MODEL  ·  I show you 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TRY  ·  we do one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GO  ·  your turn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📖 The Mystery of the Missing Sample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24434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474720" cy="434340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6313C"/>
                </a:solidFill>
                <a:latin typeface="Calibri"/>
              </a:rPr>
              <a:t>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834640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9352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4B9B"/>
                </a:solidFill>
                <a:latin typeface="Calibri"/>
              </a:rPr>
              <a:t>PART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2926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4B9B"/>
                </a:solidFill>
                <a:latin typeface="Calibri"/>
              </a:rPr>
              <a:t>🔎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Which jar was missing?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280160"/>
            <a:ext cx="75438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361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When the students came back, something was wrong. Maya counted the jars out loud. "One, two, three, four, five."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07791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She counted again, more slowly. There were only five jars on the table. The jar labeled Sample C was gone.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793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For a moment nobody spoke. Then Mr. Alvarez smiled and said, "You are scientists. Observe the room and gather evidence."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MODEL  ·  I show you 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TRY  ·  we do one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GO  ·  your turn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📖 The Mystery of the Missing Sample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421031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474720" cy="434340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834640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9352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4AA6"/>
                </a:solidFill>
                <a:latin typeface="Calibri"/>
              </a:rPr>
              <a:t>PART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2926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4AA6"/>
                </a:solidFill>
                <a:latin typeface="Calibri"/>
              </a:rPr>
              <a:t>🔎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Name one clue the students found.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280160"/>
            <a:ext cx="75438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361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The students began to investigate. Maya walked slowly around the table and wrote down everything she noticed.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07791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Ben found a small wet mark on the floor near the sink. Priya noticed that the door of the tall cabinet was open, even though it had been closed before.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793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Each clue was written carefully in a notebook. The students were not guessing now. They were collecting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MODEL  ·  I show you 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TRY  ·  we do one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GO  ·  your turn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📖 The Mystery of the Missing Sample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59772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474720" cy="434340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6313C"/>
                </a:solidFill>
                <a:latin typeface="Calibri"/>
              </a:rPr>
              <a:t>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834640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9352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18B0E"/>
                </a:solidFill>
                <a:latin typeface="Calibri"/>
              </a:rPr>
              <a:t>PART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2926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18B0E"/>
                </a:solidFill>
                <a:latin typeface="Calibri"/>
              </a:rPr>
              <a:t>🔎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Why does a cold jar leave a wet mark?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280160"/>
            <a:ext cx="75438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361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"A wet mark could mean someone carried something cold," Maya said. "Cold things sweat when they sit in warm air."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07791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Ben nodded and looked at the open cabinet. Inside the cabinet was the small refrigerator the class used for storage.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793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Priya opened the refrigerator door. There, on the middle shelf, sat the missing jar. The label read Sample 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MODEL  ·  I show you 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TRY  ·  we do one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GO  ·  your turn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📖 The Mystery of the Missing Sample — Part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774414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474720" cy="434340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6313C"/>
                </a:solidFill>
                <a:latin typeface="Calibri"/>
              </a:rPr>
              <a:t>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834640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9352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3C72"/>
                </a:solidFill>
                <a:latin typeface="Calibri"/>
              </a:rPr>
              <a:t>PART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2926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3C72"/>
                </a:solidFill>
                <a:latin typeface="Calibri"/>
              </a:rPr>
              <a:t>🔎 QUICK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Why was the sample moved?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280160"/>
            <a:ext cx="75438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361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Mr. Alvarez explained that he had moved the jar himself. Sample C had to stay cold, or the result of the experiment would be wrong.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07791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"You did not guess," he said. "You observed, you collected evidence, and you reached a conclusion. That is how real scientists solve a mystery."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79392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21821"/>
                </a:solidFill>
                <a:latin typeface="Calibri"/>
              </a:rPr>
              <a:t>Maya wrote one last line in her notebook: Careful observation finds the answer.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MODEL  ·  I show you 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TRY  ·  we do one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GO  ·  your turn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💡 Main Idea and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95110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The main idea covers the WHOLE passage, not one detail.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9164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18B0E"/>
                </a:solidFill>
                <a:latin typeface="Calibri"/>
              </a:rPr>
              <a:t>WHICH ONE IS THE MAIN IDEA?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112928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176272"/>
            <a:ext cx="457200" cy="402336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22199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8B0E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185416"/>
            <a:ext cx="9692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How to label jars in a science 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88920"/>
            <a:ext cx="112928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2907792"/>
            <a:ext cx="457200" cy="402336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5351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8B0E"/>
                </a:solidFill>
                <a:latin typeface="Calibri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916936"/>
            <a:ext cx="9692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Students use observation and evidence to find a missing sample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20440"/>
            <a:ext cx="112928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639312"/>
            <a:ext cx="457200" cy="402336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850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18B0E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648456"/>
            <a:ext cx="9692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A class trip to the supply closet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NOW SUMMARISE IT IN THREE LINES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63440"/>
            <a:ext cx="11292840" cy="384048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In the story, ______ went missing.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02352"/>
            <a:ext cx="11292840" cy="384048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4807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The students ______ the room and found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541264"/>
            <a:ext cx="11292840" cy="384048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58698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In the end, ______ because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089903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080759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Too broad or too narrow? Ask: does this cover all five parts?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🔎 Clue Detective — Q1 and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Answer from the passage, not from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What went missing?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the answer is in Part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5000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5000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sample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5000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pencil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What clue did Ben find?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the answer is in Part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251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wet mark near the sink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251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An open window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251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broken jar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Turn back to the part named under the question. She finds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🔎 Clue Detective — Q3 and Q4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304487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Two more. Point to the line that proves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Why was the sample moved?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the answer is in Part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5000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It had to stay cold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5000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It was broken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5000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It was not needed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6313C"/>
                </a:solidFill>
                <a:latin typeface="Calibri"/>
              </a:rPr>
              <a:t>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108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Where did they find it?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the answer is in Part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251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In the refrigerator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251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In the sink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251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In the closet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Cover one wrong option. Two choices is still real thinking.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🔢 Sequence the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81179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These four events are out of order. Number them 1 to 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12264"/>
            <a:ext cx="530352" cy="530352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6712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939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1821"/>
                </a:solidFill>
                <a:latin typeface="Calibri"/>
              </a:rPr>
              <a:t>Students notice clues.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093976"/>
            <a:ext cx="731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185416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6828E"/>
                </a:solidFill>
                <a:latin typeface="Calibri"/>
              </a:rPr>
              <a:t>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2112264"/>
            <a:ext cx="530352" cy="530352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16712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0939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1821"/>
                </a:solidFill>
                <a:latin typeface="Calibri"/>
              </a:rPr>
              <a:t>A sample is missing.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2093976"/>
            <a:ext cx="731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2185416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6828E"/>
                </a:solidFill>
                <a:latin typeface="Calibri"/>
              </a:rPr>
              <a:t>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483864"/>
            <a:ext cx="530352" cy="530352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53872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4655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1821"/>
                </a:solidFill>
                <a:latin typeface="Calibri"/>
              </a:rPr>
              <a:t>They investigate.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3465576"/>
            <a:ext cx="731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557016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6828E"/>
                </a:solidFill>
                <a:latin typeface="Calibri"/>
              </a:rPr>
              <a:t>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46520" y="3483864"/>
            <a:ext cx="530352" cy="530352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53872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4655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1821"/>
                </a:solidFill>
                <a:latin typeface="Calibri"/>
              </a:rPr>
              <a:t>They find the sample.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07040" y="3465576"/>
            <a:ext cx="731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3557016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6828E"/>
                </a:solidFill>
                <a:latin typeface="Calibri"/>
              </a:rPr>
              <a:t>___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92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70916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4B9B"/>
                </a:solidFill>
                <a:latin typeface="Calibri"/>
              </a:rPr>
              <a:t>WRITE THE ORDER 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828E"/>
                </a:solidFill>
                <a:latin typeface="Calibri"/>
              </a:rPr>
              <a:t>____  →  ____  →  ____  →  ____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Ask which one had to happen first. Nothing else works without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🔎 Show Me the Clue!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65787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Do not tell me the answer. Point to the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21408"/>
            <a:ext cx="475488" cy="475488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762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8836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How do you know the sample was moved on purpose?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5420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25877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B3B"/>
                </a:solidFill>
                <a:latin typeface="Calibri"/>
              </a:rPr>
              <a:t>look in Part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0116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1031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B3B"/>
                </a:solidFill>
                <a:latin typeface="Calibri"/>
              </a:rPr>
              <a:t>🔎  Go back, point to the line, then read it out loud.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3957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☐ found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493008"/>
            <a:ext cx="475488" cy="475488"/>
          </a:xfrm>
          <a:prstGeom prst="ellipse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2552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How do you know the jar had been cold?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39136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18B0E"/>
                </a:solidFill>
                <a:latin typeface="Calibri"/>
              </a:rPr>
              <a:t>look in Part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3832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4747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18B0E"/>
                </a:solidFill>
                <a:latin typeface="Calibri"/>
              </a:rPr>
              <a:t>🔎  Go back, point to the line, then read it out loud.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67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☐ found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864608"/>
            <a:ext cx="475488" cy="475488"/>
          </a:xfrm>
          <a:prstGeom prst="ellipse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94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626864"/>
            <a:ext cx="4297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1821"/>
                </a:solidFill>
                <a:latin typeface="Calibri"/>
              </a:rPr>
              <a:t>How do you know the students did not guess?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5285232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3309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4AA6"/>
                </a:solidFill>
                <a:latin typeface="Calibri"/>
              </a:rPr>
              <a:t>look in Part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754880"/>
            <a:ext cx="5623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8463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AA6"/>
                </a:solidFill>
                <a:latin typeface="Calibri"/>
              </a:rPr>
              <a:t>🔎  Go back, point to the line, then read it out loud.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51389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☐ found 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07024"/>
            <a:ext cx="11292840" cy="402336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7103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Evidence means a line from the text. "I just think so" is not evidence — that is the whole point of this slide.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✅ True or False?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34561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Decide, then say which part told you.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52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30552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85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112264"/>
            <a:ext cx="6309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The students immediately knew where the sample was.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093976"/>
            <a:ext cx="164592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194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86"/>
                </a:solidFill>
                <a:latin typeface="Calibri"/>
              </a:rPr>
              <a:t>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093976"/>
            <a:ext cx="1645920" cy="54864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194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B3B"/>
                </a:solidFill>
                <a:latin typeface="Calibri"/>
              </a:rPr>
              <a:t>FALSE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08960"/>
            <a:ext cx="11292840" cy="1152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456432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112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438144"/>
            <a:ext cx="6309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Ben found a wet mark on the floor near the sink.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419856"/>
            <a:ext cx="164592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520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86"/>
                </a:solidFill>
                <a:latin typeface="Calibri"/>
              </a:rPr>
              <a:t>TRUE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3419856"/>
            <a:ext cx="1645920" cy="54864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520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B3B"/>
                </a:solidFill>
                <a:latin typeface="Calibri"/>
              </a:rPr>
              <a:t>FALSE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34840"/>
            <a:ext cx="11292840" cy="1152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782312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371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764024"/>
            <a:ext cx="6309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Mr. Alvarez had moved the sample himself.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745736"/>
            <a:ext cx="1645920" cy="54864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4846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86"/>
                </a:solidFill>
                <a:latin typeface="Calibri"/>
              </a:rPr>
              <a:t>TRUE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745736"/>
            <a:ext cx="1645920" cy="54864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846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B3B"/>
                </a:solidFill>
                <a:latin typeface="Calibri"/>
              </a:rPr>
              <a:t>FALSE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"Immediately" is the word that decides number 1. Reread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🧠 Make an Inference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1125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An inference is a conclusion you build from clues.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21821"/>
                </a:solidFill>
                <a:latin typeface="Georgia"/>
              </a:rPr>
              <a:t>What can we infer about these students?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11292840" cy="73152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907792"/>
            <a:ext cx="457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5351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D4AA6"/>
                </a:solidFill>
                <a:latin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07792"/>
            <a:ext cx="969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1821"/>
                </a:solidFill>
                <a:latin typeface="Calibri"/>
              </a:rPr>
              <a:t>They gave up quickly.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84448"/>
            <a:ext cx="11292840" cy="73152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749040"/>
            <a:ext cx="457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9476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D4AA6"/>
                </a:solidFill>
                <a:latin typeface="Calibr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49040"/>
            <a:ext cx="969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1821"/>
                </a:solidFill>
                <a:latin typeface="Calibri"/>
              </a:rPr>
              <a:t>They investigated carefully.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25696"/>
            <a:ext cx="11292840" cy="73152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590288"/>
            <a:ext cx="457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3600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D4AA6"/>
                </a:solidFill>
                <a:latin typeface="Calibr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90288"/>
            <a:ext cx="969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21821"/>
                </a:solidFill>
                <a:latin typeface="Calibri"/>
              </a:rPr>
              <a:t>They ignored the clues.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49240"/>
            <a:ext cx="11292840" cy="77724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5896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B0E"/>
                </a:solidFill>
                <a:latin typeface="Calibri"/>
              </a:rPr>
              <a:t>⭐ EXPERT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6072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The passage never says "the students were careful". So which clues made you choose your answer?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CASE FILE UPDATED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60–70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📖 Mystery File Cleared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87944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Mystery File  |  60–70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You read the case and proved your answers.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6313C"/>
                </a:solidFill>
                <a:latin typeface="Calibri"/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C03B3B"/>
                </a:solidFill>
                <a:latin typeface="Georgia"/>
              </a:rPr>
              <a:t>BADGE 4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6828E"/>
                </a:solidFill>
                <a:latin typeface="Calibri"/>
              </a:rPr>
              <a:t>⭐ detective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A 314-word passage, all five parts.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Main idea, details and a three-line summary.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Four questions, plus the evidence for each.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821"/>
                </a:solidFill>
                <a:latin typeface="Calibri"/>
              </a:rPr>
              <a:t>One real inference, built from clues.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18B0E"/>
                </a:solidFill>
                <a:latin typeface="Calibri"/>
              </a:rPr>
              <a:t>➡️ NEXT 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Detective HQ — edit the report, then present the case.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🧩 Grammar Lab Editor — Fix the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6463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70–78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These lines came from the case report. Repair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2029968"/>
            <a:ext cx="1371600" cy="402336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207568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B3B"/>
                </a:solidFill>
                <a:latin typeface="Calibri"/>
              </a:rPr>
              <a:t>❌ BROKEN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students was ready.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2029968"/>
            <a:ext cx="2103120" cy="402336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0756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6828E"/>
                </a:solidFill>
                <a:latin typeface="Calibri"/>
              </a:rPr>
              <a:t>plural subject → were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2606040"/>
            <a:ext cx="10241280" cy="71323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alibri"/>
              </a:rPr>
              <a:t>✅ NOW FIX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926080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____________________________________________________________________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3995928"/>
            <a:ext cx="1371600" cy="402336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0416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B3B"/>
                </a:solidFill>
                <a:latin typeface="Calibri"/>
              </a:rPr>
              <a:t>❌ BROKEN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977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scientist check the sample.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18320" y="3995928"/>
            <a:ext cx="2103120" cy="402336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04164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6828E"/>
                </a:solidFill>
                <a:latin typeface="Calibri"/>
              </a:rPr>
              <a:t>singular subject →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4572000"/>
            <a:ext cx="10241280" cy="71323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4636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alibri"/>
              </a:rPr>
              <a:t>✅ NOW FIX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892040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____________________________________________________________________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2531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9161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Same rule as before: find the subject, then check the verb.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🏷️ Label the Report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41326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70–78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Two story sentences. Write one word in each box.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96596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019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Georgia"/>
              </a:rPr>
              <a:t>The students carefully looked at the clues.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78608"/>
            <a:ext cx="3383280" cy="969264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578608"/>
            <a:ext cx="338328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334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054096"/>
            <a:ext cx="24688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127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578608"/>
            <a:ext cx="3383280" cy="96926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2578608"/>
            <a:ext cx="338328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6334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054096"/>
            <a:ext cx="24688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127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2578608"/>
            <a:ext cx="3383280" cy="969264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80" y="2578608"/>
            <a:ext cx="338328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26334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3054096"/>
            <a:ext cx="24688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127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11292840" cy="196596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50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Georgia"/>
              </a:rPr>
              <a:t>The strange sample was cold.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27448"/>
            <a:ext cx="3383280" cy="969264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727448"/>
            <a:ext cx="338328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7823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5202936"/>
            <a:ext cx="24688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52760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4727448"/>
            <a:ext cx="3383280" cy="969264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43400" y="4727448"/>
            <a:ext cx="338328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7823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5202936"/>
            <a:ext cx="24688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52760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80" y="4727448"/>
            <a:ext cx="3383280" cy="96926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55280" y="4727448"/>
            <a:ext cx="338328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0" y="47823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5202936"/>
            <a:ext cx="246888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52760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6828E"/>
                </a:solidFill>
                <a:latin typeface="Calibri"/>
              </a:rPr>
              <a:t>____________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870448"/>
            <a:ext cx="2651760" cy="420624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916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00984" y="5870448"/>
            <a:ext cx="265176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00984" y="5916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4768" y="5870448"/>
            <a:ext cx="2651760" cy="420624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4768" y="5916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ADJECTIVE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88552" y="5870448"/>
            <a:ext cx="265176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88552" y="5916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ADVERB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✒️ Editor's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18017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70–78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Three things are wrong here. Find all three.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09728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B3B"/>
                </a:solidFill>
                <a:latin typeface="Calibri"/>
              </a:rPr>
              <a:t>❌ AS WRITTEN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214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1821"/>
                </a:solidFill>
                <a:latin typeface="Georgia"/>
              </a:rPr>
              <a:t>the students found sample c in the refrigerator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3566160" cy="155448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758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18B0E"/>
                </a:solidFill>
                <a:latin typeface="Calibri"/>
              </a:rPr>
              <a:t>Capital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313C"/>
                </a:solidFill>
                <a:latin typeface="Calibri"/>
              </a:rPr>
              <a:t>Every sentence starts with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971800"/>
            <a:ext cx="3566160" cy="155448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31272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⏹️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6758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18B0E"/>
                </a:solidFill>
                <a:latin typeface="Calibri"/>
              </a:rPr>
              <a:t>End punctuation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0690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313C"/>
                </a:solidFill>
                <a:latin typeface="Calibri"/>
              </a:rPr>
              <a:t>A statement ends with a period.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971800"/>
            <a:ext cx="3566160" cy="155448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1272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6758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18B0E"/>
                </a:solidFill>
                <a:latin typeface="Calibri"/>
              </a:rPr>
              <a:t>Names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690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313C"/>
                </a:solidFill>
                <a:latin typeface="Calibri"/>
              </a:rPr>
              <a:t>Proper nouns need a capital too.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60"/>
            <a:ext cx="11292840" cy="9601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188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✅ NOW WRITE IT CORRECTLY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______________________________________________________________________________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Read it aloud as a finished sentence. What is missing at the start, in the middle and at the end?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78–84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🎤 Junior Science Reporter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894708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78–84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3C72"/>
                </a:solidFill>
                <a:latin typeface="Calibri"/>
              </a:rPr>
              <a:t>You are reporting the case. Three questions to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737360"/>
            <a:ext cx="3566160" cy="56692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470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WHAT HAPPENED?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6313C"/>
                </a:solidFill>
                <a:latin typeface="Calibri"/>
              </a:rPr>
              <a:t>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Say it in one sentence.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30175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
______________
______________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37360"/>
            <a:ext cx="3566160" cy="393192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1737360"/>
            <a:ext cx="3566160" cy="56692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18470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WHAT WAS THE CLUE?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5146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Name one piece of evidence.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840480"/>
            <a:ext cx="30175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
______________
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37360"/>
            <a:ext cx="3566160" cy="39319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1737360"/>
            <a:ext cx="3566160" cy="56692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8470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WHAT WAS THE RESULT?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5146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6313C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How did it end, and why?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840480"/>
            <a:ext cx="30175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828E"/>
                </a:solidFill>
                <a:latin typeface="Calibri"/>
              </a:rPr>
              <a:t>______________
______________
______________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She can write notes here first, then speak from them.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78–84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✍️ Sentence Starters and Short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7140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78–84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57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Finish each line in your own words.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19072"/>
            <a:ext cx="11292840" cy="80467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1883664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385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The sample was ______.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874520"/>
            <a:ext cx="5806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19568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33472"/>
            <a:ext cx="11292840" cy="80467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2798064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8529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8163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The students noticed ______.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2788920"/>
            <a:ext cx="5806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28712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47872"/>
            <a:ext cx="11292840" cy="80467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712464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673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7307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They discovered ______.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3703320"/>
            <a:ext cx="5806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37856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62272"/>
            <a:ext cx="11292840" cy="804672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626864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817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6451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This matters because ______.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4617720"/>
            <a:ext cx="5806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47000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94960"/>
            <a:ext cx="11292840" cy="512064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4AA6"/>
                </a:solidFill>
                <a:latin typeface="Calibri"/>
              </a:rPr>
              <a:t>⭐ EXPERT CHALLENGE — Join two of your lines with "because" or "so" to make one longer sentence.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98464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053327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044183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Accept her wording. Fix only the grammar, not the ideas.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78–84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🎤 Speaking Challenge — Present the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48091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78–84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58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3C72"/>
                </a:solidFill>
                <a:latin typeface="Calibri"/>
              </a:rPr>
              <a:t>Three or four sentences, out loud, no notes if you can.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 i="0">
                <a:solidFill>
                  <a:srgbClr val="26313C"/>
                </a:solidFill>
                <a:latin typeface="Calibri"/>
              </a:rPr>
              <a:t>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B03C72"/>
                </a:solidFill>
                <a:latin typeface="Georgia"/>
              </a:rPr>
              <a:t>"Here is what we found."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start with this line if you get stuck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1️⃣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5681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1"/>
                </a:solidFill>
                <a:latin typeface="Calibri"/>
              </a:rPr>
              <a:t>Say what happened.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3C72"/>
                </a:solidFill>
                <a:latin typeface="Calibri"/>
              </a:rPr>
              <a:t>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2761488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2️⃣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809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1"/>
                </a:solidFill>
                <a:latin typeface="Calibri"/>
              </a:rPr>
              <a:t>Name one clue.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9626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3C72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3785616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3️⃣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050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1"/>
                </a:solidFill>
                <a:latin typeface="Calibri"/>
              </a:rPr>
              <a:t>Say where it was found.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39867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3C72"/>
                </a:solidFill>
                <a:latin typeface="Calibri"/>
              </a:rPr>
              <a:t>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4809744"/>
            <a:ext cx="6035040" cy="877824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4️⃣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821"/>
                </a:solidFill>
                <a:latin typeface="Calibri"/>
              </a:rPr>
              <a:t>Say why it had been moved.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5010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3C72"/>
                </a:solidFill>
                <a:latin typeface="Calibri"/>
              </a:rPr>
              <a:t>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Prompt with a question, never with the sentence itself.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84–88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⚡ Final Lab Game — Grammar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2478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84–88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59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Two sentences. Pick the verb that agrees.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377440"/>
            <a:ext cx="475488" cy="475488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3230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33172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scientist ____ the sample.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304288"/>
            <a:ext cx="2194560" cy="64008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404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304288"/>
            <a:ext cx="2194560" cy="64008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404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112928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206240"/>
            <a:ext cx="475488" cy="475488"/>
          </a:xfrm>
          <a:prstGeom prst="ellipse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16052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students ____ the result.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4133088"/>
            <a:ext cx="2194560" cy="64008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233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A. 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4133088"/>
            <a:ext cx="2194560" cy="64008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4233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1821"/>
                </a:solidFill>
                <a:latin typeface="Calibri"/>
              </a:rPr>
              <a:t>B.  record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Hints are still allowed. Finishing the case is what counts.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84–88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⚡ Final Lab Game — Reading and Vocabulary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01473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84–88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60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One reading question, two word questions.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005840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B3B"/>
                </a:solidFill>
                <a:latin typeface="Calibri"/>
              </a:rPr>
              <a:t>📖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214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1821"/>
                </a:solidFill>
                <a:latin typeface="Calibri"/>
              </a:rPr>
              <a:t>What was missing from the table, and where was it found?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80360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44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What does EVIDENCE mean?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5701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📚 vocabulary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172968"/>
            <a:ext cx="2057400" cy="69494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28269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clue or information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172968"/>
            <a:ext cx="2057400" cy="69494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28269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kind of food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3172968"/>
            <a:ext cx="2057400" cy="69494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328269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A game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43400"/>
            <a:ext cx="11292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079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1821"/>
                </a:solidFill>
                <a:latin typeface="Calibri"/>
              </a:rPr>
              <a:t>What does PREDICT mean?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2005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📚 vocabulary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4636008"/>
            <a:ext cx="2057400" cy="69494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474573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To look closely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4636008"/>
            <a:ext cx="2057400" cy="69494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474573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To say what will happen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4636008"/>
            <a:ext cx="2057400" cy="69494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74573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821"/>
                </a:solidFill>
                <a:latin typeface="Calibri"/>
              </a:rPr>
              <a:t>To measure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Ask her to use the word in a sentence after she picks.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84–88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⚡ Final Lab Game — Tense and Speaking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77816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84–88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61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One rewrite, then one sentence of your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73736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38528"/>
            <a:ext cx="155448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842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7C86"/>
                </a:solidFill>
                <a:latin typeface="Calibri"/>
              </a:rPr>
              <a:t>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9202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1821"/>
                </a:solidFill>
                <a:latin typeface="Calibri"/>
              </a:rPr>
              <a:t>The scientist checks the sample.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1554480" cy="402336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2514600"/>
            <a:ext cx="89611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69748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6828E"/>
                </a:solidFill>
                <a:latin typeface="Calibri"/>
              </a:rPr>
              <a:t>______________________________________________________________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11292840" cy="201168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22191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3C72"/>
                </a:solidFill>
                <a:latin typeface="Calibri"/>
              </a:rPr>
              <a:t>🎤 SPEAKING — finish this sentence out 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21821"/>
                </a:solidFill>
                <a:latin typeface="Georgia"/>
              </a:rPr>
              <a:t>Scientists ______ because ______.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983480"/>
            <a:ext cx="106070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0235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6828E"/>
                </a:solidFill>
                <a:latin typeface="Calibri"/>
              </a:rPr>
              <a:t>example:  Scientists observe carefully because small clues matter.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Any sensible reason is correct. The "because" half is the real task.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11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313C"/>
                </a:solidFill>
                <a:latin typeface="Calibr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11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313C"/>
                </a:solidFill>
                <a:latin typeface="Calibri"/>
              </a:rP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83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313C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4983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313C"/>
                </a:solidFill>
                <a:latin typeface="Calibri"/>
              </a:rP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26313C"/>
                </a:solidFill>
                <a:latin typeface="Calibri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JUNIOR SCIENCE DETECTIVE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FD3D8"/>
                </a:solidFill>
                <a:latin typeface="Calibri"/>
              </a:rPr>
              <a:t>You solved the mystery — with evidence, not guesses.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291840"/>
            <a:ext cx="1783080" cy="137160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4728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9592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Grammar Detective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1783080" cy="137160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44728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313C"/>
                </a:solidFill>
                <a:latin typeface="Calibri"/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99592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Reading Detective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291840"/>
            <a:ext cx="1783080" cy="137160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4728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99592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Evidence Finder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19" y="3291840"/>
            <a:ext cx="1783080" cy="137160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344728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313C"/>
                </a:solidFill>
                <a:latin typeface="Calibri"/>
              </a:rP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7" y="399592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Vocabulary Explorer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291840"/>
            <a:ext cx="1783080" cy="1371600"/>
          </a:xfrm>
          <a:prstGeom prst="roundRect">
            <a:avLst/>
          </a:prstGeom>
          <a:solidFill>
            <a:srgbClr val="1D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44728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313C"/>
                </a:solidFill>
                <a:latin typeface="Calibri"/>
              </a:rPr>
              <a:t>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99592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Junior Reporter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4846320"/>
            <a:ext cx="7406640" cy="10515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102352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 i="0">
                <a:solidFill>
                  <a:srgbClr val="FFFFFF"/>
                </a:solidFill>
                <a:latin typeface="Georgia"/>
              </a:rPr>
              <a:t>"I READ. I THINK. I SOLVE!"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94360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FD3D8"/>
                </a:solidFill>
                <a:latin typeface="Calibri"/>
              </a:rPr>
              <a:t>I CAN READ, THINK, AND SOLVE LIKE A SCIENTIST!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0954856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88–90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62 / 69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88–90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✅ Today I Can...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131547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  |  88–90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63 /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Tick every one you did today. Read them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922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1783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Reading fluency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81965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five parts, read aloud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78308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9164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922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7830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Main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1965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observation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178308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42316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5237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25146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Supporting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5511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wet mark · open cabinet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51460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42316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237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5146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511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pointing to the 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251460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15468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25526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24612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Inference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32826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they investigated carefully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24612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15468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5526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24612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Sequencing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2826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B → A → C → 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324612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8620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98678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39776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Vocabulary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40142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16 science words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0680" y="397764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388620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98678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✏️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39776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Subject-verb agreement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0142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scientist works · scientists 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397764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61772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71830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" y="470916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Verb tense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0440" y="474573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checks · checked · will check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40680" y="470916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461772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71830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🏷️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470916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Parts of speech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474573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noun · verb · adjective · adverb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470916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349240"/>
            <a:ext cx="5440680" cy="64008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4498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313C"/>
                </a:solidFill>
                <a:latin typeface="Calibri"/>
              </a:rPr>
              <a:t>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54406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821"/>
                </a:solidFill>
                <a:latin typeface="Calibri"/>
              </a:rPr>
              <a:t>Speaking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20440" y="547725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828E"/>
                </a:solidFill>
                <a:latin typeface="Calibri"/>
              </a:rPr>
              <a:t>you reported the case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40680" y="544068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alibri"/>
              </a:rPr>
              <a:t>☐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6089904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61447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0" y="6135624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Read the list aloud together. Hearing the whole list matters.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🎲 Extra Game Bank — If There Is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308238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64 / 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Five spare games. Use any of them, in any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3566160" cy="4572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1 — WORD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6313C"/>
                </a:solidFill>
                <a:latin typeface="Calibri"/>
              </a:rP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E-V-D-I-E-N-C-E — which word is 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20440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3016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7C86"/>
                </a:solidFill>
                <a:latin typeface="Calibri"/>
              </a:rPr>
              <a:t>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33672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7C86"/>
                </a:solidFill>
                <a:latin typeface="Calibri"/>
              </a:rPr>
              <a:t>EVIDENT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46904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566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7C86"/>
                </a:solidFill>
                <a:latin typeface="Calibri"/>
              </a:rPr>
              <a:t>EVENING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1737360"/>
            <a:ext cx="3566160" cy="3931920"/>
          </a:xfrm>
          <a:prstGeom prst="roundRect">
            <a:avLst/>
          </a:prstGeom>
          <a:solidFill>
            <a:srgbClr val="E8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1737360"/>
            <a:ext cx="3566160" cy="457200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2 — GRAMMAR OR NOT?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6313C"/>
                </a:solidFill>
                <a:latin typeface="Calibri"/>
              </a:rPr>
              <a:t>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Correct, or needs fixing?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1728" y="3520440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63016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4B9B"/>
                </a:solidFill>
                <a:latin typeface="Calibri"/>
              </a:rPr>
              <a:t>The samples was cold.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1728" y="4233672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34340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4B9B"/>
                </a:solidFill>
                <a:latin typeface="Calibri"/>
              </a:rPr>
              <a:t>The sample was cold.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1737360"/>
            <a:ext cx="3566160" cy="393192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74736" y="1737360"/>
            <a:ext cx="3566160" cy="457200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3 — FIND THE 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6313C"/>
                </a:solidFill>
                <a:latin typeface="Calibri"/>
              </a:rPr>
              <a:t>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Find "sample" in Part 2.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0496" y="3520440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363016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4AA6"/>
                </a:solidFill>
                <a:latin typeface="Calibri"/>
              </a:rPr>
              <a:t>read it aloud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0496" y="4233672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0496" y="434340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4AA6"/>
                </a:solidFill>
                <a:latin typeface="Calibri"/>
              </a:rPr>
              <a:t>then read the sentence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Every game reuses today's words and sentences. Nothing new.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🎲 Extra Game Bank — Two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48493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65 / 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4AA6"/>
                </a:solidFill>
                <a:latin typeface="Calibri"/>
              </a:rPr>
              <a:t>One sentence puzzle and one evidence game.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3566160" cy="457200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4 — SENTENCE PUZZLE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6313C"/>
                </a:solidFill>
                <a:latin typeface="Calibr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scientist / the / carefully / 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20440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3016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18B0E"/>
                </a:solidFill>
                <a:latin typeface="Calibri"/>
              </a:rPr>
              <a:t>The scientist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33672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18B0E"/>
                </a:solidFill>
                <a:latin typeface="Calibri"/>
              </a:rPr>
              <a:t>carefully.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737360"/>
            <a:ext cx="3566160" cy="3931920"/>
          </a:xfrm>
          <a:prstGeom prst="roundRect">
            <a:avLst/>
          </a:prstGeom>
          <a:solidFill>
            <a:srgbClr val="F9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5968" y="1737360"/>
            <a:ext cx="3566160" cy="457200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5 — CLUE OR NOT?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2860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6313C"/>
                </a:solidFill>
                <a:latin typeface="Calibri"/>
              </a:rP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1821"/>
                </a:solidFill>
                <a:latin typeface="Calibri"/>
              </a:rPr>
              <a:t>Does it connect to the mystery?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3520440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63016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3C72"/>
                </a:solidFill>
                <a:latin typeface="Calibri"/>
              </a:rPr>
              <a:t>Wet mark near sink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1728" y="4233672"/>
            <a:ext cx="2834640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34340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3C72"/>
                </a:solidFill>
                <a:latin typeface="Calibri"/>
              </a:rPr>
              <a:t>A blue notebook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1737360"/>
            <a:ext cx="3566160" cy="393192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AA6"/>
                </a:solidFill>
                <a:latin typeface="Calibri"/>
              </a:rPr>
              <a:t>WHEN TO USE THESE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37744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26313C"/>
                </a:solidFill>
                <a:latin typeface="Calibri"/>
              </a:rPr>
              <a:t>•  She finishes a mission early.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6313C"/>
                </a:solidFill>
                <a:latin typeface="Calibri"/>
              </a:rPr>
              <a:t>•  Focus is dropping mid-block.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6313C"/>
                </a:solidFill>
                <a:latin typeface="Calibri"/>
              </a:rPr>
              <a:t>•  A skill needs one more pass.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6313C"/>
                </a:solidFill>
                <a:latin typeface="Calibri"/>
              </a:rPr>
              <a:t>•  You have five minutes spare.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6313C"/>
                </a:solidFill>
                <a:latin typeface="Calibri"/>
              </a:rPr>
              <a:t>•  She asks to play one more.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527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🔬 SCIENCE HINT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94360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1821"/>
                </a:solidFill>
                <a:latin typeface="Calibri"/>
              </a:rPr>
              <a:t>Game 5 teaches that evidence must connect to the mystery.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🧰 Support System — For the 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661621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66 / 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4B9B"/>
                </a:solidFill>
                <a:latin typeface="Calibri"/>
              </a:rPr>
              <a:t>Levels, support ladder and the words to say.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566160" cy="2057400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alibri"/>
              </a:rPr>
              <a:t>SCIENCE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313C"/>
                </a:solidFill>
                <a:latin typeface="Calibri"/>
              </a:rPr>
              <a:t>Visual or verbal clue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821"/>
                </a:solidFill>
                <a:latin typeface="Calibri"/>
              </a:rPr>
              <a:t>Point at the part of the sentence that matters.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2057400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8B0E"/>
                </a:solidFill>
                <a:latin typeface="Calibri"/>
              </a:rPr>
              <a:t>DETECTIVE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313C"/>
                </a:solidFill>
                <a:latin typeface="Calibri"/>
              </a:rPr>
              <a:t>She solves it with limited help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821"/>
                </a:solidFill>
                <a:latin typeface="Calibri"/>
              </a:rPr>
              <a:t>Ask a smaller question, then go quiet.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566160" cy="2057400"/>
          </a:xfrm>
          <a:prstGeom prst="roundRect">
            <a:avLst/>
          </a:prstGeom>
          <a:solidFill>
            <a:srgbClr val="EF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313C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4AA6"/>
                </a:solidFill>
                <a:latin typeface="Calibri"/>
              </a:rPr>
              <a:t>EXPERT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313C"/>
                </a:solidFill>
                <a:latin typeface="Calibri"/>
              </a:rPr>
              <a:t>She explains or extends the answer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821"/>
                </a:solidFill>
                <a:latin typeface="Calibri"/>
              </a:rPr>
              <a:t>Ask her to build a new sentence from the rule.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4B9B"/>
                </a:solidFill>
                <a:latin typeface="Calibri"/>
              </a:rPr>
              <a:t>SUPPORT LADDER — never reveal the answer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61104"/>
            <a:ext cx="5486400" cy="384048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306824"/>
            <a:ext cx="1097280" cy="29260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3251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SUPPORT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0682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Give a visual clue.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81728"/>
            <a:ext cx="5486400" cy="384048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727448"/>
            <a:ext cx="1097280" cy="292608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745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SUPPORT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7274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Highlight the important word.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02352"/>
            <a:ext cx="5486400" cy="384048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" y="5148072"/>
            <a:ext cx="1097280" cy="292608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66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SUPPORT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1480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Read the sentence together.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22976"/>
            <a:ext cx="5486400" cy="384048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5568696"/>
            <a:ext cx="1097280" cy="29260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586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SUPPORT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5686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Ask a smaller question.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5486400" cy="384048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989320"/>
            <a:ext cx="1097280" cy="292608"/>
          </a:xfrm>
          <a:prstGeom prst="roundRect">
            <a:avLst/>
          </a:prstGeom>
          <a:solidFill>
            <a:srgbClr val="B0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0076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SUPPORT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989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Model it, then she reapplies it.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4B9B"/>
                </a:solidFill>
                <a:latin typeface="Calibri"/>
              </a:rPr>
              <a:t>HINT BANK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5968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6313C"/>
                </a:solidFill>
                <a:latin typeface="Calibri"/>
              </a:rPr>
              <a:t>•  Look at the subject.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6313C"/>
                </a:solidFill>
                <a:latin typeface="Calibri"/>
              </a:rPr>
              <a:t>•  Who is doing the action?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6313C"/>
                </a:solidFill>
                <a:latin typeface="Calibri"/>
              </a:rPr>
              <a:t>•  Look at the verb.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6313C"/>
                </a:solidFill>
                <a:latin typeface="Calibri"/>
              </a:rPr>
              <a:t>•  Read the sentence again.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6313C"/>
                </a:solidFill>
                <a:latin typeface="Calibri"/>
              </a:rPr>
              <a:t>•  Look for a clue in Part 2.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6313C"/>
                </a:solidFill>
                <a:latin typeface="Calibri"/>
              </a:rPr>
              <a:t>•  What word gives you evidence?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8862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WORDS TO USE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315968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0E7C86"/>
                </a:solidFill>
                <a:latin typeface="Calibri"/>
              </a:rPr>
              <a:t>•  "Good observation."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E7C86"/>
                </a:solidFill>
                <a:latin typeface="Calibri"/>
              </a:rPr>
              <a:t>•  "Let's investigate that word."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E7C86"/>
                </a:solidFill>
                <a:latin typeface="Calibri"/>
              </a:rPr>
              <a:t>•  "You found an important clue."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E7C86"/>
                </a:solidFill>
                <a:latin typeface="Calibri"/>
              </a:rPr>
              <a:t>•  "Try it one more time."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E7C86"/>
                </a:solidFill>
                <a:latin typeface="Calibri"/>
              </a:rPr>
              <a:t>•  "Excellent correction."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E7C86"/>
                </a:solidFill>
                <a:latin typeface="Calibri"/>
              </a:rPr>
              <a:t>•  "Show me the evidence."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📋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3831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67 / 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8B0E"/>
                </a:solidFill>
                <a:latin typeface="Calibri"/>
              </a:rPr>
              <a:t>Tick one box per skill right after the lesson.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11292840" cy="384048"/>
          </a:xfrm>
          <a:prstGeom prst="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MORE PRACTICE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Reading fluency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23160"/>
            <a:ext cx="11292840" cy="3017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41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Main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4323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4320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7614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752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63239"/>
            <a:ext cx="11292840" cy="3017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08152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723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8327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015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Inference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3924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11292840" cy="3017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721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Vocabulary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712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23359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04164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Subject-verb agreement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03250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43400"/>
            <a:ext cx="11292840" cy="3017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361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Verb tense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3525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66344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Parts of speech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672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983479"/>
            <a:ext cx="11292840" cy="3017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00176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Sentence editing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99262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303520"/>
            <a:ext cx="112928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5321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1821"/>
                </a:solidFill>
                <a:latin typeface="Calibri"/>
              </a:rPr>
              <a:t>Speaking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55480" y="5312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6828E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715000"/>
            <a:ext cx="11292840" cy="621792"/>
          </a:xfrm>
          <a:prstGeom prst="roundRect">
            <a:avLst/>
          </a:prstGeom>
          <a:solidFill>
            <a:srgbClr val="FCF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Words to review:  ____________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59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Grammar to review:  ____________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5897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1821"/>
                </a:solidFill>
                <a:latin typeface="Calibri"/>
              </a:rPr>
              <a:t>Reading skill to practice:  ____________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🔑 Answer Key — Vocabulary and Grammar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015003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68 / 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Calibri"/>
              </a:rPr>
              <a:t>Slides 10 to 37.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544068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VOCABULARY (7–17)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Word match: 🔍 · 💡 · 🔎 · 🔮 · 📊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Science words: experiment · evidence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discover · predict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Not science: banana · pencil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440680" cy="420624"/>
          </a:xfrm>
          <a:prstGeom prst="roundRect">
            <a:avLst/>
          </a:prstGeom>
          <a:solidFill>
            <a:srgbClr val="2F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SUBJECT-VERB (17–27)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Verb choice: works · work · looks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look · mixes · mix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Fixes: works · study · look · checks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Rule: one subject → -s verb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5440680" cy="420624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PARTS OF SPEECH (27–40)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student/solution · mixes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scientist/liquid · measures · careful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scientist/result · checks · carefully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Sort: nouns scientist, experiment · verb measure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adjectives careful, bright · adverb quickly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Fast lab: checks · strange · carefully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8620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886200"/>
            <a:ext cx="544068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VERB TENSES (40–50)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Tense ID: present · past · future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To past: measured · recorded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To future: will measure · will record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Quick challenge: checked · will record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Freeze sentence: careful/strange · checked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quickly · scientist/sample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126480"/>
            <a:ext cx="11292840" cy="384048"/>
          </a:xfrm>
          <a:prstGeom prst="round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18134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Calibri"/>
              </a:rPr>
              <a:t>Reading and speaking answers are on the next slide.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1821"/>
                </a:solidFill>
                <a:latin typeface="Georgia"/>
              </a:rPr>
              <a:t>🔑 Answer Key — Reading and Editing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0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🧪 The Science Lab Mystery  |  Grade 5  |  90 min  |  Detective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69 / 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B3B"/>
                </a:solidFill>
                <a:latin typeface="Calibri"/>
              </a:rPr>
              <a:t>Slides 45 to 61.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5440680" cy="420624"/>
          </a:xfrm>
          <a:prstGeom prst="round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COMPREHENSION (60–70)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Main idea: B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Q1 a sample · Q2 a wet mark near the sink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Q3 it had to stay cold · Q4 in the refrigerator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Sequence: B → A → C → 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True/False: FALSE · TRUE · TRUE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Inference: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440680" cy="420624"/>
          </a:xfrm>
          <a:prstGeom prst="roundRect">
            <a:avLst/>
          </a:prstGeom>
          <a:solidFill>
            <a:srgbClr val="6D4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465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EVIDENCE LINES (60–70)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219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"Mr. Alvarez explained that he had moved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the jar himself."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"Cold things sweat when they sit in warm air."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"The students were not guessing now.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They were collecting evidence."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5440680" cy="420624"/>
          </a:xfrm>
          <a:prstGeom prst="roundRect">
            <a:avLst/>
          </a:prstGeom>
          <a:solidFill>
            <a:srgbClr val="D18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EDITING (70–78)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The students were ready.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The scientist checks the sample.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students/clues · looked · carefully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strange · sample · was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The students found Sample C in the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refrigerator.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86200"/>
            <a:ext cx="5440680" cy="2011680"/>
          </a:xfrm>
          <a:prstGeom prst="round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886200"/>
            <a:ext cx="544068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4106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FINAL GAME (84–88)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1655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Grammar: checks · record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Reading: Sample C, in the refrigerator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Vocabulary: a clue or information ·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      to say what will happen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Tense: The scientist checked the sample.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6313C"/>
                </a:solidFill>
                <a:latin typeface="Calibri"/>
              </a:rPr>
              <a:t>•  Speaking: accept any sensible reason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126480"/>
            <a:ext cx="11292840" cy="384048"/>
          </a:xfrm>
          <a:prstGeom prst="round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18134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B3B"/>
                </a:solidFill>
                <a:latin typeface="Calibri"/>
              </a:rPr>
              <a:t>Accept any sensible answer for the summary, the report and the speaking tasks — reasoning matters more than exact wording.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