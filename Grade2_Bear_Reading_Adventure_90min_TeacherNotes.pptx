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0–5 min</a:t>
            </a:r>
          </a:p>
          <a:p/>
          <a:p>
            <a:r>
              <a:t>SAY: Hi! I am so glad you are here. Today you are a Reading Explorer, and this is Ben the Bear. Ben needs a reading buddy to help him on an adventure. That's you!</a:t>
            </a:r>
          </a:p>
          <a:p/>
          <a:p>
            <a:r>
              <a:t>INSTRUCTIONS: Smile and wave. Say your name and Ben's name. Do not ask the student to read anything on this slide. Keep this to about 45 seconds.</a:t>
            </a:r>
          </a:p>
          <a:p/>
          <a:p>
            <a:r>
              <a:t>EXPECTED RESPONSE: The student says hello, smiles, or waves. Any response is a success.</a:t>
            </a:r>
          </a:p>
          <a:p/>
          <a:p>
            <a:r>
              <a:t>IF THE STUDENT STRUGGLES: If the student is quiet, do not push. Wave and say 'You can just nod today.'</a:t>
            </a:r>
          </a:p>
          <a:p/>
          <a:p>
            <a:r>
              <a:t>EASIER ALTERNATIVE: Simply say 'Wave to Ben!' and wave together.</a:t>
            </a:r>
          </a:p>
          <a:p/>
          <a:p>
            <a:r>
              <a:t>OPTIONAL CHALLENGE: Ask which animal they would pick as a reading buddy.</a:t>
            </a:r>
          </a:p>
          <a:p/>
          <a:p>
            <a:r>
              <a:t>ENCOURAGEMENT: I am so happy you are here. You are already being a great explorer!</a:t>
            </a:r>
          </a:p>
          <a:p/>
          <a:p>
            <a:r>
              <a:t>OBSERVE (assessment): Note comfort level, eye contact, and willingness to speak at the start.</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0–5 min</a:t>
            </a:r>
          </a:p>
          <a:p/>
          <a:p>
            <a:r>
              <a:t>SAY: Here is our map for today. Eight stops, and you earn a Reading Star at every one. Nothing lasts long — if something feels hard, we move on quickly.</a:t>
            </a:r>
          </a:p>
          <a:p/>
          <a:p>
            <a:r>
              <a:t>INSTRUCTIONS: Point to each stop as you name it. Do not read the small times aloud. Keep this under 45 seconds.</a:t>
            </a:r>
          </a:p>
          <a:p/>
          <a:p>
            <a:r>
              <a:t>EXPECTED RESPONSE: The student looks at the map and may point to a stop they like.</a:t>
            </a:r>
          </a:p>
          <a:p/>
          <a:p>
            <a:r>
              <a:t>IF THE STUDENT STRUGGLES: Just point to the bear stop and say 'This one is my favorite.'</a:t>
            </a:r>
          </a:p>
          <a:p/>
          <a:p>
            <a:r>
              <a:t>EASIER ALTERNATIVE: Name only three stops instead of eight.</a:t>
            </a:r>
          </a:p>
          <a:p/>
          <a:p>
            <a:r>
              <a:t>OPTIONAL CHALLENGE: Ask which stop looks the most fun and why.</a:t>
            </a:r>
          </a:p>
          <a:p/>
          <a:p>
            <a:r>
              <a:t>ENCOURAGEMENT: Eight stars is a lot — and I think you can get them all!</a:t>
            </a:r>
          </a:p>
          <a:p/>
          <a:p>
            <a:r>
              <a:t>OBSERVE (assessment): Note attention span and whether the student engages with the plan.</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0–5 min</a:t>
            </a:r>
          </a:p>
          <a:p/>
          <a:p>
            <a:r>
              <a:t>SAY: How are you feeling today? Just point to a face. There is no wrong answer. Now tell me — what is your favorite animal?</a:t>
            </a:r>
          </a:p>
          <a:p/>
          <a:p>
            <a:r>
              <a:t>INSTRUCTIONS: Let the student point to a face, then ask the three questions one at a time. Answer each one yourself first so they hear a model.</a:t>
            </a:r>
          </a:p>
          <a:p/>
          <a:p>
            <a:r>
              <a:t>EXPECTED RESPONSE: A pointed face and short spoken answers such as 'dog', 'blue', 'yes'.</a:t>
            </a:r>
          </a:p>
          <a:p/>
          <a:p>
            <a:r>
              <a:t>IF THE STUDENT STRUGGLES: Answer for yourself first: 'My favorite animal is a bear. What about you?'</a:t>
            </a:r>
          </a:p>
          <a:p/>
          <a:p>
            <a:r>
              <a:t>EASIER ALTERNATIVE: Offer two choices: 'Dogs or cats?'</a:t>
            </a:r>
          </a:p>
          <a:p/>
          <a:p>
            <a:r>
              <a:t>OPTIONAL CHALLENGE: Ask them to say why they like that animal.</a:t>
            </a:r>
          </a:p>
          <a:p/>
          <a:p>
            <a:r>
              <a:t>ENCOURAGEMENT: Thank you for telling me! You just earned your very first Reading Star.</a:t>
            </a:r>
          </a:p>
          <a:p/>
          <a:p>
            <a:r>
              <a:t>OBSERVE (assessment): Note speaking confidence and whether answers are single words or phrases.</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5–15 min</a:t>
            </a:r>
          </a:p>
          <a:p/>
          <a:p>
            <a:r>
              <a:t>SAY: Let's warm up our sounds. I will say the letter and the sound, then you say it back. B says /b/... like Bear. Your turn!</a:t>
            </a:r>
          </a:p>
          <a:p/>
          <a:p>
            <a:r>
              <a:t>INSTRUCTIONS: Round 1: you say the letter, sound and picture word; the student repeats. Round 2: you point to a letter and the student gives the sound alone. Do only 5 or 6 letters if attention drops.</a:t>
            </a:r>
          </a:p>
          <a:p/>
          <a:p>
            <a:r>
              <a:t>EXPECTED RESPONSE: The student repeats each sound, then names sounds independently in round 2.</a:t>
            </a:r>
          </a:p>
          <a:p/>
          <a:p>
            <a:r>
              <a:t>IF THE STUDENT STRUGGLES: Say the sound with the picture: 'Bear... /b/ /b/ /b/. What sound?' Exaggerate it.</a:t>
            </a:r>
          </a:p>
          <a:p/>
          <a:p>
            <a:r>
              <a:t>EASIER ALTERNATIVE: Work with just A, B and C. Mastery of a few beats exposure to many.</a:t>
            </a:r>
          </a:p>
          <a:p/>
          <a:p>
            <a:r>
              <a:t>OPTIONAL CHALLENGE: Ask for another word that starts with the same sound.</a:t>
            </a:r>
          </a:p>
          <a:p/>
          <a:p>
            <a:r>
              <a:t>ENCOURAGEMENT: Your sounds are getting stronger every time. Well done!</a:t>
            </a:r>
          </a:p>
          <a:p/>
          <a:p>
            <a:r>
              <a:t>OBSERVE (assessment): Note which letter sounds are automatic and which need support. Record for next lesson.</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5–15 min</a:t>
            </a:r>
          </a:p>
          <a:p/>
          <a:p>
            <a:r>
              <a:t>SAY: Here comes a mystery! I am thinking of a letter. It makes the sound /m/. You hear me in Moon. Who am I?</a:t>
            </a:r>
          </a:p>
          <a:p/>
          <a:p>
            <a:r>
              <a:t>INSTRUCTIONS: Read both clues slowly, then wait. Give at least five seconds of silence before helping. Do one mystery at a time.</a:t>
            </a:r>
          </a:p>
          <a:p/>
          <a:p>
            <a:r>
              <a:t>EXPECTED RESPONSE: M  •  B  •  S  •  T</a:t>
            </a:r>
          </a:p>
          <a:p/>
          <a:p>
            <a:r>
              <a:t>IF THE STUDENT STRUGGLES: Say the sound again and stretch it: 'mmmmm - Moon.' Then write the letter in the air.</a:t>
            </a:r>
          </a:p>
          <a:p/>
          <a:p>
            <a:r>
              <a:t>EASIER ALTERNATIVE: Show two letter cards and ask which one makes that sound.</a:t>
            </a:r>
          </a:p>
          <a:p/>
          <a:p>
            <a:r>
              <a:t>OPTIONAL CHALLENGE: Ask them to think of another word starting with that letter.</a:t>
            </a:r>
          </a:p>
          <a:p/>
          <a:p>
            <a:r>
              <a:t>ENCOURAGEMENT: You figured it out! You are a real letter detective.</a:t>
            </a:r>
          </a:p>
          <a:p/>
          <a:p>
            <a:r>
              <a:t>OBSERVE (assessment): Note whether the student connects sound to letter name without a visual prompt.</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5–15 min</a:t>
            </a:r>
          </a:p>
          <a:p/>
          <a:p>
            <a:r>
              <a:t>SAY: Listen closely. Bbbb-ear. What sound do you hear at the very beginning of bear?</a:t>
            </a:r>
          </a:p>
          <a:p/>
          <a:p>
            <a:r>
              <a:t>INSTRUCTIONS: Say each word slowly and stretch the first sound. The student gives the sound, not the letter name. Skip the bonus digraph row entirely unless the four beginning sounds were easy.</a:t>
            </a:r>
          </a:p>
          <a:p/>
          <a:p>
            <a:r>
              <a:t>EXPECTED RESPONSE: bear = /b/  •  cat = /k/  •  sun = /s/  •  moon = /m/. Bonus: sh, ch, th, wh each make one sound.</a:t>
            </a:r>
          </a:p>
          <a:p/>
          <a:p>
            <a:r>
              <a:t>IF THE STUDENT STRUGGLES: Stretch the sound much longer and say it three times before asking again.</a:t>
            </a:r>
          </a:p>
          <a:p/>
          <a:p>
            <a:r>
              <a:t>EASIER ALTERNATIVE: Give two sounds to choose from: 'Is it /b/ or /s/?'</a:t>
            </a:r>
          </a:p>
          <a:p/>
          <a:p>
            <a:r>
              <a:t>OPTIONAL CHALLENGE: Ask for the LAST sound in the word instead.</a:t>
            </a:r>
          </a:p>
          <a:p/>
          <a:p>
            <a:r>
              <a:t>ENCOURAGEMENT: You heard it! That is exactly what good readers do.</a:t>
            </a:r>
          </a:p>
          <a:p/>
          <a:p>
            <a:r>
              <a:t>OBSERVE (assessment): Note if the student confuses letter names with letter sounds — very common at this stage and worth tracking.</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15–25 min</a:t>
            </a:r>
          </a:p>
          <a:p/>
          <a:p>
            <a:r>
              <a:t>SAY: Watch what happens when sounds hold hands. /k/ ... /a/ ... /t/. Now faster: /k/-/a/-/t/... CAT! The sounds became a word.</a:t>
            </a:r>
          </a:p>
          <a:p/>
          <a:p>
            <a:r>
              <a:t>INSTRUCTIONS: Say the sounds slowly first with a pause, then speed up and blend. Sweep your finger under the letters as you blend so the student sees left-to-right movement.</a:t>
            </a:r>
          </a:p>
          <a:p/>
          <a:p>
            <a:r>
              <a:t>EXPECTED RESPONSE: The student blends /k/ /a/ /t/ into CAT, first with you and then alone.</a:t>
            </a:r>
          </a:p>
          <a:p/>
          <a:p>
            <a:r>
              <a:t>IF THE STUDENT STRUGGLES: Blend just the first two sounds: /k/ /a/ = 'ca'. Then add /t/. Two sounds are much easier than three.</a:t>
            </a:r>
          </a:p>
          <a:p/>
          <a:p>
            <a:r>
              <a:t>EASIER ALTERNATIVE: You blend it and let the student only say the final word.</a:t>
            </a:r>
          </a:p>
          <a:p/>
          <a:p>
            <a:r>
              <a:t>OPTIONAL CHALLENGE: Ask them to blend it with their eyes closed, listening only.</a:t>
            </a:r>
          </a:p>
          <a:p/>
          <a:p>
            <a:r>
              <a:t>ENCOURAGEMENT: You made the sounds turn into a word. That is exactly what reading is!</a:t>
            </a:r>
          </a:p>
          <a:p/>
          <a:p>
            <a:r>
              <a:t>OBSERVE (assessment): Note whether the student can hold sounds in memory long enough to blend them.</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15–25 min</a:t>
            </a:r>
          </a:p>
          <a:p/>
          <a:p>
            <a:r>
              <a:t>SAY: All aboard the Sound Train! Each car holds one sound. Say each car... now push them together... CAT! You get a star for every train you finish.</a:t>
            </a:r>
          </a:p>
          <a:p/>
          <a:p>
            <a:r>
              <a:t>INSTRUCTIONS: Point to each car as the student says the sound, then sweep your finger fast across all three while they blend. Do all four words unless attention drops.</a:t>
            </a:r>
          </a:p>
          <a:p/>
          <a:p>
            <a:r>
              <a:t>EXPECTED RESPONSE: CAT  •  SUN  •  DOG  •  MAP</a:t>
            </a:r>
          </a:p>
          <a:p/>
          <a:p>
            <a:r>
              <a:t>IF THE STUDENT STRUGGLES: Cover the last car with your hand. Blend the first two, then reveal the last sound.</a:t>
            </a:r>
          </a:p>
          <a:p/>
          <a:p>
            <a:r>
              <a:t>EASIER ALTERNATIVE: Do one word only, and blend it together with the student every time.</a:t>
            </a:r>
          </a:p>
          <a:p/>
          <a:p>
            <a:r>
              <a:t>OPTIONAL CHALLENGE: Ask the student to build a train for their own name.</a:t>
            </a:r>
          </a:p>
          <a:p/>
          <a:p>
            <a:r>
              <a:t>ENCOURAGEMENT: Choo choo! That train read perfectly. Another star for you!</a:t>
            </a:r>
          </a:p>
          <a:p/>
          <a:p>
            <a:r>
              <a:t>OBSERVE (assessment): Note blending speed and whether the student needs the visual cars or can blend by ear.</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15–25 min</a:t>
            </a:r>
          </a:p>
          <a:p/>
          <a:p>
            <a:r>
              <a:t>SAY: Let's read these together. Look at the picture first — that is a clue. Now sound it out: /s/ /u/ /n/... SUN!</a:t>
            </a:r>
          </a:p>
          <a:p/>
          <a:p>
            <a:r>
              <a:t>INSTRUCTIONS: Work down the list. Say the sounds with the student, then let them say the whole word alone. Choose only 4 or 5 words if the student is tiring.</a:t>
            </a:r>
          </a:p>
          <a:p/>
          <a:p>
            <a:r>
              <a:t>EXPECTED RESPONSE: CAT, SUN, DOG, MAP, PIG, HAT, RUN, BIG — each blended correctly.</a:t>
            </a:r>
          </a:p>
          <a:p/>
          <a:p>
            <a:r>
              <a:t>IF THE STUDENT STRUGGLES: Cover the word and show only the picture, then reveal one letter at a time.</a:t>
            </a:r>
          </a:p>
          <a:p/>
          <a:p>
            <a:r>
              <a:t>EASIER ALTERNATIVE: Do the four words with pictures the student already knows best.</a:t>
            </a:r>
          </a:p>
          <a:p/>
          <a:p>
            <a:r>
              <a:t>OPTIONAL CHALLENGE: Ask which two words rhyme (CAT and HAT).</a:t>
            </a:r>
          </a:p>
          <a:p/>
          <a:p>
            <a:r>
              <a:t>ENCOURAGEMENT: Look how many words you just read! You are reading real words.</a:t>
            </a:r>
          </a:p>
          <a:p/>
          <a:p>
            <a:r>
              <a:t>OBSERVE (assessment): Note which short vowels are secure and which need review next time.</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25–35 min</a:t>
            </a:r>
          </a:p>
          <a:p/>
          <a:p>
            <a:r>
              <a:t>SAY: Ben the Bear is hungry, and he only eats the right word! Look at the picture, then find the word that matches. Point to it and read it out loud.</a:t>
            </a:r>
          </a:p>
          <a:p/>
          <a:p>
            <a:r>
              <a:t>INSTRUCTIONS: One row at a time. The student points and reads the word before you move on. Make a happy munching sound when they get it right.</a:t>
            </a:r>
          </a:p>
          <a:p/>
          <a:p>
            <a:r>
              <a:t>EXPECTED RESPONSE: CAT  •  SUN  •  DOG  •  BIG</a:t>
            </a:r>
          </a:p>
          <a:p/>
          <a:p>
            <a:r>
              <a:t>IF THE STUDENT STRUGGLES: Ask what sound the word starts with, then look for that letter in the choices.</a:t>
            </a:r>
          </a:p>
          <a:p/>
          <a:p>
            <a:r>
              <a:t>EASIER ALTERNATIVE: Cover one wrong option so there are only two words to choose from.</a:t>
            </a:r>
          </a:p>
          <a:p/>
          <a:p>
            <a:r>
              <a:t>OPTIONAL CHALLENGE: Ask them to use the fed word in a short sentence.</a:t>
            </a:r>
          </a:p>
          <a:p/>
          <a:p>
            <a:r>
              <a:t>ENCOURAGEMENT: Nom nom nom! Ben loved that word. Great reading!</a:t>
            </a:r>
          </a:p>
          <a:p/>
          <a:p>
            <a:r>
              <a:t>OBSERVE (assessment): Note whether the student decodes the word or guesses from the picture alone.</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25–35 min</a:t>
            </a:r>
          </a:p>
          <a:p/>
          <a:p>
            <a:r>
              <a:t>SAY: Can you find the word SUN? Point to it. Now read it in a big voice. Can you find another SUN?</a:t>
            </a:r>
          </a:p>
          <a:p/>
          <a:p>
            <a:r>
              <a:t>INSTRUCTIONS: Call one word at a time. Every word appears exactly twice, so ask 'Can you find the other one?' after each success. Six rounds.</a:t>
            </a:r>
          </a:p>
          <a:p/>
          <a:p>
            <a:r>
              <a:t>EXPECTED RESPONSE: Each of CAT, SUN, DOG, BIG, RUN and HAT appears 2 times in the grid.</a:t>
            </a:r>
          </a:p>
          <a:p/>
          <a:p>
            <a:r>
              <a:t>IF THE STUDENT STRUGGLES: Give the first sound as a clue, then cover two rows so there is less to scan.</a:t>
            </a:r>
          </a:p>
          <a:p/>
          <a:p>
            <a:r>
              <a:t>EASIER ALTERNATIVE: Search one row at a time instead of the whole grid.</a:t>
            </a:r>
          </a:p>
          <a:p/>
          <a:p>
            <a:r>
              <a:t>OPTIONAL CHALLENGE: Time them: can they find both copies in ten seconds?</a:t>
            </a:r>
          </a:p>
          <a:p/>
          <a:p>
            <a:r>
              <a:t>ENCOURAGEMENT: Your eyes are getting so quick at spotting words!</a:t>
            </a:r>
          </a:p>
          <a:p/>
          <a:p>
            <a:r>
              <a:t>OBSERVE (assessment): Note visual tracking and whether the student reads or matches word shapes.</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35–45 min</a:t>
            </a:r>
          </a:p>
          <a:p/>
          <a:p>
            <a:r>
              <a:t>SAY: These are special words. We do not sound them out — we just learn them by sight, like recognizing a friend's face. This one says THE. Your turn: THE.</a:t>
            </a:r>
          </a:p>
          <a:p/>
          <a:p>
            <a:r>
              <a:t>INSTRUCTIONS: Cover Rounds 2 and 3 with a sheet of paper. Teach only Round 1 first: point, say, student repeats, three times each. Reveal the next round only when Round 1 is solid.</a:t>
            </a:r>
          </a:p>
          <a:p/>
          <a:p>
            <a:r>
              <a:t>EXPECTED RESPONSE: The student reads I, see, the — then can, my, is — then we, go, and, you.</a:t>
            </a:r>
          </a:p>
          <a:p/>
          <a:p>
            <a:r>
              <a:t>IF THE STUDENT STRUGGLES: Trace the word in the air together while saying it. Say it three times in a row.</a:t>
            </a:r>
          </a:p>
          <a:p/>
          <a:p>
            <a:r>
              <a:t>EASIER ALTERNATIVE: Teach only two words this lesson. Two words truly known beats ten half-known.</a:t>
            </a:r>
          </a:p>
          <a:p/>
          <a:p>
            <a:r>
              <a:t>OPTIONAL CHALLENGE: Ask them to find the word in a book or on the screen.</a:t>
            </a:r>
          </a:p>
          <a:p/>
          <a:p>
            <a:r>
              <a:t>ENCOURAGEMENT: You just KNEW that word without sounding it out. That is real sight reading!</a:t>
            </a:r>
          </a:p>
          <a:p/>
          <a:p>
            <a:r>
              <a:t>OBSERVE (assessment): Note which sight words are instant and which need more repetition. Reuse the weak ones in the sentence section later.</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35–45 min</a:t>
            </a:r>
          </a:p>
          <a:p/>
          <a:p>
            <a:r>
              <a:t>SAY: Detective time! Can you find the word THE? Look carefully — some of these look very similar. Point to it when you find it.</a:t>
            </a:r>
          </a:p>
          <a:p/>
          <a:p>
            <a:r>
              <a:t>INSTRUCTIONS: One row at a time. Read the four choices aloud yourself if the student needs it, then let them point. Confirm by having them say the word.</a:t>
            </a:r>
          </a:p>
          <a:p/>
          <a:p>
            <a:r>
              <a:t>EXPECTED RESPONSE: 1. the  •  2. can  •  3. my  •  4. see</a:t>
            </a:r>
          </a:p>
          <a:p/>
          <a:p>
            <a:r>
              <a:t>IF THE STUDENT STRUGGLES: Say the target word again slowly, then cover two wrong choices with your fingers.</a:t>
            </a:r>
          </a:p>
          <a:p/>
          <a:p>
            <a:r>
              <a:t>EASIER ALTERNATIVE: Use two choices instead of four.</a:t>
            </a:r>
          </a:p>
          <a:p/>
          <a:p>
            <a:r>
              <a:t>OPTIONAL CHALLENGE: Ask what the other three words say.</a:t>
            </a:r>
          </a:p>
          <a:p/>
          <a:p>
            <a:r>
              <a:t>ENCOURAGEMENT: You spotted it! Those tricky words did not fool you.</a:t>
            </a:r>
          </a:p>
          <a:p/>
          <a:p>
            <a:r>
              <a:t>OBSERVE (assessment): Note confusion between visually similar words such as can/cat and see/saw.</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35–45 min</a:t>
            </a:r>
          </a:p>
          <a:p/>
          <a:p>
            <a:r>
              <a:t>SAY: Look at the pictures on top and the words on the bottom. They got mixed up! Point to the cat, then point to the word CAT.</a:t>
            </a:r>
          </a:p>
          <a:p/>
          <a:p>
            <a:r>
              <a:t>INSTRUCTIONS: Let the student match one pair at a time. Have them say the word after each match. Keep it quick and playful — under three minutes.</a:t>
            </a:r>
          </a:p>
          <a:p/>
          <a:p>
            <a:r>
              <a:t>EXPECTED RESPONSE: 🐱 = CAT (3rd word)  •  ☀️ = SUN (4th word)  •  🐶 = DOG (1st word)  •  🐻 = BEAR (2nd word)</a:t>
            </a:r>
          </a:p>
          <a:p/>
          <a:p>
            <a:r>
              <a:t>IF THE STUDENT STRUGGLES: Ask what sound the picture word starts with, then find that letter in the words.</a:t>
            </a:r>
          </a:p>
          <a:p/>
          <a:p>
            <a:r>
              <a:t>EASIER ALTERNATIVE: Match only two pairs instead of four.</a:t>
            </a:r>
          </a:p>
          <a:p/>
          <a:p>
            <a:r>
              <a:t>OPTIONAL CHALLENGE: Cover the pictures and ask them to read all four words alone.</a:t>
            </a:r>
          </a:p>
          <a:p/>
          <a:p>
            <a:r>
              <a:t>ENCOURAGEMENT: Four out of four! Your word memory is getting strong.</a:t>
            </a:r>
          </a:p>
          <a:p/>
          <a:p>
            <a:r>
              <a:t>OBSERVE (assessment): Note whether the student decodes the word or relies on first-letter matching.</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45–50 min</a:t>
            </a:r>
          </a:p>
          <a:p/>
          <a:p>
            <a:r>
              <a:t>SAY: Let's give our brains a little break — but we are still playing with words! Simon says: point to the word CAT. Simon says: show me the letter B.</a:t>
            </a:r>
          </a:p>
          <a:p/>
          <a:p>
            <a:r>
              <a:t>INSTRUCTIONS: Fast pace, roughly five seconds per command. The student only points or touches — no reading aloud required. This is a rest, so keep it light and silly.</a:t>
            </a:r>
          </a:p>
          <a:p/>
          <a:p>
            <a:r>
              <a:t>EXPECTED RESPONSE: The student points to the correct word or letter on the board.</a:t>
            </a:r>
          </a:p>
          <a:p/>
          <a:p>
            <a:r>
              <a:t>IF THE STUDENT STRUGGLES: Point to it together the first time, then let them try the next one alone.</a:t>
            </a:r>
          </a:p>
          <a:p/>
          <a:p>
            <a:r>
              <a:t>EASIER ALTERNATIVE: Give only three commands and always name the word clearly.</a:t>
            </a:r>
          </a:p>
          <a:p/>
          <a:p>
            <a:r>
              <a:t>OPTIONAL CHALLENGE: Add the classic twist: if you do not say 'Simon says', they should not move.</a:t>
            </a:r>
          </a:p>
          <a:p/>
          <a:p>
            <a:r>
              <a:t>ENCOURAGEMENT: You are quick! Great pointing. Ready for the next part?</a:t>
            </a:r>
          </a:p>
          <a:p/>
          <a:p>
            <a:r>
              <a:t>OBSERVE (assessment): Note recognition speed without decoding pressure, and re-engagement after the break.</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50–60 min</a:t>
            </a:r>
          </a:p>
          <a:p/>
          <a:p>
            <a:r>
              <a:t>SAY: Now we put our words together into a sentence. Watch my finger. I... see... a... cat. Now let's read it together.</a:t>
            </a:r>
          </a:p>
          <a:p/>
          <a:p>
            <a:r>
              <a:t>INSTRUCTIONS: Point under each word as you read, one word at a time. Then read together. Only then invite the student to try alone — and it is fine if they are not ready.</a:t>
            </a:r>
          </a:p>
          <a:p/>
          <a:p>
            <a:r>
              <a:t>EXPECTED RESPONSE: I see a cat.</a:t>
            </a:r>
          </a:p>
          <a:p/>
          <a:p>
            <a:r>
              <a:t>IF THE STUDENT STRUGGLES: Read the first three words and let the student finish with just 'cat'. Build up backwards from the last word.</a:t>
            </a:r>
          </a:p>
          <a:p/>
          <a:p>
            <a:r>
              <a:t>EASIER ALTERNATIVE: Read the sentence together every time, with no independent turn yet.</a:t>
            </a:r>
          </a:p>
          <a:p/>
          <a:p>
            <a:r>
              <a:t>OPTIONAL CHALLENGE: Ask them to read it with a happy voice, then a sleepy voice.</a:t>
            </a:r>
          </a:p>
          <a:p/>
          <a:p>
            <a:r>
              <a:t>ENCOURAGEMENT: You read a whole sentence! That is a big jump from words.</a:t>
            </a:r>
          </a:p>
          <a:p/>
          <a:p>
            <a:r>
              <a:t>OBSERVE (assessment): Note left-to-right tracking, whether they point, and where they pause.</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50–60 min</a:t>
            </a:r>
          </a:p>
          <a:p/>
          <a:p>
            <a:r>
              <a:t>SAY: My turn first, then we read together, then it is your turn. The cat is big. Now with me: The cat is big.</a:t>
            </a:r>
          </a:p>
          <a:p/>
          <a:p>
            <a:r>
              <a:t>INSTRUCTIONS: Use the full I DO / WE DO / YOU DO cycle on each sentence before moving to the next. Point under every word. Do not correct mid-sentence — wait until the end.</a:t>
            </a:r>
          </a:p>
          <a:p/>
          <a:p>
            <a:r>
              <a:t>EXPECTED RESPONSE: The cat is big.  •  I can run.</a:t>
            </a:r>
          </a:p>
          <a:p/>
          <a:p>
            <a:r>
              <a:t>IF THE STUDENT STRUGGLES: Cover all but the first word, then reveal one word at a time as they read.</a:t>
            </a:r>
          </a:p>
          <a:p/>
          <a:p>
            <a:r>
              <a:t>EASIER ALTERNATIVE: Read it together twice and skip the independent turn.</a:t>
            </a:r>
          </a:p>
          <a:p/>
          <a:p>
            <a:r>
              <a:t>OPTIONAL CHALLENGE: Ask them to change one word: 'The DOG is big.'</a:t>
            </a:r>
          </a:p>
          <a:p/>
          <a:p>
            <a:r>
              <a:t>ENCOURAGEMENT: Take your time — there is no rush at all. That was excellent reading!</a:t>
            </a:r>
          </a:p>
          <a:p/>
          <a:p>
            <a:r>
              <a:t>OBSERVE (assessment): Note self-correction, sight word automaticity, and reading pace.</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50–60 min</a:t>
            </a:r>
          </a:p>
          <a:p/>
          <a:p>
            <a:r>
              <a:t>SAY: These two are yours. Take your time. If a word is tricky, we will sound it out together — that is what readers do.</a:t>
            </a:r>
          </a:p>
          <a:p/>
          <a:p>
            <a:r>
              <a:t>INSTRUCTIONS: Let the student lead. Stay silent for five seconds before offering help. Praise first, then work on at most one word.</a:t>
            </a:r>
          </a:p>
          <a:p/>
          <a:p>
            <a:r>
              <a:t>EXPECTED RESPONSE: We see the sun.  •  My dog can run.</a:t>
            </a:r>
          </a:p>
          <a:p/>
          <a:p>
            <a:r>
              <a:t>IF THE STUDENT STRUGGLES: Use the support ladder: first sound, then vowel, then blend, then say the word and have the student repeat it successfully.</a:t>
            </a:r>
          </a:p>
          <a:p/>
          <a:p>
            <a:r>
              <a:t>EASIER ALTERNATIVE: Read the sentence first and let them echo it back.</a:t>
            </a:r>
          </a:p>
          <a:p/>
          <a:p>
            <a:r>
              <a:t>OPTIONAL CHALLENGE: Ask them to make up a new sentence using 'my'.</a:t>
            </a:r>
          </a:p>
          <a:p/>
          <a:p>
            <a:r>
              <a:t>ENCOURAGEMENT: You read that all by yourself! I am so proud of you.</a:t>
            </a:r>
          </a:p>
          <a:p/>
          <a:p>
            <a:r>
              <a:t>OBSERVE (assessment): Note independence level and which sight words still need support.</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60–68 min</a:t>
            </a:r>
          </a:p>
          <a:p/>
          <a:p>
            <a:r>
              <a:t>SAY: Uh oh, these words fell out of order! Which word goes first? Here is a clue: it has a capital letter.</a:t>
            </a:r>
          </a:p>
          <a:p/>
          <a:p>
            <a:r>
              <a:t>INSTRUCTIONS: Have the student say the order out loud, or point to the tiles in sequence. Then they read the finished sentence. One row at a time.</a:t>
            </a:r>
          </a:p>
          <a:p/>
          <a:p>
            <a:r>
              <a:t>EXPECTED RESPONSE: 1. I see a cat.   2. The cat is big.   3. I can run.</a:t>
            </a:r>
          </a:p>
          <a:p/>
          <a:p>
            <a:r>
              <a:t>IF THE STUDENT STRUGGLES: Point out the capital letter for the first word and the period for the last word. That solves both ends immediately.</a:t>
            </a:r>
          </a:p>
          <a:p/>
          <a:p>
            <a:r>
              <a:t>EASIER ALTERNATIVE: Give the first word yourself, then let them order the remaining two or three.</a:t>
            </a:r>
          </a:p>
          <a:p/>
          <a:p>
            <a:r>
              <a:t>OPTIONAL CHALLENGE: Ask them to build a brand new sentence using the same tiles.</a:t>
            </a:r>
          </a:p>
          <a:p/>
          <a:p>
            <a:r>
              <a:t>ENCOURAGEMENT: You put the whole sentence back together. That is smart thinking!</a:t>
            </a:r>
          </a:p>
          <a:p/>
          <a:p>
            <a:r>
              <a:t>OBSERVE (assessment): Note understanding of sentence structure, capitals and end punctuation.</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60–68 min</a:t>
            </a:r>
          </a:p>
          <a:p/>
          <a:p>
            <a:r>
              <a:t>SAY: Three more! These have a few extra words, so read all the tiles first before you choose.</a:t>
            </a:r>
          </a:p>
          <a:p/>
          <a:p>
            <a:r>
              <a:t>INSTRUCTIONS: Same routine. Sentence 6 introduces Ben from the story coming next, so pause and say 'You will meet Ben in a minute!'</a:t>
            </a:r>
          </a:p>
          <a:p/>
          <a:p>
            <a:r>
              <a:t>EXPECTED RESPONSE: 4. We see the sun.   5. My dog can run.   6. Ben has a red ball.</a:t>
            </a:r>
          </a:p>
          <a:p/>
          <a:p>
            <a:r>
              <a:t>IF THE STUDENT STRUGGLES: Read all the tiles aloud yourself first so the student hears every word.</a:t>
            </a:r>
          </a:p>
          <a:p/>
          <a:p>
            <a:r>
              <a:t>EASIER ALTERNATIVE: Do sentence 4 only, and build it together.</a:t>
            </a:r>
          </a:p>
          <a:p/>
          <a:p>
            <a:r>
              <a:t>OPTIONAL CHALLENGE: Ask what Ben's story might be about, based on sentence 6.</a:t>
            </a:r>
          </a:p>
          <a:p/>
          <a:p>
            <a:r>
              <a:t>ENCOURAGEMENT: Six sentences built! You are ready for a real story now.</a:t>
            </a:r>
          </a:p>
          <a:p/>
          <a:p>
            <a:r>
              <a:t>OBSERVE (assessment): Note stamina late in the game and whether accuracy is holding up.</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68–78 min</a:t>
            </a:r>
          </a:p>
          <a:p/>
          <a:p>
            <a:r>
              <a:t>SAY: Before we read Ben's story, let's meet the words we will see. This one is BEAR. Ben is a bear. Your turn: BEAR.</a:t>
            </a:r>
          </a:p>
          <a:p/>
          <a:p>
            <a:r>
              <a:t>INSTRUCTIONS: Say the word, break it into the sounds shown, then read the tiny sentence. Student repeats. Roughly 20 seconds per word. Skip 'happy' and 'little' if time is short — they can be handled inside the story.</a:t>
            </a:r>
          </a:p>
          <a:p/>
          <a:p>
            <a:r>
              <a:t>EXPECTED RESPONSE: The student repeats each word and can read at least four of them independently.</a:t>
            </a:r>
          </a:p>
          <a:p/>
          <a:p>
            <a:r>
              <a:t>IF THE STUDENT STRUGGLES: Cover the word and show only the picture, then reveal the word and blend together.</a:t>
            </a:r>
          </a:p>
          <a:p/>
          <a:p>
            <a:r>
              <a:t>EASIER ALTERNATIVE: Preview only four words: bear, ball, tree, red. Those carry the story.</a:t>
            </a:r>
          </a:p>
          <a:p/>
          <a:p>
            <a:r>
              <a:t>OPTIONAL CHALLENGE: Ask them to predict what happens to Ben and the ball.</a:t>
            </a:r>
          </a:p>
          <a:p/>
          <a:p>
            <a:r>
              <a:t>ENCOURAGEMENT: You already know so many of these words. The story is going to be easy for you!</a:t>
            </a:r>
          </a:p>
          <a:p/>
          <a:p>
            <a:r>
              <a:t>OBSERVE (assessment): Note which two-syllable words (happy, little) need extra support.</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68–78 min</a:t>
            </a:r>
          </a:p>
          <a:p/>
          <a:p>
            <a:r>
              <a:t>SAY: Meet Ben. Ben is a little bear, and he has a red ball. I will read it first, then we read it together, then you pick just one line to read by yourself.</a:t>
            </a:r>
          </a:p>
          <a:p/>
          <a:p>
            <a:r>
              <a:t>INSTRUCTIONS: Read with warmth and expression. Point under each word. Let the student CHOOSE which single line to read — choice reduces anxiety a lot.</a:t>
            </a:r>
          </a:p>
          <a:p/>
          <a:p>
            <a:r>
              <a:t>EXPECTED RESPONSE: Ben is a little bear. Ben has a red ball. Ben can run and play. Ben is happy.</a:t>
            </a:r>
          </a:p>
          <a:p/>
          <a:p>
            <a:r>
              <a:t>IF THE STUDENT STRUGGLES: Offer the shortest line: 'Ben is happy.' Sound out any tricky word together.</a:t>
            </a:r>
          </a:p>
          <a:p/>
          <a:p>
            <a:r>
              <a:t>EASIER ALTERNATIVE: Read every line together with no solo turn.</a:t>
            </a:r>
          </a:p>
          <a:p/>
          <a:p>
            <a:r>
              <a:t>OPTIONAL CHALLENGE: Ask what color Ben's ball is, then ask them to find that word.</a:t>
            </a:r>
          </a:p>
          <a:p/>
          <a:p>
            <a:r>
              <a:t>ENCOURAGEMENT: You picked a line and read it. That is being a real reader!</a:t>
            </a:r>
          </a:p>
          <a:p/>
          <a:p>
            <a:r>
              <a:t>OBSERVE (assessment): Note willingness to attempt independent reading and which line they choose.</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68–78 min</a:t>
            </a:r>
          </a:p>
          <a:p/>
          <a:p>
            <a:r>
              <a:t>SAY: Oh no! Something happened to Ben's ball. Let's find out. One day, the ball is gone...</a:t>
            </a:r>
          </a:p>
          <a:p/>
          <a:p>
            <a:r>
              <a:t>INSTRUCTIONS: Build a little suspense. After reading, ask 'Where do you think the ball is?' before moving on — prediction keeps engagement high.</a:t>
            </a:r>
          </a:p>
          <a:p/>
          <a:p>
            <a:r>
              <a:t>EXPECTED RESPONSE: One day, the ball is gone. Ben can not see the ball. Ben looks and looks. Ben sees a big tree.</a:t>
            </a:r>
          </a:p>
          <a:p/>
          <a:p>
            <a:r>
              <a:t>IF THE STUDENT STRUGGLES: The word 'gone' may be new — sound it out together and reread the whole line.</a:t>
            </a:r>
          </a:p>
          <a:p/>
          <a:p>
            <a:r>
              <a:t>EASIER ALTERNATIVE: Read all four lines yourself and ask the student only to point along.</a:t>
            </a:r>
          </a:p>
          <a:p/>
          <a:p>
            <a:r>
              <a:t>OPTIONAL CHALLENGE: Ask them to predict where the ball is before turning the page.</a:t>
            </a:r>
          </a:p>
          <a:p/>
          <a:p>
            <a:r>
              <a:t>ENCOURAGEMENT: Great predicting! Good readers always think about what comes next.</a:t>
            </a:r>
          </a:p>
          <a:p/>
          <a:p>
            <a:r>
              <a:t>OBSERVE (assessment): Note comprehension of the problem in the story and prediction ability.</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68–78 min</a:t>
            </a:r>
          </a:p>
          <a:p/>
          <a:p>
            <a:r>
              <a:t>SAY: There it is! The ball is under the tree — but look who is sitting on it. A cat!</a:t>
            </a:r>
          </a:p>
          <a:p/>
          <a:p>
            <a:r>
              <a:t>INSTRUCTIONS: Use a different voice for Ben's line, 'My ball!' Ask the student to try that line with an excited voice — dialogue is motivating.</a:t>
            </a:r>
          </a:p>
          <a:p/>
          <a:p>
            <a:r>
              <a:t>EXPECTED RESPONSE: The ball is under the tree. A cat sits on the ball. "My ball!" says Ben. The cat runs to Ben.</a:t>
            </a:r>
          </a:p>
          <a:p/>
          <a:p>
            <a:r>
              <a:t>IF THE STUDENT STRUGGLES: Explain that quotation marks mean somebody is talking, then read that line together.</a:t>
            </a:r>
          </a:p>
          <a:p/>
          <a:p>
            <a:r>
              <a:t>EASIER ALTERNATIVE: Have them read only the two-word part: 'My ball!'</a:t>
            </a:r>
          </a:p>
          <a:p/>
          <a:p>
            <a:r>
              <a:t>OPTIONAL CHALLENGE: Ask how Ben feels right now and why.</a:t>
            </a:r>
          </a:p>
          <a:p/>
          <a:p>
            <a:r>
              <a:t>ENCOURAGEMENT: I loved how you used Ben's voice. That was excellent reading!</a:t>
            </a:r>
          </a:p>
          <a:p/>
          <a:p>
            <a:r>
              <a:t>OBSERVE (assessment): Note expression, use of punctuation, and engagement with dialogue.</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68–78 min</a:t>
            </a:r>
          </a:p>
          <a:p/>
          <a:p>
            <a:r>
              <a:t>SAY: And here is the happy ending. Ben gets his ball back, and now he has a new friend.</a:t>
            </a:r>
          </a:p>
          <a:p/>
          <a:p>
            <a:r>
              <a:t>INSTRUCTIONS: Celebrate finishing the whole story. Then ask the student to retell it in their own words in two or three sentences.</a:t>
            </a:r>
          </a:p>
          <a:p/>
          <a:p>
            <a:r>
              <a:t>EXPECTED RESPONSE: Ben gets the red ball. Ben and the cat play. The sun is big and hot. Ben is happy.</a:t>
            </a:r>
          </a:p>
          <a:p/>
          <a:p>
            <a:r>
              <a:t>IF THE STUDENT STRUGGLES: Retell it together, one sentence per picture, using the four story slides as prompts.</a:t>
            </a:r>
          </a:p>
          <a:p/>
          <a:p>
            <a:r>
              <a:t>EASIER ALTERNATIVE: Ask only 'Is Ben happy or sad at the end?'</a:t>
            </a:r>
          </a:p>
          <a:p/>
          <a:p>
            <a:r>
              <a:t>OPTIONAL CHALLENGE: Ask them to invent one more sentence for the story.</a:t>
            </a:r>
          </a:p>
          <a:p/>
          <a:p>
            <a:r>
              <a:t>ENCOURAGEMENT: You read a whole story today! Not one word — a whole story.</a:t>
            </a:r>
          </a:p>
          <a:p/>
          <a:p>
            <a:r>
              <a:t>OBSERVE (assessment): Note overall comprehension and whether they can retell the sequence.</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68–78 min</a:t>
            </a:r>
          </a:p>
          <a:p/>
          <a:p>
            <a:r>
              <a:t>SAY: You choose! One star, two stars, or three. Any one you pick is a win. Which one do you want to read?</a:t>
            </a:r>
          </a:p>
          <a:p/>
          <a:p>
            <a:r>
              <a:t>INSTRUCTIONS: Let the student choose freely. If they pick three stars, support them fully so they succeed. Reading choice builds ownership and confidence.</a:t>
            </a:r>
          </a:p>
          <a:p/>
          <a:p>
            <a:r>
              <a:t>EXPECTED RESPONSE: Ben is happy.  •  Ben has a red ball.  •  The ball is under the tree.</a:t>
            </a:r>
          </a:p>
          <a:p/>
          <a:p>
            <a:r>
              <a:t>IF THE STUDENT STRUGGLES: Use the ladder: first sound, vowel, blend, then give the word and have them repeat it successfully. Always end on a success.</a:t>
            </a:r>
          </a:p>
          <a:p/>
          <a:p>
            <a:r>
              <a:t>EASIER ALTERNATIVE: Read the one-star line together, then let them read it alone.</a:t>
            </a:r>
          </a:p>
          <a:p/>
          <a:p>
            <a:r>
              <a:t>OPTIONAL CHALLENGE: Invite them to try all three lines.</a:t>
            </a:r>
          </a:p>
          <a:p/>
          <a:p>
            <a:r>
              <a:t>ENCOURAGEMENT: You chose a hard one and you did it. That took courage!</a:t>
            </a:r>
          </a:p>
          <a:p/>
          <a:p>
            <a:r>
              <a:t>OBSERVE (assessment): Note risk-taking: does the student choose an easy or a stretch option?</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78–84 min</a:t>
            </a:r>
          </a:p>
          <a:p/>
          <a:p>
            <a:r>
              <a:t>SAY: Let's think about Ben's story. Who is the story about? Point to your answer.</a:t>
            </a:r>
          </a:p>
          <a:p/>
          <a:p>
            <a:r>
              <a:t>INSTRUCTIONS: Read the question and all three choices aloud. The student points — they do not need to read the options. One question at a time.</a:t>
            </a:r>
          </a:p>
          <a:p/>
          <a:p>
            <a:r>
              <a:t>EXPECTED RESPONSE: 1. Bear   2. Ball   3. Under the tree</a:t>
            </a:r>
          </a:p>
          <a:p/>
          <a:p>
            <a:r>
              <a:t>IF THE STUDENT STRUGGLES: Turn back to the story slide and read the line that holds the answer, then ask again.</a:t>
            </a:r>
          </a:p>
          <a:p/>
          <a:p>
            <a:r>
              <a:t>EASIER ALTERNATIVE: Offer two choices instead of three.</a:t>
            </a:r>
          </a:p>
          <a:p/>
          <a:p>
            <a:r>
              <a:t>OPTIONAL CHALLENGE: Ask them to say the answer in a full sentence: 'The story is about a bear.'</a:t>
            </a:r>
          </a:p>
          <a:p/>
          <a:p>
            <a:r>
              <a:t>ENCOURAGEMENT: That is exactly right! You remembered the story so well.</a:t>
            </a:r>
          </a:p>
          <a:p/>
          <a:p>
            <a:r>
              <a:t>OBSERVE (assessment): Note literal recall of who, what and where.</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78–84 min</a:t>
            </a:r>
          </a:p>
          <a:p/>
          <a:p>
            <a:r>
              <a:t>SAY: Listen to my sentence and point to the picture that matches. Ben has a red ball. Which picture?</a:t>
            </a:r>
          </a:p>
          <a:p/>
          <a:p>
            <a:r>
              <a:t>INSTRUCTIONS: Read each sentence twice. The student points only. Then ask the two remaining story questions at the bottom out loud.</a:t>
            </a:r>
          </a:p>
          <a:p/>
          <a:p>
            <a:r>
              <a:t>EXPECTED RESPONSE: 🔴 ball  •  🐱 cat  •  🌳 tree.  Question 4: It was gone.  Question 5: Happy.</a:t>
            </a:r>
          </a:p>
          <a:p/>
          <a:p>
            <a:r>
              <a:t>IF THE STUDENT STRUGGLES: Reread the sentence and stress the key noun: 'Ben has a red BALL.'</a:t>
            </a:r>
          </a:p>
          <a:p/>
          <a:p>
            <a:r>
              <a:t>EASIER ALTERNATIVE: Show only two pictures to choose between.</a:t>
            </a:r>
          </a:p>
          <a:p/>
          <a:p>
            <a:r>
              <a:t>OPTIONAL CHALLENGE: Ask them to read the sentence themselves before pointing.</a:t>
            </a:r>
          </a:p>
          <a:p/>
          <a:p>
            <a:r>
              <a:t>ENCOURAGEMENT: You are listening so carefully. Perfect matching!</a:t>
            </a:r>
          </a:p>
          <a:p/>
          <a:p>
            <a:r>
              <a:t>OBSERVE (assessment): Note listening comprehension separate from decoding skill — often much stronger.</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84–87 min</a:t>
            </a:r>
          </a:p>
          <a:p/>
          <a:p>
            <a:r>
              <a:t>SAY: Last challenge! Read as many as you can. There is no pass or fail here — every word you read is a win. Ready?</a:t>
            </a:r>
          </a:p>
          <a:p/>
          <a:p>
            <a:r>
              <a:t>INSTRUCTIONS: Count successes out loud as they go: 'That's two! That's three!' Never mention misses. If they stall on a word, supply it warmly and move on immediately.</a:t>
            </a:r>
          </a:p>
          <a:p/>
          <a:p>
            <a:r>
              <a:t>EXPECTED RESPONSE: CAT, SUN, BIG, RUN, RED. I see a cat. The sun is big. Ben can run.</a:t>
            </a:r>
          </a:p>
          <a:p/>
          <a:p>
            <a:r>
              <a:t>IF THE STUDENT STRUGGLES: Sound out the first word together to get momentum, then step back.</a:t>
            </a:r>
          </a:p>
          <a:p/>
          <a:p>
            <a:r>
              <a:t>EASIER ALTERNATIVE: Do the five words only and skip the sentences.</a:t>
            </a:r>
          </a:p>
          <a:p/>
          <a:p>
            <a:r>
              <a:t>OPTIONAL CHALLENGE: Ask them to read one sentence in a silly voice.</a:t>
            </a:r>
          </a:p>
          <a:p/>
          <a:p>
            <a:r>
              <a:t>ENCOURAGEMENT: You read four words! Look how much you learned in one class.</a:t>
            </a:r>
          </a:p>
          <a:p/>
          <a:p>
            <a:r>
              <a:t>OBSERVE (assessment): This is your key progress record — note exactly how many words and sentences were read independently, and compare next lesson.</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87–90 min</a:t>
            </a:r>
          </a:p>
          <a:p/>
          <a:p>
            <a:r>
              <a:t>SAY: Look at everything you did today! Sounds, blending, new words, sight words, sentences, and a whole story. That is a lot for one class.</a:t>
            </a:r>
          </a:p>
          <a:p/>
          <a:p>
            <a:r>
              <a:t>INSTRUCTIONS: Point to each card and let the student say what they remember. Then ask the two questions at the bottom. Keep it celebratory, about one minute.</a:t>
            </a:r>
          </a:p>
          <a:p/>
          <a:p>
            <a:r>
              <a:t>EXPECTED RESPONSE: The student names a favorite game and recalls at least two words.</a:t>
            </a:r>
          </a:p>
          <a:p/>
          <a:p>
            <a:r>
              <a:t>IF THE STUDENT STRUGGLES: Prompt with the first sound: 'We read about a b... bear!'</a:t>
            </a:r>
          </a:p>
          <a:p/>
          <a:p>
            <a:r>
              <a:t>EASIER ALTERNATIVE: Ask only 'What was your favorite game today?'</a:t>
            </a:r>
          </a:p>
          <a:p/>
          <a:p>
            <a:r>
              <a:t>OPTIONAL CHALLENGE: Ask them to teach YOU one thing they learned.</a:t>
            </a:r>
          </a:p>
          <a:p/>
          <a:p>
            <a:r>
              <a:t>ENCOURAGEMENT: You should be really proud of yourself today. I certainly am.</a:t>
            </a:r>
          </a:p>
          <a:p/>
          <a:p>
            <a:r>
              <a:t>OBSERVE (assessment): Note what the student retains without prompting — a good measure of the lesson.</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87–90 min</a:t>
            </a:r>
          </a:p>
          <a:p/>
          <a:p>
            <a:r>
              <a:t>SAY: Look at all your stars! Let's count them together. One, two, three... You earned every single one.</a:t>
            </a:r>
          </a:p>
          <a:p/>
          <a:p>
            <a:r>
              <a:t>INSTRUCTIONS: Count aloud together, touching each star. Make it a genuine celebration — this is the emotional high point of the lesson.</a:t>
            </a:r>
          </a:p>
          <a:p/>
          <a:p>
            <a:r>
              <a:t>EXPECTED RESPONSE: The student counts to eight along with you.</a:t>
            </a:r>
          </a:p>
          <a:p/>
          <a:p>
            <a:r>
              <a:t>IF THE STUDENT STRUGGLES: Count for them and let them just touch each star.</a:t>
            </a:r>
          </a:p>
          <a:p/>
          <a:p>
            <a:r>
              <a:t>EASIER ALTERNATIVE: Count only the stars for activities they clearly enjoyed.</a:t>
            </a:r>
          </a:p>
          <a:p/>
          <a:p>
            <a:r>
              <a:t>OPTIONAL CHALLENGE: Ask which star they worked hardest for.</a:t>
            </a:r>
          </a:p>
          <a:p/>
          <a:p>
            <a:r>
              <a:t>ENCOURAGEMENT: Eight stars! That is a full adventure completed.</a:t>
            </a:r>
          </a:p>
          <a:p/>
          <a:p>
            <a:r>
              <a:t>OBSERVE (assessment): Note pride and engagement — key indicators for a struggling reader's motivation.</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87–90 min</a:t>
            </a:r>
          </a:p>
          <a:p/>
          <a:p>
            <a:r>
              <a:t>SAY: This badge is for you. You are officially a Reading Explorer. You read sounds, words, sentences and a whole story today, and Ben the Bear says thank you!</a:t>
            </a:r>
          </a:p>
          <a:p/>
          <a:p>
            <a:r>
              <a:t>INSTRUCTIONS: Screenshot this slide and send it to the parent after class. End on maximum warmth and energy.</a:t>
            </a:r>
          </a:p>
          <a:p/>
          <a:p>
            <a:r>
              <a:t>EXPECTED RESPONSE: The student smiles, says thank you, or asks about the next class.</a:t>
            </a:r>
          </a:p>
          <a:p/>
          <a:p>
            <a:r>
              <a:t>IF THE STUDENT STRUGGLES: If they seem shy about praise, name one concrete fact: 'You read eight words all by yourself.'</a:t>
            </a:r>
          </a:p>
          <a:p/>
          <a:p>
            <a:r>
              <a:t>EASIER ALTERNATIVE: Simply say 'You did it!' and give a high five.</a:t>
            </a:r>
          </a:p>
          <a:p/>
          <a:p>
            <a:r>
              <a:t>OPTIONAL CHALLENGE: Ask what adventure Ben should go on next time.</a:t>
            </a:r>
          </a:p>
          <a:p/>
          <a:p>
            <a:r>
              <a:t>ENCOURAGEMENT: I am so proud of you. See you next time, Reading Explorer!</a:t>
            </a:r>
          </a:p>
          <a:p/>
          <a:p>
            <a:r>
              <a:t>OBSERVE (assessment): Note the overall emotional tone at the end — did the student leave feeling capable?</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After class</a:t>
            </a:r>
          </a:p>
          <a:p/>
          <a:p>
            <a:r>
              <a:t>SAY: This is not homework you have to do — it is just something fun if you want to. My favorite is reading to a grown-up, because they will be so impressed!</a:t>
            </a:r>
          </a:p>
          <a:p/>
          <a:p>
            <a:r>
              <a:t>INSTRUCTIONS: Let the student pick one out loud so they own the choice. Tell the parent that daily practice should stay under ten minutes for a struggling reader.</a:t>
            </a:r>
          </a:p>
          <a:p/>
          <a:p>
            <a:r>
              <a:t>EXPECTED RESPONSE: The student picks one activity and says when they will do it.</a:t>
            </a:r>
          </a:p>
          <a:p/>
          <a:p>
            <a:r>
              <a:t>IF THE STUDENT STRUGGLES: Say clearly: 'Doing none of these is also completely fine.'</a:t>
            </a:r>
          </a:p>
          <a:p/>
          <a:p>
            <a:r>
              <a:t>EASIER ALTERNATIVE: Suggest only the drawing task, which carries no reading pressure.</a:t>
            </a:r>
          </a:p>
          <a:p/>
          <a:p>
            <a:r>
              <a:t>OPTIONAL CHALLENGE: Invite them to bring their drawing to the next class.</a:t>
            </a:r>
          </a:p>
          <a:p/>
          <a:p>
            <a:r>
              <a:t>ENCOURAGEMENT: Great pick! I cannot wait to hear about it next time.</a:t>
            </a:r>
          </a:p>
          <a:p/>
          <a:p>
            <a:r>
              <a:t>OBSERVE (assessment): Note parental support available at home, if the parent is present.</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After class</a:t>
            </a:r>
          </a:p>
          <a:p/>
          <a:p>
            <a:r>
              <a:t>SAY: TEACHER SLIDE — do not display to the student.</a:t>
            </a:r>
          </a:p>
          <a:p/>
          <a:p>
            <a:r>
              <a:t>INSTRUCTIONS: Complete this within five minutes of finishing, while details are fresh. Record the Final Reading Challenge score (words and sentences read independently) in the notes column — that is the clearest progress measure across lessons.</a:t>
            </a:r>
          </a:p>
          <a:p/>
          <a:p>
            <a:r>
              <a:t>EXPECTED RESPONSE: A struggling Grade 2 reader typically lands at 1–2 stars for sentence reading and 2–3 for comprehension, since listening comprehension usually outpaces decoding.</a:t>
            </a:r>
          </a:p>
          <a:p/>
          <a:p>
            <a:r>
              <a:t>IF THE STUDENT STRUGGLES: Avoid rating harshly on a first session — it discourages both student and parent.</a:t>
            </a:r>
          </a:p>
          <a:p/>
          <a:p>
            <a:r>
              <a:t>EASIER ALTERNATIVE: If unsure between two levels, choose the higher one and note what to watch next.</a:t>
            </a:r>
          </a:p>
          <a:p/>
          <a:p>
            <a:r>
              <a:t>OPTIONAL CHALLENGE: Add one specific next-step goal per skill for the following lesson.</a:t>
            </a:r>
          </a:p>
          <a:p/>
          <a:p>
            <a:r>
              <a:t>ENCOURAGEMENT: Frame all parent feedback as strengths first, then one growth area, then the plan.</a:t>
            </a:r>
          </a:p>
          <a:p/>
          <a:p>
            <a:r>
              <a:t>OBSERVE (assessment): Compare against the previous lesson's record to show measurable progress.</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TIMING: Reference</a:t>
            </a:r>
          </a:p>
          <a:p/>
          <a:p>
            <a:r>
              <a:t>SAY: TEACHER SLIDE — full answer key for every game in this lesson.</a:t>
            </a:r>
          </a:p>
          <a:p/>
          <a:p>
            <a:r>
              <a:t>INSTRUCTIONS: Hide this slide in PowerPoint (right-click the thumbnail, then Hide Slide) before presenting, or keep it open on a second screen.</a:t>
            </a:r>
          </a:p>
          <a:p/>
          <a:p>
            <a:r>
              <a:t>EXPECTED RESPONSE: See the slide content for all answers.</a:t>
            </a:r>
          </a:p>
          <a:p/>
          <a:p>
            <a:r>
              <a:t>IF THE STUDENT STRUGGLES: Accidentally displaying this slide to the student.</a:t>
            </a:r>
          </a:p>
          <a:p/>
          <a:p>
            <a:r>
              <a:t>EASIER ALTERNATIVE: Accept any reasonable phrasing for the spoken comprehension answers.</a:t>
            </a:r>
          </a:p>
          <a:p/>
          <a:p>
            <a:r>
              <a:t>OPTIONAL CHALLENGE: For a fast finisher, ask them to point to the line in the story that proves each answer.</a:t>
            </a:r>
          </a:p>
          <a:p/>
          <a:p>
            <a:r>
              <a:t>ENCOURAGEMENT: Reference only.</a:t>
            </a:r>
          </a:p>
          <a:p/>
          <a:p>
            <a:r>
              <a:t>OBSERVE (assessment): Use the Word Hunt and Word Detective results to choose next lesson's review words.</a:t>
            </a:r>
          </a:p>
          <a:p/>
          <a:p>
            <a:r>
              <a:t>NEVER say "Wrong." Say "Almost! Let's try it together." Give 5 seconds of thinking time before helping.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37744"/>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685800"/>
            <a:ext cx="731520" cy="731520"/>
          </a:xfrm>
          <a:prstGeom prst="ellipse">
            <a:avLst/>
          </a:prstGeom>
          <a:solidFill>
            <a:srgbClr val="2E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927080" y="731520"/>
            <a:ext cx="731520" cy="731520"/>
          </a:xfrm>
          <a:prstGeom prst="ellipse">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5349240"/>
            <a:ext cx="731520" cy="731520"/>
          </a:xfrm>
          <a:prstGeom prst="ellipse">
            <a:avLst/>
          </a:prstGeom>
          <a:solidFill>
            <a:srgbClr val="009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5303520"/>
            <a:ext cx="731520" cy="731520"/>
          </a:xfrm>
          <a:prstGeom prst="ellipse">
            <a:avLst/>
          </a:prstGeom>
          <a:solidFill>
            <a:srgbClr val="F2A1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43000"/>
            <a:ext cx="10972800" cy="1005840"/>
          </a:xfrm>
          <a:prstGeom prst="rect">
            <a:avLst/>
          </a:prstGeom>
          <a:noFill/>
        </p:spPr>
        <p:txBody>
          <a:bodyPr wrap="square">
            <a:spAutoFit/>
          </a:bodyPr>
          <a:lstStyle/>
          <a:p>
            <a:pPr algn="ctr"/>
            <a:r>
              <a:rPr sz="6400" b="0">
                <a:solidFill>
                  <a:srgbClr val="242C38"/>
                </a:solidFill>
                <a:latin typeface="Calibri"/>
              </a:rPr>
              <a:t>🐻</a:t>
            </a:r>
          </a:p>
        </p:txBody>
      </p:sp>
      <p:sp>
        <p:nvSpPr>
          <p:cNvPr id="9" name="TextBox 8"/>
          <p:cNvSpPr txBox="1"/>
          <p:nvPr/>
        </p:nvSpPr>
        <p:spPr>
          <a:xfrm>
            <a:off x="640080" y="2148840"/>
            <a:ext cx="10972800" cy="777240"/>
          </a:xfrm>
          <a:prstGeom prst="rect">
            <a:avLst/>
          </a:prstGeom>
          <a:noFill/>
        </p:spPr>
        <p:txBody>
          <a:bodyPr wrap="square">
            <a:spAutoFit/>
          </a:bodyPr>
          <a:lstStyle/>
          <a:p>
            <a:pPr algn="ctr"/>
            <a:r>
              <a:rPr sz="4200" b="1">
                <a:solidFill>
                  <a:srgbClr val="FFFFFF"/>
                </a:solidFill>
                <a:latin typeface="Georgia"/>
              </a:rPr>
              <a:t>Welcome, Reading Explorer!</a:t>
            </a:r>
          </a:p>
        </p:txBody>
      </p:sp>
      <p:sp>
        <p:nvSpPr>
          <p:cNvPr id="10" name="TextBox 9"/>
          <p:cNvSpPr txBox="1"/>
          <p:nvPr/>
        </p:nvSpPr>
        <p:spPr>
          <a:xfrm>
            <a:off x="640080" y="3017520"/>
            <a:ext cx="10972800" cy="457200"/>
          </a:xfrm>
          <a:prstGeom prst="rect">
            <a:avLst/>
          </a:prstGeom>
          <a:noFill/>
        </p:spPr>
        <p:txBody>
          <a:bodyPr wrap="square">
            <a:spAutoFit/>
          </a:bodyPr>
          <a:lstStyle/>
          <a:p>
            <a:pPr algn="ctr"/>
            <a:r>
              <a:rPr sz="1800" b="0">
                <a:solidFill>
                  <a:srgbClr val="E2F3FD"/>
                </a:solidFill>
                <a:latin typeface="Calibri"/>
              </a:rPr>
              <a:t>The Bear's Reading Adventure  •  Grade 2  •  90 Minutes</a:t>
            </a:r>
          </a:p>
        </p:txBody>
      </p:sp>
      <p:sp>
        <p:nvSpPr>
          <p:cNvPr id="11" name="Rounded Rectangle 10"/>
          <p:cNvSpPr/>
          <p:nvPr/>
        </p:nvSpPr>
        <p:spPr>
          <a:xfrm>
            <a:off x="3200400" y="3703320"/>
            <a:ext cx="5760720" cy="1143000"/>
          </a:xfrm>
          <a:prstGeom prst="roundRect">
            <a:avLst/>
          </a:prstGeom>
          <a:solidFill>
            <a:srgbClr val="2E7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0" y="3931920"/>
            <a:ext cx="5394960" cy="731520"/>
          </a:xfrm>
          <a:prstGeom prst="rect">
            <a:avLst/>
          </a:prstGeom>
          <a:noFill/>
        </p:spPr>
        <p:txBody>
          <a:bodyPr wrap="square">
            <a:spAutoFit/>
          </a:bodyPr>
          <a:lstStyle/>
          <a:p>
            <a:pPr algn="ctr"/>
            <a:r>
              <a:rPr sz="1800" b="1">
                <a:solidFill>
                  <a:srgbClr val="FFFFFF"/>
                </a:solidFill>
                <a:latin typeface="Calibri"/>
              </a:rPr>
              <a:t>Ben the Bear needs a reading buddy.
Today, that's YOU! ⭐</a:t>
            </a:r>
          </a:p>
        </p:txBody>
      </p:sp>
      <p:sp>
        <p:nvSpPr>
          <p:cNvPr id="13" name="TextBox 12"/>
          <p:cNvSpPr txBox="1"/>
          <p:nvPr/>
        </p:nvSpPr>
        <p:spPr>
          <a:xfrm>
            <a:off x="640080" y="5166360"/>
            <a:ext cx="10972800" cy="457200"/>
          </a:xfrm>
          <a:prstGeom prst="rect">
            <a:avLst/>
          </a:prstGeom>
          <a:noFill/>
        </p:spPr>
        <p:txBody>
          <a:bodyPr wrap="square">
            <a:spAutoFit/>
          </a:bodyPr>
          <a:lstStyle/>
          <a:p>
            <a:pPr algn="ctr"/>
            <a:r>
              <a:rPr sz="1800" b="1">
                <a:solidFill>
                  <a:srgbClr val="FFC42E"/>
                </a:solidFill>
                <a:latin typeface="Calibri"/>
              </a:rPr>
              <a:t>🔤 Sounds  →  🧩 Words  →  📖 Sentences  →  📚 A Story</a:t>
            </a:r>
          </a:p>
        </p:txBody>
      </p:sp>
      <p:sp>
        <p:nvSpPr>
          <p:cNvPr id="14" name="Rectangle 13"/>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6419088"/>
            <a:ext cx="348334"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Welcome  |  0–5 min</a:t>
            </a:r>
          </a:p>
        </p:txBody>
      </p:sp>
      <p:sp>
        <p:nvSpPr>
          <p:cNvPr id="18" name="TextBox 17"/>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1 / 35</a:t>
            </a:r>
          </a:p>
        </p:txBody>
      </p:sp>
    </p:spTree>
  </p:cSld>
  <p:clrMapOvr>
    <a:masterClrMapping/>
  </p:clrMapOvr>
  <p:transition spd="med"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F2A1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F2A1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MISSION</a:t>
            </a:r>
          </a:p>
        </p:txBody>
      </p:sp>
      <p:sp>
        <p:nvSpPr>
          <p:cNvPr id="6" name="Rounded Rectangle 5"/>
          <p:cNvSpPr/>
          <p:nvPr/>
        </p:nvSpPr>
        <p:spPr>
          <a:xfrm>
            <a:off x="9418320" y="237744"/>
            <a:ext cx="242316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a:solidFill>
                  <a:srgbClr val="FFFFFF"/>
                </a:solidFill>
                <a:latin typeface="Calibri"/>
              </a:rPr>
              <a:t>0–5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Today's Mission</a:t>
            </a:r>
          </a:p>
        </p:txBody>
      </p:sp>
      <p:sp>
        <p:nvSpPr>
          <p:cNvPr id="9" name="Rectangle 8"/>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696668"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Mission  |  0–5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2 / 35</a:t>
            </a:r>
          </a:p>
        </p:txBody>
      </p:sp>
      <p:sp>
        <p:nvSpPr>
          <p:cNvPr id="14" name="Rounded Rectangle 13"/>
          <p:cNvSpPr/>
          <p:nvPr/>
        </p:nvSpPr>
        <p:spPr>
          <a:xfrm>
            <a:off x="411480" y="1463040"/>
            <a:ext cx="274320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63040" y="1645920"/>
            <a:ext cx="640080" cy="640080"/>
          </a:xfrm>
          <a:prstGeom prst="ellipse">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63040" y="1746504"/>
            <a:ext cx="640080" cy="457200"/>
          </a:xfrm>
          <a:prstGeom prst="rect">
            <a:avLst/>
          </a:prstGeom>
          <a:noFill/>
        </p:spPr>
        <p:txBody>
          <a:bodyPr wrap="square">
            <a:spAutoFit/>
          </a:bodyPr>
          <a:lstStyle/>
          <a:p>
            <a:pPr algn="ctr"/>
            <a:r>
              <a:rPr sz="2000" b="0">
                <a:solidFill>
                  <a:srgbClr val="242C38"/>
                </a:solidFill>
                <a:latin typeface="Calibri"/>
              </a:rPr>
              <a:t>🔤</a:t>
            </a:r>
          </a:p>
        </p:txBody>
      </p:sp>
      <p:sp>
        <p:nvSpPr>
          <p:cNvPr id="17" name="TextBox 16"/>
          <p:cNvSpPr txBox="1"/>
          <p:nvPr/>
        </p:nvSpPr>
        <p:spPr>
          <a:xfrm>
            <a:off x="521208" y="2395728"/>
            <a:ext cx="2523744" cy="594360"/>
          </a:xfrm>
          <a:prstGeom prst="rect">
            <a:avLst/>
          </a:prstGeom>
          <a:noFill/>
        </p:spPr>
        <p:txBody>
          <a:bodyPr wrap="square">
            <a:spAutoFit/>
          </a:bodyPr>
          <a:lstStyle/>
          <a:p>
            <a:pPr algn="ctr"/>
            <a:r>
              <a:rPr sz="1500" b="1">
                <a:solidFill>
                  <a:srgbClr val="16366B"/>
                </a:solidFill>
                <a:latin typeface="Calibri"/>
              </a:rPr>
              <a:t>Letter Sounds</a:t>
            </a:r>
          </a:p>
        </p:txBody>
      </p:sp>
      <p:sp>
        <p:nvSpPr>
          <p:cNvPr id="18" name="TextBox 17"/>
          <p:cNvSpPr txBox="1"/>
          <p:nvPr/>
        </p:nvSpPr>
        <p:spPr>
          <a:xfrm>
            <a:off x="521208" y="2944368"/>
            <a:ext cx="2523744" cy="320040"/>
          </a:xfrm>
          <a:prstGeom prst="rect">
            <a:avLst/>
          </a:prstGeom>
          <a:noFill/>
        </p:spPr>
        <p:txBody>
          <a:bodyPr wrap="square">
            <a:spAutoFit/>
          </a:bodyPr>
          <a:lstStyle/>
          <a:p>
            <a:pPr algn="ctr"/>
            <a:r>
              <a:rPr sz="1200" b="0">
                <a:solidFill>
                  <a:srgbClr val="6A7788"/>
                </a:solidFill>
                <a:latin typeface="Calibri"/>
              </a:rPr>
              <a:t>5–15 min</a:t>
            </a:r>
          </a:p>
        </p:txBody>
      </p:sp>
      <p:sp>
        <p:nvSpPr>
          <p:cNvPr id="19" name="Rounded Rectangle 18"/>
          <p:cNvSpPr/>
          <p:nvPr/>
        </p:nvSpPr>
        <p:spPr>
          <a:xfrm>
            <a:off x="3319272" y="1463040"/>
            <a:ext cx="274320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370832" y="1645920"/>
            <a:ext cx="640080" cy="640080"/>
          </a:xfrm>
          <a:prstGeom prst="ellipse">
            <a:avLst/>
          </a:prstGeom>
          <a:solidFill>
            <a:srgbClr val="009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0832" y="1746504"/>
            <a:ext cx="640080" cy="457200"/>
          </a:xfrm>
          <a:prstGeom prst="rect">
            <a:avLst/>
          </a:prstGeom>
          <a:noFill/>
        </p:spPr>
        <p:txBody>
          <a:bodyPr wrap="square">
            <a:spAutoFit/>
          </a:bodyPr>
          <a:lstStyle/>
          <a:p>
            <a:pPr algn="ctr"/>
            <a:r>
              <a:rPr sz="2000" b="0">
                <a:solidFill>
                  <a:srgbClr val="242C38"/>
                </a:solidFill>
                <a:latin typeface="Calibri"/>
              </a:rPr>
              <a:t>🎵</a:t>
            </a:r>
          </a:p>
        </p:txBody>
      </p:sp>
      <p:sp>
        <p:nvSpPr>
          <p:cNvPr id="22" name="TextBox 21"/>
          <p:cNvSpPr txBox="1"/>
          <p:nvPr/>
        </p:nvSpPr>
        <p:spPr>
          <a:xfrm>
            <a:off x="3429000" y="2395728"/>
            <a:ext cx="2523744" cy="594360"/>
          </a:xfrm>
          <a:prstGeom prst="rect">
            <a:avLst/>
          </a:prstGeom>
          <a:noFill/>
        </p:spPr>
        <p:txBody>
          <a:bodyPr wrap="square">
            <a:spAutoFit/>
          </a:bodyPr>
          <a:lstStyle/>
          <a:p>
            <a:pPr algn="ctr"/>
            <a:r>
              <a:rPr sz="1500" b="1">
                <a:solidFill>
                  <a:srgbClr val="16366B"/>
                </a:solidFill>
                <a:latin typeface="Calibri"/>
              </a:rPr>
              <a:t>Blending</a:t>
            </a:r>
          </a:p>
        </p:txBody>
      </p:sp>
      <p:sp>
        <p:nvSpPr>
          <p:cNvPr id="23" name="TextBox 22"/>
          <p:cNvSpPr txBox="1"/>
          <p:nvPr/>
        </p:nvSpPr>
        <p:spPr>
          <a:xfrm>
            <a:off x="3429000" y="2944368"/>
            <a:ext cx="2523744" cy="320040"/>
          </a:xfrm>
          <a:prstGeom prst="rect">
            <a:avLst/>
          </a:prstGeom>
          <a:noFill/>
        </p:spPr>
        <p:txBody>
          <a:bodyPr wrap="square">
            <a:spAutoFit/>
          </a:bodyPr>
          <a:lstStyle/>
          <a:p>
            <a:pPr algn="ctr"/>
            <a:r>
              <a:rPr sz="1200" b="0">
                <a:solidFill>
                  <a:srgbClr val="6A7788"/>
                </a:solidFill>
                <a:latin typeface="Calibri"/>
              </a:rPr>
              <a:t>15–25 min</a:t>
            </a:r>
          </a:p>
        </p:txBody>
      </p:sp>
      <p:sp>
        <p:nvSpPr>
          <p:cNvPr id="24" name="Rounded Rectangle 23"/>
          <p:cNvSpPr/>
          <p:nvPr/>
        </p:nvSpPr>
        <p:spPr>
          <a:xfrm>
            <a:off x="6227064" y="1463040"/>
            <a:ext cx="274320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278624" y="1645920"/>
            <a:ext cx="640080" cy="640080"/>
          </a:xfrm>
          <a:prstGeom prst="ellipse">
            <a:avLst/>
          </a:prstGeom>
          <a:solidFill>
            <a:srgbClr val="8B5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78624" y="1746504"/>
            <a:ext cx="640080" cy="457200"/>
          </a:xfrm>
          <a:prstGeom prst="rect">
            <a:avLst/>
          </a:prstGeom>
          <a:noFill/>
        </p:spPr>
        <p:txBody>
          <a:bodyPr wrap="square">
            <a:spAutoFit/>
          </a:bodyPr>
          <a:lstStyle/>
          <a:p>
            <a:pPr algn="ctr"/>
            <a:r>
              <a:rPr sz="2000" b="0">
                <a:solidFill>
                  <a:srgbClr val="242C38"/>
                </a:solidFill>
                <a:latin typeface="Calibri"/>
              </a:rPr>
              <a:t>🐻</a:t>
            </a:r>
          </a:p>
        </p:txBody>
      </p:sp>
      <p:sp>
        <p:nvSpPr>
          <p:cNvPr id="27" name="TextBox 26"/>
          <p:cNvSpPr txBox="1"/>
          <p:nvPr/>
        </p:nvSpPr>
        <p:spPr>
          <a:xfrm>
            <a:off x="6336792" y="2395728"/>
            <a:ext cx="2523744" cy="594360"/>
          </a:xfrm>
          <a:prstGeom prst="rect">
            <a:avLst/>
          </a:prstGeom>
          <a:noFill/>
        </p:spPr>
        <p:txBody>
          <a:bodyPr wrap="square">
            <a:spAutoFit/>
          </a:bodyPr>
          <a:lstStyle/>
          <a:p>
            <a:pPr algn="ctr"/>
            <a:r>
              <a:rPr sz="1500" b="1">
                <a:solidFill>
                  <a:srgbClr val="16366B"/>
                </a:solidFill>
                <a:latin typeface="Calibri"/>
              </a:rPr>
              <a:t>Feed the Bear</a:t>
            </a:r>
          </a:p>
        </p:txBody>
      </p:sp>
      <p:sp>
        <p:nvSpPr>
          <p:cNvPr id="28" name="TextBox 27"/>
          <p:cNvSpPr txBox="1"/>
          <p:nvPr/>
        </p:nvSpPr>
        <p:spPr>
          <a:xfrm>
            <a:off x="6336792" y="2944368"/>
            <a:ext cx="2523744" cy="320040"/>
          </a:xfrm>
          <a:prstGeom prst="rect">
            <a:avLst/>
          </a:prstGeom>
          <a:noFill/>
        </p:spPr>
        <p:txBody>
          <a:bodyPr wrap="square">
            <a:spAutoFit/>
          </a:bodyPr>
          <a:lstStyle/>
          <a:p>
            <a:pPr algn="ctr"/>
            <a:r>
              <a:rPr sz="1200" b="0">
                <a:solidFill>
                  <a:srgbClr val="6A7788"/>
                </a:solidFill>
                <a:latin typeface="Calibri"/>
              </a:rPr>
              <a:t>25–35 min</a:t>
            </a:r>
          </a:p>
        </p:txBody>
      </p:sp>
      <p:sp>
        <p:nvSpPr>
          <p:cNvPr id="29" name="Rounded Rectangle 28"/>
          <p:cNvSpPr/>
          <p:nvPr/>
        </p:nvSpPr>
        <p:spPr>
          <a:xfrm>
            <a:off x="9134856" y="1463040"/>
            <a:ext cx="274320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186416" y="1645920"/>
            <a:ext cx="640080" cy="640080"/>
          </a:xfrm>
          <a:prstGeom prst="ellipse">
            <a:avLst/>
          </a:prstGeom>
          <a:solidFill>
            <a:srgbClr val="7B4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186416" y="1746504"/>
            <a:ext cx="640080" cy="457200"/>
          </a:xfrm>
          <a:prstGeom prst="rect">
            <a:avLst/>
          </a:prstGeom>
          <a:noFill/>
        </p:spPr>
        <p:txBody>
          <a:bodyPr wrap="square">
            <a:spAutoFit/>
          </a:bodyPr>
          <a:lstStyle/>
          <a:p>
            <a:pPr algn="ctr"/>
            <a:r>
              <a:rPr sz="2000" b="0">
                <a:solidFill>
                  <a:srgbClr val="242C38"/>
                </a:solidFill>
                <a:latin typeface="Calibri"/>
              </a:rPr>
              <a:t>👀</a:t>
            </a:r>
          </a:p>
        </p:txBody>
      </p:sp>
      <p:sp>
        <p:nvSpPr>
          <p:cNvPr id="32" name="TextBox 31"/>
          <p:cNvSpPr txBox="1"/>
          <p:nvPr/>
        </p:nvSpPr>
        <p:spPr>
          <a:xfrm>
            <a:off x="9244584" y="2395728"/>
            <a:ext cx="2523744" cy="594360"/>
          </a:xfrm>
          <a:prstGeom prst="rect">
            <a:avLst/>
          </a:prstGeom>
          <a:noFill/>
        </p:spPr>
        <p:txBody>
          <a:bodyPr wrap="square">
            <a:spAutoFit/>
          </a:bodyPr>
          <a:lstStyle/>
          <a:p>
            <a:pPr algn="ctr"/>
            <a:r>
              <a:rPr sz="1500" b="1">
                <a:solidFill>
                  <a:srgbClr val="16366B"/>
                </a:solidFill>
                <a:latin typeface="Calibri"/>
              </a:rPr>
              <a:t>Sight Words</a:t>
            </a:r>
          </a:p>
        </p:txBody>
      </p:sp>
      <p:sp>
        <p:nvSpPr>
          <p:cNvPr id="33" name="TextBox 32"/>
          <p:cNvSpPr txBox="1"/>
          <p:nvPr/>
        </p:nvSpPr>
        <p:spPr>
          <a:xfrm>
            <a:off x="9244584" y="2944368"/>
            <a:ext cx="2523744" cy="320040"/>
          </a:xfrm>
          <a:prstGeom prst="rect">
            <a:avLst/>
          </a:prstGeom>
          <a:noFill/>
        </p:spPr>
        <p:txBody>
          <a:bodyPr wrap="square">
            <a:spAutoFit/>
          </a:bodyPr>
          <a:lstStyle/>
          <a:p>
            <a:pPr algn="ctr"/>
            <a:r>
              <a:rPr sz="1200" b="0">
                <a:solidFill>
                  <a:srgbClr val="6A7788"/>
                </a:solidFill>
                <a:latin typeface="Calibri"/>
              </a:rPr>
              <a:t>35–45 min</a:t>
            </a:r>
          </a:p>
        </p:txBody>
      </p:sp>
      <p:sp>
        <p:nvSpPr>
          <p:cNvPr id="34" name="Rounded Rectangle 33"/>
          <p:cNvSpPr/>
          <p:nvPr/>
        </p:nvSpPr>
        <p:spPr>
          <a:xfrm>
            <a:off x="411480" y="3657600"/>
            <a:ext cx="274320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463040" y="3840480"/>
            <a:ext cx="640080" cy="640080"/>
          </a:xfrm>
          <a:prstGeom prst="ellipse">
            <a:avLst/>
          </a:prstGeom>
          <a:solidFill>
            <a:srgbClr val="2E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463040" y="3941064"/>
            <a:ext cx="640080" cy="457200"/>
          </a:xfrm>
          <a:prstGeom prst="rect">
            <a:avLst/>
          </a:prstGeom>
          <a:noFill/>
        </p:spPr>
        <p:txBody>
          <a:bodyPr wrap="square">
            <a:spAutoFit/>
          </a:bodyPr>
          <a:lstStyle/>
          <a:p>
            <a:pPr algn="ctr"/>
            <a:r>
              <a:rPr sz="2000" b="0">
                <a:solidFill>
                  <a:srgbClr val="242C38"/>
                </a:solidFill>
                <a:latin typeface="Calibri"/>
              </a:rPr>
              <a:t>📖</a:t>
            </a:r>
          </a:p>
        </p:txBody>
      </p:sp>
      <p:sp>
        <p:nvSpPr>
          <p:cNvPr id="37" name="TextBox 36"/>
          <p:cNvSpPr txBox="1"/>
          <p:nvPr/>
        </p:nvSpPr>
        <p:spPr>
          <a:xfrm>
            <a:off x="521208" y="4590288"/>
            <a:ext cx="2523744" cy="594360"/>
          </a:xfrm>
          <a:prstGeom prst="rect">
            <a:avLst/>
          </a:prstGeom>
          <a:noFill/>
        </p:spPr>
        <p:txBody>
          <a:bodyPr wrap="square">
            <a:spAutoFit/>
          </a:bodyPr>
          <a:lstStyle/>
          <a:p>
            <a:pPr algn="ctr"/>
            <a:r>
              <a:rPr sz="1500" b="1">
                <a:solidFill>
                  <a:srgbClr val="16366B"/>
                </a:solidFill>
                <a:latin typeface="Calibri"/>
              </a:rPr>
              <a:t>Sentences</a:t>
            </a:r>
          </a:p>
        </p:txBody>
      </p:sp>
      <p:sp>
        <p:nvSpPr>
          <p:cNvPr id="38" name="TextBox 37"/>
          <p:cNvSpPr txBox="1"/>
          <p:nvPr/>
        </p:nvSpPr>
        <p:spPr>
          <a:xfrm>
            <a:off x="521208" y="5138928"/>
            <a:ext cx="2523744" cy="320040"/>
          </a:xfrm>
          <a:prstGeom prst="rect">
            <a:avLst/>
          </a:prstGeom>
          <a:noFill/>
        </p:spPr>
        <p:txBody>
          <a:bodyPr wrap="square">
            <a:spAutoFit/>
          </a:bodyPr>
          <a:lstStyle/>
          <a:p>
            <a:pPr algn="ctr"/>
            <a:r>
              <a:rPr sz="1200" b="0">
                <a:solidFill>
                  <a:srgbClr val="6A7788"/>
                </a:solidFill>
                <a:latin typeface="Calibri"/>
              </a:rPr>
              <a:t>50–68 min</a:t>
            </a:r>
          </a:p>
        </p:txBody>
      </p:sp>
      <p:sp>
        <p:nvSpPr>
          <p:cNvPr id="39" name="Rounded Rectangle 38"/>
          <p:cNvSpPr/>
          <p:nvPr/>
        </p:nvSpPr>
        <p:spPr>
          <a:xfrm>
            <a:off x="3319272" y="3657600"/>
            <a:ext cx="274320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370832" y="3840480"/>
            <a:ext cx="640080" cy="640080"/>
          </a:xfrm>
          <a:prstGeom prst="ellipse">
            <a:avLst/>
          </a:prstGeom>
          <a:solidFill>
            <a:srgbClr val="2E7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70832" y="3941064"/>
            <a:ext cx="640080" cy="457200"/>
          </a:xfrm>
          <a:prstGeom prst="rect">
            <a:avLst/>
          </a:prstGeom>
          <a:noFill/>
        </p:spPr>
        <p:txBody>
          <a:bodyPr wrap="square">
            <a:spAutoFit/>
          </a:bodyPr>
          <a:lstStyle/>
          <a:p>
            <a:pPr algn="ctr"/>
            <a:r>
              <a:rPr sz="2000" b="0">
                <a:solidFill>
                  <a:srgbClr val="242C38"/>
                </a:solidFill>
                <a:latin typeface="Calibri"/>
              </a:rPr>
              <a:t>📚</a:t>
            </a:r>
          </a:p>
        </p:txBody>
      </p:sp>
      <p:sp>
        <p:nvSpPr>
          <p:cNvPr id="42" name="TextBox 41"/>
          <p:cNvSpPr txBox="1"/>
          <p:nvPr/>
        </p:nvSpPr>
        <p:spPr>
          <a:xfrm>
            <a:off x="3429000" y="4590288"/>
            <a:ext cx="2523744" cy="594360"/>
          </a:xfrm>
          <a:prstGeom prst="rect">
            <a:avLst/>
          </a:prstGeom>
          <a:noFill/>
        </p:spPr>
        <p:txBody>
          <a:bodyPr wrap="square">
            <a:spAutoFit/>
          </a:bodyPr>
          <a:lstStyle/>
          <a:p>
            <a:pPr algn="ctr"/>
            <a:r>
              <a:rPr sz="1500" b="1">
                <a:solidFill>
                  <a:srgbClr val="16366B"/>
                </a:solidFill>
                <a:latin typeface="Calibri"/>
              </a:rPr>
              <a:t>Ben's Story</a:t>
            </a:r>
          </a:p>
        </p:txBody>
      </p:sp>
      <p:sp>
        <p:nvSpPr>
          <p:cNvPr id="43" name="TextBox 42"/>
          <p:cNvSpPr txBox="1"/>
          <p:nvPr/>
        </p:nvSpPr>
        <p:spPr>
          <a:xfrm>
            <a:off x="3429000" y="5138928"/>
            <a:ext cx="2523744" cy="320040"/>
          </a:xfrm>
          <a:prstGeom prst="rect">
            <a:avLst/>
          </a:prstGeom>
          <a:noFill/>
        </p:spPr>
        <p:txBody>
          <a:bodyPr wrap="square">
            <a:spAutoFit/>
          </a:bodyPr>
          <a:lstStyle/>
          <a:p>
            <a:pPr algn="ctr"/>
            <a:r>
              <a:rPr sz="1200" b="0">
                <a:solidFill>
                  <a:srgbClr val="6A7788"/>
                </a:solidFill>
                <a:latin typeface="Calibri"/>
              </a:rPr>
              <a:t>68–84 min</a:t>
            </a:r>
          </a:p>
        </p:txBody>
      </p:sp>
      <p:sp>
        <p:nvSpPr>
          <p:cNvPr id="44" name="Rounded Rectangle 43"/>
          <p:cNvSpPr/>
          <p:nvPr/>
        </p:nvSpPr>
        <p:spPr>
          <a:xfrm>
            <a:off x="6227064" y="3657600"/>
            <a:ext cx="274320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278624" y="3840480"/>
            <a:ext cx="640080" cy="640080"/>
          </a:xfrm>
          <a:prstGeom prst="ellipse">
            <a:avLst/>
          </a:prstGeom>
          <a:solidFill>
            <a:srgbClr val="F2A1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78624" y="3941064"/>
            <a:ext cx="640080" cy="457200"/>
          </a:xfrm>
          <a:prstGeom prst="rect">
            <a:avLst/>
          </a:prstGeom>
          <a:noFill/>
        </p:spPr>
        <p:txBody>
          <a:bodyPr wrap="square">
            <a:spAutoFit/>
          </a:bodyPr>
          <a:lstStyle/>
          <a:p>
            <a:pPr algn="ctr"/>
            <a:r>
              <a:rPr sz="2000" b="0">
                <a:solidFill>
                  <a:srgbClr val="242C38"/>
                </a:solidFill>
                <a:latin typeface="Calibri"/>
              </a:rPr>
              <a:t>🎯</a:t>
            </a:r>
          </a:p>
        </p:txBody>
      </p:sp>
      <p:sp>
        <p:nvSpPr>
          <p:cNvPr id="47" name="TextBox 46"/>
          <p:cNvSpPr txBox="1"/>
          <p:nvPr/>
        </p:nvSpPr>
        <p:spPr>
          <a:xfrm>
            <a:off x="6336792" y="4590288"/>
            <a:ext cx="2523744" cy="594360"/>
          </a:xfrm>
          <a:prstGeom prst="rect">
            <a:avLst/>
          </a:prstGeom>
          <a:noFill/>
        </p:spPr>
        <p:txBody>
          <a:bodyPr wrap="square">
            <a:spAutoFit/>
          </a:bodyPr>
          <a:lstStyle/>
          <a:p>
            <a:pPr algn="ctr"/>
            <a:r>
              <a:rPr sz="1500" b="1">
                <a:solidFill>
                  <a:srgbClr val="16366B"/>
                </a:solidFill>
                <a:latin typeface="Calibri"/>
              </a:rPr>
              <a:t>Big Challenge</a:t>
            </a:r>
          </a:p>
        </p:txBody>
      </p:sp>
      <p:sp>
        <p:nvSpPr>
          <p:cNvPr id="48" name="TextBox 47"/>
          <p:cNvSpPr txBox="1"/>
          <p:nvPr/>
        </p:nvSpPr>
        <p:spPr>
          <a:xfrm>
            <a:off x="6336792" y="5138928"/>
            <a:ext cx="2523744" cy="320040"/>
          </a:xfrm>
          <a:prstGeom prst="rect">
            <a:avLst/>
          </a:prstGeom>
          <a:noFill/>
        </p:spPr>
        <p:txBody>
          <a:bodyPr wrap="square">
            <a:spAutoFit/>
          </a:bodyPr>
          <a:lstStyle/>
          <a:p>
            <a:pPr algn="ctr"/>
            <a:r>
              <a:rPr sz="1200" b="0">
                <a:solidFill>
                  <a:srgbClr val="6A7788"/>
                </a:solidFill>
                <a:latin typeface="Calibri"/>
              </a:rPr>
              <a:t>84–87 min</a:t>
            </a:r>
          </a:p>
        </p:txBody>
      </p:sp>
      <p:sp>
        <p:nvSpPr>
          <p:cNvPr id="49" name="Rounded Rectangle 48"/>
          <p:cNvSpPr/>
          <p:nvPr/>
        </p:nvSpPr>
        <p:spPr>
          <a:xfrm>
            <a:off x="9134856" y="3657600"/>
            <a:ext cx="274320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186416" y="3840480"/>
            <a:ext cx="640080" cy="640080"/>
          </a:xfrm>
          <a:prstGeom prst="ellipse">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186416" y="3941064"/>
            <a:ext cx="640080" cy="457200"/>
          </a:xfrm>
          <a:prstGeom prst="rect">
            <a:avLst/>
          </a:prstGeom>
          <a:noFill/>
        </p:spPr>
        <p:txBody>
          <a:bodyPr wrap="square">
            <a:spAutoFit/>
          </a:bodyPr>
          <a:lstStyle/>
          <a:p>
            <a:pPr algn="ctr"/>
            <a:r>
              <a:rPr sz="2000" b="0">
                <a:solidFill>
                  <a:srgbClr val="242C38"/>
                </a:solidFill>
                <a:latin typeface="Calibri"/>
              </a:rPr>
              <a:t>🏆</a:t>
            </a:r>
          </a:p>
        </p:txBody>
      </p:sp>
      <p:sp>
        <p:nvSpPr>
          <p:cNvPr id="52" name="TextBox 51"/>
          <p:cNvSpPr txBox="1"/>
          <p:nvPr/>
        </p:nvSpPr>
        <p:spPr>
          <a:xfrm>
            <a:off x="9244584" y="4590288"/>
            <a:ext cx="2523744" cy="594360"/>
          </a:xfrm>
          <a:prstGeom prst="rect">
            <a:avLst/>
          </a:prstGeom>
          <a:noFill/>
        </p:spPr>
        <p:txBody>
          <a:bodyPr wrap="square">
            <a:spAutoFit/>
          </a:bodyPr>
          <a:lstStyle/>
          <a:p>
            <a:pPr algn="ctr"/>
            <a:r>
              <a:rPr sz="1500" b="1">
                <a:solidFill>
                  <a:srgbClr val="16366B"/>
                </a:solidFill>
                <a:latin typeface="Calibri"/>
              </a:rPr>
              <a:t>Your Badge</a:t>
            </a:r>
          </a:p>
        </p:txBody>
      </p:sp>
      <p:sp>
        <p:nvSpPr>
          <p:cNvPr id="53" name="TextBox 52"/>
          <p:cNvSpPr txBox="1"/>
          <p:nvPr/>
        </p:nvSpPr>
        <p:spPr>
          <a:xfrm>
            <a:off x="9244584" y="5138928"/>
            <a:ext cx="2523744" cy="320040"/>
          </a:xfrm>
          <a:prstGeom prst="rect">
            <a:avLst/>
          </a:prstGeom>
          <a:noFill/>
        </p:spPr>
        <p:txBody>
          <a:bodyPr wrap="square">
            <a:spAutoFit/>
          </a:bodyPr>
          <a:lstStyle/>
          <a:p>
            <a:pPr algn="ctr"/>
            <a:r>
              <a:rPr sz="1200" b="0">
                <a:solidFill>
                  <a:srgbClr val="6A7788"/>
                </a:solidFill>
                <a:latin typeface="Calibri"/>
              </a:rPr>
              <a:t>87–90 min</a:t>
            </a:r>
          </a:p>
        </p:txBody>
      </p:sp>
      <p:sp>
        <p:nvSpPr>
          <p:cNvPr id="54" name="TextBox 53"/>
          <p:cNvSpPr txBox="1"/>
          <p:nvPr/>
        </p:nvSpPr>
        <p:spPr>
          <a:xfrm>
            <a:off x="411480" y="5897880"/>
            <a:ext cx="8686800" cy="411480"/>
          </a:xfrm>
          <a:prstGeom prst="rect">
            <a:avLst/>
          </a:prstGeom>
          <a:noFill/>
        </p:spPr>
        <p:txBody>
          <a:bodyPr wrap="square">
            <a:spAutoFit/>
          </a:bodyPr>
          <a:lstStyle/>
          <a:p>
            <a:pPr algn="l"/>
            <a:r>
              <a:rPr sz="1600" b="1">
                <a:solidFill>
                  <a:srgbClr val="E85A4F"/>
                </a:solidFill>
                <a:latin typeface="Calibri"/>
              </a:rPr>
              <a:t>⭐ Earn a Reading Star at every stop. Collect all 8!</a:t>
            </a:r>
          </a:p>
        </p:txBody>
      </p:sp>
    </p:spTree>
  </p:cSld>
  <p:clrMapOvr>
    <a:masterClrMapping/>
  </p:clrMapOvr>
  <p:transition spd="med"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09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009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CONNECT</a:t>
            </a:r>
          </a:p>
        </p:txBody>
      </p:sp>
      <p:sp>
        <p:nvSpPr>
          <p:cNvPr id="6" name="Rounded Rectangle 5"/>
          <p:cNvSpPr/>
          <p:nvPr/>
        </p:nvSpPr>
        <p:spPr>
          <a:xfrm>
            <a:off x="9418320" y="237744"/>
            <a:ext cx="242316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a:solidFill>
                  <a:srgbClr val="FFFFFF"/>
                </a:solidFill>
                <a:latin typeface="Calibri"/>
              </a:rPr>
              <a:t>0–5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How Are You Today?</a:t>
            </a:r>
          </a:p>
        </p:txBody>
      </p:sp>
      <p:sp>
        <p:nvSpPr>
          <p:cNvPr id="9" name="Rectangle 8"/>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1045002"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Feelings  |  0–5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3 / 35</a:t>
            </a:r>
          </a:p>
        </p:txBody>
      </p:sp>
      <p:sp>
        <p:nvSpPr>
          <p:cNvPr id="14" name="TextBox 13"/>
          <p:cNvSpPr txBox="1"/>
          <p:nvPr/>
        </p:nvSpPr>
        <p:spPr>
          <a:xfrm>
            <a:off x="411480" y="1298448"/>
            <a:ext cx="10515600" cy="411480"/>
          </a:xfrm>
          <a:prstGeom prst="rect">
            <a:avLst/>
          </a:prstGeom>
          <a:noFill/>
        </p:spPr>
        <p:txBody>
          <a:bodyPr wrap="square">
            <a:spAutoFit/>
          </a:bodyPr>
          <a:lstStyle/>
          <a:p>
            <a:pPr algn="l"/>
            <a:r>
              <a:rPr sz="1700" b="1">
                <a:solidFill>
                  <a:srgbClr val="E85A4F"/>
                </a:solidFill>
                <a:latin typeface="Calibri"/>
              </a:rPr>
              <a:t>Point to your answer — no reading needed!</a:t>
            </a:r>
          </a:p>
        </p:txBody>
      </p:sp>
      <p:sp>
        <p:nvSpPr>
          <p:cNvPr id="15" name="Rounded Rectangle 14"/>
          <p:cNvSpPr/>
          <p:nvPr/>
        </p:nvSpPr>
        <p:spPr>
          <a:xfrm>
            <a:off x="502920" y="1828800"/>
            <a:ext cx="269748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2057400"/>
            <a:ext cx="2514600" cy="822960"/>
          </a:xfrm>
          <a:prstGeom prst="rect">
            <a:avLst/>
          </a:prstGeom>
          <a:noFill/>
        </p:spPr>
        <p:txBody>
          <a:bodyPr wrap="square">
            <a:spAutoFit/>
          </a:bodyPr>
          <a:lstStyle/>
          <a:p>
            <a:pPr algn="ctr"/>
            <a:r>
              <a:rPr sz="4400" b="0">
                <a:solidFill>
                  <a:srgbClr val="242C38"/>
                </a:solidFill>
                <a:latin typeface="Calibri"/>
              </a:rPr>
              <a:t>😀</a:t>
            </a:r>
          </a:p>
        </p:txBody>
      </p:sp>
      <p:sp>
        <p:nvSpPr>
          <p:cNvPr id="17" name="TextBox 16"/>
          <p:cNvSpPr txBox="1"/>
          <p:nvPr/>
        </p:nvSpPr>
        <p:spPr>
          <a:xfrm>
            <a:off x="594360" y="3017520"/>
            <a:ext cx="2514600" cy="411480"/>
          </a:xfrm>
          <a:prstGeom prst="rect">
            <a:avLst/>
          </a:prstGeom>
          <a:noFill/>
        </p:spPr>
        <p:txBody>
          <a:bodyPr wrap="square">
            <a:spAutoFit/>
          </a:bodyPr>
          <a:lstStyle/>
          <a:p>
            <a:pPr algn="ctr"/>
            <a:r>
              <a:rPr sz="1700" b="1">
                <a:solidFill>
                  <a:srgbClr val="16366B"/>
                </a:solidFill>
                <a:latin typeface="Calibri"/>
              </a:rPr>
              <a:t>Great</a:t>
            </a:r>
          </a:p>
        </p:txBody>
      </p:sp>
      <p:sp>
        <p:nvSpPr>
          <p:cNvPr id="18" name="Rounded Rectangle 17"/>
          <p:cNvSpPr/>
          <p:nvPr/>
        </p:nvSpPr>
        <p:spPr>
          <a:xfrm>
            <a:off x="3383280" y="1828800"/>
            <a:ext cx="269748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74720" y="2057400"/>
            <a:ext cx="2514600" cy="822960"/>
          </a:xfrm>
          <a:prstGeom prst="rect">
            <a:avLst/>
          </a:prstGeom>
          <a:noFill/>
        </p:spPr>
        <p:txBody>
          <a:bodyPr wrap="square">
            <a:spAutoFit/>
          </a:bodyPr>
          <a:lstStyle/>
          <a:p>
            <a:pPr algn="ctr"/>
            <a:r>
              <a:rPr sz="4400" b="0">
                <a:solidFill>
                  <a:srgbClr val="242C38"/>
                </a:solidFill>
                <a:latin typeface="Calibri"/>
              </a:rPr>
              <a:t>🙂</a:t>
            </a:r>
          </a:p>
        </p:txBody>
      </p:sp>
      <p:sp>
        <p:nvSpPr>
          <p:cNvPr id="20" name="TextBox 19"/>
          <p:cNvSpPr txBox="1"/>
          <p:nvPr/>
        </p:nvSpPr>
        <p:spPr>
          <a:xfrm>
            <a:off x="3474720" y="3017520"/>
            <a:ext cx="2514600" cy="411480"/>
          </a:xfrm>
          <a:prstGeom prst="rect">
            <a:avLst/>
          </a:prstGeom>
          <a:noFill/>
        </p:spPr>
        <p:txBody>
          <a:bodyPr wrap="square">
            <a:spAutoFit/>
          </a:bodyPr>
          <a:lstStyle/>
          <a:p>
            <a:pPr algn="ctr"/>
            <a:r>
              <a:rPr sz="1700" b="1">
                <a:solidFill>
                  <a:srgbClr val="16366B"/>
                </a:solidFill>
                <a:latin typeface="Calibri"/>
              </a:rPr>
              <a:t>Good</a:t>
            </a:r>
          </a:p>
        </p:txBody>
      </p:sp>
      <p:sp>
        <p:nvSpPr>
          <p:cNvPr id="21" name="Rounded Rectangle 20"/>
          <p:cNvSpPr/>
          <p:nvPr/>
        </p:nvSpPr>
        <p:spPr>
          <a:xfrm>
            <a:off x="6263640" y="1828800"/>
            <a:ext cx="269748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2057400"/>
            <a:ext cx="2514600" cy="822960"/>
          </a:xfrm>
          <a:prstGeom prst="rect">
            <a:avLst/>
          </a:prstGeom>
          <a:noFill/>
        </p:spPr>
        <p:txBody>
          <a:bodyPr wrap="square">
            <a:spAutoFit/>
          </a:bodyPr>
          <a:lstStyle/>
          <a:p>
            <a:pPr algn="ctr"/>
            <a:r>
              <a:rPr sz="4400" b="0">
                <a:solidFill>
                  <a:srgbClr val="242C38"/>
                </a:solidFill>
                <a:latin typeface="Calibri"/>
              </a:rPr>
              <a:t>😐</a:t>
            </a:r>
          </a:p>
        </p:txBody>
      </p:sp>
      <p:sp>
        <p:nvSpPr>
          <p:cNvPr id="23" name="TextBox 22"/>
          <p:cNvSpPr txBox="1"/>
          <p:nvPr/>
        </p:nvSpPr>
        <p:spPr>
          <a:xfrm>
            <a:off x="6355080" y="3017520"/>
            <a:ext cx="2514600" cy="411480"/>
          </a:xfrm>
          <a:prstGeom prst="rect">
            <a:avLst/>
          </a:prstGeom>
          <a:noFill/>
        </p:spPr>
        <p:txBody>
          <a:bodyPr wrap="square">
            <a:spAutoFit/>
          </a:bodyPr>
          <a:lstStyle/>
          <a:p>
            <a:pPr algn="ctr"/>
            <a:r>
              <a:rPr sz="1700" b="1">
                <a:solidFill>
                  <a:srgbClr val="16366B"/>
                </a:solidFill>
                <a:latin typeface="Calibri"/>
              </a:rPr>
              <a:t>Okay</a:t>
            </a:r>
          </a:p>
        </p:txBody>
      </p:sp>
      <p:sp>
        <p:nvSpPr>
          <p:cNvPr id="24" name="Rounded Rectangle 23"/>
          <p:cNvSpPr/>
          <p:nvPr/>
        </p:nvSpPr>
        <p:spPr>
          <a:xfrm>
            <a:off x="9144000" y="1828800"/>
            <a:ext cx="269748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35440" y="2057400"/>
            <a:ext cx="2514600" cy="822960"/>
          </a:xfrm>
          <a:prstGeom prst="rect">
            <a:avLst/>
          </a:prstGeom>
          <a:noFill/>
        </p:spPr>
        <p:txBody>
          <a:bodyPr wrap="square">
            <a:spAutoFit/>
          </a:bodyPr>
          <a:lstStyle/>
          <a:p>
            <a:pPr algn="ctr"/>
            <a:r>
              <a:rPr sz="4400" b="0">
                <a:solidFill>
                  <a:srgbClr val="242C38"/>
                </a:solidFill>
                <a:latin typeface="Calibri"/>
              </a:rPr>
              <a:t>😴</a:t>
            </a:r>
          </a:p>
        </p:txBody>
      </p:sp>
      <p:sp>
        <p:nvSpPr>
          <p:cNvPr id="26" name="TextBox 25"/>
          <p:cNvSpPr txBox="1"/>
          <p:nvPr/>
        </p:nvSpPr>
        <p:spPr>
          <a:xfrm>
            <a:off x="9235440" y="3017520"/>
            <a:ext cx="2514600" cy="411480"/>
          </a:xfrm>
          <a:prstGeom prst="rect">
            <a:avLst/>
          </a:prstGeom>
          <a:noFill/>
        </p:spPr>
        <p:txBody>
          <a:bodyPr wrap="square">
            <a:spAutoFit/>
          </a:bodyPr>
          <a:lstStyle/>
          <a:p>
            <a:pPr algn="ctr"/>
            <a:r>
              <a:rPr sz="1700" b="1">
                <a:solidFill>
                  <a:srgbClr val="16366B"/>
                </a:solidFill>
                <a:latin typeface="Calibri"/>
              </a:rPr>
              <a:t>Tired</a:t>
            </a:r>
          </a:p>
        </p:txBody>
      </p:sp>
      <p:sp>
        <p:nvSpPr>
          <p:cNvPr id="27" name="Rounded Rectangle 26"/>
          <p:cNvSpPr/>
          <p:nvPr/>
        </p:nvSpPr>
        <p:spPr>
          <a:xfrm>
            <a:off x="502920" y="3977639"/>
            <a:ext cx="8503920" cy="54864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078223"/>
            <a:ext cx="457200" cy="365760"/>
          </a:xfrm>
          <a:prstGeom prst="rect">
            <a:avLst/>
          </a:prstGeom>
          <a:noFill/>
        </p:spPr>
        <p:txBody>
          <a:bodyPr wrap="square">
            <a:spAutoFit/>
          </a:bodyPr>
          <a:lstStyle/>
          <a:p>
            <a:pPr algn="l"/>
            <a:r>
              <a:rPr sz="1600" b="0">
                <a:solidFill>
                  <a:srgbClr val="242C38"/>
                </a:solidFill>
                <a:latin typeface="Calibri"/>
              </a:rPr>
              <a:t>🐾</a:t>
            </a:r>
          </a:p>
        </p:txBody>
      </p:sp>
      <p:sp>
        <p:nvSpPr>
          <p:cNvPr id="29" name="TextBox 28"/>
          <p:cNvSpPr txBox="1"/>
          <p:nvPr/>
        </p:nvSpPr>
        <p:spPr>
          <a:xfrm>
            <a:off x="1234440" y="4087367"/>
            <a:ext cx="7589520" cy="365760"/>
          </a:xfrm>
          <a:prstGeom prst="rect">
            <a:avLst/>
          </a:prstGeom>
          <a:noFill/>
        </p:spPr>
        <p:txBody>
          <a:bodyPr wrap="square">
            <a:spAutoFit/>
          </a:bodyPr>
          <a:lstStyle/>
          <a:p>
            <a:pPr algn="l"/>
            <a:r>
              <a:rPr sz="1700" b="1">
                <a:solidFill>
                  <a:srgbClr val="16366B"/>
                </a:solidFill>
                <a:latin typeface="Calibri"/>
              </a:rPr>
              <a:t>What is your favorite animal?</a:t>
            </a:r>
          </a:p>
        </p:txBody>
      </p:sp>
      <p:sp>
        <p:nvSpPr>
          <p:cNvPr id="30" name="Rounded Rectangle 29"/>
          <p:cNvSpPr/>
          <p:nvPr/>
        </p:nvSpPr>
        <p:spPr>
          <a:xfrm>
            <a:off x="502920" y="4636007"/>
            <a:ext cx="8503920" cy="54864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736591"/>
            <a:ext cx="457200" cy="365760"/>
          </a:xfrm>
          <a:prstGeom prst="rect">
            <a:avLst/>
          </a:prstGeom>
          <a:noFill/>
        </p:spPr>
        <p:txBody>
          <a:bodyPr wrap="square">
            <a:spAutoFit/>
          </a:bodyPr>
          <a:lstStyle/>
          <a:p>
            <a:pPr algn="l"/>
            <a:r>
              <a:rPr sz="1600" b="0">
                <a:solidFill>
                  <a:srgbClr val="242C38"/>
                </a:solidFill>
                <a:latin typeface="Calibri"/>
              </a:rPr>
              <a:t>🎨</a:t>
            </a:r>
          </a:p>
        </p:txBody>
      </p:sp>
      <p:sp>
        <p:nvSpPr>
          <p:cNvPr id="32" name="TextBox 31"/>
          <p:cNvSpPr txBox="1"/>
          <p:nvPr/>
        </p:nvSpPr>
        <p:spPr>
          <a:xfrm>
            <a:off x="1234440" y="4745735"/>
            <a:ext cx="7589520" cy="365760"/>
          </a:xfrm>
          <a:prstGeom prst="rect">
            <a:avLst/>
          </a:prstGeom>
          <a:noFill/>
        </p:spPr>
        <p:txBody>
          <a:bodyPr wrap="square">
            <a:spAutoFit/>
          </a:bodyPr>
          <a:lstStyle/>
          <a:p>
            <a:pPr algn="l"/>
            <a:r>
              <a:rPr sz="1700" b="1">
                <a:solidFill>
                  <a:srgbClr val="16366B"/>
                </a:solidFill>
                <a:latin typeface="Calibri"/>
              </a:rPr>
              <a:t>What is your favorite color?</a:t>
            </a:r>
          </a:p>
        </p:txBody>
      </p:sp>
      <p:sp>
        <p:nvSpPr>
          <p:cNvPr id="33" name="Rounded Rectangle 32"/>
          <p:cNvSpPr/>
          <p:nvPr/>
        </p:nvSpPr>
        <p:spPr>
          <a:xfrm>
            <a:off x="502920" y="5294375"/>
            <a:ext cx="8503920" cy="54864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5394959"/>
            <a:ext cx="457200" cy="365760"/>
          </a:xfrm>
          <a:prstGeom prst="rect">
            <a:avLst/>
          </a:prstGeom>
          <a:noFill/>
        </p:spPr>
        <p:txBody>
          <a:bodyPr wrap="square">
            <a:spAutoFit/>
          </a:bodyPr>
          <a:lstStyle/>
          <a:p>
            <a:pPr algn="l"/>
            <a:r>
              <a:rPr sz="1600" b="0">
                <a:solidFill>
                  <a:srgbClr val="242C38"/>
                </a:solidFill>
                <a:latin typeface="Calibri"/>
              </a:rPr>
              <a:t>📚</a:t>
            </a:r>
          </a:p>
        </p:txBody>
      </p:sp>
      <p:sp>
        <p:nvSpPr>
          <p:cNvPr id="35" name="TextBox 34"/>
          <p:cNvSpPr txBox="1"/>
          <p:nvPr/>
        </p:nvSpPr>
        <p:spPr>
          <a:xfrm>
            <a:off x="1234440" y="5404103"/>
            <a:ext cx="7589520" cy="365760"/>
          </a:xfrm>
          <a:prstGeom prst="rect">
            <a:avLst/>
          </a:prstGeom>
          <a:noFill/>
        </p:spPr>
        <p:txBody>
          <a:bodyPr wrap="square">
            <a:spAutoFit/>
          </a:bodyPr>
          <a:lstStyle/>
          <a:p>
            <a:pPr algn="l"/>
            <a:r>
              <a:rPr sz="1700" b="1">
                <a:solidFill>
                  <a:srgbClr val="16366B"/>
                </a:solidFill>
                <a:latin typeface="Calibri"/>
              </a:rPr>
              <a:t>Do you like stories?</a:t>
            </a:r>
          </a:p>
        </p:txBody>
      </p:sp>
      <p:sp>
        <p:nvSpPr>
          <p:cNvPr id="36" name="Rounded Rectangle 35"/>
          <p:cNvSpPr/>
          <p:nvPr/>
        </p:nvSpPr>
        <p:spPr>
          <a:xfrm>
            <a:off x="9418320" y="3977639"/>
            <a:ext cx="2423160" cy="457200"/>
          </a:xfrm>
          <a:prstGeom prst="round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418320" y="4050791"/>
            <a:ext cx="2423160" cy="347472"/>
          </a:xfrm>
          <a:prstGeom prst="rect">
            <a:avLst/>
          </a:prstGeom>
          <a:noFill/>
        </p:spPr>
        <p:txBody>
          <a:bodyPr wrap="square">
            <a:spAutoFit/>
          </a:bodyPr>
          <a:lstStyle/>
          <a:p>
            <a:pPr algn="ctr"/>
            <a:r>
              <a:rPr sz="1300" b="1">
                <a:solidFill>
                  <a:srgbClr val="16366B"/>
                </a:solidFill>
                <a:latin typeface="Calibri"/>
              </a:rPr>
              <a:t>⭐ Star #1 earned!</a:t>
            </a:r>
          </a:p>
        </p:txBody>
      </p:sp>
    </p:spTree>
  </p:cSld>
  <p:clrMapOvr>
    <a:masterClrMapping/>
  </p:clrMapOvr>
  <p:transition spd="med"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PHONICS</a:t>
            </a:r>
          </a:p>
        </p:txBody>
      </p:sp>
      <p:sp>
        <p:nvSpPr>
          <p:cNvPr id="6" name="Rounded Rectangle 5"/>
          <p:cNvSpPr/>
          <p:nvPr/>
        </p:nvSpPr>
        <p:spPr>
          <a:xfrm>
            <a:off x="9418320" y="237744"/>
            <a:ext cx="242316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a:solidFill>
                  <a:srgbClr val="FFFFFF"/>
                </a:solidFill>
                <a:latin typeface="Calibri"/>
              </a:rPr>
              <a:t>5–15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Letter Sound Warm-Up</a:t>
            </a:r>
          </a:p>
        </p:txBody>
      </p:sp>
      <p:sp>
        <p:nvSpPr>
          <p:cNvPr id="9" name="Rectangle 8"/>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1393336"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Letter sounds  |  5–15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4 / 35</a:t>
            </a:r>
          </a:p>
        </p:txBody>
      </p:sp>
      <p:sp>
        <p:nvSpPr>
          <p:cNvPr id="14" name="TextBox 13"/>
          <p:cNvSpPr txBox="1"/>
          <p:nvPr/>
        </p:nvSpPr>
        <p:spPr>
          <a:xfrm>
            <a:off x="411480" y="1280160"/>
            <a:ext cx="10515600" cy="384048"/>
          </a:xfrm>
          <a:prstGeom prst="rect">
            <a:avLst/>
          </a:prstGeom>
          <a:noFill/>
        </p:spPr>
        <p:txBody>
          <a:bodyPr wrap="square">
            <a:spAutoFit/>
          </a:bodyPr>
          <a:lstStyle/>
          <a:p>
            <a:pPr algn="l"/>
            <a:r>
              <a:rPr sz="1600" b="1">
                <a:solidFill>
                  <a:srgbClr val="E85A4F"/>
                </a:solidFill>
                <a:latin typeface="Calibri"/>
              </a:rPr>
              <a:t>I say it → You say it. Then I point → You tell me!</a:t>
            </a:r>
          </a:p>
        </p:txBody>
      </p:sp>
      <p:sp>
        <p:nvSpPr>
          <p:cNvPr id="15" name="Rounded Rectangle 14"/>
          <p:cNvSpPr/>
          <p:nvPr/>
        </p:nvSpPr>
        <p:spPr>
          <a:xfrm>
            <a:off x="411480" y="1783080"/>
            <a:ext cx="2743200" cy="2011680"/>
          </a:xfrm>
          <a:prstGeom prst="roundRect">
            <a:avLst/>
          </a:prstGeom>
          <a:solidFill>
            <a:srgbClr val="FDE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1208" y="1892808"/>
            <a:ext cx="1188720" cy="822960"/>
          </a:xfrm>
          <a:prstGeom prst="rect">
            <a:avLst/>
          </a:prstGeom>
          <a:noFill/>
        </p:spPr>
        <p:txBody>
          <a:bodyPr wrap="square">
            <a:spAutoFit/>
          </a:bodyPr>
          <a:lstStyle/>
          <a:p>
            <a:pPr algn="ctr"/>
            <a:r>
              <a:rPr sz="4400" b="1">
                <a:solidFill>
                  <a:srgbClr val="E85A4F"/>
                </a:solidFill>
                <a:latin typeface="Arial Black"/>
              </a:rPr>
              <a:t>A</a:t>
            </a:r>
          </a:p>
        </p:txBody>
      </p:sp>
      <p:sp>
        <p:nvSpPr>
          <p:cNvPr id="17" name="TextBox 16"/>
          <p:cNvSpPr txBox="1"/>
          <p:nvPr/>
        </p:nvSpPr>
        <p:spPr>
          <a:xfrm>
            <a:off x="1828800" y="2075688"/>
            <a:ext cx="1188720" cy="457200"/>
          </a:xfrm>
          <a:prstGeom prst="rect">
            <a:avLst/>
          </a:prstGeom>
          <a:noFill/>
        </p:spPr>
        <p:txBody>
          <a:bodyPr wrap="square">
            <a:spAutoFit/>
          </a:bodyPr>
          <a:lstStyle/>
          <a:p>
            <a:pPr algn="ctr"/>
            <a:r>
              <a:rPr sz="2200" b="1">
                <a:solidFill>
                  <a:srgbClr val="16366B"/>
                </a:solidFill>
                <a:latin typeface="Calibri"/>
              </a:rPr>
              <a:t>/a/</a:t>
            </a:r>
          </a:p>
        </p:txBody>
      </p:sp>
      <p:sp>
        <p:nvSpPr>
          <p:cNvPr id="18" name="Rounded Rectangle 17"/>
          <p:cNvSpPr/>
          <p:nvPr/>
        </p:nvSpPr>
        <p:spPr>
          <a:xfrm>
            <a:off x="548640" y="2834640"/>
            <a:ext cx="246888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971800"/>
            <a:ext cx="640080" cy="548640"/>
          </a:xfrm>
          <a:prstGeom prst="rect">
            <a:avLst/>
          </a:prstGeom>
          <a:noFill/>
        </p:spPr>
        <p:txBody>
          <a:bodyPr wrap="square">
            <a:spAutoFit/>
          </a:bodyPr>
          <a:lstStyle/>
          <a:p>
            <a:pPr algn="ctr"/>
            <a:r>
              <a:rPr sz="2200" b="0">
                <a:solidFill>
                  <a:srgbClr val="242C38"/>
                </a:solidFill>
                <a:latin typeface="Calibri"/>
              </a:rPr>
              <a:t>🍎</a:t>
            </a:r>
          </a:p>
        </p:txBody>
      </p:sp>
      <p:sp>
        <p:nvSpPr>
          <p:cNvPr id="20" name="TextBox 19"/>
          <p:cNvSpPr txBox="1"/>
          <p:nvPr/>
        </p:nvSpPr>
        <p:spPr>
          <a:xfrm>
            <a:off x="1417320" y="3008376"/>
            <a:ext cx="1508760" cy="457200"/>
          </a:xfrm>
          <a:prstGeom prst="rect">
            <a:avLst/>
          </a:prstGeom>
          <a:noFill/>
        </p:spPr>
        <p:txBody>
          <a:bodyPr wrap="square">
            <a:spAutoFit/>
          </a:bodyPr>
          <a:lstStyle/>
          <a:p>
            <a:pPr algn="l"/>
            <a:r>
              <a:rPr sz="1700" b="1">
                <a:solidFill>
                  <a:srgbClr val="16366B"/>
                </a:solidFill>
                <a:latin typeface="Calibri"/>
              </a:rPr>
              <a:t>Apple</a:t>
            </a:r>
          </a:p>
        </p:txBody>
      </p:sp>
      <p:sp>
        <p:nvSpPr>
          <p:cNvPr id="21" name="Rounded Rectangle 20"/>
          <p:cNvSpPr/>
          <p:nvPr/>
        </p:nvSpPr>
        <p:spPr>
          <a:xfrm>
            <a:off x="3319272" y="1783080"/>
            <a:ext cx="2743200" cy="2011680"/>
          </a:xfrm>
          <a:prstGeom prst="roundRect">
            <a:avLst/>
          </a:prstGeom>
          <a:solidFill>
            <a:srgbClr val="F4E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29000" y="1892808"/>
            <a:ext cx="1188720" cy="822960"/>
          </a:xfrm>
          <a:prstGeom prst="rect">
            <a:avLst/>
          </a:prstGeom>
          <a:noFill/>
        </p:spPr>
        <p:txBody>
          <a:bodyPr wrap="square">
            <a:spAutoFit/>
          </a:bodyPr>
          <a:lstStyle/>
          <a:p>
            <a:pPr algn="ctr"/>
            <a:r>
              <a:rPr sz="4400" b="1">
                <a:solidFill>
                  <a:srgbClr val="8B5E3C"/>
                </a:solidFill>
                <a:latin typeface="Arial Black"/>
              </a:rPr>
              <a:t>B</a:t>
            </a:r>
          </a:p>
        </p:txBody>
      </p:sp>
      <p:sp>
        <p:nvSpPr>
          <p:cNvPr id="23" name="TextBox 22"/>
          <p:cNvSpPr txBox="1"/>
          <p:nvPr/>
        </p:nvSpPr>
        <p:spPr>
          <a:xfrm>
            <a:off x="4736592" y="2075688"/>
            <a:ext cx="1188720" cy="457200"/>
          </a:xfrm>
          <a:prstGeom prst="rect">
            <a:avLst/>
          </a:prstGeom>
          <a:noFill/>
        </p:spPr>
        <p:txBody>
          <a:bodyPr wrap="square">
            <a:spAutoFit/>
          </a:bodyPr>
          <a:lstStyle/>
          <a:p>
            <a:pPr algn="ctr"/>
            <a:r>
              <a:rPr sz="2200" b="1">
                <a:solidFill>
                  <a:srgbClr val="16366B"/>
                </a:solidFill>
                <a:latin typeface="Calibri"/>
              </a:rPr>
              <a:t>/b/</a:t>
            </a:r>
          </a:p>
        </p:txBody>
      </p:sp>
      <p:sp>
        <p:nvSpPr>
          <p:cNvPr id="24" name="Rounded Rectangle 23"/>
          <p:cNvSpPr/>
          <p:nvPr/>
        </p:nvSpPr>
        <p:spPr>
          <a:xfrm>
            <a:off x="3456432" y="2834640"/>
            <a:ext cx="246888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93592" y="2971800"/>
            <a:ext cx="640080" cy="548640"/>
          </a:xfrm>
          <a:prstGeom prst="rect">
            <a:avLst/>
          </a:prstGeom>
          <a:noFill/>
        </p:spPr>
        <p:txBody>
          <a:bodyPr wrap="square">
            <a:spAutoFit/>
          </a:bodyPr>
          <a:lstStyle/>
          <a:p>
            <a:pPr algn="ctr"/>
            <a:r>
              <a:rPr sz="2200" b="0">
                <a:solidFill>
                  <a:srgbClr val="242C38"/>
                </a:solidFill>
                <a:latin typeface="Calibri"/>
              </a:rPr>
              <a:t>🐻</a:t>
            </a:r>
          </a:p>
        </p:txBody>
      </p:sp>
      <p:sp>
        <p:nvSpPr>
          <p:cNvPr id="26" name="TextBox 25"/>
          <p:cNvSpPr txBox="1"/>
          <p:nvPr/>
        </p:nvSpPr>
        <p:spPr>
          <a:xfrm>
            <a:off x="4325112" y="3008376"/>
            <a:ext cx="1508760" cy="457200"/>
          </a:xfrm>
          <a:prstGeom prst="rect">
            <a:avLst/>
          </a:prstGeom>
          <a:noFill/>
        </p:spPr>
        <p:txBody>
          <a:bodyPr wrap="square">
            <a:spAutoFit/>
          </a:bodyPr>
          <a:lstStyle/>
          <a:p>
            <a:pPr algn="l"/>
            <a:r>
              <a:rPr sz="1700" b="1">
                <a:solidFill>
                  <a:srgbClr val="16366B"/>
                </a:solidFill>
                <a:latin typeface="Calibri"/>
              </a:rPr>
              <a:t>Bear</a:t>
            </a:r>
          </a:p>
        </p:txBody>
      </p:sp>
      <p:sp>
        <p:nvSpPr>
          <p:cNvPr id="27" name="Rounded Rectangle 26"/>
          <p:cNvSpPr/>
          <p:nvPr/>
        </p:nvSpPr>
        <p:spPr>
          <a:xfrm>
            <a:off x="6227064" y="1783080"/>
            <a:ext cx="2743200" cy="2011680"/>
          </a:xfrm>
          <a:prstGeom prst="roundRect">
            <a:avLst/>
          </a:prstGeom>
          <a:solidFill>
            <a:srgbClr val="E2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6792" y="1892808"/>
            <a:ext cx="1188720" cy="822960"/>
          </a:xfrm>
          <a:prstGeom prst="rect">
            <a:avLst/>
          </a:prstGeom>
          <a:noFill/>
        </p:spPr>
        <p:txBody>
          <a:bodyPr wrap="square">
            <a:spAutoFit/>
          </a:bodyPr>
          <a:lstStyle/>
          <a:p>
            <a:pPr algn="ctr"/>
            <a:r>
              <a:rPr sz="4400" b="1">
                <a:solidFill>
                  <a:srgbClr val="2EA8E8"/>
                </a:solidFill>
                <a:latin typeface="Arial Black"/>
              </a:rPr>
              <a:t>C</a:t>
            </a:r>
          </a:p>
        </p:txBody>
      </p:sp>
      <p:sp>
        <p:nvSpPr>
          <p:cNvPr id="29" name="TextBox 28"/>
          <p:cNvSpPr txBox="1"/>
          <p:nvPr/>
        </p:nvSpPr>
        <p:spPr>
          <a:xfrm>
            <a:off x="7644384" y="2075688"/>
            <a:ext cx="1188720" cy="457200"/>
          </a:xfrm>
          <a:prstGeom prst="rect">
            <a:avLst/>
          </a:prstGeom>
          <a:noFill/>
        </p:spPr>
        <p:txBody>
          <a:bodyPr wrap="square">
            <a:spAutoFit/>
          </a:bodyPr>
          <a:lstStyle/>
          <a:p>
            <a:pPr algn="ctr"/>
            <a:r>
              <a:rPr sz="2200" b="1">
                <a:solidFill>
                  <a:srgbClr val="16366B"/>
                </a:solidFill>
                <a:latin typeface="Calibri"/>
              </a:rPr>
              <a:t>/k/</a:t>
            </a:r>
          </a:p>
        </p:txBody>
      </p:sp>
      <p:sp>
        <p:nvSpPr>
          <p:cNvPr id="30" name="Rounded Rectangle 29"/>
          <p:cNvSpPr/>
          <p:nvPr/>
        </p:nvSpPr>
        <p:spPr>
          <a:xfrm>
            <a:off x="6364224" y="2834640"/>
            <a:ext cx="246888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01384" y="2971800"/>
            <a:ext cx="640080" cy="548640"/>
          </a:xfrm>
          <a:prstGeom prst="rect">
            <a:avLst/>
          </a:prstGeom>
          <a:noFill/>
        </p:spPr>
        <p:txBody>
          <a:bodyPr wrap="square">
            <a:spAutoFit/>
          </a:bodyPr>
          <a:lstStyle/>
          <a:p>
            <a:pPr algn="ctr"/>
            <a:r>
              <a:rPr sz="2200" b="0">
                <a:solidFill>
                  <a:srgbClr val="242C38"/>
                </a:solidFill>
                <a:latin typeface="Calibri"/>
              </a:rPr>
              <a:t>🐱</a:t>
            </a:r>
          </a:p>
        </p:txBody>
      </p:sp>
      <p:sp>
        <p:nvSpPr>
          <p:cNvPr id="32" name="TextBox 31"/>
          <p:cNvSpPr txBox="1"/>
          <p:nvPr/>
        </p:nvSpPr>
        <p:spPr>
          <a:xfrm>
            <a:off x="7232904" y="3008376"/>
            <a:ext cx="1508760" cy="457200"/>
          </a:xfrm>
          <a:prstGeom prst="rect">
            <a:avLst/>
          </a:prstGeom>
          <a:noFill/>
        </p:spPr>
        <p:txBody>
          <a:bodyPr wrap="square">
            <a:spAutoFit/>
          </a:bodyPr>
          <a:lstStyle/>
          <a:p>
            <a:pPr algn="l"/>
            <a:r>
              <a:rPr sz="1700" b="1">
                <a:solidFill>
                  <a:srgbClr val="16366B"/>
                </a:solidFill>
                <a:latin typeface="Calibri"/>
              </a:rPr>
              <a:t>Cat</a:t>
            </a:r>
          </a:p>
        </p:txBody>
      </p:sp>
      <p:sp>
        <p:nvSpPr>
          <p:cNvPr id="33" name="Rounded Rectangle 32"/>
          <p:cNvSpPr/>
          <p:nvPr/>
        </p:nvSpPr>
        <p:spPr>
          <a:xfrm>
            <a:off x="9134856" y="1783080"/>
            <a:ext cx="2743200" cy="2011680"/>
          </a:xfrm>
          <a:prstGeom prst="roundRect">
            <a:avLst/>
          </a:prstGeom>
          <a:solidFill>
            <a:srgbClr val="E4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44584" y="1892808"/>
            <a:ext cx="1188720" cy="822960"/>
          </a:xfrm>
          <a:prstGeom prst="rect">
            <a:avLst/>
          </a:prstGeom>
          <a:noFill/>
        </p:spPr>
        <p:txBody>
          <a:bodyPr wrap="square">
            <a:spAutoFit/>
          </a:bodyPr>
          <a:lstStyle/>
          <a:p>
            <a:pPr algn="ctr"/>
            <a:r>
              <a:rPr sz="4400" b="1">
                <a:solidFill>
                  <a:srgbClr val="2E7D53"/>
                </a:solidFill>
                <a:latin typeface="Arial Black"/>
              </a:rPr>
              <a:t>D</a:t>
            </a:r>
          </a:p>
        </p:txBody>
      </p:sp>
      <p:sp>
        <p:nvSpPr>
          <p:cNvPr id="35" name="TextBox 34"/>
          <p:cNvSpPr txBox="1"/>
          <p:nvPr/>
        </p:nvSpPr>
        <p:spPr>
          <a:xfrm>
            <a:off x="10552176" y="2075688"/>
            <a:ext cx="1188720" cy="457200"/>
          </a:xfrm>
          <a:prstGeom prst="rect">
            <a:avLst/>
          </a:prstGeom>
          <a:noFill/>
        </p:spPr>
        <p:txBody>
          <a:bodyPr wrap="square">
            <a:spAutoFit/>
          </a:bodyPr>
          <a:lstStyle/>
          <a:p>
            <a:pPr algn="ctr"/>
            <a:r>
              <a:rPr sz="2200" b="1">
                <a:solidFill>
                  <a:srgbClr val="16366B"/>
                </a:solidFill>
                <a:latin typeface="Calibri"/>
              </a:rPr>
              <a:t>/d/</a:t>
            </a:r>
          </a:p>
        </p:txBody>
      </p:sp>
      <p:sp>
        <p:nvSpPr>
          <p:cNvPr id="36" name="Rounded Rectangle 35"/>
          <p:cNvSpPr/>
          <p:nvPr/>
        </p:nvSpPr>
        <p:spPr>
          <a:xfrm>
            <a:off x="9272016" y="2834640"/>
            <a:ext cx="246888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409176" y="2971800"/>
            <a:ext cx="640080" cy="548640"/>
          </a:xfrm>
          <a:prstGeom prst="rect">
            <a:avLst/>
          </a:prstGeom>
          <a:noFill/>
        </p:spPr>
        <p:txBody>
          <a:bodyPr wrap="square">
            <a:spAutoFit/>
          </a:bodyPr>
          <a:lstStyle/>
          <a:p>
            <a:pPr algn="ctr"/>
            <a:r>
              <a:rPr sz="2200" b="0">
                <a:solidFill>
                  <a:srgbClr val="242C38"/>
                </a:solidFill>
                <a:latin typeface="Calibri"/>
              </a:rPr>
              <a:t>🐶</a:t>
            </a:r>
          </a:p>
        </p:txBody>
      </p:sp>
      <p:sp>
        <p:nvSpPr>
          <p:cNvPr id="38" name="TextBox 37"/>
          <p:cNvSpPr txBox="1"/>
          <p:nvPr/>
        </p:nvSpPr>
        <p:spPr>
          <a:xfrm>
            <a:off x="10140696" y="3008376"/>
            <a:ext cx="1508760" cy="457200"/>
          </a:xfrm>
          <a:prstGeom prst="rect">
            <a:avLst/>
          </a:prstGeom>
          <a:noFill/>
        </p:spPr>
        <p:txBody>
          <a:bodyPr wrap="square">
            <a:spAutoFit/>
          </a:bodyPr>
          <a:lstStyle/>
          <a:p>
            <a:pPr algn="l"/>
            <a:r>
              <a:rPr sz="1700" b="1">
                <a:solidFill>
                  <a:srgbClr val="16366B"/>
                </a:solidFill>
                <a:latin typeface="Calibri"/>
              </a:rPr>
              <a:t>Dog</a:t>
            </a:r>
          </a:p>
        </p:txBody>
      </p:sp>
      <p:sp>
        <p:nvSpPr>
          <p:cNvPr id="39" name="Rounded Rectangle 38"/>
          <p:cNvSpPr/>
          <p:nvPr/>
        </p:nvSpPr>
        <p:spPr>
          <a:xfrm>
            <a:off x="411480" y="3977639"/>
            <a:ext cx="2743200" cy="2011680"/>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21208" y="4087367"/>
            <a:ext cx="1188720" cy="822960"/>
          </a:xfrm>
          <a:prstGeom prst="rect">
            <a:avLst/>
          </a:prstGeom>
          <a:noFill/>
        </p:spPr>
        <p:txBody>
          <a:bodyPr wrap="square">
            <a:spAutoFit/>
          </a:bodyPr>
          <a:lstStyle/>
          <a:p>
            <a:pPr algn="ctr"/>
            <a:r>
              <a:rPr sz="4400" b="1">
                <a:solidFill>
                  <a:srgbClr val="F2A11B"/>
                </a:solidFill>
                <a:latin typeface="Arial Black"/>
              </a:rPr>
              <a:t>E</a:t>
            </a:r>
          </a:p>
        </p:txBody>
      </p:sp>
      <p:sp>
        <p:nvSpPr>
          <p:cNvPr id="41" name="TextBox 40"/>
          <p:cNvSpPr txBox="1"/>
          <p:nvPr/>
        </p:nvSpPr>
        <p:spPr>
          <a:xfrm>
            <a:off x="1828800" y="4270247"/>
            <a:ext cx="1188720" cy="457200"/>
          </a:xfrm>
          <a:prstGeom prst="rect">
            <a:avLst/>
          </a:prstGeom>
          <a:noFill/>
        </p:spPr>
        <p:txBody>
          <a:bodyPr wrap="square">
            <a:spAutoFit/>
          </a:bodyPr>
          <a:lstStyle/>
          <a:p>
            <a:pPr algn="ctr"/>
            <a:r>
              <a:rPr sz="2200" b="1">
                <a:solidFill>
                  <a:srgbClr val="16366B"/>
                </a:solidFill>
                <a:latin typeface="Calibri"/>
              </a:rPr>
              <a:t>/e/</a:t>
            </a:r>
          </a:p>
        </p:txBody>
      </p:sp>
      <p:sp>
        <p:nvSpPr>
          <p:cNvPr id="42" name="Rounded Rectangle 41"/>
          <p:cNvSpPr/>
          <p:nvPr/>
        </p:nvSpPr>
        <p:spPr>
          <a:xfrm>
            <a:off x="548640" y="5029199"/>
            <a:ext cx="246888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5800" y="5166359"/>
            <a:ext cx="640080" cy="548640"/>
          </a:xfrm>
          <a:prstGeom prst="rect">
            <a:avLst/>
          </a:prstGeom>
          <a:noFill/>
        </p:spPr>
        <p:txBody>
          <a:bodyPr wrap="square">
            <a:spAutoFit/>
          </a:bodyPr>
          <a:lstStyle/>
          <a:p>
            <a:pPr algn="ctr"/>
            <a:r>
              <a:rPr sz="2200" b="0">
                <a:solidFill>
                  <a:srgbClr val="242C38"/>
                </a:solidFill>
                <a:latin typeface="Calibri"/>
              </a:rPr>
              <a:t>🥚</a:t>
            </a:r>
          </a:p>
        </p:txBody>
      </p:sp>
      <p:sp>
        <p:nvSpPr>
          <p:cNvPr id="44" name="TextBox 43"/>
          <p:cNvSpPr txBox="1"/>
          <p:nvPr/>
        </p:nvSpPr>
        <p:spPr>
          <a:xfrm>
            <a:off x="1417320" y="5202935"/>
            <a:ext cx="1508760" cy="457200"/>
          </a:xfrm>
          <a:prstGeom prst="rect">
            <a:avLst/>
          </a:prstGeom>
          <a:noFill/>
        </p:spPr>
        <p:txBody>
          <a:bodyPr wrap="square">
            <a:spAutoFit/>
          </a:bodyPr>
          <a:lstStyle/>
          <a:p>
            <a:pPr algn="l"/>
            <a:r>
              <a:rPr sz="1700" b="1">
                <a:solidFill>
                  <a:srgbClr val="16366B"/>
                </a:solidFill>
                <a:latin typeface="Calibri"/>
              </a:rPr>
              <a:t>Egg</a:t>
            </a:r>
          </a:p>
        </p:txBody>
      </p:sp>
      <p:sp>
        <p:nvSpPr>
          <p:cNvPr id="45" name="Rounded Rectangle 44"/>
          <p:cNvSpPr/>
          <p:nvPr/>
        </p:nvSpPr>
        <p:spPr>
          <a:xfrm>
            <a:off x="3319272" y="3977639"/>
            <a:ext cx="2743200" cy="2011680"/>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429000" y="4087367"/>
            <a:ext cx="1188720" cy="822960"/>
          </a:xfrm>
          <a:prstGeom prst="rect">
            <a:avLst/>
          </a:prstGeom>
          <a:noFill/>
        </p:spPr>
        <p:txBody>
          <a:bodyPr wrap="square">
            <a:spAutoFit/>
          </a:bodyPr>
          <a:lstStyle/>
          <a:p>
            <a:pPr algn="ctr"/>
            <a:r>
              <a:rPr sz="4400" b="1">
                <a:solidFill>
                  <a:srgbClr val="FFC42E"/>
                </a:solidFill>
                <a:latin typeface="Arial Black"/>
              </a:rPr>
              <a:t>S</a:t>
            </a:r>
          </a:p>
        </p:txBody>
      </p:sp>
      <p:sp>
        <p:nvSpPr>
          <p:cNvPr id="47" name="TextBox 46"/>
          <p:cNvSpPr txBox="1"/>
          <p:nvPr/>
        </p:nvSpPr>
        <p:spPr>
          <a:xfrm>
            <a:off x="4736592" y="4270247"/>
            <a:ext cx="1188720" cy="457200"/>
          </a:xfrm>
          <a:prstGeom prst="rect">
            <a:avLst/>
          </a:prstGeom>
          <a:noFill/>
        </p:spPr>
        <p:txBody>
          <a:bodyPr wrap="square">
            <a:spAutoFit/>
          </a:bodyPr>
          <a:lstStyle/>
          <a:p>
            <a:pPr algn="ctr"/>
            <a:r>
              <a:rPr sz="2200" b="1">
                <a:solidFill>
                  <a:srgbClr val="16366B"/>
                </a:solidFill>
                <a:latin typeface="Calibri"/>
              </a:rPr>
              <a:t>/s/</a:t>
            </a:r>
          </a:p>
        </p:txBody>
      </p:sp>
      <p:sp>
        <p:nvSpPr>
          <p:cNvPr id="48" name="Rounded Rectangle 47"/>
          <p:cNvSpPr/>
          <p:nvPr/>
        </p:nvSpPr>
        <p:spPr>
          <a:xfrm>
            <a:off x="3456432" y="5029199"/>
            <a:ext cx="246888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593592" y="5166359"/>
            <a:ext cx="640080" cy="548640"/>
          </a:xfrm>
          <a:prstGeom prst="rect">
            <a:avLst/>
          </a:prstGeom>
          <a:noFill/>
        </p:spPr>
        <p:txBody>
          <a:bodyPr wrap="square">
            <a:spAutoFit/>
          </a:bodyPr>
          <a:lstStyle/>
          <a:p>
            <a:pPr algn="ctr"/>
            <a:r>
              <a:rPr sz="2200" b="0">
                <a:solidFill>
                  <a:srgbClr val="242C38"/>
                </a:solidFill>
                <a:latin typeface="Calibri"/>
              </a:rPr>
              <a:t>☀️</a:t>
            </a:r>
          </a:p>
        </p:txBody>
      </p:sp>
      <p:sp>
        <p:nvSpPr>
          <p:cNvPr id="50" name="TextBox 49"/>
          <p:cNvSpPr txBox="1"/>
          <p:nvPr/>
        </p:nvSpPr>
        <p:spPr>
          <a:xfrm>
            <a:off x="4325112" y="5202935"/>
            <a:ext cx="1508760" cy="457200"/>
          </a:xfrm>
          <a:prstGeom prst="rect">
            <a:avLst/>
          </a:prstGeom>
          <a:noFill/>
        </p:spPr>
        <p:txBody>
          <a:bodyPr wrap="square">
            <a:spAutoFit/>
          </a:bodyPr>
          <a:lstStyle/>
          <a:p>
            <a:pPr algn="l"/>
            <a:r>
              <a:rPr sz="1700" b="1">
                <a:solidFill>
                  <a:srgbClr val="16366B"/>
                </a:solidFill>
                <a:latin typeface="Calibri"/>
              </a:rPr>
              <a:t>Sun</a:t>
            </a:r>
          </a:p>
        </p:txBody>
      </p:sp>
      <p:sp>
        <p:nvSpPr>
          <p:cNvPr id="51" name="Rounded Rectangle 50"/>
          <p:cNvSpPr/>
          <p:nvPr/>
        </p:nvSpPr>
        <p:spPr>
          <a:xfrm>
            <a:off x="6227064" y="3977639"/>
            <a:ext cx="2743200" cy="201168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36792" y="4087367"/>
            <a:ext cx="1188720" cy="822960"/>
          </a:xfrm>
          <a:prstGeom prst="rect">
            <a:avLst/>
          </a:prstGeom>
          <a:noFill/>
        </p:spPr>
        <p:txBody>
          <a:bodyPr wrap="square">
            <a:spAutoFit/>
          </a:bodyPr>
          <a:lstStyle/>
          <a:p>
            <a:pPr algn="ctr"/>
            <a:r>
              <a:rPr sz="4400" b="1">
                <a:solidFill>
                  <a:srgbClr val="7B4FB8"/>
                </a:solidFill>
                <a:latin typeface="Arial Black"/>
              </a:rPr>
              <a:t>M</a:t>
            </a:r>
          </a:p>
        </p:txBody>
      </p:sp>
      <p:sp>
        <p:nvSpPr>
          <p:cNvPr id="53" name="TextBox 52"/>
          <p:cNvSpPr txBox="1"/>
          <p:nvPr/>
        </p:nvSpPr>
        <p:spPr>
          <a:xfrm>
            <a:off x="7644384" y="4270247"/>
            <a:ext cx="1188720" cy="457200"/>
          </a:xfrm>
          <a:prstGeom prst="rect">
            <a:avLst/>
          </a:prstGeom>
          <a:noFill/>
        </p:spPr>
        <p:txBody>
          <a:bodyPr wrap="square">
            <a:spAutoFit/>
          </a:bodyPr>
          <a:lstStyle/>
          <a:p>
            <a:pPr algn="ctr"/>
            <a:r>
              <a:rPr sz="2200" b="1">
                <a:solidFill>
                  <a:srgbClr val="16366B"/>
                </a:solidFill>
                <a:latin typeface="Calibri"/>
              </a:rPr>
              <a:t>/m/</a:t>
            </a:r>
          </a:p>
        </p:txBody>
      </p:sp>
      <p:sp>
        <p:nvSpPr>
          <p:cNvPr id="54" name="Rounded Rectangle 53"/>
          <p:cNvSpPr/>
          <p:nvPr/>
        </p:nvSpPr>
        <p:spPr>
          <a:xfrm>
            <a:off x="6364224" y="5029199"/>
            <a:ext cx="246888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01384" y="5166359"/>
            <a:ext cx="640080" cy="548640"/>
          </a:xfrm>
          <a:prstGeom prst="rect">
            <a:avLst/>
          </a:prstGeom>
          <a:noFill/>
        </p:spPr>
        <p:txBody>
          <a:bodyPr wrap="square">
            <a:spAutoFit/>
          </a:bodyPr>
          <a:lstStyle/>
          <a:p>
            <a:pPr algn="ctr"/>
            <a:r>
              <a:rPr sz="2200" b="0">
                <a:solidFill>
                  <a:srgbClr val="242C38"/>
                </a:solidFill>
                <a:latin typeface="Calibri"/>
              </a:rPr>
              <a:t>🌙</a:t>
            </a:r>
          </a:p>
        </p:txBody>
      </p:sp>
      <p:sp>
        <p:nvSpPr>
          <p:cNvPr id="56" name="TextBox 55"/>
          <p:cNvSpPr txBox="1"/>
          <p:nvPr/>
        </p:nvSpPr>
        <p:spPr>
          <a:xfrm>
            <a:off x="7232904" y="5202935"/>
            <a:ext cx="1508760" cy="457200"/>
          </a:xfrm>
          <a:prstGeom prst="rect">
            <a:avLst/>
          </a:prstGeom>
          <a:noFill/>
        </p:spPr>
        <p:txBody>
          <a:bodyPr wrap="square">
            <a:spAutoFit/>
          </a:bodyPr>
          <a:lstStyle/>
          <a:p>
            <a:pPr algn="l"/>
            <a:r>
              <a:rPr sz="1700" b="1">
                <a:solidFill>
                  <a:srgbClr val="16366B"/>
                </a:solidFill>
                <a:latin typeface="Calibri"/>
              </a:rPr>
              <a:t>Moon</a:t>
            </a:r>
          </a:p>
        </p:txBody>
      </p:sp>
      <p:sp>
        <p:nvSpPr>
          <p:cNvPr id="57" name="Rounded Rectangle 56"/>
          <p:cNvSpPr/>
          <p:nvPr/>
        </p:nvSpPr>
        <p:spPr>
          <a:xfrm>
            <a:off x="9134856" y="3977639"/>
            <a:ext cx="2743200" cy="2011680"/>
          </a:xfrm>
          <a:prstGeom prst="roundRect">
            <a:avLst/>
          </a:prstGeom>
          <a:solidFill>
            <a:srgbClr val="FDE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244584" y="4087367"/>
            <a:ext cx="1188720" cy="822960"/>
          </a:xfrm>
          <a:prstGeom prst="rect">
            <a:avLst/>
          </a:prstGeom>
          <a:noFill/>
        </p:spPr>
        <p:txBody>
          <a:bodyPr wrap="square">
            <a:spAutoFit/>
          </a:bodyPr>
          <a:lstStyle/>
          <a:p>
            <a:pPr algn="ctr"/>
            <a:r>
              <a:rPr sz="4400" b="1">
                <a:solidFill>
                  <a:srgbClr val="E85A4F"/>
                </a:solidFill>
                <a:latin typeface="Arial Black"/>
              </a:rPr>
              <a:t>R</a:t>
            </a:r>
          </a:p>
        </p:txBody>
      </p:sp>
      <p:sp>
        <p:nvSpPr>
          <p:cNvPr id="59" name="TextBox 58"/>
          <p:cNvSpPr txBox="1"/>
          <p:nvPr/>
        </p:nvSpPr>
        <p:spPr>
          <a:xfrm>
            <a:off x="10552176" y="4270247"/>
            <a:ext cx="1188720" cy="457200"/>
          </a:xfrm>
          <a:prstGeom prst="rect">
            <a:avLst/>
          </a:prstGeom>
          <a:noFill/>
        </p:spPr>
        <p:txBody>
          <a:bodyPr wrap="square">
            <a:spAutoFit/>
          </a:bodyPr>
          <a:lstStyle/>
          <a:p>
            <a:pPr algn="ctr"/>
            <a:r>
              <a:rPr sz="2200" b="1">
                <a:solidFill>
                  <a:srgbClr val="16366B"/>
                </a:solidFill>
                <a:latin typeface="Calibri"/>
              </a:rPr>
              <a:t>/r/</a:t>
            </a:r>
          </a:p>
        </p:txBody>
      </p:sp>
      <p:sp>
        <p:nvSpPr>
          <p:cNvPr id="60" name="Rounded Rectangle 59"/>
          <p:cNvSpPr/>
          <p:nvPr/>
        </p:nvSpPr>
        <p:spPr>
          <a:xfrm>
            <a:off x="9272016" y="5029199"/>
            <a:ext cx="246888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409176" y="5166359"/>
            <a:ext cx="640080" cy="548640"/>
          </a:xfrm>
          <a:prstGeom prst="rect">
            <a:avLst/>
          </a:prstGeom>
          <a:noFill/>
        </p:spPr>
        <p:txBody>
          <a:bodyPr wrap="square">
            <a:spAutoFit/>
          </a:bodyPr>
          <a:lstStyle/>
          <a:p>
            <a:pPr algn="ctr"/>
            <a:r>
              <a:rPr sz="2200" b="0">
                <a:solidFill>
                  <a:srgbClr val="242C38"/>
                </a:solidFill>
                <a:latin typeface="Calibri"/>
              </a:rPr>
              <a:t>🔴</a:t>
            </a:r>
          </a:p>
        </p:txBody>
      </p:sp>
      <p:sp>
        <p:nvSpPr>
          <p:cNvPr id="62" name="TextBox 61"/>
          <p:cNvSpPr txBox="1"/>
          <p:nvPr/>
        </p:nvSpPr>
        <p:spPr>
          <a:xfrm>
            <a:off x="10140696" y="5202935"/>
            <a:ext cx="1508760" cy="457200"/>
          </a:xfrm>
          <a:prstGeom prst="rect">
            <a:avLst/>
          </a:prstGeom>
          <a:noFill/>
        </p:spPr>
        <p:txBody>
          <a:bodyPr wrap="square">
            <a:spAutoFit/>
          </a:bodyPr>
          <a:lstStyle/>
          <a:p>
            <a:pPr algn="l"/>
            <a:r>
              <a:rPr sz="1700" b="1">
                <a:solidFill>
                  <a:srgbClr val="16366B"/>
                </a:solidFill>
                <a:latin typeface="Calibri"/>
              </a:rPr>
              <a:t>Red</a:t>
            </a:r>
          </a:p>
        </p:txBody>
      </p:sp>
    </p:spTree>
  </p:cSld>
  <p:clrMapOvr>
    <a:masterClrMapping/>
  </p:clrMapOvr>
  <p:transition spd="med"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7B4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7B4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GAME</a:t>
            </a:r>
          </a:p>
        </p:txBody>
      </p:sp>
      <p:sp>
        <p:nvSpPr>
          <p:cNvPr id="6" name="Rounded Rectangle 5"/>
          <p:cNvSpPr/>
          <p:nvPr/>
        </p:nvSpPr>
        <p:spPr>
          <a:xfrm>
            <a:off x="9418320" y="237744"/>
            <a:ext cx="242316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a:solidFill>
                  <a:srgbClr val="FFFFFF"/>
                </a:solidFill>
                <a:latin typeface="Calibri"/>
              </a:rPr>
              <a:t>5–15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Mystery Letter Game</a:t>
            </a:r>
          </a:p>
        </p:txBody>
      </p:sp>
      <p:sp>
        <p:nvSpPr>
          <p:cNvPr id="9" name="Rectangle 8"/>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1741670"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Mystery letter  |  5–15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5 / 35</a:t>
            </a:r>
          </a:p>
        </p:txBody>
      </p:sp>
      <p:sp>
        <p:nvSpPr>
          <p:cNvPr id="14" name="TextBox 13"/>
          <p:cNvSpPr txBox="1"/>
          <p:nvPr/>
        </p:nvSpPr>
        <p:spPr>
          <a:xfrm>
            <a:off x="411480" y="1280160"/>
            <a:ext cx="10515600" cy="384048"/>
          </a:xfrm>
          <a:prstGeom prst="rect">
            <a:avLst/>
          </a:prstGeom>
          <a:noFill/>
        </p:spPr>
        <p:txBody>
          <a:bodyPr wrap="square">
            <a:spAutoFit/>
          </a:bodyPr>
          <a:lstStyle/>
          <a:p>
            <a:pPr algn="l"/>
            <a:r>
              <a:rPr sz="1700" b="1">
                <a:solidFill>
                  <a:srgbClr val="E85A4F"/>
                </a:solidFill>
                <a:latin typeface="Calibri"/>
              </a:rPr>
              <a:t>I am thinking of a letter... Who am I?</a:t>
            </a:r>
          </a:p>
        </p:txBody>
      </p:sp>
      <p:sp>
        <p:nvSpPr>
          <p:cNvPr id="15" name="Rounded Rectangle 14"/>
          <p:cNvSpPr/>
          <p:nvPr/>
        </p:nvSpPr>
        <p:spPr>
          <a:xfrm>
            <a:off x="457200" y="1783080"/>
            <a:ext cx="544068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85800" y="2331720"/>
            <a:ext cx="914400" cy="914400"/>
          </a:xfrm>
          <a:prstGeom prst="ellipse">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496312"/>
            <a:ext cx="914400" cy="594360"/>
          </a:xfrm>
          <a:prstGeom prst="rect">
            <a:avLst/>
          </a:prstGeom>
          <a:noFill/>
        </p:spPr>
        <p:txBody>
          <a:bodyPr wrap="square">
            <a:spAutoFit/>
          </a:bodyPr>
          <a:lstStyle/>
          <a:p>
            <a:pPr algn="ctr"/>
            <a:r>
              <a:rPr sz="2600" b="0">
                <a:solidFill>
                  <a:srgbClr val="242C38"/>
                </a:solidFill>
                <a:latin typeface="Calibri"/>
              </a:rPr>
              <a:t>🌙</a:t>
            </a:r>
          </a:p>
        </p:txBody>
      </p:sp>
      <p:sp>
        <p:nvSpPr>
          <p:cNvPr id="18" name="TextBox 17"/>
          <p:cNvSpPr txBox="1"/>
          <p:nvPr/>
        </p:nvSpPr>
        <p:spPr>
          <a:xfrm>
            <a:off x="1828800" y="2167128"/>
            <a:ext cx="3840480" cy="457200"/>
          </a:xfrm>
          <a:prstGeom prst="rect">
            <a:avLst/>
          </a:prstGeom>
          <a:noFill/>
        </p:spPr>
        <p:txBody>
          <a:bodyPr wrap="square">
            <a:spAutoFit/>
          </a:bodyPr>
          <a:lstStyle/>
          <a:p>
            <a:pPr algn="l"/>
            <a:r>
              <a:rPr sz="1800" b="1">
                <a:solidFill>
                  <a:srgbClr val="16366B"/>
                </a:solidFill>
                <a:latin typeface="Calibri"/>
              </a:rPr>
              <a:t>I make the sound /m/.</a:t>
            </a:r>
          </a:p>
        </p:txBody>
      </p:sp>
      <p:sp>
        <p:nvSpPr>
          <p:cNvPr id="19" name="TextBox 18"/>
          <p:cNvSpPr txBox="1"/>
          <p:nvPr/>
        </p:nvSpPr>
        <p:spPr>
          <a:xfrm>
            <a:off x="1828800" y="2651760"/>
            <a:ext cx="3840480" cy="457200"/>
          </a:xfrm>
          <a:prstGeom prst="rect">
            <a:avLst/>
          </a:prstGeom>
          <a:noFill/>
        </p:spPr>
        <p:txBody>
          <a:bodyPr wrap="square">
            <a:spAutoFit/>
          </a:bodyPr>
          <a:lstStyle/>
          <a:p>
            <a:pPr algn="l"/>
            <a:r>
              <a:rPr sz="1600" b="0">
                <a:solidFill>
                  <a:srgbClr val="6A7788"/>
                </a:solidFill>
                <a:latin typeface="Calibri"/>
              </a:rPr>
              <a:t>You hear me in Moon.</a:t>
            </a:r>
          </a:p>
        </p:txBody>
      </p:sp>
      <p:sp>
        <p:nvSpPr>
          <p:cNvPr id="20" name="Rounded Rectangle 19"/>
          <p:cNvSpPr/>
          <p:nvPr/>
        </p:nvSpPr>
        <p:spPr>
          <a:xfrm>
            <a:off x="1828800" y="3154680"/>
            <a:ext cx="2011680" cy="502920"/>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828800" y="3227832"/>
            <a:ext cx="2011680" cy="365760"/>
          </a:xfrm>
          <a:prstGeom prst="rect">
            <a:avLst/>
          </a:prstGeom>
          <a:noFill/>
        </p:spPr>
        <p:txBody>
          <a:bodyPr wrap="square">
            <a:spAutoFit/>
          </a:bodyPr>
          <a:lstStyle/>
          <a:p>
            <a:pPr algn="ctr"/>
            <a:r>
              <a:rPr sz="1500" b="1">
                <a:solidFill>
                  <a:srgbClr val="16366B"/>
                </a:solidFill>
                <a:latin typeface="Calibri"/>
              </a:rPr>
              <a:t>Who am I?  ___</a:t>
            </a:r>
          </a:p>
        </p:txBody>
      </p:sp>
      <p:sp>
        <p:nvSpPr>
          <p:cNvPr id="22" name="Rounded Rectangle 21"/>
          <p:cNvSpPr/>
          <p:nvPr/>
        </p:nvSpPr>
        <p:spPr>
          <a:xfrm>
            <a:off x="6172200" y="1783080"/>
            <a:ext cx="544068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00800" y="2331720"/>
            <a:ext cx="914400" cy="914400"/>
          </a:xfrm>
          <a:prstGeom prst="ellipse">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2496312"/>
            <a:ext cx="914400" cy="594360"/>
          </a:xfrm>
          <a:prstGeom prst="rect">
            <a:avLst/>
          </a:prstGeom>
          <a:noFill/>
        </p:spPr>
        <p:txBody>
          <a:bodyPr wrap="square">
            <a:spAutoFit/>
          </a:bodyPr>
          <a:lstStyle/>
          <a:p>
            <a:pPr algn="ctr"/>
            <a:r>
              <a:rPr sz="2600" b="0">
                <a:solidFill>
                  <a:srgbClr val="242C38"/>
                </a:solidFill>
                <a:latin typeface="Calibri"/>
              </a:rPr>
              <a:t>🐻</a:t>
            </a:r>
          </a:p>
        </p:txBody>
      </p:sp>
      <p:sp>
        <p:nvSpPr>
          <p:cNvPr id="25" name="TextBox 24"/>
          <p:cNvSpPr txBox="1"/>
          <p:nvPr/>
        </p:nvSpPr>
        <p:spPr>
          <a:xfrm>
            <a:off x="7543800" y="2167128"/>
            <a:ext cx="3840480" cy="457200"/>
          </a:xfrm>
          <a:prstGeom prst="rect">
            <a:avLst/>
          </a:prstGeom>
          <a:noFill/>
        </p:spPr>
        <p:txBody>
          <a:bodyPr wrap="square">
            <a:spAutoFit/>
          </a:bodyPr>
          <a:lstStyle/>
          <a:p>
            <a:pPr algn="l"/>
            <a:r>
              <a:rPr sz="1800" b="1">
                <a:solidFill>
                  <a:srgbClr val="16366B"/>
                </a:solidFill>
                <a:latin typeface="Calibri"/>
              </a:rPr>
              <a:t>I make the sound /b/.</a:t>
            </a:r>
          </a:p>
        </p:txBody>
      </p:sp>
      <p:sp>
        <p:nvSpPr>
          <p:cNvPr id="26" name="TextBox 25"/>
          <p:cNvSpPr txBox="1"/>
          <p:nvPr/>
        </p:nvSpPr>
        <p:spPr>
          <a:xfrm>
            <a:off x="7543800" y="2651760"/>
            <a:ext cx="3840480" cy="457200"/>
          </a:xfrm>
          <a:prstGeom prst="rect">
            <a:avLst/>
          </a:prstGeom>
          <a:noFill/>
        </p:spPr>
        <p:txBody>
          <a:bodyPr wrap="square">
            <a:spAutoFit/>
          </a:bodyPr>
          <a:lstStyle/>
          <a:p>
            <a:pPr algn="l"/>
            <a:r>
              <a:rPr sz="1600" b="0">
                <a:solidFill>
                  <a:srgbClr val="6A7788"/>
                </a:solidFill>
                <a:latin typeface="Calibri"/>
              </a:rPr>
              <a:t>You hear me in Bear.</a:t>
            </a:r>
          </a:p>
        </p:txBody>
      </p:sp>
      <p:sp>
        <p:nvSpPr>
          <p:cNvPr id="27" name="Rounded Rectangle 26"/>
          <p:cNvSpPr/>
          <p:nvPr/>
        </p:nvSpPr>
        <p:spPr>
          <a:xfrm>
            <a:off x="7543800" y="3154680"/>
            <a:ext cx="2011680" cy="502920"/>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43800" y="3227832"/>
            <a:ext cx="2011680" cy="365760"/>
          </a:xfrm>
          <a:prstGeom prst="rect">
            <a:avLst/>
          </a:prstGeom>
          <a:noFill/>
        </p:spPr>
        <p:txBody>
          <a:bodyPr wrap="square">
            <a:spAutoFit/>
          </a:bodyPr>
          <a:lstStyle/>
          <a:p>
            <a:pPr algn="ctr"/>
            <a:r>
              <a:rPr sz="1500" b="1">
                <a:solidFill>
                  <a:srgbClr val="16366B"/>
                </a:solidFill>
                <a:latin typeface="Calibri"/>
              </a:rPr>
              <a:t>Who am I?  ___</a:t>
            </a:r>
          </a:p>
        </p:txBody>
      </p:sp>
      <p:sp>
        <p:nvSpPr>
          <p:cNvPr id="29" name="Rounded Rectangle 28"/>
          <p:cNvSpPr/>
          <p:nvPr/>
        </p:nvSpPr>
        <p:spPr>
          <a:xfrm>
            <a:off x="457200" y="3977639"/>
            <a:ext cx="544068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85800" y="4526279"/>
            <a:ext cx="914400" cy="914400"/>
          </a:xfrm>
          <a:prstGeom prst="ellipse">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690871"/>
            <a:ext cx="914400" cy="594360"/>
          </a:xfrm>
          <a:prstGeom prst="rect">
            <a:avLst/>
          </a:prstGeom>
          <a:noFill/>
        </p:spPr>
        <p:txBody>
          <a:bodyPr wrap="square">
            <a:spAutoFit/>
          </a:bodyPr>
          <a:lstStyle/>
          <a:p>
            <a:pPr algn="ctr"/>
            <a:r>
              <a:rPr sz="2600" b="0">
                <a:solidFill>
                  <a:srgbClr val="242C38"/>
                </a:solidFill>
                <a:latin typeface="Calibri"/>
              </a:rPr>
              <a:t>☀️</a:t>
            </a:r>
          </a:p>
        </p:txBody>
      </p:sp>
      <p:sp>
        <p:nvSpPr>
          <p:cNvPr id="32" name="TextBox 31"/>
          <p:cNvSpPr txBox="1"/>
          <p:nvPr/>
        </p:nvSpPr>
        <p:spPr>
          <a:xfrm>
            <a:off x="1828800" y="4361687"/>
            <a:ext cx="3840480" cy="457200"/>
          </a:xfrm>
          <a:prstGeom prst="rect">
            <a:avLst/>
          </a:prstGeom>
          <a:noFill/>
        </p:spPr>
        <p:txBody>
          <a:bodyPr wrap="square">
            <a:spAutoFit/>
          </a:bodyPr>
          <a:lstStyle/>
          <a:p>
            <a:pPr algn="l"/>
            <a:r>
              <a:rPr sz="1800" b="1">
                <a:solidFill>
                  <a:srgbClr val="16366B"/>
                </a:solidFill>
                <a:latin typeface="Calibri"/>
              </a:rPr>
              <a:t>I make the sound /s/.</a:t>
            </a:r>
          </a:p>
        </p:txBody>
      </p:sp>
      <p:sp>
        <p:nvSpPr>
          <p:cNvPr id="33" name="TextBox 32"/>
          <p:cNvSpPr txBox="1"/>
          <p:nvPr/>
        </p:nvSpPr>
        <p:spPr>
          <a:xfrm>
            <a:off x="1828800" y="4846319"/>
            <a:ext cx="3840480" cy="457200"/>
          </a:xfrm>
          <a:prstGeom prst="rect">
            <a:avLst/>
          </a:prstGeom>
          <a:noFill/>
        </p:spPr>
        <p:txBody>
          <a:bodyPr wrap="square">
            <a:spAutoFit/>
          </a:bodyPr>
          <a:lstStyle/>
          <a:p>
            <a:pPr algn="l"/>
            <a:r>
              <a:rPr sz="1600" b="0">
                <a:solidFill>
                  <a:srgbClr val="6A7788"/>
                </a:solidFill>
                <a:latin typeface="Calibri"/>
              </a:rPr>
              <a:t>You hear me in Sun.</a:t>
            </a:r>
          </a:p>
        </p:txBody>
      </p:sp>
      <p:sp>
        <p:nvSpPr>
          <p:cNvPr id="34" name="Rounded Rectangle 33"/>
          <p:cNvSpPr/>
          <p:nvPr/>
        </p:nvSpPr>
        <p:spPr>
          <a:xfrm>
            <a:off x="1828800" y="5349239"/>
            <a:ext cx="2011680" cy="502920"/>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0" y="5422391"/>
            <a:ext cx="2011680" cy="365760"/>
          </a:xfrm>
          <a:prstGeom prst="rect">
            <a:avLst/>
          </a:prstGeom>
          <a:noFill/>
        </p:spPr>
        <p:txBody>
          <a:bodyPr wrap="square">
            <a:spAutoFit/>
          </a:bodyPr>
          <a:lstStyle/>
          <a:p>
            <a:pPr algn="ctr"/>
            <a:r>
              <a:rPr sz="1500" b="1">
                <a:solidFill>
                  <a:srgbClr val="16366B"/>
                </a:solidFill>
                <a:latin typeface="Calibri"/>
              </a:rPr>
              <a:t>Who am I?  ___</a:t>
            </a:r>
          </a:p>
        </p:txBody>
      </p:sp>
      <p:sp>
        <p:nvSpPr>
          <p:cNvPr id="36" name="Rounded Rectangle 35"/>
          <p:cNvSpPr/>
          <p:nvPr/>
        </p:nvSpPr>
        <p:spPr>
          <a:xfrm>
            <a:off x="6172200" y="3977639"/>
            <a:ext cx="544068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00800" y="4526279"/>
            <a:ext cx="914400" cy="914400"/>
          </a:xfrm>
          <a:prstGeom prst="ellipse">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0" y="4690871"/>
            <a:ext cx="914400" cy="594360"/>
          </a:xfrm>
          <a:prstGeom prst="rect">
            <a:avLst/>
          </a:prstGeom>
          <a:noFill/>
        </p:spPr>
        <p:txBody>
          <a:bodyPr wrap="square">
            <a:spAutoFit/>
          </a:bodyPr>
          <a:lstStyle/>
          <a:p>
            <a:pPr algn="ctr"/>
            <a:r>
              <a:rPr sz="2600" b="0">
                <a:solidFill>
                  <a:srgbClr val="242C38"/>
                </a:solidFill>
                <a:latin typeface="Calibri"/>
              </a:rPr>
              <a:t>🐱</a:t>
            </a:r>
          </a:p>
        </p:txBody>
      </p:sp>
      <p:sp>
        <p:nvSpPr>
          <p:cNvPr id="39" name="TextBox 38"/>
          <p:cNvSpPr txBox="1"/>
          <p:nvPr/>
        </p:nvSpPr>
        <p:spPr>
          <a:xfrm>
            <a:off x="7543800" y="4361687"/>
            <a:ext cx="3840480" cy="457200"/>
          </a:xfrm>
          <a:prstGeom prst="rect">
            <a:avLst/>
          </a:prstGeom>
          <a:noFill/>
        </p:spPr>
        <p:txBody>
          <a:bodyPr wrap="square">
            <a:spAutoFit/>
          </a:bodyPr>
          <a:lstStyle/>
          <a:p>
            <a:pPr algn="l"/>
            <a:r>
              <a:rPr sz="1800" b="1">
                <a:solidFill>
                  <a:srgbClr val="16366B"/>
                </a:solidFill>
                <a:latin typeface="Calibri"/>
              </a:rPr>
              <a:t>I make the sound /t/.</a:t>
            </a:r>
          </a:p>
        </p:txBody>
      </p:sp>
      <p:sp>
        <p:nvSpPr>
          <p:cNvPr id="40" name="TextBox 39"/>
          <p:cNvSpPr txBox="1"/>
          <p:nvPr/>
        </p:nvSpPr>
        <p:spPr>
          <a:xfrm>
            <a:off x="7543800" y="4846319"/>
            <a:ext cx="3840480" cy="457200"/>
          </a:xfrm>
          <a:prstGeom prst="rect">
            <a:avLst/>
          </a:prstGeom>
          <a:noFill/>
        </p:spPr>
        <p:txBody>
          <a:bodyPr wrap="square">
            <a:spAutoFit/>
          </a:bodyPr>
          <a:lstStyle/>
          <a:p>
            <a:pPr algn="l"/>
            <a:r>
              <a:rPr sz="1600" b="0">
                <a:solidFill>
                  <a:srgbClr val="6A7788"/>
                </a:solidFill>
                <a:latin typeface="Calibri"/>
              </a:rPr>
              <a:t>You hear me at the END of Cat.</a:t>
            </a:r>
          </a:p>
        </p:txBody>
      </p:sp>
      <p:sp>
        <p:nvSpPr>
          <p:cNvPr id="41" name="Rounded Rectangle 40"/>
          <p:cNvSpPr/>
          <p:nvPr/>
        </p:nvSpPr>
        <p:spPr>
          <a:xfrm>
            <a:off x="7543800" y="5349239"/>
            <a:ext cx="2011680" cy="502920"/>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43800" y="5422391"/>
            <a:ext cx="2011680" cy="365760"/>
          </a:xfrm>
          <a:prstGeom prst="rect">
            <a:avLst/>
          </a:prstGeom>
          <a:noFill/>
        </p:spPr>
        <p:txBody>
          <a:bodyPr wrap="square">
            <a:spAutoFit/>
          </a:bodyPr>
          <a:lstStyle/>
          <a:p>
            <a:pPr algn="ctr"/>
            <a:r>
              <a:rPr sz="1500" b="1">
                <a:solidFill>
                  <a:srgbClr val="16366B"/>
                </a:solidFill>
                <a:latin typeface="Calibri"/>
              </a:rPr>
              <a:t>Who am I?  ___</a:t>
            </a:r>
          </a:p>
        </p:txBody>
      </p:sp>
    </p:spTree>
  </p:cSld>
  <p:clrMapOvr>
    <a:masterClrMapping/>
  </p:clrMapOvr>
  <p:transition spd="med"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09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009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GAME</a:t>
            </a:r>
          </a:p>
        </p:txBody>
      </p:sp>
      <p:sp>
        <p:nvSpPr>
          <p:cNvPr id="6" name="Rounded Rectangle 5"/>
          <p:cNvSpPr/>
          <p:nvPr/>
        </p:nvSpPr>
        <p:spPr>
          <a:xfrm>
            <a:off x="9418320" y="237744"/>
            <a:ext cx="242316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a:solidFill>
                  <a:srgbClr val="FFFFFF"/>
                </a:solidFill>
                <a:latin typeface="Calibri"/>
              </a:rPr>
              <a:t>5–15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Letter Detective: First Sounds</a:t>
            </a:r>
          </a:p>
        </p:txBody>
      </p:sp>
      <p:sp>
        <p:nvSpPr>
          <p:cNvPr id="9" name="Rectangle 8"/>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2090004"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First sounds  |  5–15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6 / 35</a:t>
            </a:r>
          </a:p>
        </p:txBody>
      </p:sp>
      <p:sp>
        <p:nvSpPr>
          <p:cNvPr id="14" name="TextBox 13"/>
          <p:cNvSpPr txBox="1"/>
          <p:nvPr/>
        </p:nvSpPr>
        <p:spPr>
          <a:xfrm>
            <a:off x="411480" y="1261872"/>
            <a:ext cx="10515600" cy="384048"/>
          </a:xfrm>
          <a:prstGeom prst="rect">
            <a:avLst/>
          </a:prstGeom>
          <a:noFill/>
        </p:spPr>
        <p:txBody>
          <a:bodyPr wrap="square">
            <a:spAutoFit/>
          </a:bodyPr>
          <a:lstStyle/>
          <a:p>
            <a:pPr algn="l"/>
            <a:r>
              <a:rPr sz="1700" b="1">
                <a:solidFill>
                  <a:srgbClr val="E85A4F"/>
                </a:solidFill>
                <a:latin typeface="Calibri"/>
              </a:rPr>
              <a:t>What sound do you hear FIRST?</a:t>
            </a:r>
          </a:p>
        </p:txBody>
      </p:sp>
      <p:sp>
        <p:nvSpPr>
          <p:cNvPr id="15" name="Rounded Rectangle 14"/>
          <p:cNvSpPr/>
          <p:nvPr/>
        </p:nvSpPr>
        <p:spPr>
          <a:xfrm>
            <a:off x="457200" y="1737360"/>
            <a:ext cx="269748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1938528"/>
            <a:ext cx="2514600" cy="777240"/>
          </a:xfrm>
          <a:prstGeom prst="rect">
            <a:avLst/>
          </a:prstGeom>
          <a:noFill/>
        </p:spPr>
        <p:txBody>
          <a:bodyPr wrap="square">
            <a:spAutoFit/>
          </a:bodyPr>
          <a:lstStyle/>
          <a:p>
            <a:pPr algn="ctr"/>
            <a:r>
              <a:rPr sz="4000" b="0">
                <a:solidFill>
                  <a:srgbClr val="242C38"/>
                </a:solidFill>
                <a:latin typeface="Calibri"/>
              </a:rPr>
              <a:t>🐻</a:t>
            </a:r>
          </a:p>
        </p:txBody>
      </p:sp>
      <p:sp>
        <p:nvSpPr>
          <p:cNvPr id="17" name="TextBox 16"/>
          <p:cNvSpPr txBox="1"/>
          <p:nvPr/>
        </p:nvSpPr>
        <p:spPr>
          <a:xfrm>
            <a:off x="548640" y="2834640"/>
            <a:ext cx="2514600" cy="457200"/>
          </a:xfrm>
          <a:prstGeom prst="rect">
            <a:avLst/>
          </a:prstGeom>
          <a:noFill/>
        </p:spPr>
        <p:txBody>
          <a:bodyPr wrap="square">
            <a:spAutoFit/>
          </a:bodyPr>
          <a:lstStyle/>
          <a:p>
            <a:pPr algn="ctr"/>
            <a:r>
              <a:rPr sz="2400" b="1">
                <a:solidFill>
                  <a:srgbClr val="16366B"/>
                </a:solidFill>
                <a:latin typeface="Calibri"/>
              </a:rPr>
              <a:t>bear</a:t>
            </a:r>
          </a:p>
        </p:txBody>
      </p:sp>
      <p:sp>
        <p:nvSpPr>
          <p:cNvPr id="18" name="Rounded Rectangle 17"/>
          <p:cNvSpPr/>
          <p:nvPr/>
        </p:nvSpPr>
        <p:spPr>
          <a:xfrm>
            <a:off x="1143000" y="3364992"/>
            <a:ext cx="1325880" cy="41148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3419856"/>
            <a:ext cx="1325880" cy="320040"/>
          </a:xfrm>
          <a:prstGeom prst="rect">
            <a:avLst/>
          </a:prstGeom>
          <a:noFill/>
        </p:spPr>
        <p:txBody>
          <a:bodyPr wrap="square">
            <a:spAutoFit/>
          </a:bodyPr>
          <a:lstStyle/>
          <a:p>
            <a:pPr algn="ctr"/>
            <a:r>
              <a:rPr sz="1500" b="1">
                <a:solidFill>
                  <a:srgbClr val="009C8F"/>
                </a:solidFill>
                <a:latin typeface="Calibri"/>
              </a:rPr>
              <a:t>/ ? /</a:t>
            </a:r>
          </a:p>
        </p:txBody>
      </p:sp>
      <p:sp>
        <p:nvSpPr>
          <p:cNvPr id="20" name="Rounded Rectangle 19"/>
          <p:cNvSpPr/>
          <p:nvPr/>
        </p:nvSpPr>
        <p:spPr>
          <a:xfrm>
            <a:off x="3337560" y="1737360"/>
            <a:ext cx="269748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29000" y="1938528"/>
            <a:ext cx="2514600" cy="777240"/>
          </a:xfrm>
          <a:prstGeom prst="rect">
            <a:avLst/>
          </a:prstGeom>
          <a:noFill/>
        </p:spPr>
        <p:txBody>
          <a:bodyPr wrap="square">
            <a:spAutoFit/>
          </a:bodyPr>
          <a:lstStyle/>
          <a:p>
            <a:pPr algn="ctr"/>
            <a:r>
              <a:rPr sz="4000" b="0">
                <a:solidFill>
                  <a:srgbClr val="242C38"/>
                </a:solidFill>
                <a:latin typeface="Calibri"/>
              </a:rPr>
              <a:t>🐱</a:t>
            </a:r>
          </a:p>
        </p:txBody>
      </p:sp>
      <p:sp>
        <p:nvSpPr>
          <p:cNvPr id="22" name="TextBox 21"/>
          <p:cNvSpPr txBox="1"/>
          <p:nvPr/>
        </p:nvSpPr>
        <p:spPr>
          <a:xfrm>
            <a:off x="3429000" y="2834640"/>
            <a:ext cx="2514600" cy="457200"/>
          </a:xfrm>
          <a:prstGeom prst="rect">
            <a:avLst/>
          </a:prstGeom>
          <a:noFill/>
        </p:spPr>
        <p:txBody>
          <a:bodyPr wrap="square">
            <a:spAutoFit/>
          </a:bodyPr>
          <a:lstStyle/>
          <a:p>
            <a:pPr algn="ctr"/>
            <a:r>
              <a:rPr sz="2400" b="1">
                <a:solidFill>
                  <a:srgbClr val="16366B"/>
                </a:solidFill>
                <a:latin typeface="Calibri"/>
              </a:rPr>
              <a:t>cat</a:t>
            </a:r>
          </a:p>
        </p:txBody>
      </p:sp>
      <p:sp>
        <p:nvSpPr>
          <p:cNvPr id="23" name="Rounded Rectangle 22"/>
          <p:cNvSpPr/>
          <p:nvPr/>
        </p:nvSpPr>
        <p:spPr>
          <a:xfrm>
            <a:off x="4023360" y="3364992"/>
            <a:ext cx="1325880" cy="41148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23360" y="3419856"/>
            <a:ext cx="1325880" cy="320040"/>
          </a:xfrm>
          <a:prstGeom prst="rect">
            <a:avLst/>
          </a:prstGeom>
          <a:noFill/>
        </p:spPr>
        <p:txBody>
          <a:bodyPr wrap="square">
            <a:spAutoFit/>
          </a:bodyPr>
          <a:lstStyle/>
          <a:p>
            <a:pPr algn="ctr"/>
            <a:r>
              <a:rPr sz="1500" b="1">
                <a:solidFill>
                  <a:srgbClr val="009C8F"/>
                </a:solidFill>
                <a:latin typeface="Calibri"/>
              </a:rPr>
              <a:t>/ ? /</a:t>
            </a:r>
          </a:p>
        </p:txBody>
      </p:sp>
      <p:sp>
        <p:nvSpPr>
          <p:cNvPr id="25" name="Rounded Rectangle 24"/>
          <p:cNvSpPr/>
          <p:nvPr/>
        </p:nvSpPr>
        <p:spPr>
          <a:xfrm>
            <a:off x="6217920" y="1737360"/>
            <a:ext cx="269748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1938528"/>
            <a:ext cx="2514600" cy="777240"/>
          </a:xfrm>
          <a:prstGeom prst="rect">
            <a:avLst/>
          </a:prstGeom>
          <a:noFill/>
        </p:spPr>
        <p:txBody>
          <a:bodyPr wrap="square">
            <a:spAutoFit/>
          </a:bodyPr>
          <a:lstStyle/>
          <a:p>
            <a:pPr algn="ctr"/>
            <a:r>
              <a:rPr sz="4000" b="0">
                <a:solidFill>
                  <a:srgbClr val="242C38"/>
                </a:solidFill>
                <a:latin typeface="Calibri"/>
              </a:rPr>
              <a:t>☀️</a:t>
            </a:r>
          </a:p>
        </p:txBody>
      </p:sp>
      <p:sp>
        <p:nvSpPr>
          <p:cNvPr id="27" name="TextBox 26"/>
          <p:cNvSpPr txBox="1"/>
          <p:nvPr/>
        </p:nvSpPr>
        <p:spPr>
          <a:xfrm>
            <a:off x="6309360" y="2834640"/>
            <a:ext cx="2514600" cy="457200"/>
          </a:xfrm>
          <a:prstGeom prst="rect">
            <a:avLst/>
          </a:prstGeom>
          <a:noFill/>
        </p:spPr>
        <p:txBody>
          <a:bodyPr wrap="square">
            <a:spAutoFit/>
          </a:bodyPr>
          <a:lstStyle/>
          <a:p>
            <a:pPr algn="ctr"/>
            <a:r>
              <a:rPr sz="2400" b="1">
                <a:solidFill>
                  <a:srgbClr val="16366B"/>
                </a:solidFill>
                <a:latin typeface="Calibri"/>
              </a:rPr>
              <a:t>sun</a:t>
            </a:r>
          </a:p>
        </p:txBody>
      </p:sp>
      <p:sp>
        <p:nvSpPr>
          <p:cNvPr id="28" name="Rounded Rectangle 27"/>
          <p:cNvSpPr/>
          <p:nvPr/>
        </p:nvSpPr>
        <p:spPr>
          <a:xfrm>
            <a:off x="6903720" y="3364992"/>
            <a:ext cx="1325880" cy="41148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03720" y="3419856"/>
            <a:ext cx="1325880" cy="320040"/>
          </a:xfrm>
          <a:prstGeom prst="rect">
            <a:avLst/>
          </a:prstGeom>
          <a:noFill/>
        </p:spPr>
        <p:txBody>
          <a:bodyPr wrap="square">
            <a:spAutoFit/>
          </a:bodyPr>
          <a:lstStyle/>
          <a:p>
            <a:pPr algn="ctr"/>
            <a:r>
              <a:rPr sz="1500" b="1">
                <a:solidFill>
                  <a:srgbClr val="009C8F"/>
                </a:solidFill>
                <a:latin typeface="Calibri"/>
              </a:rPr>
              <a:t>/ ? /</a:t>
            </a:r>
          </a:p>
        </p:txBody>
      </p:sp>
      <p:sp>
        <p:nvSpPr>
          <p:cNvPr id="30" name="Rounded Rectangle 29"/>
          <p:cNvSpPr/>
          <p:nvPr/>
        </p:nvSpPr>
        <p:spPr>
          <a:xfrm>
            <a:off x="9098280" y="1737360"/>
            <a:ext cx="2697480" cy="2148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89720" y="1938528"/>
            <a:ext cx="2514600" cy="777240"/>
          </a:xfrm>
          <a:prstGeom prst="rect">
            <a:avLst/>
          </a:prstGeom>
          <a:noFill/>
        </p:spPr>
        <p:txBody>
          <a:bodyPr wrap="square">
            <a:spAutoFit/>
          </a:bodyPr>
          <a:lstStyle/>
          <a:p>
            <a:pPr algn="ctr"/>
            <a:r>
              <a:rPr sz="4000" b="0">
                <a:solidFill>
                  <a:srgbClr val="242C38"/>
                </a:solidFill>
                <a:latin typeface="Calibri"/>
              </a:rPr>
              <a:t>🌙</a:t>
            </a:r>
          </a:p>
        </p:txBody>
      </p:sp>
      <p:sp>
        <p:nvSpPr>
          <p:cNvPr id="32" name="TextBox 31"/>
          <p:cNvSpPr txBox="1"/>
          <p:nvPr/>
        </p:nvSpPr>
        <p:spPr>
          <a:xfrm>
            <a:off x="9189720" y="2834640"/>
            <a:ext cx="2514600" cy="457200"/>
          </a:xfrm>
          <a:prstGeom prst="rect">
            <a:avLst/>
          </a:prstGeom>
          <a:noFill/>
        </p:spPr>
        <p:txBody>
          <a:bodyPr wrap="square">
            <a:spAutoFit/>
          </a:bodyPr>
          <a:lstStyle/>
          <a:p>
            <a:pPr algn="ctr"/>
            <a:r>
              <a:rPr sz="2400" b="1">
                <a:solidFill>
                  <a:srgbClr val="16366B"/>
                </a:solidFill>
                <a:latin typeface="Calibri"/>
              </a:rPr>
              <a:t>moon</a:t>
            </a:r>
          </a:p>
        </p:txBody>
      </p:sp>
      <p:sp>
        <p:nvSpPr>
          <p:cNvPr id="33" name="Rounded Rectangle 32"/>
          <p:cNvSpPr/>
          <p:nvPr/>
        </p:nvSpPr>
        <p:spPr>
          <a:xfrm>
            <a:off x="9784080" y="3364992"/>
            <a:ext cx="1325880" cy="41148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84080" y="3419856"/>
            <a:ext cx="1325880" cy="320040"/>
          </a:xfrm>
          <a:prstGeom prst="rect">
            <a:avLst/>
          </a:prstGeom>
          <a:noFill/>
        </p:spPr>
        <p:txBody>
          <a:bodyPr wrap="square">
            <a:spAutoFit/>
          </a:bodyPr>
          <a:lstStyle/>
          <a:p>
            <a:pPr algn="ctr"/>
            <a:r>
              <a:rPr sz="1500" b="1">
                <a:solidFill>
                  <a:srgbClr val="009C8F"/>
                </a:solidFill>
                <a:latin typeface="Calibri"/>
              </a:rPr>
              <a:t>/ ? /</a:t>
            </a:r>
          </a:p>
        </p:txBody>
      </p:sp>
      <p:sp>
        <p:nvSpPr>
          <p:cNvPr id="35" name="Rounded Rectangle 34"/>
          <p:cNvSpPr/>
          <p:nvPr/>
        </p:nvSpPr>
        <p:spPr>
          <a:xfrm>
            <a:off x="457200" y="4114800"/>
            <a:ext cx="11292840" cy="1691640"/>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4279392"/>
            <a:ext cx="10789920" cy="384048"/>
          </a:xfrm>
          <a:prstGeom prst="rect">
            <a:avLst/>
          </a:prstGeom>
          <a:noFill/>
        </p:spPr>
        <p:txBody>
          <a:bodyPr wrap="square">
            <a:spAutoFit/>
          </a:bodyPr>
          <a:lstStyle/>
          <a:p>
            <a:pPr algn="l"/>
            <a:r>
              <a:rPr sz="1500" b="1">
                <a:solidFill>
                  <a:srgbClr val="16366B"/>
                </a:solidFill>
                <a:latin typeface="Calibri"/>
              </a:rPr>
              <a:t>🎈 BONUS (only if the student is ready) — Two letters, one sound:</a:t>
            </a:r>
          </a:p>
        </p:txBody>
      </p:sp>
      <p:sp>
        <p:nvSpPr>
          <p:cNvPr id="37" name="Rounded Rectangle 36"/>
          <p:cNvSpPr/>
          <p:nvPr/>
        </p:nvSpPr>
        <p:spPr>
          <a:xfrm>
            <a:off x="685800" y="4754880"/>
            <a:ext cx="256032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4864608"/>
            <a:ext cx="731520" cy="548640"/>
          </a:xfrm>
          <a:prstGeom prst="rect">
            <a:avLst/>
          </a:prstGeom>
          <a:noFill/>
        </p:spPr>
        <p:txBody>
          <a:bodyPr wrap="square">
            <a:spAutoFit/>
          </a:bodyPr>
          <a:lstStyle/>
          <a:p>
            <a:pPr algn="ctr"/>
            <a:r>
              <a:rPr sz="2200" b="0">
                <a:solidFill>
                  <a:srgbClr val="242C38"/>
                </a:solidFill>
                <a:latin typeface="Calibri"/>
              </a:rPr>
              <a:t>🤫</a:t>
            </a:r>
          </a:p>
        </p:txBody>
      </p:sp>
      <p:sp>
        <p:nvSpPr>
          <p:cNvPr id="39" name="TextBox 38"/>
          <p:cNvSpPr txBox="1"/>
          <p:nvPr/>
        </p:nvSpPr>
        <p:spPr>
          <a:xfrm>
            <a:off x="1600200" y="4846320"/>
            <a:ext cx="1463040" cy="384048"/>
          </a:xfrm>
          <a:prstGeom prst="rect">
            <a:avLst/>
          </a:prstGeom>
          <a:noFill/>
        </p:spPr>
        <p:txBody>
          <a:bodyPr wrap="square">
            <a:spAutoFit/>
          </a:bodyPr>
          <a:lstStyle/>
          <a:p>
            <a:pPr algn="l"/>
            <a:r>
              <a:rPr sz="2400" b="1">
                <a:solidFill>
                  <a:srgbClr val="E85A4F"/>
                </a:solidFill>
                <a:latin typeface="Calibri"/>
              </a:rPr>
              <a:t>sh</a:t>
            </a:r>
          </a:p>
        </p:txBody>
      </p:sp>
      <p:sp>
        <p:nvSpPr>
          <p:cNvPr id="40" name="TextBox 39"/>
          <p:cNvSpPr txBox="1"/>
          <p:nvPr/>
        </p:nvSpPr>
        <p:spPr>
          <a:xfrm>
            <a:off x="1600200" y="5230368"/>
            <a:ext cx="1463040" cy="310896"/>
          </a:xfrm>
          <a:prstGeom prst="rect">
            <a:avLst/>
          </a:prstGeom>
          <a:noFill/>
        </p:spPr>
        <p:txBody>
          <a:bodyPr wrap="square">
            <a:spAutoFit/>
          </a:bodyPr>
          <a:lstStyle/>
          <a:p>
            <a:pPr algn="l"/>
            <a:r>
              <a:rPr sz="1200" b="0">
                <a:solidFill>
                  <a:srgbClr val="6A7788"/>
                </a:solidFill>
                <a:latin typeface="Calibri"/>
              </a:rPr>
              <a:t>shhh</a:t>
            </a:r>
          </a:p>
        </p:txBody>
      </p:sp>
      <p:sp>
        <p:nvSpPr>
          <p:cNvPr id="41" name="Rounded Rectangle 40"/>
          <p:cNvSpPr/>
          <p:nvPr/>
        </p:nvSpPr>
        <p:spPr>
          <a:xfrm>
            <a:off x="3474720" y="4754880"/>
            <a:ext cx="256032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11880" y="4864608"/>
            <a:ext cx="731520" cy="548640"/>
          </a:xfrm>
          <a:prstGeom prst="rect">
            <a:avLst/>
          </a:prstGeom>
          <a:noFill/>
        </p:spPr>
        <p:txBody>
          <a:bodyPr wrap="square">
            <a:spAutoFit/>
          </a:bodyPr>
          <a:lstStyle/>
          <a:p>
            <a:pPr algn="ctr"/>
            <a:r>
              <a:rPr sz="2200" b="0">
                <a:solidFill>
                  <a:srgbClr val="242C38"/>
                </a:solidFill>
                <a:latin typeface="Calibri"/>
              </a:rPr>
              <a:t>🚂</a:t>
            </a:r>
          </a:p>
        </p:txBody>
      </p:sp>
      <p:sp>
        <p:nvSpPr>
          <p:cNvPr id="43" name="TextBox 42"/>
          <p:cNvSpPr txBox="1"/>
          <p:nvPr/>
        </p:nvSpPr>
        <p:spPr>
          <a:xfrm>
            <a:off x="4389120" y="4846320"/>
            <a:ext cx="1463040" cy="384048"/>
          </a:xfrm>
          <a:prstGeom prst="rect">
            <a:avLst/>
          </a:prstGeom>
          <a:noFill/>
        </p:spPr>
        <p:txBody>
          <a:bodyPr wrap="square">
            <a:spAutoFit/>
          </a:bodyPr>
          <a:lstStyle/>
          <a:p>
            <a:pPr algn="l"/>
            <a:r>
              <a:rPr sz="2400" b="1">
                <a:solidFill>
                  <a:srgbClr val="E85A4F"/>
                </a:solidFill>
                <a:latin typeface="Calibri"/>
              </a:rPr>
              <a:t>ch</a:t>
            </a:r>
          </a:p>
        </p:txBody>
      </p:sp>
      <p:sp>
        <p:nvSpPr>
          <p:cNvPr id="44" name="TextBox 43"/>
          <p:cNvSpPr txBox="1"/>
          <p:nvPr/>
        </p:nvSpPr>
        <p:spPr>
          <a:xfrm>
            <a:off x="4389120" y="5230368"/>
            <a:ext cx="1463040" cy="310896"/>
          </a:xfrm>
          <a:prstGeom prst="rect">
            <a:avLst/>
          </a:prstGeom>
          <a:noFill/>
        </p:spPr>
        <p:txBody>
          <a:bodyPr wrap="square">
            <a:spAutoFit/>
          </a:bodyPr>
          <a:lstStyle/>
          <a:p>
            <a:pPr algn="l"/>
            <a:r>
              <a:rPr sz="1200" b="0">
                <a:solidFill>
                  <a:srgbClr val="6A7788"/>
                </a:solidFill>
                <a:latin typeface="Calibri"/>
              </a:rPr>
              <a:t>ch-ch</a:t>
            </a:r>
          </a:p>
        </p:txBody>
      </p:sp>
      <p:sp>
        <p:nvSpPr>
          <p:cNvPr id="45" name="Rounded Rectangle 44"/>
          <p:cNvSpPr/>
          <p:nvPr/>
        </p:nvSpPr>
        <p:spPr>
          <a:xfrm>
            <a:off x="6263640" y="4754880"/>
            <a:ext cx="256032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0" y="4864608"/>
            <a:ext cx="731520" cy="548640"/>
          </a:xfrm>
          <a:prstGeom prst="rect">
            <a:avLst/>
          </a:prstGeom>
          <a:noFill/>
        </p:spPr>
        <p:txBody>
          <a:bodyPr wrap="square">
            <a:spAutoFit/>
          </a:bodyPr>
          <a:lstStyle/>
          <a:p>
            <a:pPr algn="ctr"/>
            <a:r>
              <a:rPr sz="2200" b="0">
                <a:solidFill>
                  <a:srgbClr val="242C38"/>
                </a:solidFill>
                <a:latin typeface="Calibri"/>
              </a:rPr>
              <a:t>👍</a:t>
            </a:r>
          </a:p>
        </p:txBody>
      </p:sp>
      <p:sp>
        <p:nvSpPr>
          <p:cNvPr id="47" name="TextBox 46"/>
          <p:cNvSpPr txBox="1"/>
          <p:nvPr/>
        </p:nvSpPr>
        <p:spPr>
          <a:xfrm>
            <a:off x="7178040" y="4846320"/>
            <a:ext cx="1463040" cy="384048"/>
          </a:xfrm>
          <a:prstGeom prst="rect">
            <a:avLst/>
          </a:prstGeom>
          <a:noFill/>
        </p:spPr>
        <p:txBody>
          <a:bodyPr wrap="square">
            <a:spAutoFit/>
          </a:bodyPr>
          <a:lstStyle/>
          <a:p>
            <a:pPr algn="l"/>
            <a:r>
              <a:rPr sz="2400" b="1">
                <a:solidFill>
                  <a:srgbClr val="E85A4F"/>
                </a:solidFill>
                <a:latin typeface="Calibri"/>
              </a:rPr>
              <a:t>th</a:t>
            </a:r>
          </a:p>
        </p:txBody>
      </p:sp>
      <p:sp>
        <p:nvSpPr>
          <p:cNvPr id="48" name="TextBox 47"/>
          <p:cNvSpPr txBox="1"/>
          <p:nvPr/>
        </p:nvSpPr>
        <p:spPr>
          <a:xfrm>
            <a:off x="7178040" y="5230368"/>
            <a:ext cx="1463040" cy="310896"/>
          </a:xfrm>
          <a:prstGeom prst="rect">
            <a:avLst/>
          </a:prstGeom>
          <a:noFill/>
        </p:spPr>
        <p:txBody>
          <a:bodyPr wrap="square">
            <a:spAutoFit/>
          </a:bodyPr>
          <a:lstStyle/>
          <a:p>
            <a:pPr algn="l"/>
            <a:r>
              <a:rPr sz="1200" b="0">
                <a:solidFill>
                  <a:srgbClr val="6A7788"/>
                </a:solidFill>
                <a:latin typeface="Calibri"/>
              </a:rPr>
              <a:t>thumb</a:t>
            </a:r>
          </a:p>
        </p:txBody>
      </p:sp>
      <p:sp>
        <p:nvSpPr>
          <p:cNvPr id="49" name="Rounded Rectangle 48"/>
          <p:cNvSpPr/>
          <p:nvPr/>
        </p:nvSpPr>
        <p:spPr>
          <a:xfrm>
            <a:off x="9052559" y="4754880"/>
            <a:ext cx="2560320" cy="868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89719" y="4864608"/>
            <a:ext cx="731520" cy="548640"/>
          </a:xfrm>
          <a:prstGeom prst="rect">
            <a:avLst/>
          </a:prstGeom>
          <a:noFill/>
        </p:spPr>
        <p:txBody>
          <a:bodyPr wrap="square">
            <a:spAutoFit/>
          </a:bodyPr>
          <a:lstStyle/>
          <a:p>
            <a:pPr algn="ctr"/>
            <a:r>
              <a:rPr sz="2200" b="0">
                <a:solidFill>
                  <a:srgbClr val="242C38"/>
                </a:solidFill>
                <a:latin typeface="Calibri"/>
              </a:rPr>
              <a:t>🐋</a:t>
            </a:r>
          </a:p>
        </p:txBody>
      </p:sp>
      <p:sp>
        <p:nvSpPr>
          <p:cNvPr id="51" name="TextBox 50"/>
          <p:cNvSpPr txBox="1"/>
          <p:nvPr/>
        </p:nvSpPr>
        <p:spPr>
          <a:xfrm>
            <a:off x="9966959" y="4846320"/>
            <a:ext cx="1463040" cy="384048"/>
          </a:xfrm>
          <a:prstGeom prst="rect">
            <a:avLst/>
          </a:prstGeom>
          <a:noFill/>
        </p:spPr>
        <p:txBody>
          <a:bodyPr wrap="square">
            <a:spAutoFit/>
          </a:bodyPr>
          <a:lstStyle/>
          <a:p>
            <a:pPr algn="l"/>
            <a:r>
              <a:rPr sz="2400" b="1">
                <a:solidFill>
                  <a:srgbClr val="E85A4F"/>
                </a:solidFill>
                <a:latin typeface="Calibri"/>
              </a:rPr>
              <a:t>wh</a:t>
            </a:r>
          </a:p>
        </p:txBody>
      </p:sp>
      <p:sp>
        <p:nvSpPr>
          <p:cNvPr id="52" name="TextBox 51"/>
          <p:cNvSpPr txBox="1"/>
          <p:nvPr/>
        </p:nvSpPr>
        <p:spPr>
          <a:xfrm>
            <a:off x="9966959" y="5230368"/>
            <a:ext cx="1463040" cy="310896"/>
          </a:xfrm>
          <a:prstGeom prst="rect">
            <a:avLst/>
          </a:prstGeom>
          <a:noFill/>
        </p:spPr>
        <p:txBody>
          <a:bodyPr wrap="square">
            <a:spAutoFit/>
          </a:bodyPr>
          <a:lstStyle/>
          <a:p>
            <a:pPr algn="l"/>
            <a:r>
              <a:rPr sz="1200" b="0">
                <a:solidFill>
                  <a:srgbClr val="6A7788"/>
                </a:solidFill>
                <a:latin typeface="Calibri"/>
              </a:rPr>
              <a:t>whale</a:t>
            </a:r>
          </a:p>
        </p:txBody>
      </p:sp>
    </p:spTree>
  </p:cSld>
  <p:clrMapOvr>
    <a:masterClrMapping/>
  </p:clrMapOvr>
  <p:transition spd="med"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E7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2E7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PHONICS</a:t>
            </a:r>
          </a:p>
        </p:txBody>
      </p:sp>
      <p:sp>
        <p:nvSpPr>
          <p:cNvPr id="6" name="Rounded Rectangle 5"/>
          <p:cNvSpPr/>
          <p:nvPr/>
        </p:nvSpPr>
        <p:spPr>
          <a:xfrm>
            <a:off x="9418320" y="237744"/>
            <a:ext cx="242316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a:solidFill>
                  <a:srgbClr val="FFFFFF"/>
                </a:solidFill>
                <a:latin typeface="Calibri"/>
              </a:rPr>
              <a:t>15–25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Blending: Sounds Become Words</a:t>
            </a:r>
          </a:p>
        </p:txBody>
      </p:sp>
      <p:sp>
        <p:nvSpPr>
          <p:cNvPr id="9" name="Rectangle 8"/>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2438339"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Blending  |  15–25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7 / 35</a:t>
            </a:r>
          </a:p>
        </p:txBody>
      </p:sp>
      <p:sp>
        <p:nvSpPr>
          <p:cNvPr id="14" name="Rounded Rectangle 13"/>
          <p:cNvSpPr/>
          <p:nvPr/>
        </p:nvSpPr>
        <p:spPr>
          <a:xfrm>
            <a:off x="457200" y="1371600"/>
            <a:ext cx="1129284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34440" y="1691640"/>
            <a:ext cx="1737360" cy="1645920"/>
          </a:xfrm>
          <a:prstGeom prst="roundRect">
            <a:avLst/>
          </a:prstGeom>
          <a:solidFill>
            <a:srgbClr val="E2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4440" y="1828800"/>
            <a:ext cx="1737360" cy="822960"/>
          </a:xfrm>
          <a:prstGeom prst="rect">
            <a:avLst/>
          </a:prstGeom>
          <a:noFill/>
        </p:spPr>
        <p:txBody>
          <a:bodyPr wrap="square">
            <a:spAutoFit/>
          </a:bodyPr>
          <a:lstStyle/>
          <a:p>
            <a:pPr algn="ctr"/>
            <a:r>
              <a:rPr sz="4800" b="1">
                <a:solidFill>
                  <a:srgbClr val="2EA8E8"/>
                </a:solidFill>
                <a:latin typeface="Arial Black"/>
              </a:rPr>
              <a:t>C</a:t>
            </a:r>
          </a:p>
        </p:txBody>
      </p:sp>
      <p:sp>
        <p:nvSpPr>
          <p:cNvPr id="17" name="TextBox 16"/>
          <p:cNvSpPr txBox="1"/>
          <p:nvPr/>
        </p:nvSpPr>
        <p:spPr>
          <a:xfrm>
            <a:off x="1234440" y="2697480"/>
            <a:ext cx="1737360" cy="457200"/>
          </a:xfrm>
          <a:prstGeom prst="rect">
            <a:avLst/>
          </a:prstGeom>
          <a:noFill/>
        </p:spPr>
        <p:txBody>
          <a:bodyPr wrap="square">
            <a:spAutoFit/>
          </a:bodyPr>
          <a:lstStyle/>
          <a:p>
            <a:pPr algn="ctr"/>
            <a:r>
              <a:rPr sz="2000" b="1">
                <a:solidFill>
                  <a:srgbClr val="16366B"/>
                </a:solidFill>
                <a:latin typeface="Calibri"/>
              </a:rPr>
              <a:t>/k/</a:t>
            </a:r>
          </a:p>
        </p:txBody>
      </p:sp>
      <p:sp>
        <p:nvSpPr>
          <p:cNvPr id="18" name="TextBox 17"/>
          <p:cNvSpPr txBox="1"/>
          <p:nvPr/>
        </p:nvSpPr>
        <p:spPr>
          <a:xfrm>
            <a:off x="3017520" y="2148840"/>
            <a:ext cx="457200" cy="548640"/>
          </a:xfrm>
          <a:prstGeom prst="rect">
            <a:avLst/>
          </a:prstGeom>
          <a:noFill/>
        </p:spPr>
        <p:txBody>
          <a:bodyPr wrap="square">
            <a:spAutoFit/>
          </a:bodyPr>
          <a:lstStyle/>
          <a:p>
            <a:pPr algn="ctr"/>
            <a:r>
              <a:rPr sz="2800" b="1">
                <a:solidFill>
                  <a:srgbClr val="6A7788"/>
                </a:solidFill>
                <a:latin typeface="Calibri"/>
              </a:rPr>
              <a:t>+</a:t>
            </a:r>
          </a:p>
        </p:txBody>
      </p:sp>
      <p:sp>
        <p:nvSpPr>
          <p:cNvPr id="19" name="Rounded Rectangle 18"/>
          <p:cNvSpPr/>
          <p:nvPr/>
        </p:nvSpPr>
        <p:spPr>
          <a:xfrm>
            <a:off x="3520440" y="1691640"/>
            <a:ext cx="1737360" cy="1645920"/>
          </a:xfrm>
          <a:prstGeom prst="roundRect">
            <a:avLst/>
          </a:prstGeom>
          <a:solidFill>
            <a:srgbClr val="E2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20440" y="1828800"/>
            <a:ext cx="1737360" cy="822960"/>
          </a:xfrm>
          <a:prstGeom prst="rect">
            <a:avLst/>
          </a:prstGeom>
          <a:noFill/>
        </p:spPr>
        <p:txBody>
          <a:bodyPr wrap="square">
            <a:spAutoFit/>
          </a:bodyPr>
          <a:lstStyle/>
          <a:p>
            <a:pPr algn="ctr"/>
            <a:r>
              <a:rPr sz="4800" b="1">
                <a:solidFill>
                  <a:srgbClr val="E85A4F"/>
                </a:solidFill>
                <a:latin typeface="Arial Black"/>
              </a:rPr>
              <a:t>A</a:t>
            </a:r>
          </a:p>
        </p:txBody>
      </p:sp>
      <p:sp>
        <p:nvSpPr>
          <p:cNvPr id="21" name="TextBox 20"/>
          <p:cNvSpPr txBox="1"/>
          <p:nvPr/>
        </p:nvSpPr>
        <p:spPr>
          <a:xfrm>
            <a:off x="3520440" y="2697480"/>
            <a:ext cx="1737360" cy="457200"/>
          </a:xfrm>
          <a:prstGeom prst="rect">
            <a:avLst/>
          </a:prstGeom>
          <a:noFill/>
        </p:spPr>
        <p:txBody>
          <a:bodyPr wrap="square">
            <a:spAutoFit/>
          </a:bodyPr>
          <a:lstStyle/>
          <a:p>
            <a:pPr algn="ctr"/>
            <a:r>
              <a:rPr sz="2000" b="1">
                <a:solidFill>
                  <a:srgbClr val="16366B"/>
                </a:solidFill>
                <a:latin typeface="Calibri"/>
              </a:rPr>
              <a:t>/a/</a:t>
            </a:r>
          </a:p>
        </p:txBody>
      </p:sp>
      <p:sp>
        <p:nvSpPr>
          <p:cNvPr id="22" name="TextBox 21"/>
          <p:cNvSpPr txBox="1"/>
          <p:nvPr/>
        </p:nvSpPr>
        <p:spPr>
          <a:xfrm>
            <a:off x="5303520" y="2148840"/>
            <a:ext cx="457200" cy="548640"/>
          </a:xfrm>
          <a:prstGeom prst="rect">
            <a:avLst/>
          </a:prstGeom>
          <a:noFill/>
        </p:spPr>
        <p:txBody>
          <a:bodyPr wrap="square">
            <a:spAutoFit/>
          </a:bodyPr>
          <a:lstStyle/>
          <a:p>
            <a:pPr algn="ctr"/>
            <a:r>
              <a:rPr sz="2800" b="1">
                <a:solidFill>
                  <a:srgbClr val="6A7788"/>
                </a:solidFill>
                <a:latin typeface="Calibri"/>
              </a:rPr>
              <a:t>+</a:t>
            </a:r>
          </a:p>
        </p:txBody>
      </p:sp>
      <p:sp>
        <p:nvSpPr>
          <p:cNvPr id="23" name="Rounded Rectangle 22"/>
          <p:cNvSpPr/>
          <p:nvPr/>
        </p:nvSpPr>
        <p:spPr>
          <a:xfrm>
            <a:off x="5806440" y="1691640"/>
            <a:ext cx="1737360" cy="1645920"/>
          </a:xfrm>
          <a:prstGeom prst="roundRect">
            <a:avLst/>
          </a:prstGeom>
          <a:solidFill>
            <a:srgbClr val="E2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06440" y="1828800"/>
            <a:ext cx="1737360" cy="822960"/>
          </a:xfrm>
          <a:prstGeom prst="rect">
            <a:avLst/>
          </a:prstGeom>
          <a:noFill/>
        </p:spPr>
        <p:txBody>
          <a:bodyPr wrap="square">
            <a:spAutoFit/>
          </a:bodyPr>
          <a:lstStyle/>
          <a:p>
            <a:pPr algn="ctr"/>
            <a:r>
              <a:rPr sz="4800" b="1">
                <a:solidFill>
                  <a:srgbClr val="2E7D53"/>
                </a:solidFill>
                <a:latin typeface="Arial Black"/>
              </a:rPr>
              <a:t>T</a:t>
            </a:r>
          </a:p>
        </p:txBody>
      </p:sp>
      <p:sp>
        <p:nvSpPr>
          <p:cNvPr id="25" name="TextBox 24"/>
          <p:cNvSpPr txBox="1"/>
          <p:nvPr/>
        </p:nvSpPr>
        <p:spPr>
          <a:xfrm>
            <a:off x="5806440" y="2697480"/>
            <a:ext cx="1737360" cy="457200"/>
          </a:xfrm>
          <a:prstGeom prst="rect">
            <a:avLst/>
          </a:prstGeom>
          <a:noFill/>
        </p:spPr>
        <p:txBody>
          <a:bodyPr wrap="square">
            <a:spAutoFit/>
          </a:bodyPr>
          <a:lstStyle/>
          <a:p>
            <a:pPr algn="ctr"/>
            <a:r>
              <a:rPr sz="2000" b="1">
                <a:solidFill>
                  <a:srgbClr val="16366B"/>
                </a:solidFill>
                <a:latin typeface="Calibri"/>
              </a:rPr>
              <a:t>/t/</a:t>
            </a:r>
          </a:p>
        </p:txBody>
      </p:sp>
      <p:sp>
        <p:nvSpPr>
          <p:cNvPr id="26" name="TextBox 25"/>
          <p:cNvSpPr txBox="1"/>
          <p:nvPr/>
        </p:nvSpPr>
        <p:spPr>
          <a:xfrm>
            <a:off x="8138160" y="2148840"/>
            <a:ext cx="640080" cy="548640"/>
          </a:xfrm>
          <a:prstGeom prst="rect">
            <a:avLst/>
          </a:prstGeom>
          <a:noFill/>
        </p:spPr>
        <p:txBody>
          <a:bodyPr wrap="square">
            <a:spAutoFit/>
          </a:bodyPr>
          <a:lstStyle/>
          <a:p>
            <a:pPr algn="ctr"/>
            <a:r>
              <a:rPr sz="2800" b="1">
                <a:solidFill>
                  <a:srgbClr val="6A7788"/>
                </a:solidFill>
                <a:latin typeface="Calibri"/>
              </a:rPr>
              <a:t>=</a:t>
            </a:r>
          </a:p>
        </p:txBody>
      </p:sp>
      <p:sp>
        <p:nvSpPr>
          <p:cNvPr id="27" name="Rounded Rectangle 26"/>
          <p:cNvSpPr/>
          <p:nvPr/>
        </p:nvSpPr>
        <p:spPr>
          <a:xfrm>
            <a:off x="8869680" y="1691640"/>
            <a:ext cx="2514600" cy="1645920"/>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69680" y="1828800"/>
            <a:ext cx="2514600" cy="822960"/>
          </a:xfrm>
          <a:prstGeom prst="rect">
            <a:avLst/>
          </a:prstGeom>
          <a:noFill/>
        </p:spPr>
        <p:txBody>
          <a:bodyPr wrap="square">
            <a:spAutoFit/>
          </a:bodyPr>
          <a:lstStyle/>
          <a:p>
            <a:pPr algn="ctr"/>
            <a:r>
              <a:rPr sz="4200" b="1">
                <a:solidFill>
                  <a:srgbClr val="16366B"/>
                </a:solidFill>
                <a:latin typeface="Arial Black"/>
              </a:rPr>
              <a:t>CAT</a:t>
            </a:r>
          </a:p>
        </p:txBody>
      </p:sp>
      <p:sp>
        <p:nvSpPr>
          <p:cNvPr id="29" name="TextBox 28"/>
          <p:cNvSpPr txBox="1"/>
          <p:nvPr/>
        </p:nvSpPr>
        <p:spPr>
          <a:xfrm>
            <a:off x="8869680" y="2697480"/>
            <a:ext cx="2514600" cy="457200"/>
          </a:xfrm>
          <a:prstGeom prst="rect">
            <a:avLst/>
          </a:prstGeom>
          <a:noFill/>
        </p:spPr>
        <p:txBody>
          <a:bodyPr wrap="square">
            <a:spAutoFit/>
          </a:bodyPr>
          <a:lstStyle/>
          <a:p>
            <a:pPr algn="ctr"/>
            <a:r>
              <a:rPr sz="2400" b="0">
                <a:solidFill>
                  <a:srgbClr val="242C38"/>
                </a:solidFill>
                <a:latin typeface="Calibri"/>
              </a:rPr>
              <a:t>🐱</a:t>
            </a:r>
          </a:p>
        </p:txBody>
      </p:sp>
      <p:sp>
        <p:nvSpPr>
          <p:cNvPr id="30" name="Rounded Rectangle 29"/>
          <p:cNvSpPr/>
          <p:nvPr/>
        </p:nvSpPr>
        <p:spPr>
          <a:xfrm>
            <a:off x="502920" y="3931920"/>
            <a:ext cx="3566160" cy="1371600"/>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4059936"/>
            <a:ext cx="3291840" cy="411480"/>
          </a:xfrm>
          <a:prstGeom prst="rect">
            <a:avLst/>
          </a:prstGeom>
          <a:noFill/>
        </p:spPr>
        <p:txBody>
          <a:bodyPr wrap="square">
            <a:spAutoFit/>
          </a:bodyPr>
          <a:lstStyle/>
          <a:p>
            <a:pPr algn="ctr"/>
            <a:r>
              <a:rPr sz="2200" b="0">
                <a:solidFill>
                  <a:srgbClr val="242C38"/>
                </a:solidFill>
                <a:latin typeface="Calibri"/>
              </a:rPr>
              <a:t>1️⃣</a:t>
            </a:r>
          </a:p>
        </p:txBody>
      </p:sp>
      <p:sp>
        <p:nvSpPr>
          <p:cNvPr id="32" name="TextBox 31"/>
          <p:cNvSpPr txBox="1"/>
          <p:nvPr/>
        </p:nvSpPr>
        <p:spPr>
          <a:xfrm>
            <a:off x="640080" y="4498848"/>
            <a:ext cx="3291840" cy="411480"/>
          </a:xfrm>
          <a:prstGeom prst="rect">
            <a:avLst/>
          </a:prstGeom>
          <a:noFill/>
        </p:spPr>
        <p:txBody>
          <a:bodyPr wrap="square">
            <a:spAutoFit/>
          </a:bodyPr>
          <a:lstStyle/>
          <a:p>
            <a:pPr algn="ctr"/>
            <a:r>
              <a:rPr sz="1800" b="1">
                <a:solidFill>
                  <a:srgbClr val="16366B"/>
                </a:solidFill>
                <a:latin typeface="Calibri"/>
              </a:rPr>
              <a:t>I blend it</a:t>
            </a:r>
          </a:p>
        </p:txBody>
      </p:sp>
      <p:sp>
        <p:nvSpPr>
          <p:cNvPr id="33" name="TextBox 32"/>
          <p:cNvSpPr txBox="1"/>
          <p:nvPr/>
        </p:nvSpPr>
        <p:spPr>
          <a:xfrm>
            <a:off x="640080" y="4901184"/>
            <a:ext cx="3291840" cy="329184"/>
          </a:xfrm>
          <a:prstGeom prst="rect">
            <a:avLst/>
          </a:prstGeom>
          <a:noFill/>
        </p:spPr>
        <p:txBody>
          <a:bodyPr wrap="square">
            <a:spAutoFit/>
          </a:bodyPr>
          <a:lstStyle/>
          <a:p>
            <a:pPr algn="ctr"/>
            <a:r>
              <a:rPr sz="1300" b="0">
                <a:solidFill>
                  <a:srgbClr val="16366B"/>
                </a:solidFill>
                <a:latin typeface="Calibri"/>
              </a:rPr>
              <a:t>Listen and follow</a:t>
            </a:r>
          </a:p>
        </p:txBody>
      </p:sp>
      <p:sp>
        <p:nvSpPr>
          <p:cNvPr id="34" name="Rounded Rectangle 33"/>
          <p:cNvSpPr/>
          <p:nvPr/>
        </p:nvSpPr>
        <p:spPr>
          <a:xfrm>
            <a:off x="4297680" y="3931920"/>
            <a:ext cx="3566160" cy="137160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34840" y="4059936"/>
            <a:ext cx="3291840" cy="411480"/>
          </a:xfrm>
          <a:prstGeom prst="rect">
            <a:avLst/>
          </a:prstGeom>
          <a:noFill/>
        </p:spPr>
        <p:txBody>
          <a:bodyPr wrap="square">
            <a:spAutoFit/>
          </a:bodyPr>
          <a:lstStyle/>
          <a:p>
            <a:pPr algn="ctr"/>
            <a:r>
              <a:rPr sz="2200" b="0">
                <a:solidFill>
                  <a:srgbClr val="242C38"/>
                </a:solidFill>
                <a:latin typeface="Calibri"/>
              </a:rPr>
              <a:t>2️⃣</a:t>
            </a:r>
          </a:p>
        </p:txBody>
      </p:sp>
      <p:sp>
        <p:nvSpPr>
          <p:cNvPr id="36" name="TextBox 35"/>
          <p:cNvSpPr txBox="1"/>
          <p:nvPr/>
        </p:nvSpPr>
        <p:spPr>
          <a:xfrm>
            <a:off x="4434840" y="4498848"/>
            <a:ext cx="3291840" cy="411480"/>
          </a:xfrm>
          <a:prstGeom prst="rect">
            <a:avLst/>
          </a:prstGeom>
          <a:noFill/>
        </p:spPr>
        <p:txBody>
          <a:bodyPr wrap="square">
            <a:spAutoFit/>
          </a:bodyPr>
          <a:lstStyle/>
          <a:p>
            <a:pPr algn="ctr"/>
            <a:r>
              <a:rPr sz="1800" b="1">
                <a:solidFill>
                  <a:srgbClr val="16366B"/>
                </a:solidFill>
                <a:latin typeface="Calibri"/>
              </a:rPr>
              <a:t>We blend it</a:t>
            </a:r>
          </a:p>
        </p:txBody>
      </p:sp>
      <p:sp>
        <p:nvSpPr>
          <p:cNvPr id="37" name="TextBox 36"/>
          <p:cNvSpPr txBox="1"/>
          <p:nvPr/>
        </p:nvSpPr>
        <p:spPr>
          <a:xfrm>
            <a:off x="4434840" y="4901184"/>
            <a:ext cx="3291840" cy="329184"/>
          </a:xfrm>
          <a:prstGeom prst="rect">
            <a:avLst/>
          </a:prstGeom>
          <a:noFill/>
        </p:spPr>
        <p:txBody>
          <a:bodyPr wrap="square">
            <a:spAutoFit/>
          </a:bodyPr>
          <a:lstStyle/>
          <a:p>
            <a:pPr algn="ctr"/>
            <a:r>
              <a:rPr sz="1300" b="0">
                <a:solidFill>
                  <a:srgbClr val="16366B"/>
                </a:solidFill>
                <a:latin typeface="Calibri"/>
              </a:rPr>
              <a:t>Say it with me</a:t>
            </a:r>
          </a:p>
        </p:txBody>
      </p:sp>
      <p:sp>
        <p:nvSpPr>
          <p:cNvPr id="38" name="Rounded Rectangle 37"/>
          <p:cNvSpPr/>
          <p:nvPr/>
        </p:nvSpPr>
        <p:spPr>
          <a:xfrm>
            <a:off x="8092440" y="3931920"/>
            <a:ext cx="3566160" cy="1371600"/>
          </a:xfrm>
          <a:prstGeom prst="roundRect">
            <a:avLst/>
          </a:prstGeom>
          <a:solidFill>
            <a:srgbClr val="2E7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0" y="4059936"/>
            <a:ext cx="3291840" cy="411480"/>
          </a:xfrm>
          <a:prstGeom prst="rect">
            <a:avLst/>
          </a:prstGeom>
          <a:noFill/>
        </p:spPr>
        <p:txBody>
          <a:bodyPr wrap="square">
            <a:spAutoFit/>
          </a:bodyPr>
          <a:lstStyle/>
          <a:p>
            <a:pPr algn="ctr"/>
            <a:r>
              <a:rPr sz="2200" b="0">
                <a:solidFill>
                  <a:srgbClr val="242C38"/>
                </a:solidFill>
                <a:latin typeface="Calibri"/>
              </a:rPr>
              <a:t>3️⃣</a:t>
            </a:r>
          </a:p>
        </p:txBody>
      </p:sp>
      <p:sp>
        <p:nvSpPr>
          <p:cNvPr id="40" name="TextBox 39"/>
          <p:cNvSpPr txBox="1"/>
          <p:nvPr/>
        </p:nvSpPr>
        <p:spPr>
          <a:xfrm>
            <a:off x="8229600" y="4498848"/>
            <a:ext cx="3291840" cy="411480"/>
          </a:xfrm>
          <a:prstGeom prst="rect">
            <a:avLst/>
          </a:prstGeom>
          <a:noFill/>
        </p:spPr>
        <p:txBody>
          <a:bodyPr wrap="square">
            <a:spAutoFit/>
          </a:bodyPr>
          <a:lstStyle/>
          <a:p>
            <a:pPr algn="ctr"/>
            <a:r>
              <a:rPr sz="1800" b="1">
                <a:solidFill>
                  <a:srgbClr val="FFFFFF"/>
                </a:solidFill>
                <a:latin typeface="Calibri"/>
              </a:rPr>
              <a:t>YOU blend it!</a:t>
            </a:r>
          </a:p>
        </p:txBody>
      </p:sp>
      <p:sp>
        <p:nvSpPr>
          <p:cNvPr id="41" name="TextBox 40"/>
          <p:cNvSpPr txBox="1"/>
          <p:nvPr/>
        </p:nvSpPr>
        <p:spPr>
          <a:xfrm>
            <a:off x="8229600" y="4901184"/>
            <a:ext cx="3291840" cy="329184"/>
          </a:xfrm>
          <a:prstGeom prst="rect">
            <a:avLst/>
          </a:prstGeom>
          <a:noFill/>
        </p:spPr>
        <p:txBody>
          <a:bodyPr wrap="square">
            <a:spAutoFit/>
          </a:bodyPr>
          <a:lstStyle/>
          <a:p>
            <a:pPr algn="ctr"/>
            <a:r>
              <a:rPr sz="1300" b="0">
                <a:solidFill>
                  <a:srgbClr val="FFFFFF"/>
                </a:solidFill>
                <a:latin typeface="Calibri"/>
              </a:rPr>
              <a:t>Your turn ⭐</a:t>
            </a:r>
          </a:p>
        </p:txBody>
      </p:sp>
      <p:sp>
        <p:nvSpPr>
          <p:cNvPr id="42" name="TextBox 41"/>
          <p:cNvSpPr txBox="1"/>
          <p:nvPr/>
        </p:nvSpPr>
        <p:spPr>
          <a:xfrm>
            <a:off x="502920" y="5532120"/>
            <a:ext cx="8229600" cy="384048"/>
          </a:xfrm>
          <a:prstGeom prst="rect">
            <a:avLst/>
          </a:prstGeom>
          <a:noFill/>
        </p:spPr>
        <p:txBody>
          <a:bodyPr wrap="square">
            <a:spAutoFit/>
          </a:bodyPr>
          <a:lstStyle/>
          <a:p>
            <a:pPr algn="l"/>
            <a:r>
              <a:rPr sz="1700" b="1">
                <a:solidFill>
                  <a:srgbClr val="E85A4F"/>
                </a:solidFill>
                <a:latin typeface="Calibri"/>
              </a:rPr>
              <a:t>🐢 Slow:  /k/ ... /a/ ... /t/       🐇 Fast:  CAT!</a:t>
            </a:r>
          </a:p>
        </p:txBody>
      </p:sp>
    </p:spTree>
  </p:cSld>
  <p:clrMapOvr>
    <a:masterClrMapping/>
  </p:clrMapOvr>
  <p:transition spd="med"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E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2E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GAME</a:t>
            </a:r>
          </a:p>
        </p:txBody>
      </p:sp>
      <p:sp>
        <p:nvSpPr>
          <p:cNvPr id="6" name="Rounded Rectangle 5"/>
          <p:cNvSpPr/>
          <p:nvPr/>
        </p:nvSpPr>
        <p:spPr>
          <a:xfrm>
            <a:off x="9418320" y="237744"/>
            <a:ext cx="242316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a:solidFill>
                  <a:srgbClr val="FFFFFF"/>
                </a:solidFill>
                <a:latin typeface="Calibri"/>
              </a:rPr>
              <a:t>15–25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Game: Sound Train</a:t>
            </a:r>
          </a:p>
        </p:txBody>
      </p:sp>
      <p:sp>
        <p:nvSpPr>
          <p:cNvPr id="9" name="Rectangle 8"/>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2786673"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Sound train  |  15–25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8 / 35</a:t>
            </a:r>
          </a:p>
        </p:txBody>
      </p:sp>
      <p:sp>
        <p:nvSpPr>
          <p:cNvPr id="14" name="TextBox 13"/>
          <p:cNvSpPr txBox="1"/>
          <p:nvPr/>
        </p:nvSpPr>
        <p:spPr>
          <a:xfrm>
            <a:off x="411480" y="1261872"/>
            <a:ext cx="10515600" cy="384048"/>
          </a:xfrm>
          <a:prstGeom prst="rect">
            <a:avLst/>
          </a:prstGeom>
          <a:noFill/>
        </p:spPr>
        <p:txBody>
          <a:bodyPr wrap="square">
            <a:spAutoFit/>
          </a:bodyPr>
          <a:lstStyle/>
          <a:p>
            <a:pPr algn="l"/>
            <a:r>
              <a:rPr sz="1600" b="1">
                <a:solidFill>
                  <a:srgbClr val="E85A4F"/>
                </a:solidFill>
                <a:latin typeface="Calibri"/>
              </a:rPr>
              <a:t>Each car is a sound. Push them together and the train says a word!</a:t>
            </a:r>
          </a:p>
        </p:txBody>
      </p:sp>
      <p:sp>
        <p:nvSpPr>
          <p:cNvPr id="15" name="Rounded Rectangle 14"/>
          <p:cNvSpPr/>
          <p:nvPr/>
        </p:nvSpPr>
        <p:spPr>
          <a:xfrm>
            <a:off x="457200" y="1737360"/>
            <a:ext cx="11292840" cy="10241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1993392"/>
            <a:ext cx="640080" cy="502920"/>
          </a:xfrm>
          <a:prstGeom prst="rect">
            <a:avLst/>
          </a:prstGeom>
          <a:noFill/>
        </p:spPr>
        <p:txBody>
          <a:bodyPr wrap="square">
            <a:spAutoFit/>
          </a:bodyPr>
          <a:lstStyle/>
          <a:p>
            <a:pPr algn="ctr"/>
            <a:r>
              <a:rPr sz="2200" b="0">
                <a:solidFill>
                  <a:srgbClr val="242C38"/>
                </a:solidFill>
                <a:latin typeface="Calibri"/>
              </a:rPr>
              <a:t>🚂</a:t>
            </a:r>
          </a:p>
        </p:txBody>
      </p:sp>
      <p:sp>
        <p:nvSpPr>
          <p:cNvPr id="17" name="Rounded Rectangle 16"/>
          <p:cNvSpPr/>
          <p:nvPr/>
        </p:nvSpPr>
        <p:spPr>
          <a:xfrm>
            <a:off x="1463040" y="1920240"/>
            <a:ext cx="1234440" cy="658368"/>
          </a:xfrm>
          <a:prstGeom prst="roundRect">
            <a:avLst/>
          </a:prstGeom>
          <a:solidFill>
            <a:srgbClr val="E2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63040" y="2011680"/>
            <a:ext cx="1234440" cy="457200"/>
          </a:xfrm>
          <a:prstGeom prst="rect">
            <a:avLst/>
          </a:prstGeom>
          <a:noFill/>
        </p:spPr>
        <p:txBody>
          <a:bodyPr wrap="square">
            <a:spAutoFit/>
          </a:bodyPr>
          <a:lstStyle/>
          <a:p>
            <a:pPr algn="ctr"/>
            <a:r>
              <a:rPr sz="2400" b="1">
                <a:solidFill>
                  <a:srgbClr val="2EA8E8"/>
                </a:solidFill>
                <a:latin typeface="Arial Black"/>
              </a:rPr>
              <a:t>C</a:t>
            </a:r>
          </a:p>
        </p:txBody>
      </p:sp>
      <p:sp>
        <p:nvSpPr>
          <p:cNvPr id="19" name="TextBox 18"/>
          <p:cNvSpPr txBox="1"/>
          <p:nvPr/>
        </p:nvSpPr>
        <p:spPr>
          <a:xfrm>
            <a:off x="2706624" y="2029968"/>
            <a:ext cx="182880" cy="411480"/>
          </a:xfrm>
          <a:prstGeom prst="rect">
            <a:avLst/>
          </a:prstGeom>
          <a:noFill/>
        </p:spPr>
        <p:txBody>
          <a:bodyPr wrap="square">
            <a:spAutoFit/>
          </a:bodyPr>
          <a:lstStyle/>
          <a:p>
            <a:pPr algn="ctr"/>
            <a:r>
              <a:rPr sz="2000" b="1">
                <a:solidFill>
                  <a:srgbClr val="6A7788"/>
                </a:solidFill>
                <a:latin typeface="Calibri"/>
              </a:rPr>
              <a:t>›</a:t>
            </a:r>
          </a:p>
        </p:txBody>
      </p:sp>
      <p:sp>
        <p:nvSpPr>
          <p:cNvPr id="20" name="Rounded Rectangle 19"/>
          <p:cNvSpPr/>
          <p:nvPr/>
        </p:nvSpPr>
        <p:spPr>
          <a:xfrm>
            <a:off x="2880360" y="1920240"/>
            <a:ext cx="1234440" cy="658368"/>
          </a:xfrm>
          <a:prstGeom prst="roundRect">
            <a:avLst/>
          </a:prstGeom>
          <a:solidFill>
            <a:srgbClr val="E2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80360" y="2011680"/>
            <a:ext cx="1234440" cy="457200"/>
          </a:xfrm>
          <a:prstGeom prst="rect">
            <a:avLst/>
          </a:prstGeom>
          <a:noFill/>
        </p:spPr>
        <p:txBody>
          <a:bodyPr wrap="square">
            <a:spAutoFit/>
          </a:bodyPr>
          <a:lstStyle/>
          <a:p>
            <a:pPr algn="ctr"/>
            <a:r>
              <a:rPr sz="2400" b="1">
                <a:solidFill>
                  <a:srgbClr val="2EA8E8"/>
                </a:solidFill>
                <a:latin typeface="Arial Black"/>
              </a:rPr>
              <a:t>A</a:t>
            </a:r>
          </a:p>
        </p:txBody>
      </p:sp>
      <p:sp>
        <p:nvSpPr>
          <p:cNvPr id="22" name="TextBox 21"/>
          <p:cNvSpPr txBox="1"/>
          <p:nvPr/>
        </p:nvSpPr>
        <p:spPr>
          <a:xfrm>
            <a:off x="4123944" y="2029968"/>
            <a:ext cx="182880" cy="411480"/>
          </a:xfrm>
          <a:prstGeom prst="rect">
            <a:avLst/>
          </a:prstGeom>
          <a:noFill/>
        </p:spPr>
        <p:txBody>
          <a:bodyPr wrap="square">
            <a:spAutoFit/>
          </a:bodyPr>
          <a:lstStyle/>
          <a:p>
            <a:pPr algn="ctr"/>
            <a:r>
              <a:rPr sz="2000" b="1">
                <a:solidFill>
                  <a:srgbClr val="6A7788"/>
                </a:solidFill>
                <a:latin typeface="Calibri"/>
              </a:rPr>
              <a:t>›</a:t>
            </a:r>
          </a:p>
        </p:txBody>
      </p:sp>
      <p:sp>
        <p:nvSpPr>
          <p:cNvPr id="23" name="Rounded Rectangle 22"/>
          <p:cNvSpPr/>
          <p:nvPr/>
        </p:nvSpPr>
        <p:spPr>
          <a:xfrm>
            <a:off x="4297680" y="1920240"/>
            <a:ext cx="1234440" cy="658368"/>
          </a:xfrm>
          <a:prstGeom prst="roundRect">
            <a:avLst/>
          </a:prstGeom>
          <a:solidFill>
            <a:srgbClr val="E2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97680" y="2011680"/>
            <a:ext cx="1234440" cy="457200"/>
          </a:xfrm>
          <a:prstGeom prst="rect">
            <a:avLst/>
          </a:prstGeom>
          <a:noFill/>
        </p:spPr>
        <p:txBody>
          <a:bodyPr wrap="square">
            <a:spAutoFit/>
          </a:bodyPr>
          <a:lstStyle/>
          <a:p>
            <a:pPr algn="ctr"/>
            <a:r>
              <a:rPr sz="2400" b="1">
                <a:solidFill>
                  <a:srgbClr val="2EA8E8"/>
                </a:solidFill>
                <a:latin typeface="Arial Black"/>
              </a:rPr>
              <a:t>T</a:t>
            </a:r>
          </a:p>
        </p:txBody>
      </p:sp>
      <p:sp>
        <p:nvSpPr>
          <p:cNvPr id="25" name="TextBox 24"/>
          <p:cNvSpPr txBox="1"/>
          <p:nvPr/>
        </p:nvSpPr>
        <p:spPr>
          <a:xfrm>
            <a:off x="5943600" y="2011680"/>
            <a:ext cx="731520" cy="457200"/>
          </a:xfrm>
          <a:prstGeom prst="rect">
            <a:avLst/>
          </a:prstGeom>
          <a:noFill/>
        </p:spPr>
        <p:txBody>
          <a:bodyPr wrap="square">
            <a:spAutoFit/>
          </a:bodyPr>
          <a:lstStyle/>
          <a:p>
            <a:pPr algn="ctr"/>
            <a:r>
              <a:rPr sz="1800" b="0">
                <a:solidFill>
                  <a:srgbClr val="242C38"/>
                </a:solidFill>
                <a:latin typeface="Calibri"/>
              </a:rPr>
              <a:t>➡️</a:t>
            </a:r>
          </a:p>
        </p:txBody>
      </p:sp>
      <p:sp>
        <p:nvSpPr>
          <p:cNvPr id="26" name="Rounded Rectangle 25"/>
          <p:cNvSpPr/>
          <p:nvPr/>
        </p:nvSpPr>
        <p:spPr>
          <a:xfrm>
            <a:off x="6858000" y="1920240"/>
            <a:ext cx="2377440" cy="658368"/>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0" y="1993392"/>
            <a:ext cx="2377440" cy="502920"/>
          </a:xfrm>
          <a:prstGeom prst="rect">
            <a:avLst/>
          </a:prstGeom>
          <a:noFill/>
        </p:spPr>
        <p:txBody>
          <a:bodyPr wrap="square">
            <a:spAutoFit/>
          </a:bodyPr>
          <a:lstStyle/>
          <a:p>
            <a:pPr algn="ctr"/>
            <a:r>
              <a:rPr sz="2600" b="1">
                <a:solidFill>
                  <a:srgbClr val="16366B"/>
                </a:solidFill>
                <a:latin typeface="Arial Black"/>
              </a:rPr>
              <a:t>CAT</a:t>
            </a:r>
          </a:p>
        </p:txBody>
      </p:sp>
      <p:sp>
        <p:nvSpPr>
          <p:cNvPr id="28" name="TextBox 27"/>
          <p:cNvSpPr txBox="1"/>
          <p:nvPr/>
        </p:nvSpPr>
        <p:spPr>
          <a:xfrm>
            <a:off x="9509760" y="1975104"/>
            <a:ext cx="822960" cy="548640"/>
          </a:xfrm>
          <a:prstGeom prst="rect">
            <a:avLst/>
          </a:prstGeom>
          <a:noFill/>
        </p:spPr>
        <p:txBody>
          <a:bodyPr wrap="square">
            <a:spAutoFit/>
          </a:bodyPr>
          <a:lstStyle/>
          <a:p>
            <a:pPr algn="ctr"/>
            <a:r>
              <a:rPr sz="2200" b="0">
                <a:solidFill>
                  <a:srgbClr val="242C38"/>
                </a:solidFill>
                <a:latin typeface="Calibri"/>
              </a:rPr>
              <a:t>🐱</a:t>
            </a:r>
          </a:p>
        </p:txBody>
      </p:sp>
      <p:sp>
        <p:nvSpPr>
          <p:cNvPr id="29" name="Rounded Rectangle 28"/>
          <p:cNvSpPr/>
          <p:nvPr/>
        </p:nvSpPr>
        <p:spPr>
          <a:xfrm>
            <a:off x="10515600" y="2011680"/>
            <a:ext cx="1051560" cy="45720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0" y="2075688"/>
            <a:ext cx="1051560" cy="329184"/>
          </a:xfrm>
          <a:prstGeom prst="rect">
            <a:avLst/>
          </a:prstGeom>
          <a:noFill/>
        </p:spPr>
        <p:txBody>
          <a:bodyPr wrap="square">
            <a:spAutoFit/>
          </a:bodyPr>
          <a:lstStyle/>
          <a:p>
            <a:pPr algn="ctr"/>
            <a:r>
              <a:rPr sz="1400" b="0">
                <a:solidFill>
                  <a:srgbClr val="242C38"/>
                </a:solidFill>
                <a:latin typeface="Calibri"/>
              </a:rPr>
              <a:t>⭐</a:t>
            </a:r>
          </a:p>
        </p:txBody>
      </p:sp>
      <p:sp>
        <p:nvSpPr>
          <p:cNvPr id="31" name="Rounded Rectangle 30"/>
          <p:cNvSpPr/>
          <p:nvPr/>
        </p:nvSpPr>
        <p:spPr>
          <a:xfrm>
            <a:off x="457200" y="2907791"/>
            <a:ext cx="11292840" cy="10241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3163823"/>
            <a:ext cx="640080" cy="502920"/>
          </a:xfrm>
          <a:prstGeom prst="rect">
            <a:avLst/>
          </a:prstGeom>
          <a:noFill/>
        </p:spPr>
        <p:txBody>
          <a:bodyPr wrap="square">
            <a:spAutoFit/>
          </a:bodyPr>
          <a:lstStyle/>
          <a:p>
            <a:pPr algn="ctr"/>
            <a:r>
              <a:rPr sz="2200" b="0">
                <a:solidFill>
                  <a:srgbClr val="242C38"/>
                </a:solidFill>
                <a:latin typeface="Calibri"/>
              </a:rPr>
              <a:t>🚂</a:t>
            </a:r>
          </a:p>
        </p:txBody>
      </p:sp>
      <p:sp>
        <p:nvSpPr>
          <p:cNvPr id="33" name="Rounded Rectangle 32"/>
          <p:cNvSpPr/>
          <p:nvPr/>
        </p:nvSpPr>
        <p:spPr>
          <a:xfrm>
            <a:off x="1463040" y="3090671"/>
            <a:ext cx="1234440" cy="658368"/>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463040" y="3182111"/>
            <a:ext cx="1234440" cy="457200"/>
          </a:xfrm>
          <a:prstGeom prst="rect">
            <a:avLst/>
          </a:prstGeom>
          <a:noFill/>
        </p:spPr>
        <p:txBody>
          <a:bodyPr wrap="square">
            <a:spAutoFit/>
          </a:bodyPr>
          <a:lstStyle/>
          <a:p>
            <a:pPr algn="ctr"/>
            <a:r>
              <a:rPr sz="2400" b="1">
                <a:solidFill>
                  <a:srgbClr val="FFC42E"/>
                </a:solidFill>
                <a:latin typeface="Arial Black"/>
              </a:rPr>
              <a:t>S</a:t>
            </a:r>
          </a:p>
        </p:txBody>
      </p:sp>
      <p:sp>
        <p:nvSpPr>
          <p:cNvPr id="35" name="TextBox 34"/>
          <p:cNvSpPr txBox="1"/>
          <p:nvPr/>
        </p:nvSpPr>
        <p:spPr>
          <a:xfrm>
            <a:off x="2706624" y="3200399"/>
            <a:ext cx="182880" cy="411480"/>
          </a:xfrm>
          <a:prstGeom prst="rect">
            <a:avLst/>
          </a:prstGeom>
          <a:noFill/>
        </p:spPr>
        <p:txBody>
          <a:bodyPr wrap="square">
            <a:spAutoFit/>
          </a:bodyPr>
          <a:lstStyle/>
          <a:p>
            <a:pPr algn="ctr"/>
            <a:r>
              <a:rPr sz="2000" b="1">
                <a:solidFill>
                  <a:srgbClr val="6A7788"/>
                </a:solidFill>
                <a:latin typeface="Calibri"/>
              </a:rPr>
              <a:t>›</a:t>
            </a:r>
          </a:p>
        </p:txBody>
      </p:sp>
      <p:sp>
        <p:nvSpPr>
          <p:cNvPr id="36" name="Rounded Rectangle 35"/>
          <p:cNvSpPr/>
          <p:nvPr/>
        </p:nvSpPr>
        <p:spPr>
          <a:xfrm>
            <a:off x="2880360" y="3090671"/>
            <a:ext cx="1234440" cy="658368"/>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80360" y="3182111"/>
            <a:ext cx="1234440" cy="457200"/>
          </a:xfrm>
          <a:prstGeom prst="rect">
            <a:avLst/>
          </a:prstGeom>
          <a:noFill/>
        </p:spPr>
        <p:txBody>
          <a:bodyPr wrap="square">
            <a:spAutoFit/>
          </a:bodyPr>
          <a:lstStyle/>
          <a:p>
            <a:pPr algn="ctr"/>
            <a:r>
              <a:rPr sz="2400" b="1">
                <a:solidFill>
                  <a:srgbClr val="FFC42E"/>
                </a:solidFill>
                <a:latin typeface="Arial Black"/>
              </a:rPr>
              <a:t>U</a:t>
            </a:r>
          </a:p>
        </p:txBody>
      </p:sp>
      <p:sp>
        <p:nvSpPr>
          <p:cNvPr id="38" name="TextBox 37"/>
          <p:cNvSpPr txBox="1"/>
          <p:nvPr/>
        </p:nvSpPr>
        <p:spPr>
          <a:xfrm>
            <a:off x="4123944" y="3200399"/>
            <a:ext cx="182880" cy="411480"/>
          </a:xfrm>
          <a:prstGeom prst="rect">
            <a:avLst/>
          </a:prstGeom>
          <a:noFill/>
        </p:spPr>
        <p:txBody>
          <a:bodyPr wrap="square">
            <a:spAutoFit/>
          </a:bodyPr>
          <a:lstStyle/>
          <a:p>
            <a:pPr algn="ctr"/>
            <a:r>
              <a:rPr sz="2000" b="1">
                <a:solidFill>
                  <a:srgbClr val="6A7788"/>
                </a:solidFill>
                <a:latin typeface="Calibri"/>
              </a:rPr>
              <a:t>›</a:t>
            </a:r>
          </a:p>
        </p:txBody>
      </p:sp>
      <p:sp>
        <p:nvSpPr>
          <p:cNvPr id="39" name="Rounded Rectangle 38"/>
          <p:cNvSpPr/>
          <p:nvPr/>
        </p:nvSpPr>
        <p:spPr>
          <a:xfrm>
            <a:off x="4297680" y="3090671"/>
            <a:ext cx="1234440" cy="658368"/>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297680" y="3182111"/>
            <a:ext cx="1234440" cy="457200"/>
          </a:xfrm>
          <a:prstGeom prst="rect">
            <a:avLst/>
          </a:prstGeom>
          <a:noFill/>
        </p:spPr>
        <p:txBody>
          <a:bodyPr wrap="square">
            <a:spAutoFit/>
          </a:bodyPr>
          <a:lstStyle/>
          <a:p>
            <a:pPr algn="ctr"/>
            <a:r>
              <a:rPr sz="2400" b="1">
                <a:solidFill>
                  <a:srgbClr val="FFC42E"/>
                </a:solidFill>
                <a:latin typeface="Arial Black"/>
              </a:rPr>
              <a:t>N</a:t>
            </a:r>
          </a:p>
        </p:txBody>
      </p:sp>
      <p:sp>
        <p:nvSpPr>
          <p:cNvPr id="41" name="TextBox 40"/>
          <p:cNvSpPr txBox="1"/>
          <p:nvPr/>
        </p:nvSpPr>
        <p:spPr>
          <a:xfrm>
            <a:off x="5943600" y="3182111"/>
            <a:ext cx="731520" cy="457200"/>
          </a:xfrm>
          <a:prstGeom prst="rect">
            <a:avLst/>
          </a:prstGeom>
          <a:noFill/>
        </p:spPr>
        <p:txBody>
          <a:bodyPr wrap="square">
            <a:spAutoFit/>
          </a:bodyPr>
          <a:lstStyle/>
          <a:p>
            <a:pPr algn="ctr"/>
            <a:r>
              <a:rPr sz="1800" b="0">
                <a:solidFill>
                  <a:srgbClr val="242C38"/>
                </a:solidFill>
                <a:latin typeface="Calibri"/>
              </a:rPr>
              <a:t>➡️</a:t>
            </a:r>
          </a:p>
        </p:txBody>
      </p:sp>
      <p:sp>
        <p:nvSpPr>
          <p:cNvPr id="42" name="Rounded Rectangle 41"/>
          <p:cNvSpPr/>
          <p:nvPr/>
        </p:nvSpPr>
        <p:spPr>
          <a:xfrm>
            <a:off x="6858000" y="3090671"/>
            <a:ext cx="2377440" cy="658368"/>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58000" y="3163823"/>
            <a:ext cx="2377440" cy="502920"/>
          </a:xfrm>
          <a:prstGeom prst="rect">
            <a:avLst/>
          </a:prstGeom>
          <a:noFill/>
        </p:spPr>
        <p:txBody>
          <a:bodyPr wrap="square">
            <a:spAutoFit/>
          </a:bodyPr>
          <a:lstStyle/>
          <a:p>
            <a:pPr algn="ctr"/>
            <a:r>
              <a:rPr sz="2600" b="1">
                <a:solidFill>
                  <a:srgbClr val="16366B"/>
                </a:solidFill>
                <a:latin typeface="Arial Black"/>
              </a:rPr>
              <a:t>SUN</a:t>
            </a:r>
          </a:p>
        </p:txBody>
      </p:sp>
      <p:sp>
        <p:nvSpPr>
          <p:cNvPr id="44" name="TextBox 43"/>
          <p:cNvSpPr txBox="1"/>
          <p:nvPr/>
        </p:nvSpPr>
        <p:spPr>
          <a:xfrm>
            <a:off x="9509760" y="3145535"/>
            <a:ext cx="822960" cy="548640"/>
          </a:xfrm>
          <a:prstGeom prst="rect">
            <a:avLst/>
          </a:prstGeom>
          <a:noFill/>
        </p:spPr>
        <p:txBody>
          <a:bodyPr wrap="square">
            <a:spAutoFit/>
          </a:bodyPr>
          <a:lstStyle/>
          <a:p>
            <a:pPr algn="ctr"/>
            <a:r>
              <a:rPr sz="2200" b="0">
                <a:solidFill>
                  <a:srgbClr val="242C38"/>
                </a:solidFill>
                <a:latin typeface="Calibri"/>
              </a:rPr>
              <a:t>☀️</a:t>
            </a:r>
          </a:p>
        </p:txBody>
      </p:sp>
      <p:sp>
        <p:nvSpPr>
          <p:cNvPr id="45" name="Rounded Rectangle 44"/>
          <p:cNvSpPr/>
          <p:nvPr/>
        </p:nvSpPr>
        <p:spPr>
          <a:xfrm>
            <a:off x="10515600" y="3182111"/>
            <a:ext cx="1051560" cy="45720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515600" y="3246119"/>
            <a:ext cx="1051560" cy="329184"/>
          </a:xfrm>
          <a:prstGeom prst="rect">
            <a:avLst/>
          </a:prstGeom>
          <a:noFill/>
        </p:spPr>
        <p:txBody>
          <a:bodyPr wrap="square">
            <a:spAutoFit/>
          </a:bodyPr>
          <a:lstStyle/>
          <a:p>
            <a:pPr algn="ctr"/>
            <a:r>
              <a:rPr sz="1400" b="0">
                <a:solidFill>
                  <a:srgbClr val="242C38"/>
                </a:solidFill>
                <a:latin typeface="Calibri"/>
              </a:rPr>
              <a:t>⭐</a:t>
            </a:r>
          </a:p>
        </p:txBody>
      </p:sp>
      <p:sp>
        <p:nvSpPr>
          <p:cNvPr id="47" name="Rounded Rectangle 46"/>
          <p:cNvSpPr/>
          <p:nvPr/>
        </p:nvSpPr>
        <p:spPr>
          <a:xfrm>
            <a:off x="457200" y="4078224"/>
            <a:ext cx="11292840" cy="10241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080" y="4334256"/>
            <a:ext cx="640080" cy="502920"/>
          </a:xfrm>
          <a:prstGeom prst="rect">
            <a:avLst/>
          </a:prstGeom>
          <a:noFill/>
        </p:spPr>
        <p:txBody>
          <a:bodyPr wrap="square">
            <a:spAutoFit/>
          </a:bodyPr>
          <a:lstStyle/>
          <a:p>
            <a:pPr algn="ctr"/>
            <a:r>
              <a:rPr sz="2200" b="0">
                <a:solidFill>
                  <a:srgbClr val="242C38"/>
                </a:solidFill>
                <a:latin typeface="Calibri"/>
              </a:rPr>
              <a:t>🚂</a:t>
            </a:r>
          </a:p>
        </p:txBody>
      </p:sp>
      <p:sp>
        <p:nvSpPr>
          <p:cNvPr id="49" name="Rounded Rectangle 48"/>
          <p:cNvSpPr/>
          <p:nvPr/>
        </p:nvSpPr>
        <p:spPr>
          <a:xfrm>
            <a:off x="1463040" y="4261104"/>
            <a:ext cx="1234440" cy="658368"/>
          </a:xfrm>
          <a:prstGeom prst="roundRect">
            <a:avLst/>
          </a:prstGeom>
          <a:solidFill>
            <a:srgbClr val="E4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463040" y="4352544"/>
            <a:ext cx="1234440" cy="457200"/>
          </a:xfrm>
          <a:prstGeom prst="rect">
            <a:avLst/>
          </a:prstGeom>
          <a:noFill/>
        </p:spPr>
        <p:txBody>
          <a:bodyPr wrap="square">
            <a:spAutoFit/>
          </a:bodyPr>
          <a:lstStyle/>
          <a:p>
            <a:pPr algn="ctr"/>
            <a:r>
              <a:rPr sz="2400" b="1">
                <a:solidFill>
                  <a:srgbClr val="2E7D53"/>
                </a:solidFill>
                <a:latin typeface="Arial Black"/>
              </a:rPr>
              <a:t>D</a:t>
            </a:r>
          </a:p>
        </p:txBody>
      </p:sp>
      <p:sp>
        <p:nvSpPr>
          <p:cNvPr id="51" name="TextBox 50"/>
          <p:cNvSpPr txBox="1"/>
          <p:nvPr/>
        </p:nvSpPr>
        <p:spPr>
          <a:xfrm>
            <a:off x="2706624" y="4370832"/>
            <a:ext cx="182880" cy="411480"/>
          </a:xfrm>
          <a:prstGeom prst="rect">
            <a:avLst/>
          </a:prstGeom>
          <a:noFill/>
        </p:spPr>
        <p:txBody>
          <a:bodyPr wrap="square">
            <a:spAutoFit/>
          </a:bodyPr>
          <a:lstStyle/>
          <a:p>
            <a:pPr algn="ctr"/>
            <a:r>
              <a:rPr sz="2000" b="1">
                <a:solidFill>
                  <a:srgbClr val="6A7788"/>
                </a:solidFill>
                <a:latin typeface="Calibri"/>
              </a:rPr>
              <a:t>›</a:t>
            </a:r>
          </a:p>
        </p:txBody>
      </p:sp>
      <p:sp>
        <p:nvSpPr>
          <p:cNvPr id="52" name="Rounded Rectangle 51"/>
          <p:cNvSpPr/>
          <p:nvPr/>
        </p:nvSpPr>
        <p:spPr>
          <a:xfrm>
            <a:off x="2880360" y="4261104"/>
            <a:ext cx="1234440" cy="658368"/>
          </a:xfrm>
          <a:prstGeom prst="roundRect">
            <a:avLst/>
          </a:prstGeom>
          <a:solidFill>
            <a:srgbClr val="E4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880360" y="4352544"/>
            <a:ext cx="1234440" cy="457200"/>
          </a:xfrm>
          <a:prstGeom prst="rect">
            <a:avLst/>
          </a:prstGeom>
          <a:noFill/>
        </p:spPr>
        <p:txBody>
          <a:bodyPr wrap="square">
            <a:spAutoFit/>
          </a:bodyPr>
          <a:lstStyle/>
          <a:p>
            <a:pPr algn="ctr"/>
            <a:r>
              <a:rPr sz="2400" b="1">
                <a:solidFill>
                  <a:srgbClr val="2E7D53"/>
                </a:solidFill>
                <a:latin typeface="Arial Black"/>
              </a:rPr>
              <a:t>O</a:t>
            </a:r>
          </a:p>
        </p:txBody>
      </p:sp>
      <p:sp>
        <p:nvSpPr>
          <p:cNvPr id="54" name="TextBox 53"/>
          <p:cNvSpPr txBox="1"/>
          <p:nvPr/>
        </p:nvSpPr>
        <p:spPr>
          <a:xfrm>
            <a:off x="4123944" y="4370832"/>
            <a:ext cx="182880" cy="411480"/>
          </a:xfrm>
          <a:prstGeom prst="rect">
            <a:avLst/>
          </a:prstGeom>
          <a:noFill/>
        </p:spPr>
        <p:txBody>
          <a:bodyPr wrap="square">
            <a:spAutoFit/>
          </a:bodyPr>
          <a:lstStyle/>
          <a:p>
            <a:pPr algn="ctr"/>
            <a:r>
              <a:rPr sz="2000" b="1">
                <a:solidFill>
                  <a:srgbClr val="6A7788"/>
                </a:solidFill>
                <a:latin typeface="Calibri"/>
              </a:rPr>
              <a:t>›</a:t>
            </a:r>
          </a:p>
        </p:txBody>
      </p:sp>
      <p:sp>
        <p:nvSpPr>
          <p:cNvPr id="55" name="Rounded Rectangle 54"/>
          <p:cNvSpPr/>
          <p:nvPr/>
        </p:nvSpPr>
        <p:spPr>
          <a:xfrm>
            <a:off x="4297680" y="4261104"/>
            <a:ext cx="1234440" cy="658368"/>
          </a:xfrm>
          <a:prstGeom prst="roundRect">
            <a:avLst/>
          </a:prstGeom>
          <a:solidFill>
            <a:srgbClr val="E4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297680" y="4352544"/>
            <a:ext cx="1234440" cy="457200"/>
          </a:xfrm>
          <a:prstGeom prst="rect">
            <a:avLst/>
          </a:prstGeom>
          <a:noFill/>
        </p:spPr>
        <p:txBody>
          <a:bodyPr wrap="square">
            <a:spAutoFit/>
          </a:bodyPr>
          <a:lstStyle/>
          <a:p>
            <a:pPr algn="ctr"/>
            <a:r>
              <a:rPr sz="2400" b="1">
                <a:solidFill>
                  <a:srgbClr val="2E7D53"/>
                </a:solidFill>
                <a:latin typeface="Arial Black"/>
              </a:rPr>
              <a:t>G</a:t>
            </a:r>
          </a:p>
        </p:txBody>
      </p:sp>
      <p:sp>
        <p:nvSpPr>
          <p:cNvPr id="57" name="TextBox 56"/>
          <p:cNvSpPr txBox="1"/>
          <p:nvPr/>
        </p:nvSpPr>
        <p:spPr>
          <a:xfrm>
            <a:off x="5943600" y="4352544"/>
            <a:ext cx="731520" cy="457200"/>
          </a:xfrm>
          <a:prstGeom prst="rect">
            <a:avLst/>
          </a:prstGeom>
          <a:noFill/>
        </p:spPr>
        <p:txBody>
          <a:bodyPr wrap="square">
            <a:spAutoFit/>
          </a:bodyPr>
          <a:lstStyle/>
          <a:p>
            <a:pPr algn="ctr"/>
            <a:r>
              <a:rPr sz="1800" b="0">
                <a:solidFill>
                  <a:srgbClr val="242C38"/>
                </a:solidFill>
                <a:latin typeface="Calibri"/>
              </a:rPr>
              <a:t>➡️</a:t>
            </a:r>
          </a:p>
        </p:txBody>
      </p:sp>
      <p:sp>
        <p:nvSpPr>
          <p:cNvPr id="58" name="Rounded Rectangle 57"/>
          <p:cNvSpPr/>
          <p:nvPr/>
        </p:nvSpPr>
        <p:spPr>
          <a:xfrm>
            <a:off x="6858000" y="4261104"/>
            <a:ext cx="2377440" cy="658368"/>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858000" y="4334256"/>
            <a:ext cx="2377440" cy="502920"/>
          </a:xfrm>
          <a:prstGeom prst="rect">
            <a:avLst/>
          </a:prstGeom>
          <a:noFill/>
        </p:spPr>
        <p:txBody>
          <a:bodyPr wrap="square">
            <a:spAutoFit/>
          </a:bodyPr>
          <a:lstStyle/>
          <a:p>
            <a:pPr algn="ctr"/>
            <a:r>
              <a:rPr sz="2600" b="1">
                <a:solidFill>
                  <a:srgbClr val="16366B"/>
                </a:solidFill>
                <a:latin typeface="Arial Black"/>
              </a:rPr>
              <a:t>DOG</a:t>
            </a:r>
          </a:p>
        </p:txBody>
      </p:sp>
      <p:sp>
        <p:nvSpPr>
          <p:cNvPr id="60" name="TextBox 59"/>
          <p:cNvSpPr txBox="1"/>
          <p:nvPr/>
        </p:nvSpPr>
        <p:spPr>
          <a:xfrm>
            <a:off x="9509760" y="4315968"/>
            <a:ext cx="822960" cy="548640"/>
          </a:xfrm>
          <a:prstGeom prst="rect">
            <a:avLst/>
          </a:prstGeom>
          <a:noFill/>
        </p:spPr>
        <p:txBody>
          <a:bodyPr wrap="square">
            <a:spAutoFit/>
          </a:bodyPr>
          <a:lstStyle/>
          <a:p>
            <a:pPr algn="ctr"/>
            <a:r>
              <a:rPr sz="2200" b="0">
                <a:solidFill>
                  <a:srgbClr val="242C38"/>
                </a:solidFill>
                <a:latin typeface="Calibri"/>
              </a:rPr>
              <a:t>🐶</a:t>
            </a:r>
          </a:p>
        </p:txBody>
      </p:sp>
      <p:sp>
        <p:nvSpPr>
          <p:cNvPr id="61" name="Rounded Rectangle 60"/>
          <p:cNvSpPr/>
          <p:nvPr/>
        </p:nvSpPr>
        <p:spPr>
          <a:xfrm>
            <a:off x="10515600" y="4352544"/>
            <a:ext cx="1051560" cy="45720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515600" y="4416552"/>
            <a:ext cx="1051560" cy="329184"/>
          </a:xfrm>
          <a:prstGeom prst="rect">
            <a:avLst/>
          </a:prstGeom>
          <a:noFill/>
        </p:spPr>
        <p:txBody>
          <a:bodyPr wrap="square">
            <a:spAutoFit/>
          </a:bodyPr>
          <a:lstStyle/>
          <a:p>
            <a:pPr algn="ctr"/>
            <a:r>
              <a:rPr sz="1400" b="0">
                <a:solidFill>
                  <a:srgbClr val="242C38"/>
                </a:solidFill>
                <a:latin typeface="Calibri"/>
              </a:rPr>
              <a:t>⭐</a:t>
            </a:r>
          </a:p>
        </p:txBody>
      </p:sp>
      <p:sp>
        <p:nvSpPr>
          <p:cNvPr id="63" name="Rounded Rectangle 62"/>
          <p:cNvSpPr/>
          <p:nvPr/>
        </p:nvSpPr>
        <p:spPr>
          <a:xfrm>
            <a:off x="457200" y="5248656"/>
            <a:ext cx="11292840" cy="10241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40080" y="5504688"/>
            <a:ext cx="640080" cy="502920"/>
          </a:xfrm>
          <a:prstGeom prst="rect">
            <a:avLst/>
          </a:prstGeom>
          <a:noFill/>
        </p:spPr>
        <p:txBody>
          <a:bodyPr wrap="square">
            <a:spAutoFit/>
          </a:bodyPr>
          <a:lstStyle/>
          <a:p>
            <a:pPr algn="ctr"/>
            <a:r>
              <a:rPr sz="2200" b="0">
                <a:solidFill>
                  <a:srgbClr val="242C38"/>
                </a:solidFill>
                <a:latin typeface="Calibri"/>
              </a:rPr>
              <a:t>🚂</a:t>
            </a:r>
          </a:p>
        </p:txBody>
      </p:sp>
      <p:sp>
        <p:nvSpPr>
          <p:cNvPr id="65" name="Rounded Rectangle 64"/>
          <p:cNvSpPr/>
          <p:nvPr/>
        </p:nvSpPr>
        <p:spPr>
          <a:xfrm>
            <a:off x="1463040" y="5431536"/>
            <a:ext cx="1234440" cy="658368"/>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463040" y="5522976"/>
            <a:ext cx="1234440" cy="457200"/>
          </a:xfrm>
          <a:prstGeom prst="rect">
            <a:avLst/>
          </a:prstGeom>
          <a:noFill/>
        </p:spPr>
        <p:txBody>
          <a:bodyPr wrap="square">
            <a:spAutoFit/>
          </a:bodyPr>
          <a:lstStyle/>
          <a:p>
            <a:pPr algn="ctr"/>
            <a:r>
              <a:rPr sz="2400" b="1">
                <a:solidFill>
                  <a:srgbClr val="7B4FB8"/>
                </a:solidFill>
                <a:latin typeface="Arial Black"/>
              </a:rPr>
              <a:t>M</a:t>
            </a:r>
          </a:p>
        </p:txBody>
      </p:sp>
      <p:sp>
        <p:nvSpPr>
          <p:cNvPr id="67" name="TextBox 66"/>
          <p:cNvSpPr txBox="1"/>
          <p:nvPr/>
        </p:nvSpPr>
        <p:spPr>
          <a:xfrm>
            <a:off x="2706624" y="5541264"/>
            <a:ext cx="182880" cy="411480"/>
          </a:xfrm>
          <a:prstGeom prst="rect">
            <a:avLst/>
          </a:prstGeom>
          <a:noFill/>
        </p:spPr>
        <p:txBody>
          <a:bodyPr wrap="square">
            <a:spAutoFit/>
          </a:bodyPr>
          <a:lstStyle/>
          <a:p>
            <a:pPr algn="ctr"/>
            <a:r>
              <a:rPr sz="2000" b="1">
                <a:solidFill>
                  <a:srgbClr val="6A7788"/>
                </a:solidFill>
                <a:latin typeface="Calibri"/>
              </a:rPr>
              <a:t>›</a:t>
            </a:r>
          </a:p>
        </p:txBody>
      </p:sp>
      <p:sp>
        <p:nvSpPr>
          <p:cNvPr id="68" name="Rounded Rectangle 67"/>
          <p:cNvSpPr/>
          <p:nvPr/>
        </p:nvSpPr>
        <p:spPr>
          <a:xfrm>
            <a:off x="2880360" y="5431536"/>
            <a:ext cx="1234440" cy="658368"/>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880360" y="5522976"/>
            <a:ext cx="1234440" cy="457200"/>
          </a:xfrm>
          <a:prstGeom prst="rect">
            <a:avLst/>
          </a:prstGeom>
          <a:noFill/>
        </p:spPr>
        <p:txBody>
          <a:bodyPr wrap="square">
            <a:spAutoFit/>
          </a:bodyPr>
          <a:lstStyle/>
          <a:p>
            <a:pPr algn="ctr"/>
            <a:r>
              <a:rPr sz="2400" b="1">
                <a:solidFill>
                  <a:srgbClr val="7B4FB8"/>
                </a:solidFill>
                <a:latin typeface="Arial Black"/>
              </a:rPr>
              <a:t>A</a:t>
            </a:r>
          </a:p>
        </p:txBody>
      </p:sp>
      <p:sp>
        <p:nvSpPr>
          <p:cNvPr id="70" name="TextBox 69"/>
          <p:cNvSpPr txBox="1"/>
          <p:nvPr/>
        </p:nvSpPr>
        <p:spPr>
          <a:xfrm>
            <a:off x="4123944" y="5541264"/>
            <a:ext cx="182880" cy="411480"/>
          </a:xfrm>
          <a:prstGeom prst="rect">
            <a:avLst/>
          </a:prstGeom>
          <a:noFill/>
        </p:spPr>
        <p:txBody>
          <a:bodyPr wrap="square">
            <a:spAutoFit/>
          </a:bodyPr>
          <a:lstStyle/>
          <a:p>
            <a:pPr algn="ctr"/>
            <a:r>
              <a:rPr sz="2000" b="1">
                <a:solidFill>
                  <a:srgbClr val="6A7788"/>
                </a:solidFill>
                <a:latin typeface="Calibri"/>
              </a:rPr>
              <a:t>›</a:t>
            </a:r>
          </a:p>
        </p:txBody>
      </p:sp>
      <p:sp>
        <p:nvSpPr>
          <p:cNvPr id="71" name="Rounded Rectangle 70"/>
          <p:cNvSpPr/>
          <p:nvPr/>
        </p:nvSpPr>
        <p:spPr>
          <a:xfrm>
            <a:off x="4297680" y="5431536"/>
            <a:ext cx="1234440" cy="658368"/>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297680" y="5522976"/>
            <a:ext cx="1234440" cy="457200"/>
          </a:xfrm>
          <a:prstGeom prst="rect">
            <a:avLst/>
          </a:prstGeom>
          <a:noFill/>
        </p:spPr>
        <p:txBody>
          <a:bodyPr wrap="square">
            <a:spAutoFit/>
          </a:bodyPr>
          <a:lstStyle/>
          <a:p>
            <a:pPr algn="ctr"/>
            <a:r>
              <a:rPr sz="2400" b="1">
                <a:solidFill>
                  <a:srgbClr val="7B4FB8"/>
                </a:solidFill>
                <a:latin typeface="Arial Black"/>
              </a:rPr>
              <a:t>P</a:t>
            </a:r>
          </a:p>
        </p:txBody>
      </p:sp>
      <p:sp>
        <p:nvSpPr>
          <p:cNvPr id="73" name="TextBox 72"/>
          <p:cNvSpPr txBox="1"/>
          <p:nvPr/>
        </p:nvSpPr>
        <p:spPr>
          <a:xfrm>
            <a:off x="5943600" y="5522976"/>
            <a:ext cx="731520" cy="457200"/>
          </a:xfrm>
          <a:prstGeom prst="rect">
            <a:avLst/>
          </a:prstGeom>
          <a:noFill/>
        </p:spPr>
        <p:txBody>
          <a:bodyPr wrap="square">
            <a:spAutoFit/>
          </a:bodyPr>
          <a:lstStyle/>
          <a:p>
            <a:pPr algn="ctr"/>
            <a:r>
              <a:rPr sz="1800" b="0">
                <a:solidFill>
                  <a:srgbClr val="242C38"/>
                </a:solidFill>
                <a:latin typeface="Calibri"/>
              </a:rPr>
              <a:t>➡️</a:t>
            </a:r>
          </a:p>
        </p:txBody>
      </p:sp>
      <p:sp>
        <p:nvSpPr>
          <p:cNvPr id="74" name="Rounded Rectangle 73"/>
          <p:cNvSpPr/>
          <p:nvPr/>
        </p:nvSpPr>
        <p:spPr>
          <a:xfrm>
            <a:off x="6858000" y="5431536"/>
            <a:ext cx="2377440" cy="658368"/>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858000" y="5504688"/>
            <a:ext cx="2377440" cy="502920"/>
          </a:xfrm>
          <a:prstGeom prst="rect">
            <a:avLst/>
          </a:prstGeom>
          <a:noFill/>
        </p:spPr>
        <p:txBody>
          <a:bodyPr wrap="square">
            <a:spAutoFit/>
          </a:bodyPr>
          <a:lstStyle/>
          <a:p>
            <a:pPr algn="ctr"/>
            <a:r>
              <a:rPr sz="2600" b="1">
                <a:solidFill>
                  <a:srgbClr val="16366B"/>
                </a:solidFill>
                <a:latin typeface="Arial Black"/>
              </a:rPr>
              <a:t>MAP</a:t>
            </a:r>
          </a:p>
        </p:txBody>
      </p:sp>
      <p:sp>
        <p:nvSpPr>
          <p:cNvPr id="76" name="TextBox 75"/>
          <p:cNvSpPr txBox="1"/>
          <p:nvPr/>
        </p:nvSpPr>
        <p:spPr>
          <a:xfrm>
            <a:off x="9509760" y="5486400"/>
            <a:ext cx="822960" cy="548640"/>
          </a:xfrm>
          <a:prstGeom prst="rect">
            <a:avLst/>
          </a:prstGeom>
          <a:noFill/>
        </p:spPr>
        <p:txBody>
          <a:bodyPr wrap="square">
            <a:spAutoFit/>
          </a:bodyPr>
          <a:lstStyle/>
          <a:p>
            <a:pPr algn="ctr"/>
            <a:r>
              <a:rPr sz="2200" b="0">
                <a:solidFill>
                  <a:srgbClr val="242C38"/>
                </a:solidFill>
                <a:latin typeface="Calibri"/>
              </a:rPr>
              <a:t>🗺️</a:t>
            </a:r>
          </a:p>
        </p:txBody>
      </p:sp>
      <p:sp>
        <p:nvSpPr>
          <p:cNvPr id="77" name="Rounded Rectangle 76"/>
          <p:cNvSpPr/>
          <p:nvPr/>
        </p:nvSpPr>
        <p:spPr>
          <a:xfrm>
            <a:off x="10515600" y="5522976"/>
            <a:ext cx="1051560" cy="45720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515600" y="5586984"/>
            <a:ext cx="1051560" cy="329184"/>
          </a:xfrm>
          <a:prstGeom prst="rect">
            <a:avLst/>
          </a:prstGeom>
          <a:noFill/>
        </p:spPr>
        <p:txBody>
          <a:bodyPr wrap="square">
            <a:spAutoFit/>
          </a:bodyPr>
          <a:lstStyle/>
          <a:p>
            <a:pPr algn="ctr"/>
            <a:r>
              <a:rPr sz="1400" b="0">
                <a:solidFill>
                  <a:srgbClr val="242C38"/>
                </a:solidFill>
                <a:latin typeface="Calibri"/>
              </a:rPr>
              <a:t>⭐</a:t>
            </a:r>
          </a:p>
        </p:txBody>
      </p:sp>
    </p:spTree>
  </p:cSld>
  <p:clrMapOvr>
    <a:masterClrMapping/>
  </p:clrMapOvr>
  <p:transition spd="med"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09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009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PHONICS</a:t>
            </a:r>
          </a:p>
        </p:txBody>
      </p:sp>
      <p:sp>
        <p:nvSpPr>
          <p:cNvPr id="6" name="Rounded Rectangle 5"/>
          <p:cNvSpPr/>
          <p:nvPr/>
        </p:nvSpPr>
        <p:spPr>
          <a:xfrm>
            <a:off x="9418320" y="237744"/>
            <a:ext cx="242316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a:solidFill>
                  <a:srgbClr val="FFFFFF"/>
                </a:solidFill>
                <a:latin typeface="Calibri"/>
              </a:rPr>
              <a:t>15–25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CVC Word Practice</a:t>
            </a:r>
          </a:p>
        </p:txBody>
      </p:sp>
      <p:sp>
        <p:nvSpPr>
          <p:cNvPr id="9" name="Rectangle 8"/>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3135007"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CVC words  |  15–25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9 / 35</a:t>
            </a:r>
          </a:p>
        </p:txBody>
      </p:sp>
      <p:sp>
        <p:nvSpPr>
          <p:cNvPr id="14" name="TextBox 13"/>
          <p:cNvSpPr txBox="1"/>
          <p:nvPr/>
        </p:nvSpPr>
        <p:spPr>
          <a:xfrm>
            <a:off x="411480" y="1261872"/>
            <a:ext cx="10515600" cy="384048"/>
          </a:xfrm>
          <a:prstGeom prst="rect">
            <a:avLst/>
          </a:prstGeom>
          <a:noFill/>
        </p:spPr>
        <p:txBody>
          <a:bodyPr wrap="square">
            <a:spAutoFit/>
          </a:bodyPr>
          <a:lstStyle/>
          <a:p>
            <a:pPr algn="l"/>
            <a:r>
              <a:rPr sz="1600" b="1">
                <a:solidFill>
                  <a:srgbClr val="E85A4F"/>
                </a:solidFill>
                <a:latin typeface="Calibri"/>
              </a:rPr>
              <a:t>Sound it out, then say the whole word.</a:t>
            </a:r>
          </a:p>
        </p:txBody>
      </p:sp>
      <p:sp>
        <p:nvSpPr>
          <p:cNvPr id="15" name="Rounded Rectangle 14"/>
          <p:cNvSpPr/>
          <p:nvPr/>
        </p:nvSpPr>
        <p:spPr>
          <a:xfrm>
            <a:off x="411480" y="1737360"/>
            <a:ext cx="2743200" cy="2057400"/>
          </a:xfrm>
          <a:prstGeom prst="roundRect">
            <a:avLst/>
          </a:prstGeom>
          <a:solidFill>
            <a:srgbClr val="E2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1874520"/>
            <a:ext cx="2560320" cy="548640"/>
          </a:xfrm>
          <a:prstGeom prst="rect">
            <a:avLst/>
          </a:prstGeom>
          <a:noFill/>
        </p:spPr>
        <p:txBody>
          <a:bodyPr wrap="square">
            <a:spAutoFit/>
          </a:bodyPr>
          <a:lstStyle/>
          <a:p>
            <a:pPr algn="ctr"/>
            <a:r>
              <a:rPr sz="2600" b="0">
                <a:solidFill>
                  <a:srgbClr val="242C38"/>
                </a:solidFill>
                <a:latin typeface="Calibri"/>
              </a:rPr>
              <a:t>🐱</a:t>
            </a:r>
          </a:p>
        </p:txBody>
      </p:sp>
      <p:sp>
        <p:nvSpPr>
          <p:cNvPr id="17" name="TextBox 16"/>
          <p:cNvSpPr txBox="1"/>
          <p:nvPr/>
        </p:nvSpPr>
        <p:spPr>
          <a:xfrm>
            <a:off x="502920" y="2468880"/>
            <a:ext cx="2560320" cy="640080"/>
          </a:xfrm>
          <a:prstGeom prst="rect">
            <a:avLst/>
          </a:prstGeom>
          <a:noFill/>
        </p:spPr>
        <p:txBody>
          <a:bodyPr wrap="square">
            <a:spAutoFit/>
          </a:bodyPr>
          <a:lstStyle/>
          <a:p>
            <a:pPr algn="ctr"/>
            <a:r>
              <a:rPr sz="3400" b="1">
                <a:solidFill>
                  <a:srgbClr val="2EA8E8"/>
                </a:solidFill>
                <a:latin typeface="Arial Black"/>
              </a:rPr>
              <a:t>CAT</a:t>
            </a:r>
          </a:p>
        </p:txBody>
      </p:sp>
      <p:sp>
        <p:nvSpPr>
          <p:cNvPr id="18" name="Rounded Rectangle 17"/>
          <p:cNvSpPr/>
          <p:nvPr/>
        </p:nvSpPr>
        <p:spPr>
          <a:xfrm>
            <a:off x="640080" y="3182112"/>
            <a:ext cx="22860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246120"/>
            <a:ext cx="2286000" cy="347472"/>
          </a:xfrm>
          <a:prstGeom prst="rect">
            <a:avLst/>
          </a:prstGeom>
          <a:noFill/>
        </p:spPr>
        <p:txBody>
          <a:bodyPr wrap="square">
            <a:spAutoFit/>
          </a:bodyPr>
          <a:lstStyle/>
          <a:p>
            <a:pPr algn="ctr"/>
            <a:r>
              <a:rPr sz="1500" b="1">
                <a:solidFill>
                  <a:srgbClr val="16366B"/>
                </a:solidFill>
                <a:latin typeface="Calibri"/>
              </a:rPr>
              <a:t>C - A - T</a:t>
            </a:r>
          </a:p>
        </p:txBody>
      </p:sp>
      <p:sp>
        <p:nvSpPr>
          <p:cNvPr id="20" name="Rounded Rectangle 19"/>
          <p:cNvSpPr/>
          <p:nvPr/>
        </p:nvSpPr>
        <p:spPr>
          <a:xfrm>
            <a:off x="3319272" y="1737360"/>
            <a:ext cx="2743200" cy="2057400"/>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10712" y="1874520"/>
            <a:ext cx="2560320" cy="548640"/>
          </a:xfrm>
          <a:prstGeom prst="rect">
            <a:avLst/>
          </a:prstGeom>
          <a:noFill/>
        </p:spPr>
        <p:txBody>
          <a:bodyPr wrap="square">
            <a:spAutoFit/>
          </a:bodyPr>
          <a:lstStyle/>
          <a:p>
            <a:pPr algn="ctr"/>
            <a:r>
              <a:rPr sz="2600" b="0">
                <a:solidFill>
                  <a:srgbClr val="242C38"/>
                </a:solidFill>
                <a:latin typeface="Calibri"/>
              </a:rPr>
              <a:t>☀️</a:t>
            </a:r>
          </a:p>
        </p:txBody>
      </p:sp>
      <p:sp>
        <p:nvSpPr>
          <p:cNvPr id="22" name="TextBox 21"/>
          <p:cNvSpPr txBox="1"/>
          <p:nvPr/>
        </p:nvSpPr>
        <p:spPr>
          <a:xfrm>
            <a:off x="3410712" y="2468880"/>
            <a:ext cx="2560320" cy="640080"/>
          </a:xfrm>
          <a:prstGeom prst="rect">
            <a:avLst/>
          </a:prstGeom>
          <a:noFill/>
        </p:spPr>
        <p:txBody>
          <a:bodyPr wrap="square">
            <a:spAutoFit/>
          </a:bodyPr>
          <a:lstStyle/>
          <a:p>
            <a:pPr algn="ctr"/>
            <a:r>
              <a:rPr sz="3400" b="1">
                <a:solidFill>
                  <a:srgbClr val="FFC42E"/>
                </a:solidFill>
                <a:latin typeface="Arial Black"/>
              </a:rPr>
              <a:t>SUN</a:t>
            </a:r>
          </a:p>
        </p:txBody>
      </p:sp>
      <p:sp>
        <p:nvSpPr>
          <p:cNvPr id="23" name="Rounded Rectangle 22"/>
          <p:cNvSpPr/>
          <p:nvPr/>
        </p:nvSpPr>
        <p:spPr>
          <a:xfrm>
            <a:off x="3547872" y="3182112"/>
            <a:ext cx="22860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47872" y="3246120"/>
            <a:ext cx="2286000" cy="347472"/>
          </a:xfrm>
          <a:prstGeom prst="rect">
            <a:avLst/>
          </a:prstGeom>
          <a:noFill/>
        </p:spPr>
        <p:txBody>
          <a:bodyPr wrap="square">
            <a:spAutoFit/>
          </a:bodyPr>
          <a:lstStyle/>
          <a:p>
            <a:pPr algn="ctr"/>
            <a:r>
              <a:rPr sz="1500" b="1">
                <a:solidFill>
                  <a:srgbClr val="16366B"/>
                </a:solidFill>
                <a:latin typeface="Calibri"/>
              </a:rPr>
              <a:t>S - U - N</a:t>
            </a:r>
          </a:p>
        </p:txBody>
      </p:sp>
      <p:sp>
        <p:nvSpPr>
          <p:cNvPr id="25" name="Rounded Rectangle 24"/>
          <p:cNvSpPr/>
          <p:nvPr/>
        </p:nvSpPr>
        <p:spPr>
          <a:xfrm>
            <a:off x="6227064" y="1737360"/>
            <a:ext cx="2743200" cy="2057400"/>
          </a:xfrm>
          <a:prstGeom prst="roundRect">
            <a:avLst/>
          </a:prstGeom>
          <a:solidFill>
            <a:srgbClr val="E4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18504" y="1874520"/>
            <a:ext cx="2560320" cy="548640"/>
          </a:xfrm>
          <a:prstGeom prst="rect">
            <a:avLst/>
          </a:prstGeom>
          <a:noFill/>
        </p:spPr>
        <p:txBody>
          <a:bodyPr wrap="square">
            <a:spAutoFit/>
          </a:bodyPr>
          <a:lstStyle/>
          <a:p>
            <a:pPr algn="ctr"/>
            <a:r>
              <a:rPr sz="2600" b="0">
                <a:solidFill>
                  <a:srgbClr val="242C38"/>
                </a:solidFill>
                <a:latin typeface="Calibri"/>
              </a:rPr>
              <a:t>🐶</a:t>
            </a:r>
          </a:p>
        </p:txBody>
      </p:sp>
      <p:sp>
        <p:nvSpPr>
          <p:cNvPr id="27" name="TextBox 26"/>
          <p:cNvSpPr txBox="1"/>
          <p:nvPr/>
        </p:nvSpPr>
        <p:spPr>
          <a:xfrm>
            <a:off x="6318504" y="2468880"/>
            <a:ext cx="2560320" cy="640080"/>
          </a:xfrm>
          <a:prstGeom prst="rect">
            <a:avLst/>
          </a:prstGeom>
          <a:noFill/>
        </p:spPr>
        <p:txBody>
          <a:bodyPr wrap="square">
            <a:spAutoFit/>
          </a:bodyPr>
          <a:lstStyle/>
          <a:p>
            <a:pPr algn="ctr"/>
            <a:r>
              <a:rPr sz="3400" b="1">
                <a:solidFill>
                  <a:srgbClr val="2E7D53"/>
                </a:solidFill>
                <a:latin typeface="Arial Black"/>
              </a:rPr>
              <a:t>DOG</a:t>
            </a:r>
          </a:p>
        </p:txBody>
      </p:sp>
      <p:sp>
        <p:nvSpPr>
          <p:cNvPr id="28" name="Rounded Rectangle 27"/>
          <p:cNvSpPr/>
          <p:nvPr/>
        </p:nvSpPr>
        <p:spPr>
          <a:xfrm>
            <a:off x="6455664" y="3182112"/>
            <a:ext cx="22860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55664" y="3246120"/>
            <a:ext cx="2286000" cy="347472"/>
          </a:xfrm>
          <a:prstGeom prst="rect">
            <a:avLst/>
          </a:prstGeom>
          <a:noFill/>
        </p:spPr>
        <p:txBody>
          <a:bodyPr wrap="square">
            <a:spAutoFit/>
          </a:bodyPr>
          <a:lstStyle/>
          <a:p>
            <a:pPr algn="ctr"/>
            <a:r>
              <a:rPr sz="1500" b="1">
                <a:solidFill>
                  <a:srgbClr val="16366B"/>
                </a:solidFill>
                <a:latin typeface="Calibri"/>
              </a:rPr>
              <a:t>D - O - G</a:t>
            </a:r>
          </a:p>
        </p:txBody>
      </p:sp>
      <p:sp>
        <p:nvSpPr>
          <p:cNvPr id="30" name="Rounded Rectangle 29"/>
          <p:cNvSpPr/>
          <p:nvPr/>
        </p:nvSpPr>
        <p:spPr>
          <a:xfrm>
            <a:off x="9134856" y="1737360"/>
            <a:ext cx="2743200" cy="205740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226296" y="1874520"/>
            <a:ext cx="2560320" cy="548640"/>
          </a:xfrm>
          <a:prstGeom prst="rect">
            <a:avLst/>
          </a:prstGeom>
          <a:noFill/>
        </p:spPr>
        <p:txBody>
          <a:bodyPr wrap="square">
            <a:spAutoFit/>
          </a:bodyPr>
          <a:lstStyle/>
          <a:p>
            <a:pPr algn="ctr"/>
            <a:r>
              <a:rPr sz="2600" b="0">
                <a:solidFill>
                  <a:srgbClr val="242C38"/>
                </a:solidFill>
                <a:latin typeface="Calibri"/>
              </a:rPr>
              <a:t>🗺️</a:t>
            </a:r>
          </a:p>
        </p:txBody>
      </p:sp>
      <p:sp>
        <p:nvSpPr>
          <p:cNvPr id="32" name="TextBox 31"/>
          <p:cNvSpPr txBox="1"/>
          <p:nvPr/>
        </p:nvSpPr>
        <p:spPr>
          <a:xfrm>
            <a:off x="9226296" y="2468880"/>
            <a:ext cx="2560320" cy="640080"/>
          </a:xfrm>
          <a:prstGeom prst="rect">
            <a:avLst/>
          </a:prstGeom>
          <a:noFill/>
        </p:spPr>
        <p:txBody>
          <a:bodyPr wrap="square">
            <a:spAutoFit/>
          </a:bodyPr>
          <a:lstStyle/>
          <a:p>
            <a:pPr algn="ctr"/>
            <a:r>
              <a:rPr sz="3400" b="1">
                <a:solidFill>
                  <a:srgbClr val="7B4FB8"/>
                </a:solidFill>
                <a:latin typeface="Arial Black"/>
              </a:rPr>
              <a:t>MAP</a:t>
            </a:r>
          </a:p>
        </p:txBody>
      </p:sp>
      <p:sp>
        <p:nvSpPr>
          <p:cNvPr id="33" name="Rounded Rectangle 32"/>
          <p:cNvSpPr/>
          <p:nvPr/>
        </p:nvSpPr>
        <p:spPr>
          <a:xfrm>
            <a:off x="9363456" y="3182112"/>
            <a:ext cx="22860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63456" y="3246120"/>
            <a:ext cx="2286000" cy="347472"/>
          </a:xfrm>
          <a:prstGeom prst="rect">
            <a:avLst/>
          </a:prstGeom>
          <a:noFill/>
        </p:spPr>
        <p:txBody>
          <a:bodyPr wrap="square">
            <a:spAutoFit/>
          </a:bodyPr>
          <a:lstStyle/>
          <a:p>
            <a:pPr algn="ctr"/>
            <a:r>
              <a:rPr sz="1500" b="1">
                <a:solidFill>
                  <a:srgbClr val="16366B"/>
                </a:solidFill>
                <a:latin typeface="Calibri"/>
              </a:rPr>
              <a:t>M - A - P</a:t>
            </a:r>
          </a:p>
        </p:txBody>
      </p:sp>
      <p:sp>
        <p:nvSpPr>
          <p:cNvPr id="35" name="Rounded Rectangle 34"/>
          <p:cNvSpPr/>
          <p:nvPr/>
        </p:nvSpPr>
        <p:spPr>
          <a:xfrm>
            <a:off x="411480" y="3977639"/>
            <a:ext cx="2743200" cy="2057400"/>
          </a:xfrm>
          <a:prstGeom prst="roundRect">
            <a:avLst/>
          </a:prstGeom>
          <a:solidFill>
            <a:srgbClr val="FDE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920" y="4114799"/>
            <a:ext cx="2560320" cy="548640"/>
          </a:xfrm>
          <a:prstGeom prst="rect">
            <a:avLst/>
          </a:prstGeom>
          <a:noFill/>
        </p:spPr>
        <p:txBody>
          <a:bodyPr wrap="square">
            <a:spAutoFit/>
          </a:bodyPr>
          <a:lstStyle/>
          <a:p>
            <a:pPr algn="ctr"/>
            <a:r>
              <a:rPr sz="2600" b="0">
                <a:solidFill>
                  <a:srgbClr val="242C38"/>
                </a:solidFill>
                <a:latin typeface="Calibri"/>
              </a:rPr>
              <a:t>🐷</a:t>
            </a:r>
          </a:p>
        </p:txBody>
      </p:sp>
      <p:sp>
        <p:nvSpPr>
          <p:cNvPr id="37" name="TextBox 36"/>
          <p:cNvSpPr txBox="1"/>
          <p:nvPr/>
        </p:nvSpPr>
        <p:spPr>
          <a:xfrm>
            <a:off x="502920" y="4709159"/>
            <a:ext cx="2560320" cy="640080"/>
          </a:xfrm>
          <a:prstGeom prst="rect">
            <a:avLst/>
          </a:prstGeom>
          <a:noFill/>
        </p:spPr>
        <p:txBody>
          <a:bodyPr wrap="square">
            <a:spAutoFit/>
          </a:bodyPr>
          <a:lstStyle/>
          <a:p>
            <a:pPr algn="ctr"/>
            <a:r>
              <a:rPr sz="3400" b="1">
                <a:solidFill>
                  <a:srgbClr val="E85A4F"/>
                </a:solidFill>
                <a:latin typeface="Arial Black"/>
              </a:rPr>
              <a:t>PIG</a:t>
            </a:r>
          </a:p>
        </p:txBody>
      </p:sp>
      <p:sp>
        <p:nvSpPr>
          <p:cNvPr id="38" name="Rounded Rectangle 37"/>
          <p:cNvSpPr/>
          <p:nvPr/>
        </p:nvSpPr>
        <p:spPr>
          <a:xfrm>
            <a:off x="640080" y="5422391"/>
            <a:ext cx="22860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5486399"/>
            <a:ext cx="2286000" cy="347472"/>
          </a:xfrm>
          <a:prstGeom prst="rect">
            <a:avLst/>
          </a:prstGeom>
          <a:noFill/>
        </p:spPr>
        <p:txBody>
          <a:bodyPr wrap="square">
            <a:spAutoFit/>
          </a:bodyPr>
          <a:lstStyle/>
          <a:p>
            <a:pPr algn="ctr"/>
            <a:r>
              <a:rPr sz="1500" b="1">
                <a:solidFill>
                  <a:srgbClr val="16366B"/>
                </a:solidFill>
                <a:latin typeface="Calibri"/>
              </a:rPr>
              <a:t>P - I - G</a:t>
            </a:r>
          </a:p>
        </p:txBody>
      </p:sp>
      <p:sp>
        <p:nvSpPr>
          <p:cNvPr id="40" name="Rounded Rectangle 39"/>
          <p:cNvSpPr/>
          <p:nvPr/>
        </p:nvSpPr>
        <p:spPr>
          <a:xfrm>
            <a:off x="3319272" y="3977639"/>
            <a:ext cx="2743200" cy="205740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10712" y="4114799"/>
            <a:ext cx="2560320" cy="548640"/>
          </a:xfrm>
          <a:prstGeom prst="rect">
            <a:avLst/>
          </a:prstGeom>
          <a:noFill/>
        </p:spPr>
        <p:txBody>
          <a:bodyPr wrap="square">
            <a:spAutoFit/>
          </a:bodyPr>
          <a:lstStyle/>
          <a:p>
            <a:pPr algn="ctr"/>
            <a:r>
              <a:rPr sz="2600" b="0">
                <a:solidFill>
                  <a:srgbClr val="242C38"/>
                </a:solidFill>
                <a:latin typeface="Calibri"/>
              </a:rPr>
              <a:t>🎩</a:t>
            </a:r>
          </a:p>
        </p:txBody>
      </p:sp>
      <p:sp>
        <p:nvSpPr>
          <p:cNvPr id="42" name="TextBox 41"/>
          <p:cNvSpPr txBox="1"/>
          <p:nvPr/>
        </p:nvSpPr>
        <p:spPr>
          <a:xfrm>
            <a:off x="3410712" y="4709159"/>
            <a:ext cx="2560320" cy="640080"/>
          </a:xfrm>
          <a:prstGeom prst="rect">
            <a:avLst/>
          </a:prstGeom>
          <a:noFill/>
        </p:spPr>
        <p:txBody>
          <a:bodyPr wrap="square">
            <a:spAutoFit/>
          </a:bodyPr>
          <a:lstStyle/>
          <a:p>
            <a:pPr algn="ctr"/>
            <a:r>
              <a:rPr sz="3400" b="1">
                <a:solidFill>
                  <a:srgbClr val="009C8F"/>
                </a:solidFill>
                <a:latin typeface="Arial Black"/>
              </a:rPr>
              <a:t>HAT</a:t>
            </a:r>
          </a:p>
        </p:txBody>
      </p:sp>
      <p:sp>
        <p:nvSpPr>
          <p:cNvPr id="43" name="Rounded Rectangle 42"/>
          <p:cNvSpPr/>
          <p:nvPr/>
        </p:nvSpPr>
        <p:spPr>
          <a:xfrm>
            <a:off x="3547872" y="5422391"/>
            <a:ext cx="22860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547872" y="5486399"/>
            <a:ext cx="2286000" cy="347472"/>
          </a:xfrm>
          <a:prstGeom prst="rect">
            <a:avLst/>
          </a:prstGeom>
          <a:noFill/>
        </p:spPr>
        <p:txBody>
          <a:bodyPr wrap="square">
            <a:spAutoFit/>
          </a:bodyPr>
          <a:lstStyle/>
          <a:p>
            <a:pPr algn="ctr"/>
            <a:r>
              <a:rPr sz="1500" b="1">
                <a:solidFill>
                  <a:srgbClr val="16366B"/>
                </a:solidFill>
                <a:latin typeface="Calibri"/>
              </a:rPr>
              <a:t>H - A - T</a:t>
            </a:r>
          </a:p>
        </p:txBody>
      </p:sp>
      <p:sp>
        <p:nvSpPr>
          <p:cNvPr id="45" name="Rounded Rectangle 44"/>
          <p:cNvSpPr/>
          <p:nvPr/>
        </p:nvSpPr>
        <p:spPr>
          <a:xfrm>
            <a:off x="6227064" y="3977639"/>
            <a:ext cx="2743200" cy="2057400"/>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18504" y="4114799"/>
            <a:ext cx="2560320" cy="548640"/>
          </a:xfrm>
          <a:prstGeom prst="rect">
            <a:avLst/>
          </a:prstGeom>
          <a:noFill/>
        </p:spPr>
        <p:txBody>
          <a:bodyPr wrap="square">
            <a:spAutoFit/>
          </a:bodyPr>
          <a:lstStyle/>
          <a:p>
            <a:pPr algn="ctr"/>
            <a:r>
              <a:rPr sz="2600" b="0">
                <a:solidFill>
                  <a:srgbClr val="242C38"/>
                </a:solidFill>
                <a:latin typeface="Calibri"/>
              </a:rPr>
              <a:t>🏃</a:t>
            </a:r>
          </a:p>
        </p:txBody>
      </p:sp>
      <p:sp>
        <p:nvSpPr>
          <p:cNvPr id="47" name="TextBox 46"/>
          <p:cNvSpPr txBox="1"/>
          <p:nvPr/>
        </p:nvSpPr>
        <p:spPr>
          <a:xfrm>
            <a:off x="6318504" y="4709159"/>
            <a:ext cx="2560320" cy="640080"/>
          </a:xfrm>
          <a:prstGeom prst="rect">
            <a:avLst/>
          </a:prstGeom>
          <a:noFill/>
        </p:spPr>
        <p:txBody>
          <a:bodyPr wrap="square">
            <a:spAutoFit/>
          </a:bodyPr>
          <a:lstStyle/>
          <a:p>
            <a:pPr algn="ctr"/>
            <a:r>
              <a:rPr sz="3400" b="1">
                <a:solidFill>
                  <a:srgbClr val="F2A11B"/>
                </a:solidFill>
                <a:latin typeface="Arial Black"/>
              </a:rPr>
              <a:t>RUN</a:t>
            </a:r>
          </a:p>
        </p:txBody>
      </p:sp>
      <p:sp>
        <p:nvSpPr>
          <p:cNvPr id="48" name="Rounded Rectangle 47"/>
          <p:cNvSpPr/>
          <p:nvPr/>
        </p:nvSpPr>
        <p:spPr>
          <a:xfrm>
            <a:off x="6455664" y="5422391"/>
            <a:ext cx="22860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55664" y="5486399"/>
            <a:ext cx="2286000" cy="347472"/>
          </a:xfrm>
          <a:prstGeom prst="rect">
            <a:avLst/>
          </a:prstGeom>
          <a:noFill/>
        </p:spPr>
        <p:txBody>
          <a:bodyPr wrap="square">
            <a:spAutoFit/>
          </a:bodyPr>
          <a:lstStyle/>
          <a:p>
            <a:pPr algn="ctr"/>
            <a:r>
              <a:rPr sz="1500" b="1">
                <a:solidFill>
                  <a:srgbClr val="16366B"/>
                </a:solidFill>
                <a:latin typeface="Calibri"/>
              </a:rPr>
              <a:t>R - U - N</a:t>
            </a:r>
          </a:p>
        </p:txBody>
      </p:sp>
      <p:sp>
        <p:nvSpPr>
          <p:cNvPr id="50" name="Rounded Rectangle 49"/>
          <p:cNvSpPr/>
          <p:nvPr/>
        </p:nvSpPr>
        <p:spPr>
          <a:xfrm>
            <a:off x="9134856" y="3977639"/>
            <a:ext cx="2743200" cy="2057400"/>
          </a:xfrm>
          <a:prstGeom prst="roundRect">
            <a:avLst/>
          </a:prstGeom>
          <a:solidFill>
            <a:srgbClr val="F4E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226296" y="4114799"/>
            <a:ext cx="2560320" cy="548640"/>
          </a:xfrm>
          <a:prstGeom prst="rect">
            <a:avLst/>
          </a:prstGeom>
          <a:noFill/>
        </p:spPr>
        <p:txBody>
          <a:bodyPr wrap="square">
            <a:spAutoFit/>
          </a:bodyPr>
          <a:lstStyle/>
          <a:p>
            <a:pPr algn="ctr"/>
            <a:r>
              <a:rPr sz="2600" b="0">
                <a:solidFill>
                  <a:srgbClr val="242C38"/>
                </a:solidFill>
                <a:latin typeface="Calibri"/>
              </a:rPr>
              <a:t>🐘</a:t>
            </a:r>
          </a:p>
        </p:txBody>
      </p:sp>
      <p:sp>
        <p:nvSpPr>
          <p:cNvPr id="52" name="TextBox 51"/>
          <p:cNvSpPr txBox="1"/>
          <p:nvPr/>
        </p:nvSpPr>
        <p:spPr>
          <a:xfrm>
            <a:off x="9226296" y="4709159"/>
            <a:ext cx="2560320" cy="640080"/>
          </a:xfrm>
          <a:prstGeom prst="rect">
            <a:avLst/>
          </a:prstGeom>
          <a:noFill/>
        </p:spPr>
        <p:txBody>
          <a:bodyPr wrap="square">
            <a:spAutoFit/>
          </a:bodyPr>
          <a:lstStyle/>
          <a:p>
            <a:pPr algn="ctr"/>
            <a:r>
              <a:rPr sz="3400" b="1">
                <a:solidFill>
                  <a:srgbClr val="8B5E3C"/>
                </a:solidFill>
                <a:latin typeface="Arial Black"/>
              </a:rPr>
              <a:t>BIG</a:t>
            </a:r>
          </a:p>
        </p:txBody>
      </p:sp>
      <p:sp>
        <p:nvSpPr>
          <p:cNvPr id="53" name="Rounded Rectangle 52"/>
          <p:cNvSpPr/>
          <p:nvPr/>
        </p:nvSpPr>
        <p:spPr>
          <a:xfrm>
            <a:off x="9363456" y="5422391"/>
            <a:ext cx="22860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363456" y="5486399"/>
            <a:ext cx="2286000" cy="347472"/>
          </a:xfrm>
          <a:prstGeom prst="rect">
            <a:avLst/>
          </a:prstGeom>
          <a:noFill/>
        </p:spPr>
        <p:txBody>
          <a:bodyPr wrap="square">
            <a:spAutoFit/>
          </a:bodyPr>
          <a:lstStyle/>
          <a:p>
            <a:pPr algn="ctr"/>
            <a:r>
              <a:rPr sz="1500" b="1">
                <a:solidFill>
                  <a:srgbClr val="16366B"/>
                </a:solidFill>
                <a:latin typeface="Calibri"/>
              </a:rPr>
              <a:t>B - I - G</a:t>
            </a:r>
          </a:p>
        </p:txBody>
      </p:sp>
    </p:spTree>
  </p:cSld>
  <p:clrMapOvr>
    <a:masterClrMapping/>
  </p:clrMapOvr>
  <p:transition spd="med"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8B5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8B5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GAME</a:t>
            </a:r>
          </a:p>
        </p:txBody>
      </p:sp>
      <p:sp>
        <p:nvSpPr>
          <p:cNvPr id="6" name="Rounded Rectangle 5"/>
          <p:cNvSpPr/>
          <p:nvPr/>
        </p:nvSpPr>
        <p:spPr>
          <a:xfrm>
            <a:off x="9418320" y="237744"/>
            <a:ext cx="242316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a:solidFill>
                  <a:srgbClr val="FFFFFF"/>
                </a:solidFill>
                <a:latin typeface="Calibri"/>
              </a:rPr>
              <a:t>25–35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Game: Feed the Bear</a:t>
            </a:r>
          </a:p>
        </p:txBody>
      </p:sp>
      <p:sp>
        <p:nvSpPr>
          <p:cNvPr id="9" name="Rectangle 8"/>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3483341"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Feed the bear  |  25–35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10 / 35</a:t>
            </a:r>
          </a:p>
        </p:txBody>
      </p:sp>
      <p:sp>
        <p:nvSpPr>
          <p:cNvPr id="14" name="TextBox 13"/>
          <p:cNvSpPr txBox="1"/>
          <p:nvPr/>
        </p:nvSpPr>
        <p:spPr>
          <a:xfrm>
            <a:off x="411480" y="1261872"/>
            <a:ext cx="10515600" cy="384048"/>
          </a:xfrm>
          <a:prstGeom prst="rect">
            <a:avLst/>
          </a:prstGeom>
          <a:noFill/>
        </p:spPr>
        <p:txBody>
          <a:bodyPr wrap="square">
            <a:spAutoFit/>
          </a:bodyPr>
          <a:lstStyle/>
          <a:p>
            <a:pPr algn="l"/>
            <a:r>
              <a:rPr sz="1600" b="1">
                <a:solidFill>
                  <a:srgbClr val="E85A4F"/>
                </a:solidFill>
                <a:latin typeface="Calibri"/>
              </a:rPr>
              <a:t>Ben is hungry! Find the right word and feed it to him.</a:t>
            </a:r>
          </a:p>
        </p:txBody>
      </p:sp>
      <p:sp>
        <p:nvSpPr>
          <p:cNvPr id="15" name="Rounded Rectangle 14"/>
          <p:cNvSpPr/>
          <p:nvPr/>
        </p:nvSpPr>
        <p:spPr>
          <a:xfrm>
            <a:off x="457200" y="1737360"/>
            <a:ext cx="11292840" cy="10241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1975104"/>
            <a:ext cx="731520" cy="548640"/>
          </a:xfrm>
          <a:prstGeom prst="rect">
            <a:avLst/>
          </a:prstGeom>
          <a:noFill/>
        </p:spPr>
        <p:txBody>
          <a:bodyPr wrap="square">
            <a:spAutoFit/>
          </a:bodyPr>
          <a:lstStyle/>
          <a:p>
            <a:pPr algn="ctr"/>
            <a:r>
              <a:rPr sz="2200" b="0">
                <a:solidFill>
                  <a:srgbClr val="242C38"/>
                </a:solidFill>
                <a:latin typeface="Calibri"/>
              </a:rPr>
              <a:t>🐻</a:t>
            </a:r>
          </a:p>
        </p:txBody>
      </p:sp>
      <p:sp>
        <p:nvSpPr>
          <p:cNvPr id="17" name="TextBox 16"/>
          <p:cNvSpPr txBox="1"/>
          <p:nvPr/>
        </p:nvSpPr>
        <p:spPr>
          <a:xfrm>
            <a:off x="1463040" y="2011680"/>
            <a:ext cx="731520" cy="502920"/>
          </a:xfrm>
          <a:prstGeom prst="rect">
            <a:avLst/>
          </a:prstGeom>
          <a:noFill/>
        </p:spPr>
        <p:txBody>
          <a:bodyPr wrap="square">
            <a:spAutoFit/>
          </a:bodyPr>
          <a:lstStyle/>
          <a:p>
            <a:pPr algn="ctr"/>
            <a:r>
              <a:rPr sz="2000" b="0">
                <a:solidFill>
                  <a:srgbClr val="242C38"/>
                </a:solidFill>
                <a:latin typeface="Calibri"/>
              </a:rPr>
              <a:t>🐱</a:t>
            </a:r>
          </a:p>
        </p:txBody>
      </p:sp>
      <p:sp>
        <p:nvSpPr>
          <p:cNvPr id="18" name="TextBox 17"/>
          <p:cNvSpPr txBox="1"/>
          <p:nvPr/>
        </p:nvSpPr>
        <p:spPr>
          <a:xfrm>
            <a:off x="2286000" y="2048256"/>
            <a:ext cx="2286000" cy="411480"/>
          </a:xfrm>
          <a:prstGeom prst="rect">
            <a:avLst/>
          </a:prstGeom>
          <a:noFill/>
        </p:spPr>
        <p:txBody>
          <a:bodyPr wrap="square">
            <a:spAutoFit/>
          </a:bodyPr>
          <a:lstStyle/>
          <a:p>
            <a:pPr algn="l"/>
            <a:r>
              <a:rPr sz="1800" b="1">
                <a:solidFill>
                  <a:srgbClr val="8B5E3C"/>
                </a:solidFill>
                <a:latin typeface="Calibri"/>
              </a:rPr>
              <a:t>Find  CAT</a:t>
            </a:r>
          </a:p>
        </p:txBody>
      </p:sp>
      <p:sp>
        <p:nvSpPr>
          <p:cNvPr id="19" name="Rounded Rectangle 18"/>
          <p:cNvSpPr/>
          <p:nvPr/>
        </p:nvSpPr>
        <p:spPr>
          <a:xfrm>
            <a:off x="4846320" y="1920240"/>
            <a:ext cx="2103120" cy="658368"/>
          </a:xfrm>
          <a:prstGeom prst="roundRect">
            <a:avLst/>
          </a:prstGeom>
          <a:solidFill>
            <a:srgbClr val="F4E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46320" y="2011680"/>
            <a:ext cx="2103120" cy="457200"/>
          </a:xfrm>
          <a:prstGeom prst="rect">
            <a:avLst/>
          </a:prstGeom>
          <a:noFill/>
        </p:spPr>
        <p:txBody>
          <a:bodyPr wrap="square">
            <a:spAutoFit/>
          </a:bodyPr>
          <a:lstStyle/>
          <a:p>
            <a:pPr algn="ctr"/>
            <a:r>
              <a:rPr sz="2200" b="1">
                <a:solidFill>
                  <a:srgbClr val="16366B"/>
                </a:solidFill>
                <a:latin typeface="Arial Black"/>
              </a:rPr>
              <a:t>CAT</a:t>
            </a:r>
          </a:p>
        </p:txBody>
      </p:sp>
      <p:sp>
        <p:nvSpPr>
          <p:cNvPr id="21" name="Rounded Rectangle 20"/>
          <p:cNvSpPr/>
          <p:nvPr/>
        </p:nvSpPr>
        <p:spPr>
          <a:xfrm>
            <a:off x="7178040" y="1920240"/>
            <a:ext cx="2103120" cy="658368"/>
          </a:xfrm>
          <a:prstGeom prst="roundRect">
            <a:avLst/>
          </a:prstGeom>
          <a:solidFill>
            <a:srgbClr val="F4E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78040" y="2011680"/>
            <a:ext cx="2103120" cy="457200"/>
          </a:xfrm>
          <a:prstGeom prst="rect">
            <a:avLst/>
          </a:prstGeom>
          <a:noFill/>
        </p:spPr>
        <p:txBody>
          <a:bodyPr wrap="square">
            <a:spAutoFit/>
          </a:bodyPr>
          <a:lstStyle/>
          <a:p>
            <a:pPr algn="ctr"/>
            <a:r>
              <a:rPr sz="2200" b="1">
                <a:solidFill>
                  <a:srgbClr val="16366B"/>
                </a:solidFill>
                <a:latin typeface="Arial Black"/>
              </a:rPr>
              <a:t>SUN</a:t>
            </a:r>
          </a:p>
        </p:txBody>
      </p:sp>
      <p:sp>
        <p:nvSpPr>
          <p:cNvPr id="23" name="Rounded Rectangle 22"/>
          <p:cNvSpPr/>
          <p:nvPr/>
        </p:nvSpPr>
        <p:spPr>
          <a:xfrm>
            <a:off x="9509759" y="1920240"/>
            <a:ext cx="2103120" cy="658368"/>
          </a:xfrm>
          <a:prstGeom prst="roundRect">
            <a:avLst/>
          </a:prstGeom>
          <a:solidFill>
            <a:srgbClr val="F4E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09759" y="2011680"/>
            <a:ext cx="2103120" cy="457200"/>
          </a:xfrm>
          <a:prstGeom prst="rect">
            <a:avLst/>
          </a:prstGeom>
          <a:noFill/>
        </p:spPr>
        <p:txBody>
          <a:bodyPr wrap="square">
            <a:spAutoFit/>
          </a:bodyPr>
          <a:lstStyle/>
          <a:p>
            <a:pPr algn="ctr"/>
            <a:r>
              <a:rPr sz="2200" b="1">
                <a:solidFill>
                  <a:srgbClr val="16366B"/>
                </a:solidFill>
                <a:latin typeface="Arial Black"/>
              </a:rPr>
              <a:t>DOG</a:t>
            </a:r>
          </a:p>
        </p:txBody>
      </p:sp>
      <p:sp>
        <p:nvSpPr>
          <p:cNvPr id="25" name="Rounded Rectangle 24"/>
          <p:cNvSpPr/>
          <p:nvPr/>
        </p:nvSpPr>
        <p:spPr>
          <a:xfrm>
            <a:off x="457200" y="2907791"/>
            <a:ext cx="11292840" cy="10241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145535"/>
            <a:ext cx="731520" cy="548640"/>
          </a:xfrm>
          <a:prstGeom prst="rect">
            <a:avLst/>
          </a:prstGeom>
          <a:noFill/>
        </p:spPr>
        <p:txBody>
          <a:bodyPr wrap="square">
            <a:spAutoFit/>
          </a:bodyPr>
          <a:lstStyle/>
          <a:p>
            <a:pPr algn="ctr"/>
            <a:r>
              <a:rPr sz="2200" b="0">
                <a:solidFill>
                  <a:srgbClr val="242C38"/>
                </a:solidFill>
                <a:latin typeface="Calibri"/>
              </a:rPr>
              <a:t>🐻</a:t>
            </a:r>
          </a:p>
        </p:txBody>
      </p:sp>
      <p:sp>
        <p:nvSpPr>
          <p:cNvPr id="27" name="TextBox 26"/>
          <p:cNvSpPr txBox="1"/>
          <p:nvPr/>
        </p:nvSpPr>
        <p:spPr>
          <a:xfrm>
            <a:off x="1463040" y="3182111"/>
            <a:ext cx="731520" cy="502920"/>
          </a:xfrm>
          <a:prstGeom prst="rect">
            <a:avLst/>
          </a:prstGeom>
          <a:noFill/>
        </p:spPr>
        <p:txBody>
          <a:bodyPr wrap="square">
            <a:spAutoFit/>
          </a:bodyPr>
          <a:lstStyle/>
          <a:p>
            <a:pPr algn="ctr"/>
            <a:r>
              <a:rPr sz="2000" b="0">
                <a:solidFill>
                  <a:srgbClr val="242C38"/>
                </a:solidFill>
                <a:latin typeface="Calibri"/>
              </a:rPr>
              <a:t>☀️</a:t>
            </a:r>
          </a:p>
        </p:txBody>
      </p:sp>
      <p:sp>
        <p:nvSpPr>
          <p:cNvPr id="28" name="TextBox 27"/>
          <p:cNvSpPr txBox="1"/>
          <p:nvPr/>
        </p:nvSpPr>
        <p:spPr>
          <a:xfrm>
            <a:off x="2286000" y="3218687"/>
            <a:ext cx="2286000" cy="411480"/>
          </a:xfrm>
          <a:prstGeom prst="rect">
            <a:avLst/>
          </a:prstGeom>
          <a:noFill/>
        </p:spPr>
        <p:txBody>
          <a:bodyPr wrap="square">
            <a:spAutoFit/>
          </a:bodyPr>
          <a:lstStyle/>
          <a:p>
            <a:pPr algn="l"/>
            <a:r>
              <a:rPr sz="1800" b="1">
                <a:solidFill>
                  <a:srgbClr val="8B5E3C"/>
                </a:solidFill>
                <a:latin typeface="Calibri"/>
              </a:rPr>
              <a:t>Find  SUN</a:t>
            </a:r>
          </a:p>
        </p:txBody>
      </p:sp>
      <p:sp>
        <p:nvSpPr>
          <p:cNvPr id="29" name="Rounded Rectangle 28"/>
          <p:cNvSpPr/>
          <p:nvPr/>
        </p:nvSpPr>
        <p:spPr>
          <a:xfrm>
            <a:off x="4846320" y="3090671"/>
            <a:ext cx="2103120" cy="658368"/>
          </a:xfrm>
          <a:prstGeom prst="roundRect">
            <a:avLst/>
          </a:prstGeom>
          <a:solidFill>
            <a:srgbClr val="F4E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46320" y="3182111"/>
            <a:ext cx="2103120" cy="457200"/>
          </a:xfrm>
          <a:prstGeom prst="rect">
            <a:avLst/>
          </a:prstGeom>
          <a:noFill/>
        </p:spPr>
        <p:txBody>
          <a:bodyPr wrap="square">
            <a:spAutoFit/>
          </a:bodyPr>
          <a:lstStyle/>
          <a:p>
            <a:pPr algn="ctr"/>
            <a:r>
              <a:rPr sz="2200" b="1">
                <a:solidFill>
                  <a:srgbClr val="16366B"/>
                </a:solidFill>
                <a:latin typeface="Arial Black"/>
              </a:rPr>
              <a:t>MAP</a:t>
            </a:r>
          </a:p>
        </p:txBody>
      </p:sp>
      <p:sp>
        <p:nvSpPr>
          <p:cNvPr id="31" name="Rounded Rectangle 30"/>
          <p:cNvSpPr/>
          <p:nvPr/>
        </p:nvSpPr>
        <p:spPr>
          <a:xfrm>
            <a:off x="7178040" y="3090671"/>
            <a:ext cx="2103120" cy="658368"/>
          </a:xfrm>
          <a:prstGeom prst="roundRect">
            <a:avLst/>
          </a:prstGeom>
          <a:solidFill>
            <a:srgbClr val="F4E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78040" y="3182111"/>
            <a:ext cx="2103120" cy="457200"/>
          </a:xfrm>
          <a:prstGeom prst="rect">
            <a:avLst/>
          </a:prstGeom>
          <a:noFill/>
        </p:spPr>
        <p:txBody>
          <a:bodyPr wrap="square">
            <a:spAutoFit/>
          </a:bodyPr>
          <a:lstStyle/>
          <a:p>
            <a:pPr algn="ctr"/>
            <a:r>
              <a:rPr sz="2200" b="1">
                <a:solidFill>
                  <a:srgbClr val="16366B"/>
                </a:solidFill>
                <a:latin typeface="Arial Black"/>
              </a:rPr>
              <a:t>SUN</a:t>
            </a:r>
          </a:p>
        </p:txBody>
      </p:sp>
      <p:sp>
        <p:nvSpPr>
          <p:cNvPr id="33" name="Rounded Rectangle 32"/>
          <p:cNvSpPr/>
          <p:nvPr/>
        </p:nvSpPr>
        <p:spPr>
          <a:xfrm>
            <a:off x="9509759" y="3090671"/>
            <a:ext cx="2103120" cy="658368"/>
          </a:xfrm>
          <a:prstGeom prst="roundRect">
            <a:avLst/>
          </a:prstGeom>
          <a:solidFill>
            <a:srgbClr val="F4E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509759" y="3182111"/>
            <a:ext cx="2103120" cy="457200"/>
          </a:xfrm>
          <a:prstGeom prst="rect">
            <a:avLst/>
          </a:prstGeom>
          <a:noFill/>
        </p:spPr>
        <p:txBody>
          <a:bodyPr wrap="square">
            <a:spAutoFit/>
          </a:bodyPr>
          <a:lstStyle/>
          <a:p>
            <a:pPr algn="ctr"/>
            <a:r>
              <a:rPr sz="2200" b="1">
                <a:solidFill>
                  <a:srgbClr val="16366B"/>
                </a:solidFill>
                <a:latin typeface="Arial Black"/>
              </a:rPr>
              <a:t>PIG</a:t>
            </a:r>
          </a:p>
        </p:txBody>
      </p:sp>
      <p:sp>
        <p:nvSpPr>
          <p:cNvPr id="35" name="Rounded Rectangle 34"/>
          <p:cNvSpPr/>
          <p:nvPr/>
        </p:nvSpPr>
        <p:spPr>
          <a:xfrm>
            <a:off x="457200" y="4078224"/>
            <a:ext cx="11292840" cy="10241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4315968"/>
            <a:ext cx="731520" cy="548640"/>
          </a:xfrm>
          <a:prstGeom prst="rect">
            <a:avLst/>
          </a:prstGeom>
          <a:noFill/>
        </p:spPr>
        <p:txBody>
          <a:bodyPr wrap="square">
            <a:spAutoFit/>
          </a:bodyPr>
          <a:lstStyle/>
          <a:p>
            <a:pPr algn="ctr"/>
            <a:r>
              <a:rPr sz="2200" b="0">
                <a:solidFill>
                  <a:srgbClr val="242C38"/>
                </a:solidFill>
                <a:latin typeface="Calibri"/>
              </a:rPr>
              <a:t>🐻</a:t>
            </a:r>
          </a:p>
        </p:txBody>
      </p:sp>
      <p:sp>
        <p:nvSpPr>
          <p:cNvPr id="37" name="TextBox 36"/>
          <p:cNvSpPr txBox="1"/>
          <p:nvPr/>
        </p:nvSpPr>
        <p:spPr>
          <a:xfrm>
            <a:off x="1463040" y="4352544"/>
            <a:ext cx="731520" cy="502920"/>
          </a:xfrm>
          <a:prstGeom prst="rect">
            <a:avLst/>
          </a:prstGeom>
          <a:noFill/>
        </p:spPr>
        <p:txBody>
          <a:bodyPr wrap="square">
            <a:spAutoFit/>
          </a:bodyPr>
          <a:lstStyle/>
          <a:p>
            <a:pPr algn="ctr"/>
            <a:r>
              <a:rPr sz="2000" b="0">
                <a:solidFill>
                  <a:srgbClr val="242C38"/>
                </a:solidFill>
                <a:latin typeface="Calibri"/>
              </a:rPr>
              <a:t>🐶</a:t>
            </a:r>
          </a:p>
        </p:txBody>
      </p:sp>
      <p:sp>
        <p:nvSpPr>
          <p:cNvPr id="38" name="TextBox 37"/>
          <p:cNvSpPr txBox="1"/>
          <p:nvPr/>
        </p:nvSpPr>
        <p:spPr>
          <a:xfrm>
            <a:off x="2286000" y="4389120"/>
            <a:ext cx="2286000" cy="411480"/>
          </a:xfrm>
          <a:prstGeom prst="rect">
            <a:avLst/>
          </a:prstGeom>
          <a:noFill/>
        </p:spPr>
        <p:txBody>
          <a:bodyPr wrap="square">
            <a:spAutoFit/>
          </a:bodyPr>
          <a:lstStyle/>
          <a:p>
            <a:pPr algn="l"/>
            <a:r>
              <a:rPr sz="1800" b="1">
                <a:solidFill>
                  <a:srgbClr val="8B5E3C"/>
                </a:solidFill>
                <a:latin typeface="Calibri"/>
              </a:rPr>
              <a:t>Find  DOG</a:t>
            </a:r>
          </a:p>
        </p:txBody>
      </p:sp>
      <p:sp>
        <p:nvSpPr>
          <p:cNvPr id="39" name="Rounded Rectangle 38"/>
          <p:cNvSpPr/>
          <p:nvPr/>
        </p:nvSpPr>
        <p:spPr>
          <a:xfrm>
            <a:off x="4846320" y="4261104"/>
            <a:ext cx="2103120" cy="658368"/>
          </a:xfrm>
          <a:prstGeom prst="roundRect">
            <a:avLst/>
          </a:prstGeom>
          <a:solidFill>
            <a:srgbClr val="F4E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46320" y="4352544"/>
            <a:ext cx="2103120" cy="457200"/>
          </a:xfrm>
          <a:prstGeom prst="rect">
            <a:avLst/>
          </a:prstGeom>
          <a:noFill/>
        </p:spPr>
        <p:txBody>
          <a:bodyPr wrap="square">
            <a:spAutoFit/>
          </a:bodyPr>
          <a:lstStyle/>
          <a:p>
            <a:pPr algn="ctr"/>
            <a:r>
              <a:rPr sz="2200" b="1">
                <a:solidFill>
                  <a:srgbClr val="16366B"/>
                </a:solidFill>
                <a:latin typeface="Arial Black"/>
              </a:rPr>
              <a:t>HAT</a:t>
            </a:r>
          </a:p>
        </p:txBody>
      </p:sp>
      <p:sp>
        <p:nvSpPr>
          <p:cNvPr id="41" name="Rounded Rectangle 40"/>
          <p:cNvSpPr/>
          <p:nvPr/>
        </p:nvSpPr>
        <p:spPr>
          <a:xfrm>
            <a:off x="7178040" y="4261104"/>
            <a:ext cx="2103120" cy="658368"/>
          </a:xfrm>
          <a:prstGeom prst="roundRect">
            <a:avLst/>
          </a:prstGeom>
          <a:solidFill>
            <a:srgbClr val="F4E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178040" y="4352544"/>
            <a:ext cx="2103120" cy="457200"/>
          </a:xfrm>
          <a:prstGeom prst="rect">
            <a:avLst/>
          </a:prstGeom>
          <a:noFill/>
        </p:spPr>
        <p:txBody>
          <a:bodyPr wrap="square">
            <a:spAutoFit/>
          </a:bodyPr>
          <a:lstStyle/>
          <a:p>
            <a:pPr algn="ctr"/>
            <a:r>
              <a:rPr sz="2200" b="1">
                <a:solidFill>
                  <a:srgbClr val="16366B"/>
                </a:solidFill>
                <a:latin typeface="Arial Black"/>
              </a:rPr>
              <a:t>RUN</a:t>
            </a:r>
          </a:p>
        </p:txBody>
      </p:sp>
      <p:sp>
        <p:nvSpPr>
          <p:cNvPr id="43" name="Rounded Rectangle 42"/>
          <p:cNvSpPr/>
          <p:nvPr/>
        </p:nvSpPr>
        <p:spPr>
          <a:xfrm>
            <a:off x="9509759" y="4261104"/>
            <a:ext cx="2103120" cy="658368"/>
          </a:xfrm>
          <a:prstGeom prst="roundRect">
            <a:avLst/>
          </a:prstGeom>
          <a:solidFill>
            <a:srgbClr val="F4E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509759" y="4352544"/>
            <a:ext cx="2103120" cy="457200"/>
          </a:xfrm>
          <a:prstGeom prst="rect">
            <a:avLst/>
          </a:prstGeom>
          <a:noFill/>
        </p:spPr>
        <p:txBody>
          <a:bodyPr wrap="square">
            <a:spAutoFit/>
          </a:bodyPr>
          <a:lstStyle/>
          <a:p>
            <a:pPr algn="ctr"/>
            <a:r>
              <a:rPr sz="2200" b="1">
                <a:solidFill>
                  <a:srgbClr val="16366B"/>
                </a:solidFill>
                <a:latin typeface="Arial Black"/>
              </a:rPr>
              <a:t>DOG</a:t>
            </a:r>
          </a:p>
        </p:txBody>
      </p:sp>
      <p:sp>
        <p:nvSpPr>
          <p:cNvPr id="45" name="Rounded Rectangle 44"/>
          <p:cNvSpPr/>
          <p:nvPr/>
        </p:nvSpPr>
        <p:spPr>
          <a:xfrm>
            <a:off x="457200" y="5248656"/>
            <a:ext cx="11292840" cy="10241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 y="5486400"/>
            <a:ext cx="731520" cy="548640"/>
          </a:xfrm>
          <a:prstGeom prst="rect">
            <a:avLst/>
          </a:prstGeom>
          <a:noFill/>
        </p:spPr>
        <p:txBody>
          <a:bodyPr wrap="square">
            <a:spAutoFit/>
          </a:bodyPr>
          <a:lstStyle/>
          <a:p>
            <a:pPr algn="ctr"/>
            <a:r>
              <a:rPr sz="2200" b="0">
                <a:solidFill>
                  <a:srgbClr val="242C38"/>
                </a:solidFill>
                <a:latin typeface="Calibri"/>
              </a:rPr>
              <a:t>🐻</a:t>
            </a:r>
          </a:p>
        </p:txBody>
      </p:sp>
      <p:sp>
        <p:nvSpPr>
          <p:cNvPr id="47" name="TextBox 46"/>
          <p:cNvSpPr txBox="1"/>
          <p:nvPr/>
        </p:nvSpPr>
        <p:spPr>
          <a:xfrm>
            <a:off x="1463040" y="5522976"/>
            <a:ext cx="731520" cy="502920"/>
          </a:xfrm>
          <a:prstGeom prst="rect">
            <a:avLst/>
          </a:prstGeom>
          <a:noFill/>
        </p:spPr>
        <p:txBody>
          <a:bodyPr wrap="square">
            <a:spAutoFit/>
          </a:bodyPr>
          <a:lstStyle/>
          <a:p>
            <a:pPr algn="ctr"/>
            <a:r>
              <a:rPr sz="2000" b="0">
                <a:solidFill>
                  <a:srgbClr val="242C38"/>
                </a:solidFill>
                <a:latin typeface="Calibri"/>
              </a:rPr>
              <a:t>🐘</a:t>
            </a:r>
          </a:p>
        </p:txBody>
      </p:sp>
      <p:sp>
        <p:nvSpPr>
          <p:cNvPr id="48" name="TextBox 47"/>
          <p:cNvSpPr txBox="1"/>
          <p:nvPr/>
        </p:nvSpPr>
        <p:spPr>
          <a:xfrm>
            <a:off x="2286000" y="5559552"/>
            <a:ext cx="2286000" cy="411480"/>
          </a:xfrm>
          <a:prstGeom prst="rect">
            <a:avLst/>
          </a:prstGeom>
          <a:noFill/>
        </p:spPr>
        <p:txBody>
          <a:bodyPr wrap="square">
            <a:spAutoFit/>
          </a:bodyPr>
          <a:lstStyle/>
          <a:p>
            <a:pPr algn="l"/>
            <a:r>
              <a:rPr sz="1800" b="1">
                <a:solidFill>
                  <a:srgbClr val="8B5E3C"/>
                </a:solidFill>
                <a:latin typeface="Calibri"/>
              </a:rPr>
              <a:t>Find  BIG</a:t>
            </a:r>
          </a:p>
        </p:txBody>
      </p:sp>
      <p:sp>
        <p:nvSpPr>
          <p:cNvPr id="49" name="Rounded Rectangle 48"/>
          <p:cNvSpPr/>
          <p:nvPr/>
        </p:nvSpPr>
        <p:spPr>
          <a:xfrm>
            <a:off x="4846320" y="5431536"/>
            <a:ext cx="2103120" cy="658368"/>
          </a:xfrm>
          <a:prstGeom prst="roundRect">
            <a:avLst/>
          </a:prstGeom>
          <a:solidFill>
            <a:srgbClr val="F4E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846320" y="5522976"/>
            <a:ext cx="2103120" cy="457200"/>
          </a:xfrm>
          <a:prstGeom prst="rect">
            <a:avLst/>
          </a:prstGeom>
          <a:noFill/>
        </p:spPr>
        <p:txBody>
          <a:bodyPr wrap="square">
            <a:spAutoFit/>
          </a:bodyPr>
          <a:lstStyle/>
          <a:p>
            <a:pPr algn="ctr"/>
            <a:r>
              <a:rPr sz="2200" b="1">
                <a:solidFill>
                  <a:srgbClr val="16366B"/>
                </a:solidFill>
                <a:latin typeface="Arial Black"/>
              </a:rPr>
              <a:t>BIG</a:t>
            </a:r>
          </a:p>
        </p:txBody>
      </p:sp>
      <p:sp>
        <p:nvSpPr>
          <p:cNvPr id="51" name="Rounded Rectangle 50"/>
          <p:cNvSpPr/>
          <p:nvPr/>
        </p:nvSpPr>
        <p:spPr>
          <a:xfrm>
            <a:off x="7178040" y="5431536"/>
            <a:ext cx="2103120" cy="658368"/>
          </a:xfrm>
          <a:prstGeom prst="roundRect">
            <a:avLst/>
          </a:prstGeom>
          <a:solidFill>
            <a:srgbClr val="F4E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178040" y="5522976"/>
            <a:ext cx="2103120" cy="457200"/>
          </a:xfrm>
          <a:prstGeom prst="rect">
            <a:avLst/>
          </a:prstGeom>
          <a:noFill/>
        </p:spPr>
        <p:txBody>
          <a:bodyPr wrap="square">
            <a:spAutoFit/>
          </a:bodyPr>
          <a:lstStyle/>
          <a:p>
            <a:pPr algn="ctr"/>
            <a:r>
              <a:rPr sz="2200" b="1">
                <a:solidFill>
                  <a:srgbClr val="16366B"/>
                </a:solidFill>
                <a:latin typeface="Arial Black"/>
              </a:rPr>
              <a:t>RED</a:t>
            </a:r>
          </a:p>
        </p:txBody>
      </p:sp>
      <p:sp>
        <p:nvSpPr>
          <p:cNvPr id="53" name="Rounded Rectangle 52"/>
          <p:cNvSpPr/>
          <p:nvPr/>
        </p:nvSpPr>
        <p:spPr>
          <a:xfrm>
            <a:off x="9509759" y="5431536"/>
            <a:ext cx="2103120" cy="658368"/>
          </a:xfrm>
          <a:prstGeom prst="roundRect">
            <a:avLst/>
          </a:prstGeom>
          <a:solidFill>
            <a:srgbClr val="F4E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509759" y="5522976"/>
            <a:ext cx="2103120" cy="457200"/>
          </a:xfrm>
          <a:prstGeom prst="rect">
            <a:avLst/>
          </a:prstGeom>
          <a:noFill/>
        </p:spPr>
        <p:txBody>
          <a:bodyPr wrap="square">
            <a:spAutoFit/>
          </a:bodyPr>
          <a:lstStyle/>
          <a:p>
            <a:pPr algn="ctr"/>
            <a:r>
              <a:rPr sz="2200" b="1">
                <a:solidFill>
                  <a:srgbClr val="16366B"/>
                </a:solidFill>
                <a:latin typeface="Arial Black"/>
              </a:rPr>
              <a:t>CAT</a:t>
            </a:r>
          </a:p>
        </p:txBody>
      </p:sp>
    </p:spTree>
  </p:cSld>
  <p:clrMapOvr>
    <a:masterClrMapping/>
  </p:clrMapOvr>
  <p:transition spd="med"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F2A1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F2A1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GAME</a:t>
            </a:r>
          </a:p>
        </p:txBody>
      </p:sp>
      <p:sp>
        <p:nvSpPr>
          <p:cNvPr id="6" name="Rounded Rectangle 5"/>
          <p:cNvSpPr/>
          <p:nvPr/>
        </p:nvSpPr>
        <p:spPr>
          <a:xfrm>
            <a:off x="9418320" y="237744"/>
            <a:ext cx="242316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a:solidFill>
                  <a:srgbClr val="FFFFFF"/>
                </a:solidFill>
                <a:latin typeface="Calibri"/>
              </a:rPr>
              <a:t>25–35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Game: Word Hunt</a:t>
            </a:r>
          </a:p>
        </p:txBody>
      </p:sp>
      <p:sp>
        <p:nvSpPr>
          <p:cNvPr id="9" name="Rectangle 8"/>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3831675"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Word hunt  |  25–35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11 / 35</a:t>
            </a:r>
          </a:p>
        </p:txBody>
      </p:sp>
      <p:sp>
        <p:nvSpPr>
          <p:cNvPr id="14" name="TextBox 13"/>
          <p:cNvSpPr txBox="1"/>
          <p:nvPr/>
        </p:nvSpPr>
        <p:spPr>
          <a:xfrm>
            <a:off x="411480" y="1261872"/>
            <a:ext cx="8229600" cy="384048"/>
          </a:xfrm>
          <a:prstGeom prst="rect">
            <a:avLst/>
          </a:prstGeom>
          <a:noFill/>
        </p:spPr>
        <p:txBody>
          <a:bodyPr wrap="square">
            <a:spAutoFit/>
          </a:bodyPr>
          <a:lstStyle/>
          <a:p>
            <a:pPr algn="l"/>
            <a:r>
              <a:rPr sz="1600" b="1">
                <a:solidFill>
                  <a:srgbClr val="E85A4F"/>
                </a:solidFill>
                <a:latin typeface="Calibri"/>
              </a:rPr>
              <a:t>Point to the word I say — then read it!</a:t>
            </a:r>
          </a:p>
        </p:txBody>
      </p:sp>
      <p:sp>
        <p:nvSpPr>
          <p:cNvPr id="15" name="Rounded Rectangle 14"/>
          <p:cNvSpPr/>
          <p:nvPr/>
        </p:nvSpPr>
        <p:spPr>
          <a:xfrm>
            <a:off x="457200" y="1737360"/>
            <a:ext cx="1627632"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011680"/>
            <a:ext cx="1627632" cy="548640"/>
          </a:xfrm>
          <a:prstGeom prst="rect">
            <a:avLst/>
          </a:prstGeom>
          <a:noFill/>
        </p:spPr>
        <p:txBody>
          <a:bodyPr wrap="square">
            <a:spAutoFit/>
          </a:bodyPr>
          <a:lstStyle/>
          <a:p>
            <a:pPr algn="ctr"/>
            <a:r>
              <a:rPr sz="2400" b="1">
                <a:solidFill>
                  <a:srgbClr val="16366B"/>
                </a:solidFill>
                <a:latin typeface="Calibri"/>
              </a:rPr>
              <a:t>CAT</a:t>
            </a:r>
          </a:p>
        </p:txBody>
      </p:sp>
      <p:sp>
        <p:nvSpPr>
          <p:cNvPr id="17" name="Rounded Rectangle 16"/>
          <p:cNvSpPr/>
          <p:nvPr/>
        </p:nvSpPr>
        <p:spPr>
          <a:xfrm>
            <a:off x="2212848" y="1737360"/>
            <a:ext cx="1627632"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12848" y="2011680"/>
            <a:ext cx="1627632" cy="548640"/>
          </a:xfrm>
          <a:prstGeom prst="rect">
            <a:avLst/>
          </a:prstGeom>
          <a:noFill/>
        </p:spPr>
        <p:txBody>
          <a:bodyPr wrap="square">
            <a:spAutoFit/>
          </a:bodyPr>
          <a:lstStyle/>
          <a:p>
            <a:pPr algn="ctr"/>
            <a:r>
              <a:rPr sz="2400" b="1">
                <a:solidFill>
                  <a:srgbClr val="16366B"/>
                </a:solidFill>
                <a:latin typeface="Calibri"/>
              </a:rPr>
              <a:t>SUN</a:t>
            </a:r>
          </a:p>
        </p:txBody>
      </p:sp>
      <p:sp>
        <p:nvSpPr>
          <p:cNvPr id="19" name="Rounded Rectangle 18"/>
          <p:cNvSpPr/>
          <p:nvPr/>
        </p:nvSpPr>
        <p:spPr>
          <a:xfrm>
            <a:off x="3968496" y="1737360"/>
            <a:ext cx="1627632"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68496" y="2011680"/>
            <a:ext cx="1627632" cy="548640"/>
          </a:xfrm>
          <a:prstGeom prst="rect">
            <a:avLst/>
          </a:prstGeom>
          <a:noFill/>
        </p:spPr>
        <p:txBody>
          <a:bodyPr wrap="square">
            <a:spAutoFit/>
          </a:bodyPr>
          <a:lstStyle/>
          <a:p>
            <a:pPr algn="ctr"/>
            <a:r>
              <a:rPr sz="2400" b="1">
                <a:solidFill>
                  <a:srgbClr val="16366B"/>
                </a:solidFill>
                <a:latin typeface="Calibri"/>
              </a:rPr>
              <a:t>DOG</a:t>
            </a:r>
          </a:p>
        </p:txBody>
      </p:sp>
      <p:sp>
        <p:nvSpPr>
          <p:cNvPr id="21" name="Rounded Rectangle 20"/>
          <p:cNvSpPr/>
          <p:nvPr/>
        </p:nvSpPr>
        <p:spPr>
          <a:xfrm>
            <a:off x="5724144" y="1737360"/>
            <a:ext cx="1627632"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4144" y="2011680"/>
            <a:ext cx="1627632" cy="548640"/>
          </a:xfrm>
          <a:prstGeom prst="rect">
            <a:avLst/>
          </a:prstGeom>
          <a:noFill/>
        </p:spPr>
        <p:txBody>
          <a:bodyPr wrap="square">
            <a:spAutoFit/>
          </a:bodyPr>
          <a:lstStyle/>
          <a:p>
            <a:pPr algn="ctr"/>
            <a:r>
              <a:rPr sz="2400" b="1">
                <a:solidFill>
                  <a:srgbClr val="16366B"/>
                </a:solidFill>
                <a:latin typeface="Calibri"/>
              </a:rPr>
              <a:t>MAP</a:t>
            </a:r>
          </a:p>
        </p:txBody>
      </p:sp>
      <p:sp>
        <p:nvSpPr>
          <p:cNvPr id="23" name="Rounded Rectangle 22"/>
          <p:cNvSpPr/>
          <p:nvPr/>
        </p:nvSpPr>
        <p:spPr>
          <a:xfrm>
            <a:off x="7479792" y="1737360"/>
            <a:ext cx="1627632"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79792" y="2011680"/>
            <a:ext cx="1627632" cy="548640"/>
          </a:xfrm>
          <a:prstGeom prst="rect">
            <a:avLst/>
          </a:prstGeom>
          <a:noFill/>
        </p:spPr>
        <p:txBody>
          <a:bodyPr wrap="square">
            <a:spAutoFit/>
          </a:bodyPr>
          <a:lstStyle/>
          <a:p>
            <a:pPr algn="ctr"/>
            <a:r>
              <a:rPr sz="2400" b="1">
                <a:solidFill>
                  <a:srgbClr val="16366B"/>
                </a:solidFill>
                <a:latin typeface="Calibri"/>
              </a:rPr>
              <a:t>HAT</a:t>
            </a:r>
          </a:p>
        </p:txBody>
      </p:sp>
      <p:sp>
        <p:nvSpPr>
          <p:cNvPr id="25" name="Rounded Rectangle 24"/>
          <p:cNvSpPr/>
          <p:nvPr/>
        </p:nvSpPr>
        <p:spPr>
          <a:xfrm>
            <a:off x="457200" y="2944368"/>
            <a:ext cx="1627632"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3218688"/>
            <a:ext cx="1627632" cy="548640"/>
          </a:xfrm>
          <a:prstGeom prst="rect">
            <a:avLst/>
          </a:prstGeom>
          <a:noFill/>
        </p:spPr>
        <p:txBody>
          <a:bodyPr wrap="square">
            <a:spAutoFit/>
          </a:bodyPr>
          <a:lstStyle/>
          <a:p>
            <a:pPr algn="ctr"/>
            <a:r>
              <a:rPr sz="2400" b="1">
                <a:solidFill>
                  <a:srgbClr val="16366B"/>
                </a:solidFill>
                <a:latin typeface="Calibri"/>
              </a:rPr>
              <a:t>RUN</a:t>
            </a:r>
          </a:p>
        </p:txBody>
      </p:sp>
      <p:sp>
        <p:nvSpPr>
          <p:cNvPr id="27" name="Rounded Rectangle 26"/>
          <p:cNvSpPr/>
          <p:nvPr/>
        </p:nvSpPr>
        <p:spPr>
          <a:xfrm>
            <a:off x="2212848" y="2944368"/>
            <a:ext cx="1627632"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212848" y="3218688"/>
            <a:ext cx="1627632" cy="548640"/>
          </a:xfrm>
          <a:prstGeom prst="rect">
            <a:avLst/>
          </a:prstGeom>
          <a:noFill/>
        </p:spPr>
        <p:txBody>
          <a:bodyPr wrap="square">
            <a:spAutoFit/>
          </a:bodyPr>
          <a:lstStyle/>
          <a:p>
            <a:pPr algn="ctr"/>
            <a:r>
              <a:rPr sz="2400" b="1">
                <a:solidFill>
                  <a:srgbClr val="16366B"/>
                </a:solidFill>
                <a:latin typeface="Calibri"/>
              </a:rPr>
              <a:t>BIG</a:t>
            </a:r>
          </a:p>
        </p:txBody>
      </p:sp>
      <p:sp>
        <p:nvSpPr>
          <p:cNvPr id="29" name="Rounded Rectangle 28"/>
          <p:cNvSpPr/>
          <p:nvPr/>
        </p:nvSpPr>
        <p:spPr>
          <a:xfrm>
            <a:off x="3968496" y="2944368"/>
            <a:ext cx="1627632"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968496" y="3218688"/>
            <a:ext cx="1627632" cy="548640"/>
          </a:xfrm>
          <a:prstGeom prst="rect">
            <a:avLst/>
          </a:prstGeom>
          <a:noFill/>
        </p:spPr>
        <p:txBody>
          <a:bodyPr wrap="square">
            <a:spAutoFit/>
          </a:bodyPr>
          <a:lstStyle/>
          <a:p>
            <a:pPr algn="ctr"/>
            <a:r>
              <a:rPr sz="2400" b="1">
                <a:solidFill>
                  <a:srgbClr val="16366B"/>
                </a:solidFill>
                <a:latin typeface="Calibri"/>
              </a:rPr>
              <a:t>CAT</a:t>
            </a:r>
          </a:p>
        </p:txBody>
      </p:sp>
      <p:sp>
        <p:nvSpPr>
          <p:cNvPr id="31" name="Rounded Rectangle 30"/>
          <p:cNvSpPr/>
          <p:nvPr/>
        </p:nvSpPr>
        <p:spPr>
          <a:xfrm>
            <a:off x="5724144" y="2944368"/>
            <a:ext cx="1627632"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724144" y="3218688"/>
            <a:ext cx="1627632" cy="548640"/>
          </a:xfrm>
          <a:prstGeom prst="rect">
            <a:avLst/>
          </a:prstGeom>
          <a:noFill/>
        </p:spPr>
        <p:txBody>
          <a:bodyPr wrap="square">
            <a:spAutoFit/>
          </a:bodyPr>
          <a:lstStyle/>
          <a:p>
            <a:pPr algn="ctr"/>
            <a:r>
              <a:rPr sz="2400" b="1">
                <a:solidFill>
                  <a:srgbClr val="16366B"/>
                </a:solidFill>
                <a:latin typeface="Calibri"/>
              </a:rPr>
              <a:t>PIG</a:t>
            </a:r>
          </a:p>
        </p:txBody>
      </p:sp>
      <p:sp>
        <p:nvSpPr>
          <p:cNvPr id="33" name="Rounded Rectangle 32"/>
          <p:cNvSpPr/>
          <p:nvPr/>
        </p:nvSpPr>
        <p:spPr>
          <a:xfrm>
            <a:off x="7479792" y="2944368"/>
            <a:ext cx="1627632"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79792" y="3218688"/>
            <a:ext cx="1627632" cy="548640"/>
          </a:xfrm>
          <a:prstGeom prst="rect">
            <a:avLst/>
          </a:prstGeom>
          <a:noFill/>
        </p:spPr>
        <p:txBody>
          <a:bodyPr wrap="square">
            <a:spAutoFit/>
          </a:bodyPr>
          <a:lstStyle/>
          <a:p>
            <a:pPr algn="ctr"/>
            <a:r>
              <a:rPr sz="2400" b="1">
                <a:solidFill>
                  <a:srgbClr val="16366B"/>
                </a:solidFill>
                <a:latin typeface="Calibri"/>
              </a:rPr>
              <a:t>SUN</a:t>
            </a:r>
          </a:p>
        </p:txBody>
      </p:sp>
      <p:sp>
        <p:nvSpPr>
          <p:cNvPr id="35" name="Rounded Rectangle 34"/>
          <p:cNvSpPr/>
          <p:nvPr/>
        </p:nvSpPr>
        <p:spPr>
          <a:xfrm>
            <a:off x="457200" y="4151376"/>
            <a:ext cx="1627632"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425696"/>
            <a:ext cx="1627632" cy="548640"/>
          </a:xfrm>
          <a:prstGeom prst="rect">
            <a:avLst/>
          </a:prstGeom>
          <a:noFill/>
        </p:spPr>
        <p:txBody>
          <a:bodyPr wrap="square">
            <a:spAutoFit/>
          </a:bodyPr>
          <a:lstStyle/>
          <a:p>
            <a:pPr algn="ctr"/>
            <a:r>
              <a:rPr sz="2400" b="1">
                <a:solidFill>
                  <a:srgbClr val="16366B"/>
                </a:solidFill>
                <a:latin typeface="Calibri"/>
              </a:rPr>
              <a:t>RED</a:t>
            </a:r>
          </a:p>
        </p:txBody>
      </p:sp>
      <p:sp>
        <p:nvSpPr>
          <p:cNvPr id="37" name="Rounded Rectangle 36"/>
          <p:cNvSpPr/>
          <p:nvPr/>
        </p:nvSpPr>
        <p:spPr>
          <a:xfrm>
            <a:off x="2212848" y="4151376"/>
            <a:ext cx="1627632"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212848" y="4425696"/>
            <a:ext cx="1627632" cy="548640"/>
          </a:xfrm>
          <a:prstGeom prst="rect">
            <a:avLst/>
          </a:prstGeom>
          <a:noFill/>
        </p:spPr>
        <p:txBody>
          <a:bodyPr wrap="square">
            <a:spAutoFit/>
          </a:bodyPr>
          <a:lstStyle/>
          <a:p>
            <a:pPr algn="ctr"/>
            <a:r>
              <a:rPr sz="2400" b="1">
                <a:solidFill>
                  <a:srgbClr val="16366B"/>
                </a:solidFill>
                <a:latin typeface="Calibri"/>
              </a:rPr>
              <a:t>DOG</a:t>
            </a:r>
          </a:p>
        </p:txBody>
      </p:sp>
      <p:sp>
        <p:nvSpPr>
          <p:cNvPr id="39" name="Rounded Rectangle 38"/>
          <p:cNvSpPr/>
          <p:nvPr/>
        </p:nvSpPr>
        <p:spPr>
          <a:xfrm>
            <a:off x="3968496" y="4151376"/>
            <a:ext cx="1627632"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968496" y="4425696"/>
            <a:ext cx="1627632" cy="548640"/>
          </a:xfrm>
          <a:prstGeom prst="rect">
            <a:avLst/>
          </a:prstGeom>
          <a:noFill/>
        </p:spPr>
        <p:txBody>
          <a:bodyPr wrap="square">
            <a:spAutoFit/>
          </a:bodyPr>
          <a:lstStyle/>
          <a:p>
            <a:pPr algn="ctr"/>
            <a:r>
              <a:rPr sz="2400" b="1">
                <a:solidFill>
                  <a:srgbClr val="16366B"/>
                </a:solidFill>
                <a:latin typeface="Calibri"/>
              </a:rPr>
              <a:t>HAT</a:t>
            </a:r>
          </a:p>
        </p:txBody>
      </p:sp>
      <p:sp>
        <p:nvSpPr>
          <p:cNvPr id="41" name="Rounded Rectangle 40"/>
          <p:cNvSpPr/>
          <p:nvPr/>
        </p:nvSpPr>
        <p:spPr>
          <a:xfrm>
            <a:off x="5724144" y="4151376"/>
            <a:ext cx="1627632"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724144" y="4425696"/>
            <a:ext cx="1627632" cy="548640"/>
          </a:xfrm>
          <a:prstGeom prst="rect">
            <a:avLst/>
          </a:prstGeom>
          <a:noFill/>
        </p:spPr>
        <p:txBody>
          <a:bodyPr wrap="square">
            <a:spAutoFit/>
          </a:bodyPr>
          <a:lstStyle/>
          <a:p>
            <a:pPr algn="ctr"/>
            <a:r>
              <a:rPr sz="2400" b="1">
                <a:solidFill>
                  <a:srgbClr val="16366B"/>
                </a:solidFill>
                <a:latin typeface="Calibri"/>
              </a:rPr>
              <a:t>BIG</a:t>
            </a:r>
          </a:p>
        </p:txBody>
      </p:sp>
      <p:sp>
        <p:nvSpPr>
          <p:cNvPr id="43" name="Rounded Rectangle 42"/>
          <p:cNvSpPr/>
          <p:nvPr/>
        </p:nvSpPr>
        <p:spPr>
          <a:xfrm>
            <a:off x="7479792" y="4151376"/>
            <a:ext cx="1627632"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479792" y="4425696"/>
            <a:ext cx="1627632" cy="548640"/>
          </a:xfrm>
          <a:prstGeom prst="rect">
            <a:avLst/>
          </a:prstGeom>
          <a:noFill/>
        </p:spPr>
        <p:txBody>
          <a:bodyPr wrap="square">
            <a:spAutoFit/>
          </a:bodyPr>
          <a:lstStyle/>
          <a:p>
            <a:pPr algn="ctr"/>
            <a:r>
              <a:rPr sz="2400" b="1">
                <a:solidFill>
                  <a:srgbClr val="16366B"/>
                </a:solidFill>
                <a:latin typeface="Calibri"/>
              </a:rPr>
              <a:t>RUN</a:t>
            </a:r>
          </a:p>
        </p:txBody>
      </p:sp>
      <p:sp>
        <p:nvSpPr>
          <p:cNvPr id="45" name="Rounded Rectangle 44"/>
          <p:cNvSpPr/>
          <p:nvPr/>
        </p:nvSpPr>
        <p:spPr>
          <a:xfrm>
            <a:off x="9372600" y="1737360"/>
            <a:ext cx="2377440" cy="3465576"/>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555480" y="1901952"/>
            <a:ext cx="2011680" cy="384048"/>
          </a:xfrm>
          <a:prstGeom prst="rect">
            <a:avLst/>
          </a:prstGeom>
          <a:noFill/>
        </p:spPr>
        <p:txBody>
          <a:bodyPr wrap="square">
            <a:spAutoFit/>
          </a:bodyPr>
          <a:lstStyle/>
          <a:p>
            <a:pPr algn="l"/>
            <a:r>
              <a:rPr sz="1600" b="1">
                <a:solidFill>
                  <a:srgbClr val="16366B"/>
                </a:solidFill>
                <a:latin typeface="Calibri"/>
              </a:rPr>
              <a:t>Find these:</a:t>
            </a:r>
          </a:p>
        </p:txBody>
      </p:sp>
      <p:sp>
        <p:nvSpPr>
          <p:cNvPr id="47" name="TextBox 46"/>
          <p:cNvSpPr txBox="1"/>
          <p:nvPr/>
        </p:nvSpPr>
        <p:spPr>
          <a:xfrm>
            <a:off x="9646920" y="2377440"/>
            <a:ext cx="1920240" cy="384048"/>
          </a:xfrm>
          <a:prstGeom prst="rect">
            <a:avLst/>
          </a:prstGeom>
          <a:noFill/>
        </p:spPr>
        <p:txBody>
          <a:bodyPr wrap="square">
            <a:spAutoFit/>
          </a:bodyPr>
          <a:lstStyle/>
          <a:p>
            <a:pPr algn="l"/>
            <a:r>
              <a:rPr sz="1600" b="1">
                <a:solidFill>
                  <a:srgbClr val="242C38"/>
                </a:solidFill>
                <a:latin typeface="Calibri"/>
              </a:rPr>
              <a:t>1.  CAT</a:t>
            </a:r>
          </a:p>
        </p:txBody>
      </p:sp>
      <p:sp>
        <p:nvSpPr>
          <p:cNvPr id="48" name="TextBox 47"/>
          <p:cNvSpPr txBox="1"/>
          <p:nvPr/>
        </p:nvSpPr>
        <p:spPr>
          <a:xfrm>
            <a:off x="9646920" y="2816352"/>
            <a:ext cx="1920240" cy="384048"/>
          </a:xfrm>
          <a:prstGeom prst="rect">
            <a:avLst/>
          </a:prstGeom>
          <a:noFill/>
        </p:spPr>
        <p:txBody>
          <a:bodyPr wrap="square">
            <a:spAutoFit/>
          </a:bodyPr>
          <a:lstStyle/>
          <a:p>
            <a:pPr algn="l"/>
            <a:r>
              <a:rPr sz="1600" b="1">
                <a:solidFill>
                  <a:srgbClr val="242C38"/>
                </a:solidFill>
                <a:latin typeface="Calibri"/>
              </a:rPr>
              <a:t>2.  SUN</a:t>
            </a:r>
          </a:p>
        </p:txBody>
      </p:sp>
      <p:sp>
        <p:nvSpPr>
          <p:cNvPr id="49" name="TextBox 48"/>
          <p:cNvSpPr txBox="1"/>
          <p:nvPr/>
        </p:nvSpPr>
        <p:spPr>
          <a:xfrm>
            <a:off x="9646920" y="3255264"/>
            <a:ext cx="1920240" cy="384048"/>
          </a:xfrm>
          <a:prstGeom prst="rect">
            <a:avLst/>
          </a:prstGeom>
          <a:noFill/>
        </p:spPr>
        <p:txBody>
          <a:bodyPr wrap="square">
            <a:spAutoFit/>
          </a:bodyPr>
          <a:lstStyle/>
          <a:p>
            <a:pPr algn="l"/>
            <a:r>
              <a:rPr sz="1600" b="1">
                <a:solidFill>
                  <a:srgbClr val="242C38"/>
                </a:solidFill>
                <a:latin typeface="Calibri"/>
              </a:rPr>
              <a:t>3.  DOG</a:t>
            </a:r>
          </a:p>
        </p:txBody>
      </p:sp>
      <p:sp>
        <p:nvSpPr>
          <p:cNvPr id="50" name="TextBox 49"/>
          <p:cNvSpPr txBox="1"/>
          <p:nvPr/>
        </p:nvSpPr>
        <p:spPr>
          <a:xfrm>
            <a:off x="9646920" y="3694176"/>
            <a:ext cx="1920240" cy="384048"/>
          </a:xfrm>
          <a:prstGeom prst="rect">
            <a:avLst/>
          </a:prstGeom>
          <a:noFill/>
        </p:spPr>
        <p:txBody>
          <a:bodyPr wrap="square">
            <a:spAutoFit/>
          </a:bodyPr>
          <a:lstStyle/>
          <a:p>
            <a:pPr algn="l"/>
            <a:r>
              <a:rPr sz="1600" b="1">
                <a:solidFill>
                  <a:srgbClr val="242C38"/>
                </a:solidFill>
                <a:latin typeface="Calibri"/>
              </a:rPr>
              <a:t>4.  BIG</a:t>
            </a:r>
          </a:p>
        </p:txBody>
      </p:sp>
      <p:sp>
        <p:nvSpPr>
          <p:cNvPr id="51" name="TextBox 50"/>
          <p:cNvSpPr txBox="1"/>
          <p:nvPr/>
        </p:nvSpPr>
        <p:spPr>
          <a:xfrm>
            <a:off x="9646920" y="4133087"/>
            <a:ext cx="1920240" cy="384048"/>
          </a:xfrm>
          <a:prstGeom prst="rect">
            <a:avLst/>
          </a:prstGeom>
          <a:noFill/>
        </p:spPr>
        <p:txBody>
          <a:bodyPr wrap="square">
            <a:spAutoFit/>
          </a:bodyPr>
          <a:lstStyle/>
          <a:p>
            <a:pPr algn="l"/>
            <a:r>
              <a:rPr sz="1600" b="1">
                <a:solidFill>
                  <a:srgbClr val="242C38"/>
                </a:solidFill>
                <a:latin typeface="Calibri"/>
              </a:rPr>
              <a:t>5.  RUN</a:t>
            </a:r>
          </a:p>
        </p:txBody>
      </p:sp>
      <p:sp>
        <p:nvSpPr>
          <p:cNvPr id="52" name="TextBox 51"/>
          <p:cNvSpPr txBox="1"/>
          <p:nvPr/>
        </p:nvSpPr>
        <p:spPr>
          <a:xfrm>
            <a:off x="9646920" y="4572000"/>
            <a:ext cx="1920240" cy="384048"/>
          </a:xfrm>
          <a:prstGeom prst="rect">
            <a:avLst/>
          </a:prstGeom>
          <a:noFill/>
        </p:spPr>
        <p:txBody>
          <a:bodyPr wrap="square">
            <a:spAutoFit/>
          </a:bodyPr>
          <a:lstStyle/>
          <a:p>
            <a:pPr algn="l"/>
            <a:r>
              <a:rPr sz="1600" b="1">
                <a:solidFill>
                  <a:srgbClr val="242C38"/>
                </a:solidFill>
                <a:latin typeface="Calibri"/>
              </a:rPr>
              <a:t>6.  HAT</a:t>
            </a:r>
          </a:p>
        </p:txBody>
      </p:sp>
      <p:sp>
        <p:nvSpPr>
          <p:cNvPr id="53" name="Rounded Rectangle 52"/>
          <p:cNvSpPr/>
          <p:nvPr/>
        </p:nvSpPr>
        <p:spPr>
          <a:xfrm>
            <a:off x="9372600" y="5532120"/>
            <a:ext cx="2423160" cy="457200"/>
          </a:xfrm>
          <a:prstGeom prst="round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372600" y="5605272"/>
            <a:ext cx="2423160" cy="347472"/>
          </a:xfrm>
          <a:prstGeom prst="rect">
            <a:avLst/>
          </a:prstGeom>
          <a:noFill/>
        </p:spPr>
        <p:txBody>
          <a:bodyPr wrap="square">
            <a:spAutoFit/>
          </a:bodyPr>
          <a:lstStyle/>
          <a:p>
            <a:pPr algn="ctr"/>
            <a:r>
              <a:rPr sz="1300" b="1">
                <a:solidFill>
                  <a:srgbClr val="16366B"/>
                </a:solidFill>
                <a:latin typeface="Calibri"/>
              </a:rPr>
              <a:t>⭐ +1 Star</a:t>
            </a:r>
          </a:p>
        </p:txBody>
      </p:sp>
    </p:spTree>
  </p:cSld>
  <p:clrMapOvr>
    <a:masterClrMapping/>
  </p:clrMapOvr>
  <p:transition spd="med"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7B4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7B4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SIGHT WORDS</a:t>
            </a:r>
          </a:p>
        </p:txBody>
      </p:sp>
      <p:sp>
        <p:nvSpPr>
          <p:cNvPr id="6" name="Rounded Rectangle 5"/>
          <p:cNvSpPr/>
          <p:nvPr/>
        </p:nvSpPr>
        <p:spPr>
          <a:xfrm>
            <a:off x="9418320" y="237744"/>
            <a:ext cx="242316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a:solidFill>
                  <a:srgbClr val="FFFFFF"/>
                </a:solidFill>
                <a:latin typeface="Calibri"/>
              </a:rPr>
              <a:t>35–45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Sight Words — Look and Say</a:t>
            </a:r>
          </a:p>
        </p:txBody>
      </p:sp>
      <p:sp>
        <p:nvSpPr>
          <p:cNvPr id="9" name="Rectangle 8"/>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4180009"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Sight words  |  35–45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12 / 35</a:t>
            </a:r>
          </a:p>
        </p:txBody>
      </p:sp>
      <p:sp>
        <p:nvSpPr>
          <p:cNvPr id="14" name="TextBox 13"/>
          <p:cNvSpPr txBox="1"/>
          <p:nvPr/>
        </p:nvSpPr>
        <p:spPr>
          <a:xfrm>
            <a:off x="411480" y="1261872"/>
            <a:ext cx="10515600" cy="384048"/>
          </a:xfrm>
          <a:prstGeom prst="rect">
            <a:avLst/>
          </a:prstGeom>
          <a:noFill/>
        </p:spPr>
        <p:txBody>
          <a:bodyPr wrap="square">
            <a:spAutoFit/>
          </a:bodyPr>
          <a:lstStyle/>
          <a:p>
            <a:pPr algn="l"/>
            <a:r>
              <a:rPr sz="1600" b="1">
                <a:solidFill>
                  <a:srgbClr val="E85A4F"/>
                </a:solidFill>
                <a:latin typeface="Calibri"/>
              </a:rPr>
              <a:t>These words we do NOT sound out. We just know them by sight!</a:t>
            </a:r>
          </a:p>
        </p:txBody>
      </p:sp>
      <p:sp>
        <p:nvSpPr>
          <p:cNvPr id="15" name="Rounded Rectangle 14"/>
          <p:cNvSpPr/>
          <p:nvPr/>
        </p:nvSpPr>
        <p:spPr>
          <a:xfrm>
            <a:off x="457200" y="1737360"/>
            <a:ext cx="11292840" cy="137160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8368" y="2148840"/>
            <a:ext cx="1371600" cy="502920"/>
          </a:xfrm>
          <a:prstGeom prst="roundRect">
            <a:avLst/>
          </a:prstGeom>
          <a:solidFill>
            <a:srgbClr val="009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2231136"/>
            <a:ext cx="1371600" cy="365760"/>
          </a:xfrm>
          <a:prstGeom prst="rect">
            <a:avLst/>
          </a:prstGeom>
          <a:noFill/>
        </p:spPr>
        <p:txBody>
          <a:bodyPr wrap="square">
            <a:spAutoFit/>
          </a:bodyPr>
          <a:lstStyle/>
          <a:p>
            <a:pPr algn="ctr"/>
            <a:r>
              <a:rPr sz="1300" b="1">
                <a:solidFill>
                  <a:srgbClr val="FFFFFF"/>
                </a:solidFill>
                <a:latin typeface="Calibri"/>
              </a:rPr>
              <a:t>Round 1</a:t>
            </a:r>
          </a:p>
        </p:txBody>
      </p:sp>
      <p:sp>
        <p:nvSpPr>
          <p:cNvPr id="18" name="Rounded Rectangle 17"/>
          <p:cNvSpPr/>
          <p:nvPr/>
        </p:nvSpPr>
        <p:spPr>
          <a:xfrm>
            <a:off x="2377440" y="2011680"/>
            <a:ext cx="210312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77440" y="2148840"/>
            <a:ext cx="2103120" cy="530352"/>
          </a:xfrm>
          <a:prstGeom prst="rect">
            <a:avLst/>
          </a:prstGeom>
          <a:noFill/>
        </p:spPr>
        <p:txBody>
          <a:bodyPr wrap="square">
            <a:spAutoFit/>
          </a:bodyPr>
          <a:lstStyle/>
          <a:p>
            <a:pPr algn="ctr"/>
            <a:r>
              <a:rPr sz="3000" b="1">
                <a:solidFill>
                  <a:srgbClr val="009C8F"/>
                </a:solidFill>
                <a:latin typeface="Arial Black"/>
              </a:rPr>
              <a:t>I</a:t>
            </a:r>
          </a:p>
        </p:txBody>
      </p:sp>
      <p:sp>
        <p:nvSpPr>
          <p:cNvPr id="20" name="Rounded Rectangle 19"/>
          <p:cNvSpPr/>
          <p:nvPr/>
        </p:nvSpPr>
        <p:spPr>
          <a:xfrm>
            <a:off x="4709160" y="2011680"/>
            <a:ext cx="210312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09160" y="2148840"/>
            <a:ext cx="2103120" cy="530352"/>
          </a:xfrm>
          <a:prstGeom prst="rect">
            <a:avLst/>
          </a:prstGeom>
          <a:noFill/>
        </p:spPr>
        <p:txBody>
          <a:bodyPr wrap="square">
            <a:spAutoFit/>
          </a:bodyPr>
          <a:lstStyle/>
          <a:p>
            <a:pPr algn="ctr"/>
            <a:r>
              <a:rPr sz="3000" b="1">
                <a:solidFill>
                  <a:srgbClr val="009C8F"/>
                </a:solidFill>
                <a:latin typeface="Arial Black"/>
              </a:rPr>
              <a:t>see</a:t>
            </a:r>
          </a:p>
        </p:txBody>
      </p:sp>
      <p:sp>
        <p:nvSpPr>
          <p:cNvPr id="22" name="Rounded Rectangle 21"/>
          <p:cNvSpPr/>
          <p:nvPr/>
        </p:nvSpPr>
        <p:spPr>
          <a:xfrm>
            <a:off x="7040879" y="2011680"/>
            <a:ext cx="210312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79" y="2148840"/>
            <a:ext cx="2103120" cy="530352"/>
          </a:xfrm>
          <a:prstGeom prst="rect">
            <a:avLst/>
          </a:prstGeom>
          <a:noFill/>
        </p:spPr>
        <p:txBody>
          <a:bodyPr wrap="square">
            <a:spAutoFit/>
          </a:bodyPr>
          <a:lstStyle/>
          <a:p>
            <a:pPr algn="ctr"/>
            <a:r>
              <a:rPr sz="3000" b="1">
                <a:solidFill>
                  <a:srgbClr val="009C8F"/>
                </a:solidFill>
                <a:latin typeface="Arial Black"/>
              </a:rPr>
              <a:t>the</a:t>
            </a:r>
          </a:p>
        </p:txBody>
      </p:sp>
      <p:sp>
        <p:nvSpPr>
          <p:cNvPr id="24" name="Rounded Rectangle 23"/>
          <p:cNvSpPr/>
          <p:nvPr/>
        </p:nvSpPr>
        <p:spPr>
          <a:xfrm>
            <a:off x="457200" y="3218688"/>
            <a:ext cx="11292840" cy="1371600"/>
          </a:xfrm>
          <a:prstGeom prst="roundRect">
            <a:avLst/>
          </a:prstGeom>
          <a:solidFill>
            <a:srgbClr val="FDE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58368" y="3630168"/>
            <a:ext cx="1371600" cy="502920"/>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3712464"/>
            <a:ext cx="1371600" cy="365760"/>
          </a:xfrm>
          <a:prstGeom prst="rect">
            <a:avLst/>
          </a:prstGeom>
          <a:noFill/>
        </p:spPr>
        <p:txBody>
          <a:bodyPr wrap="square">
            <a:spAutoFit/>
          </a:bodyPr>
          <a:lstStyle/>
          <a:p>
            <a:pPr algn="ctr"/>
            <a:r>
              <a:rPr sz="1300" b="1">
                <a:solidFill>
                  <a:srgbClr val="FFFFFF"/>
                </a:solidFill>
                <a:latin typeface="Calibri"/>
              </a:rPr>
              <a:t>Round 2</a:t>
            </a:r>
          </a:p>
        </p:txBody>
      </p:sp>
      <p:sp>
        <p:nvSpPr>
          <p:cNvPr id="27" name="Rounded Rectangle 26"/>
          <p:cNvSpPr/>
          <p:nvPr/>
        </p:nvSpPr>
        <p:spPr>
          <a:xfrm>
            <a:off x="2377440" y="3493008"/>
            <a:ext cx="210312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77440" y="3630168"/>
            <a:ext cx="2103120" cy="530352"/>
          </a:xfrm>
          <a:prstGeom prst="rect">
            <a:avLst/>
          </a:prstGeom>
          <a:noFill/>
        </p:spPr>
        <p:txBody>
          <a:bodyPr wrap="square">
            <a:spAutoFit/>
          </a:bodyPr>
          <a:lstStyle/>
          <a:p>
            <a:pPr algn="ctr"/>
            <a:r>
              <a:rPr sz="3000" b="1">
                <a:solidFill>
                  <a:srgbClr val="E85A4F"/>
                </a:solidFill>
                <a:latin typeface="Arial Black"/>
              </a:rPr>
              <a:t>can</a:t>
            </a:r>
          </a:p>
        </p:txBody>
      </p:sp>
      <p:sp>
        <p:nvSpPr>
          <p:cNvPr id="29" name="Rounded Rectangle 28"/>
          <p:cNvSpPr/>
          <p:nvPr/>
        </p:nvSpPr>
        <p:spPr>
          <a:xfrm>
            <a:off x="4709160" y="3493008"/>
            <a:ext cx="210312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09160" y="3630168"/>
            <a:ext cx="2103120" cy="530352"/>
          </a:xfrm>
          <a:prstGeom prst="rect">
            <a:avLst/>
          </a:prstGeom>
          <a:noFill/>
        </p:spPr>
        <p:txBody>
          <a:bodyPr wrap="square">
            <a:spAutoFit/>
          </a:bodyPr>
          <a:lstStyle/>
          <a:p>
            <a:pPr algn="ctr"/>
            <a:r>
              <a:rPr sz="3000" b="1">
                <a:solidFill>
                  <a:srgbClr val="E85A4F"/>
                </a:solidFill>
                <a:latin typeface="Arial Black"/>
              </a:rPr>
              <a:t>my</a:t>
            </a:r>
          </a:p>
        </p:txBody>
      </p:sp>
      <p:sp>
        <p:nvSpPr>
          <p:cNvPr id="31" name="Rounded Rectangle 30"/>
          <p:cNvSpPr/>
          <p:nvPr/>
        </p:nvSpPr>
        <p:spPr>
          <a:xfrm>
            <a:off x="7040879" y="3493008"/>
            <a:ext cx="210312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40879" y="3630168"/>
            <a:ext cx="2103120" cy="530352"/>
          </a:xfrm>
          <a:prstGeom prst="rect">
            <a:avLst/>
          </a:prstGeom>
          <a:noFill/>
        </p:spPr>
        <p:txBody>
          <a:bodyPr wrap="square">
            <a:spAutoFit/>
          </a:bodyPr>
          <a:lstStyle/>
          <a:p>
            <a:pPr algn="ctr"/>
            <a:r>
              <a:rPr sz="3000" b="1">
                <a:solidFill>
                  <a:srgbClr val="E85A4F"/>
                </a:solidFill>
                <a:latin typeface="Arial Black"/>
              </a:rPr>
              <a:t>is</a:t>
            </a:r>
          </a:p>
        </p:txBody>
      </p:sp>
      <p:sp>
        <p:nvSpPr>
          <p:cNvPr id="33" name="Rounded Rectangle 32"/>
          <p:cNvSpPr/>
          <p:nvPr/>
        </p:nvSpPr>
        <p:spPr>
          <a:xfrm>
            <a:off x="457200" y="4700016"/>
            <a:ext cx="11292840" cy="137160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58368" y="5111496"/>
            <a:ext cx="1371600" cy="502920"/>
          </a:xfrm>
          <a:prstGeom prst="roundRect">
            <a:avLst/>
          </a:prstGeom>
          <a:solidFill>
            <a:srgbClr val="7B4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5193792"/>
            <a:ext cx="1371600" cy="365760"/>
          </a:xfrm>
          <a:prstGeom prst="rect">
            <a:avLst/>
          </a:prstGeom>
          <a:noFill/>
        </p:spPr>
        <p:txBody>
          <a:bodyPr wrap="square">
            <a:spAutoFit/>
          </a:bodyPr>
          <a:lstStyle/>
          <a:p>
            <a:pPr algn="ctr"/>
            <a:r>
              <a:rPr sz="1300" b="1">
                <a:solidFill>
                  <a:srgbClr val="FFFFFF"/>
                </a:solidFill>
                <a:latin typeface="Calibri"/>
              </a:rPr>
              <a:t>Round 3</a:t>
            </a:r>
          </a:p>
        </p:txBody>
      </p:sp>
      <p:sp>
        <p:nvSpPr>
          <p:cNvPr id="36" name="Rounded Rectangle 35"/>
          <p:cNvSpPr/>
          <p:nvPr/>
        </p:nvSpPr>
        <p:spPr>
          <a:xfrm>
            <a:off x="2377440" y="4974336"/>
            <a:ext cx="210312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377440" y="5111496"/>
            <a:ext cx="2103120" cy="530352"/>
          </a:xfrm>
          <a:prstGeom prst="rect">
            <a:avLst/>
          </a:prstGeom>
          <a:noFill/>
        </p:spPr>
        <p:txBody>
          <a:bodyPr wrap="square">
            <a:spAutoFit/>
          </a:bodyPr>
          <a:lstStyle/>
          <a:p>
            <a:pPr algn="ctr"/>
            <a:r>
              <a:rPr sz="3000" b="1">
                <a:solidFill>
                  <a:srgbClr val="7B4FB8"/>
                </a:solidFill>
                <a:latin typeface="Arial Black"/>
              </a:rPr>
              <a:t>we</a:t>
            </a:r>
          </a:p>
        </p:txBody>
      </p:sp>
      <p:sp>
        <p:nvSpPr>
          <p:cNvPr id="38" name="Rounded Rectangle 37"/>
          <p:cNvSpPr/>
          <p:nvPr/>
        </p:nvSpPr>
        <p:spPr>
          <a:xfrm>
            <a:off x="4709160" y="4974336"/>
            <a:ext cx="210312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09160" y="5111496"/>
            <a:ext cx="2103120" cy="530352"/>
          </a:xfrm>
          <a:prstGeom prst="rect">
            <a:avLst/>
          </a:prstGeom>
          <a:noFill/>
        </p:spPr>
        <p:txBody>
          <a:bodyPr wrap="square">
            <a:spAutoFit/>
          </a:bodyPr>
          <a:lstStyle/>
          <a:p>
            <a:pPr algn="ctr"/>
            <a:r>
              <a:rPr sz="3000" b="1">
                <a:solidFill>
                  <a:srgbClr val="7B4FB8"/>
                </a:solidFill>
                <a:latin typeface="Arial Black"/>
              </a:rPr>
              <a:t>go</a:t>
            </a:r>
          </a:p>
        </p:txBody>
      </p:sp>
      <p:sp>
        <p:nvSpPr>
          <p:cNvPr id="40" name="Rounded Rectangle 39"/>
          <p:cNvSpPr/>
          <p:nvPr/>
        </p:nvSpPr>
        <p:spPr>
          <a:xfrm>
            <a:off x="7040879" y="4974336"/>
            <a:ext cx="210312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40879" y="5111496"/>
            <a:ext cx="2103120" cy="530352"/>
          </a:xfrm>
          <a:prstGeom prst="rect">
            <a:avLst/>
          </a:prstGeom>
          <a:noFill/>
        </p:spPr>
        <p:txBody>
          <a:bodyPr wrap="square">
            <a:spAutoFit/>
          </a:bodyPr>
          <a:lstStyle/>
          <a:p>
            <a:pPr algn="ctr"/>
            <a:r>
              <a:rPr sz="3000" b="1">
                <a:solidFill>
                  <a:srgbClr val="7B4FB8"/>
                </a:solidFill>
                <a:latin typeface="Arial Black"/>
              </a:rPr>
              <a:t>and</a:t>
            </a:r>
          </a:p>
        </p:txBody>
      </p:sp>
      <p:sp>
        <p:nvSpPr>
          <p:cNvPr id="42" name="Rounded Rectangle 41"/>
          <p:cNvSpPr/>
          <p:nvPr/>
        </p:nvSpPr>
        <p:spPr>
          <a:xfrm>
            <a:off x="9372600" y="4974336"/>
            <a:ext cx="2103120" cy="804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372600" y="5111496"/>
            <a:ext cx="2103120" cy="530352"/>
          </a:xfrm>
          <a:prstGeom prst="rect">
            <a:avLst/>
          </a:prstGeom>
          <a:noFill/>
        </p:spPr>
        <p:txBody>
          <a:bodyPr wrap="square">
            <a:spAutoFit/>
          </a:bodyPr>
          <a:lstStyle/>
          <a:p>
            <a:pPr algn="ctr"/>
            <a:r>
              <a:rPr sz="3000" b="1">
                <a:solidFill>
                  <a:srgbClr val="7B4FB8"/>
                </a:solidFill>
                <a:latin typeface="Arial Black"/>
              </a:rPr>
              <a:t>you</a:t>
            </a:r>
          </a:p>
        </p:txBody>
      </p:sp>
    </p:spTree>
  </p:cSld>
  <p:clrMapOvr>
    <a:masterClrMapping/>
  </p:clrMapOvr>
  <p:transition spd="med"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09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009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GAME</a:t>
            </a:r>
          </a:p>
        </p:txBody>
      </p:sp>
      <p:sp>
        <p:nvSpPr>
          <p:cNvPr id="6" name="Rounded Rectangle 5"/>
          <p:cNvSpPr/>
          <p:nvPr/>
        </p:nvSpPr>
        <p:spPr>
          <a:xfrm>
            <a:off x="9418320" y="237744"/>
            <a:ext cx="242316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a:solidFill>
                  <a:srgbClr val="FFFFFF"/>
                </a:solidFill>
                <a:latin typeface="Calibri"/>
              </a:rPr>
              <a:t>35–45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Game: Word Detective</a:t>
            </a:r>
          </a:p>
        </p:txBody>
      </p:sp>
      <p:sp>
        <p:nvSpPr>
          <p:cNvPr id="9" name="Rectangle 8"/>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4528343"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Word detective  |  35–45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13 / 35</a:t>
            </a:r>
          </a:p>
        </p:txBody>
      </p:sp>
      <p:sp>
        <p:nvSpPr>
          <p:cNvPr id="14" name="TextBox 13"/>
          <p:cNvSpPr txBox="1"/>
          <p:nvPr/>
        </p:nvSpPr>
        <p:spPr>
          <a:xfrm>
            <a:off x="411480" y="1261872"/>
            <a:ext cx="10515600" cy="384048"/>
          </a:xfrm>
          <a:prstGeom prst="rect">
            <a:avLst/>
          </a:prstGeom>
          <a:noFill/>
        </p:spPr>
        <p:txBody>
          <a:bodyPr wrap="square">
            <a:spAutoFit/>
          </a:bodyPr>
          <a:lstStyle/>
          <a:p>
            <a:pPr algn="l"/>
            <a:r>
              <a:rPr sz="1600" b="1">
                <a:solidFill>
                  <a:srgbClr val="E85A4F"/>
                </a:solidFill>
                <a:latin typeface="Calibri"/>
              </a:rPr>
              <a:t>Careful — the other words look almost the same!</a:t>
            </a:r>
          </a:p>
        </p:txBody>
      </p:sp>
      <p:sp>
        <p:nvSpPr>
          <p:cNvPr id="15" name="Rounded Rectangle 14"/>
          <p:cNvSpPr/>
          <p:nvPr/>
        </p:nvSpPr>
        <p:spPr>
          <a:xfrm>
            <a:off x="457200" y="1737360"/>
            <a:ext cx="11292840" cy="1042415"/>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58368" y="2011680"/>
            <a:ext cx="502920" cy="502920"/>
          </a:xfrm>
          <a:prstGeom prst="ellipse">
            <a:avLst/>
          </a:prstGeom>
          <a:solidFill>
            <a:srgbClr val="009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2075688"/>
            <a:ext cx="502920" cy="384048"/>
          </a:xfrm>
          <a:prstGeom prst="rect">
            <a:avLst/>
          </a:prstGeom>
          <a:noFill/>
        </p:spPr>
        <p:txBody>
          <a:bodyPr wrap="square">
            <a:spAutoFit/>
          </a:bodyPr>
          <a:lstStyle/>
          <a:p>
            <a:pPr algn="ctr"/>
            <a:r>
              <a:rPr sz="1500" b="1">
                <a:solidFill>
                  <a:srgbClr val="FFFFFF"/>
                </a:solidFill>
                <a:latin typeface="Calibri"/>
              </a:rPr>
              <a:t>1</a:t>
            </a:r>
          </a:p>
        </p:txBody>
      </p:sp>
      <p:sp>
        <p:nvSpPr>
          <p:cNvPr id="18" name="TextBox 17"/>
          <p:cNvSpPr txBox="1"/>
          <p:nvPr/>
        </p:nvSpPr>
        <p:spPr>
          <a:xfrm>
            <a:off x="1371600" y="2039112"/>
            <a:ext cx="2286000" cy="457200"/>
          </a:xfrm>
          <a:prstGeom prst="rect">
            <a:avLst/>
          </a:prstGeom>
          <a:noFill/>
        </p:spPr>
        <p:txBody>
          <a:bodyPr wrap="square">
            <a:spAutoFit/>
          </a:bodyPr>
          <a:lstStyle/>
          <a:p>
            <a:pPr algn="l"/>
            <a:r>
              <a:rPr sz="1900" b="1">
                <a:solidFill>
                  <a:srgbClr val="009C8F"/>
                </a:solidFill>
                <a:latin typeface="Calibri"/>
              </a:rPr>
              <a:t>Find  THE</a:t>
            </a:r>
          </a:p>
        </p:txBody>
      </p:sp>
      <p:sp>
        <p:nvSpPr>
          <p:cNvPr id="19" name="Rounded Rectangle 18"/>
          <p:cNvSpPr/>
          <p:nvPr/>
        </p:nvSpPr>
        <p:spPr>
          <a:xfrm>
            <a:off x="3931920" y="1938528"/>
            <a:ext cx="1783080" cy="64008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31920" y="2029968"/>
            <a:ext cx="1783080" cy="457200"/>
          </a:xfrm>
          <a:prstGeom prst="rect">
            <a:avLst/>
          </a:prstGeom>
          <a:noFill/>
        </p:spPr>
        <p:txBody>
          <a:bodyPr wrap="square">
            <a:spAutoFit/>
          </a:bodyPr>
          <a:lstStyle/>
          <a:p>
            <a:pPr algn="ctr"/>
            <a:r>
              <a:rPr sz="2100" b="1">
                <a:solidFill>
                  <a:srgbClr val="16366B"/>
                </a:solidFill>
                <a:latin typeface="Calibri"/>
              </a:rPr>
              <a:t>and</a:t>
            </a:r>
          </a:p>
        </p:txBody>
      </p:sp>
      <p:sp>
        <p:nvSpPr>
          <p:cNvPr id="21" name="Rounded Rectangle 20"/>
          <p:cNvSpPr/>
          <p:nvPr/>
        </p:nvSpPr>
        <p:spPr>
          <a:xfrm>
            <a:off x="5897879" y="1938528"/>
            <a:ext cx="1783080" cy="64008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97879" y="2029968"/>
            <a:ext cx="1783080" cy="457200"/>
          </a:xfrm>
          <a:prstGeom prst="rect">
            <a:avLst/>
          </a:prstGeom>
          <a:noFill/>
        </p:spPr>
        <p:txBody>
          <a:bodyPr wrap="square">
            <a:spAutoFit/>
          </a:bodyPr>
          <a:lstStyle/>
          <a:p>
            <a:pPr algn="ctr"/>
            <a:r>
              <a:rPr sz="2100" b="1">
                <a:solidFill>
                  <a:srgbClr val="16366B"/>
                </a:solidFill>
                <a:latin typeface="Calibri"/>
              </a:rPr>
              <a:t>the</a:t>
            </a:r>
          </a:p>
        </p:txBody>
      </p:sp>
      <p:sp>
        <p:nvSpPr>
          <p:cNvPr id="23" name="Rounded Rectangle 22"/>
          <p:cNvSpPr/>
          <p:nvPr/>
        </p:nvSpPr>
        <p:spPr>
          <a:xfrm>
            <a:off x="7863840" y="1938528"/>
            <a:ext cx="1783080" cy="64008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0" y="2029968"/>
            <a:ext cx="1783080" cy="457200"/>
          </a:xfrm>
          <a:prstGeom prst="rect">
            <a:avLst/>
          </a:prstGeom>
          <a:noFill/>
        </p:spPr>
        <p:txBody>
          <a:bodyPr wrap="square">
            <a:spAutoFit/>
          </a:bodyPr>
          <a:lstStyle/>
          <a:p>
            <a:pPr algn="ctr"/>
            <a:r>
              <a:rPr sz="2100" b="1">
                <a:solidFill>
                  <a:srgbClr val="16366B"/>
                </a:solidFill>
                <a:latin typeface="Calibri"/>
              </a:rPr>
              <a:t>you</a:t>
            </a:r>
          </a:p>
        </p:txBody>
      </p:sp>
      <p:sp>
        <p:nvSpPr>
          <p:cNvPr id="25" name="Rounded Rectangle 24"/>
          <p:cNvSpPr/>
          <p:nvPr/>
        </p:nvSpPr>
        <p:spPr>
          <a:xfrm>
            <a:off x="9829800" y="1938528"/>
            <a:ext cx="1783080" cy="64008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29800" y="2029968"/>
            <a:ext cx="1783080" cy="457200"/>
          </a:xfrm>
          <a:prstGeom prst="rect">
            <a:avLst/>
          </a:prstGeom>
          <a:noFill/>
        </p:spPr>
        <p:txBody>
          <a:bodyPr wrap="square">
            <a:spAutoFit/>
          </a:bodyPr>
          <a:lstStyle/>
          <a:p>
            <a:pPr algn="ctr"/>
            <a:r>
              <a:rPr sz="2100" b="1">
                <a:solidFill>
                  <a:srgbClr val="16366B"/>
                </a:solidFill>
                <a:latin typeface="Calibri"/>
              </a:rPr>
              <a:t>see</a:t>
            </a:r>
          </a:p>
        </p:txBody>
      </p:sp>
      <p:sp>
        <p:nvSpPr>
          <p:cNvPr id="27" name="Rounded Rectangle 26"/>
          <p:cNvSpPr/>
          <p:nvPr/>
        </p:nvSpPr>
        <p:spPr>
          <a:xfrm>
            <a:off x="457200" y="2926080"/>
            <a:ext cx="11292840" cy="1042415"/>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58368" y="3200400"/>
            <a:ext cx="502920" cy="502920"/>
          </a:xfrm>
          <a:prstGeom prst="ellipse">
            <a:avLst/>
          </a:prstGeom>
          <a:solidFill>
            <a:srgbClr val="009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3264408"/>
            <a:ext cx="502920" cy="384048"/>
          </a:xfrm>
          <a:prstGeom prst="rect">
            <a:avLst/>
          </a:prstGeom>
          <a:noFill/>
        </p:spPr>
        <p:txBody>
          <a:bodyPr wrap="square">
            <a:spAutoFit/>
          </a:bodyPr>
          <a:lstStyle/>
          <a:p>
            <a:pPr algn="ctr"/>
            <a:r>
              <a:rPr sz="1500" b="1">
                <a:solidFill>
                  <a:srgbClr val="FFFFFF"/>
                </a:solidFill>
                <a:latin typeface="Calibri"/>
              </a:rPr>
              <a:t>2</a:t>
            </a:r>
          </a:p>
        </p:txBody>
      </p:sp>
      <p:sp>
        <p:nvSpPr>
          <p:cNvPr id="30" name="TextBox 29"/>
          <p:cNvSpPr txBox="1"/>
          <p:nvPr/>
        </p:nvSpPr>
        <p:spPr>
          <a:xfrm>
            <a:off x="1371600" y="3227832"/>
            <a:ext cx="2286000" cy="457200"/>
          </a:xfrm>
          <a:prstGeom prst="rect">
            <a:avLst/>
          </a:prstGeom>
          <a:noFill/>
        </p:spPr>
        <p:txBody>
          <a:bodyPr wrap="square">
            <a:spAutoFit/>
          </a:bodyPr>
          <a:lstStyle/>
          <a:p>
            <a:pPr algn="l"/>
            <a:r>
              <a:rPr sz="1900" b="1">
                <a:solidFill>
                  <a:srgbClr val="009C8F"/>
                </a:solidFill>
                <a:latin typeface="Calibri"/>
              </a:rPr>
              <a:t>Find  CAN</a:t>
            </a:r>
          </a:p>
        </p:txBody>
      </p:sp>
      <p:sp>
        <p:nvSpPr>
          <p:cNvPr id="31" name="Rounded Rectangle 30"/>
          <p:cNvSpPr/>
          <p:nvPr/>
        </p:nvSpPr>
        <p:spPr>
          <a:xfrm>
            <a:off x="3931920" y="3127248"/>
            <a:ext cx="1783080" cy="64008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31920" y="3218688"/>
            <a:ext cx="1783080" cy="457200"/>
          </a:xfrm>
          <a:prstGeom prst="rect">
            <a:avLst/>
          </a:prstGeom>
          <a:noFill/>
        </p:spPr>
        <p:txBody>
          <a:bodyPr wrap="square">
            <a:spAutoFit/>
          </a:bodyPr>
          <a:lstStyle/>
          <a:p>
            <a:pPr algn="ctr"/>
            <a:r>
              <a:rPr sz="2100" b="1">
                <a:solidFill>
                  <a:srgbClr val="16366B"/>
                </a:solidFill>
                <a:latin typeface="Calibri"/>
              </a:rPr>
              <a:t>can</a:t>
            </a:r>
          </a:p>
        </p:txBody>
      </p:sp>
      <p:sp>
        <p:nvSpPr>
          <p:cNvPr id="33" name="Rounded Rectangle 32"/>
          <p:cNvSpPr/>
          <p:nvPr/>
        </p:nvSpPr>
        <p:spPr>
          <a:xfrm>
            <a:off x="5897879" y="3127248"/>
            <a:ext cx="1783080" cy="64008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97879" y="3218688"/>
            <a:ext cx="1783080" cy="457200"/>
          </a:xfrm>
          <a:prstGeom prst="rect">
            <a:avLst/>
          </a:prstGeom>
          <a:noFill/>
        </p:spPr>
        <p:txBody>
          <a:bodyPr wrap="square">
            <a:spAutoFit/>
          </a:bodyPr>
          <a:lstStyle/>
          <a:p>
            <a:pPr algn="ctr"/>
            <a:r>
              <a:rPr sz="2100" b="1">
                <a:solidFill>
                  <a:srgbClr val="16366B"/>
                </a:solidFill>
                <a:latin typeface="Calibri"/>
              </a:rPr>
              <a:t>cat</a:t>
            </a:r>
          </a:p>
        </p:txBody>
      </p:sp>
      <p:sp>
        <p:nvSpPr>
          <p:cNvPr id="35" name="Rounded Rectangle 34"/>
          <p:cNvSpPr/>
          <p:nvPr/>
        </p:nvSpPr>
        <p:spPr>
          <a:xfrm>
            <a:off x="7863840" y="3127248"/>
            <a:ext cx="1783080" cy="64008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0" y="3218688"/>
            <a:ext cx="1783080" cy="457200"/>
          </a:xfrm>
          <a:prstGeom prst="rect">
            <a:avLst/>
          </a:prstGeom>
          <a:noFill/>
        </p:spPr>
        <p:txBody>
          <a:bodyPr wrap="square">
            <a:spAutoFit/>
          </a:bodyPr>
          <a:lstStyle/>
          <a:p>
            <a:pPr algn="ctr"/>
            <a:r>
              <a:rPr sz="2100" b="1">
                <a:solidFill>
                  <a:srgbClr val="16366B"/>
                </a:solidFill>
                <a:latin typeface="Calibri"/>
              </a:rPr>
              <a:t>car</a:t>
            </a:r>
          </a:p>
        </p:txBody>
      </p:sp>
      <p:sp>
        <p:nvSpPr>
          <p:cNvPr id="37" name="Rounded Rectangle 36"/>
          <p:cNvSpPr/>
          <p:nvPr/>
        </p:nvSpPr>
        <p:spPr>
          <a:xfrm>
            <a:off x="9829800" y="3127248"/>
            <a:ext cx="1783080" cy="64008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29800" y="3218688"/>
            <a:ext cx="1783080" cy="457200"/>
          </a:xfrm>
          <a:prstGeom prst="rect">
            <a:avLst/>
          </a:prstGeom>
          <a:noFill/>
        </p:spPr>
        <p:txBody>
          <a:bodyPr wrap="square">
            <a:spAutoFit/>
          </a:bodyPr>
          <a:lstStyle/>
          <a:p>
            <a:pPr algn="ctr"/>
            <a:r>
              <a:rPr sz="2100" b="1">
                <a:solidFill>
                  <a:srgbClr val="16366B"/>
                </a:solidFill>
                <a:latin typeface="Calibri"/>
              </a:rPr>
              <a:t>cap</a:t>
            </a:r>
          </a:p>
        </p:txBody>
      </p:sp>
      <p:sp>
        <p:nvSpPr>
          <p:cNvPr id="39" name="Rounded Rectangle 38"/>
          <p:cNvSpPr/>
          <p:nvPr/>
        </p:nvSpPr>
        <p:spPr>
          <a:xfrm>
            <a:off x="457200" y="4114800"/>
            <a:ext cx="11292840" cy="1042415"/>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58368" y="4389120"/>
            <a:ext cx="502920" cy="502920"/>
          </a:xfrm>
          <a:prstGeom prst="ellipse">
            <a:avLst/>
          </a:prstGeom>
          <a:solidFill>
            <a:srgbClr val="009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 y="4453128"/>
            <a:ext cx="502920" cy="384048"/>
          </a:xfrm>
          <a:prstGeom prst="rect">
            <a:avLst/>
          </a:prstGeom>
          <a:noFill/>
        </p:spPr>
        <p:txBody>
          <a:bodyPr wrap="square">
            <a:spAutoFit/>
          </a:bodyPr>
          <a:lstStyle/>
          <a:p>
            <a:pPr algn="ctr"/>
            <a:r>
              <a:rPr sz="1500" b="1">
                <a:solidFill>
                  <a:srgbClr val="FFFFFF"/>
                </a:solidFill>
                <a:latin typeface="Calibri"/>
              </a:rPr>
              <a:t>3</a:t>
            </a:r>
          </a:p>
        </p:txBody>
      </p:sp>
      <p:sp>
        <p:nvSpPr>
          <p:cNvPr id="42" name="TextBox 41"/>
          <p:cNvSpPr txBox="1"/>
          <p:nvPr/>
        </p:nvSpPr>
        <p:spPr>
          <a:xfrm>
            <a:off x="1371600" y="4416552"/>
            <a:ext cx="2286000" cy="457200"/>
          </a:xfrm>
          <a:prstGeom prst="rect">
            <a:avLst/>
          </a:prstGeom>
          <a:noFill/>
        </p:spPr>
        <p:txBody>
          <a:bodyPr wrap="square">
            <a:spAutoFit/>
          </a:bodyPr>
          <a:lstStyle/>
          <a:p>
            <a:pPr algn="l"/>
            <a:r>
              <a:rPr sz="1900" b="1">
                <a:solidFill>
                  <a:srgbClr val="009C8F"/>
                </a:solidFill>
                <a:latin typeface="Calibri"/>
              </a:rPr>
              <a:t>Find  MY</a:t>
            </a:r>
          </a:p>
        </p:txBody>
      </p:sp>
      <p:sp>
        <p:nvSpPr>
          <p:cNvPr id="43" name="Rounded Rectangle 42"/>
          <p:cNvSpPr/>
          <p:nvPr/>
        </p:nvSpPr>
        <p:spPr>
          <a:xfrm>
            <a:off x="3931920" y="4315968"/>
            <a:ext cx="1783080" cy="64008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31920" y="4407408"/>
            <a:ext cx="1783080" cy="457200"/>
          </a:xfrm>
          <a:prstGeom prst="rect">
            <a:avLst/>
          </a:prstGeom>
          <a:noFill/>
        </p:spPr>
        <p:txBody>
          <a:bodyPr wrap="square">
            <a:spAutoFit/>
          </a:bodyPr>
          <a:lstStyle/>
          <a:p>
            <a:pPr algn="ctr"/>
            <a:r>
              <a:rPr sz="2100" b="1">
                <a:solidFill>
                  <a:srgbClr val="16366B"/>
                </a:solidFill>
                <a:latin typeface="Calibri"/>
              </a:rPr>
              <a:t>me</a:t>
            </a:r>
          </a:p>
        </p:txBody>
      </p:sp>
      <p:sp>
        <p:nvSpPr>
          <p:cNvPr id="45" name="Rounded Rectangle 44"/>
          <p:cNvSpPr/>
          <p:nvPr/>
        </p:nvSpPr>
        <p:spPr>
          <a:xfrm>
            <a:off x="5897879" y="4315968"/>
            <a:ext cx="1783080" cy="64008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897879" y="4407408"/>
            <a:ext cx="1783080" cy="457200"/>
          </a:xfrm>
          <a:prstGeom prst="rect">
            <a:avLst/>
          </a:prstGeom>
          <a:noFill/>
        </p:spPr>
        <p:txBody>
          <a:bodyPr wrap="square">
            <a:spAutoFit/>
          </a:bodyPr>
          <a:lstStyle/>
          <a:p>
            <a:pPr algn="ctr"/>
            <a:r>
              <a:rPr sz="2100" b="1">
                <a:solidFill>
                  <a:srgbClr val="16366B"/>
                </a:solidFill>
                <a:latin typeface="Calibri"/>
              </a:rPr>
              <a:t>my</a:t>
            </a:r>
          </a:p>
        </p:txBody>
      </p:sp>
      <p:sp>
        <p:nvSpPr>
          <p:cNvPr id="47" name="Rounded Rectangle 46"/>
          <p:cNvSpPr/>
          <p:nvPr/>
        </p:nvSpPr>
        <p:spPr>
          <a:xfrm>
            <a:off x="7863840" y="4315968"/>
            <a:ext cx="1783080" cy="64008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863840" y="4407408"/>
            <a:ext cx="1783080" cy="457200"/>
          </a:xfrm>
          <a:prstGeom prst="rect">
            <a:avLst/>
          </a:prstGeom>
          <a:noFill/>
        </p:spPr>
        <p:txBody>
          <a:bodyPr wrap="square">
            <a:spAutoFit/>
          </a:bodyPr>
          <a:lstStyle/>
          <a:p>
            <a:pPr algn="ctr"/>
            <a:r>
              <a:rPr sz="2100" b="1">
                <a:solidFill>
                  <a:srgbClr val="16366B"/>
                </a:solidFill>
                <a:latin typeface="Calibri"/>
              </a:rPr>
              <a:t>may</a:t>
            </a:r>
          </a:p>
        </p:txBody>
      </p:sp>
      <p:sp>
        <p:nvSpPr>
          <p:cNvPr id="49" name="Rounded Rectangle 48"/>
          <p:cNvSpPr/>
          <p:nvPr/>
        </p:nvSpPr>
        <p:spPr>
          <a:xfrm>
            <a:off x="9829800" y="4315968"/>
            <a:ext cx="1783080" cy="64008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829800" y="4407408"/>
            <a:ext cx="1783080" cy="457200"/>
          </a:xfrm>
          <a:prstGeom prst="rect">
            <a:avLst/>
          </a:prstGeom>
          <a:noFill/>
        </p:spPr>
        <p:txBody>
          <a:bodyPr wrap="square">
            <a:spAutoFit/>
          </a:bodyPr>
          <a:lstStyle/>
          <a:p>
            <a:pPr algn="ctr"/>
            <a:r>
              <a:rPr sz="2100" b="1">
                <a:solidFill>
                  <a:srgbClr val="16366B"/>
                </a:solidFill>
                <a:latin typeface="Calibri"/>
              </a:rPr>
              <a:t>man</a:t>
            </a:r>
          </a:p>
        </p:txBody>
      </p:sp>
      <p:sp>
        <p:nvSpPr>
          <p:cNvPr id="51" name="Rounded Rectangle 50"/>
          <p:cNvSpPr/>
          <p:nvPr/>
        </p:nvSpPr>
        <p:spPr>
          <a:xfrm>
            <a:off x="457200" y="5303520"/>
            <a:ext cx="11292840" cy="1042415"/>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658368" y="5577840"/>
            <a:ext cx="502920" cy="502920"/>
          </a:xfrm>
          <a:prstGeom prst="ellipse">
            <a:avLst/>
          </a:prstGeom>
          <a:solidFill>
            <a:srgbClr val="009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58368" y="5641848"/>
            <a:ext cx="502920" cy="384048"/>
          </a:xfrm>
          <a:prstGeom prst="rect">
            <a:avLst/>
          </a:prstGeom>
          <a:noFill/>
        </p:spPr>
        <p:txBody>
          <a:bodyPr wrap="square">
            <a:spAutoFit/>
          </a:bodyPr>
          <a:lstStyle/>
          <a:p>
            <a:pPr algn="ctr"/>
            <a:r>
              <a:rPr sz="1500" b="1">
                <a:solidFill>
                  <a:srgbClr val="FFFFFF"/>
                </a:solidFill>
                <a:latin typeface="Calibri"/>
              </a:rPr>
              <a:t>4</a:t>
            </a:r>
          </a:p>
        </p:txBody>
      </p:sp>
      <p:sp>
        <p:nvSpPr>
          <p:cNvPr id="54" name="TextBox 53"/>
          <p:cNvSpPr txBox="1"/>
          <p:nvPr/>
        </p:nvSpPr>
        <p:spPr>
          <a:xfrm>
            <a:off x="1371600" y="5605272"/>
            <a:ext cx="2286000" cy="457200"/>
          </a:xfrm>
          <a:prstGeom prst="rect">
            <a:avLst/>
          </a:prstGeom>
          <a:noFill/>
        </p:spPr>
        <p:txBody>
          <a:bodyPr wrap="square">
            <a:spAutoFit/>
          </a:bodyPr>
          <a:lstStyle/>
          <a:p>
            <a:pPr algn="l"/>
            <a:r>
              <a:rPr sz="1900" b="1">
                <a:solidFill>
                  <a:srgbClr val="009C8F"/>
                </a:solidFill>
                <a:latin typeface="Calibri"/>
              </a:rPr>
              <a:t>Find  SEE</a:t>
            </a:r>
          </a:p>
        </p:txBody>
      </p:sp>
      <p:sp>
        <p:nvSpPr>
          <p:cNvPr id="55" name="Rounded Rectangle 54"/>
          <p:cNvSpPr/>
          <p:nvPr/>
        </p:nvSpPr>
        <p:spPr>
          <a:xfrm>
            <a:off x="3931920" y="5504688"/>
            <a:ext cx="1783080" cy="64008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931920" y="5596128"/>
            <a:ext cx="1783080" cy="457200"/>
          </a:xfrm>
          <a:prstGeom prst="rect">
            <a:avLst/>
          </a:prstGeom>
          <a:noFill/>
        </p:spPr>
        <p:txBody>
          <a:bodyPr wrap="square">
            <a:spAutoFit/>
          </a:bodyPr>
          <a:lstStyle/>
          <a:p>
            <a:pPr algn="ctr"/>
            <a:r>
              <a:rPr sz="2100" b="1">
                <a:solidFill>
                  <a:srgbClr val="16366B"/>
                </a:solidFill>
                <a:latin typeface="Calibri"/>
              </a:rPr>
              <a:t>saw</a:t>
            </a:r>
          </a:p>
        </p:txBody>
      </p:sp>
      <p:sp>
        <p:nvSpPr>
          <p:cNvPr id="57" name="Rounded Rectangle 56"/>
          <p:cNvSpPr/>
          <p:nvPr/>
        </p:nvSpPr>
        <p:spPr>
          <a:xfrm>
            <a:off x="5897879" y="5504688"/>
            <a:ext cx="1783080" cy="64008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897879" y="5596128"/>
            <a:ext cx="1783080" cy="457200"/>
          </a:xfrm>
          <a:prstGeom prst="rect">
            <a:avLst/>
          </a:prstGeom>
          <a:noFill/>
        </p:spPr>
        <p:txBody>
          <a:bodyPr wrap="square">
            <a:spAutoFit/>
          </a:bodyPr>
          <a:lstStyle/>
          <a:p>
            <a:pPr algn="ctr"/>
            <a:r>
              <a:rPr sz="2100" b="1">
                <a:solidFill>
                  <a:srgbClr val="16366B"/>
                </a:solidFill>
                <a:latin typeface="Calibri"/>
              </a:rPr>
              <a:t>sea</a:t>
            </a:r>
          </a:p>
        </p:txBody>
      </p:sp>
      <p:sp>
        <p:nvSpPr>
          <p:cNvPr id="59" name="Rounded Rectangle 58"/>
          <p:cNvSpPr/>
          <p:nvPr/>
        </p:nvSpPr>
        <p:spPr>
          <a:xfrm>
            <a:off x="7863840" y="5504688"/>
            <a:ext cx="1783080" cy="64008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863840" y="5596128"/>
            <a:ext cx="1783080" cy="457200"/>
          </a:xfrm>
          <a:prstGeom prst="rect">
            <a:avLst/>
          </a:prstGeom>
          <a:noFill/>
        </p:spPr>
        <p:txBody>
          <a:bodyPr wrap="square">
            <a:spAutoFit/>
          </a:bodyPr>
          <a:lstStyle/>
          <a:p>
            <a:pPr algn="ctr"/>
            <a:r>
              <a:rPr sz="2100" b="1">
                <a:solidFill>
                  <a:srgbClr val="16366B"/>
                </a:solidFill>
                <a:latin typeface="Calibri"/>
              </a:rPr>
              <a:t>see</a:t>
            </a:r>
          </a:p>
        </p:txBody>
      </p:sp>
      <p:sp>
        <p:nvSpPr>
          <p:cNvPr id="61" name="Rounded Rectangle 60"/>
          <p:cNvSpPr/>
          <p:nvPr/>
        </p:nvSpPr>
        <p:spPr>
          <a:xfrm>
            <a:off x="9829800" y="5504688"/>
            <a:ext cx="1783080" cy="64008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829800" y="5596128"/>
            <a:ext cx="1783080" cy="457200"/>
          </a:xfrm>
          <a:prstGeom prst="rect">
            <a:avLst/>
          </a:prstGeom>
          <a:noFill/>
        </p:spPr>
        <p:txBody>
          <a:bodyPr wrap="square">
            <a:spAutoFit/>
          </a:bodyPr>
          <a:lstStyle/>
          <a:p>
            <a:pPr algn="ctr"/>
            <a:r>
              <a:rPr sz="2100" b="1">
                <a:solidFill>
                  <a:srgbClr val="16366B"/>
                </a:solidFill>
                <a:latin typeface="Calibri"/>
              </a:rPr>
              <a:t>so</a:t>
            </a:r>
          </a:p>
        </p:txBody>
      </p:sp>
    </p:spTree>
  </p:cSld>
  <p:clrMapOvr>
    <a:masterClrMapping/>
  </p:clrMapOvr>
  <p:transition spd="med"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GAME</a:t>
            </a:r>
          </a:p>
        </p:txBody>
      </p:sp>
      <p:sp>
        <p:nvSpPr>
          <p:cNvPr id="6" name="Rounded Rectangle 5"/>
          <p:cNvSpPr/>
          <p:nvPr/>
        </p:nvSpPr>
        <p:spPr>
          <a:xfrm>
            <a:off x="9418320" y="237744"/>
            <a:ext cx="242316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a:solidFill>
                  <a:srgbClr val="FFFFFF"/>
                </a:solidFill>
                <a:latin typeface="Calibri"/>
              </a:rPr>
              <a:t>35–45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Game: Memory Match</a:t>
            </a:r>
          </a:p>
        </p:txBody>
      </p:sp>
      <p:sp>
        <p:nvSpPr>
          <p:cNvPr id="9" name="Rectangle 8"/>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4876678"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Memory match  |  35–45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14 / 35</a:t>
            </a:r>
          </a:p>
        </p:txBody>
      </p:sp>
      <p:sp>
        <p:nvSpPr>
          <p:cNvPr id="14" name="TextBox 13"/>
          <p:cNvSpPr txBox="1"/>
          <p:nvPr/>
        </p:nvSpPr>
        <p:spPr>
          <a:xfrm>
            <a:off x="411480" y="1261872"/>
            <a:ext cx="10515600" cy="384048"/>
          </a:xfrm>
          <a:prstGeom prst="rect">
            <a:avLst/>
          </a:prstGeom>
          <a:noFill/>
        </p:spPr>
        <p:txBody>
          <a:bodyPr wrap="square">
            <a:spAutoFit/>
          </a:bodyPr>
          <a:lstStyle/>
          <a:p>
            <a:pPr algn="l"/>
            <a:r>
              <a:rPr sz="1600" b="1">
                <a:solidFill>
                  <a:srgbClr val="E85A4F"/>
                </a:solidFill>
                <a:latin typeface="Calibri"/>
              </a:rPr>
              <a:t>Match each picture to its word. Say the word out loud!</a:t>
            </a:r>
          </a:p>
        </p:txBody>
      </p:sp>
      <p:sp>
        <p:nvSpPr>
          <p:cNvPr id="15" name="Rounded Rectangle 14"/>
          <p:cNvSpPr/>
          <p:nvPr/>
        </p:nvSpPr>
        <p:spPr>
          <a:xfrm>
            <a:off x="685800" y="1783080"/>
            <a:ext cx="2560320" cy="1783080"/>
          </a:xfrm>
          <a:prstGeom prst="roundRect">
            <a:avLst/>
          </a:prstGeom>
          <a:solidFill>
            <a:srgbClr val="FDE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103120"/>
            <a:ext cx="2560320" cy="1005840"/>
          </a:xfrm>
          <a:prstGeom prst="rect">
            <a:avLst/>
          </a:prstGeom>
          <a:noFill/>
        </p:spPr>
        <p:txBody>
          <a:bodyPr wrap="square">
            <a:spAutoFit/>
          </a:bodyPr>
          <a:lstStyle/>
          <a:p>
            <a:pPr algn="ctr"/>
            <a:r>
              <a:rPr sz="4400" b="0">
                <a:solidFill>
                  <a:srgbClr val="242C38"/>
                </a:solidFill>
                <a:latin typeface="Calibri"/>
              </a:rPr>
              <a:t>🐱</a:t>
            </a:r>
          </a:p>
        </p:txBody>
      </p:sp>
      <p:sp>
        <p:nvSpPr>
          <p:cNvPr id="17" name="Rounded Rectangle 16"/>
          <p:cNvSpPr/>
          <p:nvPr/>
        </p:nvSpPr>
        <p:spPr>
          <a:xfrm>
            <a:off x="3474720" y="1783080"/>
            <a:ext cx="2560320" cy="1783080"/>
          </a:xfrm>
          <a:prstGeom prst="roundRect">
            <a:avLst/>
          </a:prstGeom>
          <a:solidFill>
            <a:srgbClr val="FDE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0" y="2103120"/>
            <a:ext cx="2560320" cy="1005840"/>
          </a:xfrm>
          <a:prstGeom prst="rect">
            <a:avLst/>
          </a:prstGeom>
          <a:noFill/>
        </p:spPr>
        <p:txBody>
          <a:bodyPr wrap="square">
            <a:spAutoFit/>
          </a:bodyPr>
          <a:lstStyle/>
          <a:p>
            <a:pPr algn="ctr"/>
            <a:r>
              <a:rPr sz="4400" b="0">
                <a:solidFill>
                  <a:srgbClr val="242C38"/>
                </a:solidFill>
                <a:latin typeface="Calibri"/>
              </a:rPr>
              <a:t>☀️</a:t>
            </a:r>
          </a:p>
        </p:txBody>
      </p:sp>
      <p:sp>
        <p:nvSpPr>
          <p:cNvPr id="19" name="Rounded Rectangle 18"/>
          <p:cNvSpPr/>
          <p:nvPr/>
        </p:nvSpPr>
        <p:spPr>
          <a:xfrm>
            <a:off x="6263640" y="1783080"/>
            <a:ext cx="2560320" cy="1783080"/>
          </a:xfrm>
          <a:prstGeom prst="roundRect">
            <a:avLst/>
          </a:prstGeom>
          <a:solidFill>
            <a:srgbClr val="FDE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2103120"/>
            <a:ext cx="2560320" cy="1005840"/>
          </a:xfrm>
          <a:prstGeom prst="rect">
            <a:avLst/>
          </a:prstGeom>
          <a:noFill/>
        </p:spPr>
        <p:txBody>
          <a:bodyPr wrap="square">
            <a:spAutoFit/>
          </a:bodyPr>
          <a:lstStyle/>
          <a:p>
            <a:pPr algn="ctr"/>
            <a:r>
              <a:rPr sz="4400" b="0">
                <a:solidFill>
                  <a:srgbClr val="242C38"/>
                </a:solidFill>
                <a:latin typeface="Calibri"/>
              </a:rPr>
              <a:t>🐶</a:t>
            </a:r>
          </a:p>
        </p:txBody>
      </p:sp>
      <p:sp>
        <p:nvSpPr>
          <p:cNvPr id="21" name="Rounded Rectangle 20"/>
          <p:cNvSpPr/>
          <p:nvPr/>
        </p:nvSpPr>
        <p:spPr>
          <a:xfrm>
            <a:off x="9052559" y="1783080"/>
            <a:ext cx="2560320" cy="1783080"/>
          </a:xfrm>
          <a:prstGeom prst="roundRect">
            <a:avLst/>
          </a:prstGeom>
          <a:solidFill>
            <a:srgbClr val="FDE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52559" y="2103120"/>
            <a:ext cx="2560320" cy="1005840"/>
          </a:xfrm>
          <a:prstGeom prst="rect">
            <a:avLst/>
          </a:prstGeom>
          <a:noFill/>
        </p:spPr>
        <p:txBody>
          <a:bodyPr wrap="square">
            <a:spAutoFit/>
          </a:bodyPr>
          <a:lstStyle/>
          <a:p>
            <a:pPr algn="ctr"/>
            <a:r>
              <a:rPr sz="4400" b="0">
                <a:solidFill>
                  <a:srgbClr val="242C38"/>
                </a:solidFill>
                <a:latin typeface="Calibri"/>
              </a:rPr>
              <a:t>🐻</a:t>
            </a:r>
          </a:p>
        </p:txBody>
      </p:sp>
      <p:sp>
        <p:nvSpPr>
          <p:cNvPr id="23" name="Rounded Rectangle 22"/>
          <p:cNvSpPr/>
          <p:nvPr/>
        </p:nvSpPr>
        <p:spPr>
          <a:xfrm>
            <a:off x="685800" y="3977639"/>
            <a:ext cx="2560320"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206240"/>
            <a:ext cx="2560320" cy="594360"/>
          </a:xfrm>
          <a:prstGeom prst="rect">
            <a:avLst/>
          </a:prstGeom>
          <a:noFill/>
        </p:spPr>
        <p:txBody>
          <a:bodyPr wrap="square">
            <a:spAutoFit/>
          </a:bodyPr>
          <a:lstStyle/>
          <a:p>
            <a:pPr algn="ctr"/>
            <a:r>
              <a:rPr sz="2800" b="1">
                <a:solidFill>
                  <a:srgbClr val="16366B"/>
                </a:solidFill>
                <a:latin typeface="Arial Black"/>
              </a:rPr>
              <a:t>DOG</a:t>
            </a:r>
          </a:p>
        </p:txBody>
      </p:sp>
      <p:sp>
        <p:nvSpPr>
          <p:cNvPr id="25" name="Rounded Rectangle 24"/>
          <p:cNvSpPr/>
          <p:nvPr/>
        </p:nvSpPr>
        <p:spPr>
          <a:xfrm>
            <a:off x="3474720" y="3977639"/>
            <a:ext cx="2560320"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74720" y="4206240"/>
            <a:ext cx="2560320" cy="594360"/>
          </a:xfrm>
          <a:prstGeom prst="rect">
            <a:avLst/>
          </a:prstGeom>
          <a:noFill/>
        </p:spPr>
        <p:txBody>
          <a:bodyPr wrap="square">
            <a:spAutoFit/>
          </a:bodyPr>
          <a:lstStyle/>
          <a:p>
            <a:pPr algn="ctr"/>
            <a:r>
              <a:rPr sz="2800" b="1">
                <a:solidFill>
                  <a:srgbClr val="16366B"/>
                </a:solidFill>
                <a:latin typeface="Arial Black"/>
              </a:rPr>
              <a:t>BEAR</a:t>
            </a:r>
          </a:p>
        </p:txBody>
      </p:sp>
      <p:sp>
        <p:nvSpPr>
          <p:cNvPr id="27" name="Rounded Rectangle 26"/>
          <p:cNvSpPr/>
          <p:nvPr/>
        </p:nvSpPr>
        <p:spPr>
          <a:xfrm>
            <a:off x="6263640" y="3977639"/>
            <a:ext cx="2560320"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3640" y="4206240"/>
            <a:ext cx="2560320" cy="594360"/>
          </a:xfrm>
          <a:prstGeom prst="rect">
            <a:avLst/>
          </a:prstGeom>
          <a:noFill/>
        </p:spPr>
        <p:txBody>
          <a:bodyPr wrap="square">
            <a:spAutoFit/>
          </a:bodyPr>
          <a:lstStyle/>
          <a:p>
            <a:pPr algn="ctr"/>
            <a:r>
              <a:rPr sz="2800" b="1">
                <a:solidFill>
                  <a:srgbClr val="16366B"/>
                </a:solidFill>
                <a:latin typeface="Arial Black"/>
              </a:rPr>
              <a:t>CAT</a:t>
            </a:r>
          </a:p>
        </p:txBody>
      </p:sp>
      <p:sp>
        <p:nvSpPr>
          <p:cNvPr id="29" name="Rounded Rectangle 28"/>
          <p:cNvSpPr/>
          <p:nvPr/>
        </p:nvSpPr>
        <p:spPr>
          <a:xfrm>
            <a:off x="9052559" y="3977639"/>
            <a:ext cx="2560320"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52559" y="4206240"/>
            <a:ext cx="2560320" cy="594360"/>
          </a:xfrm>
          <a:prstGeom prst="rect">
            <a:avLst/>
          </a:prstGeom>
          <a:noFill/>
        </p:spPr>
        <p:txBody>
          <a:bodyPr wrap="square">
            <a:spAutoFit/>
          </a:bodyPr>
          <a:lstStyle/>
          <a:p>
            <a:pPr algn="ctr"/>
            <a:r>
              <a:rPr sz="2800" b="1">
                <a:solidFill>
                  <a:srgbClr val="16366B"/>
                </a:solidFill>
                <a:latin typeface="Arial Black"/>
              </a:rPr>
              <a:t>SUN</a:t>
            </a:r>
          </a:p>
        </p:txBody>
      </p:sp>
      <p:sp>
        <p:nvSpPr>
          <p:cNvPr id="31" name="TextBox 30"/>
          <p:cNvSpPr txBox="1"/>
          <p:nvPr/>
        </p:nvSpPr>
        <p:spPr>
          <a:xfrm>
            <a:off x="685800" y="5257800"/>
            <a:ext cx="8229600" cy="411480"/>
          </a:xfrm>
          <a:prstGeom prst="rect">
            <a:avLst/>
          </a:prstGeom>
          <a:noFill/>
        </p:spPr>
        <p:txBody>
          <a:bodyPr wrap="square">
            <a:spAutoFit/>
          </a:bodyPr>
          <a:lstStyle/>
          <a:p>
            <a:pPr algn="l"/>
            <a:r>
              <a:rPr sz="1600" b="1">
                <a:solidFill>
                  <a:srgbClr val="009C8F"/>
                </a:solidFill>
                <a:latin typeface="Calibri"/>
              </a:rPr>
              <a:t>Draw a line in the air from each picture to its word! ✏️</a:t>
            </a:r>
          </a:p>
        </p:txBody>
      </p:sp>
    </p:spTree>
  </p:cSld>
  <p:clrMapOvr>
    <a:masterClrMapping/>
  </p:clrMapOvr>
  <p:transition spd="med"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BREAK</a:t>
            </a:r>
          </a:p>
        </p:txBody>
      </p:sp>
      <p:sp>
        <p:nvSpPr>
          <p:cNvPr id="6" name="Rounded Rectangle 5"/>
          <p:cNvSpPr/>
          <p:nvPr/>
        </p:nvSpPr>
        <p:spPr>
          <a:xfrm>
            <a:off x="9418320" y="237744"/>
            <a:ext cx="242316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a:solidFill>
                  <a:srgbClr val="FFFFFF"/>
                </a:solidFill>
                <a:latin typeface="Calibri"/>
              </a:rPr>
              <a:t>45–50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Brain Break: Simon Says — Reading Edition</a:t>
            </a:r>
          </a:p>
        </p:txBody>
      </p:sp>
      <p:sp>
        <p:nvSpPr>
          <p:cNvPr id="9" name="Rectangle 8"/>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5225012"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Brain break  |  45–50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15 / 35</a:t>
            </a:r>
          </a:p>
        </p:txBody>
      </p:sp>
      <p:sp>
        <p:nvSpPr>
          <p:cNvPr id="14" name="TextBox 13"/>
          <p:cNvSpPr txBox="1"/>
          <p:nvPr/>
        </p:nvSpPr>
        <p:spPr>
          <a:xfrm>
            <a:off x="411480" y="1261872"/>
            <a:ext cx="10515600" cy="384048"/>
          </a:xfrm>
          <a:prstGeom prst="rect">
            <a:avLst/>
          </a:prstGeom>
          <a:noFill/>
        </p:spPr>
        <p:txBody>
          <a:bodyPr wrap="square">
            <a:spAutoFit/>
          </a:bodyPr>
          <a:lstStyle/>
          <a:p>
            <a:pPr algn="l"/>
            <a:r>
              <a:rPr sz="1600" b="1">
                <a:solidFill>
                  <a:srgbClr val="E85A4F"/>
                </a:solidFill>
                <a:latin typeface="Calibri"/>
              </a:rPr>
              <a:t>Stay in your seat — just point and touch! 👉</a:t>
            </a:r>
          </a:p>
        </p:txBody>
      </p:sp>
      <p:sp>
        <p:nvSpPr>
          <p:cNvPr id="15" name="Rounded Rectangle 14"/>
          <p:cNvSpPr/>
          <p:nvPr/>
        </p:nvSpPr>
        <p:spPr>
          <a:xfrm>
            <a:off x="548640" y="1737360"/>
            <a:ext cx="2606040" cy="120700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057400"/>
            <a:ext cx="2606040" cy="566928"/>
          </a:xfrm>
          <a:prstGeom prst="rect">
            <a:avLst/>
          </a:prstGeom>
          <a:noFill/>
        </p:spPr>
        <p:txBody>
          <a:bodyPr wrap="square">
            <a:spAutoFit/>
          </a:bodyPr>
          <a:lstStyle/>
          <a:p>
            <a:pPr algn="ctr"/>
            <a:r>
              <a:rPr sz="3000" b="1">
                <a:solidFill>
                  <a:srgbClr val="16366B"/>
                </a:solidFill>
                <a:latin typeface="Arial Black"/>
              </a:rPr>
              <a:t>CAT</a:t>
            </a:r>
          </a:p>
        </p:txBody>
      </p:sp>
      <p:sp>
        <p:nvSpPr>
          <p:cNvPr id="17" name="Rounded Rectangle 16"/>
          <p:cNvSpPr/>
          <p:nvPr/>
        </p:nvSpPr>
        <p:spPr>
          <a:xfrm>
            <a:off x="3337560" y="1737360"/>
            <a:ext cx="2606040" cy="120700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37560" y="2057400"/>
            <a:ext cx="2606040" cy="566928"/>
          </a:xfrm>
          <a:prstGeom prst="rect">
            <a:avLst/>
          </a:prstGeom>
          <a:noFill/>
        </p:spPr>
        <p:txBody>
          <a:bodyPr wrap="square">
            <a:spAutoFit/>
          </a:bodyPr>
          <a:lstStyle/>
          <a:p>
            <a:pPr algn="ctr"/>
            <a:r>
              <a:rPr sz="3000" b="1">
                <a:solidFill>
                  <a:srgbClr val="16366B"/>
                </a:solidFill>
                <a:latin typeface="Arial Black"/>
              </a:rPr>
              <a:t>SUN</a:t>
            </a:r>
          </a:p>
        </p:txBody>
      </p:sp>
      <p:sp>
        <p:nvSpPr>
          <p:cNvPr id="19" name="Rounded Rectangle 18"/>
          <p:cNvSpPr/>
          <p:nvPr/>
        </p:nvSpPr>
        <p:spPr>
          <a:xfrm>
            <a:off x="6126479" y="1737360"/>
            <a:ext cx="2606040" cy="120700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79" y="2057400"/>
            <a:ext cx="2606040" cy="566928"/>
          </a:xfrm>
          <a:prstGeom prst="rect">
            <a:avLst/>
          </a:prstGeom>
          <a:noFill/>
        </p:spPr>
        <p:txBody>
          <a:bodyPr wrap="square">
            <a:spAutoFit/>
          </a:bodyPr>
          <a:lstStyle/>
          <a:p>
            <a:pPr algn="ctr"/>
            <a:r>
              <a:rPr sz="3000" b="1">
                <a:solidFill>
                  <a:srgbClr val="16366B"/>
                </a:solidFill>
                <a:latin typeface="Arial Black"/>
              </a:rPr>
              <a:t>CAN</a:t>
            </a:r>
          </a:p>
        </p:txBody>
      </p:sp>
      <p:sp>
        <p:nvSpPr>
          <p:cNvPr id="21" name="Rounded Rectangle 20"/>
          <p:cNvSpPr/>
          <p:nvPr/>
        </p:nvSpPr>
        <p:spPr>
          <a:xfrm>
            <a:off x="548640" y="3108960"/>
            <a:ext cx="2606040" cy="120700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429000"/>
            <a:ext cx="2606040" cy="566928"/>
          </a:xfrm>
          <a:prstGeom prst="rect">
            <a:avLst/>
          </a:prstGeom>
          <a:noFill/>
        </p:spPr>
        <p:txBody>
          <a:bodyPr wrap="square">
            <a:spAutoFit/>
          </a:bodyPr>
          <a:lstStyle/>
          <a:p>
            <a:pPr algn="ctr"/>
            <a:r>
              <a:rPr sz="3000" b="1">
                <a:solidFill>
                  <a:srgbClr val="16366B"/>
                </a:solidFill>
                <a:latin typeface="Arial Black"/>
              </a:rPr>
              <a:t>THE</a:t>
            </a:r>
          </a:p>
        </p:txBody>
      </p:sp>
      <p:sp>
        <p:nvSpPr>
          <p:cNvPr id="23" name="Rounded Rectangle 22"/>
          <p:cNvSpPr/>
          <p:nvPr/>
        </p:nvSpPr>
        <p:spPr>
          <a:xfrm>
            <a:off x="3337560" y="3108960"/>
            <a:ext cx="2606040" cy="120700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37560" y="3429000"/>
            <a:ext cx="2606040" cy="566928"/>
          </a:xfrm>
          <a:prstGeom prst="rect">
            <a:avLst/>
          </a:prstGeom>
          <a:noFill/>
        </p:spPr>
        <p:txBody>
          <a:bodyPr wrap="square">
            <a:spAutoFit/>
          </a:bodyPr>
          <a:lstStyle/>
          <a:p>
            <a:pPr algn="ctr"/>
            <a:r>
              <a:rPr sz="3000" b="1">
                <a:solidFill>
                  <a:srgbClr val="16366B"/>
                </a:solidFill>
                <a:latin typeface="Arial Black"/>
              </a:rPr>
              <a:t>B</a:t>
            </a:r>
          </a:p>
        </p:txBody>
      </p:sp>
      <p:sp>
        <p:nvSpPr>
          <p:cNvPr id="25" name="Rounded Rectangle 24"/>
          <p:cNvSpPr/>
          <p:nvPr/>
        </p:nvSpPr>
        <p:spPr>
          <a:xfrm>
            <a:off x="6126479" y="3108960"/>
            <a:ext cx="2606040" cy="120700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26479" y="3429000"/>
            <a:ext cx="2606040" cy="566928"/>
          </a:xfrm>
          <a:prstGeom prst="rect">
            <a:avLst/>
          </a:prstGeom>
          <a:noFill/>
        </p:spPr>
        <p:txBody>
          <a:bodyPr wrap="square">
            <a:spAutoFit/>
          </a:bodyPr>
          <a:lstStyle/>
          <a:p>
            <a:pPr algn="ctr"/>
            <a:r>
              <a:rPr sz="3000" b="1">
                <a:solidFill>
                  <a:srgbClr val="16366B"/>
                </a:solidFill>
                <a:latin typeface="Arial Black"/>
              </a:rPr>
              <a:t>M</a:t>
            </a:r>
          </a:p>
        </p:txBody>
      </p:sp>
      <p:sp>
        <p:nvSpPr>
          <p:cNvPr id="27" name="Rounded Rectangle 26"/>
          <p:cNvSpPr/>
          <p:nvPr/>
        </p:nvSpPr>
        <p:spPr>
          <a:xfrm>
            <a:off x="9052560" y="1737360"/>
            <a:ext cx="2697480" cy="2670048"/>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35440" y="1901952"/>
            <a:ext cx="2331720" cy="384048"/>
          </a:xfrm>
          <a:prstGeom prst="rect">
            <a:avLst/>
          </a:prstGeom>
          <a:noFill/>
        </p:spPr>
        <p:txBody>
          <a:bodyPr wrap="square">
            <a:spAutoFit/>
          </a:bodyPr>
          <a:lstStyle/>
          <a:p>
            <a:pPr algn="l"/>
            <a:r>
              <a:rPr sz="1600" b="1">
                <a:solidFill>
                  <a:srgbClr val="16366B"/>
                </a:solidFill>
                <a:latin typeface="Calibri"/>
              </a:rPr>
              <a:t>Simon says...</a:t>
            </a:r>
          </a:p>
        </p:txBody>
      </p:sp>
      <p:sp>
        <p:nvSpPr>
          <p:cNvPr id="29" name="TextBox 28"/>
          <p:cNvSpPr txBox="1"/>
          <p:nvPr/>
        </p:nvSpPr>
        <p:spPr>
          <a:xfrm>
            <a:off x="9281160" y="2359152"/>
            <a:ext cx="2286000" cy="457200"/>
          </a:xfrm>
          <a:prstGeom prst="rect">
            <a:avLst/>
          </a:prstGeom>
          <a:noFill/>
        </p:spPr>
        <p:txBody>
          <a:bodyPr wrap="square">
            <a:spAutoFit/>
          </a:bodyPr>
          <a:lstStyle/>
          <a:p>
            <a:pPr algn="l"/>
            <a:r>
              <a:rPr sz="1200" b="0">
                <a:solidFill>
                  <a:srgbClr val="242C38"/>
                </a:solidFill>
                <a:latin typeface="Calibri"/>
              </a:rPr>
              <a:t>Point to the word CAT.</a:t>
            </a:r>
          </a:p>
        </p:txBody>
      </p:sp>
      <p:sp>
        <p:nvSpPr>
          <p:cNvPr id="30" name="TextBox 29"/>
          <p:cNvSpPr txBox="1"/>
          <p:nvPr/>
        </p:nvSpPr>
        <p:spPr>
          <a:xfrm>
            <a:off x="9281160" y="2862072"/>
            <a:ext cx="2286000" cy="457200"/>
          </a:xfrm>
          <a:prstGeom prst="rect">
            <a:avLst/>
          </a:prstGeom>
          <a:noFill/>
        </p:spPr>
        <p:txBody>
          <a:bodyPr wrap="square">
            <a:spAutoFit/>
          </a:bodyPr>
          <a:lstStyle/>
          <a:p>
            <a:pPr algn="l"/>
            <a:r>
              <a:rPr sz="1200" b="0">
                <a:solidFill>
                  <a:srgbClr val="242C38"/>
                </a:solidFill>
                <a:latin typeface="Calibri"/>
              </a:rPr>
              <a:t>Point to the word SUN.</a:t>
            </a:r>
          </a:p>
        </p:txBody>
      </p:sp>
      <p:sp>
        <p:nvSpPr>
          <p:cNvPr id="31" name="TextBox 30"/>
          <p:cNvSpPr txBox="1"/>
          <p:nvPr/>
        </p:nvSpPr>
        <p:spPr>
          <a:xfrm>
            <a:off x="9281160" y="3364992"/>
            <a:ext cx="2286000" cy="457200"/>
          </a:xfrm>
          <a:prstGeom prst="rect">
            <a:avLst/>
          </a:prstGeom>
          <a:noFill/>
        </p:spPr>
        <p:txBody>
          <a:bodyPr wrap="square">
            <a:spAutoFit/>
          </a:bodyPr>
          <a:lstStyle/>
          <a:p>
            <a:pPr algn="l"/>
            <a:r>
              <a:rPr sz="1200" b="0">
                <a:solidFill>
                  <a:srgbClr val="242C38"/>
                </a:solidFill>
                <a:latin typeface="Calibri"/>
              </a:rPr>
              <a:t>Touch the word CAN.</a:t>
            </a:r>
          </a:p>
        </p:txBody>
      </p:sp>
      <p:sp>
        <p:nvSpPr>
          <p:cNvPr id="32" name="TextBox 31"/>
          <p:cNvSpPr txBox="1"/>
          <p:nvPr/>
        </p:nvSpPr>
        <p:spPr>
          <a:xfrm>
            <a:off x="9281160" y="3867912"/>
            <a:ext cx="2286000" cy="457200"/>
          </a:xfrm>
          <a:prstGeom prst="rect">
            <a:avLst/>
          </a:prstGeom>
          <a:noFill/>
        </p:spPr>
        <p:txBody>
          <a:bodyPr wrap="square">
            <a:spAutoFit/>
          </a:bodyPr>
          <a:lstStyle/>
          <a:p>
            <a:pPr algn="l"/>
            <a:r>
              <a:rPr sz="1200" b="0">
                <a:solidFill>
                  <a:srgbClr val="242C38"/>
                </a:solidFill>
                <a:latin typeface="Calibri"/>
              </a:rPr>
              <a:t>Show me the letter B.</a:t>
            </a:r>
          </a:p>
        </p:txBody>
      </p:sp>
      <p:sp>
        <p:nvSpPr>
          <p:cNvPr id="33" name="TextBox 32"/>
          <p:cNvSpPr txBox="1"/>
          <p:nvPr/>
        </p:nvSpPr>
        <p:spPr>
          <a:xfrm>
            <a:off x="548640" y="4663440"/>
            <a:ext cx="8229600" cy="411480"/>
          </a:xfrm>
          <a:prstGeom prst="rect">
            <a:avLst/>
          </a:prstGeom>
          <a:noFill/>
        </p:spPr>
        <p:txBody>
          <a:bodyPr wrap="square">
            <a:spAutoFit/>
          </a:bodyPr>
          <a:lstStyle/>
          <a:p>
            <a:pPr algn="l"/>
            <a:r>
              <a:rPr sz="1600" b="1">
                <a:solidFill>
                  <a:srgbClr val="009C8F"/>
                </a:solidFill>
                <a:latin typeface="Calibri"/>
              </a:rPr>
              <a:t>🎵 Fast and fun — no reading out loud needed!</a:t>
            </a:r>
          </a:p>
        </p:txBody>
      </p:sp>
    </p:spTree>
  </p:cSld>
  <p:clrMapOvr>
    <a:masterClrMapping/>
  </p:clrMapOvr>
  <p:transition spd="med"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E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2E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READING</a:t>
            </a:r>
          </a:p>
        </p:txBody>
      </p:sp>
      <p:sp>
        <p:nvSpPr>
          <p:cNvPr id="6" name="Rounded Rectangle 5"/>
          <p:cNvSpPr/>
          <p:nvPr/>
        </p:nvSpPr>
        <p:spPr>
          <a:xfrm>
            <a:off x="9418320" y="237744"/>
            <a:ext cx="242316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a:solidFill>
                  <a:srgbClr val="FFFFFF"/>
                </a:solidFill>
                <a:latin typeface="Calibri"/>
              </a:rPr>
              <a:t>50–60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Now We Read Sentences!</a:t>
            </a:r>
          </a:p>
        </p:txBody>
      </p:sp>
      <p:sp>
        <p:nvSpPr>
          <p:cNvPr id="9" name="Rectangle 8"/>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5573346"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Sentences  |  50–60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16 / 35</a:t>
            </a:r>
          </a:p>
        </p:txBody>
      </p:sp>
      <p:sp>
        <p:nvSpPr>
          <p:cNvPr id="14" name="Rounded Rectangle 13"/>
          <p:cNvSpPr/>
          <p:nvPr/>
        </p:nvSpPr>
        <p:spPr>
          <a:xfrm>
            <a:off x="457200" y="1371600"/>
            <a:ext cx="11292840" cy="2331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1783080"/>
            <a:ext cx="1371600" cy="1554480"/>
          </a:xfrm>
          <a:prstGeom prst="rect">
            <a:avLst/>
          </a:prstGeom>
          <a:noFill/>
        </p:spPr>
        <p:txBody>
          <a:bodyPr wrap="square">
            <a:spAutoFit/>
          </a:bodyPr>
          <a:lstStyle/>
          <a:p>
            <a:pPr algn="ctr"/>
            <a:r>
              <a:rPr sz="5400" b="0">
                <a:solidFill>
                  <a:srgbClr val="242C38"/>
                </a:solidFill>
                <a:latin typeface="Calibri"/>
              </a:rPr>
              <a:t>🐱</a:t>
            </a:r>
          </a:p>
        </p:txBody>
      </p:sp>
      <p:sp>
        <p:nvSpPr>
          <p:cNvPr id="16" name="TextBox 15"/>
          <p:cNvSpPr txBox="1"/>
          <p:nvPr/>
        </p:nvSpPr>
        <p:spPr>
          <a:xfrm>
            <a:off x="2377440" y="1965960"/>
            <a:ext cx="9052560" cy="1188720"/>
          </a:xfrm>
          <a:prstGeom prst="rect">
            <a:avLst/>
          </a:prstGeom>
          <a:noFill/>
        </p:spPr>
        <p:txBody>
          <a:bodyPr wrap="square">
            <a:spAutoFit/>
          </a:bodyPr>
          <a:lstStyle/>
          <a:p>
            <a:pPr algn="ctr"/>
            <a:r>
              <a:rPr sz="5400" b="1">
                <a:solidFill>
                  <a:srgbClr val="16366B"/>
                </a:solidFill>
                <a:latin typeface="Arial Black"/>
              </a:rPr>
              <a:t>I see a cat.</a:t>
            </a:r>
          </a:p>
        </p:txBody>
      </p:sp>
      <p:sp>
        <p:nvSpPr>
          <p:cNvPr id="17" name="Rounded Rectangle 16"/>
          <p:cNvSpPr/>
          <p:nvPr/>
        </p:nvSpPr>
        <p:spPr>
          <a:xfrm>
            <a:off x="502920" y="3977639"/>
            <a:ext cx="3566160" cy="1371600"/>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105655"/>
            <a:ext cx="3291840" cy="411480"/>
          </a:xfrm>
          <a:prstGeom prst="rect">
            <a:avLst/>
          </a:prstGeom>
          <a:noFill/>
        </p:spPr>
        <p:txBody>
          <a:bodyPr wrap="square">
            <a:spAutoFit/>
          </a:bodyPr>
          <a:lstStyle/>
          <a:p>
            <a:pPr algn="ctr"/>
            <a:r>
              <a:rPr sz="2200" b="0">
                <a:solidFill>
                  <a:srgbClr val="242C38"/>
                </a:solidFill>
                <a:latin typeface="Calibri"/>
              </a:rPr>
              <a:t>1️⃣</a:t>
            </a:r>
          </a:p>
        </p:txBody>
      </p:sp>
      <p:sp>
        <p:nvSpPr>
          <p:cNvPr id="19" name="TextBox 18"/>
          <p:cNvSpPr txBox="1"/>
          <p:nvPr/>
        </p:nvSpPr>
        <p:spPr>
          <a:xfrm>
            <a:off x="640080" y="4544567"/>
            <a:ext cx="3291840" cy="411480"/>
          </a:xfrm>
          <a:prstGeom prst="rect">
            <a:avLst/>
          </a:prstGeom>
          <a:noFill/>
        </p:spPr>
        <p:txBody>
          <a:bodyPr wrap="square">
            <a:spAutoFit/>
          </a:bodyPr>
          <a:lstStyle/>
          <a:p>
            <a:pPr algn="ctr"/>
            <a:r>
              <a:rPr sz="1800" b="1">
                <a:solidFill>
                  <a:srgbClr val="16366B"/>
                </a:solidFill>
                <a:latin typeface="Calibri"/>
              </a:rPr>
              <a:t>I read it</a:t>
            </a:r>
          </a:p>
        </p:txBody>
      </p:sp>
      <p:sp>
        <p:nvSpPr>
          <p:cNvPr id="20" name="TextBox 19"/>
          <p:cNvSpPr txBox="1"/>
          <p:nvPr/>
        </p:nvSpPr>
        <p:spPr>
          <a:xfrm>
            <a:off x="640080" y="4946903"/>
            <a:ext cx="3291840" cy="329184"/>
          </a:xfrm>
          <a:prstGeom prst="rect">
            <a:avLst/>
          </a:prstGeom>
          <a:noFill/>
        </p:spPr>
        <p:txBody>
          <a:bodyPr wrap="square">
            <a:spAutoFit/>
          </a:bodyPr>
          <a:lstStyle/>
          <a:p>
            <a:pPr algn="ctr"/>
            <a:r>
              <a:rPr sz="1300" b="0">
                <a:solidFill>
                  <a:srgbClr val="16366B"/>
                </a:solidFill>
                <a:latin typeface="Calibri"/>
              </a:rPr>
              <a:t>Listen and follow</a:t>
            </a:r>
          </a:p>
        </p:txBody>
      </p:sp>
      <p:sp>
        <p:nvSpPr>
          <p:cNvPr id="21" name="Rounded Rectangle 20"/>
          <p:cNvSpPr/>
          <p:nvPr/>
        </p:nvSpPr>
        <p:spPr>
          <a:xfrm>
            <a:off x="4297680" y="3977639"/>
            <a:ext cx="3566160" cy="137160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34840" y="4105655"/>
            <a:ext cx="3291840" cy="411480"/>
          </a:xfrm>
          <a:prstGeom prst="rect">
            <a:avLst/>
          </a:prstGeom>
          <a:noFill/>
        </p:spPr>
        <p:txBody>
          <a:bodyPr wrap="square">
            <a:spAutoFit/>
          </a:bodyPr>
          <a:lstStyle/>
          <a:p>
            <a:pPr algn="ctr"/>
            <a:r>
              <a:rPr sz="2200" b="0">
                <a:solidFill>
                  <a:srgbClr val="242C38"/>
                </a:solidFill>
                <a:latin typeface="Calibri"/>
              </a:rPr>
              <a:t>2️⃣</a:t>
            </a:r>
          </a:p>
        </p:txBody>
      </p:sp>
      <p:sp>
        <p:nvSpPr>
          <p:cNvPr id="23" name="TextBox 22"/>
          <p:cNvSpPr txBox="1"/>
          <p:nvPr/>
        </p:nvSpPr>
        <p:spPr>
          <a:xfrm>
            <a:off x="4434840" y="4544567"/>
            <a:ext cx="3291840" cy="411480"/>
          </a:xfrm>
          <a:prstGeom prst="rect">
            <a:avLst/>
          </a:prstGeom>
          <a:noFill/>
        </p:spPr>
        <p:txBody>
          <a:bodyPr wrap="square">
            <a:spAutoFit/>
          </a:bodyPr>
          <a:lstStyle/>
          <a:p>
            <a:pPr algn="ctr"/>
            <a:r>
              <a:rPr sz="1800" b="1">
                <a:solidFill>
                  <a:srgbClr val="16366B"/>
                </a:solidFill>
                <a:latin typeface="Calibri"/>
              </a:rPr>
              <a:t>We read it</a:t>
            </a:r>
          </a:p>
        </p:txBody>
      </p:sp>
      <p:sp>
        <p:nvSpPr>
          <p:cNvPr id="24" name="TextBox 23"/>
          <p:cNvSpPr txBox="1"/>
          <p:nvPr/>
        </p:nvSpPr>
        <p:spPr>
          <a:xfrm>
            <a:off x="4434840" y="4946903"/>
            <a:ext cx="3291840" cy="329184"/>
          </a:xfrm>
          <a:prstGeom prst="rect">
            <a:avLst/>
          </a:prstGeom>
          <a:noFill/>
        </p:spPr>
        <p:txBody>
          <a:bodyPr wrap="square">
            <a:spAutoFit/>
          </a:bodyPr>
          <a:lstStyle/>
          <a:p>
            <a:pPr algn="ctr"/>
            <a:r>
              <a:rPr sz="1300" b="0">
                <a:solidFill>
                  <a:srgbClr val="16366B"/>
                </a:solidFill>
                <a:latin typeface="Calibri"/>
              </a:rPr>
              <a:t>Say it with me</a:t>
            </a:r>
          </a:p>
        </p:txBody>
      </p:sp>
      <p:sp>
        <p:nvSpPr>
          <p:cNvPr id="25" name="Rounded Rectangle 24"/>
          <p:cNvSpPr/>
          <p:nvPr/>
        </p:nvSpPr>
        <p:spPr>
          <a:xfrm>
            <a:off x="8092440" y="3977639"/>
            <a:ext cx="3566160" cy="1371600"/>
          </a:xfrm>
          <a:prstGeom prst="roundRect">
            <a:avLst/>
          </a:prstGeom>
          <a:solidFill>
            <a:srgbClr val="2E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0" y="4105655"/>
            <a:ext cx="3291840" cy="411480"/>
          </a:xfrm>
          <a:prstGeom prst="rect">
            <a:avLst/>
          </a:prstGeom>
          <a:noFill/>
        </p:spPr>
        <p:txBody>
          <a:bodyPr wrap="square">
            <a:spAutoFit/>
          </a:bodyPr>
          <a:lstStyle/>
          <a:p>
            <a:pPr algn="ctr"/>
            <a:r>
              <a:rPr sz="2200" b="0">
                <a:solidFill>
                  <a:srgbClr val="242C38"/>
                </a:solidFill>
                <a:latin typeface="Calibri"/>
              </a:rPr>
              <a:t>3️⃣</a:t>
            </a:r>
          </a:p>
        </p:txBody>
      </p:sp>
      <p:sp>
        <p:nvSpPr>
          <p:cNvPr id="27" name="TextBox 26"/>
          <p:cNvSpPr txBox="1"/>
          <p:nvPr/>
        </p:nvSpPr>
        <p:spPr>
          <a:xfrm>
            <a:off x="8229600" y="4544567"/>
            <a:ext cx="3291840" cy="411480"/>
          </a:xfrm>
          <a:prstGeom prst="rect">
            <a:avLst/>
          </a:prstGeom>
          <a:noFill/>
        </p:spPr>
        <p:txBody>
          <a:bodyPr wrap="square">
            <a:spAutoFit/>
          </a:bodyPr>
          <a:lstStyle/>
          <a:p>
            <a:pPr algn="ctr"/>
            <a:r>
              <a:rPr sz="1800" b="1">
                <a:solidFill>
                  <a:srgbClr val="FFFFFF"/>
                </a:solidFill>
                <a:latin typeface="Calibri"/>
              </a:rPr>
              <a:t>YOU read it!</a:t>
            </a:r>
          </a:p>
        </p:txBody>
      </p:sp>
      <p:sp>
        <p:nvSpPr>
          <p:cNvPr id="28" name="TextBox 27"/>
          <p:cNvSpPr txBox="1"/>
          <p:nvPr/>
        </p:nvSpPr>
        <p:spPr>
          <a:xfrm>
            <a:off x="8229600" y="4946903"/>
            <a:ext cx="3291840" cy="329184"/>
          </a:xfrm>
          <a:prstGeom prst="rect">
            <a:avLst/>
          </a:prstGeom>
          <a:noFill/>
        </p:spPr>
        <p:txBody>
          <a:bodyPr wrap="square">
            <a:spAutoFit/>
          </a:bodyPr>
          <a:lstStyle/>
          <a:p>
            <a:pPr algn="ctr"/>
            <a:r>
              <a:rPr sz="1300" b="0">
                <a:solidFill>
                  <a:srgbClr val="FFFFFF"/>
                </a:solidFill>
                <a:latin typeface="Calibri"/>
              </a:rPr>
              <a:t>Your turn ⭐</a:t>
            </a:r>
          </a:p>
        </p:txBody>
      </p:sp>
      <p:sp>
        <p:nvSpPr>
          <p:cNvPr id="29" name="TextBox 28"/>
          <p:cNvSpPr txBox="1"/>
          <p:nvPr/>
        </p:nvSpPr>
        <p:spPr>
          <a:xfrm>
            <a:off x="502920" y="5577840"/>
            <a:ext cx="8412480" cy="384048"/>
          </a:xfrm>
          <a:prstGeom prst="rect">
            <a:avLst/>
          </a:prstGeom>
          <a:noFill/>
        </p:spPr>
        <p:txBody>
          <a:bodyPr wrap="square">
            <a:spAutoFit/>
          </a:bodyPr>
          <a:lstStyle/>
          <a:p>
            <a:pPr algn="l"/>
            <a:r>
              <a:rPr sz="1700" b="1">
                <a:solidFill>
                  <a:srgbClr val="E85A4F"/>
                </a:solidFill>
                <a:latin typeface="Calibri"/>
              </a:rPr>
              <a:t>👉 Point under each word as you read it.</a:t>
            </a:r>
          </a:p>
        </p:txBody>
      </p:sp>
    </p:spTree>
  </p:cSld>
  <p:clrMapOvr>
    <a:masterClrMapping/>
  </p:clrMapOvr>
  <p:transition spd="med"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09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009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READING</a:t>
            </a:r>
          </a:p>
        </p:txBody>
      </p:sp>
      <p:sp>
        <p:nvSpPr>
          <p:cNvPr id="6" name="Rounded Rectangle 5"/>
          <p:cNvSpPr/>
          <p:nvPr/>
        </p:nvSpPr>
        <p:spPr>
          <a:xfrm>
            <a:off x="9418320" y="237744"/>
            <a:ext cx="242316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a:solidFill>
                  <a:srgbClr val="FFFFFF"/>
                </a:solidFill>
                <a:latin typeface="Calibri"/>
              </a:rPr>
              <a:t>50–60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Read With Me</a:t>
            </a:r>
          </a:p>
        </p:txBody>
      </p:sp>
      <p:sp>
        <p:nvSpPr>
          <p:cNvPr id="9" name="Rectangle 8"/>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5921680"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Sentences  |  50–60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17 / 35</a:t>
            </a:r>
          </a:p>
        </p:txBody>
      </p:sp>
      <p:sp>
        <p:nvSpPr>
          <p:cNvPr id="14" name="Rounded Rectangle 13"/>
          <p:cNvSpPr/>
          <p:nvPr/>
        </p:nvSpPr>
        <p:spPr>
          <a:xfrm>
            <a:off x="457200" y="1463040"/>
            <a:ext cx="11292840" cy="214884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011680"/>
            <a:ext cx="1280160" cy="1097280"/>
          </a:xfrm>
          <a:prstGeom prst="rect">
            <a:avLst/>
          </a:prstGeom>
          <a:noFill/>
        </p:spPr>
        <p:txBody>
          <a:bodyPr wrap="square">
            <a:spAutoFit/>
          </a:bodyPr>
          <a:lstStyle/>
          <a:p>
            <a:pPr algn="ctr"/>
            <a:r>
              <a:rPr sz="4400" b="0">
                <a:solidFill>
                  <a:srgbClr val="242C38"/>
                </a:solidFill>
                <a:latin typeface="Calibri"/>
              </a:rPr>
              <a:t>🐱</a:t>
            </a:r>
          </a:p>
        </p:txBody>
      </p:sp>
      <p:sp>
        <p:nvSpPr>
          <p:cNvPr id="16" name="TextBox 15"/>
          <p:cNvSpPr txBox="1"/>
          <p:nvPr/>
        </p:nvSpPr>
        <p:spPr>
          <a:xfrm>
            <a:off x="2286000" y="1965960"/>
            <a:ext cx="7315200" cy="1051560"/>
          </a:xfrm>
          <a:prstGeom prst="rect">
            <a:avLst/>
          </a:prstGeom>
          <a:noFill/>
        </p:spPr>
        <p:txBody>
          <a:bodyPr wrap="square">
            <a:spAutoFit/>
          </a:bodyPr>
          <a:lstStyle/>
          <a:p>
            <a:pPr algn="l"/>
            <a:r>
              <a:rPr sz="4200" b="1">
                <a:solidFill>
                  <a:srgbClr val="16366B"/>
                </a:solidFill>
                <a:latin typeface="Arial Black"/>
              </a:rPr>
              <a:t>The cat is big.</a:t>
            </a:r>
          </a:p>
        </p:txBody>
      </p:sp>
      <p:sp>
        <p:nvSpPr>
          <p:cNvPr id="17" name="Rounded Rectangle 16"/>
          <p:cNvSpPr/>
          <p:nvPr/>
        </p:nvSpPr>
        <p:spPr>
          <a:xfrm>
            <a:off x="9692640" y="2148840"/>
            <a:ext cx="1828800" cy="685800"/>
          </a:xfrm>
          <a:prstGeom prst="roundRect">
            <a:avLst/>
          </a:prstGeom>
          <a:solidFill>
            <a:srgbClr val="009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0" y="2286000"/>
            <a:ext cx="1828800" cy="457200"/>
          </a:xfrm>
          <a:prstGeom prst="rect">
            <a:avLst/>
          </a:prstGeom>
          <a:noFill/>
        </p:spPr>
        <p:txBody>
          <a:bodyPr wrap="square">
            <a:spAutoFit/>
          </a:bodyPr>
          <a:lstStyle/>
          <a:p>
            <a:pPr algn="ctr"/>
            <a:r>
              <a:rPr sz="1400" b="1">
                <a:solidFill>
                  <a:srgbClr val="FFFFFF"/>
                </a:solidFill>
                <a:latin typeface="Calibri"/>
              </a:rPr>
              <a:t>YOU read ⭐</a:t>
            </a:r>
          </a:p>
        </p:txBody>
      </p:sp>
      <p:sp>
        <p:nvSpPr>
          <p:cNvPr id="19" name="Rounded Rectangle 18"/>
          <p:cNvSpPr/>
          <p:nvPr/>
        </p:nvSpPr>
        <p:spPr>
          <a:xfrm>
            <a:off x="457200" y="3840480"/>
            <a:ext cx="11292840" cy="2148840"/>
          </a:xfrm>
          <a:prstGeom prst="roundRect">
            <a:avLst/>
          </a:prstGeom>
          <a:solidFill>
            <a:srgbClr val="E4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389120"/>
            <a:ext cx="1280160" cy="1097280"/>
          </a:xfrm>
          <a:prstGeom prst="rect">
            <a:avLst/>
          </a:prstGeom>
          <a:noFill/>
        </p:spPr>
        <p:txBody>
          <a:bodyPr wrap="square">
            <a:spAutoFit/>
          </a:bodyPr>
          <a:lstStyle/>
          <a:p>
            <a:pPr algn="ctr"/>
            <a:r>
              <a:rPr sz="4400" b="0">
                <a:solidFill>
                  <a:srgbClr val="242C38"/>
                </a:solidFill>
                <a:latin typeface="Calibri"/>
              </a:rPr>
              <a:t>🏃</a:t>
            </a:r>
          </a:p>
        </p:txBody>
      </p:sp>
      <p:sp>
        <p:nvSpPr>
          <p:cNvPr id="21" name="TextBox 20"/>
          <p:cNvSpPr txBox="1"/>
          <p:nvPr/>
        </p:nvSpPr>
        <p:spPr>
          <a:xfrm>
            <a:off x="2286000" y="4343400"/>
            <a:ext cx="7315200" cy="1051560"/>
          </a:xfrm>
          <a:prstGeom prst="rect">
            <a:avLst/>
          </a:prstGeom>
          <a:noFill/>
        </p:spPr>
        <p:txBody>
          <a:bodyPr wrap="square">
            <a:spAutoFit/>
          </a:bodyPr>
          <a:lstStyle/>
          <a:p>
            <a:pPr algn="l"/>
            <a:r>
              <a:rPr sz="4200" b="1">
                <a:solidFill>
                  <a:srgbClr val="16366B"/>
                </a:solidFill>
                <a:latin typeface="Arial Black"/>
              </a:rPr>
              <a:t>I can run.</a:t>
            </a:r>
          </a:p>
        </p:txBody>
      </p:sp>
      <p:sp>
        <p:nvSpPr>
          <p:cNvPr id="22" name="Rounded Rectangle 21"/>
          <p:cNvSpPr/>
          <p:nvPr/>
        </p:nvSpPr>
        <p:spPr>
          <a:xfrm>
            <a:off x="9692640" y="4526280"/>
            <a:ext cx="1828800" cy="685800"/>
          </a:xfrm>
          <a:prstGeom prst="roundRect">
            <a:avLst/>
          </a:prstGeom>
          <a:solidFill>
            <a:srgbClr val="2E7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92640" y="4663440"/>
            <a:ext cx="1828800" cy="457200"/>
          </a:xfrm>
          <a:prstGeom prst="rect">
            <a:avLst/>
          </a:prstGeom>
          <a:noFill/>
        </p:spPr>
        <p:txBody>
          <a:bodyPr wrap="square">
            <a:spAutoFit/>
          </a:bodyPr>
          <a:lstStyle/>
          <a:p>
            <a:pPr algn="ctr"/>
            <a:r>
              <a:rPr sz="1400" b="1">
                <a:solidFill>
                  <a:srgbClr val="FFFFFF"/>
                </a:solidFill>
                <a:latin typeface="Calibri"/>
              </a:rPr>
              <a:t>YOU read ⭐</a:t>
            </a:r>
          </a:p>
        </p:txBody>
      </p:sp>
    </p:spTree>
  </p:cSld>
  <p:clrMapOvr>
    <a:masterClrMapping/>
  </p:clrMapOvr>
  <p:transition spd="med"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09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009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READING</a:t>
            </a:r>
          </a:p>
        </p:txBody>
      </p:sp>
      <p:sp>
        <p:nvSpPr>
          <p:cNvPr id="6" name="Rounded Rectangle 5"/>
          <p:cNvSpPr/>
          <p:nvPr/>
        </p:nvSpPr>
        <p:spPr>
          <a:xfrm>
            <a:off x="9418320" y="237744"/>
            <a:ext cx="242316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a:solidFill>
                  <a:srgbClr val="FFFFFF"/>
                </a:solidFill>
                <a:latin typeface="Calibri"/>
              </a:rPr>
              <a:t>50–60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Your Turn to Read</a:t>
            </a:r>
          </a:p>
        </p:txBody>
      </p:sp>
      <p:sp>
        <p:nvSpPr>
          <p:cNvPr id="9" name="Rectangle 8"/>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6270014"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Sentences  |  50–60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18 / 35</a:t>
            </a:r>
          </a:p>
        </p:txBody>
      </p:sp>
      <p:sp>
        <p:nvSpPr>
          <p:cNvPr id="14" name="Rounded Rectangle 13"/>
          <p:cNvSpPr/>
          <p:nvPr/>
        </p:nvSpPr>
        <p:spPr>
          <a:xfrm>
            <a:off x="457200" y="1463040"/>
            <a:ext cx="11292840" cy="2148840"/>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011680"/>
            <a:ext cx="1280160" cy="1097280"/>
          </a:xfrm>
          <a:prstGeom prst="rect">
            <a:avLst/>
          </a:prstGeom>
          <a:noFill/>
        </p:spPr>
        <p:txBody>
          <a:bodyPr wrap="square">
            <a:spAutoFit/>
          </a:bodyPr>
          <a:lstStyle/>
          <a:p>
            <a:pPr algn="ctr"/>
            <a:r>
              <a:rPr sz="4400" b="0">
                <a:solidFill>
                  <a:srgbClr val="242C38"/>
                </a:solidFill>
                <a:latin typeface="Calibri"/>
              </a:rPr>
              <a:t>☀️</a:t>
            </a:r>
          </a:p>
        </p:txBody>
      </p:sp>
      <p:sp>
        <p:nvSpPr>
          <p:cNvPr id="16" name="TextBox 15"/>
          <p:cNvSpPr txBox="1"/>
          <p:nvPr/>
        </p:nvSpPr>
        <p:spPr>
          <a:xfrm>
            <a:off x="2286000" y="1965960"/>
            <a:ext cx="7315200" cy="1051560"/>
          </a:xfrm>
          <a:prstGeom prst="rect">
            <a:avLst/>
          </a:prstGeom>
          <a:noFill/>
        </p:spPr>
        <p:txBody>
          <a:bodyPr wrap="square">
            <a:spAutoFit/>
          </a:bodyPr>
          <a:lstStyle/>
          <a:p>
            <a:pPr algn="l"/>
            <a:r>
              <a:rPr sz="4200" b="1">
                <a:solidFill>
                  <a:srgbClr val="16366B"/>
                </a:solidFill>
                <a:latin typeface="Arial Black"/>
              </a:rPr>
              <a:t>We see the sun.</a:t>
            </a:r>
          </a:p>
        </p:txBody>
      </p:sp>
      <p:sp>
        <p:nvSpPr>
          <p:cNvPr id="17" name="Rounded Rectangle 16"/>
          <p:cNvSpPr/>
          <p:nvPr/>
        </p:nvSpPr>
        <p:spPr>
          <a:xfrm>
            <a:off x="9692640" y="2148840"/>
            <a:ext cx="1828800" cy="685800"/>
          </a:xfrm>
          <a:prstGeom prst="roundRect">
            <a:avLst/>
          </a:prstGeom>
          <a:solidFill>
            <a:srgbClr val="F2A1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0" y="2286000"/>
            <a:ext cx="1828800" cy="457200"/>
          </a:xfrm>
          <a:prstGeom prst="rect">
            <a:avLst/>
          </a:prstGeom>
          <a:noFill/>
        </p:spPr>
        <p:txBody>
          <a:bodyPr wrap="square">
            <a:spAutoFit/>
          </a:bodyPr>
          <a:lstStyle/>
          <a:p>
            <a:pPr algn="ctr"/>
            <a:r>
              <a:rPr sz="1400" b="1">
                <a:solidFill>
                  <a:srgbClr val="FFFFFF"/>
                </a:solidFill>
                <a:latin typeface="Calibri"/>
              </a:rPr>
              <a:t>YOU read ⭐</a:t>
            </a:r>
          </a:p>
        </p:txBody>
      </p:sp>
      <p:sp>
        <p:nvSpPr>
          <p:cNvPr id="19" name="Rounded Rectangle 18"/>
          <p:cNvSpPr/>
          <p:nvPr/>
        </p:nvSpPr>
        <p:spPr>
          <a:xfrm>
            <a:off x="457200" y="3840480"/>
            <a:ext cx="11292840" cy="2148840"/>
          </a:xfrm>
          <a:prstGeom prst="roundRect">
            <a:avLst/>
          </a:prstGeom>
          <a:solidFill>
            <a:srgbClr val="FDE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389120"/>
            <a:ext cx="1280160" cy="1097280"/>
          </a:xfrm>
          <a:prstGeom prst="rect">
            <a:avLst/>
          </a:prstGeom>
          <a:noFill/>
        </p:spPr>
        <p:txBody>
          <a:bodyPr wrap="square">
            <a:spAutoFit/>
          </a:bodyPr>
          <a:lstStyle/>
          <a:p>
            <a:pPr algn="ctr"/>
            <a:r>
              <a:rPr sz="4400" b="0">
                <a:solidFill>
                  <a:srgbClr val="242C38"/>
                </a:solidFill>
                <a:latin typeface="Calibri"/>
              </a:rPr>
              <a:t>🐶</a:t>
            </a:r>
          </a:p>
        </p:txBody>
      </p:sp>
      <p:sp>
        <p:nvSpPr>
          <p:cNvPr id="21" name="TextBox 20"/>
          <p:cNvSpPr txBox="1"/>
          <p:nvPr/>
        </p:nvSpPr>
        <p:spPr>
          <a:xfrm>
            <a:off x="2286000" y="4343400"/>
            <a:ext cx="7315200" cy="1051560"/>
          </a:xfrm>
          <a:prstGeom prst="rect">
            <a:avLst/>
          </a:prstGeom>
          <a:noFill/>
        </p:spPr>
        <p:txBody>
          <a:bodyPr wrap="square">
            <a:spAutoFit/>
          </a:bodyPr>
          <a:lstStyle/>
          <a:p>
            <a:pPr algn="l"/>
            <a:r>
              <a:rPr sz="4200" b="1">
                <a:solidFill>
                  <a:srgbClr val="16366B"/>
                </a:solidFill>
                <a:latin typeface="Arial Black"/>
              </a:rPr>
              <a:t>My dog can run.</a:t>
            </a:r>
          </a:p>
        </p:txBody>
      </p:sp>
      <p:sp>
        <p:nvSpPr>
          <p:cNvPr id="22" name="Rounded Rectangle 21"/>
          <p:cNvSpPr/>
          <p:nvPr/>
        </p:nvSpPr>
        <p:spPr>
          <a:xfrm>
            <a:off x="9692640" y="4526280"/>
            <a:ext cx="1828800" cy="685800"/>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92640" y="4663440"/>
            <a:ext cx="1828800" cy="457200"/>
          </a:xfrm>
          <a:prstGeom prst="rect">
            <a:avLst/>
          </a:prstGeom>
          <a:noFill/>
        </p:spPr>
        <p:txBody>
          <a:bodyPr wrap="square">
            <a:spAutoFit/>
          </a:bodyPr>
          <a:lstStyle/>
          <a:p>
            <a:pPr algn="ctr"/>
            <a:r>
              <a:rPr sz="1400" b="1">
                <a:solidFill>
                  <a:srgbClr val="FFFFFF"/>
                </a:solidFill>
                <a:latin typeface="Calibri"/>
              </a:rPr>
              <a:t>YOU read ⭐</a:t>
            </a:r>
          </a:p>
        </p:txBody>
      </p:sp>
    </p:spTree>
  </p:cSld>
  <p:clrMapOvr>
    <a:masterClrMapping/>
  </p:clrMapOvr>
  <p:transition spd="med"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7B4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7B4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GAME</a:t>
            </a:r>
          </a:p>
        </p:txBody>
      </p:sp>
      <p:sp>
        <p:nvSpPr>
          <p:cNvPr id="6" name="Rounded Rectangle 5"/>
          <p:cNvSpPr/>
          <p:nvPr/>
        </p:nvSpPr>
        <p:spPr>
          <a:xfrm>
            <a:off x="9418320" y="237744"/>
            <a:ext cx="242316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a:solidFill>
                  <a:srgbClr val="FFFFFF"/>
                </a:solidFill>
                <a:latin typeface="Calibri"/>
              </a:rPr>
              <a:t>60–68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Game: Build the Sentence</a:t>
            </a:r>
          </a:p>
        </p:txBody>
      </p:sp>
      <p:sp>
        <p:nvSpPr>
          <p:cNvPr id="9" name="Rectangle 8"/>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6618348"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Build it  |  60–68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19 / 35</a:t>
            </a:r>
          </a:p>
        </p:txBody>
      </p:sp>
      <p:sp>
        <p:nvSpPr>
          <p:cNvPr id="14" name="TextBox 13"/>
          <p:cNvSpPr txBox="1"/>
          <p:nvPr/>
        </p:nvSpPr>
        <p:spPr>
          <a:xfrm>
            <a:off x="411480" y="1261872"/>
            <a:ext cx="10515600" cy="384048"/>
          </a:xfrm>
          <a:prstGeom prst="rect">
            <a:avLst/>
          </a:prstGeom>
          <a:noFill/>
        </p:spPr>
        <p:txBody>
          <a:bodyPr wrap="square">
            <a:spAutoFit/>
          </a:bodyPr>
          <a:lstStyle/>
          <a:p>
            <a:pPr algn="l"/>
            <a:r>
              <a:rPr sz="1600" b="1">
                <a:solidFill>
                  <a:srgbClr val="E85A4F"/>
                </a:solidFill>
                <a:latin typeface="Calibri"/>
              </a:rPr>
              <a:t>The words got mixed up! Put them back in order, then read it.</a:t>
            </a:r>
          </a:p>
        </p:txBody>
      </p:sp>
      <p:sp>
        <p:nvSpPr>
          <p:cNvPr id="15" name="Rounded Rectangle 14"/>
          <p:cNvSpPr/>
          <p:nvPr/>
        </p:nvSpPr>
        <p:spPr>
          <a:xfrm>
            <a:off x="457200" y="1737360"/>
            <a:ext cx="11292840" cy="1325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58368" y="2121408"/>
            <a:ext cx="548640" cy="548640"/>
          </a:xfrm>
          <a:prstGeom prst="ellipse">
            <a:avLst/>
          </a:prstGeom>
          <a:solidFill>
            <a:srgbClr val="7B4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2194560"/>
            <a:ext cx="548640" cy="411480"/>
          </a:xfrm>
          <a:prstGeom prst="rect">
            <a:avLst/>
          </a:prstGeom>
          <a:noFill/>
        </p:spPr>
        <p:txBody>
          <a:bodyPr wrap="square">
            <a:spAutoFit/>
          </a:bodyPr>
          <a:lstStyle/>
          <a:p>
            <a:pPr algn="ctr"/>
            <a:r>
              <a:rPr sz="1600" b="1">
                <a:solidFill>
                  <a:srgbClr val="FFFFFF"/>
                </a:solidFill>
                <a:latin typeface="Calibri"/>
              </a:rPr>
              <a:t>1</a:t>
            </a:r>
          </a:p>
        </p:txBody>
      </p:sp>
      <p:sp>
        <p:nvSpPr>
          <p:cNvPr id="18" name="TextBox 17"/>
          <p:cNvSpPr txBox="1"/>
          <p:nvPr/>
        </p:nvSpPr>
        <p:spPr>
          <a:xfrm>
            <a:off x="1371600" y="2148840"/>
            <a:ext cx="685800" cy="502920"/>
          </a:xfrm>
          <a:prstGeom prst="rect">
            <a:avLst/>
          </a:prstGeom>
          <a:noFill/>
        </p:spPr>
        <p:txBody>
          <a:bodyPr wrap="square">
            <a:spAutoFit/>
          </a:bodyPr>
          <a:lstStyle/>
          <a:p>
            <a:pPr algn="ctr"/>
            <a:r>
              <a:rPr sz="2200" b="0">
                <a:solidFill>
                  <a:srgbClr val="242C38"/>
                </a:solidFill>
                <a:latin typeface="Calibri"/>
              </a:rPr>
              <a:t>🐱</a:t>
            </a:r>
          </a:p>
        </p:txBody>
      </p:sp>
      <p:sp>
        <p:nvSpPr>
          <p:cNvPr id="19" name="Rounded Rectangle 18"/>
          <p:cNvSpPr/>
          <p:nvPr/>
        </p:nvSpPr>
        <p:spPr>
          <a:xfrm>
            <a:off x="2194560" y="2057400"/>
            <a:ext cx="1627632" cy="68580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94560" y="2176272"/>
            <a:ext cx="1627632" cy="457200"/>
          </a:xfrm>
          <a:prstGeom prst="rect">
            <a:avLst/>
          </a:prstGeom>
          <a:noFill/>
        </p:spPr>
        <p:txBody>
          <a:bodyPr wrap="square">
            <a:spAutoFit/>
          </a:bodyPr>
          <a:lstStyle/>
          <a:p>
            <a:pPr algn="ctr"/>
            <a:r>
              <a:rPr sz="2000" b="1">
                <a:solidFill>
                  <a:srgbClr val="16366B"/>
                </a:solidFill>
                <a:latin typeface="Calibri"/>
              </a:rPr>
              <a:t>cat</a:t>
            </a:r>
          </a:p>
        </p:txBody>
      </p:sp>
      <p:sp>
        <p:nvSpPr>
          <p:cNvPr id="21" name="Rounded Rectangle 20"/>
          <p:cNvSpPr/>
          <p:nvPr/>
        </p:nvSpPr>
        <p:spPr>
          <a:xfrm>
            <a:off x="3977639" y="2057400"/>
            <a:ext cx="1627632" cy="68580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77639" y="2176272"/>
            <a:ext cx="1627632" cy="457200"/>
          </a:xfrm>
          <a:prstGeom prst="rect">
            <a:avLst/>
          </a:prstGeom>
          <a:noFill/>
        </p:spPr>
        <p:txBody>
          <a:bodyPr wrap="square">
            <a:spAutoFit/>
          </a:bodyPr>
          <a:lstStyle/>
          <a:p>
            <a:pPr algn="ctr"/>
            <a:r>
              <a:rPr sz="2000" b="1">
                <a:solidFill>
                  <a:srgbClr val="16366B"/>
                </a:solidFill>
                <a:latin typeface="Calibri"/>
              </a:rPr>
              <a:t>I</a:t>
            </a:r>
          </a:p>
        </p:txBody>
      </p:sp>
      <p:sp>
        <p:nvSpPr>
          <p:cNvPr id="23" name="Rounded Rectangle 22"/>
          <p:cNvSpPr/>
          <p:nvPr/>
        </p:nvSpPr>
        <p:spPr>
          <a:xfrm>
            <a:off x="5760720" y="2057400"/>
            <a:ext cx="1627632" cy="68580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60720" y="2176272"/>
            <a:ext cx="1627632" cy="457200"/>
          </a:xfrm>
          <a:prstGeom prst="rect">
            <a:avLst/>
          </a:prstGeom>
          <a:noFill/>
        </p:spPr>
        <p:txBody>
          <a:bodyPr wrap="square">
            <a:spAutoFit/>
          </a:bodyPr>
          <a:lstStyle/>
          <a:p>
            <a:pPr algn="ctr"/>
            <a:r>
              <a:rPr sz="2000" b="1">
                <a:solidFill>
                  <a:srgbClr val="16366B"/>
                </a:solidFill>
                <a:latin typeface="Calibri"/>
              </a:rPr>
              <a:t>a</a:t>
            </a:r>
          </a:p>
        </p:txBody>
      </p:sp>
      <p:sp>
        <p:nvSpPr>
          <p:cNvPr id="25" name="Rounded Rectangle 24"/>
          <p:cNvSpPr/>
          <p:nvPr/>
        </p:nvSpPr>
        <p:spPr>
          <a:xfrm>
            <a:off x="7543800" y="2057400"/>
            <a:ext cx="1627632" cy="68580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43800" y="2176272"/>
            <a:ext cx="1627632" cy="457200"/>
          </a:xfrm>
          <a:prstGeom prst="rect">
            <a:avLst/>
          </a:prstGeom>
          <a:noFill/>
        </p:spPr>
        <p:txBody>
          <a:bodyPr wrap="square">
            <a:spAutoFit/>
          </a:bodyPr>
          <a:lstStyle/>
          <a:p>
            <a:pPr algn="ctr"/>
            <a:r>
              <a:rPr sz="2000" b="1">
                <a:solidFill>
                  <a:srgbClr val="16366B"/>
                </a:solidFill>
                <a:latin typeface="Calibri"/>
              </a:rPr>
              <a:t>see</a:t>
            </a:r>
          </a:p>
        </p:txBody>
      </p:sp>
      <p:sp>
        <p:nvSpPr>
          <p:cNvPr id="27" name="Rounded Rectangle 26"/>
          <p:cNvSpPr/>
          <p:nvPr/>
        </p:nvSpPr>
        <p:spPr>
          <a:xfrm>
            <a:off x="457200" y="3246120"/>
            <a:ext cx="11292840" cy="1325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58368" y="3630168"/>
            <a:ext cx="548640" cy="548640"/>
          </a:xfrm>
          <a:prstGeom prst="ellipse">
            <a:avLst/>
          </a:prstGeom>
          <a:solidFill>
            <a:srgbClr val="7B4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3703320"/>
            <a:ext cx="548640" cy="411480"/>
          </a:xfrm>
          <a:prstGeom prst="rect">
            <a:avLst/>
          </a:prstGeom>
          <a:noFill/>
        </p:spPr>
        <p:txBody>
          <a:bodyPr wrap="square">
            <a:spAutoFit/>
          </a:bodyPr>
          <a:lstStyle/>
          <a:p>
            <a:pPr algn="ctr"/>
            <a:r>
              <a:rPr sz="1600" b="1">
                <a:solidFill>
                  <a:srgbClr val="FFFFFF"/>
                </a:solidFill>
                <a:latin typeface="Calibri"/>
              </a:rPr>
              <a:t>2</a:t>
            </a:r>
          </a:p>
        </p:txBody>
      </p:sp>
      <p:sp>
        <p:nvSpPr>
          <p:cNvPr id="30" name="TextBox 29"/>
          <p:cNvSpPr txBox="1"/>
          <p:nvPr/>
        </p:nvSpPr>
        <p:spPr>
          <a:xfrm>
            <a:off x="1371600" y="3657600"/>
            <a:ext cx="685800" cy="502920"/>
          </a:xfrm>
          <a:prstGeom prst="rect">
            <a:avLst/>
          </a:prstGeom>
          <a:noFill/>
        </p:spPr>
        <p:txBody>
          <a:bodyPr wrap="square">
            <a:spAutoFit/>
          </a:bodyPr>
          <a:lstStyle/>
          <a:p>
            <a:pPr algn="ctr"/>
            <a:r>
              <a:rPr sz="2200" b="0">
                <a:solidFill>
                  <a:srgbClr val="242C38"/>
                </a:solidFill>
                <a:latin typeface="Calibri"/>
              </a:rPr>
              <a:t>🐱</a:t>
            </a:r>
          </a:p>
        </p:txBody>
      </p:sp>
      <p:sp>
        <p:nvSpPr>
          <p:cNvPr id="31" name="Rounded Rectangle 30"/>
          <p:cNvSpPr/>
          <p:nvPr/>
        </p:nvSpPr>
        <p:spPr>
          <a:xfrm>
            <a:off x="2194560" y="3566160"/>
            <a:ext cx="1627632" cy="68580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685032"/>
            <a:ext cx="1627632" cy="457200"/>
          </a:xfrm>
          <a:prstGeom prst="rect">
            <a:avLst/>
          </a:prstGeom>
          <a:noFill/>
        </p:spPr>
        <p:txBody>
          <a:bodyPr wrap="square">
            <a:spAutoFit/>
          </a:bodyPr>
          <a:lstStyle/>
          <a:p>
            <a:pPr algn="ctr"/>
            <a:r>
              <a:rPr sz="2000" b="1">
                <a:solidFill>
                  <a:srgbClr val="16366B"/>
                </a:solidFill>
                <a:latin typeface="Calibri"/>
              </a:rPr>
              <a:t>big</a:t>
            </a:r>
          </a:p>
        </p:txBody>
      </p:sp>
      <p:sp>
        <p:nvSpPr>
          <p:cNvPr id="33" name="Rounded Rectangle 32"/>
          <p:cNvSpPr/>
          <p:nvPr/>
        </p:nvSpPr>
        <p:spPr>
          <a:xfrm>
            <a:off x="3977639" y="3566160"/>
            <a:ext cx="1627632" cy="68580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977639" y="3685032"/>
            <a:ext cx="1627632" cy="457200"/>
          </a:xfrm>
          <a:prstGeom prst="rect">
            <a:avLst/>
          </a:prstGeom>
          <a:noFill/>
        </p:spPr>
        <p:txBody>
          <a:bodyPr wrap="square">
            <a:spAutoFit/>
          </a:bodyPr>
          <a:lstStyle/>
          <a:p>
            <a:pPr algn="ctr"/>
            <a:r>
              <a:rPr sz="2000" b="1">
                <a:solidFill>
                  <a:srgbClr val="16366B"/>
                </a:solidFill>
                <a:latin typeface="Calibri"/>
              </a:rPr>
              <a:t>The</a:t>
            </a:r>
          </a:p>
        </p:txBody>
      </p:sp>
      <p:sp>
        <p:nvSpPr>
          <p:cNvPr id="35" name="Rounded Rectangle 34"/>
          <p:cNvSpPr/>
          <p:nvPr/>
        </p:nvSpPr>
        <p:spPr>
          <a:xfrm>
            <a:off x="5760720" y="3566160"/>
            <a:ext cx="1627632" cy="68580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760720" y="3685032"/>
            <a:ext cx="1627632" cy="457200"/>
          </a:xfrm>
          <a:prstGeom prst="rect">
            <a:avLst/>
          </a:prstGeom>
          <a:noFill/>
        </p:spPr>
        <p:txBody>
          <a:bodyPr wrap="square">
            <a:spAutoFit/>
          </a:bodyPr>
          <a:lstStyle/>
          <a:p>
            <a:pPr algn="ctr"/>
            <a:r>
              <a:rPr sz="2000" b="1">
                <a:solidFill>
                  <a:srgbClr val="16366B"/>
                </a:solidFill>
                <a:latin typeface="Calibri"/>
              </a:rPr>
              <a:t>is</a:t>
            </a:r>
          </a:p>
        </p:txBody>
      </p:sp>
      <p:sp>
        <p:nvSpPr>
          <p:cNvPr id="37" name="Rounded Rectangle 36"/>
          <p:cNvSpPr/>
          <p:nvPr/>
        </p:nvSpPr>
        <p:spPr>
          <a:xfrm>
            <a:off x="7543800" y="3566160"/>
            <a:ext cx="1627632" cy="68580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43800" y="3685032"/>
            <a:ext cx="1627632" cy="457200"/>
          </a:xfrm>
          <a:prstGeom prst="rect">
            <a:avLst/>
          </a:prstGeom>
          <a:noFill/>
        </p:spPr>
        <p:txBody>
          <a:bodyPr wrap="square">
            <a:spAutoFit/>
          </a:bodyPr>
          <a:lstStyle/>
          <a:p>
            <a:pPr algn="ctr"/>
            <a:r>
              <a:rPr sz="2000" b="1">
                <a:solidFill>
                  <a:srgbClr val="16366B"/>
                </a:solidFill>
                <a:latin typeface="Calibri"/>
              </a:rPr>
              <a:t>cat</a:t>
            </a:r>
          </a:p>
        </p:txBody>
      </p:sp>
      <p:sp>
        <p:nvSpPr>
          <p:cNvPr id="39" name="Rounded Rectangle 38"/>
          <p:cNvSpPr/>
          <p:nvPr/>
        </p:nvSpPr>
        <p:spPr>
          <a:xfrm>
            <a:off x="457200" y="4754879"/>
            <a:ext cx="11292840" cy="1325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58368" y="5138927"/>
            <a:ext cx="548640" cy="548640"/>
          </a:xfrm>
          <a:prstGeom prst="ellipse">
            <a:avLst/>
          </a:prstGeom>
          <a:solidFill>
            <a:srgbClr val="7B4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 y="5212079"/>
            <a:ext cx="548640" cy="411480"/>
          </a:xfrm>
          <a:prstGeom prst="rect">
            <a:avLst/>
          </a:prstGeom>
          <a:noFill/>
        </p:spPr>
        <p:txBody>
          <a:bodyPr wrap="square">
            <a:spAutoFit/>
          </a:bodyPr>
          <a:lstStyle/>
          <a:p>
            <a:pPr algn="ctr"/>
            <a:r>
              <a:rPr sz="1600" b="1">
                <a:solidFill>
                  <a:srgbClr val="FFFFFF"/>
                </a:solidFill>
                <a:latin typeface="Calibri"/>
              </a:rPr>
              <a:t>3</a:t>
            </a:r>
          </a:p>
        </p:txBody>
      </p:sp>
      <p:sp>
        <p:nvSpPr>
          <p:cNvPr id="42" name="TextBox 41"/>
          <p:cNvSpPr txBox="1"/>
          <p:nvPr/>
        </p:nvSpPr>
        <p:spPr>
          <a:xfrm>
            <a:off x="1371600" y="5166359"/>
            <a:ext cx="685800" cy="502920"/>
          </a:xfrm>
          <a:prstGeom prst="rect">
            <a:avLst/>
          </a:prstGeom>
          <a:noFill/>
        </p:spPr>
        <p:txBody>
          <a:bodyPr wrap="square">
            <a:spAutoFit/>
          </a:bodyPr>
          <a:lstStyle/>
          <a:p>
            <a:pPr algn="ctr"/>
            <a:r>
              <a:rPr sz="2200" b="0">
                <a:solidFill>
                  <a:srgbClr val="242C38"/>
                </a:solidFill>
                <a:latin typeface="Calibri"/>
              </a:rPr>
              <a:t>🏃</a:t>
            </a:r>
          </a:p>
        </p:txBody>
      </p:sp>
      <p:sp>
        <p:nvSpPr>
          <p:cNvPr id="43" name="Rounded Rectangle 42"/>
          <p:cNvSpPr/>
          <p:nvPr/>
        </p:nvSpPr>
        <p:spPr>
          <a:xfrm>
            <a:off x="2194560" y="5074919"/>
            <a:ext cx="1627632" cy="68580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194560" y="5193791"/>
            <a:ext cx="1627632" cy="457200"/>
          </a:xfrm>
          <a:prstGeom prst="rect">
            <a:avLst/>
          </a:prstGeom>
          <a:noFill/>
        </p:spPr>
        <p:txBody>
          <a:bodyPr wrap="square">
            <a:spAutoFit/>
          </a:bodyPr>
          <a:lstStyle/>
          <a:p>
            <a:pPr algn="ctr"/>
            <a:r>
              <a:rPr sz="2000" b="1">
                <a:solidFill>
                  <a:srgbClr val="16366B"/>
                </a:solidFill>
                <a:latin typeface="Calibri"/>
              </a:rPr>
              <a:t>run</a:t>
            </a:r>
          </a:p>
        </p:txBody>
      </p:sp>
      <p:sp>
        <p:nvSpPr>
          <p:cNvPr id="45" name="Rounded Rectangle 44"/>
          <p:cNvSpPr/>
          <p:nvPr/>
        </p:nvSpPr>
        <p:spPr>
          <a:xfrm>
            <a:off x="3977639" y="5074919"/>
            <a:ext cx="1627632" cy="68580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977639" y="5193791"/>
            <a:ext cx="1627632" cy="457200"/>
          </a:xfrm>
          <a:prstGeom prst="rect">
            <a:avLst/>
          </a:prstGeom>
          <a:noFill/>
        </p:spPr>
        <p:txBody>
          <a:bodyPr wrap="square">
            <a:spAutoFit/>
          </a:bodyPr>
          <a:lstStyle/>
          <a:p>
            <a:pPr algn="ctr"/>
            <a:r>
              <a:rPr sz="2000" b="1">
                <a:solidFill>
                  <a:srgbClr val="16366B"/>
                </a:solidFill>
                <a:latin typeface="Calibri"/>
              </a:rPr>
              <a:t>I</a:t>
            </a:r>
          </a:p>
        </p:txBody>
      </p:sp>
      <p:sp>
        <p:nvSpPr>
          <p:cNvPr id="47" name="Rounded Rectangle 46"/>
          <p:cNvSpPr/>
          <p:nvPr/>
        </p:nvSpPr>
        <p:spPr>
          <a:xfrm>
            <a:off x="5760720" y="5074919"/>
            <a:ext cx="1627632" cy="68580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760720" y="5193791"/>
            <a:ext cx="1627632" cy="457200"/>
          </a:xfrm>
          <a:prstGeom prst="rect">
            <a:avLst/>
          </a:prstGeom>
          <a:noFill/>
        </p:spPr>
        <p:txBody>
          <a:bodyPr wrap="square">
            <a:spAutoFit/>
          </a:bodyPr>
          <a:lstStyle/>
          <a:p>
            <a:pPr algn="ctr"/>
            <a:r>
              <a:rPr sz="2000" b="1">
                <a:solidFill>
                  <a:srgbClr val="16366B"/>
                </a:solidFill>
                <a:latin typeface="Calibri"/>
              </a:rPr>
              <a:t>can</a:t>
            </a:r>
          </a:p>
        </p:txBody>
      </p:sp>
    </p:spTree>
  </p:cSld>
  <p:clrMapOvr>
    <a:masterClrMapping/>
  </p:clrMapOvr>
  <p:transition spd="med"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7B4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7B4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GAME</a:t>
            </a:r>
          </a:p>
        </p:txBody>
      </p:sp>
      <p:sp>
        <p:nvSpPr>
          <p:cNvPr id="6" name="Rounded Rectangle 5"/>
          <p:cNvSpPr/>
          <p:nvPr/>
        </p:nvSpPr>
        <p:spPr>
          <a:xfrm>
            <a:off x="9418320" y="237744"/>
            <a:ext cx="242316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a:solidFill>
                  <a:srgbClr val="FFFFFF"/>
                </a:solidFill>
                <a:latin typeface="Calibri"/>
              </a:rPr>
              <a:t>60–68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Build the Sentence — Round 2</a:t>
            </a:r>
          </a:p>
        </p:txBody>
      </p:sp>
      <p:sp>
        <p:nvSpPr>
          <p:cNvPr id="9" name="Rectangle 8"/>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6966682"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Build it  |  60–68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20 / 35</a:t>
            </a:r>
          </a:p>
        </p:txBody>
      </p:sp>
      <p:sp>
        <p:nvSpPr>
          <p:cNvPr id="14" name="TextBox 13"/>
          <p:cNvSpPr txBox="1"/>
          <p:nvPr/>
        </p:nvSpPr>
        <p:spPr>
          <a:xfrm>
            <a:off x="411480" y="1261872"/>
            <a:ext cx="10515600" cy="384048"/>
          </a:xfrm>
          <a:prstGeom prst="rect">
            <a:avLst/>
          </a:prstGeom>
          <a:noFill/>
        </p:spPr>
        <p:txBody>
          <a:bodyPr wrap="square">
            <a:spAutoFit/>
          </a:bodyPr>
          <a:lstStyle/>
          <a:p>
            <a:pPr algn="l"/>
            <a:r>
              <a:rPr sz="1600" b="1">
                <a:solidFill>
                  <a:srgbClr val="E85A4F"/>
                </a:solidFill>
                <a:latin typeface="Calibri"/>
              </a:rPr>
              <a:t>The words got mixed up! Put them back in order, then read it.</a:t>
            </a:r>
          </a:p>
        </p:txBody>
      </p:sp>
      <p:sp>
        <p:nvSpPr>
          <p:cNvPr id="15" name="Rounded Rectangle 14"/>
          <p:cNvSpPr/>
          <p:nvPr/>
        </p:nvSpPr>
        <p:spPr>
          <a:xfrm>
            <a:off x="457200" y="1737360"/>
            <a:ext cx="11292840" cy="1325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58368" y="2121408"/>
            <a:ext cx="548640" cy="548640"/>
          </a:xfrm>
          <a:prstGeom prst="ellipse">
            <a:avLst/>
          </a:prstGeom>
          <a:solidFill>
            <a:srgbClr val="7B4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2194560"/>
            <a:ext cx="548640" cy="411480"/>
          </a:xfrm>
          <a:prstGeom prst="rect">
            <a:avLst/>
          </a:prstGeom>
          <a:noFill/>
        </p:spPr>
        <p:txBody>
          <a:bodyPr wrap="square">
            <a:spAutoFit/>
          </a:bodyPr>
          <a:lstStyle/>
          <a:p>
            <a:pPr algn="ctr"/>
            <a:r>
              <a:rPr sz="1600" b="1">
                <a:solidFill>
                  <a:srgbClr val="FFFFFF"/>
                </a:solidFill>
                <a:latin typeface="Calibri"/>
              </a:rPr>
              <a:t>4</a:t>
            </a:r>
          </a:p>
        </p:txBody>
      </p:sp>
      <p:sp>
        <p:nvSpPr>
          <p:cNvPr id="18" name="TextBox 17"/>
          <p:cNvSpPr txBox="1"/>
          <p:nvPr/>
        </p:nvSpPr>
        <p:spPr>
          <a:xfrm>
            <a:off x="1371600" y="2148840"/>
            <a:ext cx="685800" cy="502920"/>
          </a:xfrm>
          <a:prstGeom prst="rect">
            <a:avLst/>
          </a:prstGeom>
          <a:noFill/>
        </p:spPr>
        <p:txBody>
          <a:bodyPr wrap="square">
            <a:spAutoFit/>
          </a:bodyPr>
          <a:lstStyle/>
          <a:p>
            <a:pPr algn="ctr"/>
            <a:r>
              <a:rPr sz="2200" b="0">
                <a:solidFill>
                  <a:srgbClr val="242C38"/>
                </a:solidFill>
                <a:latin typeface="Calibri"/>
              </a:rPr>
              <a:t>☀️</a:t>
            </a:r>
          </a:p>
        </p:txBody>
      </p:sp>
      <p:sp>
        <p:nvSpPr>
          <p:cNvPr id="19" name="Rounded Rectangle 18"/>
          <p:cNvSpPr/>
          <p:nvPr/>
        </p:nvSpPr>
        <p:spPr>
          <a:xfrm>
            <a:off x="2194560" y="2057400"/>
            <a:ext cx="1627632" cy="68580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94560" y="2176272"/>
            <a:ext cx="1627632" cy="457200"/>
          </a:xfrm>
          <a:prstGeom prst="rect">
            <a:avLst/>
          </a:prstGeom>
          <a:noFill/>
        </p:spPr>
        <p:txBody>
          <a:bodyPr wrap="square">
            <a:spAutoFit/>
          </a:bodyPr>
          <a:lstStyle/>
          <a:p>
            <a:pPr algn="ctr"/>
            <a:r>
              <a:rPr sz="2000" b="1">
                <a:solidFill>
                  <a:srgbClr val="16366B"/>
                </a:solidFill>
                <a:latin typeface="Calibri"/>
              </a:rPr>
              <a:t>sun</a:t>
            </a:r>
          </a:p>
        </p:txBody>
      </p:sp>
      <p:sp>
        <p:nvSpPr>
          <p:cNvPr id="21" name="Rounded Rectangle 20"/>
          <p:cNvSpPr/>
          <p:nvPr/>
        </p:nvSpPr>
        <p:spPr>
          <a:xfrm>
            <a:off x="3977639" y="2057400"/>
            <a:ext cx="1627632" cy="68580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77639" y="2176272"/>
            <a:ext cx="1627632" cy="457200"/>
          </a:xfrm>
          <a:prstGeom prst="rect">
            <a:avLst/>
          </a:prstGeom>
          <a:noFill/>
        </p:spPr>
        <p:txBody>
          <a:bodyPr wrap="square">
            <a:spAutoFit/>
          </a:bodyPr>
          <a:lstStyle/>
          <a:p>
            <a:pPr algn="ctr"/>
            <a:r>
              <a:rPr sz="2000" b="1">
                <a:solidFill>
                  <a:srgbClr val="16366B"/>
                </a:solidFill>
                <a:latin typeface="Calibri"/>
              </a:rPr>
              <a:t>the</a:t>
            </a:r>
          </a:p>
        </p:txBody>
      </p:sp>
      <p:sp>
        <p:nvSpPr>
          <p:cNvPr id="23" name="Rounded Rectangle 22"/>
          <p:cNvSpPr/>
          <p:nvPr/>
        </p:nvSpPr>
        <p:spPr>
          <a:xfrm>
            <a:off x="5760720" y="2057400"/>
            <a:ext cx="1627632" cy="68580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60720" y="2176272"/>
            <a:ext cx="1627632" cy="457200"/>
          </a:xfrm>
          <a:prstGeom prst="rect">
            <a:avLst/>
          </a:prstGeom>
          <a:noFill/>
        </p:spPr>
        <p:txBody>
          <a:bodyPr wrap="square">
            <a:spAutoFit/>
          </a:bodyPr>
          <a:lstStyle/>
          <a:p>
            <a:pPr algn="ctr"/>
            <a:r>
              <a:rPr sz="2000" b="1">
                <a:solidFill>
                  <a:srgbClr val="16366B"/>
                </a:solidFill>
                <a:latin typeface="Calibri"/>
              </a:rPr>
              <a:t>We</a:t>
            </a:r>
          </a:p>
        </p:txBody>
      </p:sp>
      <p:sp>
        <p:nvSpPr>
          <p:cNvPr id="25" name="Rounded Rectangle 24"/>
          <p:cNvSpPr/>
          <p:nvPr/>
        </p:nvSpPr>
        <p:spPr>
          <a:xfrm>
            <a:off x="7543800" y="2057400"/>
            <a:ext cx="1627632" cy="68580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43800" y="2176272"/>
            <a:ext cx="1627632" cy="457200"/>
          </a:xfrm>
          <a:prstGeom prst="rect">
            <a:avLst/>
          </a:prstGeom>
          <a:noFill/>
        </p:spPr>
        <p:txBody>
          <a:bodyPr wrap="square">
            <a:spAutoFit/>
          </a:bodyPr>
          <a:lstStyle/>
          <a:p>
            <a:pPr algn="ctr"/>
            <a:r>
              <a:rPr sz="2000" b="1">
                <a:solidFill>
                  <a:srgbClr val="16366B"/>
                </a:solidFill>
                <a:latin typeface="Calibri"/>
              </a:rPr>
              <a:t>see</a:t>
            </a:r>
          </a:p>
        </p:txBody>
      </p:sp>
      <p:sp>
        <p:nvSpPr>
          <p:cNvPr id="27" name="Rounded Rectangle 26"/>
          <p:cNvSpPr/>
          <p:nvPr/>
        </p:nvSpPr>
        <p:spPr>
          <a:xfrm>
            <a:off x="457200" y="3246120"/>
            <a:ext cx="11292840" cy="1325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58368" y="3630168"/>
            <a:ext cx="548640" cy="548640"/>
          </a:xfrm>
          <a:prstGeom prst="ellipse">
            <a:avLst/>
          </a:prstGeom>
          <a:solidFill>
            <a:srgbClr val="7B4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3703320"/>
            <a:ext cx="548640" cy="411480"/>
          </a:xfrm>
          <a:prstGeom prst="rect">
            <a:avLst/>
          </a:prstGeom>
          <a:noFill/>
        </p:spPr>
        <p:txBody>
          <a:bodyPr wrap="square">
            <a:spAutoFit/>
          </a:bodyPr>
          <a:lstStyle/>
          <a:p>
            <a:pPr algn="ctr"/>
            <a:r>
              <a:rPr sz="1600" b="1">
                <a:solidFill>
                  <a:srgbClr val="FFFFFF"/>
                </a:solidFill>
                <a:latin typeface="Calibri"/>
              </a:rPr>
              <a:t>5</a:t>
            </a:r>
          </a:p>
        </p:txBody>
      </p:sp>
      <p:sp>
        <p:nvSpPr>
          <p:cNvPr id="30" name="TextBox 29"/>
          <p:cNvSpPr txBox="1"/>
          <p:nvPr/>
        </p:nvSpPr>
        <p:spPr>
          <a:xfrm>
            <a:off x="1371600" y="3657600"/>
            <a:ext cx="685800" cy="502920"/>
          </a:xfrm>
          <a:prstGeom prst="rect">
            <a:avLst/>
          </a:prstGeom>
          <a:noFill/>
        </p:spPr>
        <p:txBody>
          <a:bodyPr wrap="square">
            <a:spAutoFit/>
          </a:bodyPr>
          <a:lstStyle/>
          <a:p>
            <a:pPr algn="ctr"/>
            <a:r>
              <a:rPr sz="2200" b="0">
                <a:solidFill>
                  <a:srgbClr val="242C38"/>
                </a:solidFill>
                <a:latin typeface="Calibri"/>
              </a:rPr>
              <a:t>🐶</a:t>
            </a:r>
          </a:p>
        </p:txBody>
      </p:sp>
      <p:sp>
        <p:nvSpPr>
          <p:cNvPr id="31" name="Rounded Rectangle 30"/>
          <p:cNvSpPr/>
          <p:nvPr/>
        </p:nvSpPr>
        <p:spPr>
          <a:xfrm>
            <a:off x="2194560" y="3566160"/>
            <a:ext cx="1627632" cy="68580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685032"/>
            <a:ext cx="1627632" cy="457200"/>
          </a:xfrm>
          <a:prstGeom prst="rect">
            <a:avLst/>
          </a:prstGeom>
          <a:noFill/>
        </p:spPr>
        <p:txBody>
          <a:bodyPr wrap="square">
            <a:spAutoFit/>
          </a:bodyPr>
          <a:lstStyle/>
          <a:p>
            <a:pPr algn="ctr"/>
            <a:r>
              <a:rPr sz="2000" b="1">
                <a:solidFill>
                  <a:srgbClr val="16366B"/>
                </a:solidFill>
                <a:latin typeface="Calibri"/>
              </a:rPr>
              <a:t>can</a:t>
            </a:r>
          </a:p>
        </p:txBody>
      </p:sp>
      <p:sp>
        <p:nvSpPr>
          <p:cNvPr id="33" name="Rounded Rectangle 32"/>
          <p:cNvSpPr/>
          <p:nvPr/>
        </p:nvSpPr>
        <p:spPr>
          <a:xfrm>
            <a:off x="3977639" y="3566160"/>
            <a:ext cx="1627632" cy="68580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977639" y="3685032"/>
            <a:ext cx="1627632" cy="457200"/>
          </a:xfrm>
          <a:prstGeom prst="rect">
            <a:avLst/>
          </a:prstGeom>
          <a:noFill/>
        </p:spPr>
        <p:txBody>
          <a:bodyPr wrap="square">
            <a:spAutoFit/>
          </a:bodyPr>
          <a:lstStyle/>
          <a:p>
            <a:pPr algn="ctr"/>
            <a:r>
              <a:rPr sz="2000" b="1">
                <a:solidFill>
                  <a:srgbClr val="16366B"/>
                </a:solidFill>
                <a:latin typeface="Calibri"/>
              </a:rPr>
              <a:t>dog</a:t>
            </a:r>
          </a:p>
        </p:txBody>
      </p:sp>
      <p:sp>
        <p:nvSpPr>
          <p:cNvPr id="35" name="Rounded Rectangle 34"/>
          <p:cNvSpPr/>
          <p:nvPr/>
        </p:nvSpPr>
        <p:spPr>
          <a:xfrm>
            <a:off x="5760720" y="3566160"/>
            <a:ext cx="1627632" cy="68580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760720" y="3685032"/>
            <a:ext cx="1627632" cy="457200"/>
          </a:xfrm>
          <a:prstGeom prst="rect">
            <a:avLst/>
          </a:prstGeom>
          <a:noFill/>
        </p:spPr>
        <p:txBody>
          <a:bodyPr wrap="square">
            <a:spAutoFit/>
          </a:bodyPr>
          <a:lstStyle/>
          <a:p>
            <a:pPr algn="ctr"/>
            <a:r>
              <a:rPr sz="2000" b="1">
                <a:solidFill>
                  <a:srgbClr val="16366B"/>
                </a:solidFill>
                <a:latin typeface="Calibri"/>
              </a:rPr>
              <a:t>My</a:t>
            </a:r>
          </a:p>
        </p:txBody>
      </p:sp>
      <p:sp>
        <p:nvSpPr>
          <p:cNvPr id="37" name="Rounded Rectangle 36"/>
          <p:cNvSpPr/>
          <p:nvPr/>
        </p:nvSpPr>
        <p:spPr>
          <a:xfrm>
            <a:off x="7543800" y="3566160"/>
            <a:ext cx="1627632" cy="68580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43800" y="3685032"/>
            <a:ext cx="1627632" cy="457200"/>
          </a:xfrm>
          <a:prstGeom prst="rect">
            <a:avLst/>
          </a:prstGeom>
          <a:noFill/>
        </p:spPr>
        <p:txBody>
          <a:bodyPr wrap="square">
            <a:spAutoFit/>
          </a:bodyPr>
          <a:lstStyle/>
          <a:p>
            <a:pPr algn="ctr"/>
            <a:r>
              <a:rPr sz="2000" b="1">
                <a:solidFill>
                  <a:srgbClr val="16366B"/>
                </a:solidFill>
                <a:latin typeface="Calibri"/>
              </a:rPr>
              <a:t>run</a:t>
            </a:r>
          </a:p>
        </p:txBody>
      </p:sp>
      <p:sp>
        <p:nvSpPr>
          <p:cNvPr id="39" name="Rounded Rectangle 38"/>
          <p:cNvSpPr/>
          <p:nvPr/>
        </p:nvSpPr>
        <p:spPr>
          <a:xfrm>
            <a:off x="457200" y="4754879"/>
            <a:ext cx="11292840" cy="1325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58368" y="5138927"/>
            <a:ext cx="548640" cy="548640"/>
          </a:xfrm>
          <a:prstGeom prst="ellipse">
            <a:avLst/>
          </a:prstGeom>
          <a:solidFill>
            <a:srgbClr val="7B4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 y="5212079"/>
            <a:ext cx="548640" cy="411480"/>
          </a:xfrm>
          <a:prstGeom prst="rect">
            <a:avLst/>
          </a:prstGeom>
          <a:noFill/>
        </p:spPr>
        <p:txBody>
          <a:bodyPr wrap="square">
            <a:spAutoFit/>
          </a:bodyPr>
          <a:lstStyle/>
          <a:p>
            <a:pPr algn="ctr"/>
            <a:r>
              <a:rPr sz="1600" b="1">
                <a:solidFill>
                  <a:srgbClr val="FFFFFF"/>
                </a:solidFill>
                <a:latin typeface="Calibri"/>
              </a:rPr>
              <a:t>6</a:t>
            </a:r>
          </a:p>
        </p:txBody>
      </p:sp>
      <p:sp>
        <p:nvSpPr>
          <p:cNvPr id="42" name="TextBox 41"/>
          <p:cNvSpPr txBox="1"/>
          <p:nvPr/>
        </p:nvSpPr>
        <p:spPr>
          <a:xfrm>
            <a:off x="1371600" y="5166359"/>
            <a:ext cx="685800" cy="502920"/>
          </a:xfrm>
          <a:prstGeom prst="rect">
            <a:avLst/>
          </a:prstGeom>
          <a:noFill/>
        </p:spPr>
        <p:txBody>
          <a:bodyPr wrap="square">
            <a:spAutoFit/>
          </a:bodyPr>
          <a:lstStyle/>
          <a:p>
            <a:pPr algn="ctr"/>
            <a:r>
              <a:rPr sz="2200" b="0">
                <a:solidFill>
                  <a:srgbClr val="242C38"/>
                </a:solidFill>
                <a:latin typeface="Calibri"/>
              </a:rPr>
              <a:t>🔴</a:t>
            </a:r>
          </a:p>
        </p:txBody>
      </p:sp>
      <p:sp>
        <p:nvSpPr>
          <p:cNvPr id="43" name="Rounded Rectangle 42"/>
          <p:cNvSpPr/>
          <p:nvPr/>
        </p:nvSpPr>
        <p:spPr>
          <a:xfrm>
            <a:off x="2194560" y="5074919"/>
            <a:ext cx="1627632" cy="68580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194560" y="5193791"/>
            <a:ext cx="1627632" cy="457200"/>
          </a:xfrm>
          <a:prstGeom prst="rect">
            <a:avLst/>
          </a:prstGeom>
          <a:noFill/>
        </p:spPr>
        <p:txBody>
          <a:bodyPr wrap="square">
            <a:spAutoFit/>
          </a:bodyPr>
          <a:lstStyle/>
          <a:p>
            <a:pPr algn="ctr"/>
            <a:r>
              <a:rPr sz="2000" b="1">
                <a:solidFill>
                  <a:srgbClr val="16366B"/>
                </a:solidFill>
                <a:latin typeface="Calibri"/>
              </a:rPr>
              <a:t>red</a:t>
            </a:r>
          </a:p>
        </p:txBody>
      </p:sp>
      <p:sp>
        <p:nvSpPr>
          <p:cNvPr id="45" name="Rounded Rectangle 44"/>
          <p:cNvSpPr/>
          <p:nvPr/>
        </p:nvSpPr>
        <p:spPr>
          <a:xfrm>
            <a:off x="3977639" y="5074919"/>
            <a:ext cx="1627632" cy="68580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977639" y="5193791"/>
            <a:ext cx="1627632" cy="457200"/>
          </a:xfrm>
          <a:prstGeom prst="rect">
            <a:avLst/>
          </a:prstGeom>
          <a:noFill/>
        </p:spPr>
        <p:txBody>
          <a:bodyPr wrap="square">
            <a:spAutoFit/>
          </a:bodyPr>
          <a:lstStyle/>
          <a:p>
            <a:pPr algn="ctr"/>
            <a:r>
              <a:rPr sz="2000" b="1">
                <a:solidFill>
                  <a:srgbClr val="16366B"/>
                </a:solidFill>
                <a:latin typeface="Calibri"/>
              </a:rPr>
              <a:t>a</a:t>
            </a:r>
          </a:p>
        </p:txBody>
      </p:sp>
      <p:sp>
        <p:nvSpPr>
          <p:cNvPr id="47" name="Rounded Rectangle 46"/>
          <p:cNvSpPr/>
          <p:nvPr/>
        </p:nvSpPr>
        <p:spPr>
          <a:xfrm>
            <a:off x="5760720" y="5074919"/>
            <a:ext cx="1627632" cy="68580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760720" y="5193791"/>
            <a:ext cx="1627632" cy="457200"/>
          </a:xfrm>
          <a:prstGeom prst="rect">
            <a:avLst/>
          </a:prstGeom>
          <a:noFill/>
        </p:spPr>
        <p:txBody>
          <a:bodyPr wrap="square">
            <a:spAutoFit/>
          </a:bodyPr>
          <a:lstStyle/>
          <a:p>
            <a:pPr algn="ctr"/>
            <a:r>
              <a:rPr sz="2000" b="1">
                <a:solidFill>
                  <a:srgbClr val="16366B"/>
                </a:solidFill>
                <a:latin typeface="Calibri"/>
              </a:rPr>
              <a:t>has</a:t>
            </a:r>
          </a:p>
        </p:txBody>
      </p:sp>
      <p:sp>
        <p:nvSpPr>
          <p:cNvPr id="49" name="Rounded Rectangle 48"/>
          <p:cNvSpPr/>
          <p:nvPr/>
        </p:nvSpPr>
        <p:spPr>
          <a:xfrm>
            <a:off x="7543800" y="5074919"/>
            <a:ext cx="1627632" cy="68580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543800" y="5193791"/>
            <a:ext cx="1627632" cy="457200"/>
          </a:xfrm>
          <a:prstGeom prst="rect">
            <a:avLst/>
          </a:prstGeom>
          <a:noFill/>
        </p:spPr>
        <p:txBody>
          <a:bodyPr wrap="square">
            <a:spAutoFit/>
          </a:bodyPr>
          <a:lstStyle/>
          <a:p>
            <a:pPr algn="ctr"/>
            <a:r>
              <a:rPr sz="2000" b="1">
                <a:solidFill>
                  <a:srgbClr val="16366B"/>
                </a:solidFill>
                <a:latin typeface="Calibri"/>
              </a:rPr>
              <a:t>Ben</a:t>
            </a:r>
          </a:p>
        </p:txBody>
      </p:sp>
      <p:sp>
        <p:nvSpPr>
          <p:cNvPr id="51" name="Rounded Rectangle 50"/>
          <p:cNvSpPr/>
          <p:nvPr/>
        </p:nvSpPr>
        <p:spPr>
          <a:xfrm>
            <a:off x="9326880" y="5074919"/>
            <a:ext cx="1627632" cy="68580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326880" y="5193791"/>
            <a:ext cx="1627632" cy="457200"/>
          </a:xfrm>
          <a:prstGeom prst="rect">
            <a:avLst/>
          </a:prstGeom>
          <a:noFill/>
        </p:spPr>
        <p:txBody>
          <a:bodyPr wrap="square">
            <a:spAutoFit/>
          </a:bodyPr>
          <a:lstStyle/>
          <a:p>
            <a:pPr algn="ctr"/>
            <a:r>
              <a:rPr sz="2000" b="1">
                <a:solidFill>
                  <a:srgbClr val="16366B"/>
                </a:solidFill>
                <a:latin typeface="Calibri"/>
              </a:rPr>
              <a:t>ball</a:t>
            </a:r>
          </a:p>
        </p:txBody>
      </p:sp>
    </p:spTree>
  </p:cSld>
  <p:clrMapOvr>
    <a:masterClrMapping/>
  </p:clrMapOvr>
  <p:transition spd="med"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E7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2E7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VOCAB</a:t>
            </a:r>
          </a:p>
        </p:txBody>
      </p:sp>
      <p:sp>
        <p:nvSpPr>
          <p:cNvPr id="6" name="Rounded Rectangle 5"/>
          <p:cNvSpPr/>
          <p:nvPr/>
        </p:nvSpPr>
        <p:spPr>
          <a:xfrm>
            <a:off x="9418320" y="237744"/>
            <a:ext cx="242316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a:solidFill>
                  <a:srgbClr val="FFFFFF"/>
                </a:solidFill>
                <a:latin typeface="Calibri"/>
              </a:rPr>
              <a:t>68–78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Story Words — Meet Ben the Bear</a:t>
            </a:r>
          </a:p>
        </p:txBody>
      </p:sp>
      <p:sp>
        <p:nvSpPr>
          <p:cNvPr id="9" name="Rectangle 8"/>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7315017"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Story words  |  68–78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21 / 35</a:t>
            </a:r>
          </a:p>
        </p:txBody>
      </p:sp>
      <p:sp>
        <p:nvSpPr>
          <p:cNvPr id="14" name="TextBox 13"/>
          <p:cNvSpPr txBox="1"/>
          <p:nvPr/>
        </p:nvSpPr>
        <p:spPr>
          <a:xfrm>
            <a:off x="411480" y="1243584"/>
            <a:ext cx="10515600" cy="365760"/>
          </a:xfrm>
          <a:prstGeom prst="rect">
            <a:avLst/>
          </a:prstGeom>
          <a:noFill/>
        </p:spPr>
        <p:txBody>
          <a:bodyPr wrap="square">
            <a:spAutoFit/>
          </a:bodyPr>
          <a:lstStyle/>
          <a:p>
            <a:pPr algn="l"/>
            <a:r>
              <a:rPr sz="1600" b="1">
                <a:solidFill>
                  <a:srgbClr val="E85A4F"/>
                </a:solidFill>
                <a:latin typeface="Calibri"/>
              </a:rPr>
              <a:t>These words are in Ben's story. Let's meet them first!</a:t>
            </a:r>
          </a:p>
        </p:txBody>
      </p:sp>
      <p:sp>
        <p:nvSpPr>
          <p:cNvPr id="15" name="Rounded Rectangle 14"/>
          <p:cNvSpPr/>
          <p:nvPr/>
        </p:nvSpPr>
        <p:spPr>
          <a:xfrm>
            <a:off x="411480" y="1691640"/>
            <a:ext cx="2743200" cy="2103120"/>
          </a:xfrm>
          <a:prstGeom prst="roundRect">
            <a:avLst/>
          </a:prstGeom>
          <a:solidFill>
            <a:srgbClr val="E4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1801368"/>
            <a:ext cx="2560320" cy="548640"/>
          </a:xfrm>
          <a:prstGeom prst="rect">
            <a:avLst/>
          </a:prstGeom>
          <a:noFill/>
        </p:spPr>
        <p:txBody>
          <a:bodyPr wrap="square">
            <a:spAutoFit/>
          </a:bodyPr>
          <a:lstStyle/>
          <a:p>
            <a:pPr algn="ctr"/>
            <a:r>
              <a:rPr sz="2600" b="0">
                <a:solidFill>
                  <a:srgbClr val="242C38"/>
                </a:solidFill>
                <a:latin typeface="Calibri"/>
              </a:rPr>
              <a:t>🐻</a:t>
            </a:r>
          </a:p>
        </p:txBody>
      </p:sp>
      <p:sp>
        <p:nvSpPr>
          <p:cNvPr id="17" name="TextBox 16"/>
          <p:cNvSpPr txBox="1"/>
          <p:nvPr/>
        </p:nvSpPr>
        <p:spPr>
          <a:xfrm>
            <a:off x="502920" y="2377440"/>
            <a:ext cx="2560320" cy="548640"/>
          </a:xfrm>
          <a:prstGeom prst="rect">
            <a:avLst/>
          </a:prstGeom>
          <a:noFill/>
        </p:spPr>
        <p:txBody>
          <a:bodyPr wrap="square">
            <a:spAutoFit/>
          </a:bodyPr>
          <a:lstStyle/>
          <a:p>
            <a:pPr algn="ctr"/>
            <a:r>
              <a:rPr sz="2800" b="1">
                <a:solidFill>
                  <a:srgbClr val="2E7D53"/>
                </a:solidFill>
                <a:latin typeface="Arial Black"/>
              </a:rPr>
              <a:t>bear</a:t>
            </a:r>
          </a:p>
        </p:txBody>
      </p:sp>
      <p:sp>
        <p:nvSpPr>
          <p:cNvPr id="18" name="TextBox 17"/>
          <p:cNvSpPr txBox="1"/>
          <p:nvPr/>
        </p:nvSpPr>
        <p:spPr>
          <a:xfrm>
            <a:off x="502920" y="2926080"/>
            <a:ext cx="2560320" cy="320040"/>
          </a:xfrm>
          <a:prstGeom prst="rect">
            <a:avLst/>
          </a:prstGeom>
          <a:noFill/>
        </p:spPr>
        <p:txBody>
          <a:bodyPr wrap="square">
            <a:spAutoFit/>
          </a:bodyPr>
          <a:lstStyle/>
          <a:p>
            <a:pPr algn="ctr"/>
            <a:r>
              <a:rPr sz="1300" b="0">
                <a:solidFill>
                  <a:srgbClr val="6A7788"/>
                </a:solidFill>
                <a:latin typeface="Calibri"/>
              </a:rPr>
              <a:t>b - ear</a:t>
            </a:r>
          </a:p>
        </p:txBody>
      </p:sp>
      <p:sp>
        <p:nvSpPr>
          <p:cNvPr id="19" name="Rounded Rectangle 18"/>
          <p:cNvSpPr/>
          <p:nvPr/>
        </p:nvSpPr>
        <p:spPr>
          <a:xfrm>
            <a:off x="548640" y="3264408"/>
            <a:ext cx="246888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328416"/>
            <a:ext cx="2468880" cy="320040"/>
          </a:xfrm>
          <a:prstGeom prst="rect">
            <a:avLst/>
          </a:prstGeom>
          <a:noFill/>
        </p:spPr>
        <p:txBody>
          <a:bodyPr wrap="square">
            <a:spAutoFit/>
          </a:bodyPr>
          <a:lstStyle/>
          <a:p>
            <a:pPr algn="ctr"/>
            <a:r>
              <a:rPr sz="1200" b="0">
                <a:solidFill>
                  <a:srgbClr val="242C38"/>
                </a:solidFill>
                <a:latin typeface="Calibri"/>
              </a:rPr>
              <a:t>Ben is a bear.</a:t>
            </a:r>
          </a:p>
        </p:txBody>
      </p:sp>
      <p:sp>
        <p:nvSpPr>
          <p:cNvPr id="21" name="Rounded Rectangle 20"/>
          <p:cNvSpPr/>
          <p:nvPr/>
        </p:nvSpPr>
        <p:spPr>
          <a:xfrm>
            <a:off x="3319272" y="1691640"/>
            <a:ext cx="2743200" cy="2103120"/>
          </a:xfrm>
          <a:prstGeom prst="roundRect">
            <a:avLst/>
          </a:prstGeom>
          <a:solidFill>
            <a:srgbClr val="E4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10712" y="1801368"/>
            <a:ext cx="2560320" cy="548640"/>
          </a:xfrm>
          <a:prstGeom prst="rect">
            <a:avLst/>
          </a:prstGeom>
          <a:noFill/>
        </p:spPr>
        <p:txBody>
          <a:bodyPr wrap="square">
            <a:spAutoFit/>
          </a:bodyPr>
          <a:lstStyle/>
          <a:p>
            <a:pPr algn="ctr"/>
            <a:r>
              <a:rPr sz="2600" b="0">
                <a:solidFill>
                  <a:srgbClr val="242C38"/>
                </a:solidFill>
                <a:latin typeface="Calibri"/>
              </a:rPr>
              <a:t>🔴</a:t>
            </a:r>
          </a:p>
        </p:txBody>
      </p:sp>
      <p:sp>
        <p:nvSpPr>
          <p:cNvPr id="23" name="TextBox 22"/>
          <p:cNvSpPr txBox="1"/>
          <p:nvPr/>
        </p:nvSpPr>
        <p:spPr>
          <a:xfrm>
            <a:off x="3410712" y="2377440"/>
            <a:ext cx="2560320" cy="548640"/>
          </a:xfrm>
          <a:prstGeom prst="rect">
            <a:avLst/>
          </a:prstGeom>
          <a:noFill/>
        </p:spPr>
        <p:txBody>
          <a:bodyPr wrap="square">
            <a:spAutoFit/>
          </a:bodyPr>
          <a:lstStyle/>
          <a:p>
            <a:pPr algn="ctr"/>
            <a:r>
              <a:rPr sz="2800" b="1">
                <a:solidFill>
                  <a:srgbClr val="2E7D53"/>
                </a:solidFill>
                <a:latin typeface="Arial Black"/>
              </a:rPr>
              <a:t>ball</a:t>
            </a:r>
          </a:p>
        </p:txBody>
      </p:sp>
      <p:sp>
        <p:nvSpPr>
          <p:cNvPr id="24" name="TextBox 23"/>
          <p:cNvSpPr txBox="1"/>
          <p:nvPr/>
        </p:nvSpPr>
        <p:spPr>
          <a:xfrm>
            <a:off x="3410712" y="2926080"/>
            <a:ext cx="2560320" cy="320040"/>
          </a:xfrm>
          <a:prstGeom prst="rect">
            <a:avLst/>
          </a:prstGeom>
          <a:noFill/>
        </p:spPr>
        <p:txBody>
          <a:bodyPr wrap="square">
            <a:spAutoFit/>
          </a:bodyPr>
          <a:lstStyle/>
          <a:p>
            <a:pPr algn="ctr"/>
            <a:r>
              <a:rPr sz="1300" b="0">
                <a:solidFill>
                  <a:srgbClr val="6A7788"/>
                </a:solidFill>
                <a:latin typeface="Calibri"/>
              </a:rPr>
              <a:t>b - all</a:t>
            </a:r>
          </a:p>
        </p:txBody>
      </p:sp>
      <p:sp>
        <p:nvSpPr>
          <p:cNvPr id="25" name="Rounded Rectangle 24"/>
          <p:cNvSpPr/>
          <p:nvPr/>
        </p:nvSpPr>
        <p:spPr>
          <a:xfrm>
            <a:off x="3456432" y="3264408"/>
            <a:ext cx="246888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56432" y="3328416"/>
            <a:ext cx="2468880" cy="320040"/>
          </a:xfrm>
          <a:prstGeom prst="rect">
            <a:avLst/>
          </a:prstGeom>
          <a:noFill/>
        </p:spPr>
        <p:txBody>
          <a:bodyPr wrap="square">
            <a:spAutoFit/>
          </a:bodyPr>
          <a:lstStyle/>
          <a:p>
            <a:pPr algn="ctr"/>
            <a:r>
              <a:rPr sz="1200" b="0">
                <a:solidFill>
                  <a:srgbClr val="242C38"/>
                </a:solidFill>
                <a:latin typeface="Calibri"/>
              </a:rPr>
              <a:t>I see a ball.</a:t>
            </a:r>
          </a:p>
        </p:txBody>
      </p:sp>
      <p:sp>
        <p:nvSpPr>
          <p:cNvPr id="27" name="Rounded Rectangle 26"/>
          <p:cNvSpPr/>
          <p:nvPr/>
        </p:nvSpPr>
        <p:spPr>
          <a:xfrm>
            <a:off x="6227064" y="1691640"/>
            <a:ext cx="2743200" cy="2103120"/>
          </a:xfrm>
          <a:prstGeom prst="roundRect">
            <a:avLst/>
          </a:prstGeom>
          <a:solidFill>
            <a:srgbClr val="E4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18504" y="1801368"/>
            <a:ext cx="2560320" cy="548640"/>
          </a:xfrm>
          <a:prstGeom prst="rect">
            <a:avLst/>
          </a:prstGeom>
          <a:noFill/>
        </p:spPr>
        <p:txBody>
          <a:bodyPr wrap="square">
            <a:spAutoFit/>
          </a:bodyPr>
          <a:lstStyle/>
          <a:p>
            <a:pPr algn="ctr"/>
            <a:r>
              <a:rPr sz="2600" b="0">
                <a:solidFill>
                  <a:srgbClr val="242C38"/>
                </a:solidFill>
                <a:latin typeface="Calibri"/>
              </a:rPr>
              <a:t>🌳</a:t>
            </a:r>
          </a:p>
        </p:txBody>
      </p:sp>
      <p:sp>
        <p:nvSpPr>
          <p:cNvPr id="29" name="TextBox 28"/>
          <p:cNvSpPr txBox="1"/>
          <p:nvPr/>
        </p:nvSpPr>
        <p:spPr>
          <a:xfrm>
            <a:off x="6318504" y="2377440"/>
            <a:ext cx="2560320" cy="548640"/>
          </a:xfrm>
          <a:prstGeom prst="rect">
            <a:avLst/>
          </a:prstGeom>
          <a:noFill/>
        </p:spPr>
        <p:txBody>
          <a:bodyPr wrap="square">
            <a:spAutoFit/>
          </a:bodyPr>
          <a:lstStyle/>
          <a:p>
            <a:pPr algn="ctr"/>
            <a:r>
              <a:rPr sz="2800" b="1">
                <a:solidFill>
                  <a:srgbClr val="2E7D53"/>
                </a:solidFill>
                <a:latin typeface="Arial Black"/>
              </a:rPr>
              <a:t>tree</a:t>
            </a:r>
          </a:p>
        </p:txBody>
      </p:sp>
      <p:sp>
        <p:nvSpPr>
          <p:cNvPr id="30" name="TextBox 29"/>
          <p:cNvSpPr txBox="1"/>
          <p:nvPr/>
        </p:nvSpPr>
        <p:spPr>
          <a:xfrm>
            <a:off x="6318504" y="2926080"/>
            <a:ext cx="2560320" cy="320040"/>
          </a:xfrm>
          <a:prstGeom prst="rect">
            <a:avLst/>
          </a:prstGeom>
          <a:noFill/>
        </p:spPr>
        <p:txBody>
          <a:bodyPr wrap="square">
            <a:spAutoFit/>
          </a:bodyPr>
          <a:lstStyle/>
          <a:p>
            <a:pPr algn="ctr"/>
            <a:r>
              <a:rPr sz="1300" b="0">
                <a:solidFill>
                  <a:srgbClr val="6A7788"/>
                </a:solidFill>
                <a:latin typeface="Calibri"/>
              </a:rPr>
              <a:t>t - ree</a:t>
            </a:r>
          </a:p>
        </p:txBody>
      </p:sp>
      <p:sp>
        <p:nvSpPr>
          <p:cNvPr id="31" name="Rounded Rectangle 30"/>
          <p:cNvSpPr/>
          <p:nvPr/>
        </p:nvSpPr>
        <p:spPr>
          <a:xfrm>
            <a:off x="6364224" y="3264408"/>
            <a:ext cx="246888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64224" y="3328416"/>
            <a:ext cx="2468880" cy="320040"/>
          </a:xfrm>
          <a:prstGeom prst="rect">
            <a:avLst/>
          </a:prstGeom>
          <a:noFill/>
        </p:spPr>
        <p:txBody>
          <a:bodyPr wrap="square">
            <a:spAutoFit/>
          </a:bodyPr>
          <a:lstStyle/>
          <a:p>
            <a:pPr algn="ctr"/>
            <a:r>
              <a:rPr sz="1200" b="0">
                <a:solidFill>
                  <a:srgbClr val="242C38"/>
                </a:solidFill>
                <a:latin typeface="Calibri"/>
              </a:rPr>
              <a:t>The tree is big.</a:t>
            </a:r>
          </a:p>
        </p:txBody>
      </p:sp>
      <p:sp>
        <p:nvSpPr>
          <p:cNvPr id="33" name="Rounded Rectangle 32"/>
          <p:cNvSpPr/>
          <p:nvPr/>
        </p:nvSpPr>
        <p:spPr>
          <a:xfrm>
            <a:off x="9134856" y="1691640"/>
            <a:ext cx="2743200" cy="2103120"/>
          </a:xfrm>
          <a:prstGeom prst="roundRect">
            <a:avLst/>
          </a:prstGeom>
          <a:solidFill>
            <a:srgbClr val="E4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26296" y="1801368"/>
            <a:ext cx="2560320" cy="548640"/>
          </a:xfrm>
          <a:prstGeom prst="rect">
            <a:avLst/>
          </a:prstGeom>
          <a:noFill/>
        </p:spPr>
        <p:txBody>
          <a:bodyPr wrap="square">
            <a:spAutoFit/>
          </a:bodyPr>
          <a:lstStyle/>
          <a:p>
            <a:pPr algn="ctr"/>
            <a:r>
              <a:rPr sz="2600" b="0">
                <a:solidFill>
                  <a:srgbClr val="242C38"/>
                </a:solidFill>
                <a:latin typeface="Calibri"/>
              </a:rPr>
              <a:t>🎨</a:t>
            </a:r>
          </a:p>
        </p:txBody>
      </p:sp>
      <p:sp>
        <p:nvSpPr>
          <p:cNvPr id="35" name="TextBox 34"/>
          <p:cNvSpPr txBox="1"/>
          <p:nvPr/>
        </p:nvSpPr>
        <p:spPr>
          <a:xfrm>
            <a:off x="9226296" y="2377440"/>
            <a:ext cx="2560320" cy="548640"/>
          </a:xfrm>
          <a:prstGeom prst="rect">
            <a:avLst/>
          </a:prstGeom>
          <a:noFill/>
        </p:spPr>
        <p:txBody>
          <a:bodyPr wrap="square">
            <a:spAutoFit/>
          </a:bodyPr>
          <a:lstStyle/>
          <a:p>
            <a:pPr algn="ctr"/>
            <a:r>
              <a:rPr sz="2800" b="1">
                <a:solidFill>
                  <a:srgbClr val="2E7D53"/>
                </a:solidFill>
                <a:latin typeface="Arial Black"/>
              </a:rPr>
              <a:t>red</a:t>
            </a:r>
          </a:p>
        </p:txBody>
      </p:sp>
      <p:sp>
        <p:nvSpPr>
          <p:cNvPr id="36" name="TextBox 35"/>
          <p:cNvSpPr txBox="1"/>
          <p:nvPr/>
        </p:nvSpPr>
        <p:spPr>
          <a:xfrm>
            <a:off x="9226296" y="2926080"/>
            <a:ext cx="2560320" cy="320040"/>
          </a:xfrm>
          <a:prstGeom prst="rect">
            <a:avLst/>
          </a:prstGeom>
          <a:noFill/>
        </p:spPr>
        <p:txBody>
          <a:bodyPr wrap="square">
            <a:spAutoFit/>
          </a:bodyPr>
          <a:lstStyle/>
          <a:p>
            <a:pPr algn="ctr"/>
            <a:r>
              <a:rPr sz="1300" b="0">
                <a:solidFill>
                  <a:srgbClr val="6A7788"/>
                </a:solidFill>
                <a:latin typeface="Calibri"/>
              </a:rPr>
              <a:t>r - e - d</a:t>
            </a:r>
          </a:p>
        </p:txBody>
      </p:sp>
      <p:sp>
        <p:nvSpPr>
          <p:cNvPr id="37" name="Rounded Rectangle 36"/>
          <p:cNvSpPr/>
          <p:nvPr/>
        </p:nvSpPr>
        <p:spPr>
          <a:xfrm>
            <a:off x="9272016" y="3264408"/>
            <a:ext cx="246888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72016" y="3328416"/>
            <a:ext cx="2468880" cy="320040"/>
          </a:xfrm>
          <a:prstGeom prst="rect">
            <a:avLst/>
          </a:prstGeom>
          <a:noFill/>
        </p:spPr>
        <p:txBody>
          <a:bodyPr wrap="square">
            <a:spAutoFit/>
          </a:bodyPr>
          <a:lstStyle/>
          <a:p>
            <a:pPr algn="ctr"/>
            <a:r>
              <a:rPr sz="1200" b="0">
                <a:solidFill>
                  <a:srgbClr val="242C38"/>
                </a:solidFill>
                <a:latin typeface="Calibri"/>
              </a:rPr>
              <a:t>My ball is red.</a:t>
            </a:r>
          </a:p>
        </p:txBody>
      </p:sp>
      <p:sp>
        <p:nvSpPr>
          <p:cNvPr id="39" name="Rounded Rectangle 38"/>
          <p:cNvSpPr/>
          <p:nvPr/>
        </p:nvSpPr>
        <p:spPr>
          <a:xfrm>
            <a:off x="411480" y="3977639"/>
            <a:ext cx="2743200" cy="2103120"/>
          </a:xfrm>
          <a:prstGeom prst="roundRect">
            <a:avLst/>
          </a:prstGeom>
          <a:solidFill>
            <a:srgbClr val="E4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 y="4087367"/>
            <a:ext cx="2560320" cy="548640"/>
          </a:xfrm>
          <a:prstGeom prst="rect">
            <a:avLst/>
          </a:prstGeom>
          <a:noFill/>
        </p:spPr>
        <p:txBody>
          <a:bodyPr wrap="square">
            <a:spAutoFit/>
          </a:bodyPr>
          <a:lstStyle/>
          <a:p>
            <a:pPr algn="ctr"/>
            <a:r>
              <a:rPr sz="2600" b="0">
                <a:solidFill>
                  <a:srgbClr val="242C38"/>
                </a:solidFill>
                <a:latin typeface="Calibri"/>
              </a:rPr>
              <a:t>🏃</a:t>
            </a:r>
          </a:p>
        </p:txBody>
      </p:sp>
      <p:sp>
        <p:nvSpPr>
          <p:cNvPr id="41" name="TextBox 40"/>
          <p:cNvSpPr txBox="1"/>
          <p:nvPr/>
        </p:nvSpPr>
        <p:spPr>
          <a:xfrm>
            <a:off x="502920" y="4663439"/>
            <a:ext cx="2560320" cy="548640"/>
          </a:xfrm>
          <a:prstGeom prst="rect">
            <a:avLst/>
          </a:prstGeom>
          <a:noFill/>
        </p:spPr>
        <p:txBody>
          <a:bodyPr wrap="square">
            <a:spAutoFit/>
          </a:bodyPr>
          <a:lstStyle/>
          <a:p>
            <a:pPr algn="ctr"/>
            <a:r>
              <a:rPr sz="2800" b="1">
                <a:solidFill>
                  <a:srgbClr val="2E7D53"/>
                </a:solidFill>
                <a:latin typeface="Arial Black"/>
              </a:rPr>
              <a:t>run</a:t>
            </a:r>
          </a:p>
        </p:txBody>
      </p:sp>
      <p:sp>
        <p:nvSpPr>
          <p:cNvPr id="42" name="TextBox 41"/>
          <p:cNvSpPr txBox="1"/>
          <p:nvPr/>
        </p:nvSpPr>
        <p:spPr>
          <a:xfrm>
            <a:off x="502920" y="5212079"/>
            <a:ext cx="2560320" cy="320040"/>
          </a:xfrm>
          <a:prstGeom prst="rect">
            <a:avLst/>
          </a:prstGeom>
          <a:noFill/>
        </p:spPr>
        <p:txBody>
          <a:bodyPr wrap="square">
            <a:spAutoFit/>
          </a:bodyPr>
          <a:lstStyle/>
          <a:p>
            <a:pPr algn="ctr"/>
            <a:r>
              <a:rPr sz="1300" b="0">
                <a:solidFill>
                  <a:srgbClr val="6A7788"/>
                </a:solidFill>
                <a:latin typeface="Calibri"/>
              </a:rPr>
              <a:t>r - u - n</a:t>
            </a:r>
          </a:p>
        </p:txBody>
      </p:sp>
      <p:sp>
        <p:nvSpPr>
          <p:cNvPr id="43" name="Rounded Rectangle 42"/>
          <p:cNvSpPr/>
          <p:nvPr/>
        </p:nvSpPr>
        <p:spPr>
          <a:xfrm>
            <a:off x="548640" y="5550407"/>
            <a:ext cx="246888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5614415"/>
            <a:ext cx="2468880" cy="320040"/>
          </a:xfrm>
          <a:prstGeom prst="rect">
            <a:avLst/>
          </a:prstGeom>
          <a:noFill/>
        </p:spPr>
        <p:txBody>
          <a:bodyPr wrap="square">
            <a:spAutoFit/>
          </a:bodyPr>
          <a:lstStyle/>
          <a:p>
            <a:pPr algn="ctr"/>
            <a:r>
              <a:rPr sz="1200" b="0">
                <a:solidFill>
                  <a:srgbClr val="242C38"/>
                </a:solidFill>
                <a:latin typeface="Calibri"/>
              </a:rPr>
              <a:t>I can run.</a:t>
            </a:r>
          </a:p>
        </p:txBody>
      </p:sp>
      <p:sp>
        <p:nvSpPr>
          <p:cNvPr id="45" name="Rounded Rectangle 44"/>
          <p:cNvSpPr/>
          <p:nvPr/>
        </p:nvSpPr>
        <p:spPr>
          <a:xfrm>
            <a:off x="3319272" y="3977639"/>
            <a:ext cx="2743200" cy="2103120"/>
          </a:xfrm>
          <a:prstGeom prst="roundRect">
            <a:avLst/>
          </a:prstGeom>
          <a:solidFill>
            <a:srgbClr val="E4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410712" y="4087367"/>
            <a:ext cx="2560320" cy="548640"/>
          </a:xfrm>
          <a:prstGeom prst="rect">
            <a:avLst/>
          </a:prstGeom>
          <a:noFill/>
        </p:spPr>
        <p:txBody>
          <a:bodyPr wrap="square">
            <a:spAutoFit/>
          </a:bodyPr>
          <a:lstStyle/>
          <a:p>
            <a:pPr algn="ctr"/>
            <a:r>
              <a:rPr sz="2600" b="0">
                <a:solidFill>
                  <a:srgbClr val="242C38"/>
                </a:solidFill>
                <a:latin typeface="Calibri"/>
              </a:rPr>
              <a:t>🐘</a:t>
            </a:r>
          </a:p>
        </p:txBody>
      </p:sp>
      <p:sp>
        <p:nvSpPr>
          <p:cNvPr id="47" name="TextBox 46"/>
          <p:cNvSpPr txBox="1"/>
          <p:nvPr/>
        </p:nvSpPr>
        <p:spPr>
          <a:xfrm>
            <a:off x="3410712" y="4663439"/>
            <a:ext cx="2560320" cy="548640"/>
          </a:xfrm>
          <a:prstGeom prst="rect">
            <a:avLst/>
          </a:prstGeom>
          <a:noFill/>
        </p:spPr>
        <p:txBody>
          <a:bodyPr wrap="square">
            <a:spAutoFit/>
          </a:bodyPr>
          <a:lstStyle/>
          <a:p>
            <a:pPr algn="ctr"/>
            <a:r>
              <a:rPr sz="2800" b="1">
                <a:solidFill>
                  <a:srgbClr val="2E7D53"/>
                </a:solidFill>
                <a:latin typeface="Arial Black"/>
              </a:rPr>
              <a:t>big</a:t>
            </a:r>
          </a:p>
        </p:txBody>
      </p:sp>
      <p:sp>
        <p:nvSpPr>
          <p:cNvPr id="48" name="TextBox 47"/>
          <p:cNvSpPr txBox="1"/>
          <p:nvPr/>
        </p:nvSpPr>
        <p:spPr>
          <a:xfrm>
            <a:off x="3410712" y="5212079"/>
            <a:ext cx="2560320" cy="320040"/>
          </a:xfrm>
          <a:prstGeom prst="rect">
            <a:avLst/>
          </a:prstGeom>
          <a:noFill/>
        </p:spPr>
        <p:txBody>
          <a:bodyPr wrap="square">
            <a:spAutoFit/>
          </a:bodyPr>
          <a:lstStyle/>
          <a:p>
            <a:pPr algn="ctr"/>
            <a:r>
              <a:rPr sz="1300" b="0">
                <a:solidFill>
                  <a:srgbClr val="6A7788"/>
                </a:solidFill>
                <a:latin typeface="Calibri"/>
              </a:rPr>
              <a:t>b - i - g</a:t>
            </a:r>
          </a:p>
        </p:txBody>
      </p:sp>
      <p:sp>
        <p:nvSpPr>
          <p:cNvPr id="49" name="Rounded Rectangle 48"/>
          <p:cNvSpPr/>
          <p:nvPr/>
        </p:nvSpPr>
        <p:spPr>
          <a:xfrm>
            <a:off x="3456432" y="5550407"/>
            <a:ext cx="246888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56432" y="5614415"/>
            <a:ext cx="2468880" cy="320040"/>
          </a:xfrm>
          <a:prstGeom prst="rect">
            <a:avLst/>
          </a:prstGeom>
          <a:noFill/>
        </p:spPr>
        <p:txBody>
          <a:bodyPr wrap="square">
            <a:spAutoFit/>
          </a:bodyPr>
          <a:lstStyle/>
          <a:p>
            <a:pPr algn="ctr"/>
            <a:r>
              <a:rPr sz="1200" b="0">
                <a:solidFill>
                  <a:srgbClr val="242C38"/>
                </a:solidFill>
                <a:latin typeface="Calibri"/>
              </a:rPr>
              <a:t>The dog is big.</a:t>
            </a:r>
          </a:p>
        </p:txBody>
      </p:sp>
      <p:sp>
        <p:nvSpPr>
          <p:cNvPr id="51" name="Rounded Rectangle 50"/>
          <p:cNvSpPr/>
          <p:nvPr/>
        </p:nvSpPr>
        <p:spPr>
          <a:xfrm>
            <a:off x="6227064" y="3977639"/>
            <a:ext cx="2743200" cy="2103120"/>
          </a:xfrm>
          <a:prstGeom prst="roundRect">
            <a:avLst/>
          </a:prstGeom>
          <a:solidFill>
            <a:srgbClr val="E4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18504" y="4087367"/>
            <a:ext cx="2560320" cy="548640"/>
          </a:xfrm>
          <a:prstGeom prst="rect">
            <a:avLst/>
          </a:prstGeom>
          <a:noFill/>
        </p:spPr>
        <p:txBody>
          <a:bodyPr wrap="square">
            <a:spAutoFit/>
          </a:bodyPr>
          <a:lstStyle/>
          <a:p>
            <a:pPr algn="ctr"/>
            <a:r>
              <a:rPr sz="2600" b="0">
                <a:solidFill>
                  <a:srgbClr val="242C38"/>
                </a:solidFill>
                <a:latin typeface="Calibri"/>
              </a:rPr>
              <a:t>😀</a:t>
            </a:r>
          </a:p>
        </p:txBody>
      </p:sp>
      <p:sp>
        <p:nvSpPr>
          <p:cNvPr id="53" name="TextBox 52"/>
          <p:cNvSpPr txBox="1"/>
          <p:nvPr/>
        </p:nvSpPr>
        <p:spPr>
          <a:xfrm>
            <a:off x="6318504" y="4663439"/>
            <a:ext cx="2560320" cy="548640"/>
          </a:xfrm>
          <a:prstGeom prst="rect">
            <a:avLst/>
          </a:prstGeom>
          <a:noFill/>
        </p:spPr>
        <p:txBody>
          <a:bodyPr wrap="square">
            <a:spAutoFit/>
          </a:bodyPr>
          <a:lstStyle/>
          <a:p>
            <a:pPr algn="ctr"/>
            <a:r>
              <a:rPr sz="2800" b="1">
                <a:solidFill>
                  <a:srgbClr val="2E7D53"/>
                </a:solidFill>
                <a:latin typeface="Arial Black"/>
              </a:rPr>
              <a:t>happy</a:t>
            </a:r>
          </a:p>
        </p:txBody>
      </p:sp>
      <p:sp>
        <p:nvSpPr>
          <p:cNvPr id="54" name="TextBox 53"/>
          <p:cNvSpPr txBox="1"/>
          <p:nvPr/>
        </p:nvSpPr>
        <p:spPr>
          <a:xfrm>
            <a:off x="6318504" y="5212079"/>
            <a:ext cx="2560320" cy="320040"/>
          </a:xfrm>
          <a:prstGeom prst="rect">
            <a:avLst/>
          </a:prstGeom>
          <a:noFill/>
        </p:spPr>
        <p:txBody>
          <a:bodyPr wrap="square">
            <a:spAutoFit/>
          </a:bodyPr>
          <a:lstStyle/>
          <a:p>
            <a:pPr algn="ctr"/>
            <a:r>
              <a:rPr sz="1300" b="0">
                <a:solidFill>
                  <a:srgbClr val="6A7788"/>
                </a:solidFill>
                <a:latin typeface="Calibri"/>
              </a:rPr>
              <a:t>hap - py</a:t>
            </a:r>
          </a:p>
        </p:txBody>
      </p:sp>
      <p:sp>
        <p:nvSpPr>
          <p:cNvPr id="55" name="Rounded Rectangle 54"/>
          <p:cNvSpPr/>
          <p:nvPr/>
        </p:nvSpPr>
        <p:spPr>
          <a:xfrm>
            <a:off x="6364224" y="5550407"/>
            <a:ext cx="246888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364224" y="5614415"/>
            <a:ext cx="2468880" cy="320040"/>
          </a:xfrm>
          <a:prstGeom prst="rect">
            <a:avLst/>
          </a:prstGeom>
          <a:noFill/>
        </p:spPr>
        <p:txBody>
          <a:bodyPr wrap="square">
            <a:spAutoFit/>
          </a:bodyPr>
          <a:lstStyle/>
          <a:p>
            <a:pPr algn="ctr"/>
            <a:r>
              <a:rPr sz="1200" b="0">
                <a:solidFill>
                  <a:srgbClr val="242C38"/>
                </a:solidFill>
                <a:latin typeface="Calibri"/>
              </a:rPr>
              <a:t>Ben is happy.</a:t>
            </a:r>
          </a:p>
        </p:txBody>
      </p:sp>
      <p:sp>
        <p:nvSpPr>
          <p:cNvPr id="57" name="Rounded Rectangle 56"/>
          <p:cNvSpPr/>
          <p:nvPr/>
        </p:nvSpPr>
        <p:spPr>
          <a:xfrm>
            <a:off x="9134856" y="3977639"/>
            <a:ext cx="2743200" cy="2103120"/>
          </a:xfrm>
          <a:prstGeom prst="roundRect">
            <a:avLst/>
          </a:prstGeom>
          <a:solidFill>
            <a:srgbClr val="E4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226296" y="4087367"/>
            <a:ext cx="2560320" cy="548640"/>
          </a:xfrm>
          <a:prstGeom prst="rect">
            <a:avLst/>
          </a:prstGeom>
          <a:noFill/>
        </p:spPr>
        <p:txBody>
          <a:bodyPr wrap="square">
            <a:spAutoFit/>
          </a:bodyPr>
          <a:lstStyle/>
          <a:p>
            <a:pPr algn="ctr"/>
            <a:r>
              <a:rPr sz="2600" b="0">
                <a:solidFill>
                  <a:srgbClr val="242C38"/>
                </a:solidFill>
                <a:latin typeface="Calibri"/>
              </a:rPr>
              <a:t>🐣</a:t>
            </a:r>
          </a:p>
        </p:txBody>
      </p:sp>
      <p:sp>
        <p:nvSpPr>
          <p:cNvPr id="59" name="TextBox 58"/>
          <p:cNvSpPr txBox="1"/>
          <p:nvPr/>
        </p:nvSpPr>
        <p:spPr>
          <a:xfrm>
            <a:off x="9226296" y="4663439"/>
            <a:ext cx="2560320" cy="548640"/>
          </a:xfrm>
          <a:prstGeom prst="rect">
            <a:avLst/>
          </a:prstGeom>
          <a:noFill/>
        </p:spPr>
        <p:txBody>
          <a:bodyPr wrap="square">
            <a:spAutoFit/>
          </a:bodyPr>
          <a:lstStyle/>
          <a:p>
            <a:pPr algn="ctr"/>
            <a:r>
              <a:rPr sz="2800" b="1">
                <a:solidFill>
                  <a:srgbClr val="2E7D53"/>
                </a:solidFill>
                <a:latin typeface="Arial Black"/>
              </a:rPr>
              <a:t>little</a:t>
            </a:r>
          </a:p>
        </p:txBody>
      </p:sp>
      <p:sp>
        <p:nvSpPr>
          <p:cNvPr id="60" name="TextBox 59"/>
          <p:cNvSpPr txBox="1"/>
          <p:nvPr/>
        </p:nvSpPr>
        <p:spPr>
          <a:xfrm>
            <a:off x="9226296" y="5212079"/>
            <a:ext cx="2560320" cy="320040"/>
          </a:xfrm>
          <a:prstGeom prst="rect">
            <a:avLst/>
          </a:prstGeom>
          <a:noFill/>
        </p:spPr>
        <p:txBody>
          <a:bodyPr wrap="square">
            <a:spAutoFit/>
          </a:bodyPr>
          <a:lstStyle/>
          <a:p>
            <a:pPr algn="ctr"/>
            <a:r>
              <a:rPr sz="1300" b="0">
                <a:solidFill>
                  <a:srgbClr val="6A7788"/>
                </a:solidFill>
                <a:latin typeface="Calibri"/>
              </a:rPr>
              <a:t>lit - tle</a:t>
            </a:r>
          </a:p>
        </p:txBody>
      </p:sp>
      <p:sp>
        <p:nvSpPr>
          <p:cNvPr id="61" name="Rounded Rectangle 60"/>
          <p:cNvSpPr/>
          <p:nvPr/>
        </p:nvSpPr>
        <p:spPr>
          <a:xfrm>
            <a:off x="9272016" y="5550407"/>
            <a:ext cx="246888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272016" y="5614415"/>
            <a:ext cx="2468880" cy="320040"/>
          </a:xfrm>
          <a:prstGeom prst="rect">
            <a:avLst/>
          </a:prstGeom>
          <a:noFill/>
        </p:spPr>
        <p:txBody>
          <a:bodyPr wrap="square">
            <a:spAutoFit/>
          </a:bodyPr>
          <a:lstStyle/>
          <a:p>
            <a:pPr algn="ctr"/>
            <a:r>
              <a:rPr sz="1200" b="0">
                <a:solidFill>
                  <a:srgbClr val="242C38"/>
                </a:solidFill>
                <a:latin typeface="Calibri"/>
              </a:rPr>
              <a:t>A little bear.</a:t>
            </a:r>
          </a:p>
        </p:txBody>
      </p:sp>
    </p:spTree>
  </p:cSld>
  <p:clrMapOvr>
    <a:masterClrMapping/>
  </p:clrMapOvr>
  <p:transition spd="med"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8B5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8B5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STORY</a:t>
            </a:r>
          </a:p>
        </p:txBody>
      </p:sp>
      <p:sp>
        <p:nvSpPr>
          <p:cNvPr id="6" name="Rounded Rectangle 5"/>
          <p:cNvSpPr/>
          <p:nvPr/>
        </p:nvSpPr>
        <p:spPr>
          <a:xfrm>
            <a:off x="9418320" y="237744"/>
            <a:ext cx="242316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a:solidFill>
                  <a:srgbClr val="FFFFFF"/>
                </a:solidFill>
                <a:latin typeface="Calibri"/>
              </a:rPr>
              <a:t>68–78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The Little Bear — Part 1</a:t>
            </a:r>
          </a:p>
        </p:txBody>
      </p:sp>
      <p:sp>
        <p:nvSpPr>
          <p:cNvPr id="9" name="Rectangle 8"/>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7663351"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Part 1  |  68–78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22 / 35</a:t>
            </a:r>
          </a:p>
        </p:txBody>
      </p:sp>
      <p:sp>
        <p:nvSpPr>
          <p:cNvPr id="14" name="Rounded Rectangle 13"/>
          <p:cNvSpPr/>
          <p:nvPr/>
        </p:nvSpPr>
        <p:spPr>
          <a:xfrm>
            <a:off x="457200" y="1371600"/>
            <a:ext cx="813816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1783080"/>
            <a:ext cx="7406640" cy="868680"/>
          </a:xfrm>
          <a:prstGeom prst="rect">
            <a:avLst/>
          </a:prstGeom>
          <a:noFill/>
        </p:spPr>
        <p:txBody>
          <a:bodyPr wrap="square">
            <a:spAutoFit/>
          </a:bodyPr>
          <a:lstStyle/>
          <a:p>
            <a:pPr algn="l"/>
            <a:r>
              <a:rPr sz="3200" b="1">
                <a:solidFill>
                  <a:srgbClr val="16366B"/>
                </a:solidFill>
                <a:latin typeface="Calibri"/>
              </a:rPr>
              <a:t>Ben is a little bear.</a:t>
            </a:r>
          </a:p>
        </p:txBody>
      </p:sp>
      <p:sp>
        <p:nvSpPr>
          <p:cNvPr id="16" name="TextBox 15"/>
          <p:cNvSpPr txBox="1"/>
          <p:nvPr/>
        </p:nvSpPr>
        <p:spPr>
          <a:xfrm>
            <a:off x="868680" y="2807208"/>
            <a:ext cx="7406640" cy="868680"/>
          </a:xfrm>
          <a:prstGeom prst="rect">
            <a:avLst/>
          </a:prstGeom>
          <a:noFill/>
        </p:spPr>
        <p:txBody>
          <a:bodyPr wrap="square">
            <a:spAutoFit/>
          </a:bodyPr>
          <a:lstStyle/>
          <a:p>
            <a:pPr algn="l"/>
            <a:r>
              <a:rPr sz="3200" b="1">
                <a:solidFill>
                  <a:srgbClr val="16366B"/>
                </a:solidFill>
                <a:latin typeface="Calibri"/>
              </a:rPr>
              <a:t>Ben has a red ball.</a:t>
            </a:r>
          </a:p>
        </p:txBody>
      </p:sp>
      <p:sp>
        <p:nvSpPr>
          <p:cNvPr id="17" name="TextBox 16"/>
          <p:cNvSpPr txBox="1"/>
          <p:nvPr/>
        </p:nvSpPr>
        <p:spPr>
          <a:xfrm>
            <a:off x="868680" y="3831336"/>
            <a:ext cx="7406640" cy="868680"/>
          </a:xfrm>
          <a:prstGeom prst="rect">
            <a:avLst/>
          </a:prstGeom>
          <a:noFill/>
        </p:spPr>
        <p:txBody>
          <a:bodyPr wrap="square">
            <a:spAutoFit/>
          </a:bodyPr>
          <a:lstStyle/>
          <a:p>
            <a:pPr algn="l"/>
            <a:r>
              <a:rPr sz="3200" b="1">
                <a:solidFill>
                  <a:srgbClr val="16366B"/>
                </a:solidFill>
                <a:latin typeface="Calibri"/>
              </a:rPr>
              <a:t>Ben can run and play.</a:t>
            </a:r>
          </a:p>
        </p:txBody>
      </p:sp>
      <p:sp>
        <p:nvSpPr>
          <p:cNvPr id="18" name="TextBox 17"/>
          <p:cNvSpPr txBox="1"/>
          <p:nvPr/>
        </p:nvSpPr>
        <p:spPr>
          <a:xfrm>
            <a:off x="868680" y="4855464"/>
            <a:ext cx="7406640" cy="868680"/>
          </a:xfrm>
          <a:prstGeom prst="rect">
            <a:avLst/>
          </a:prstGeom>
          <a:noFill/>
        </p:spPr>
        <p:txBody>
          <a:bodyPr wrap="square">
            <a:spAutoFit/>
          </a:bodyPr>
          <a:lstStyle/>
          <a:p>
            <a:pPr algn="l"/>
            <a:r>
              <a:rPr sz="3200" b="1">
                <a:solidFill>
                  <a:srgbClr val="16366B"/>
                </a:solidFill>
                <a:latin typeface="Calibri"/>
              </a:rPr>
              <a:t>Ben is happy.</a:t>
            </a:r>
          </a:p>
        </p:txBody>
      </p:sp>
      <p:sp>
        <p:nvSpPr>
          <p:cNvPr id="19" name="Rounded Rectangle 18"/>
          <p:cNvSpPr/>
          <p:nvPr/>
        </p:nvSpPr>
        <p:spPr>
          <a:xfrm>
            <a:off x="8823960" y="1371600"/>
            <a:ext cx="2926080" cy="4526280"/>
          </a:xfrm>
          <a:prstGeom prst="roundRect">
            <a:avLst/>
          </a:prstGeom>
          <a:solidFill>
            <a:srgbClr val="F4E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23960" y="1920240"/>
            <a:ext cx="2926080" cy="1280160"/>
          </a:xfrm>
          <a:prstGeom prst="rect">
            <a:avLst/>
          </a:prstGeom>
          <a:noFill/>
        </p:spPr>
        <p:txBody>
          <a:bodyPr wrap="square">
            <a:spAutoFit/>
          </a:bodyPr>
          <a:lstStyle/>
          <a:p>
            <a:pPr algn="ctr"/>
            <a:r>
              <a:rPr sz="6400" b="0">
                <a:solidFill>
                  <a:srgbClr val="242C38"/>
                </a:solidFill>
                <a:latin typeface="Calibri"/>
              </a:rPr>
              <a:t>🐻</a:t>
            </a:r>
          </a:p>
        </p:txBody>
      </p:sp>
      <p:sp>
        <p:nvSpPr>
          <p:cNvPr id="21" name="Rounded Rectangle 20"/>
          <p:cNvSpPr/>
          <p:nvPr/>
        </p:nvSpPr>
        <p:spPr>
          <a:xfrm>
            <a:off x="9052560" y="3611880"/>
            <a:ext cx="246888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52560" y="3712464"/>
            <a:ext cx="2468880" cy="365760"/>
          </a:xfrm>
          <a:prstGeom prst="rect">
            <a:avLst/>
          </a:prstGeom>
          <a:noFill/>
        </p:spPr>
        <p:txBody>
          <a:bodyPr wrap="square">
            <a:spAutoFit/>
          </a:bodyPr>
          <a:lstStyle/>
          <a:p>
            <a:pPr algn="ctr"/>
            <a:r>
              <a:rPr sz="1400" b="1">
                <a:solidFill>
                  <a:srgbClr val="16366B"/>
                </a:solidFill>
                <a:latin typeface="Calibri"/>
              </a:rPr>
              <a:t>1️⃣  I read it</a:t>
            </a:r>
          </a:p>
        </p:txBody>
      </p:sp>
      <p:sp>
        <p:nvSpPr>
          <p:cNvPr id="23" name="Rounded Rectangle 22"/>
          <p:cNvSpPr/>
          <p:nvPr/>
        </p:nvSpPr>
        <p:spPr>
          <a:xfrm>
            <a:off x="9052560" y="4270248"/>
            <a:ext cx="246888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0" y="4370832"/>
            <a:ext cx="2468880" cy="365760"/>
          </a:xfrm>
          <a:prstGeom prst="rect">
            <a:avLst/>
          </a:prstGeom>
          <a:noFill/>
        </p:spPr>
        <p:txBody>
          <a:bodyPr wrap="square">
            <a:spAutoFit/>
          </a:bodyPr>
          <a:lstStyle/>
          <a:p>
            <a:pPr algn="ctr"/>
            <a:r>
              <a:rPr sz="1400" b="1">
                <a:solidFill>
                  <a:srgbClr val="16366B"/>
                </a:solidFill>
                <a:latin typeface="Calibri"/>
              </a:rPr>
              <a:t>2️⃣  We read it</a:t>
            </a:r>
          </a:p>
        </p:txBody>
      </p:sp>
      <p:sp>
        <p:nvSpPr>
          <p:cNvPr id="25" name="Rounded Rectangle 24"/>
          <p:cNvSpPr/>
          <p:nvPr/>
        </p:nvSpPr>
        <p:spPr>
          <a:xfrm>
            <a:off x="9052560" y="4928616"/>
            <a:ext cx="246888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0" y="5029200"/>
            <a:ext cx="2468880" cy="365760"/>
          </a:xfrm>
          <a:prstGeom prst="rect">
            <a:avLst/>
          </a:prstGeom>
          <a:noFill/>
        </p:spPr>
        <p:txBody>
          <a:bodyPr wrap="square">
            <a:spAutoFit/>
          </a:bodyPr>
          <a:lstStyle/>
          <a:p>
            <a:pPr algn="ctr"/>
            <a:r>
              <a:rPr sz="1400" b="1">
                <a:solidFill>
                  <a:srgbClr val="16366B"/>
                </a:solidFill>
                <a:latin typeface="Calibri"/>
              </a:rPr>
              <a:t>3️⃣  You pick ONE line</a:t>
            </a:r>
          </a:p>
        </p:txBody>
      </p:sp>
    </p:spTree>
  </p:cSld>
  <p:clrMapOvr>
    <a:masterClrMapping/>
  </p:clrMapOvr>
  <p:transition spd="med"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E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2E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STORY</a:t>
            </a:r>
          </a:p>
        </p:txBody>
      </p:sp>
      <p:sp>
        <p:nvSpPr>
          <p:cNvPr id="6" name="Rounded Rectangle 5"/>
          <p:cNvSpPr/>
          <p:nvPr/>
        </p:nvSpPr>
        <p:spPr>
          <a:xfrm>
            <a:off x="9418320" y="237744"/>
            <a:ext cx="242316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a:solidFill>
                  <a:srgbClr val="FFFFFF"/>
                </a:solidFill>
                <a:latin typeface="Calibri"/>
              </a:rPr>
              <a:t>68–78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The Little Bear — Part 2</a:t>
            </a:r>
          </a:p>
        </p:txBody>
      </p:sp>
      <p:sp>
        <p:nvSpPr>
          <p:cNvPr id="9" name="Rectangle 8"/>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8011685"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Part 2  |  68–78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23 / 35</a:t>
            </a:r>
          </a:p>
        </p:txBody>
      </p:sp>
      <p:sp>
        <p:nvSpPr>
          <p:cNvPr id="14" name="Rounded Rectangle 13"/>
          <p:cNvSpPr/>
          <p:nvPr/>
        </p:nvSpPr>
        <p:spPr>
          <a:xfrm>
            <a:off x="457200" y="1371600"/>
            <a:ext cx="813816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1783080"/>
            <a:ext cx="7406640" cy="868680"/>
          </a:xfrm>
          <a:prstGeom prst="rect">
            <a:avLst/>
          </a:prstGeom>
          <a:noFill/>
        </p:spPr>
        <p:txBody>
          <a:bodyPr wrap="square">
            <a:spAutoFit/>
          </a:bodyPr>
          <a:lstStyle/>
          <a:p>
            <a:pPr algn="l"/>
            <a:r>
              <a:rPr sz="3200" b="1">
                <a:solidFill>
                  <a:srgbClr val="16366B"/>
                </a:solidFill>
                <a:latin typeface="Calibri"/>
              </a:rPr>
              <a:t>One day, the ball is gone.</a:t>
            </a:r>
          </a:p>
        </p:txBody>
      </p:sp>
      <p:sp>
        <p:nvSpPr>
          <p:cNvPr id="16" name="TextBox 15"/>
          <p:cNvSpPr txBox="1"/>
          <p:nvPr/>
        </p:nvSpPr>
        <p:spPr>
          <a:xfrm>
            <a:off x="868680" y="2807208"/>
            <a:ext cx="7406640" cy="868680"/>
          </a:xfrm>
          <a:prstGeom prst="rect">
            <a:avLst/>
          </a:prstGeom>
          <a:noFill/>
        </p:spPr>
        <p:txBody>
          <a:bodyPr wrap="square">
            <a:spAutoFit/>
          </a:bodyPr>
          <a:lstStyle/>
          <a:p>
            <a:pPr algn="l"/>
            <a:r>
              <a:rPr sz="3200" b="1">
                <a:solidFill>
                  <a:srgbClr val="16366B"/>
                </a:solidFill>
                <a:latin typeface="Calibri"/>
              </a:rPr>
              <a:t>Ben can not see the ball.</a:t>
            </a:r>
          </a:p>
        </p:txBody>
      </p:sp>
      <p:sp>
        <p:nvSpPr>
          <p:cNvPr id="17" name="TextBox 16"/>
          <p:cNvSpPr txBox="1"/>
          <p:nvPr/>
        </p:nvSpPr>
        <p:spPr>
          <a:xfrm>
            <a:off x="868680" y="3831336"/>
            <a:ext cx="7406640" cy="868680"/>
          </a:xfrm>
          <a:prstGeom prst="rect">
            <a:avLst/>
          </a:prstGeom>
          <a:noFill/>
        </p:spPr>
        <p:txBody>
          <a:bodyPr wrap="square">
            <a:spAutoFit/>
          </a:bodyPr>
          <a:lstStyle/>
          <a:p>
            <a:pPr algn="l"/>
            <a:r>
              <a:rPr sz="3200" b="1">
                <a:solidFill>
                  <a:srgbClr val="16366B"/>
                </a:solidFill>
                <a:latin typeface="Calibri"/>
              </a:rPr>
              <a:t>Ben looks and looks.</a:t>
            </a:r>
          </a:p>
        </p:txBody>
      </p:sp>
      <p:sp>
        <p:nvSpPr>
          <p:cNvPr id="18" name="TextBox 17"/>
          <p:cNvSpPr txBox="1"/>
          <p:nvPr/>
        </p:nvSpPr>
        <p:spPr>
          <a:xfrm>
            <a:off x="868680" y="4855464"/>
            <a:ext cx="7406640" cy="868680"/>
          </a:xfrm>
          <a:prstGeom prst="rect">
            <a:avLst/>
          </a:prstGeom>
          <a:noFill/>
        </p:spPr>
        <p:txBody>
          <a:bodyPr wrap="square">
            <a:spAutoFit/>
          </a:bodyPr>
          <a:lstStyle/>
          <a:p>
            <a:pPr algn="l"/>
            <a:r>
              <a:rPr sz="3200" b="1">
                <a:solidFill>
                  <a:srgbClr val="16366B"/>
                </a:solidFill>
                <a:latin typeface="Calibri"/>
              </a:rPr>
              <a:t>Ben sees a big tree.</a:t>
            </a:r>
          </a:p>
        </p:txBody>
      </p:sp>
      <p:sp>
        <p:nvSpPr>
          <p:cNvPr id="19" name="Rounded Rectangle 18"/>
          <p:cNvSpPr/>
          <p:nvPr/>
        </p:nvSpPr>
        <p:spPr>
          <a:xfrm>
            <a:off x="8823960" y="1371600"/>
            <a:ext cx="2926080" cy="4526280"/>
          </a:xfrm>
          <a:prstGeom prst="roundRect">
            <a:avLst/>
          </a:prstGeom>
          <a:solidFill>
            <a:srgbClr val="E2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23960" y="1920240"/>
            <a:ext cx="2926080" cy="1280160"/>
          </a:xfrm>
          <a:prstGeom prst="rect">
            <a:avLst/>
          </a:prstGeom>
          <a:noFill/>
        </p:spPr>
        <p:txBody>
          <a:bodyPr wrap="square">
            <a:spAutoFit/>
          </a:bodyPr>
          <a:lstStyle/>
          <a:p>
            <a:pPr algn="ctr"/>
            <a:r>
              <a:rPr sz="6400" b="0">
                <a:solidFill>
                  <a:srgbClr val="242C38"/>
                </a:solidFill>
                <a:latin typeface="Calibri"/>
              </a:rPr>
              <a:t>❓</a:t>
            </a:r>
          </a:p>
        </p:txBody>
      </p:sp>
      <p:sp>
        <p:nvSpPr>
          <p:cNvPr id="21" name="Rounded Rectangle 20"/>
          <p:cNvSpPr/>
          <p:nvPr/>
        </p:nvSpPr>
        <p:spPr>
          <a:xfrm>
            <a:off x="9052560" y="3611880"/>
            <a:ext cx="246888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52560" y="3712464"/>
            <a:ext cx="2468880" cy="365760"/>
          </a:xfrm>
          <a:prstGeom prst="rect">
            <a:avLst/>
          </a:prstGeom>
          <a:noFill/>
        </p:spPr>
        <p:txBody>
          <a:bodyPr wrap="square">
            <a:spAutoFit/>
          </a:bodyPr>
          <a:lstStyle/>
          <a:p>
            <a:pPr algn="ctr"/>
            <a:r>
              <a:rPr sz="1400" b="1">
                <a:solidFill>
                  <a:srgbClr val="16366B"/>
                </a:solidFill>
                <a:latin typeface="Calibri"/>
              </a:rPr>
              <a:t>1️⃣  I read it</a:t>
            </a:r>
          </a:p>
        </p:txBody>
      </p:sp>
      <p:sp>
        <p:nvSpPr>
          <p:cNvPr id="23" name="Rounded Rectangle 22"/>
          <p:cNvSpPr/>
          <p:nvPr/>
        </p:nvSpPr>
        <p:spPr>
          <a:xfrm>
            <a:off x="9052560" y="4270248"/>
            <a:ext cx="246888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0" y="4370832"/>
            <a:ext cx="2468880" cy="365760"/>
          </a:xfrm>
          <a:prstGeom prst="rect">
            <a:avLst/>
          </a:prstGeom>
          <a:noFill/>
        </p:spPr>
        <p:txBody>
          <a:bodyPr wrap="square">
            <a:spAutoFit/>
          </a:bodyPr>
          <a:lstStyle/>
          <a:p>
            <a:pPr algn="ctr"/>
            <a:r>
              <a:rPr sz="1400" b="1">
                <a:solidFill>
                  <a:srgbClr val="16366B"/>
                </a:solidFill>
                <a:latin typeface="Calibri"/>
              </a:rPr>
              <a:t>2️⃣  We read it</a:t>
            </a:r>
          </a:p>
        </p:txBody>
      </p:sp>
      <p:sp>
        <p:nvSpPr>
          <p:cNvPr id="25" name="Rounded Rectangle 24"/>
          <p:cNvSpPr/>
          <p:nvPr/>
        </p:nvSpPr>
        <p:spPr>
          <a:xfrm>
            <a:off x="9052560" y="4928616"/>
            <a:ext cx="246888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0" y="5029200"/>
            <a:ext cx="2468880" cy="365760"/>
          </a:xfrm>
          <a:prstGeom prst="rect">
            <a:avLst/>
          </a:prstGeom>
          <a:noFill/>
        </p:spPr>
        <p:txBody>
          <a:bodyPr wrap="square">
            <a:spAutoFit/>
          </a:bodyPr>
          <a:lstStyle/>
          <a:p>
            <a:pPr algn="ctr"/>
            <a:r>
              <a:rPr sz="1400" b="1">
                <a:solidFill>
                  <a:srgbClr val="16366B"/>
                </a:solidFill>
                <a:latin typeface="Calibri"/>
              </a:rPr>
              <a:t>3️⃣  You pick ONE line</a:t>
            </a:r>
          </a:p>
        </p:txBody>
      </p:sp>
    </p:spTree>
  </p:cSld>
  <p:clrMapOvr>
    <a:masterClrMapping/>
  </p:clrMapOvr>
  <p:transition spd="med"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E7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2E7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STORY</a:t>
            </a:r>
          </a:p>
        </p:txBody>
      </p:sp>
      <p:sp>
        <p:nvSpPr>
          <p:cNvPr id="6" name="Rounded Rectangle 5"/>
          <p:cNvSpPr/>
          <p:nvPr/>
        </p:nvSpPr>
        <p:spPr>
          <a:xfrm>
            <a:off x="9418320" y="237744"/>
            <a:ext cx="242316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a:solidFill>
                  <a:srgbClr val="FFFFFF"/>
                </a:solidFill>
                <a:latin typeface="Calibri"/>
              </a:rPr>
              <a:t>68–78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The Little Bear — Part 3</a:t>
            </a:r>
          </a:p>
        </p:txBody>
      </p:sp>
      <p:sp>
        <p:nvSpPr>
          <p:cNvPr id="9" name="Rectangle 8"/>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8360019"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Part 3  |  68–78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24 / 35</a:t>
            </a:r>
          </a:p>
        </p:txBody>
      </p:sp>
      <p:sp>
        <p:nvSpPr>
          <p:cNvPr id="14" name="Rounded Rectangle 13"/>
          <p:cNvSpPr/>
          <p:nvPr/>
        </p:nvSpPr>
        <p:spPr>
          <a:xfrm>
            <a:off x="457200" y="1371600"/>
            <a:ext cx="813816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1783080"/>
            <a:ext cx="7406640" cy="868680"/>
          </a:xfrm>
          <a:prstGeom prst="rect">
            <a:avLst/>
          </a:prstGeom>
          <a:noFill/>
        </p:spPr>
        <p:txBody>
          <a:bodyPr wrap="square">
            <a:spAutoFit/>
          </a:bodyPr>
          <a:lstStyle/>
          <a:p>
            <a:pPr algn="l"/>
            <a:r>
              <a:rPr sz="3200" b="1">
                <a:solidFill>
                  <a:srgbClr val="16366B"/>
                </a:solidFill>
                <a:latin typeface="Calibri"/>
              </a:rPr>
              <a:t>The ball is under the tree.</a:t>
            </a:r>
          </a:p>
        </p:txBody>
      </p:sp>
      <p:sp>
        <p:nvSpPr>
          <p:cNvPr id="16" name="TextBox 15"/>
          <p:cNvSpPr txBox="1"/>
          <p:nvPr/>
        </p:nvSpPr>
        <p:spPr>
          <a:xfrm>
            <a:off x="868680" y="2807208"/>
            <a:ext cx="7406640" cy="868680"/>
          </a:xfrm>
          <a:prstGeom prst="rect">
            <a:avLst/>
          </a:prstGeom>
          <a:noFill/>
        </p:spPr>
        <p:txBody>
          <a:bodyPr wrap="square">
            <a:spAutoFit/>
          </a:bodyPr>
          <a:lstStyle/>
          <a:p>
            <a:pPr algn="l"/>
            <a:r>
              <a:rPr sz="3200" b="1">
                <a:solidFill>
                  <a:srgbClr val="16366B"/>
                </a:solidFill>
                <a:latin typeface="Calibri"/>
              </a:rPr>
              <a:t>A cat sits on the ball.</a:t>
            </a:r>
          </a:p>
        </p:txBody>
      </p:sp>
      <p:sp>
        <p:nvSpPr>
          <p:cNvPr id="17" name="TextBox 16"/>
          <p:cNvSpPr txBox="1"/>
          <p:nvPr/>
        </p:nvSpPr>
        <p:spPr>
          <a:xfrm>
            <a:off x="868680" y="3831336"/>
            <a:ext cx="7406640" cy="868680"/>
          </a:xfrm>
          <a:prstGeom prst="rect">
            <a:avLst/>
          </a:prstGeom>
          <a:noFill/>
        </p:spPr>
        <p:txBody>
          <a:bodyPr wrap="square">
            <a:spAutoFit/>
          </a:bodyPr>
          <a:lstStyle/>
          <a:p>
            <a:pPr algn="l"/>
            <a:r>
              <a:rPr sz="3200" b="1">
                <a:solidFill>
                  <a:srgbClr val="16366B"/>
                </a:solidFill>
                <a:latin typeface="Calibri"/>
              </a:rPr>
              <a:t>"My ball!" says Ben.</a:t>
            </a:r>
          </a:p>
        </p:txBody>
      </p:sp>
      <p:sp>
        <p:nvSpPr>
          <p:cNvPr id="18" name="TextBox 17"/>
          <p:cNvSpPr txBox="1"/>
          <p:nvPr/>
        </p:nvSpPr>
        <p:spPr>
          <a:xfrm>
            <a:off x="868680" y="4855464"/>
            <a:ext cx="7406640" cy="868680"/>
          </a:xfrm>
          <a:prstGeom prst="rect">
            <a:avLst/>
          </a:prstGeom>
          <a:noFill/>
        </p:spPr>
        <p:txBody>
          <a:bodyPr wrap="square">
            <a:spAutoFit/>
          </a:bodyPr>
          <a:lstStyle/>
          <a:p>
            <a:pPr algn="l"/>
            <a:r>
              <a:rPr sz="3200" b="1">
                <a:solidFill>
                  <a:srgbClr val="16366B"/>
                </a:solidFill>
                <a:latin typeface="Calibri"/>
              </a:rPr>
              <a:t>The cat runs to Ben.</a:t>
            </a:r>
          </a:p>
        </p:txBody>
      </p:sp>
      <p:sp>
        <p:nvSpPr>
          <p:cNvPr id="19" name="Rounded Rectangle 18"/>
          <p:cNvSpPr/>
          <p:nvPr/>
        </p:nvSpPr>
        <p:spPr>
          <a:xfrm>
            <a:off x="8823960" y="1371600"/>
            <a:ext cx="2926080" cy="4526280"/>
          </a:xfrm>
          <a:prstGeom prst="roundRect">
            <a:avLst/>
          </a:prstGeom>
          <a:solidFill>
            <a:srgbClr val="E4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23960" y="1920240"/>
            <a:ext cx="2926080" cy="1280160"/>
          </a:xfrm>
          <a:prstGeom prst="rect">
            <a:avLst/>
          </a:prstGeom>
          <a:noFill/>
        </p:spPr>
        <p:txBody>
          <a:bodyPr wrap="square">
            <a:spAutoFit/>
          </a:bodyPr>
          <a:lstStyle/>
          <a:p>
            <a:pPr algn="ctr"/>
            <a:r>
              <a:rPr sz="6400" b="0">
                <a:solidFill>
                  <a:srgbClr val="242C38"/>
                </a:solidFill>
                <a:latin typeface="Calibri"/>
              </a:rPr>
              <a:t>🌳</a:t>
            </a:r>
          </a:p>
        </p:txBody>
      </p:sp>
      <p:sp>
        <p:nvSpPr>
          <p:cNvPr id="21" name="Rounded Rectangle 20"/>
          <p:cNvSpPr/>
          <p:nvPr/>
        </p:nvSpPr>
        <p:spPr>
          <a:xfrm>
            <a:off x="9052560" y="3611880"/>
            <a:ext cx="246888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52560" y="3712464"/>
            <a:ext cx="2468880" cy="365760"/>
          </a:xfrm>
          <a:prstGeom prst="rect">
            <a:avLst/>
          </a:prstGeom>
          <a:noFill/>
        </p:spPr>
        <p:txBody>
          <a:bodyPr wrap="square">
            <a:spAutoFit/>
          </a:bodyPr>
          <a:lstStyle/>
          <a:p>
            <a:pPr algn="ctr"/>
            <a:r>
              <a:rPr sz="1400" b="1">
                <a:solidFill>
                  <a:srgbClr val="16366B"/>
                </a:solidFill>
                <a:latin typeface="Calibri"/>
              </a:rPr>
              <a:t>1️⃣  I read it</a:t>
            </a:r>
          </a:p>
        </p:txBody>
      </p:sp>
      <p:sp>
        <p:nvSpPr>
          <p:cNvPr id="23" name="Rounded Rectangle 22"/>
          <p:cNvSpPr/>
          <p:nvPr/>
        </p:nvSpPr>
        <p:spPr>
          <a:xfrm>
            <a:off x="9052560" y="4270248"/>
            <a:ext cx="246888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0" y="4370832"/>
            <a:ext cx="2468880" cy="365760"/>
          </a:xfrm>
          <a:prstGeom prst="rect">
            <a:avLst/>
          </a:prstGeom>
          <a:noFill/>
        </p:spPr>
        <p:txBody>
          <a:bodyPr wrap="square">
            <a:spAutoFit/>
          </a:bodyPr>
          <a:lstStyle/>
          <a:p>
            <a:pPr algn="ctr"/>
            <a:r>
              <a:rPr sz="1400" b="1">
                <a:solidFill>
                  <a:srgbClr val="16366B"/>
                </a:solidFill>
                <a:latin typeface="Calibri"/>
              </a:rPr>
              <a:t>2️⃣  We read it</a:t>
            </a:r>
          </a:p>
        </p:txBody>
      </p:sp>
      <p:sp>
        <p:nvSpPr>
          <p:cNvPr id="25" name="Rounded Rectangle 24"/>
          <p:cNvSpPr/>
          <p:nvPr/>
        </p:nvSpPr>
        <p:spPr>
          <a:xfrm>
            <a:off x="9052560" y="4928616"/>
            <a:ext cx="246888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0" y="5029200"/>
            <a:ext cx="2468880" cy="365760"/>
          </a:xfrm>
          <a:prstGeom prst="rect">
            <a:avLst/>
          </a:prstGeom>
          <a:noFill/>
        </p:spPr>
        <p:txBody>
          <a:bodyPr wrap="square">
            <a:spAutoFit/>
          </a:bodyPr>
          <a:lstStyle/>
          <a:p>
            <a:pPr algn="ctr"/>
            <a:r>
              <a:rPr sz="1400" b="1">
                <a:solidFill>
                  <a:srgbClr val="16366B"/>
                </a:solidFill>
                <a:latin typeface="Calibri"/>
              </a:rPr>
              <a:t>3️⃣  You pick ONE line</a:t>
            </a:r>
          </a:p>
        </p:txBody>
      </p:sp>
    </p:spTree>
  </p:cSld>
  <p:clrMapOvr>
    <a:masterClrMapping/>
  </p:clrMapOvr>
  <p:transition spd="med"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F2A1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F2A1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STORY</a:t>
            </a:r>
          </a:p>
        </p:txBody>
      </p:sp>
      <p:sp>
        <p:nvSpPr>
          <p:cNvPr id="6" name="Rounded Rectangle 5"/>
          <p:cNvSpPr/>
          <p:nvPr/>
        </p:nvSpPr>
        <p:spPr>
          <a:xfrm>
            <a:off x="9418320" y="237744"/>
            <a:ext cx="242316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a:solidFill>
                  <a:srgbClr val="FFFFFF"/>
                </a:solidFill>
                <a:latin typeface="Calibri"/>
              </a:rPr>
              <a:t>68–78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The Little Bear — Part 4</a:t>
            </a:r>
          </a:p>
        </p:txBody>
      </p:sp>
      <p:sp>
        <p:nvSpPr>
          <p:cNvPr id="9" name="Rectangle 8"/>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8708353"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Part 4  |  68–78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25 / 35</a:t>
            </a:r>
          </a:p>
        </p:txBody>
      </p:sp>
      <p:sp>
        <p:nvSpPr>
          <p:cNvPr id="14" name="Rounded Rectangle 13"/>
          <p:cNvSpPr/>
          <p:nvPr/>
        </p:nvSpPr>
        <p:spPr>
          <a:xfrm>
            <a:off x="457200" y="1371600"/>
            <a:ext cx="813816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1783080"/>
            <a:ext cx="7406640" cy="868680"/>
          </a:xfrm>
          <a:prstGeom prst="rect">
            <a:avLst/>
          </a:prstGeom>
          <a:noFill/>
        </p:spPr>
        <p:txBody>
          <a:bodyPr wrap="square">
            <a:spAutoFit/>
          </a:bodyPr>
          <a:lstStyle/>
          <a:p>
            <a:pPr algn="l"/>
            <a:r>
              <a:rPr sz="3200" b="1">
                <a:solidFill>
                  <a:srgbClr val="16366B"/>
                </a:solidFill>
                <a:latin typeface="Calibri"/>
              </a:rPr>
              <a:t>Ben gets the red ball.</a:t>
            </a:r>
          </a:p>
        </p:txBody>
      </p:sp>
      <p:sp>
        <p:nvSpPr>
          <p:cNvPr id="16" name="TextBox 15"/>
          <p:cNvSpPr txBox="1"/>
          <p:nvPr/>
        </p:nvSpPr>
        <p:spPr>
          <a:xfrm>
            <a:off x="868680" y="2807208"/>
            <a:ext cx="7406640" cy="868680"/>
          </a:xfrm>
          <a:prstGeom prst="rect">
            <a:avLst/>
          </a:prstGeom>
          <a:noFill/>
        </p:spPr>
        <p:txBody>
          <a:bodyPr wrap="square">
            <a:spAutoFit/>
          </a:bodyPr>
          <a:lstStyle/>
          <a:p>
            <a:pPr algn="l"/>
            <a:r>
              <a:rPr sz="3200" b="1">
                <a:solidFill>
                  <a:srgbClr val="16366B"/>
                </a:solidFill>
                <a:latin typeface="Calibri"/>
              </a:rPr>
              <a:t>Ben and the cat play.</a:t>
            </a:r>
          </a:p>
        </p:txBody>
      </p:sp>
      <p:sp>
        <p:nvSpPr>
          <p:cNvPr id="17" name="TextBox 16"/>
          <p:cNvSpPr txBox="1"/>
          <p:nvPr/>
        </p:nvSpPr>
        <p:spPr>
          <a:xfrm>
            <a:off x="868680" y="3831336"/>
            <a:ext cx="7406640" cy="868680"/>
          </a:xfrm>
          <a:prstGeom prst="rect">
            <a:avLst/>
          </a:prstGeom>
          <a:noFill/>
        </p:spPr>
        <p:txBody>
          <a:bodyPr wrap="square">
            <a:spAutoFit/>
          </a:bodyPr>
          <a:lstStyle/>
          <a:p>
            <a:pPr algn="l"/>
            <a:r>
              <a:rPr sz="3200" b="1">
                <a:solidFill>
                  <a:srgbClr val="16366B"/>
                </a:solidFill>
                <a:latin typeface="Calibri"/>
              </a:rPr>
              <a:t>The sun is big and hot.</a:t>
            </a:r>
          </a:p>
        </p:txBody>
      </p:sp>
      <p:sp>
        <p:nvSpPr>
          <p:cNvPr id="18" name="TextBox 17"/>
          <p:cNvSpPr txBox="1"/>
          <p:nvPr/>
        </p:nvSpPr>
        <p:spPr>
          <a:xfrm>
            <a:off x="868680" y="4855464"/>
            <a:ext cx="7406640" cy="868680"/>
          </a:xfrm>
          <a:prstGeom prst="rect">
            <a:avLst/>
          </a:prstGeom>
          <a:noFill/>
        </p:spPr>
        <p:txBody>
          <a:bodyPr wrap="square">
            <a:spAutoFit/>
          </a:bodyPr>
          <a:lstStyle/>
          <a:p>
            <a:pPr algn="l"/>
            <a:r>
              <a:rPr sz="3200" b="1">
                <a:solidFill>
                  <a:srgbClr val="16366B"/>
                </a:solidFill>
                <a:latin typeface="Calibri"/>
              </a:rPr>
              <a:t>Ben is happy.</a:t>
            </a:r>
          </a:p>
        </p:txBody>
      </p:sp>
      <p:sp>
        <p:nvSpPr>
          <p:cNvPr id="19" name="Rounded Rectangle 18"/>
          <p:cNvSpPr/>
          <p:nvPr/>
        </p:nvSpPr>
        <p:spPr>
          <a:xfrm>
            <a:off x="8823960" y="1371600"/>
            <a:ext cx="2926080" cy="4526280"/>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23960" y="1920240"/>
            <a:ext cx="2926080" cy="1280160"/>
          </a:xfrm>
          <a:prstGeom prst="rect">
            <a:avLst/>
          </a:prstGeom>
          <a:noFill/>
        </p:spPr>
        <p:txBody>
          <a:bodyPr wrap="square">
            <a:spAutoFit/>
          </a:bodyPr>
          <a:lstStyle/>
          <a:p>
            <a:pPr algn="ctr"/>
            <a:r>
              <a:rPr sz="6400" b="0">
                <a:solidFill>
                  <a:srgbClr val="242C38"/>
                </a:solidFill>
                <a:latin typeface="Calibri"/>
              </a:rPr>
              <a:t>😀</a:t>
            </a:r>
          </a:p>
        </p:txBody>
      </p:sp>
      <p:sp>
        <p:nvSpPr>
          <p:cNvPr id="21" name="Rounded Rectangle 20"/>
          <p:cNvSpPr/>
          <p:nvPr/>
        </p:nvSpPr>
        <p:spPr>
          <a:xfrm>
            <a:off x="9052560" y="3611880"/>
            <a:ext cx="246888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52560" y="3712464"/>
            <a:ext cx="2468880" cy="365760"/>
          </a:xfrm>
          <a:prstGeom prst="rect">
            <a:avLst/>
          </a:prstGeom>
          <a:noFill/>
        </p:spPr>
        <p:txBody>
          <a:bodyPr wrap="square">
            <a:spAutoFit/>
          </a:bodyPr>
          <a:lstStyle/>
          <a:p>
            <a:pPr algn="ctr"/>
            <a:r>
              <a:rPr sz="1400" b="1">
                <a:solidFill>
                  <a:srgbClr val="16366B"/>
                </a:solidFill>
                <a:latin typeface="Calibri"/>
              </a:rPr>
              <a:t>1️⃣  I read it</a:t>
            </a:r>
          </a:p>
        </p:txBody>
      </p:sp>
      <p:sp>
        <p:nvSpPr>
          <p:cNvPr id="23" name="Rounded Rectangle 22"/>
          <p:cNvSpPr/>
          <p:nvPr/>
        </p:nvSpPr>
        <p:spPr>
          <a:xfrm>
            <a:off x="9052560" y="4270248"/>
            <a:ext cx="246888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0" y="4370832"/>
            <a:ext cx="2468880" cy="365760"/>
          </a:xfrm>
          <a:prstGeom prst="rect">
            <a:avLst/>
          </a:prstGeom>
          <a:noFill/>
        </p:spPr>
        <p:txBody>
          <a:bodyPr wrap="square">
            <a:spAutoFit/>
          </a:bodyPr>
          <a:lstStyle/>
          <a:p>
            <a:pPr algn="ctr"/>
            <a:r>
              <a:rPr sz="1400" b="1">
                <a:solidFill>
                  <a:srgbClr val="16366B"/>
                </a:solidFill>
                <a:latin typeface="Calibri"/>
              </a:rPr>
              <a:t>2️⃣  We read it</a:t>
            </a:r>
          </a:p>
        </p:txBody>
      </p:sp>
      <p:sp>
        <p:nvSpPr>
          <p:cNvPr id="25" name="Rounded Rectangle 24"/>
          <p:cNvSpPr/>
          <p:nvPr/>
        </p:nvSpPr>
        <p:spPr>
          <a:xfrm>
            <a:off x="9052560" y="4928616"/>
            <a:ext cx="2468880"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0" y="5029200"/>
            <a:ext cx="2468880" cy="365760"/>
          </a:xfrm>
          <a:prstGeom prst="rect">
            <a:avLst/>
          </a:prstGeom>
          <a:noFill/>
        </p:spPr>
        <p:txBody>
          <a:bodyPr wrap="square">
            <a:spAutoFit/>
          </a:bodyPr>
          <a:lstStyle/>
          <a:p>
            <a:pPr algn="ctr"/>
            <a:r>
              <a:rPr sz="1400" b="1">
                <a:solidFill>
                  <a:srgbClr val="16366B"/>
                </a:solidFill>
                <a:latin typeface="Calibri"/>
              </a:rPr>
              <a:t>3️⃣  You pick ONE line</a:t>
            </a:r>
          </a:p>
        </p:txBody>
      </p:sp>
    </p:spTree>
  </p:cSld>
  <p:clrMapOvr>
    <a:masterClrMapping/>
  </p:clrMapOvr>
  <p:transition spd="med"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F2A1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F2A1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CHALLENGE</a:t>
            </a:r>
          </a:p>
        </p:txBody>
      </p:sp>
      <p:sp>
        <p:nvSpPr>
          <p:cNvPr id="6" name="Rounded Rectangle 5"/>
          <p:cNvSpPr/>
          <p:nvPr/>
        </p:nvSpPr>
        <p:spPr>
          <a:xfrm>
            <a:off x="9418320" y="237744"/>
            <a:ext cx="242316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a:solidFill>
                  <a:srgbClr val="FFFFFF"/>
                </a:solidFill>
                <a:latin typeface="Calibri"/>
              </a:rPr>
              <a:t>68–78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Story Reading Challenge</a:t>
            </a:r>
          </a:p>
        </p:txBody>
      </p:sp>
      <p:sp>
        <p:nvSpPr>
          <p:cNvPr id="9" name="Rectangle 8"/>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9056687"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Story challenge  |  68–78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26 / 35</a:t>
            </a:r>
          </a:p>
        </p:txBody>
      </p:sp>
      <p:sp>
        <p:nvSpPr>
          <p:cNvPr id="14" name="TextBox 13"/>
          <p:cNvSpPr txBox="1"/>
          <p:nvPr/>
        </p:nvSpPr>
        <p:spPr>
          <a:xfrm>
            <a:off x="411480" y="1261872"/>
            <a:ext cx="10515600" cy="384048"/>
          </a:xfrm>
          <a:prstGeom prst="rect">
            <a:avLst/>
          </a:prstGeom>
          <a:noFill/>
        </p:spPr>
        <p:txBody>
          <a:bodyPr wrap="square">
            <a:spAutoFit/>
          </a:bodyPr>
          <a:lstStyle/>
          <a:p>
            <a:pPr algn="l"/>
            <a:r>
              <a:rPr sz="1600" b="1">
                <a:solidFill>
                  <a:srgbClr val="E85A4F"/>
                </a:solidFill>
                <a:latin typeface="Calibri"/>
              </a:rPr>
              <a:t>Pick a line from Ben's story and read it. You choose which one!</a:t>
            </a:r>
          </a:p>
        </p:txBody>
      </p:sp>
      <p:sp>
        <p:nvSpPr>
          <p:cNvPr id="15" name="Rounded Rectangle 14"/>
          <p:cNvSpPr/>
          <p:nvPr/>
        </p:nvSpPr>
        <p:spPr>
          <a:xfrm>
            <a:off x="457200" y="1783080"/>
            <a:ext cx="11292840" cy="1298448"/>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85800" y="2167128"/>
            <a:ext cx="1554480" cy="530352"/>
          </a:xfrm>
          <a:prstGeom prst="roundRect">
            <a:avLst/>
          </a:prstGeom>
          <a:solidFill>
            <a:srgbClr val="009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240280"/>
            <a:ext cx="1554480" cy="384048"/>
          </a:xfrm>
          <a:prstGeom prst="rect">
            <a:avLst/>
          </a:prstGeom>
          <a:noFill/>
        </p:spPr>
        <p:txBody>
          <a:bodyPr wrap="square">
            <a:spAutoFit/>
          </a:bodyPr>
          <a:lstStyle/>
          <a:p>
            <a:pPr algn="ctr"/>
            <a:r>
              <a:rPr sz="1500" b="0">
                <a:solidFill>
                  <a:srgbClr val="242C38"/>
                </a:solidFill>
                <a:latin typeface="Calibri"/>
              </a:rPr>
              <a:t>⭐</a:t>
            </a:r>
          </a:p>
        </p:txBody>
      </p:sp>
      <p:sp>
        <p:nvSpPr>
          <p:cNvPr id="18" name="TextBox 17"/>
          <p:cNvSpPr txBox="1"/>
          <p:nvPr/>
        </p:nvSpPr>
        <p:spPr>
          <a:xfrm>
            <a:off x="2560320" y="2112264"/>
            <a:ext cx="8686800" cy="685800"/>
          </a:xfrm>
          <a:prstGeom prst="rect">
            <a:avLst/>
          </a:prstGeom>
          <a:noFill/>
        </p:spPr>
        <p:txBody>
          <a:bodyPr wrap="square">
            <a:spAutoFit/>
          </a:bodyPr>
          <a:lstStyle/>
          <a:p>
            <a:pPr algn="l"/>
            <a:r>
              <a:rPr sz="3200" b="1">
                <a:solidFill>
                  <a:srgbClr val="16366B"/>
                </a:solidFill>
                <a:latin typeface="Arial Black"/>
              </a:rPr>
              <a:t>Ben is happy.</a:t>
            </a:r>
          </a:p>
        </p:txBody>
      </p:sp>
      <p:sp>
        <p:nvSpPr>
          <p:cNvPr id="19" name="Rounded Rectangle 18"/>
          <p:cNvSpPr/>
          <p:nvPr/>
        </p:nvSpPr>
        <p:spPr>
          <a:xfrm>
            <a:off x="457200" y="3264408"/>
            <a:ext cx="11292840" cy="1298448"/>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85800" y="3648456"/>
            <a:ext cx="1554480" cy="530352"/>
          </a:xfrm>
          <a:prstGeom prst="roundRect">
            <a:avLst/>
          </a:prstGeom>
          <a:solidFill>
            <a:srgbClr val="F2A1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3721608"/>
            <a:ext cx="1554480" cy="384048"/>
          </a:xfrm>
          <a:prstGeom prst="rect">
            <a:avLst/>
          </a:prstGeom>
          <a:noFill/>
        </p:spPr>
        <p:txBody>
          <a:bodyPr wrap="square">
            <a:spAutoFit/>
          </a:bodyPr>
          <a:lstStyle/>
          <a:p>
            <a:pPr algn="ctr"/>
            <a:r>
              <a:rPr sz="1500" b="0">
                <a:solidFill>
                  <a:srgbClr val="242C38"/>
                </a:solidFill>
                <a:latin typeface="Calibri"/>
              </a:rPr>
              <a:t>⭐⭐</a:t>
            </a:r>
          </a:p>
        </p:txBody>
      </p:sp>
      <p:sp>
        <p:nvSpPr>
          <p:cNvPr id="22" name="TextBox 21"/>
          <p:cNvSpPr txBox="1"/>
          <p:nvPr/>
        </p:nvSpPr>
        <p:spPr>
          <a:xfrm>
            <a:off x="2560320" y="3593592"/>
            <a:ext cx="8686800" cy="685800"/>
          </a:xfrm>
          <a:prstGeom prst="rect">
            <a:avLst/>
          </a:prstGeom>
          <a:noFill/>
        </p:spPr>
        <p:txBody>
          <a:bodyPr wrap="square">
            <a:spAutoFit/>
          </a:bodyPr>
          <a:lstStyle/>
          <a:p>
            <a:pPr algn="l"/>
            <a:r>
              <a:rPr sz="3200" b="1">
                <a:solidFill>
                  <a:srgbClr val="16366B"/>
                </a:solidFill>
                <a:latin typeface="Arial Black"/>
              </a:rPr>
              <a:t>Ben has a red ball.</a:t>
            </a:r>
          </a:p>
        </p:txBody>
      </p:sp>
      <p:sp>
        <p:nvSpPr>
          <p:cNvPr id="23" name="Rounded Rectangle 22"/>
          <p:cNvSpPr/>
          <p:nvPr/>
        </p:nvSpPr>
        <p:spPr>
          <a:xfrm>
            <a:off x="457200" y="4745736"/>
            <a:ext cx="11292840" cy="1298448"/>
          </a:xfrm>
          <a:prstGeom prst="roundRect">
            <a:avLst/>
          </a:prstGeom>
          <a:solidFill>
            <a:srgbClr val="FDE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85800" y="5129784"/>
            <a:ext cx="1554480" cy="530352"/>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202936"/>
            <a:ext cx="1554480" cy="384048"/>
          </a:xfrm>
          <a:prstGeom prst="rect">
            <a:avLst/>
          </a:prstGeom>
          <a:noFill/>
        </p:spPr>
        <p:txBody>
          <a:bodyPr wrap="square">
            <a:spAutoFit/>
          </a:bodyPr>
          <a:lstStyle/>
          <a:p>
            <a:pPr algn="ctr"/>
            <a:r>
              <a:rPr sz="1500" b="0">
                <a:solidFill>
                  <a:srgbClr val="242C38"/>
                </a:solidFill>
                <a:latin typeface="Calibri"/>
              </a:rPr>
              <a:t>⭐⭐⭐</a:t>
            </a:r>
          </a:p>
        </p:txBody>
      </p:sp>
      <p:sp>
        <p:nvSpPr>
          <p:cNvPr id="26" name="TextBox 25"/>
          <p:cNvSpPr txBox="1"/>
          <p:nvPr/>
        </p:nvSpPr>
        <p:spPr>
          <a:xfrm>
            <a:off x="2560320" y="5074920"/>
            <a:ext cx="8686800" cy="685800"/>
          </a:xfrm>
          <a:prstGeom prst="rect">
            <a:avLst/>
          </a:prstGeom>
          <a:noFill/>
        </p:spPr>
        <p:txBody>
          <a:bodyPr wrap="square">
            <a:spAutoFit/>
          </a:bodyPr>
          <a:lstStyle/>
          <a:p>
            <a:pPr algn="l"/>
            <a:r>
              <a:rPr sz="3200" b="1">
                <a:solidFill>
                  <a:srgbClr val="16366B"/>
                </a:solidFill>
                <a:latin typeface="Arial Black"/>
              </a:rPr>
              <a:t>The ball is under the tree.</a:t>
            </a:r>
          </a:p>
        </p:txBody>
      </p:sp>
      <p:sp>
        <p:nvSpPr>
          <p:cNvPr id="27" name="TextBox 26"/>
          <p:cNvSpPr txBox="1"/>
          <p:nvPr/>
        </p:nvSpPr>
        <p:spPr>
          <a:xfrm>
            <a:off x="457200" y="6263640"/>
            <a:ext cx="8229600" cy="274320"/>
          </a:xfrm>
          <a:prstGeom prst="rect">
            <a:avLst/>
          </a:prstGeom>
          <a:noFill/>
        </p:spPr>
        <p:txBody>
          <a:bodyPr wrap="square">
            <a:spAutoFit/>
          </a:bodyPr>
          <a:lstStyle/>
          <a:p>
            <a:pPr algn="l"/>
            <a:r>
              <a:rPr sz="1000" b="0">
                <a:solidFill>
                  <a:srgbClr val="242C38"/>
                </a:solidFill>
                <a:latin typeface="Calibri"/>
              </a:rPr>
              <a:t/>
            </a:r>
          </a:p>
        </p:txBody>
      </p:sp>
    </p:spTree>
  </p:cSld>
  <p:clrMapOvr>
    <a:masterClrMapping/>
  </p:clrMapOvr>
  <p:transition spd="med"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7B4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7B4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THINK</a:t>
            </a:r>
          </a:p>
        </p:txBody>
      </p:sp>
      <p:sp>
        <p:nvSpPr>
          <p:cNvPr id="6" name="Rounded Rectangle 5"/>
          <p:cNvSpPr/>
          <p:nvPr/>
        </p:nvSpPr>
        <p:spPr>
          <a:xfrm>
            <a:off x="9418320" y="237744"/>
            <a:ext cx="242316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a:solidFill>
                  <a:srgbClr val="FFFFFF"/>
                </a:solidFill>
                <a:latin typeface="Calibri"/>
              </a:rPr>
              <a:t>78–84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Story Questions</a:t>
            </a:r>
          </a:p>
        </p:txBody>
      </p:sp>
      <p:sp>
        <p:nvSpPr>
          <p:cNvPr id="9" name="Rectangle 8"/>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9405021"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Comprehension  |  78–84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27 / 35</a:t>
            </a:r>
          </a:p>
        </p:txBody>
      </p:sp>
      <p:sp>
        <p:nvSpPr>
          <p:cNvPr id="14" name="Rounded Rectangle 13"/>
          <p:cNvSpPr/>
          <p:nvPr/>
        </p:nvSpPr>
        <p:spPr>
          <a:xfrm>
            <a:off x="457200" y="1417320"/>
            <a:ext cx="11292840" cy="1463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1874520"/>
            <a:ext cx="548640" cy="548640"/>
          </a:xfrm>
          <a:prstGeom prst="ellipse">
            <a:avLst/>
          </a:prstGeom>
          <a:solidFill>
            <a:srgbClr val="7B4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1947672"/>
            <a:ext cx="548640" cy="411480"/>
          </a:xfrm>
          <a:prstGeom prst="rect">
            <a:avLst/>
          </a:prstGeom>
          <a:noFill/>
        </p:spPr>
        <p:txBody>
          <a:bodyPr wrap="square">
            <a:spAutoFit/>
          </a:bodyPr>
          <a:lstStyle/>
          <a:p>
            <a:pPr algn="ctr"/>
            <a:r>
              <a:rPr sz="1500" b="1">
                <a:solidFill>
                  <a:srgbClr val="FFFFFF"/>
                </a:solidFill>
                <a:latin typeface="Calibri"/>
              </a:rPr>
              <a:t>1</a:t>
            </a:r>
          </a:p>
        </p:txBody>
      </p:sp>
      <p:sp>
        <p:nvSpPr>
          <p:cNvPr id="17" name="TextBox 16"/>
          <p:cNvSpPr txBox="1"/>
          <p:nvPr/>
        </p:nvSpPr>
        <p:spPr>
          <a:xfrm>
            <a:off x="1417320" y="1892808"/>
            <a:ext cx="3566160" cy="548640"/>
          </a:xfrm>
          <a:prstGeom prst="rect">
            <a:avLst/>
          </a:prstGeom>
          <a:noFill/>
        </p:spPr>
        <p:txBody>
          <a:bodyPr wrap="square">
            <a:spAutoFit/>
          </a:bodyPr>
          <a:lstStyle/>
          <a:p>
            <a:pPr algn="l"/>
            <a:r>
              <a:rPr sz="1800" b="1">
                <a:solidFill>
                  <a:srgbClr val="16366B"/>
                </a:solidFill>
                <a:latin typeface="Calibri"/>
              </a:rPr>
              <a:t>Who is the story about?</a:t>
            </a:r>
          </a:p>
        </p:txBody>
      </p:sp>
      <p:sp>
        <p:nvSpPr>
          <p:cNvPr id="18" name="Rounded Rectangle 17"/>
          <p:cNvSpPr/>
          <p:nvPr/>
        </p:nvSpPr>
        <p:spPr>
          <a:xfrm>
            <a:off x="5212080" y="1673352"/>
            <a:ext cx="2011680" cy="96012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1764792"/>
            <a:ext cx="2011680" cy="411480"/>
          </a:xfrm>
          <a:prstGeom prst="rect">
            <a:avLst/>
          </a:prstGeom>
          <a:noFill/>
        </p:spPr>
        <p:txBody>
          <a:bodyPr wrap="square">
            <a:spAutoFit/>
          </a:bodyPr>
          <a:lstStyle/>
          <a:p>
            <a:pPr algn="ctr"/>
            <a:r>
              <a:rPr sz="2000" b="0">
                <a:solidFill>
                  <a:srgbClr val="242C38"/>
                </a:solidFill>
                <a:latin typeface="Calibri"/>
              </a:rPr>
              <a:t>🐻</a:t>
            </a:r>
          </a:p>
        </p:txBody>
      </p:sp>
      <p:sp>
        <p:nvSpPr>
          <p:cNvPr id="20" name="TextBox 19"/>
          <p:cNvSpPr txBox="1"/>
          <p:nvPr/>
        </p:nvSpPr>
        <p:spPr>
          <a:xfrm>
            <a:off x="5303520" y="2203704"/>
            <a:ext cx="1828800" cy="347472"/>
          </a:xfrm>
          <a:prstGeom prst="rect">
            <a:avLst/>
          </a:prstGeom>
          <a:noFill/>
        </p:spPr>
        <p:txBody>
          <a:bodyPr wrap="square">
            <a:spAutoFit/>
          </a:bodyPr>
          <a:lstStyle/>
          <a:p>
            <a:pPr algn="ctr"/>
            <a:r>
              <a:rPr sz="1300" b="1">
                <a:solidFill>
                  <a:srgbClr val="16366B"/>
                </a:solidFill>
                <a:latin typeface="Calibri"/>
              </a:rPr>
              <a:t>Bear</a:t>
            </a:r>
          </a:p>
        </p:txBody>
      </p:sp>
      <p:sp>
        <p:nvSpPr>
          <p:cNvPr id="21" name="Rounded Rectangle 20"/>
          <p:cNvSpPr/>
          <p:nvPr/>
        </p:nvSpPr>
        <p:spPr>
          <a:xfrm>
            <a:off x="7406640" y="1673352"/>
            <a:ext cx="2011680" cy="96012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1764792"/>
            <a:ext cx="2011680" cy="411480"/>
          </a:xfrm>
          <a:prstGeom prst="rect">
            <a:avLst/>
          </a:prstGeom>
          <a:noFill/>
        </p:spPr>
        <p:txBody>
          <a:bodyPr wrap="square">
            <a:spAutoFit/>
          </a:bodyPr>
          <a:lstStyle/>
          <a:p>
            <a:pPr algn="ctr"/>
            <a:r>
              <a:rPr sz="2000" b="0">
                <a:solidFill>
                  <a:srgbClr val="242C38"/>
                </a:solidFill>
                <a:latin typeface="Calibri"/>
              </a:rPr>
              <a:t>🐶</a:t>
            </a:r>
          </a:p>
        </p:txBody>
      </p:sp>
      <p:sp>
        <p:nvSpPr>
          <p:cNvPr id="23" name="TextBox 22"/>
          <p:cNvSpPr txBox="1"/>
          <p:nvPr/>
        </p:nvSpPr>
        <p:spPr>
          <a:xfrm>
            <a:off x="7498080" y="2203704"/>
            <a:ext cx="1828800" cy="347472"/>
          </a:xfrm>
          <a:prstGeom prst="rect">
            <a:avLst/>
          </a:prstGeom>
          <a:noFill/>
        </p:spPr>
        <p:txBody>
          <a:bodyPr wrap="square">
            <a:spAutoFit/>
          </a:bodyPr>
          <a:lstStyle/>
          <a:p>
            <a:pPr algn="ctr"/>
            <a:r>
              <a:rPr sz="1300" b="1">
                <a:solidFill>
                  <a:srgbClr val="16366B"/>
                </a:solidFill>
                <a:latin typeface="Calibri"/>
              </a:rPr>
              <a:t>Dog</a:t>
            </a:r>
          </a:p>
        </p:txBody>
      </p:sp>
      <p:sp>
        <p:nvSpPr>
          <p:cNvPr id="24" name="Rounded Rectangle 23"/>
          <p:cNvSpPr/>
          <p:nvPr/>
        </p:nvSpPr>
        <p:spPr>
          <a:xfrm>
            <a:off x="9601200" y="1673352"/>
            <a:ext cx="2011680" cy="96012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0" y="1764792"/>
            <a:ext cx="2011680" cy="411480"/>
          </a:xfrm>
          <a:prstGeom prst="rect">
            <a:avLst/>
          </a:prstGeom>
          <a:noFill/>
        </p:spPr>
        <p:txBody>
          <a:bodyPr wrap="square">
            <a:spAutoFit/>
          </a:bodyPr>
          <a:lstStyle/>
          <a:p>
            <a:pPr algn="ctr"/>
            <a:r>
              <a:rPr sz="2000" b="0">
                <a:solidFill>
                  <a:srgbClr val="242C38"/>
                </a:solidFill>
                <a:latin typeface="Calibri"/>
              </a:rPr>
              <a:t>🐱</a:t>
            </a:r>
          </a:p>
        </p:txBody>
      </p:sp>
      <p:sp>
        <p:nvSpPr>
          <p:cNvPr id="26" name="TextBox 25"/>
          <p:cNvSpPr txBox="1"/>
          <p:nvPr/>
        </p:nvSpPr>
        <p:spPr>
          <a:xfrm>
            <a:off x="9692640" y="2203704"/>
            <a:ext cx="1828800" cy="347472"/>
          </a:xfrm>
          <a:prstGeom prst="rect">
            <a:avLst/>
          </a:prstGeom>
          <a:noFill/>
        </p:spPr>
        <p:txBody>
          <a:bodyPr wrap="square">
            <a:spAutoFit/>
          </a:bodyPr>
          <a:lstStyle/>
          <a:p>
            <a:pPr algn="ctr"/>
            <a:r>
              <a:rPr sz="1300" b="1">
                <a:solidFill>
                  <a:srgbClr val="16366B"/>
                </a:solidFill>
                <a:latin typeface="Calibri"/>
              </a:rPr>
              <a:t>Cat</a:t>
            </a:r>
          </a:p>
        </p:txBody>
      </p:sp>
      <p:sp>
        <p:nvSpPr>
          <p:cNvPr id="27" name="Rounded Rectangle 26"/>
          <p:cNvSpPr/>
          <p:nvPr/>
        </p:nvSpPr>
        <p:spPr>
          <a:xfrm>
            <a:off x="457200" y="3044952"/>
            <a:ext cx="11292840" cy="1463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58368" y="3502152"/>
            <a:ext cx="548640" cy="548640"/>
          </a:xfrm>
          <a:prstGeom prst="ellipse">
            <a:avLst/>
          </a:prstGeom>
          <a:solidFill>
            <a:srgbClr val="7B4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3575304"/>
            <a:ext cx="548640" cy="411480"/>
          </a:xfrm>
          <a:prstGeom prst="rect">
            <a:avLst/>
          </a:prstGeom>
          <a:noFill/>
        </p:spPr>
        <p:txBody>
          <a:bodyPr wrap="square">
            <a:spAutoFit/>
          </a:bodyPr>
          <a:lstStyle/>
          <a:p>
            <a:pPr algn="ctr"/>
            <a:r>
              <a:rPr sz="1500" b="1">
                <a:solidFill>
                  <a:srgbClr val="FFFFFF"/>
                </a:solidFill>
                <a:latin typeface="Calibri"/>
              </a:rPr>
              <a:t>2</a:t>
            </a:r>
          </a:p>
        </p:txBody>
      </p:sp>
      <p:sp>
        <p:nvSpPr>
          <p:cNvPr id="30" name="TextBox 29"/>
          <p:cNvSpPr txBox="1"/>
          <p:nvPr/>
        </p:nvSpPr>
        <p:spPr>
          <a:xfrm>
            <a:off x="1417320" y="3520440"/>
            <a:ext cx="3566160" cy="548640"/>
          </a:xfrm>
          <a:prstGeom prst="rect">
            <a:avLst/>
          </a:prstGeom>
          <a:noFill/>
        </p:spPr>
        <p:txBody>
          <a:bodyPr wrap="square">
            <a:spAutoFit/>
          </a:bodyPr>
          <a:lstStyle/>
          <a:p>
            <a:pPr algn="l"/>
            <a:r>
              <a:rPr sz="1800" b="1">
                <a:solidFill>
                  <a:srgbClr val="16366B"/>
                </a:solidFill>
                <a:latin typeface="Calibri"/>
              </a:rPr>
              <a:t>What did Ben have?</a:t>
            </a:r>
          </a:p>
        </p:txBody>
      </p:sp>
      <p:sp>
        <p:nvSpPr>
          <p:cNvPr id="31" name="Rounded Rectangle 30"/>
          <p:cNvSpPr/>
          <p:nvPr/>
        </p:nvSpPr>
        <p:spPr>
          <a:xfrm>
            <a:off x="5212080" y="3300984"/>
            <a:ext cx="2011680" cy="96012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12080" y="3392424"/>
            <a:ext cx="2011680" cy="411480"/>
          </a:xfrm>
          <a:prstGeom prst="rect">
            <a:avLst/>
          </a:prstGeom>
          <a:noFill/>
        </p:spPr>
        <p:txBody>
          <a:bodyPr wrap="square">
            <a:spAutoFit/>
          </a:bodyPr>
          <a:lstStyle/>
          <a:p>
            <a:pPr algn="ctr"/>
            <a:r>
              <a:rPr sz="2000" b="0">
                <a:solidFill>
                  <a:srgbClr val="242C38"/>
                </a:solidFill>
                <a:latin typeface="Calibri"/>
              </a:rPr>
              <a:t>🔴</a:t>
            </a:r>
          </a:p>
        </p:txBody>
      </p:sp>
      <p:sp>
        <p:nvSpPr>
          <p:cNvPr id="33" name="TextBox 32"/>
          <p:cNvSpPr txBox="1"/>
          <p:nvPr/>
        </p:nvSpPr>
        <p:spPr>
          <a:xfrm>
            <a:off x="5303520" y="3831336"/>
            <a:ext cx="1828800" cy="347472"/>
          </a:xfrm>
          <a:prstGeom prst="rect">
            <a:avLst/>
          </a:prstGeom>
          <a:noFill/>
        </p:spPr>
        <p:txBody>
          <a:bodyPr wrap="square">
            <a:spAutoFit/>
          </a:bodyPr>
          <a:lstStyle/>
          <a:p>
            <a:pPr algn="ctr"/>
            <a:r>
              <a:rPr sz="1300" b="1">
                <a:solidFill>
                  <a:srgbClr val="16366B"/>
                </a:solidFill>
                <a:latin typeface="Calibri"/>
              </a:rPr>
              <a:t>Ball</a:t>
            </a:r>
          </a:p>
        </p:txBody>
      </p:sp>
      <p:sp>
        <p:nvSpPr>
          <p:cNvPr id="34" name="Rounded Rectangle 33"/>
          <p:cNvSpPr/>
          <p:nvPr/>
        </p:nvSpPr>
        <p:spPr>
          <a:xfrm>
            <a:off x="7406640" y="3300984"/>
            <a:ext cx="2011680" cy="96012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06640" y="3392424"/>
            <a:ext cx="2011680" cy="411480"/>
          </a:xfrm>
          <a:prstGeom prst="rect">
            <a:avLst/>
          </a:prstGeom>
          <a:noFill/>
        </p:spPr>
        <p:txBody>
          <a:bodyPr wrap="square">
            <a:spAutoFit/>
          </a:bodyPr>
          <a:lstStyle/>
          <a:p>
            <a:pPr algn="ctr"/>
            <a:r>
              <a:rPr sz="2000" b="0">
                <a:solidFill>
                  <a:srgbClr val="242C38"/>
                </a:solidFill>
                <a:latin typeface="Calibri"/>
              </a:rPr>
              <a:t>🍎</a:t>
            </a:r>
          </a:p>
        </p:txBody>
      </p:sp>
      <p:sp>
        <p:nvSpPr>
          <p:cNvPr id="36" name="TextBox 35"/>
          <p:cNvSpPr txBox="1"/>
          <p:nvPr/>
        </p:nvSpPr>
        <p:spPr>
          <a:xfrm>
            <a:off x="7498080" y="3831336"/>
            <a:ext cx="1828800" cy="347472"/>
          </a:xfrm>
          <a:prstGeom prst="rect">
            <a:avLst/>
          </a:prstGeom>
          <a:noFill/>
        </p:spPr>
        <p:txBody>
          <a:bodyPr wrap="square">
            <a:spAutoFit/>
          </a:bodyPr>
          <a:lstStyle/>
          <a:p>
            <a:pPr algn="ctr"/>
            <a:r>
              <a:rPr sz="1300" b="1">
                <a:solidFill>
                  <a:srgbClr val="16366B"/>
                </a:solidFill>
                <a:latin typeface="Calibri"/>
              </a:rPr>
              <a:t>Apple</a:t>
            </a:r>
          </a:p>
        </p:txBody>
      </p:sp>
      <p:sp>
        <p:nvSpPr>
          <p:cNvPr id="37" name="Rounded Rectangle 36"/>
          <p:cNvSpPr/>
          <p:nvPr/>
        </p:nvSpPr>
        <p:spPr>
          <a:xfrm>
            <a:off x="9601200" y="3300984"/>
            <a:ext cx="2011680" cy="96012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01200" y="3392424"/>
            <a:ext cx="2011680" cy="411480"/>
          </a:xfrm>
          <a:prstGeom prst="rect">
            <a:avLst/>
          </a:prstGeom>
          <a:noFill/>
        </p:spPr>
        <p:txBody>
          <a:bodyPr wrap="square">
            <a:spAutoFit/>
          </a:bodyPr>
          <a:lstStyle/>
          <a:p>
            <a:pPr algn="ctr"/>
            <a:r>
              <a:rPr sz="2000" b="0">
                <a:solidFill>
                  <a:srgbClr val="242C38"/>
                </a:solidFill>
                <a:latin typeface="Calibri"/>
              </a:rPr>
              <a:t>📚</a:t>
            </a:r>
          </a:p>
        </p:txBody>
      </p:sp>
      <p:sp>
        <p:nvSpPr>
          <p:cNvPr id="39" name="TextBox 38"/>
          <p:cNvSpPr txBox="1"/>
          <p:nvPr/>
        </p:nvSpPr>
        <p:spPr>
          <a:xfrm>
            <a:off x="9692640" y="3831336"/>
            <a:ext cx="1828800" cy="347472"/>
          </a:xfrm>
          <a:prstGeom prst="rect">
            <a:avLst/>
          </a:prstGeom>
          <a:noFill/>
        </p:spPr>
        <p:txBody>
          <a:bodyPr wrap="square">
            <a:spAutoFit/>
          </a:bodyPr>
          <a:lstStyle/>
          <a:p>
            <a:pPr algn="ctr"/>
            <a:r>
              <a:rPr sz="1300" b="1">
                <a:solidFill>
                  <a:srgbClr val="16366B"/>
                </a:solidFill>
                <a:latin typeface="Calibri"/>
              </a:rPr>
              <a:t>Book</a:t>
            </a:r>
          </a:p>
        </p:txBody>
      </p:sp>
      <p:sp>
        <p:nvSpPr>
          <p:cNvPr id="40" name="Rounded Rectangle 39"/>
          <p:cNvSpPr/>
          <p:nvPr/>
        </p:nvSpPr>
        <p:spPr>
          <a:xfrm>
            <a:off x="457200" y="4672584"/>
            <a:ext cx="11292840" cy="1463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58368" y="5129784"/>
            <a:ext cx="548640" cy="548640"/>
          </a:xfrm>
          <a:prstGeom prst="ellipse">
            <a:avLst/>
          </a:prstGeom>
          <a:solidFill>
            <a:srgbClr val="7B4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8368" y="5202936"/>
            <a:ext cx="548640" cy="411480"/>
          </a:xfrm>
          <a:prstGeom prst="rect">
            <a:avLst/>
          </a:prstGeom>
          <a:noFill/>
        </p:spPr>
        <p:txBody>
          <a:bodyPr wrap="square">
            <a:spAutoFit/>
          </a:bodyPr>
          <a:lstStyle/>
          <a:p>
            <a:pPr algn="ctr"/>
            <a:r>
              <a:rPr sz="1500" b="1">
                <a:solidFill>
                  <a:srgbClr val="FFFFFF"/>
                </a:solidFill>
                <a:latin typeface="Calibri"/>
              </a:rPr>
              <a:t>3</a:t>
            </a:r>
          </a:p>
        </p:txBody>
      </p:sp>
      <p:sp>
        <p:nvSpPr>
          <p:cNvPr id="43" name="TextBox 42"/>
          <p:cNvSpPr txBox="1"/>
          <p:nvPr/>
        </p:nvSpPr>
        <p:spPr>
          <a:xfrm>
            <a:off x="1417320" y="5148072"/>
            <a:ext cx="3566160" cy="548640"/>
          </a:xfrm>
          <a:prstGeom prst="rect">
            <a:avLst/>
          </a:prstGeom>
          <a:noFill/>
        </p:spPr>
        <p:txBody>
          <a:bodyPr wrap="square">
            <a:spAutoFit/>
          </a:bodyPr>
          <a:lstStyle/>
          <a:p>
            <a:pPr algn="l"/>
            <a:r>
              <a:rPr sz="1800" b="1">
                <a:solidFill>
                  <a:srgbClr val="16366B"/>
                </a:solidFill>
                <a:latin typeface="Calibri"/>
              </a:rPr>
              <a:t>Where was the ball?</a:t>
            </a:r>
          </a:p>
        </p:txBody>
      </p:sp>
      <p:sp>
        <p:nvSpPr>
          <p:cNvPr id="44" name="Rounded Rectangle 43"/>
          <p:cNvSpPr/>
          <p:nvPr/>
        </p:nvSpPr>
        <p:spPr>
          <a:xfrm>
            <a:off x="5212080" y="4928616"/>
            <a:ext cx="2011680" cy="96012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212080" y="5020056"/>
            <a:ext cx="2011680" cy="411480"/>
          </a:xfrm>
          <a:prstGeom prst="rect">
            <a:avLst/>
          </a:prstGeom>
          <a:noFill/>
        </p:spPr>
        <p:txBody>
          <a:bodyPr wrap="square">
            <a:spAutoFit/>
          </a:bodyPr>
          <a:lstStyle/>
          <a:p>
            <a:pPr algn="ctr"/>
            <a:r>
              <a:rPr sz="2000" b="0">
                <a:solidFill>
                  <a:srgbClr val="242C38"/>
                </a:solidFill>
                <a:latin typeface="Calibri"/>
              </a:rPr>
              <a:t>🌳</a:t>
            </a:r>
          </a:p>
        </p:txBody>
      </p:sp>
      <p:sp>
        <p:nvSpPr>
          <p:cNvPr id="46" name="TextBox 45"/>
          <p:cNvSpPr txBox="1"/>
          <p:nvPr/>
        </p:nvSpPr>
        <p:spPr>
          <a:xfrm>
            <a:off x="5303520" y="5458968"/>
            <a:ext cx="1828800" cy="347472"/>
          </a:xfrm>
          <a:prstGeom prst="rect">
            <a:avLst/>
          </a:prstGeom>
          <a:noFill/>
        </p:spPr>
        <p:txBody>
          <a:bodyPr wrap="square">
            <a:spAutoFit/>
          </a:bodyPr>
          <a:lstStyle/>
          <a:p>
            <a:pPr algn="ctr"/>
            <a:r>
              <a:rPr sz="1300" b="1">
                <a:solidFill>
                  <a:srgbClr val="16366B"/>
                </a:solidFill>
                <a:latin typeface="Calibri"/>
              </a:rPr>
              <a:t>Under the tree</a:t>
            </a:r>
          </a:p>
        </p:txBody>
      </p:sp>
      <p:sp>
        <p:nvSpPr>
          <p:cNvPr id="47" name="Rounded Rectangle 46"/>
          <p:cNvSpPr/>
          <p:nvPr/>
        </p:nvSpPr>
        <p:spPr>
          <a:xfrm>
            <a:off x="7406640" y="4928616"/>
            <a:ext cx="2011680" cy="96012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06640" y="5020056"/>
            <a:ext cx="2011680" cy="411480"/>
          </a:xfrm>
          <a:prstGeom prst="rect">
            <a:avLst/>
          </a:prstGeom>
          <a:noFill/>
        </p:spPr>
        <p:txBody>
          <a:bodyPr wrap="square">
            <a:spAutoFit/>
          </a:bodyPr>
          <a:lstStyle/>
          <a:p>
            <a:pPr algn="ctr"/>
            <a:r>
              <a:rPr sz="2000" b="0">
                <a:solidFill>
                  <a:srgbClr val="242C38"/>
                </a:solidFill>
                <a:latin typeface="Calibri"/>
              </a:rPr>
              <a:t>🏠</a:t>
            </a:r>
          </a:p>
        </p:txBody>
      </p:sp>
      <p:sp>
        <p:nvSpPr>
          <p:cNvPr id="49" name="TextBox 48"/>
          <p:cNvSpPr txBox="1"/>
          <p:nvPr/>
        </p:nvSpPr>
        <p:spPr>
          <a:xfrm>
            <a:off x="7498080" y="5458968"/>
            <a:ext cx="1828800" cy="347472"/>
          </a:xfrm>
          <a:prstGeom prst="rect">
            <a:avLst/>
          </a:prstGeom>
          <a:noFill/>
        </p:spPr>
        <p:txBody>
          <a:bodyPr wrap="square">
            <a:spAutoFit/>
          </a:bodyPr>
          <a:lstStyle/>
          <a:p>
            <a:pPr algn="ctr"/>
            <a:r>
              <a:rPr sz="1300" b="1">
                <a:solidFill>
                  <a:srgbClr val="16366B"/>
                </a:solidFill>
                <a:latin typeface="Calibri"/>
              </a:rPr>
              <a:t>In the house</a:t>
            </a:r>
          </a:p>
        </p:txBody>
      </p:sp>
      <p:sp>
        <p:nvSpPr>
          <p:cNvPr id="50" name="Rounded Rectangle 49"/>
          <p:cNvSpPr/>
          <p:nvPr/>
        </p:nvSpPr>
        <p:spPr>
          <a:xfrm>
            <a:off x="9601200" y="4928616"/>
            <a:ext cx="2011680" cy="960120"/>
          </a:xfrm>
          <a:prstGeom prst="roundRect">
            <a:avLst/>
          </a:prstGeom>
          <a:solidFill>
            <a:srgbClr val="EFE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601200" y="5020056"/>
            <a:ext cx="2011680" cy="411480"/>
          </a:xfrm>
          <a:prstGeom prst="rect">
            <a:avLst/>
          </a:prstGeom>
          <a:noFill/>
        </p:spPr>
        <p:txBody>
          <a:bodyPr wrap="square">
            <a:spAutoFit/>
          </a:bodyPr>
          <a:lstStyle/>
          <a:p>
            <a:pPr algn="ctr"/>
            <a:r>
              <a:rPr sz="2000" b="0">
                <a:solidFill>
                  <a:srgbClr val="242C38"/>
                </a:solidFill>
                <a:latin typeface="Calibri"/>
              </a:rPr>
              <a:t>🪑</a:t>
            </a:r>
          </a:p>
        </p:txBody>
      </p:sp>
      <p:sp>
        <p:nvSpPr>
          <p:cNvPr id="52" name="TextBox 51"/>
          <p:cNvSpPr txBox="1"/>
          <p:nvPr/>
        </p:nvSpPr>
        <p:spPr>
          <a:xfrm>
            <a:off x="9692640" y="5458968"/>
            <a:ext cx="1828800" cy="347472"/>
          </a:xfrm>
          <a:prstGeom prst="rect">
            <a:avLst/>
          </a:prstGeom>
          <a:noFill/>
        </p:spPr>
        <p:txBody>
          <a:bodyPr wrap="square">
            <a:spAutoFit/>
          </a:bodyPr>
          <a:lstStyle/>
          <a:p>
            <a:pPr algn="ctr"/>
            <a:r>
              <a:rPr sz="1300" b="1">
                <a:solidFill>
                  <a:srgbClr val="16366B"/>
                </a:solidFill>
                <a:latin typeface="Calibri"/>
              </a:rPr>
              <a:t>On the chair</a:t>
            </a:r>
          </a:p>
        </p:txBody>
      </p:sp>
    </p:spTree>
  </p:cSld>
  <p:clrMapOvr>
    <a:masterClrMapping/>
  </p:clrMapOvr>
  <p:transition spd="med"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09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009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GAME</a:t>
            </a:r>
          </a:p>
        </p:txBody>
      </p:sp>
      <p:sp>
        <p:nvSpPr>
          <p:cNvPr id="6" name="Rounded Rectangle 5"/>
          <p:cNvSpPr/>
          <p:nvPr/>
        </p:nvSpPr>
        <p:spPr>
          <a:xfrm>
            <a:off x="9418320" y="237744"/>
            <a:ext cx="242316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a:solidFill>
                  <a:srgbClr val="FFFFFF"/>
                </a:solidFill>
                <a:latin typeface="Calibri"/>
              </a:rPr>
              <a:t>78–84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Picture Question Game</a:t>
            </a:r>
          </a:p>
        </p:txBody>
      </p:sp>
      <p:sp>
        <p:nvSpPr>
          <p:cNvPr id="9" name="Rectangle 8"/>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9753356"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Picture game  |  78–84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28 / 35</a:t>
            </a:r>
          </a:p>
        </p:txBody>
      </p:sp>
      <p:sp>
        <p:nvSpPr>
          <p:cNvPr id="14" name="TextBox 13"/>
          <p:cNvSpPr txBox="1"/>
          <p:nvPr/>
        </p:nvSpPr>
        <p:spPr>
          <a:xfrm>
            <a:off x="411480" y="1225296"/>
            <a:ext cx="10515600" cy="365760"/>
          </a:xfrm>
          <a:prstGeom prst="rect">
            <a:avLst/>
          </a:prstGeom>
          <a:noFill/>
        </p:spPr>
        <p:txBody>
          <a:bodyPr wrap="square">
            <a:spAutoFit/>
          </a:bodyPr>
          <a:lstStyle/>
          <a:p>
            <a:pPr algn="l"/>
            <a:r>
              <a:rPr sz="1600" b="1">
                <a:solidFill>
                  <a:srgbClr val="E85A4F"/>
                </a:solidFill>
                <a:latin typeface="Calibri"/>
              </a:rPr>
              <a:t>I read a sentence — you point to the right picture!</a:t>
            </a:r>
          </a:p>
        </p:txBody>
      </p:sp>
      <p:sp>
        <p:nvSpPr>
          <p:cNvPr id="15" name="Rounded Rectangle 14"/>
          <p:cNvSpPr/>
          <p:nvPr/>
        </p:nvSpPr>
        <p:spPr>
          <a:xfrm>
            <a:off x="457200" y="1645920"/>
            <a:ext cx="11292840" cy="10789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1975104"/>
            <a:ext cx="5669280" cy="457200"/>
          </a:xfrm>
          <a:prstGeom prst="rect">
            <a:avLst/>
          </a:prstGeom>
          <a:noFill/>
        </p:spPr>
        <p:txBody>
          <a:bodyPr wrap="square">
            <a:spAutoFit/>
          </a:bodyPr>
          <a:lstStyle/>
          <a:p>
            <a:pPr algn="l"/>
            <a:r>
              <a:rPr sz="2000" b="1">
                <a:solidFill>
                  <a:srgbClr val="16366B"/>
                </a:solidFill>
                <a:latin typeface="Calibri"/>
              </a:rPr>
              <a:t>Ben has a red ball.</a:t>
            </a:r>
          </a:p>
        </p:txBody>
      </p:sp>
      <p:sp>
        <p:nvSpPr>
          <p:cNvPr id="17" name="Rounded Rectangle 16"/>
          <p:cNvSpPr/>
          <p:nvPr/>
        </p:nvSpPr>
        <p:spPr>
          <a:xfrm>
            <a:off x="6858000" y="1847088"/>
            <a:ext cx="1463040" cy="68580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0" y="1920240"/>
            <a:ext cx="1463040" cy="502920"/>
          </a:xfrm>
          <a:prstGeom prst="rect">
            <a:avLst/>
          </a:prstGeom>
          <a:noFill/>
        </p:spPr>
        <p:txBody>
          <a:bodyPr wrap="square">
            <a:spAutoFit/>
          </a:bodyPr>
          <a:lstStyle/>
          <a:p>
            <a:pPr algn="ctr"/>
            <a:r>
              <a:rPr sz="2400" b="0">
                <a:solidFill>
                  <a:srgbClr val="242C38"/>
                </a:solidFill>
                <a:latin typeface="Calibri"/>
              </a:rPr>
              <a:t>🔴</a:t>
            </a:r>
          </a:p>
        </p:txBody>
      </p:sp>
      <p:sp>
        <p:nvSpPr>
          <p:cNvPr id="19" name="Rounded Rectangle 18"/>
          <p:cNvSpPr/>
          <p:nvPr/>
        </p:nvSpPr>
        <p:spPr>
          <a:xfrm>
            <a:off x="8503920" y="1847088"/>
            <a:ext cx="1463040" cy="68580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0" y="1920240"/>
            <a:ext cx="1463040" cy="502920"/>
          </a:xfrm>
          <a:prstGeom prst="rect">
            <a:avLst/>
          </a:prstGeom>
          <a:noFill/>
        </p:spPr>
        <p:txBody>
          <a:bodyPr wrap="square">
            <a:spAutoFit/>
          </a:bodyPr>
          <a:lstStyle/>
          <a:p>
            <a:pPr algn="ctr"/>
            <a:r>
              <a:rPr sz="2400" b="0">
                <a:solidFill>
                  <a:srgbClr val="242C38"/>
                </a:solidFill>
                <a:latin typeface="Calibri"/>
              </a:rPr>
              <a:t>🍎</a:t>
            </a:r>
          </a:p>
        </p:txBody>
      </p:sp>
      <p:sp>
        <p:nvSpPr>
          <p:cNvPr id="21" name="Rounded Rectangle 20"/>
          <p:cNvSpPr/>
          <p:nvPr/>
        </p:nvSpPr>
        <p:spPr>
          <a:xfrm>
            <a:off x="10149840" y="1847088"/>
            <a:ext cx="1463040" cy="68580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49840" y="1920240"/>
            <a:ext cx="1463040" cy="502920"/>
          </a:xfrm>
          <a:prstGeom prst="rect">
            <a:avLst/>
          </a:prstGeom>
          <a:noFill/>
        </p:spPr>
        <p:txBody>
          <a:bodyPr wrap="square">
            <a:spAutoFit/>
          </a:bodyPr>
          <a:lstStyle/>
          <a:p>
            <a:pPr algn="ctr"/>
            <a:r>
              <a:rPr sz="2400" b="0">
                <a:solidFill>
                  <a:srgbClr val="242C38"/>
                </a:solidFill>
                <a:latin typeface="Calibri"/>
              </a:rPr>
              <a:t>📚</a:t>
            </a:r>
          </a:p>
        </p:txBody>
      </p:sp>
      <p:sp>
        <p:nvSpPr>
          <p:cNvPr id="23" name="Rounded Rectangle 22"/>
          <p:cNvSpPr/>
          <p:nvPr/>
        </p:nvSpPr>
        <p:spPr>
          <a:xfrm>
            <a:off x="457200" y="2871216"/>
            <a:ext cx="11292840" cy="10789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3200400"/>
            <a:ext cx="5669280" cy="457200"/>
          </a:xfrm>
          <a:prstGeom prst="rect">
            <a:avLst/>
          </a:prstGeom>
          <a:noFill/>
        </p:spPr>
        <p:txBody>
          <a:bodyPr wrap="square">
            <a:spAutoFit/>
          </a:bodyPr>
          <a:lstStyle/>
          <a:p>
            <a:pPr algn="l"/>
            <a:r>
              <a:rPr sz="2000" b="1">
                <a:solidFill>
                  <a:srgbClr val="16366B"/>
                </a:solidFill>
                <a:latin typeface="Calibri"/>
              </a:rPr>
              <a:t>The cat sits on the ball.</a:t>
            </a:r>
          </a:p>
        </p:txBody>
      </p:sp>
      <p:sp>
        <p:nvSpPr>
          <p:cNvPr id="25" name="Rounded Rectangle 24"/>
          <p:cNvSpPr/>
          <p:nvPr/>
        </p:nvSpPr>
        <p:spPr>
          <a:xfrm>
            <a:off x="6858000" y="3072384"/>
            <a:ext cx="1463040" cy="68580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0" y="3145536"/>
            <a:ext cx="1463040" cy="502920"/>
          </a:xfrm>
          <a:prstGeom prst="rect">
            <a:avLst/>
          </a:prstGeom>
          <a:noFill/>
        </p:spPr>
        <p:txBody>
          <a:bodyPr wrap="square">
            <a:spAutoFit/>
          </a:bodyPr>
          <a:lstStyle/>
          <a:p>
            <a:pPr algn="ctr"/>
            <a:r>
              <a:rPr sz="2400" b="0">
                <a:solidFill>
                  <a:srgbClr val="242C38"/>
                </a:solidFill>
                <a:latin typeface="Calibri"/>
              </a:rPr>
              <a:t>🐶</a:t>
            </a:r>
          </a:p>
        </p:txBody>
      </p:sp>
      <p:sp>
        <p:nvSpPr>
          <p:cNvPr id="27" name="Rounded Rectangle 26"/>
          <p:cNvSpPr/>
          <p:nvPr/>
        </p:nvSpPr>
        <p:spPr>
          <a:xfrm>
            <a:off x="8503920" y="3072384"/>
            <a:ext cx="1463040" cy="68580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03920" y="3145536"/>
            <a:ext cx="1463040" cy="502920"/>
          </a:xfrm>
          <a:prstGeom prst="rect">
            <a:avLst/>
          </a:prstGeom>
          <a:noFill/>
        </p:spPr>
        <p:txBody>
          <a:bodyPr wrap="square">
            <a:spAutoFit/>
          </a:bodyPr>
          <a:lstStyle/>
          <a:p>
            <a:pPr algn="ctr"/>
            <a:r>
              <a:rPr sz="2400" b="0">
                <a:solidFill>
                  <a:srgbClr val="242C38"/>
                </a:solidFill>
                <a:latin typeface="Calibri"/>
              </a:rPr>
              <a:t>🐱</a:t>
            </a:r>
          </a:p>
        </p:txBody>
      </p:sp>
      <p:sp>
        <p:nvSpPr>
          <p:cNvPr id="29" name="Rounded Rectangle 28"/>
          <p:cNvSpPr/>
          <p:nvPr/>
        </p:nvSpPr>
        <p:spPr>
          <a:xfrm>
            <a:off x="10149840" y="3072384"/>
            <a:ext cx="1463040" cy="68580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0" y="3145536"/>
            <a:ext cx="1463040" cy="502920"/>
          </a:xfrm>
          <a:prstGeom prst="rect">
            <a:avLst/>
          </a:prstGeom>
          <a:noFill/>
        </p:spPr>
        <p:txBody>
          <a:bodyPr wrap="square">
            <a:spAutoFit/>
          </a:bodyPr>
          <a:lstStyle/>
          <a:p>
            <a:pPr algn="ctr"/>
            <a:r>
              <a:rPr sz="2400" b="0">
                <a:solidFill>
                  <a:srgbClr val="242C38"/>
                </a:solidFill>
                <a:latin typeface="Calibri"/>
              </a:rPr>
              <a:t>🐻</a:t>
            </a:r>
          </a:p>
        </p:txBody>
      </p:sp>
      <p:sp>
        <p:nvSpPr>
          <p:cNvPr id="31" name="Rounded Rectangle 30"/>
          <p:cNvSpPr/>
          <p:nvPr/>
        </p:nvSpPr>
        <p:spPr>
          <a:xfrm>
            <a:off x="457200" y="4096512"/>
            <a:ext cx="11292840" cy="10789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4425696"/>
            <a:ext cx="5669280" cy="457200"/>
          </a:xfrm>
          <a:prstGeom prst="rect">
            <a:avLst/>
          </a:prstGeom>
          <a:noFill/>
        </p:spPr>
        <p:txBody>
          <a:bodyPr wrap="square">
            <a:spAutoFit/>
          </a:bodyPr>
          <a:lstStyle/>
          <a:p>
            <a:pPr algn="l"/>
            <a:r>
              <a:rPr sz="2000" b="1">
                <a:solidFill>
                  <a:srgbClr val="16366B"/>
                </a:solidFill>
                <a:latin typeface="Calibri"/>
              </a:rPr>
              <a:t>The ball is under the tree.</a:t>
            </a:r>
          </a:p>
        </p:txBody>
      </p:sp>
      <p:sp>
        <p:nvSpPr>
          <p:cNvPr id="33" name="Rounded Rectangle 32"/>
          <p:cNvSpPr/>
          <p:nvPr/>
        </p:nvSpPr>
        <p:spPr>
          <a:xfrm>
            <a:off x="6858000" y="4297680"/>
            <a:ext cx="1463040" cy="68580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0" y="4370832"/>
            <a:ext cx="1463040" cy="502920"/>
          </a:xfrm>
          <a:prstGeom prst="rect">
            <a:avLst/>
          </a:prstGeom>
          <a:noFill/>
        </p:spPr>
        <p:txBody>
          <a:bodyPr wrap="square">
            <a:spAutoFit/>
          </a:bodyPr>
          <a:lstStyle/>
          <a:p>
            <a:pPr algn="ctr"/>
            <a:r>
              <a:rPr sz="2400" b="0">
                <a:solidFill>
                  <a:srgbClr val="242C38"/>
                </a:solidFill>
                <a:latin typeface="Calibri"/>
              </a:rPr>
              <a:t>🌳</a:t>
            </a:r>
          </a:p>
        </p:txBody>
      </p:sp>
      <p:sp>
        <p:nvSpPr>
          <p:cNvPr id="35" name="Rounded Rectangle 34"/>
          <p:cNvSpPr/>
          <p:nvPr/>
        </p:nvSpPr>
        <p:spPr>
          <a:xfrm>
            <a:off x="8503920" y="4297680"/>
            <a:ext cx="1463040" cy="68580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03920" y="4370832"/>
            <a:ext cx="1463040" cy="502920"/>
          </a:xfrm>
          <a:prstGeom prst="rect">
            <a:avLst/>
          </a:prstGeom>
          <a:noFill/>
        </p:spPr>
        <p:txBody>
          <a:bodyPr wrap="square">
            <a:spAutoFit/>
          </a:bodyPr>
          <a:lstStyle/>
          <a:p>
            <a:pPr algn="ctr"/>
            <a:r>
              <a:rPr sz="2400" b="0">
                <a:solidFill>
                  <a:srgbClr val="242C38"/>
                </a:solidFill>
                <a:latin typeface="Calibri"/>
              </a:rPr>
              <a:t>🏠</a:t>
            </a:r>
          </a:p>
        </p:txBody>
      </p:sp>
      <p:sp>
        <p:nvSpPr>
          <p:cNvPr id="37" name="Rounded Rectangle 36"/>
          <p:cNvSpPr/>
          <p:nvPr/>
        </p:nvSpPr>
        <p:spPr>
          <a:xfrm>
            <a:off x="10149840" y="4297680"/>
            <a:ext cx="1463040" cy="68580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49840" y="4370832"/>
            <a:ext cx="1463040" cy="502920"/>
          </a:xfrm>
          <a:prstGeom prst="rect">
            <a:avLst/>
          </a:prstGeom>
          <a:noFill/>
        </p:spPr>
        <p:txBody>
          <a:bodyPr wrap="square">
            <a:spAutoFit/>
          </a:bodyPr>
          <a:lstStyle/>
          <a:p>
            <a:pPr algn="ctr"/>
            <a:r>
              <a:rPr sz="2400" b="0">
                <a:solidFill>
                  <a:srgbClr val="242C38"/>
                </a:solidFill>
                <a:latin typeface="Calibri"/>
              </a:rPr>
              <a:t>🚗</a:t>
            </a:r>
          </a:p>
        </p:txBody>
      </p:sp>
      <p:sp>
        <p:nvSpPr>
          <p:cNvPr id="39" name="Rounded Rectangle 38"/>
          <p:cNvSpPr/>
          <p:nvPr/>
        </p:nvSpPr>
        <p:spPr>
          <a:xfrm>
            <a:off x="457200" y="5394960"/>
            <a:ext cx="11292840" cy="914400"/>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504688"/>
            <a:ext cx="5029200" cy="365760"/>
          </a:xfrm>
          <a:prstGeom prst="rect">
            <a:avLst/>
          </a:prstGeom>
          <a:noFill/>
        </p:spPr>
        <p:txBody>
          <a:bodyPr wrap="square">
            <a:spAutoFit/>
          </a:bodyPr>
          <a:lstStyle/>
          <a:p>
            <a:pPr algn="l"/>
            <a:r>
              <a:rPr sz="1400" b="1">
                <a:solidFill>
                  <a:srgbClr val="16366B"/>
                </a:solidFill>
                <a:latin typeface="Calibri"/>
              </a:rPr>
              <a:t>Two more story questions:</a:t>
            </a:r>
          </a:p>
        </p:txBody>
      </p:sp>
      <p:sp>
        <p:nvSpPr>
          <p:cNvPr id="41" name="TextBox 40"/>
          <p:cNvSpPr txBox="1"/>
          <p:nvPr/>
        </p:nvSpPr>
        <p:spPr>
          <a:xfrm>
            <a:off x="731520" y="5897880"/>
            <a:ext cx="5212080" cy="347472"/>
          </a:xfrm>
          <a:prstGeom prst="rect">
            <a:avLst/>
          </a:prstGeom>
          <a:noFill/>
        </p:spPr>
        <p:txBody>
          <a:bodyPr wrap="square">
            <a:spAutoFit/>
          </a:bodyPr>
          <a:lstStyle/>
          <a:p>
            <a:pPr algn="l"/>
            <a:r>
              <a:rPr sz="1400" b="1">
                <a:solidFill>
                  <a:srgbClr val="242C38"/>
                </a:solidFill>
                <a:latin typeface="Calibri"/>
              </a:rPr>
              <a:t>4. What happened to the ball?</a:t>
            </a:r>
          </a:p>
        </p:txBody>
      </p:sp>
      <p:sp>
        <p:nvSpPr>
          <p:cNvPr id="42" name="TextBox 41"/>
          <p:cNvSpPr txBox="1"/>
          <p:nvPr/>
        </p:nvSpPr>
        <p:spPr>
          <a:xfrm>
            <a:off x="6217920" y="5897880"/>
            <a:ext cx="5212080" cy="347472"/>
          </a:xfrm>
          <a:prstGeom prst="rect">
            <a:avLst/>
          </a:prstGeom>
          <a:noFill/>
        </p:spPr>
        <p:txBody>
          <a:bodyPr wrap="square">
            <a:spAutoFit/>
          </a:bodyPr>
          <a:lstStyle/>
          <a:p>
            <a:pPr algn="l"/>
            <a:r>
              <a:rPr sz="1400" b="1">
                <a:solidFill>
                  <a:srgbClr val="242C38"/>
                </a:solidFill>
                <a:latin typeface="Calibri"/>
              </a:rPr>
              <a:t>5. How did Ben feel at the end?</a:t>
            </a:r>
          </a:p>
        </p:txBody>
      </p:sp>
    </p:spTree>
  </p:cSld>
  <p:clrMapOvr>
    <a:masterClrMapping/>
  </p:clrMapOvr>
  <p:transition spd="med"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CHALLENGE</a:t>
            </a:r>
          </a:p>
        </p:txBody>
      </p:sp>
      <p:sp>
        <p:nvSpPr>
          <p:cNvPr id="6" name="Rounded Rectangle 5"/>
          <p:cNvSpPr/>
          <p:nvPr/>
        </p:nvSpPr>
        <p:spPr>
          <a:xfrm>
            <a:off x="9418320" y="237744"/>
            <a:ext cx="242316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a:solidFill>
                  <a:srgbClr val="FFFFFF"/>
                </a:solidFill>
                <a:latin typeface="Calibri"/>
              </a:rPr>
              <a:t>84–87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Final Reading Challenge</a:t>
            </a:r>
          </a:p>
        </p:txBody>
      </p:sp>
      <p:sp>
        <p:nvSpPr>
          <p:cNvPr id="9" name="Rectangle 8"/>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10101690"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Final challenge  |  84–87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29 / 35</a:t>
            </a:r>
          </a:p>
        </p:txBody>
      </p:sp>
      <p:sp>
        <p:nvSpPr>
          <p:cNvPr id="14" name="TextBox 13"/>
          <p:cNvSpPr txBox="1"/>
          <p:nvPr/>
        </p:nvSpPr>
        <p:spPr>
          <a:xfrm>
            <a:off x="411480" y="1243584"/>
            <a:ext cx="10515600" cy="365760"/>
          </a:xfrm>
          <a:prstGeom prst="rect">
            <a:avLst/>
          </a:prstGeom>
          <a:noFill/>
        </p:spPr>
        <p:txBody>
          <a:bodyPr wrap="square">
            <a:spAutoFit/>
          </a:bodyPr>
          <a:lstStyle/>
          <a:p>
            <a:pPr algn="l"/>
            <a:r>
              <a:rPr sz="1600" b="1">
                <a:solidFill>
                  <a:srgbClr val="E85A4F"/>
                </a:solidFill>
                <a:latin typeface="Calibri"/>
              </a:rPr>
              <a:t>Read as many as you can. Every single one counts! 🌟</a:t>
            </a:r>
          </a:p>
        </p:txBody>
      </p:sp>
      <p:sp>
        <p:nvSpPr>
          <p:cNvPr id="15" name="Rounded Rectangle 14"/>
          <p:cNvSpPr/>
          <p:nvPr/>
        </p:nvSpPr>
        <p:spPr>
          <a:xfrm>
            <a:off x="457200" y="1691640"/>
            <a:ext cx="11292840" cy="1600200"/>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1828800"/>
            <a:ext cx="2743200" cy="365760"/>
          </a:xfrm>
          <a:prstGeom prst="rect">
            <a:avLst/>
          </a:prstGeom>
          <a:noFill/>
        </p:spPr>
        <p:txBody>
          <a:bodyPr wrap="square">
            <a:spAutoFit/>
          </a:bodyPr>
          <a:lstStyle/>
          <a:p>
            <a:pPr algn="l"/>
            <a:r>
              <a:rPr sz="1500" b="1">
                <a:solidFill>
                  <a:srgbClr val="16366B"/>
                </a:solidFill>
                <a:latin typeface="Calibri"/>
              </a:rPr>
              <a:t>5 WORDS</a:t>
            </a:r>
          </a:p>
        </p:txBody>
      </p:sp>
      <p:sp>
        <p:nvSpPr>
          <p:cNvPr id="17" name="Rounded Rectangle 16"/>
          <p:cNvSpPr/>
          <p:nvPr/>
        </p:nvSpPr>
        <p:spPr>
          <a:xfrm>
            <a:off x="731520" y="2286000"/>
            <a:ext cx="201168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2423160"/>
            <a:ext cx="2011680" cy="548640"/>
          </a:xfrm>
          <a:prstGeom prst="rect">
            <a:avLst/>
          </a:prstGeom>
          <a:noFill/>
        </p:spPr>
        <p:txBody>
          <a:bodyPr wrap="square">
            <a:spAutoFit/>
          </a:bodyPr>
          <a:lstStyle/>
          <a:p>
            <a:pPr algn="ctr"/>
            <a:r>
              <a:rPr sz="2800" b="1">
                <a:solidFill>
                  <a:srgbClr val="E85A4F"/>
                </a:solidFill>
                <a:latin typeface="Arial Black"/>
              </a:rPr>
              <a:t>CAT</a:t>
            </a:r>
          </a:p>
        </p:txBody>
      </p:sp>
      <p:sp>
        <p:nvSpPr>
          <p:cNvPr id="19" name="Rounded Rectangle 18"/>
          <p:cNvSpPr/>
          <p:nvPr/>
        </p:nvSpPr>
        <p:spPr>
          <a:xfrm>
            <a:off x="2926080" y="2286000"/>
            <a:ext cx="201168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26080" y="2423160"/>
            <a:ext cx="2011680" cy="548640"/>
          </a:xfrm>
          <a:prstGeom prst="rect">
            <a:avLst/>
          </a:prstGeom>
          <a:noFill/>
        </p:spPr>
        <p:txBody>
          <a:bodyPr wrap="square">
            <a:spAutoFit/>
          </a:bodyPr>
          <a:lstStyle/>
          <a:p>
            <a:pPr algn="ctr"/>
            <a:r>
              <a:rPr sz="2800" b="1">
                <a:solidFill>
                  <a:srgbClr val="E85A4F"/>
                </a:solidFill>
                <a:latin typeface="Arial Black"/>
              </a:rPr>
              <a:t>SUN</a:t>
            </a:r>
          </a:p>
        </p:txBody>
      </p:sp>
      <p:sp>
        <p:nvSpPr>
          <p:cNvPr id="21" name="Rounded Rectangle 20"/>
          <p:cNvSpPr/>
          <p:nvPr/>
        </p:nvSpPr>
        <p:spPr>
          <a:xfrm>
            <a:off x="5120640" y="2286000"/>
            <a:ext cx="201168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20640" y="2423160"/>
            <a:ext cx="2011680" cy="548640"/>
          </a:xfrm>
          <a:prstGeom prst="rect">
            <a:avLst/>
          </a:prstGeom>
          <a:noFill/>
        </p:spPr>
        <p:txBody>
          <a:bodyPr wrap="square">
            <a:spAutoFit/>
          </a:bodyPr>
          <a:lstStyle/>
          <a:p>
            <a:pPr algn="ctr"/>
            <a:r>
              <a:rPr sz="2800" b="1">
                <a:solidFill>
                  <a:srgbClr val="E85A4F"/>
                </a:solidFill>
                <a:latin typeface="Arial Black"/>
              </a:rPr>
              <a:t>BIG</a:t>
            </a:r>
          </a:p>
        </p:txBody>
      </p:sp>
      <p:sp>
        <p:nvSpPr>
          <p:cNvPr id="23" name="Rounded Rectangle 22"/>
          <p:cNvSpPr/>
          <p:nvPr/>
        </p:nvSpPr>
        <p:spPr>
          <a:xfrm>
            <a:off x="7315199" y="2286000"/>
            <a:ext cx="201168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199" y="2423160"/>
            <a:ext cx="2011680" cy="548640"/>
          </a:xfrm>
          <a:prstGeom prst="rect">
            <a:avLst/>
          </a:prstGeom>
          <a:noFill/>
        </p:spPr>
        <p:txBody>
          <a:bodyPr wrap="square">
            <a:spAutoFit/>
          </a:bodyPr>
          <a:lstStyle/>
          <a:p>
            <a:pPr algn="ctr"/>
            <a:r>
              <a:rPr sz="2800" b="1">
                <a:solidFill>
                  <a:srgbClr val="E85A4F"/>
                </a:solidFill>
                <a:latin typeface="Arial Black"/>
              </a:rPr>
              <a:t>RUN</a:t>
            </a:r>
          </a:p>
        </p:txBody>
      </p:sp>
      <p:sp>
        <p:nvSpPr>
          <p:cNvPr id="25" name="Rounded Rectangle 24"/>
          <p:cNvSpPr/>
          <p:nvPr/>
        </p:nvSpPr>
        <p:spPr>
          <a:xfrm>
            <a:off x="9509760" y="2286000"/>
            <a:ext cx="201168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09760" y="2423160"/>
            <a:ext cx="2011680" cy="548640"/>
          </a:xfrm>
          <a:prstGeom prst="rect">
            <a:avLst/>
          </a:prstGeom>
          <a:noFill/>
        </p:spPr>
        <p:txBody>
          <a:bodyPr wrap="square">
            <a:spAutoFit/>
          </a:bodyPr>
          <a:lstStyle/>
          <a:p>
            <a:pPr algn="ctr"/>
            <a:r>
              <a:rPr sz="2800" b="1">
                <a:solidFill>
                  <a:srgbClr val="E85A4F"/>
                </a:solidFill>
                <a:latin typeface="Arial Black"/>
              </a:rPr>
              <a:t>RED</a:t>
            </a:r>
          </a:p>
        </p:txBody>
      </p:sp>
      <p:sp>
        <p:nvSpPr>
          <p:cNvPr id="27" name="Rounded Rectangle 26"/>
          <p:cNvSpPr/>
          <p:nvPr/>
        </p:nvSpPr>
        <p:spPr>
          <a:xfrm>
            <a:off x="457200" y="3474720"/>
            <a:ext cx="11292840" cy="2331720"/>
          </a:xfrm>
          <a:prstGeom prst="roundRect">
            <a:avLst/>
          </a:prstGeom>
          <a:solidFill>
            <a:srgbClr val="DE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3611880"/>
            <a:ext cx="3657600" cy="365760"/>
          </a:xfrm>
          <a:prstGeom prst="rect">
            <a:avLst/>
          </a:prstGeom>
          <a:noFill/>
        </p:spPr>
        <p:txBody>
          <a:bodyPr wrap="square">
            <a:spAutoFit/>
          </a:bodyPr>
          <a:lstStyle/>
          <a:p>
            <a:pPr algn="l"/>
            <a:r>
              <a:rPr sz="1500" b="1">
                <a:solidFill>
                  <a:srgbClr val="16366B"/>
                </a:solidFill>
                <a:latin typeface="Calibri"/>
              </a:rPr>
              <a:t>3 SENTENCES</a:t>
            </a:r>
          </a:p>
        </p:txBody>
      </p:sp>
      <p:sp>
        <p:nvSpPr>
          <p:cNvPr id="29" name="Rounded Rectangle 28"/>
          <p:cNvSpPr/>
          <p:nvPr/>
        </p:nvSpPr>
        <p:spPr>
          <a:xfrm>
            <a:off x="731520" y="4069080"/>
            <a:ext cx="1074420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4123944"/>
            <a:ext cx="10241280" cy="365760"/>
          </a:xfrm>
          <a:prstGeom prst="rect">
            <a:avLst/>
          </a:prstGeom>
          <a:noFill/>
        </p:spPr>
        <p:txBody>
          <a:bodyPr wrap="square">
            <a:spAutoFit/>
          </a:bodyPr>
          <a:lstStyle/>
          <a:p>
            <a:pPr algn="l"/>
            <a:r>
              <a:rPr sz="2200" b="1">
                <a:solidFill>
                  <a:srgbClr val="16366B"/>
                </a:solidFill>
                <a:latin typeface="Calibri"/>
              </a:rPr>
              <a:t>I see a cat.</a:t>
            </a:r>
          </a:p>
        </p:txBody>
      </p:sp>
      <p:sp>
        <p:nvSpPr>
          <p:cNvPr id="31" name="Rounded Rectangle 30"/>
          <p:cNvSpPr/>
          <p:nvPr/>
        </p:nvSpPr>
        <p:spPr>
          <a:xfrm>
            <a:off x="731520" y="4636008"/>
            <a:ext cx="1074420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0120" y="4690872"/>
            <a:ext cx="10241280" cy="365760"/>
          </a:xfrm>
          <a:prstGeom prst="rect">
            <a:avLst/>
          </a:prstGeom>
          <a:noFill/>
        </p:spPr>
        <p:txBody>
          <a:bodyPr wrap="square">
            <a:spAutoFit/>
          </a:bodyPr>
          <a:lstStyle/>
          <a:p>
            <a:pPr algn="l"/>
            <a:r>
              <a:rPr sz="2200" b="1">
                <a:solidFill>
                  <a:srgbClr val="16366B"/>
                </a:solidFill>
                <a:latin typeface="Calibri"/>
              </a:rPr>
              <a:t>The sun is big.</a:t>
            </a:r>
          </a:p>
        </p:txBody>
      </p:sp>
      <p:sp>
        <p:nvSpPr>
          <p:cNvPr id="33" name="Rounded Rectangle 32"/>
          <p:cNvSpPr/>
          <p:nvPr/>
        </p:nvSpPr>
        <p:spPr>
          <a:xfrm>
            <a:off x="731520" y="5202936"/>
            <a:ext cx="1074420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0120" y="5257800"/>
            <a:ext cx="10241280" cy="365760"/>
          </a:xfrm>
          <a:prstGeom prst="rect">
            <a:avLst/>
          </a:prstGeom>
          <a:noFill/>
        </p:spPr>
        <p:txBody>
          <a:bodyPr wrap="square">
            <a:spAutoFit/>
          </a:bodyPr>
          <a:lstStyle/>
          <a:p>
            <a:pPr algn="l"/>
            <a:r>
              <a:rPr sz="2200" b="1">
                <a:solidFill>
                  <a:srgbClr val="16366B"/>
                </a:solidFill>
                <a:latin typeface="Calibri"/>
              </a:rPr>
              <a:t>Ben can run.</a:t>
            </a:r>
          </a:p>
        </p:txBody>
      </p:sp>
      <p:sp>
        <p:nvSpPr>
          <p:cNvPr id="35" name="Rounded Rectangle 34"/>
          <p:cNvSpPr/>
          <p:nvPr/>
        </p:nvSpPr>
        <p:spPr>
          <a:xfrm>
            <a:off x="9418320" y="5897880"/>
            <a:ext cx="2423160" cy="457200"/>
          </a:xfrm>
          <a:prstGeom prst="round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18320" y="5971032"/>
            <a:ext cx="2423160" cy="347472"/>
          </a:xfrm>
          <a:prstGeom prst="rect">
            <a:avLst/>
          </a:prstGeom>
          <a:noFill/>
        </p:spPr>
        <p:txBody>
          <a:bodyPr wrap="square">
            <a:spAutoFit/>
          </a:bodyPr>
          <a:lstStyle/>
          <a:p>
            <a:pPr algn="ctr"/>
            <a:r>
              <a:rPr sz="1300" b="1">
                <a:solidFill>
                  <a:srgbClr val="16366B"/>
                </a:solidFill>
                <a:latin typeface="Calibri"/>
              </a:rPr>
              <a:t>⭐ Every one counts!</a:t>
            </a:r>
          </a:p>
        </p:txBody>
      </p:sp>
    </p:spTree>
  </p:cSld>
  <p:clrMapOvr>
    <a:masterClrMapping/>
  </p:clrMapOvr>
  <p:transition spd="med"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E7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2E7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RECAP</a:t>
            </a:r>
          </a:p>
        </p:txBody>
      </p:sp>
      <p:sp>
        <p:nvSpPr>
          <p:cNvPr id="6" name="Rounded Rectangle 5"/>
          <p:cNvSpPr/>
          <p:nvPr/>
        </p:nvSpPr>
        <p:spPr>
          <a:xfrm>
            <a:off x="9418320" y="237744"/>
            <a:ext cx="242316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a:solidFill>
                  <a:srgbClr val="FFFFFF"/>
                </a:solidFill>
                <a:latin typeface="Calibri"/>
              </a:rPr>
              <a:t>87–90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What Did We Learn Today?</a:t>
            </a:r>
          </a:p>
        </p:txBody>
      </p:sp>
      <p:sp>
        <p:nvSpPr>
          <p:cNvPr id="9" name="Rectangle 8"/>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10450024"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Recap  |  87–90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30 / 35</a:t>
            </a:r>
          </a:p>
        </p:txBody>
      </p:sp>
      <p:sp>
        <p:nvSpPr>
          <p:cNvPr id="14" name="Rounded Rectangle 13"/>
          <p:cNvSpPr/>
          <p:nvPr/>
        </p:nvSpPr>
        <p:spPr>
          <a:xfrm>
            <a:off x="457200" y="1463040"/>
            <a:ext cx="356616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828800" y="1645920"/>
            <a:ext cx="822960" cy="822960"/>
          </a:xfrm>
          <a:prstGeom prst="ellipse">
            <a:avLst/>
          </a:prstGeom>
          <a:solidFill>
            <a:srgbClr val="E4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28800" y="1773936"/>
            <a:ext cx="822960" cy="548640"/>
          </a:xfrm>
          <a:prstGeom prst="rect">
            <a:avLst/>
          </a:prstGeom>
          <a:noFill/>
        </p:spPr>
        <p:txBody>
          <a:bodyPr wrap="square">
            <a:spAutoFit/>
          </a:bodyPr>
          <a:lstStyle/>
          <a:p>
            <a:pPr algn="ctr"/>
            <a:r>
              <a:rPr sz="2200" b="0">
                <a:solidFill>
                  <a:srgbClr val="242C38"/>
                </a:solidFill>
                <a:latin typeface="Calibri"/>
              </a:rPr>
              <a:t>🔤</a:t>
            </a:r>
          </a:p>
        </p:txBody>
      </p:sp>
      <p:sp>
        <p:nvSpPr>
          <p:cNvPr id="17" name="TextBox 16"/>
          <p:cNvSpPr txBox="1"/>
          <p:nvPr/>
        </p:nvSpPr>
        <p:spPr>
          <a:xfrm>
            <a:off x="594360" y="2542032"/>
            <a:ext cx="3291840" cy="411480"/>
          </a:xfrm>
          <a:prstGeom prst="rect">
            <a:avLst/>
          </a:prstGeom>
          <a:noFill/>
        </p:spPr>
        <p:txBody>
          <a:bodyPr wrap="square">
            <a:spAutoFit/>
          </a:bodyPr>
          <a:lstStyle/>
          <a:p>
            <a:pPr algn="ctr"/>
            <a:r>
              <a:rPr sz="1700" b="1">
                <a:solidFill>
                  <a:srgbClr val="2E7D53"/>
                </a:solidFill>
                <a:latin typeface="Calibri"/>
              </a:rPr>
              <a:t>Letter Sounds</a:t>
            </a:r>
          </a:p>
        </p:txBody>
      </p:sp>
      <p:sp>
        <p:nvSpPr>
          <p:cNvPr id="18" name="TextBox 17"/>
          <p:cNvSpPr txBox="1"/>
          <p:nvPr/>
        </p:nvSpPr>
        <p:spPr>
          <a:xfrm>
            <a:off x="594360" y="2953512"/>
            <a:ext cx="3291840" cy="384048"/>
          </a:xfrm>
          <a:prstGeom prst="rect">
            <a:avLst/>
          </a:prstGeom>
          <a:noFill/>
        </p:spPr>
        <p:txBody>
          <a:bodyPr wrap="square">
            <a:spAutoFit/>
          </a:bodyPr>
          <a:lstStyle/>
          <a:p>
            <a:pPr algn="ctr"/>
            <a:r>
              <a:rPr sz="1300" b="0">
                <a:solidFill>
                  <a:srgbClr val="6A7788"/>
                </a:solidFill>
                <a:latin typeface="Calibri"/>
              </a:rPr>
              <a:t>A B C D E S M R</a:t>
            </a:r>
          </a:p>
        </p:txBody>
      </p:sp>
      <p:sp>
        <p:nvSpPr>
          <p:cNvPr id="19" name="Rounded Rectangle 18"/>
          <p:cNvSpPr/>
          <p:nvPr/>
        </p:nvSpPr>
        <p:spPr>
          <a:xfrm>
            <a:off x="4251960" y="1463040"/>
            <a:ext cx="356616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623560" y="1645920"/>
            <a:ext cx="822960" cy="822960"/>
          </a:xfrm>
          <a:prstGeom prst="ellipse">
            <a:avLst/>
          </a:prstGeom>
          <a:solidFill>
            <a:srgbClr val="E4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23560" y="1773936"/>
            <a:ext cx="822960" cy="548640"/>
          </a:xfrm>
          <a:prstGeom prst="rect">
            <a:avLst/>
          </a:prstGeom>
          <a:noFill/>
        </p:spPr>
        <p:txBody>
          <a:bodyPr wrap="square">
            <a:spAutoFit/>
          </a:bodyPr>
          <a:lstStyle/>
          <a:p>
            <a:pPr algn="ctr"/>
            <a:r>
              <a:rPr sz="2200" b="0">
                <a:solidFill>
                  <a:srgbClr val="242C38"/>
                </a:solidFill>
                <a:latin typeface="Calibri"/>
              </a:rPr>
              <a:t>🎵</a:t>
            </a:r>
          </a:p>
        </p:txBody>
      </p:sp>
      <p:sp>
        <p:nvSpPr>
          <p:cNvPr id="22" name="TextBox 21"/>
          <p:cNvSpPr txBox="1"/>
          <p:nvPr/>
        </p:nvSpPr>
        <p:spPr>
          <a:xfrm>
            <a:off x="4389120" y="2542032"/>
            <a:ext cx="3291840" cy="411480"/>
          </a:xfrm>
          <a:prstGeom prst="rect">
            <a:avLst/>
          </a:prstGeom>
          <a:noFill/>
        </p:spPr>
        <p:txBody>
          <a:bodyPr wrap="square">
            <a:spAutoFit/>
          </a:bodyPr>
          <a:lstStyle/>
          <a:p>
            <a:pPr algn="ctr"/>
            <a:r>
              <a:rPr sz="1700" b="1">
                <a:solidFill>
                  <a:srgbClr val="2E7D53"/>
                </a:solidFill>
                <a:latin typeface="Calibri"/>
              </a:rPr>
              <a:t>Blending</a:t>
            </a:r>
          </a:p>
        </p:txBody>
      </p:sp>
      <p:sp>
        <p:nvSpPr>
          <p:cNvPr id="23" name="TextBox 22"/>
          <p:cNvSpPr txBox="1"/>
          <p:nvPr/>
        </p:nvSpPr>
        <p:spPr>
          <a:xfrm>
            <a:off x="4389120" y="2953512"/>
            <a:ext cx="3291840" cy="384048"/>
          </a:xfrm>
          <a:prstGeom prst="rect">
            <a:avLst/>
          </a:prstGeom>
          <a:noFill/>
        </p:spPr>
        <p:txBody>
          <a:bodyPr wrap="square">
            <a:spAutoFit/>
          </a:bodyPr>
          <a:lstStyle/>
          <a:p>
            <a:pPr algn="ctr"/>
            <a:r>
              <a:rPr sz="1300" b="0">
                <a:solidFill>
                  <a:srgbClr val="6A7788"/>
                </a:solidFill>
                <a:latin typeface="Calibri"/>
              </a:rPr>
              <a:t>C-A-T = CAT</a:t>
            </a:r>
          </a:p>
        </p:txBody>
      </p:sp>
      <p:sp>
        <p:nvSpPr>
          <p:cNvPr id="24" name="Rounded Rectangle 23"/>
          <p:cNvSpPr/>
          <p:nvPr/>
        </p:nvSpPr>
        <p:spPr>
          <a:xfrm>
            <a:off x="8046720" y="1463040"/>
            <a:ext cx="356616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418320" y="1645920"/>
            <a:ext cx="822960" cy="822960"/>
          </a:xfrm>
          <a:prstGeom prst="ellipse">
            <a:avLst/>
          </a:prstGeom>
          <a:solidFill>
            <a:srgbClr val="E4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18320" y="1773936"/>
            <a:ext cx="822960" cy="548640"/>
          </a:xfrm>
          <a:prstGeom prst="rect">
            <a:avLst/>
          </a:prstGeom>
          <a:noFill/>
        </p:spPr>
        <p:txBody>
          <a:bodyPr wrap="square">
            <a:spAutoFit/>
          </a:bodyPr>
          <a:lstStyle/>
          <a:p>
            <a:pPr algn="ctr"/>
            <a:r>
              <a:rPr sz="2200" b="0">
                <a:solidFill>
                  <a:srgbClr val="242C38"/>
                </a:solidFill>
                <a:latin typeface="Calibri"/>
              </a:rPr>
              <a:t>🧩</a:t>
            </a:r>
          </a:p>
        </p:txBody>
      </p:sp>
      <p:sp>
        <p:nvSpPr>
          <p:cNvPr id="27" name="TextBox 26"/>
          <p:cNvSpPr txBox="1"/>
          <p:nvPr/>
        </p:nvSpPr>
        <p:spPr>
          <a:xfrm>
            <a:off x="8183880" y="2542032"/>
            <a:ext cx="3291840" cy="411480"/>
          </a:xfrm>
          <a:prstGeom prst="rect">
            <a:avLst/>
          </a:prstGeom>
          <a:noFill/>
        </p:spPr>
        <p:txBody>
          <a:bodyPr wrap="square">
            <a:spAutoFit/>
          </a:bodyPr>
          <a:lstStyle/>
          <a:p>
            <a:pPr algn="ctr"/>
            <a:r>
              <a:rPr sz="1700" b="1">
                <a:solidFill>
                  <a:srgbClr val="2E7D53"/>
                </a:solidFill>
                <a:latin typeface="Calibri"/>
              </a:rPr>
              <a:t>New Words</a:t>
            </a:r>
          </a:p>
        </p:txBody>
      </p:sp>
      <p:sp>
        <p:nvSpPr>
          <p:cNvPr id="28" name="TextBox 27"/>
          <p:cNvSpPr txBox="1"/>
          <p:nvPr/>
        </p:nvSpPr>
        <p:spPr>
          <a:xfrm>
            <a:off x="8183880" y="2953512"/>
            <a:ext cx="3291840" cy="384048"/>
          </a:xfrm>
          <a:prstGeom prst="rect">
            <a:avLst/>
          </a:prstGeom>
          <a:noFill/>
        </p:spPr>
        <p:txBody>
          <a:bodyPr wrap="square">
            <a:spAutoFit/>
          </a:bodyPr>
          <a:lstStyle/>
          <a:p>
            <a:pPr algn="ctr"/>
            <a:r>
              <a:rPr sz="1300" b="0">
                <a:solidFill>
                  <a:srgbClr val="6A7788"/>
                </a:solidFill>
                <a:latin typeface="Calibri"/>
              </a:rPr>
              <a:t>cat, sun, dog, big</a:t>
            </a:r>
          </a:p>
        </p:txBody>
      </p:sp>
      <p:sp>
        <p:nvSpPr>
          <p:cNvPr id="29" name="Rounded Rectangle 28"/>
          <p:cNvSpPr/>
          <p:nvPr/>
        </p:nvSpPr>
        <p:spPr>
          <a:xfrm>
            <a:off x="457200" y="3703320"/>
            <a:ext cx="356616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828800" y="3886200"/>
            <a:ext cx="822960" cy="822960"/>
          </a:xfrm>
          <a:prstGeom prst="ellipse">
            <a:avLst/>
          </a:prstGeom>
          <a:solidFill>
            <a:srgbClr val="E4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828800" y="4014216"/>
            <a:ext cx="822960" cy="548640"/>
          </a:xfrm>
          <a:prstGeom prst="rect">
            <a:avLst/>
          </a:prstGeom>
          <a:noFill/>
        </p:spPr>
        <p:txBody>
          <a:bodyPr wrap="square">
            <a:spAutoFit/>
          </a:bodyPr>
          <a:lstStyle/>
          <a:p>
            <a:pPr algn="ctr"/>
            <a:r>
              <a:rPr sz="2200" b="0">
                <a:solidFill>
                  <a:srgbClr val="242C38"/>
                </a:solidFill>
                <a:latin typeface="Calibri"/>
              </a:rPr>
              <a:t>👀</a:t>
            </a:r>
          </a:p>
        </p:txBody>
      </p:sp>
      <p:sp>
        <p:nvSpPr>
          <p:cNvPr id="32" name="TextBox 31"/>
          <p:cNvSpPr txBox="1"/>
          <p:nvPr/>
        </p:nvSpPr>
        <p:spPr>
          <a:xfrm>
            <a:off x="594360" y="4782312"/>
            <a:ext cx="3291840" cy="411480"/>
          </a:xfrm>
          <a:prstGeom prst="rect">
            <a:avLst/>
          </a:prstGeom>
          <a:noFill/>
        </p:spPr>
        <p:txBody>
          <a:bodyPr wrap="square">
            <a:spAutoFit/>
          </a:bodyPr>
          <a:lstStyle/>
          <a:p>
            <a:pPr algn="ctr"/>
            <a:r>
              <a:rPr sz="1700" b="1">
                <a:solidFill>
                  <a:srgbClr val="2E7D53"/>
                </a:solidFill>
                <a:latin typeface="Calibri"/>
              </a:rPr>
              <a:t>Sight Words</a:t>
            </a:r>
          </a:p>
        </p:txBody>
      </p:sp>
      <p:sp>
        <p:nvSpPr>
          <p:cNvPr id="33" name="TextBox 32"/>
          <p:cNvSpPr txBox="1"/>
          <p:nvPr/>
        </p:nvSpPr>
        <p:spPr>
          <a:xfrm>
            <a:off x="594360" y="5193792"/>
            <a:ext cx="3291840" cy="384048"/>
          </a:xfrm>
          <a:prstGeom prst="rect">
            <a:avLst/>
          </a:prstGeom>
          <a:noFill/>
        </p:spPr>
        <p:txBody>
          <a:bodyPr wrap="square">
            <a:spAutoFit/>
          </a:bodyPr>
          <a:lstStyle/>
          <a:p>
            <a:pPr algn="ctr"/>
            <a:r>
              <a:rPr sz="1300" b="0">
                <a:solidFill>
                  <a:srgbClr val="6A7788"/>
                </a:solidFill>
                <a:latin typeface="Calibri"/>
              </a:rPr>
              <a:t>the, can, my, see</a:t>
            </a:r>
          </a:p>
        </p:txBody>
      </p:sp>
      <p:sp>
        <p:nvSpPr>
          <p:cNvPr id="34" name="Rounded Rectangle 33"/>
          <p:cNvSpPr/>
          <p:nvPr/>
        </p:nvSpPr>
        <p:spPr>
          <a:xfrm>
            <a:off x="4251960" y="3703320"/>
            <a:ext cx="356616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623560" y="3886200"/>
            <a:ext cx="822960" cy="822960"/>
          </a:xfrm>
          <a:prstGeom prst="ellipse">
            <a:avLst/>
          </a:prstGeom>
          <a:solidFill>
            <a:srgbClr val="E4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23560" y="4014216"/>
            <a:ext cx="822960" cy="548640"/>
          </a:xfrm>
          <a:prstGeom prst="rect">
            <a:avLst/>
          </a:prstGeom>
          <a:noFill/>
        </p:spPr>
        <p:txBody>
          <a:bodyPr wrap="square">
            <a:spAutoFit/>
          </a:bodyPr>
          <a:lstStyle/>
          <a:p>
            <a:pPr algn="ctr"/>
            <a:r>
              <a:rPr sz="2200" b="0">
                <a:solidFill>
                  <a:srgbClr val="242C38"/>
                </a:solidFill>
                <a:latin typeface="Calibri"/>
              </a:rPr>
              <a:t>📖</a:t>
            </a:r>
          </a:p>
        </p:txBody>
      </p:sp>
      <p:sp>
        <p:nvSpPr>
          <p:cNvPr id="37" name="TextBox 36"/>
          <p:cNvSpPr txBox="1"/>
          <p:nvPr/>
        </p:nvSpPr>
        <p:spPr>
          <a:xfrm>
            <a:off x="4389120" y="4782312"/>
            <a:ext cx="3291840" cy="411480"/>
          </a:xfrm>
          <a:prstGeom prst="rect">
            <a:avLst/>
          </a:prstGeom>
          <a:noFill/>
        </p:spPr>
        <p:txBody>
          <a:bodyPr wrap="square">
            <a:spAutoFit/>
          </a:bodyPr>
          <a:lstStyle/>
          <a:p>
            <a:pPr algn="ctr"/>
            <a:r>
              <a:rPr sz="1700" b="1">
                <a:solidFill>
                  <a:srgbClr val="2E7D53"/>
                </a:solidFill>
                <a:latin typeface="Calibri"/>
              </a:rPr>
              <a:t>Sentences</a:t>
            </a:r>
          </a:p>
        </p:txBody>
      </p:sp>
      <p:sp>
        <p:nvSpPr>
          <p:cNvPr id="38" name="TextBox 37"/>
          <p:cNvSpPr txBox="1"/>
          <p:nvPr/>
        </p:nvSpPr>
        <p:spPr>
          <a:xfrm>
            <a:off x="4389120" y="5193792"/>
            <a:ext cx="3291840" cy="384048"/>
          </a:xfrm>
          <a:prstGeom prst="rect">
            <a:avLst/>
          </a:prstGeom>
          <a:noFill/>
        </p:spPr>
        <p:txBody>
          <a:bodyPr wrap="square">
            <a:spAutoFit/>
          </a:bodyPr>
          <a:lstStyle/>
          <a:p>
            <a:pPr algn="ctr"/>
            <a:r>
              <a:rPr sz="1300" b="0">
                <a:solidFill>
                  <a:srgbClr val="6A7788"/>
                </a:solidFill>
                <a:latin typeface="Calibri"/>
              </a:rPr>
              <a:t>I see a cat.</a:t>
            </a:r>
          </a:p>
        </p:txBody>
      </p:sp>
      <p:sp>
        <p:nvSpPr>
          <p:cNvPr id="39" name="Rounded Rectangle 38"/>
          <p:cNvSpPr/>
          <p:nvPr/>
        </p:nvSpPr>
        <p:spPr>
          <a:xfrm>
            <a:off x="8046720" y="3703320"/>
            <a:ext cx="356616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9418320" y="3886200"/>
            <a:ext cx="822960" cy="822960"/>
          </a:xfrm>
          <a:prstGeom prst="ellipse">
            <a:avLst/>
          </a:prstGeom>
          <a:solidFill>
            <a:srgbClr val="E4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18320" y="4014216"/>
            <a:ext cx="822960" cy="548640"/>
          </a:xfrm>
          <a:prstGeom prst="rect">
            <a:avLst/>
          </a:prstGeom>
          <a:noFill/>
        </p:spPr>
        <p:txBody>
          <a:bodyPr wrap="square">
            <a:spAutoFit/>
          </a:bodyPr>
          <a:lstStyle/>
          <a:p>
            <a:pPr algn="ctr"/>
            <a:r>
              <a:rPr sz="2200" b="0">
                <a:solidFill>
                  <a:srgbClr val="242C38"/>
                </a:solidFill>
                <a:latin typeface="Calibri"/>
              </a:rPr>
              <a:t>📚</a:t>
            </a:r>
          </a:p>
        </p:txBody>
      </p:sp>
      <p:sp>
        <p:nvSpPr>
          <p:cNvPr id="42" name="TextBox 41"/>
          <p:cNvSpPr txBox="1"/>
          <p:nvPr/>
        </p:nvSpPr>
        <p:spPr>
          <a:xfrm>
            <a:off x="8183880" y="4782312"/>
            <a:ext cx="3291840" cy="411480"/>
          </a:xfrm>
          <a:prstGeom prst="rect">
            <a:avLst/>
          </a:prstGeom>
          <a:noFill/>
        </p:spPr>
        <p:txBody>
          <a:bodyPr wrap="square">
            <a:spAutoFit/>
          </a:bodyPr>
          <a:lstStyle/>
          <a:p>
            <a:pPr algn="ctr"/>
            <a:r>
              <a:rPr sz="1700" b="1">
                <a:solidFill>
                  <a:srgbClr val="2E7D53"/>
                </a:solidFill>
                <a:latin typeface="Calibri"/>
              </a:rPr>
              <a:t>A Whole Story</a:t>
            </a:r>
          </a:p>
        </p:txBody>
      </p:sp>
      <p:sp>
        <p:nvSpPr>
          <p:cNvPr id="43" name="TextBox 42"/>
          <p:cNvSpPr txBox="1"/>
          <p:nvPr/>
        </p:nvSpPr>
        <p:spPr>
          <a:xfrm>
            <a:off x="8183880" y="5193792"/>
            <a:ext cx="3291840" cy="384048"/>
          </a:xfrm>
          <a:prstGeom prst="rect">
            <a:avLst/>
          </a:prstGeom>
          <a:noFill/>
        </p:spPr>
        <p:txBody>
          <a:bodyPr wrap="square">
            <a:spAutoFit/>
          </a:bodyPr>
          <a:lstStyle/>
          <a:p>
            <a:pPr algn="ctr"/>
            <a:r>
              <a:rPr sz="1300" b="0">
                <a:solidFill>
                  <a:srgbClr val="6A7788"/>
                </a:solidFill>
                <a:latin typeface="Calibri"/>
              </a:rPr>
              <a:t>The Little Bear</a:t>
            </a:r>
          </a:p>
        </p:txBody>
      </p:sp>
      <p:sp>
        <p:nvSpPr>
          <p:cNvPr id="44" name="TextBox 43"/>
          <p:cNvSpPr txBox="1"/>
          <p:nvPr/>
        </p:nvSpPr>
        <p:spPr>
          <a:xfrm>
            <a:off x="457200" y="5943600"/>
            <a:ext cx="8686800" cy="384048"/>
          </a:xfrm>
          <a:prstGeom prst="rect">
            <a:avLst/>
          </a:prstGeom>
          <a:noFill/>
        </p:spPr>
        <p:txBody>
          <a:bodyPr wrap="square">
            <a:spAutoFit/>
          </a:bodyPr>
          <a:lstStyle/>
          <a:p>
            <a:pPr algn="l"/>
            <a:r>
              <a:rPr sz="1600" b="1">
                <a:solidFill>
                  <a:srgbClr val="E85A4F"/>
                </a:solidFill>
                <a:latin typeface="Calibri"/>
              </a:rPr>
              <a:t>🗣️ What was your favorite game? What word do you remember?</a:t>
            </a:r>
          </a:p>
        </p:txBody>
      </p:sp>
    </p:spTree>
  </p:cSld>
  <p:clrMapOvr>
    <a:masterClrMapping/>
  </p:clrMapOvr>
  <p:transition spd="med"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REWARD</a:t>
            </a:r>
          </a:p>
        </p:txBody>
      </p:sp>
      <p:sp>
        <p:nvSpPr>
          <p:cNvPr id="6" name="Rounded Rectangle 5"/>
          <p:cNvSpPr/>
          <p:nvPr/>
        </p:nvSpPr>
        <p:spPr>
          <a:xfrm>
            <a:off x="9418320" y="237744"/>
            <a:ext cx="2423160" cy="384048"/>
          </a:xfrm>
          <a:prstGeom prst="roundRect">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83464"/>
            <a:ext cx="2423160" cy="310896"/>
          </a:xfrm>
          <a:prstGeom prst="rect">
            <a:avLst/>
          </a:prstGeom>
          <a:noFill/>
        </p:spPr>
        <p:txBody>
          <a:bodyPr wrap="square">
            <a:spAutoFit/>
          </a:bodyPr>
          <a:lstStyle/>
          <a:p>
            <a:pPr algn="ctr"/>
            <a:r>
              <a:rPr sz="1200" b="1">
                <a:solidFill>
                  <a:srgbClr val="FFFFFF"/>
                </a:solidFill>
                <a:latin typeface="Calibri"/>
              </a:rPr>
              <a:t>87–90 min</a:t>
            </a:r>
          </a:p>
        </p:txBody>
      </p:sp>
      <p:sp>
        <p:nvSpPr>
          <p:cNvPr id="8" name="TextBox 7"/>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Your Reading Stars</a:t>
            </a:r>
          </a:p>
        </p:txBody>
      </p:sp>
      <p:sp>
        <p:nvSpPr>
          <p:cNvPr id="9" name="Rectangle 8"/>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19088"/>
            <a:ext cx="10798358"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Stars  |  87–90 min</a:t>
            </a:r>
          </a:p>
        </p:txBody>
      </p:sp>
      <p:sp>
        <p:nvSpPr>
          <p:cNvPr id="13" name="TextBox 12"/>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31 / 35</a:t>
            </a:r>
          </a:p>
        </p:txBody>
      </p:sp>
      <p:sp>
        <p:nvSpPr>
          <p:cNvPr id="14" name="TextBox 13"/>
          <p:cNvSpPr txBox="1"/>
          <p:nvPr/>
        </p:nvSpPr>
        <p:spPr>
          <a:xfrm>
            <a:off x="411480" y="1280160"/>
            <a:ext cx="10515600" cy="411480"/>
          </a:xfrm>
          <a:prstGeom prst="rect">
            <a:avLst/>
          </a:prstGeom>
          <a:noFill/>
        </p:spPr>
        <p:txBody>
          <a:bodyPr wrap="square">
            <a:spAutoFit/>
          </a:bodyPr>
          <a:lstStyle/>
          <a:p>
            <a:pPr algn="l"/>
            <a:r>
              <a:rPr sz="1800" b="1">
                <a:solidFill>
                  <a:srgbClr val="E85A4F"/>
                </a:solidFill>
                <a:latin typeface="Calibri"/>
              </a:rPr>
              <a:t>Count your stars out loud with me!</a:t>
            </a:r>
          </a:p>
        </p:txBody>
      </p:sp>
      <p:sp>
        <p:nvSpPr>
          <p:cNvPr id="15" name="Rounded Rectangle 14"/>
          <p:cNvSpPr/>
          <p:nvPr/>
        </p:nvSpPr>
        <p:spPr>
          <a:xfrm>
            <a:off x="457200" y="1828800"/>
            <a:ext cx="2697480" cy="1874519"/>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417320" y="2029968"/>
            <a:ext cx="777240" cy="777240"/>
          </a:xfrm>
          <a:prstGeom prst="ellipse">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17320" y="2139696"/>
            <a:ext cx="777240" cy="548640"/>
          </a:xfrm>
          <a:prstGeom prst="rect">
            <a:avLst/>
          </a:prstGeom>
          <a:noFill/>
        </p:spPr>
        <p:txBody>
          <a:bodyPr wrap="square">
            <a:spAutoFit/>
          </a:bodyPr>
          <a:lstStyle/>
          <a:p>
            <a:pPr algn="ctr"/>
            <a:r>
              <a:rPr sz="2200" b="0">
                <a:solidFill>
                  <a:srgbClr val="242C38"/>
                </a:solidFill>
                <a:latin typeface="Calibri"/>
              </a:rPr>
              <a:t>⭐</a:t>
            </a:r>
          </a:p>
        </p:txBody>
      </p:sp>
      <p:sp>
        <p:nvSpPr>
          <p:cNvPr id="18" name="TextBox 17"/>
          <p:cNvSpPr txBox="1"/>
          <p:nvPr/>
        </p:nvSpPr>
        <p:spPr>
          <a:xfrm>
            <a:off x="566928" y="2944368"/>
            <a:ext cx="2478024" cy="594360"/>
          </a:xfrm>
          <a:prstGeom prst="rect">
            <a:avLst/>
          </a:prstGeom>
          <a:noFill/>
        </p:spPr>
        <p:txBody>
          <a:bodyPr wrap="square">
            <a:spAutoFit/>
          </a:bodyPr>
          <a:lstStyle/>
          <a:p>
            <a:pPr algn="ctr"/>
            <a:r>
              <a:rPr sz="1400" b="1">
                <a:solidFill>
                  <a:srgbClr val="16366B"/>
                </a:solidFill>
                <a:latin typeface="Calibri"/>
              </a:rPr>
              <a:t>Letter Sounds</a:t>
            </a:r>
          </a:p>
        </p:txBody>
      </p:sp>
      <p:sp>
        <p:nvSpPr>
          <p:cNvPr id="19" name="Rounded Rectangle 18"/>
          <p:cNvSpPr/>
          <p:nvPr/>
        </p:nvSpPr>
        <p:spPr>
          <a:xfrm>
            <a:off x="3337560" y="1828800"/>
            <a:ext cx="2697480" cy="1874519"/>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297680" y="2029968"/>
            <a:ext cx="777240" cy="777240"/>
          </a:xfrm>
          <a:prstGeom prst="ellipse">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97680" y="2139696"/>
            <a:ext cx="777240" cy="548640"/>
          </a:xfrm>
          <a:prstGeom prst="rect">
            <a:avLst/>
          </a:prstGeom>
          <a:noFill/>
        </p:spPr>
        <p:txBody>
          <a:bodyPr wrap="square">
            <a:spAutoFit/>
          </a:bodyPr>
          <a:lstStyle/>
          <a:p>
            <a:pPr algn="ctr"/>
            <a:r>
              <a:rPr sz="2200" b="0">
                <a:solidFill>
                  <a:srgbClr val="242C38"/>
                </a:solidFill>
                <a:latin typeface="Calibri"/>
              </a:rPr>
              <a:t>⭐</a:t>
            </a:r>
          </a:p>
        </p:txBody>
      </p:sp>
      <p:sp>
        <p:nvSpPr>
          <p:cNvPr id="22" name="TextBox 21"/>
          <p:cNvSpPr txBox="1"/>
          <p:nvPr/>
        </p:nvSpPr>
        <p:spPr>
          <a:xfrm>
            <a:off x="3447288" y="2944368"/>
            <a:ext cx="2478024" cy="594360"/>
          </a:xfrm>
          <a:prstGeom prst="rect">
            <a:avLst/>
          </a:prstGeom>
          <a:noFill/>
        </p:spPr>
        <p:txBody>
          <a:bodyPr wrap="square">
            <a:spAutoFit/>
          </a:bodyPr>
          <a:lstStyle/>
          <a:p>
            <a:pPr algn="ctr"/>
            <a:r>
              <a:rPr sz="1400" b="1">
                <a:solidFill>
                  <a:srgbClr val="16366B"/>
                </a:solidFill>
                <a:latin typeface="Calibri"/>
              </a:rPr>
              <a:t>Mystery Letter</a:t>
            </a:r>
          </a:p>
        </p:txBody>
      </p:sp>
      <p:sp>
        <p:nvSpPr>
          <p:cNvPr id="23" name="Rounded Rectangle 22"/>
          <p:cNvSpPr/>
          <p:nvPr/>
        </p:nvSpPr>
        <p:spPr>
          <a:xfrm>
            <a:off x="6217920" y="1828800"/>
            <a:ext cx="2697480" cy="1874519"/>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78040" y="2029968"/>
            <a:ext cx="777240" cy="777240"/>
          </a:xfrm>
          <a:prstGeom prst="ellipse">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78040" y="2139696"/>
            <a:ext cx="777240" cy="548640"/>
          </a:xfrm>
          <a:prstGeom prst="rect">
            <a:avLst/>
          </a:prstGeom>
          <a:noFill/>
        </p:spPr>
        <p:txBody>
          <a:bodyPr wrap="square">
            <a:spAutoFit/>
          </a:bodyPr>
          <a:lstStyle/>
          <a:p>
            <a:pPr algn="ctr"/>
            <a:r>
              <a:rPr sz="2200" b="0">
                <a:solidFill>
                  <a:srgbClr val="242C38"/>
                </a:solidFill>
                <a:latin typeface="Calibri"/>
              </a:rPr>
              <a:t>⭐</a:t>
            </a:r>
          </a:p>
        </p:txBody>
      </p:sp>
      <p:sp>
        <p:nvSpPr>
          <p:cNvPr id="26" name="TextBox 25"/>
          <p:cNvSpPr txBox="1"/>
          <p:nvPr/>
        </p:nvSpPr>
        <p:spPr>
          <a:xfrm>
            <a:off x="6327648" y="2944368"/>
            <a:ext cx="2478024" cy="594360"/>
          </a:xfrm>
          <a:prstGeom prst="rect">
            <a:avLst/>
          </a:prstGeom>
          <a:noFill/>
        </p:spPr>
        <p:txBody>
          <a:bodyPr wrap="square">
            <a:spAutoFit/>
          </a:bodyPr>
          <a:lstStyle/>
          <a:p>
            <a:pPr algn="ctr"/>
            <a:r>
              <a:rPr sz="1400" b="1">
                <a:solidFill>
                  <a:srgbClr val="16366B"/>
                </a:solidFill>
                <a:latin typeface="Calibri"/>
              </a:rPr>
              <a:t>Sound Train</a:t>
            </a:r>
          </a:p>
        </p:txBody>
      </p:sp>
      <p:sp>
        <p:nvSpPr>
          <p:cNvPr id="27" name="Rounded Rectangle 26"/>
          <p:cNvSpPr/>
          <p:nvPr/>
        </p:nvSpPr>
        <p:spPr>
          <a:xfrm>
            <a:off x="9098280" y="1828800"/>
            <a:ext cx="2697480" cy="1874519"/>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058400" y="2029968"/>
            <a:ext cx="777240" cy="777240"/>
          </a:xfrm>
          <a:prstGeom prst="ellipse">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0" y="2139696"/>
            <a:ext cx="777240" cy="548640"/>
          </a:xfrm>
          <a:prstGeom prst="rect">
            <a:avLst/>
          </a:prstGeom>
          <a:noFill/>
        </p:spPr>
        <p:txBody>
          <a:bodyPr wrap="square">
            <a:spAutoFit/>
          </a:bodyPr>
          <a:lstStyle/>
          <a:p>
            <a:pPr algn="ctr"/>
            <a:r>
              <a:rPr sz="2200" b="0">
                <a:solidFill>
                  <a:srgbClr val="242C38"/>
                </a:solidFill>
                <a:latin typeface="Calibri"/>
              </a:rPr>
              <a:t>⭐</a:t>
            </a:r>
          </a:p>
        </p:txBody>
      </p:sp>
      <p:sp>
        <p:nvSpPr>
          <p:cNvPr id="30" name="TextBox 29"/>
          <p:cNvSpPr txBox="1"/>
          <p:nvPr/>
        </p:nvSpPr>
        <p:spPr>
          <a:xfrm>
            <a:off x="9208008" y="2944368"/>
            <a:ext cx="2478024" cy="594360"/>
          </a:xfrm>
          <a:prstGeom prst="rect">
            <a:avLst/>
          </a:prstGeom>
          <a:noFill/>
        </p:spPr>
        <p:txBody>
          <a:bodyPr wrap="square">
            <a:spAutoFit/>
          </a:bodyPr>
          <a:lstStyle/>
          <a:p>
            <a:pPr algn="ctr"/>
            <a:r>
              <a:rPr sz="1400" b="1">
                <a:solidFill>
                  <a:srgbClr val="16366B"/>
                </a:solidFill>
                <a:latin typeface="Calibri"/>
              </a:rPr>
              <a:t>Feed the Bear</a:t>
            </a:r>
          </a:p>
        </p:txBody>
      </p:sp>
      <p:sp>
        <p:nvSpPr>
          <p:cNvPr id="31" name="Rounded Rectangle 30"/>
          <p:cNvSpPr/>
          <p:nvPr/>
        </p:nvSpPr>
        <p:spPr>
          <a:xfrm>
            <a:off x="457200" y="3931920"/>
            <a:ext cx="2697480" cy="1874519"/>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417320" y="4133088"/>
            <a:ext cx="777240" cy="777240"/>
          </a:xfrm>
          <a:prstGeom prst="ellipse">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417320" y="4242816"/>
            <a:ext cx="777240" cy="548640"/>
          </a:xfrm>
          <a:prstGeom prst="rect">
            <a:avLst/>
          </a:prstGeom>
          <a:noFill/>
        </p:spPr>
        <p:txBody>
          <a:bodyPr wrap="square">
            <a:spAutoFit/>
          </a:bodyPr>
          <a:lstStyle/>
          <a:p>
            <a:pPr algn="ctr"/>
            <a:r>
              <a:rPr sz="2200" b="0">
                <a:solidFill>
                  <a:srgbClr val="242C38"/>
                </a:solidFill>
                <a:latin typeface="Calibri"/>
              </a:rPr>
              <a:t>⭐</a:t>
            </a:r>
          </a:p>
        </p:txBody>
      </p:sp>
      <p:sp>
        <p:nvSpPr>
          <p:cNvPr id="34" name="TextBox 33"/>
          <p:cNvSpPr txBox="1"/>
          <p:nvPr/>
        </p:nvSpPr>
        <p:spPr>
          <a:xfrm>
            <a:off x="566928" y="5047488"/>
            <a:ext cx="2478024" cy="594360"/>
          </a:xfrm>
          <a:prstGeom prst="rect">
            <a:avLst/>
          </a:prstGeom>
          <a:noFill/>
        </p:spPr>
        <p:txBody>
          <a:bodyPr wrap="square">
            <a:spAutoFit/>
          </a:bodyPr>
          <a:lstStyle/>
          <a:p>
            <a:pPr algn="ctr"/>
            <a:r>
              <a:rPr sz="1400" b="1">
                <a:solidFill>
                  <a:srgbClr val="16366B"/>
                </a:solidFill>
                <a:latin typeface="Calibri"/>
              </a:rPr>
              <a:t>Sight Words</a:t>
            </a:r>
          </a:p>
        </p:txBody>
      </p:sp>
      <p:sp>
        <p:nvSpPr>
          <p:cNvPr id="35" name="Rounded Rectangle 34"/>
          <p:cNvSpPr/>
          <p:nvPr/>
        </p:nvSpPr>
        <p:spPr>
          <a:xfrm>
            <a:off x="3337560" y="3931920"/>
            <a:ext cx="2697480" cy="1874519"/>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297680" y="4133088"/>
            <a:ext cx="777240" cy="777240"/>
          </a:xfrm>
          <a:prstGeom prst="ellipse">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297680" y="4242816"/>
            <a:ext cx="777240" cy="548640"/>
          </a:xfrm>
          <a:prstGeom prst="rect">
            <a:avLst/>
          </a:prstGeom>
          <a:noFill/>
        </p:spPr>
        <p:txBody>
          <a:bodyPr wrap="square">
            <a:spAutoFit/>
          </a:bodyPr>
          <a:lstStyle/>
          <a:p>
            <a:pPr algn="ctr"/>
            <a:r>
              <a:rPr sz="2200" b="0">
                <a:solidFill>
                  <a:srgbClr val="242C38"/>
                </a:solidFill>
                <a:latin typeface="Calibri"/>
              </a:rPr>
              <a:t>⭐</a:t>
            </a:r>
          </a:p>
        </p:txBody>
      </p:sp>
      <p:sp>
        <p:nvSpPr>
          <p:cNvPr id="38" name="TextBox 37"/>
          <p:cNvSpPr txBox="1"/>
          <p:nvPr/>
        </p:nvSpPr>
        <p:spPr>
          <a:xfrm>
            <a:off x="3447288" y="5047488"/>
            <a:ext cx="2478024" cy="594360"/>
          </a:xfrm>
          <a:prstGeom prst="rect">
            <a:avLst/>
          </a:prstGeom>
          <a:noFill/>
        </p:spPr>
        <p:txBody>
          <a:bodyPr wrap="square">
            <a:spAutoFit/>
          </a:bodyPr>
          <a:lstStyle/>
          <a:p>
            <a:pPr algn="ctr"/>
            <a:r>
              <a:rPr sz="1400" b="1">
                <a:solidFill>
                  <a:srgbClr val="16366B"/>
                </a:solidFill>
                <a:latin typeface="Calibri"/>
              </a:rPr>
              <a:t>Sentences</a:t>
            </a:r>
          </a:p>
        </p:txBody>
      </p:sp>
      <p:sp>
        <p:nvSpPr>
          <p:cNvPr id="39" name="Rounded Rectangle 38"/>
          <p:cNvSpPr/>
          <p:nvPr/>
        </p:nvSpPr>
        <p:spPr>
          <a:xfrm>
            <a:off x="6217920" y="3931920"/>
            <a:ext cx="2697480" cy="1874519"/>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178040" y="4133088"/>
            <a:ext cx="777240" cy="777240"/>
          </a:xfrm>
          <a:prstGeom prst="ellipse">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78040" y="4242816"/>
            <a:ext cx="777240" cy="548640"/>
          </a:xfrm>
          <a:prstGeom prst="rect">
            <a:avLst/>
          </a:prstGeom>
          <a:noFill/>
        </p:spPr>
        <p:txBody>
          <a:bodyPr wrap="square">
            <a:spAutoFit/>
          </a:bodyPr>
          <a:lstStyle/>
          <a:p>
            <a:pPr algn="ctr"/>
            <a:r>
              <a:rPr sz="2200" b="0">
                <a:solidFill>
                  <a:srgbClr val="242C38"/>
                </a:solidFill>
                <a:latin typeface="Calibri"/>
              </a:rPr>
              <a:t>⭐</a:t>
            </a:r>
          </a:p>
        </p:txBody>
      </p:sp>
      <p:sp>
        <p:nvSpPr>
          <p:cNvPr id="42" name="TextBox 41"/>
          <p:cNvSpPr txBox="1"/>
          <p:nvPr/>
        </p:nvSpPr>
        <p:spPr>
          <a:xfrm>
            <a:off x="6327648" y="5047488"/>
            <a:ext cx="2478024" cy="594360"/>
          </a:xfrm>
          <a:prstGeom prst="rect">
            <a:avLst/>
          </a:prstGeom>
          <a:noFill/>
        </p:spPr>
        <p:txBody>
          <a:bodyPr wrap="square">
            <a:spAutoFit/>
          </a:bodyPr>
          <a:lstStyle/>
          <a:p>
            <a:pPr algn="ctr"/>
            <a:r>
              <a:rPr sz="1400" b="1">
                <a:solidFill>
                  <a:srgbClr val="16366B"/>
                </a:solidFill>
                <a:latin typeface="Calibri"/>
              </a:rPr>
              <a:t>Ben's Story</a:t>
            </a:r>
          </a:p>
        </p:txBody>
      </p:sp>
      <p:sp>
        <p:nvSpPr>
          <p:cNvPr id="43" name="Rounded Rectangle 42"/>
          <p:cNvSpPr/>
          <p:nvPr/>
        </p:nvSpPr>
        <p:spPr>
          <a:xfrm>
            <a:off x="9098280" y="3931920"/>
            <a:ext cx="2697480" cy="1874519"/>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058400" y="4133088"/>
            <a:ext cx="777240" cy="777240"/>
          </a:xfrm>
          <a:prstGeom prst="ellipse">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058400" y="4242816"/>
            <a:ext cx="777240" cy="548640"/>
          </a:xfrm>
          <a:prstGeom prst="rect">
            <a:avLst/>
          </a:prstGeom>
          <a:noFill/>
        </p:spPr>
        <p:txBody>
          <a:bodyPr wrap="square">
            <a:spAutoFit/>
          </a:bodyPr>
          <a:lstStyle/>
          <a:p>
            <a:pPr algn="ctr"/>
            <a:r>
              <a:rPr sz="2200" b="0">
                <a:solidFill>
                  <a:srgbClr val="242C38"/>
                </a:solidFill>
                <a:latin typeface="Calibri"/>
              </a:rPr>
              <a:t>⭐</a:t>
            </a:r>
          </a:p>
        </p:txBody>
      </p:sp>
      <p:sp>
        <p:nvSpPr>
          <p:cNvPr id="46" name="TextBox 45"/>
          <p:cNvSpPr txBox="1"/>
          <p:nvPr/>
        </p:nvSpPr>
        <p:spPr>
          <a:xfrm>
            <a:off x="9208008" y="5047488"/>
            <a:ext cx="2478024" cy="594360"/>
          </a:xfrm>
          <a:prstGeom prst="rect">
            <a:avLst/>
          </a:prstGeom>
          <a:noFill/>
        </p:spPr>
        <p:txBody>
          <a:bodyPr wrap="square">
            <a:spAutoFit/>
          </a:bodyPr>
          <a:lstStyle/>
          <a:p>
            <a:pPr algn="ctr"/>
            <a:r>
              <a:rPr sz="1400" b="1">
                <a:solidFill>
                  <a:srgbClr val="16366B"/>
                </a:solidFill>
                <a:latin typeface="Calibri"/>
              </a:rPr>
              <a:t>Big Challenge</a:t>
            </a:r>
          </a:p>
        </p:txBody>
      </p:sp>
    </p:spTree>
  </p:cSld>
  <p:clrMapOvr>
    <a:masterClrMapping/>
  </p:clrMapOvr>
  <p:transition spd="med"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37744"/>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0080" y="731520"/>
            <a:ext cx="731520" cy="731520"/>
          </a:xfrm>
          <a:prstGeom prst="ellipse">
            <a:avLst/>
          </a:prstGeom>
          <a:solidFill>
            <a:srgbClr val="2E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881360" y="777240"/>
            <a:ext cx="731520" cy="731520"/>
          </a:xfrm>
          <a:prstGeom prst="ellipse">
            <a:avLst/>
          </a:prstGeom>
          <a:solidFill>
            <a:srgbClr val="E8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60" y="5303520"/>
            <a:ext cx="731520" cy="731520"/>
          </a:xfrm>
          <a:prstGeom prst="ellipse">
            <a:avLst/>
          </a:prstGeom>
          <a:solidFill>
            <a:srgbClr val="009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35640" y="5257800"/>
            <a:ext cx="731520" cy="731520"/>
          </a:xfrm>
          <a:prstGeom prst="ellipse">
            <a:avLst/>
          </a:prstGeom>
          <a:solidFill>
            <a:srgbClr val="F2A1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960120"/>
            <a:ext cx="10972800" cy="731520"/>
          </a:xfrm>
          <a:prstGeom prst="rect">
            <a:avLst/>
          </a:prstGeom>
          <a:noFill/>
        </p:spPr>
        <p:txBody>
          <a:bodyPr wrap="square">
            <a:spAutoFit/>
          </a:bodyPr>
          <a:lstStyle/>
          <a:p>
            <a:pPr algn="ctr"/>
            <a:r>
              <a:rPr sz="4000" b="1">
                <a:solidFill>
                  <a:srgbClr val="FFC42E"/>
                </a:solidFill>
                <a:latin typeface="Georgia"/>
              </a:rPr>
              <a:t>🏆 READING EXPLORER 🏆</a:t>
            </a:r>
          </a:p>
        </p:txBody>
      </p:sp>
      <p:sp>
        <p:nvSpPr>
          <p:cNvPr id="9" name="Oval 8"/>
          <p:cNvSpPr/>
          <p:nvPr/>
        </p:nvSpPr>
        <p:spPr>
          <a:xfrm>
            <a:off x="4956048" y="1874519"/>
            <a:ext cx="2286000" cy="2286000"/>
          </a:xfrm>
          <a:prstGeom prst="ellipse">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56048" y="2377440"/>
            <a:ext cx="2286000" cy="1188720"/>
          </a:xfrm>
          <a:prstGeom prst="rect">
            <a:avLst/>
          </a:prstGeom>
          <a:noFill/>
        </p:spPr>
        <p:txBody>
          <a:bodyPr wrap="square">
            <a:spAutoFit/>
          </a:bodyPr>
          <a:lstStyle/>
          <a:p>
            <a:pPr algn="ctr"/>
            <a:r>
              <a:rPr sz="5800" b="0">
                <a:solidFill>
                  <a:srgbClr val="242C38"/>
                </a:solidFill>
                <a:latin typeface="Calibri"/>
              </a:rPr>
              <a:t>🐻</a:t>
            </a:r>
          </a:p>
        </p:txBody>
      </p:sp>
      <p:sp>
        <p:nvSpPr>
          <p:cNvPr id="11" name="TextBox 10"/>
          <p:cNvSpPr txBox="1"/>
          <p:nvPr/>
        </p:nvSpPr>
        <p:spPr>
          <a:xfrm>
            <a:off x="640080" y="4389120"/>
            <a:ext cx="10972800" cy="548640"/>
          </a:xfrm>
          <a:prstGeom prst="rect">
            <a:avLst/>
          </a:prstGeom>
          <a:noFill/>
        </p:spPr>
        <p:txBody>
          <a:bodyPr wrap="square">
            <a:spAutoFit/>
          </a:bodyPr>
          <a:lstStyle/>
          <a:p>
            <a:pPr algn="ctr"/>
            <a:r>
              <a:rPr sz="3400" b="1">
                <a:solidFill>
                  <a:srgbClr val="FFFFFF"/>
                </a:solidFill>
                <a:latin typeface="Georgia"/>
              </a:rPr>
              <a:t>Great Job!</a:t>
            </a:r>
          </a:p>
        </p:txBody>
      </p:sp>
      <p:sp>
        <p:nvSpPr>
          <p:cNvPr id="12" name="TextBox 11"/>
          <p:cNvSpPr txBox="1"/>
          <p:nvPr/>
        </p:nvSpPr>
        <p:spPr>
          <a:xfrm>
            <a:off x="640080" y="4983480"/>
            <a:ext cx="10972800" cy="502920"/>
          </a:xfrm>
          <a:prstGeom prst="rect">
            <a:avLst/>
          </a:prstGeom>
          <a:noFill/>
        </p:spPr>
        <p:txBody>
          <a:bodyPr wrap="square">
            <a:spAutoFit/>
          </a:bodyPr>
          <a:lstStyle/>
          <a:p>
            <a:pPr algn="ctr"/>
            <a:r>
              <a:rPr sz="2200" b="0">
                <a:solidFill>
                  <a:srgbClr val="FFFFFF"/>
                </a:solidFill>
                <a:latin typeface="Calibri"/>
              </a:rPr>
              <a:t>You are becoming a stronger reader!</a:t>
            </a:r>
          </a:p>
        </p:txBody>
      </p:sp>
      <p:sp>
        <p:nvSpPr>
          <p:cNvPr id="13" name="TextBox 12"/>
          <p:cNvSpPr txBox="1"/>
          <p:nvPr/>
        </p:nvSpPr>
        <p:spPr>
          <a:xfrm>
            <a:off x="640080" y="5532120"/>
            <a:ext cx="10972800" cy="457200"/>
          </a:xfrm>
          <a:prstGeom prst="rect">
            <a:avLst/>
          </a:prstGeom>
          <a:noFill/>
        </p:spPr>
        <p:txBody>
          <a:bodyPr wrap="square">
            <a:spAutoFit/>
          </a:bodyPr>
          <a:lstStyle/>
          <a:p>
            <a:pPr algn="ctr"/>
            <a:r>
              <a:rPr sz="1600" b="0">
                <a:solidFill>
                  <a:srgbClr val="E2F3FD"/>
                </a:solidFill>
                <a:latin typeface="Calibri"/>
              </a:rPr>
              <a:t>Sounds ⭐ Words ⭐ Sentences ⭐ A Whole Story</a:t>
            </a:r>
          </a:p>
        </p:txBody>
      </p:sp>
      <p:sp>
        <p:nvSpPr>
          <p:cNvPr id="14" name="Rectangle 13"/>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6419088"/>
            <a:ext cx="11146692"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Badge  |  87–90 min</a:t>
            </a:r>
          </a:p>
        </p:txBody>
      </p:sp>
      <p:sp>
        <p:nvSpPr>
          <p:cNvPr id="18" name="TextBox 17"/>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32 / 35</a:t>
            </a:r>
          </a:p>
        </p:txBody>
      </p:sp>
    </p:spTree>
  </p:cSld>
  <p:clrMapOvr>
    <a:masterClrMapping/>
  </p:clrMapOvr>
  <p:transition spd="med"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E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2E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HOME</a:t>
            </a:r>
          </a:p>
        </p:txBody>
      </p:sp>
      <p:sp>
        <p:nvSpPr>
          <p:cNvPr id="6" name="TextBox 5"/>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Fun Practice at Home (Optional)</a:t>
            </a:r>
          </a:p>
        </p:txBody>
      </p:sp>
      <p:sp>
        <p:nvSpPr>
          <p:cNvPr id="7" name="Rectangle 6"/>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419088"/>
            <a:ext cx="11495026"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Homework</a:t>
            </a:r>
          </a:p>
        </p:txBody>
      </p:sp>
      <p:sp>
        <p:nvSpPr>
          <p:cNvPr id="11" name="TextBox 10"/>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33 / 35</a:t>
            </a:r>
          </a:p>
        </p:txBody>
      </p:sp>
      <p:sp>
        <p:nvSpPr>
          <p:cNvPr id="12" name="TextBox 11"/>
          <p:cNvSpPr txBox="1"/>
          <p:nvPr/>
        </p:nvSpPr>
        <p:spPr>
          <a:xfrm>
            <a:off x="411480" y="1261872"/>
            <a:ext cx="10515600" cy="384048"/>
          </a:xfrm>
          <a:prstGeom prst="rect">
            <a:avLst/>
          </a:prstGeom>
          <a:noFill/>
        </p:spPr>
        <p:txBody>
          <a:bodyPr wrap="square">
            <a:spAutoFit/>
          </a:bodyPr>
          <a:lstStyle/>
          <a:p>
            <a:pPr algn="l"/>
            <a:r>
              <a:rPr sz="1600" b="1">
                <a:solidFill>
                  <a:srgbClr val="E85A4F"/>
                </a:solidFill>
                <a:latin typeface="Calibri"/>
              </a:rPr>
              <a:t>Pick just ONE. Ten minutes is plenty!</a:t>
            </a:r>
          </a:p>
        </p:txBody>
      </p:sp>
      <p:sp>
        <p:nvSpPr>
          <p:cNvPr id="13" name="Rounded Rectangle 12"/>
          <p:cNvSpPr/>
          <p:nvPr/>
        </p:nvSpPr>
        <p:spPr>
          <a:xfrm>
            <a:off x="457200" y="1737360"/>
            <a:ext cx="544068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13232" y="2286000"/>
            <a:ext cx="914400" cy="914400"/>
          </a:xfrm>
          <a:prstGeom prst="ellipse">
            <a:avLst/>
          </a:prstGeom>
          <a:solidFill>
            <a:srgbClr val="E2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2450592"/>
            <a:ext cx="914400" cy="594360"/>
          </a:xfrm>
          <a:prstGeom prst="rect">
            <a:avLst/>
          </a:prstGeom>
          <a:noFill/>
        </p:spPr>
        <p:txBody>
          <a:bodyPr wrap="square">
            <a:spAutoFit/>
          </a:bodyPr>
          <a:lstStyle/>
          <a:p>
            <a:pPr algn="ctr"/>
            <a:r>
              <a:rPr sz="2600" b="0">
                <a:solidFill>
                  <a:srgbClr val="242C38"/>
                </a:solidFill>
                <a:latin typeface="Calibri"/>
              </a:rPr>
              <a:t>🔤</a:t>
            </a:r>
          </a:p>
        </p:txBody>
      </p:sp>
      <p:sp>
        <p:nvSpPr>
          <p:cNvPr id="16" name="TextBox 15"/>
          <p:cNvSpPr txBox="1"/>
          <p:nvPr/>
        </p:nvSpPr>
        <p:spPr>
          <a:xfrm>
            <a:off x="1874520" y="2194560"/>
            <a:ext cx="3840480" cy="457200"/>
          </a:xfrm>
          <a:prstGeom prst="rect">
            <a:avLst/>
          </a:prstGeom>
          <a:noFill/>
        </p:spPr>
        <p:txBody>
          <a:bodyPr wrap="square">
            <a:spAutoFit/>
          </a:bodyPr>
          <a:lstStyle/>
          <a:p>
            <a:pPr algn="l"/>
            <a:r>
              <a:rPr sz="1900" b="1">
                <a:solidFill>
                  <a:srgbClr val="2EA8E8"/>
                </a:solidFill>
                <a:latin typeface="Calibri"/>
              </a:rPr>
              <a:t>Say the sounds</a:t>
            </a:r>
          </a:p>
        </p:txBody>
      </p:sp>
      <p:sp>
        <p:nvSpPr>
          <p:cNvPr id="17" name="TextBox 16"/>
          <p:cNvSpPr txBox="1"/>
          <p:nvPr/>
        </p:nvSpPr>
        <p:spPr>
          <a:xfrm>
            <a:off x="1874520" y="2670048"/>
            <a:ext cx="3840480" cy="548640"/>
          </a:xfrm>
          <a:prstGeom prst="rect">
            <a:avLst/>
          </a:prstGeom>
          <a:noFill/>
        </p:spPr>
        <p:txBody>
          <a:bodyPr wrap="square">
            <a:spAutoFit/>
          </a:bodyPr>
          <a:lstStyle/>
          <a:p>
            <a:pPr algn="l"/>
            <a:r>
              <a:rPr sz="1400" b="0">
                <a:solidFill>
                  <a:srgbClr val="242C38"/>
                </a:solidFill>
                <a:latin typeface="Calibri"/>
              </a:rPr>
              <a:t>Read CAT, SUN, DOG out loud</a:t>
            </a:r>
          </a:p>
        </p:txBody>
      </p:sp>
      <p:sp>
        <p:nvSpPr>
          <p:cNvPr id="18" name="Rounded Rectangle 17"/>
          <p:cNvSpPr/>
          <p:nvPr/>
        </p:nvSpPr>
        <p:spPr>
          <a:xfrm>
            <a:off x="1874520" y="3218688"/>
            <a:ext cx="1371600" cy="384048"/>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74520" y="3282696"/>
            <a:ext cx="1371600" cy="310896"/>
          </a:xfrm>
          <a:prstGeom prst="rect">
            <a:avLst/>
          </a:prstGeom>
          <a:noFill/>
        </p:spPr>
        <p:txBody>
          <a:bodyPr wrap="square">
            <a:spAutoFit/>
          </a:bodyPr>
          <a:lstStyle/>
          <a:p>
            <a:pPr algn="ctr"/>
            <a:r>
              <a:rPr sz="1200" b="1">
                <a:solidFill>
                  <a:srgbClr val="16366B"/>
                </a:solidFill>
                <a:latin typeface="Calibri"/>
              </a:rPr>
              <a:t>3 min</a:t>
            </a:r>
          </a:p>
        </p:txBody>
      </p:sp>
      <p:sp>
        <p:nvSpPr>
          <p:cNvPr id="20" name="Rounded Rectangle 19"/>
          <p:cNvSpPr/>
          <p:nvPr/>
        </p:nvSpPr>
        <p:spPr>
          <a:xfrm>
            <a:off x="6172200" y="1737360"/>
            <a:ext cx="544068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28232" y="2286000"/>
            <a:ext cx="914400" cy="914400"/>
          </a:xfrm>
          <a:prstGeom prst="ellipse">
            <a:avLst/>
          </a:prstGeom>
          <a:solidFill>
            <a:srgbClr val="E2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2" y="2450592"/>
            <a:ext cx="914400" cy="594360"/>
          </a:xfrm>
          <a:prstGeom prst="rect">
            <a:avLst/>
          </a:prstGeom>
          <a:noFill/>
        </p:spPr>
        <p:txBody>
          <a:bodyPr wrap="square">
            <a:spAutoFit/>
          </a:bodyPr>
          <a:lstStyle/>
          <a:p>
            <a:pPr algn="ctr"/>
            <a:r>
              <a:rPr sz="2600" b="0">
                <a:solidFill>
                  <a:srgbClr val="242C38"/>
                </a:solidFill>
                <a:latin typeface="Calibri"/>
              </a:rPr>
              <a:t>👀</a:t>
            </a:r>
          </a:p>
        </p:txBody>
      </p:sp>
      <p:sp>
        <p:nvSpPr>
          <p:cNvPr id="23" name="TextBox 22"/>
          <p:cNvSpPr txBox="1"/>
          <p:nvPr/>
        </p:nvSpPr>
        <p:spPr>
          <a:xfrm>
            <a:off x="7589520" y="2194560"/>
            <a:ext cx="3840480" cy="457200"/>
          </a:xfrm>
          <a:prstGeom prst="rect">
            <a:avLst/>
          </a:prstGeom>
          <a:noFill/>
        </p:spPr>
        <p:txBody>
          <a:bodyPr wrap="square">
            <a:spAutoFit/>
          </a:bodyPr>
          <a:lstStyle/>
          <a:p>
            <a:pPr algn="l"/>
            <a:r>
              <a:rPr sz="1900" b="1">
                <a:solidFill>
                  <a:srgbClr val="2EA8E8"/>
                </a:solidFill>
                <a:latin typeface="Calibri"/>
              </a:rPr>
              <a:t>Sight word hunt</a:t>
            </a:r>
          </a:p>
        </p:txBody>
      </p:sp>
      <p:sp>
        <p:nvSpPr>
          <p:cNvPr id="24" name="TextBox 23"/>
          <p:cNvSpPr txBox="1"/>
          <p:nvPr/>
        </p:nvSpPr>
        <p:spPr>
          <a:xfrm>
            <a:off x="7589520" y="2670048"/>
            <a:ext cx="3840480" cy="548640"/>
          </a:xfrm>
          <a:prstGeom prst="rect">
            <a:avLst/>
          </a:prstGeom>
          <a:noFill/>
        </p:spPr>
        <p:txBody>
          <a:bodyPr wrap="square">
            <a:spAutoFit/>
          </a:bodyPr>
          <a:lstStyle/>
          <a:p>
            <a:pPr algn="l"/>
            <a:r>
              <a:rPr sz="1400" b="0">
                <a:solidFill>
                  <a:srgbClr val="242C38"/>
                </a:solidFill>
                <a:latin typeface="Calibri"/>
              </a:rPr>
              <a:t>Find THE and CAN in any book</a:t>
            </a:r>
          </a:p>
        </p:txBody>
      </p:sp>
      <p:sp>
        <p:nvSpPr>
          <p:cNvPr id="25" name="Rounded Rectangle 24"/>
          <p:cNvSpPr/>
          <p:nvPr/>
        </p:nvSpPr>
        <p:spPr>
          <a:xfrm>
            <a:off x="7589520" y="3218688"/>
            <a:ext cx="1371600" cy="384048"/>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0" y="3282696"/>
            <a:ext cx="1371600" cy="310896"/>
          </a:xfrm>
          <a:prstGeom prst="rect">
            <a:avLst/>
          </a:prstGeom>
          <a:noFill/>
        </p:spPr>
        <p:txBody>
          <a:bodyPr wrap="square">
            <a:spAutoFit/>
          </a:bodyPr>
          <a:lstStyle/>
          <a:p>
            <a:pPr algn="ctr"/>
            <a:r>
              <a:rPr sz="1200" b="1">
                <a:solidFill>
                  <a:srgbClr val="16366B"/>
                </a:solidFill>
                <a:latin typeface="Calibri"/>
              </a:rPr>
              <a:t>5 min</a:t>
            </a:r>
          </a:p>
        </p:txBody>
      </p:sp>
      <p:sp>
        <p:nvSpPr>
          <p:cNvPr id="27" name="Rounded Rectangle 26"/>
          <p:cNvSpPr/>
          <p:nvPr/>
        </p:nvSpPr>
        <p:spPr>
          <a:xfrm>
            <a:off x="457200" y="3931920"/>
            <a:ext cx="544068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13232" y="4480560"/>
            <a:ext cx="914400" cy="914400"/>
          </a:xfrm>
          <a:prstGeom prst="ellipse">
            <a:avLst/>
          </a:prstGeom>
          <a:solidFill>
            <a:srgbClr val="E2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4645152"/>
            <a:ext cx="914400" cy="594360"/>
          </a:xfrm>
          <a:prstGeom prst="rect">
            <a:avLst/>
          </a:prstGeom>
          <a:noFill/>
        </p:spPr>
        <p:txBody>
          <a:bodyPr wrap="square">
            <a:spAutoFit/>
          </a:bodyPr>
          <a:lstStyle/>
          <a:p>
            <a:pPr algn="ctr"/>
            <a:r>
              <a:rPr sz="2600" b="0">
                <a:solidFill>
                  <a:srgbClr val="242C38"/>
                </a:solidFill>
                <a:latin typeface="Calibri"/>
              </a:rPr>
              <a:t>📖</a:t>
            </a:r>
          </a:p>
        </p:txBody>
      </p:sp>
      <p:sp>
        <p:nvSpPr>
          <p:cNvPr id="30" name="TextBox 29"/>
          <p:cNvSpPr txBox="1"/>
          <p:nvPr/>
        </p:nvSpPr>
        <p:spPr>
          <a:xfrm>
            <a:off x="1874520" y="4389120"/>
            <a:ext cx="3840480" cy="457200"/>
          </a:xfrm>
          <a:prstGeom prst="rect">
            <a:avLst/>
          </a:prstGeom>
          <a:noFill/>
        </p:spPr>
        <p:txBody>
          <a:bodyPr wrap="square">
            <a:spAutoFit/>
          </a:bodyPr>
          <a:lstStyle/>
          <a:p>
            <a:pPr algn="l"/>
            <a:r>
              <a:rPr sz="1900" b="1">
                <a:solidFill>
                  <a:srgbClr val="2EA8E8"/>
                </a:solidFill>
                <a:latin typeface="Calibri"/>
              </a:rPr>
              <a:t>Read to someone</a:t>
            </a:r>
          </a:p>
        </p:txBody>
      </p:sp>
      <p:sp>
        <p:nvSpPr>
          <p:cNvPr id="31" name="TextBox 30"/>
          <p:cNvSpPr txBox="1"/>
          <p:nvPr/>
        </p:nvSpPr>
        <p:spPr>
          <a:xfrm>
            <a:off x="1874520" y="4864608"/>
            <a:ext cx="3840480" cy="548640"/>
          </a:xfrm>
          <a:prstGeom prst="rect">
            <a:avLst/>
          </a:prstGeom>
          <a:noFill/>
        </p:spPr>
        <p:txBody>
          <a:bodyPr wrap="square">
            <a:spAutoFit/>
          </a:bodyPr>
          <a:lstStyle/>
          <a:p>
            <a:pPr algn="l"/>
            <a:r>
              <a:rPr sz="1400" b="0">
                <a:solidFill>
                  <a:srgbClr val="242C38"/>
                </a:solidFill>
                <a:latin typeface="Calibri"/>
              </a:rPr>
              <a:t>Read "I see a cat." to a grown-up</a:t>
            </a:r>
          </a:p>
        </p:txBody>
      </p:sp>
      <p:sp>
        <p:nvSpPr>
          <p:cNvPr id="32" name="Rounded Rectangle 31"/>
          <p:cNvSpPr/>
          <p:nvPr/>
        </p:nvSpPr>
        <p:spPr>
          <a:xfrm>
            <a:off x="1874520" y="5413248"/>
            <a:ext cx="1371600" cy="384048"/>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874520" y="5477256"/>
            <a:ext cx="1371600" cy="310896"/>
          </a:xfrm>
          <a:prstGeom prst="rect">
            <a:avLst/>
          </a:prstGeom>
          <a:noFill/>
        </p:spPr>
        <p:txBody>
          <a:bodyPr wrap="square">
            <a:spAutoFit/>
          </a:bodyPr>
          <a:lstStyle/>
          <a:p>
            <a:pPr algn="ctr"/>
            <a:r>
              <a:rPr sz="1200" b="1">
                <a:solidFill>
                  <a:srgbClr val="16366B"/>
                </a:solidFill>
                <a:latin typeface="Calibri"/>
              </a:rPr>
              <a:t>3 min</a:t>
            </a:r>
          </a:p>
        </p:txBody>
      </p:sp>
      <p:sp>
        <p:nvSpPr>
          <p:cNvPr id="34" name="Rounded Rectangle 33"/>
          <p:cNvSpPr/>
          <p:nvPr/>
        </p:nvSpPr>
        <p:spPr>
          <a:xfrm>
            <a:off x="6172200" y="3931920"/>
            <a:ext cx="544068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428232" y="4480560"/>
            <a:ext cx="914400" cy="914400"/>
          </a:xfrm>
          <a:prstGeom prst="ellipse">
            <a:avLst/>
          </a:prstGeom>
          <a:solidFill>
            <a:srgbClr val="E2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28232" y="4645152"/>
            <a:ext cx="914400" cy="594360"/>
          </a:xfrm>
          <a:prstGeom prst="rect">
            <a:avLst/>
          </a:prstGeom>
          <a:noFill/>
        </p:spPr>
        <p:txBody>
          <a:bodyPr wrap="square">
            <a:spAutoFit/>
          </a:bodyPr>
          <a:lstStyle/>
          <a:p>
            <a:pPr algn="ctr"/>
            <a:r>
              <a:rPr sz="2600" b="0">
                <a:solidFill>
                  <a:srgbClr val="242C38"/>
                </a:solidFill>
                <a:latin typeface="Calibri"/>
              </a:rPr>
              <a:t>🎨</a:t>
            </a:r>
          </a:p>
        </p:txBody>
      </p:sp>
      <p:sp>
        <p:nvSpPr>
          <p:cNvPr id="37" name="TextBox 36"/>
          <p:cNvSpPr txBox="1"/>
          <p:nvPr/>
        </p:nvSpPr>
        <p:spPr>
          <a:xfrm>
            <a:off x="7589520" y="4389120"/>
            <a:ext cx="3840480" cy="457200"/>
          </a:xfrm>
          <a:prstGeom prst="rect">
            <a:avLst/>
          </a:prstGeom>
          <a:noFill/>
        </p:spPr>
        <p:txBody>
          <a:bodyPr wrap="square">
            <a:spAutoFit/>
          </a:bodyPr>
          <a:lstStyle/>
          <a:p>
            <a:pPr algn="l"/>
            <a:r>
              <a:rPr sz="1900" b="1">
                <a:solidFill>
                  <a:srgbClr val="2EA8E8"/>
                </a:solidFill>
                <a:latin typeface="Calibri"/>
              </a:rPr>
              <a:t>Draw Ben</a:t>
            </a:r>
          </a:p>
        </p:txBody>
      </p:sp>
      <p:sp>
        <p:nvSpPr>
          <p:cNvPr id="38" name="TextBox 37"/>
          <p:cNvSpPr txBox="1"/>
          <p:nvPr/>
        </p:nvSpPr>
        <p:spPr>
          <a:xfrm>
            <a:off x="7589520" y="4864608"/>
            <a:ext cx="3840480" cy="548640"/>
          </a:xfrm>
          <a:prstGeom prst="rect">
            <a:avLst/>
          </a:prstGeom>
          <a:noFill/>
        </p:spPr>
        <p:txBody>
          <a:bodyPr wrap="square">
            <a:spAutoFit/>
          </a:bodyPr>
          <a:lstStyle/>
          <a:p>
            <a:pPr algn="l"/>
            <a:r>
              <a:rPr sz="1400" b="0">
                <a:solidFill>
                  <a:srgbClr val="242C38"/>
                </a:solidFill>
                <a:latin typeface="Calibri"/>
              </a:rPr>
              <a:t>Draw the bear and his red ball</a:t>
            </a:r>
          </a:p>
        </p:txBody>
      </p:sp>
      <p:sp>
        <p:nvSpPr>
          <p:cNvPr id="39" name="Rounded Rectangle 38"/>
          <p:cNvSpPr/>
          <p:nvPr/>
        </p:nvSpPr>
        <p:spPr>
          <a:xfrm>
            <a:off x="7589520" y="5413248"/>
            <a:ext cx="1371600" cy="384048"/>
          </a:xfrm>
          <a:prstGeom prst="roundRect">
            <a:avLst/>
          </a:prstGeom>
          <a:solidFill>
            <a:srgbClr val="FFF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89520" y="5477256"/>
            <a:ext cx="1371600" cy="310896"/>
          </a:xfrm>
          <a:prstGeom prst="rect">
            <a:avLst/>
          </a:prstGeom>
          <a:noFill/>
        </p:spPr>
        <p:txBody>
          <a:bodyPr wrap="square">
            <a:spAutoFit/>
          </a:bodyPr>
          <a:lstStyle/>
          <a:p>
            <a:pPr algn="ctr"/>
            <a:r>
              <a:rPr sz="1200" b="1">
                <a:solidFill>
                  <a:srgbClr val="16366B"/>
                </a:solidFill>
                <a:latin typeface="Calibri"/>
              </a:rPr>
              <a:t>5 min</a:t>
            </a:r>
          </a:p>
        </p:txBody>
      </p:sp>
    </p:spTree>
  </p:cSld>
  <p:clrMapOvr>
    <a:masterClrMapping/>
  </p:clrMapOvr>
  <p:transition spd="med"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TEACHER ONLY</a:t>
            </a:r>
          </a:p>
        </p:txBody>
      </p:sp>
      <p:sp>
        <p:nvSpPr>
          <p:cNvPr id="6" name="TextBox 5"/>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Teacher Assessment — Progress Record</a:t>
            </a:r>
          </a:p>
        </p:txBody>
      </p:sp>
      <p:sp>
        <p:nvSpPr>
          <p:cNvPr id="7" name="Rectangle 6"/>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419088"/>
            <a:ext cx="11843360"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Assessment</a:t>
            </a:r>
          </a:p>
        </p:txBody>
      </p:sp>
      <p:sp>
        <p:nvSpPr>
          <p:cNvPr id="11" name="TextBox 10"/>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34 / 35</a:t>
            </a:r>
          </a:p>
        </p:txBody>
      </p:sp>
      <p:sp>
        <p:nvSpPr>
          <p:cNvPr id="12" name="TextBox 11"/>
          <p:cNvSpPr txBox="1"/>
          <p:nvPr/>
        </p:nvSpPr>
        <p:spPr>
          <a:xfrm>
            <a:off x="411480" y="1225296"/>
            <a:ext cx="11338560" cy="320040"/>
          </a:xfrm>
          <a:prstGeom prst="rect">
            <a:avLst/>
          </a:prstGeom>
          <a:noFill/>
        </p:spPr>
        <p:txBody>
          <a:bodyPr wrap="square">
            <a:spAutoFit/>
          </a:bodyPr>
          <a:lstStyle/>
          <a:p>
            <a:pPr algn="l"/>
            <a:r>
              <a:rPr sz="1300" b="1">
                <a:solidFill>
                  <a:srgbClr val="E85A4F"/>
                </a:solidFill>
                <a:latin typeface="Calibri"/>
              </a:rPr>
              <a:t>TEACHER ONLY — do not show this slide to the student. Record progress, not failure.</a:t>
            </a:r>
          </a:p>
        </p:txBody>
      </p:sp>
      <p:sp>
        <p:nvSpPr>
          <p:cNvPr id="13" name="Rounded Rectangle 12"/>
          <p:cNvSpPr/>
          <p:nvPr/>
        </p:nvSpPr>
        <p:spPr>
          <a:xfrm>
            <a:off x="411480" y="1600200"/>
            <a:ext cx="3931920" cy="438912"/>
          </a:xfrm>
          <a:prstGeom prst="round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1673352"/>
            <a:ext cx="3657600" cy="310896"/>
          </a:xfrm>
          <a:prstGeom prst="rect">
            <a:avLst/>
          </a:prstGeom>
          <a:noFill/>
        </p:spPr>
        <p:txBody>
          <a:bodyPr wrap="square">
            <a:spAutoFit/>
          </a:bodyPr>
          <a:lstStyle/>
          <a:p>
            <a:pPr algn="l"/>
            <a:r>
              <a:rPr sz="1300" b="1">
                <a:solidFill>
                  <a:srgbClr val="FFFFFF"/>
                </a:solidFill>
                <a:latin typeface="Calibri"/>
              </a:rPr>
              <a:t>SKILL</a:t>
            </a:r>
          </a:p>
        </p:txBody>
      </p:sp>
      <p:sp>
        <p:nvSpPr>
          <p:cNvPr id="15" name="Rounded Rectangle 14"/>
          <p:cNvSpPr/>
          <p:nvPr/>
        </p:nvSpPr>
        <p:spPr>
          <a:xfrm>
            <a:off x="4480560" y="1600200"/>
            <a:ext cx="4937760" cy="438912"/>
          </a:xfrm>
          <a:prstGeom prst="round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60" y="1682496"/>
            <a:ext cx="4937760" cy="292608"/>
          </a:xfrm>
          <a:prstGeom prst="rect">
            <a:avLst/>
          </a:prstGeom>
          <a:noFill/>
        </p:spPr>
        <p:txBody>
          <a:bodyPr wrap="square">
            <a:spAutoFit/>
          </a:bodyPr>
          <a:lstStyle/>
          <a:p>
            <a:pPr algn="ctr"/>
            <a:r>
              <a:rPr sz="1100" b="1">
                <a:solidFill>
                  <a:srgbClr val="FFFFFF"/>
                </a:solidFill>
                <a:latin typeface="Calibri"/>
              </a:rPr>
              <a:t>⭐ 1 Beginning  ·  2 Developing  ·  3 Progressing  ·  4 Strong</a:t>
            </a:r>
          </a:p>
        </p:txBody>
      </p:sp>
      <p:sp>
        <p:nvSpPr>
          <p:cNvPr id="17" name="Rounded Rectangle 16"/>
          <p:cNvSpPr/>
          <p:nvPr/>
        </p:nvSpPr>
        <p:spPr>
          <a:xfrm>
            <a:off x="9555480" y="1600200"/>
            <a:ext cx="2194560" cy="438912"/>
          </a:xfrm>
          <a:prstGeom prst="round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673352"/>
            <a:ext cx="1920240" cy="310896"/>
          </a:xfrm>
          <a:prstGeom prst="rect">
            <a:avLst/>
          </a:prstGeom>
          <a:noFill/>
        </p:spPr>
        <p:txBody>
          <a:bodyPr wrap="square">
            <a:spAutoFit/>
          </a:bodyPr>
          <a:lstStyle/>
          <a:p>
            <a:pPr algn="l"/>
            <a:r>
              <a:rPr sz="1300" b="1">
                <a:solidFill>
                  <a:srgbClr val="FFFFFF"/>
                </a:solidFill>
                <a:latin typeface="Calibri"/>
              </a:rPr>
              <a:t>NOTES</a:t>
            </a:r>
          </a:p>
        </p:txBody>
      </p:sp>
      <p:sp>
        <p:nvSpPr>
          <p:cNvPr id="19" name="Rounded Rectangle 18"/>
          <p:cNvSpPr/>
          <p:nvPr/>
        </p:nvSpPr>
        <p:spPr>
          <a:xfrm>
            <a:off x="411480" y="2112264"/>
            <a:ext cx="3931920" cy="4206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2185416"/>
            <a:ext cx="3657600" cy="292608"/>
          </a:xfrm>
          <a:prstGeom prst="rect">
            <a:avLst/>
          </a:prstGeom>
          <a:noFill/>
        </p:spPr>
        <p:txBody>
          <a:bodyPr wrap="square">
            <a:spAutoFit/>
          </a:bodyPr>
          <a:lstStyle/>
          <a:p>
            <a:pPr algn="l"/>
            <a:r>
              <a:rPr sz="1300" b="1">
                <a:solidFill>
                  <a:srgbClr val="16366B"/>
                </a:solidFill>
                <a:latin typeface="Calibri"/>
              </a:rPr>
              <a:t>Letter-sound recognition</a:t>
            </a:r>
          </a:p>
        </p:txBody>
      </p:sp>
      <p:sp>
        <p:nvSpPr>
          <p:cNvPr id="21" name="Rounded Rectangle 20"/>
          <p:cNvSpPr/>
          <p:nvPr/>
        </p:nvSpPr>
        <p:spPr>
          <a:xfrm>
            <a:off x="4480560" y="2112264"/>
            <a:ext cx="4937760" cy="4206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0560" y="2167128"/>
            <a:ext cx="4937760" cy="310896"/>
          </a:xfrm>
          <a:prstGeom prst="rect">
            <a:avLst/>
          </a:prstGeom>
          <a:noFill/>
        </p:spPr>
        <p:txBody>
          <a:bodyPr wrap="square">
            <a:spAutoFit/>
          </a:bodyPr>
          <a:lstStyle/>
          <a:p>
            <a:pPr algn="ctr"/>
            <a:r>
              <a:rPr sz="1400" b="0">
                <a:solidFill>
                  <a:srgbClr val="6A7788"/>
                </a:solidFill>
                <a:latin typeface="Calibri"/>
              </a:rPr>
              <a:t>☆      ☆      ☆      ☆</a:t>
            </a:r>
          </a:p>
        </p:txBody>
      </p:sp>
      <p:sp>
        <p:nvSpPr>
          <p:cNvPr id="23" name="Rounded Rectangle 22"/>
          <p:cNvSpPr/>
          <p:nvPr/>
        </p:nvSpPr>
        <p:spPr>
          <a:xfrm>
            <a:off x="9555480" y="2112264"/>
            <a:ext cx="2194560" cy="4206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11480" y="2587752"/>
            <a:ext cx="3931920" cy="420624"/>
          </a:xfrm>
          <a:prstGeom prst="roundRect">
            <a:avLst/>
          </a:prstGeom>
          <a:solidFill>
            <a:srgbClr val="E2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2660904"/>
            <a:ext cx="3657600" cy="292608"/>
          </a:xfrm>
          <a:prstGeom prst="rect">
            <a:avLst/>
          </a:prstGeom>
          <a:noFill/>
        </p:spPr>
        <p:txBody>
          <a:bodyPr wrap="square">
            <a:spAutoFit/>
          </a:bodyPr>
          <a:lstStyle/>
          <a:p>
            <a:pPr algn="l"/>
            <a:r>
              <a:rPr sz="1300" b="1">
                <a:solidFill>
                  <a:srgbClr val="16366B"/>
                </a:solidFill>
                <a:latin typeface="Calibri"/>
              </a:rPr>
              <a:t>Phonics / blending</a:t>
            </a:r>
          </a:p>
        </p:txBody>
      </p:sp>
      <p:sp>
        <p:nvSpPr>
          <p:cNvPr id="26" name="Rounded Rectangle 25"/>
          <p:cNvSpPr/>
          <p:nvPr/>
        </p:nvSpPr>
        <p:spPr>
          <a:xfrm>
            <a:off x="4480560" y="2587752"/>
            <a:ext cx="4937760" cy="420624"/>
          </a:xfrm>
          <a:prstGeom prst="roundRect">
            <a:avLst/>
          </a:prstGeom>
          <a:solidFill>
            <a:srgbClr val="E2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80560" y="2642616"/>
            <a:ext cx="4937760" cy="310896"/>
          </a:xfrm>
          <a:prstGeom prst="rect">
            <a:avLst/>
          </a:prstGeom>
          <a:noFill/>
        </p:spPr>
        <p:txBody>
          <a:bodyPr wrap="square">
            <a:spAutoFit/>
          </a:bodyPr>
          <a:lstStyle/>
          <a:p>
            <a:pPr algn="ctr"/>
            <a:r>
              <a:rPr sz="1400" b="0">
                <a:solidFill>
                  <a:srgbClr val="6A7788"/>
                </a:solidFill>
                <a:latin typeface="Calibri"/>
              </a:rPr>
              <a:t>☆      ☆      ☆      ☆</a:t>
            </a:r>
          </a:p>
        </p:txBody>
      </p:sp>
      <p:sp>
        <p:nvSpPr>
          <p:cNvPr id="28" name="Rounded Rectangle 27"/>
          <p:cNvSpPr/>
          <p:nvPr/>
        </p:nvSpPr>
        <p:spPr>
          <a:xfrm>
            <a:off x="9555480" y="2587752"/>
            <a:ext cx="2194560" cy="420624"/>
          </a:xfrm>
          <a:prstGeom prst="roundRect">
            <a:avLst/>
          </a:prstGeom>
          <a:solidFill>
            <a:srgbClr val="E2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11480" y="3063240"/>
            <a:ext cx="3931920" cy="4206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3136392"/>
            <a:ext cx="3657600" cy="292608"/>
          </a:xfrm>
          <a:prstGeom prst="rect">
            <a:avLst/>
          </a:prstGeom>
          <a:noFill/>
        </p:spPr>
        <p:txBody>
          <a:bodyPr wrap="square">
            <a:spAutoFit/>
          </a:bodyPr>
          <a:lstStyle/>
          <a:p>
            <a:pPr algn="l"/>
            <a:r>
              <a:rPr sz="1300" b="1">
                <a:solidFill>
                  <a:srgbClr val="16366B"/>
                </a:solidFill>
                <a:latin typeface="Calibri"/>
              </a:rPr>
              <a:t>Word recognition</a:t>
            </a:r>
          </a:p>
        </p:txBody>
      </p:sp>
      <p:sp>
        <p:nvSpPr>
          <p:cNvPr id="31" name="Rounded Rectangle 30"/>
          <p:cNvSpPr/>
          <p:nvPr/>
        </p:nvSpPr>
        <p:spPr>
          <a:xfrm>
            <a:off x="4480560" y="3063240"/>
            <a:ext cx="4937760" cy="4206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80560" y="3118104"/>
            <a:ext cx="4937760" cy="310896"/>
          </a:xfrm>
          <a:prstGeom prst="rect">
            <a:avLst/>
          </a:prstGeom>
          <a:noFill/>
        </p:spPr>
        <p:txBody>
          <a:bodyPr wrap="square">
            <a:spAutoFit/>
          </a:bodyPr>
          <a:lstStyle/>
          <a:p>
            <a:pPr algn="ctr"/>
            <a:r>
              <a:rPr sz="1400" b="0">
                <a:solidFill>
                  <a:srgbClr val="6A7788"/>
                </a:solidFill>
                <a:latin typeface="Calibri"/>
              </a:rPr>
              <a:t>☆      ☆      ☆      ☆</a:t>
            </a:r>
          </a:p>
        </p:txBody>
      </p:sp>
      <p:sp>
        <p:nvSpPr>
          <p:cNvPr id="33" name="Rounded Rectangle 32"/>
          <p:cNvSpPr/>
          <p:nvPr/>
        </p:nvSpPr>
        <p:spPr>
          <a:xfrm>
            <a:off x="9555480" y="3063240"/>
            <a:ext cx="2194560" cy="4206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11480" y="3538728"/>
            <a:ext cx="3931920" cy="420624"/>
          </a:xfrm>
          <a:prstGeom prst="roundRect">
            <a:avLst/>
          </a:prstGeom>
          <a:solidFill>
            <a:srgbClr val="E2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60" y="3611880"/>
            <a:ext cx="3657600" cy="292608"/>
          </a:xfrm>
          <a:prstGeom prst="rect">
            <a:avLst/>
          </a:prstGeom>
          <a:noFill/>
        </p:spPr>
        <p:txBody>
          <a:bodyPr wrap="square">
            <a:spAutoFit/>
          </a:bodyPr>
          <a:lstStyle/>
          <a:p>
            <a:pPr algn="l"/>
            <a:r>
              <a:rPr sz="1300" b="1">
                <a:solidFill>
                  <a:srgbClr val="16366B"/>
                </a:solidFill>
                <a:latin typeface="Calibri"/>
              </a:rPr>
              <a:t>Sight words</a:t>
            </a:r>
          </a:p>
        </p:txBody>
      </p:sp>
      <p:sp>
        <p:nvSpPr>
          <p:cNvPr id="36" name="Rounded Rectangle 35"/>
          <p:cNvSpPr/>
          <p:nvPr/>
        </p:nvSpPr>
        <p:spPr>
          <a:xfrm>
            <a:off x="4480560" y="3538728"/>
            <a:ext cx="4937760" cy="420624"/>
          </a:xfrm>
          <a:prstGeom prst="roundRect">
            <a:avLst/>
          </a:prstGeom>
          <a:solidFill>
            <a:srgbClr val="E2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80560" y="3593592"/>
            <a:ext cx="4937760" cy="310896"/>
          </a:xfrm>
          <a:prstGeom prst="rect">
            <a:avLst/>
          </a:prstGeom>
          <a:noFill/>
        </p:spPr>
        <p:txBody>
          <a:bodyPr wrap="square">
            <a:spAutoFit/>
          </a:bodyPr>
          <a:lstStyle/>
          <a:p>
            <a:pPr algn="ctr"/>
            <a:r>
              <a:rPr sz="1400" b="0">
                <a:solidFill>
                  <a:srgbClr val="6A7788"/>
                </a:solidFill>
                <a:latin typeface="Calibri"/>
              </a:rPr>
              <a:t>☆      ☆      ☆      ☆</a:t>
            </a:r>
          </a:p>
        </p:txBody>
      </p:sp>
      <p:sp>
        <p:nvSpPr>
          <p:cNvPr id="38" name="Rounded Rectangle 37"/>
          <p:cNvSpPr/>
          <p:nvPr/>
        </p:nvSpPr>
        <p:spPr>
          <a:xfrm>
            <a:off x="9555480" y="3538728"/>
            <a:ext cx="2194560" cy="420624"/>
          </a:xfrm>
          <a:prstGeom prst="roundRect">
            <a:avLst/>
          </a:prstGeom>
          <a:solidFill>
            <a:srgbClr val="E2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411480" y="4014216"/>
            <a:ext cx="3931920" cy="4206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4360" y="4087368"/>
            <a:ext cx="3657600" cy="292608"/>
          </a:xfrm>
          <a:prstGeom prst="rect">
            <a:avLst/>
          </a:prstGeom>
          <a:noFill/>
        </p:spPr>
        <p:txBody>
          <a:bodyPr wrap="square">
            <a:spAutoFit/>
          </a:bodyPr>
          <a:lstStyle/>
          <a:p>
            <a:pPr algn="l"/>
            <a:r>
              <a:rPr sz="1300" b="1">
                <a:solidFill>
                  <a:srgbClr val="16366B"/>
                </a:solidFill>
                <a:latin typeface="Calibri"/>
              </a:rPr>
              <a:t>Sentence reading</a:t>
            </a:r>
          </a:p>
        </p:txBody>
      </p:sp>
      <p:sp>
        <p:nvSpPr>
          <p:cNvPr id="41" name="Rounded Rectangle 40"/>
          <p:cNvSpPr/>
          <p:nvPr/>
        </p:nvSpPr>
        <p:spPr>
          <a:xfrm>
            <a:off x="4480560" y="4014216"/>
            <a:ext cx="4937760" cy="4206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80560" y="4069080"/>
            <a:ext cx="4937760" cy="310896"/>
          </a:xfrm>
          <a:prstGeom prst="rect">
            <a:avLst/>
          </a:prstGeom>
          <a:noFill/>
        </p:spPr>
        <p:txBody>
          <a:bodyPr wrap="square">
            <a:spAutoFit/>
          </a:bodyPr>
          <a:lstStyle/>
          <a:p>
            <a:pPr algn="ctr"/>
            <a:r>
              <a:rPr sz="1400" b="0">
                <a:solidFill>
                  <a:srgbClr val="6A7788"/>
                </a:solidFill>
                <a:latin typeface="Calibri"/>
              </a:rPr>
              <a:t>☆      ☆      ☆      ☆</a:t>
            </a:r>
          </a:p>
        </p:txBody>
      </p:sp>
      <p:sp>
        <p:nvSpPr>
          <p:cNvPr id="43" name="Rounded Rectangle 42"/>
          <p:cNvSpPr/>
          <p:nvPr/>
        </p:nvSpPr>
        <p:spPr>
          <a:xfrm>
            <a:off x="9555480" y="4014216"/>
            <a:ext cx="2194560" cy="4206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11480" y="4489704"/>
            <a:ext cx="3931920" cy="420624"/>
          </a:xfrm>
          <a:prstGeom prst="roundRect">
            <a:avLst/>
          </a:prstGeom>
          <a:solidFill>
            <a:srgbClr val="E2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4360" y="4562856"/>
            <a:ext cx="3657600" cy="292608"/>
          </a:xfrm>
          <a:prstGeom prst="rect">
            <a:avLst/>
          </a:prstGeom>
          <a:noFill/>
        </p:spPr>
        <p:txBody>
          <a:bodyPr wrap="square">
            <a:spAutoFit/>
          </a:bodyPr>
          <a:lstStyle/>
          <a:p>
            <a:pPr algn="l"/>
            <a:r>
              <a:rPr sz="1300" b="1">
                <a:solidFill>
                  <a:srgbClr val="16366B"/>
                </a:solidFill>
                <a:latin typeface="Calibri"/>
              </a:rPr>
              <a:t>Comprehension</a:t>
            </a:r>
          </a:p>
        </p:txBody>
      </p:sp>
      <p:sp>
        <p:nvSpPr>
          <p:cNvPr id="46" name="Rounded Rectangle 45"/>
          <p:cNvSpPr/>
          <p:nvPr/>
        </p:nvSpPr>
        <p:spPr>
          <a:xfrm>
            <a:off x="4480560" y="4489704"/>
            <a:ext cx="4937760" cy="420624"/>
          </a:xfrm>
          <a:prstGeom prst="roundRect">
            <a:avLst/>
          </a:prstGeom>
          <a:solidFill>
            <a:srgbClr val="E2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480560" y="4544568"/>
            <a:ext cx="4937760" cy="310896"/>
          </a:xfrm>
          <a:prstGeom prst="rect">
            <a:avLst/>
          </a:prstGeom>
          <a:noFill/>
        </p:spPr>
        <p:txBody>
          <a:bodyPr wrap="square">
            <a:spAutoFit/>
          </a:bodyPr>
          <a:lstStyle/>
          <a:p>
            <a:pPr algn="ctr"/>
            <a:r>
              <a:rPr sz="1400" b="0">
                <a:solidFill>
                  <a:srgbClr val="6A7788"/>
                </a:solidFill>
                <a:latin typeface="Calibri"/>
              </a:rPr>
              <a:t>☆      ☆      ☆      ☆</a:t>
            </a:r>
          </a:p>
        </p:txBody>
      </p:sp>
      <p:sp>
        <p:nvSpPr>
          <p:cNvPr id="48" name="Rounded Rectangle 47"/>
          <p:cNvSpPr/>
          <p:nvPr/>
        </p:nvSpPr>
        <p:spPr>
          <a:xfrm>
            <a:off x="9555480" y="4489704"/>
            <a:ext cx="2194560" cy="420624"/>
          </a:xfrm>
          <a:prstGeom prst="roundRect">
            <a:avLst/>
          </a:prstGeom>
          <a:solidFill>
            <a:srgbClr val="E2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411480" y="4965192"/>
            <a:ext cx="3931920" cy="4206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94360" y="5038344"/>
            <a:ext cx="3657600" cy="292608"/>
          </a:xfrm>
          <a:prstGeom prst="rect">
            <a:avLst/>
          </a:prstGeom>
          <a:noFill/>
        </p:spPr>
        <p:txBody>
          <a:bodyPr wrap="square">
            <a:spAutoFit/>
          </a:bodyPr>
          <a:lstStyle/>
          <a:p>
            <a:pPr algn="l"/>
            <a:r>
              <a:rPr sz="1300" b="1">
                <a:solidFill>
                  <a:srgbClr val="16366B"/>
                </a:solidFill>
                <a:latin typeface="Calibri"/>
              </a:rPr>
              <a:t>Speaking</a:t>
            </a:r>
          </a:p>
        </p:txBody>
      </p:sp>
      <p:sp>
        <p:nvSpPr>
          <p:cNvPr id="51" name="Rounded Rectangle 50"/>
          <p:cNvSpPr/>
          <p:nvPr/>
        </p:nvSpPr>
        <p:spPr>
          <a:xfrm>
            <a:off x="4480560" y="4965192"/>
            <a:ext cx="4937760" cy="4206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480560" y="5020056"/>
            <a:ext cx="4937760" cy="310896"/>
          </a:xfrm>
          <a:prstGeom prst="rect">
            <a:avLst/>
          </a:prstGeom>
          <a:noFill/>
        </p:spPr>
        <p:txBody>
          <a:bodyPr wrap="square">
            <a:spAutoFit/>
          </a:bodyPr>
          <a:lstStyle/>
          <a:p>
            <a:pPr algn="ctr"/>
            <a:r>
              <a:rPr sz="1400" b="0">
                <a:solidFill>
                  <a:srgbClr val="6A7788"/>
                </a:solidFill>
                <a:latin typeface="Calibri"/>
              </a:rPr>
              <a:t>☆      ☆      ☆      ☆</a:t>
            </a:r>
          </a:p>
        </p:txBody>
      </p:sp>
      <p:sp>
        <p:nvSpPr>
          <p:cNvPr id="53" name="Rounded Rectangle 52"/>
          <p:cNvSpPr/>
          <p:nvPr/>
        </p:nvSpPr>
        <p:spPr>
          <a:xfrm>
            <a:off x="9555480" y="4965192"/>
            <a:ext cx="2194560" cy="4206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411480" y="5440680"/>
            <a:ext cx="3931920" cy="420624"/>
          </a:xfrm>
          <a:prstGeom prst="roundRect">
            <a:avLst/>
          </a:prstGeom>
          <a:solidFill>
            <a:srgbClr val="E2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94360" y="5513832"/>
            <a:ext cx="3657600" cy="292608"/>
          </a:xfrm>
          <a:prstGeom prst="rect">
            <a:avLst/>
          </a:prstGeom>
          <a:noFill/>
        </p:spPr>
        <p:txBody>
          <a:bodyPr wrap="square">
            <a:spAutoFit/>
          </a:bodyPr>
          <a:lstStyle/>
          <a:p>
            <a:pPr algn="l"/>
            <a:r>
              <a:rPr sz="1300" b="1">
                <a:solidFill>
                  <a:srgbClr val="16366B"/>
                </a:solidFill>
                <a:latin typeface="Calibri"/>
              </a:rPr>
              <a:t>Confidence</a:t>
            </a:r>
          </a:p>
        </p:txBody>
      </p:sp>
      <p:sp>
        <p:nvSpPr>
          <p:cNvPr id="56" name="Rounded Rectangle 55"/>
          <p:cNvSpPr/>
          <p:nvPr/>
        </p:nvSpPr>
        <p:spPr>
          <a:xfrm>
            <a:off x="4480560" y="5440680"/>
            <a:ext cx="4937760" cy="420624"/>
          </a:xfrm>
          <a:prstGeom prst="roundRect">
            <a:avLst/>
          </a:prstGeom>
          <a:solidFill>
            <a:srgbClr val="E2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480560" y="5495544"/>
            <a:ext cx="4937760" cy="310896"/>
          </a:xfrm>
          <a:prstGeom prst="rect">
            <a:avLst/>
          </a:prstGeom>
          <a:noFill/>
        </p:spPr>
        <p:txBody>
          <a:bodyPr wrap="square">
            <a:spAutoFit/>
          </a:bodyPr>
          <a:lstStyle/>
          <a:p>
            <a:pPr algn="ctr"/>
            <a:r>
              <a:rPr sz="1400" b="0">
                <a:solidFill>
                  <a:srgbClr val="6A7788"/>
                </a:solidFill>
                <a:latin typeface="Calibri"/>
              </a:rPr>
              <a:t>☆      ☆      ☆      ☆</a:t>
            </a:r>
          </a:p>
        </p:txBody>
      </p:sp>
      <p:sp>
        <p:nvSpPr>
          <p:cNvPr id="58" name="Rounded Rectangle 57"/>
          <p:cNvSpPr/>
          <p:nvPr/>
        </p:nvSpPr>
        <p:spPr>
          <a:xfrm>
            <a:off x="9555480" y="5440680"/>
            <a:ext cx="2194560" cy="420624"/>
          </a:xfrm>
          <a:prstGeom prst="roundRect">
            <a:avLst/>
          </a:prstGeom>
          <a:solidFill>
            <a:srgbClr val="E2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411480" y="5916168"/>
            <a:ext cx="3931920" cy="4206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94360" y="5989320"/>
            <a:ext cx="3657600" cy="292608"/>
          </a:xfrm>
          <a:prstGeom prst="rect">
            <a:avLst/>
          </a:prstGeom>
          <a:noFill/>
        </p:spPr>
        <p:txBody>
          <a:bodyPr wrap="square">
            <a:spAutoFit/>
          </a:bodyPr>
          <a:lstStyle/>
          <a:p>
            <a:pPr algn="l"/>
            <a:r>
              <a:rPr sz="1300" b="1">
                <a:solidFill>
                  <a:srgbClr val="16366B"/>
                </a:solidFill>
                <a:latin typeface="Calibri"/>
              </a:rPr>
              <a:t>Participation</a:t>
            </a:r>
          </a:p>
        </p:txBody>
      </p:sp>
      <p:sp>
        <p:nvSpPr>
          <p:cNvPr id="61" name="Rounded Rectangle 60"/>
          <p:cNvSpPr/>
          <p:nvPr/>
        </p:nvSpPr>
        <p:spPr>
          <a:xfrm>
            <a:off x="4480560" y="5916168"/>
            <a:ext cx="4937760" cy="4206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480560" y="5971032"/>
            <a:ext cx="4937760" cy="310896"/>
          </a:xfrm>
          <a:prstGeom prst="rect">
            <a:avLst/>
          </a:prstGeom>
          <a:noFill/>
        </p:spPr>
        <p:txBody>
          <a:bodyPr wrap="square">
            <a:spAutoFit/>
          </a:bodyPr>
          <a:lstStyle/>
          <a:p>
            <a:pPr algn="ctr"/>
            <a:r>
              <a:rPr sz="1400" b="0">
                <a:solidFill>
                  <a:srgbClr val="6A7788"/>
                </a:solidFill>
                <a:latin typeface="Calibri"/>
              </a:rPr>
              <a:t>☆      ☆      ☆      ☆</a:t>
            </a:r>
          </a:p>
        </p:txBody>
      </p:sp>
      <p:sp>
        <p:nvSpPr>
          <p:cNvPr id="63" name="Rounded Rectangle 62"/>
          <p:cNvSpPr/>
          <p:nvPr/>
        </p:nvSpPr>
        <p:spPr>
          <a:xfrm>
            <a:off x="9555480" y="5916168"/>
            <a:ext cx="2194560" cy="42062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B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37744"/>
            <a:ext cx="2926080" cy="384048"/>
          </a:xfrm>
          <a:prstGeom prst="round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83464"/>
            <a:ext cx="2926080" cy="310896"/>
          </a:xfrm>
          <a:prstGeom prst="rect">
            <a:avLst/>
          </a:prstGeom>
          <a:noFill/>
        </p:spPr>
        <p:txBody>
          <a:bodyPr wrap="square">
            <a:spAutoFit/>
          </a:bodyPr>
          <a:lstStyle/>
          <a:p>
            <a:pPr algn="ctr"/>
            <a:r>
              <a:rPr sz="1200" b="1">
                <a:solidFill>
                  <a:srgbClr val="FFFFFF"/>
                </a:solidFill>
                <a:latin typeface="Calibri"/>
              </a:rPr>
              <a:t>TEACHER ONLY</a:t>
            </a:r>
          </a:p>
        </p:txBody>
      </p:sp>
      <p:sp>
        <p:nvSpPr>
          <p:cNvPr id="6" name="TextBox 5"/>
          <p:cNvSpPr txBox="1"/>
          <p:nvPr/>
        </p:nvSpPr>
        <p:spPr>
          <a:xfrm>
            <a:off x="365760" y="731520"/>
            <a:ext cx="11338560" cy="457200"/>
          </a:xfrm>
          <a:prstGeom prst="rect">
            <a:avLst/>
          </a:prstGeom>
          <a:noFill/>
        </p:spPr>
        <p:txBody>
          <a:bodyPr wrap="square">
            <a:spAutoFit/>
          </a:bodyPr>
          <a:lstStyle/>
          <a:p>
            <a:pPr algn="l"/>
            <a:r>
              <a:rPr sz="2800" b="1">
                <a:solidFill>
                  <a:srgbClr val="16366B"/>
                </a:solidFill>
                <a:latin typeface="Georgia"/>
              </a:rPr>
              <a:t>🔑 Answer Key</a:t>
            </a:r>
          </a:p>
        </p:txBody>
      </p:sp>
      <p:sp>
        <p:nvSpPr>
          <p:cNvPr id="7" name="Rectangle 6"/>
          <p:cNvSpPr/>
          <p:nvPr/>
        </p:nvSpPr>
        <p:spPr>
          <a:xfrm>
            <a:off x="0" y="6419088"/>
            <a:ext cx="12191695" cy="73152"/>
          </a:xfrm>
          <a:prstGeom prst="rect">
            <a:avLst/>
          </a:prstGeom>
          <a:solidFill>
            <a:srgbClr val="E4EA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419088"/>
            <a:ext cx="12191695" cy="73152"/>
          </a:xfrm>
          <a:prstGeom prst="rect">
            <a:avLst/>
          </a:prstGeom>
          <a:solidFill>
            <a:srgbClr val="FFC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492240"/>
            <a:ext cx="12191695" cy="365760"/>
          </a:xfrm>
          <a:prstGeom prst="rect">
            <a:avLst/>
          </a:prstGeom>
          <a:solidFill>
            <a:srgbClr val="163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6528816"/>
            <a:ext cx="10332720" cy="292608"/>
          </a:xfrm>
          <a:prstGeom prst="rect">
            <a:avLst/>
          </a:prstGeom>
          <a:noFill/>
        </p:spPr>
        <p:txBody>
          <a:bodyPr wrap="square">
            <a:spAutoFit/>
          </a:bodyPr>
          <a:lstStyle/>
          <a:p>
            <a:pPr algn="l"/>
            <a:r>
              <a:rPr sz="1000" b="0">
                <a:solidFill>
                  <a:srgbClr val="FFFFFF"/>
                </a:solidFill>
                <a:latin typeface="Calibri"/>
              </a:rPr>
              <a:t>🐻 The Bear's Reading Adventure  |  Grade 2  |  90 min  |  Answer key</a:t>
            </a:r>
          </a:p>
        </p:txBody>
      </p:sp>
      <p:sp>
        <p:nvSpPr>
          <p:cNvPr id="11" name="TextBox 10"/>
          <p:cNvSpPr txBox="1"/>
          <p:nvPr/>
        </p:nvSpPr>
        <p:spPr>
          <a:xfrm>
            <a:off x="10835640" y="6528816"/>
            <a:ext cx="1097280" cy="292608"/>
          </a:xfrm>
          <a:prstGeom prst="rect">
            <a:avLst/>
          </a:prstGeom>
          <a:noFill/>
        </p:spPr>
        <p:txBody>
          <a:bodyPr wrap="square">
            <a:spAutoFit/>
          </a:bodyPr>
          <a:lstStyle/>
          <a:p>
            <a:pPr algn="r"/>
            <a:r>
              <a:rPr sz="1000" b="0">
                <a:solidFill>
                  <a:srgbClr val="FFFFFF"/>
                </a:solidFill>
                <a:latin typeface="Calibri"/>
              </a:rPr>
              <a:t>35 / 35</a:t>
            </a:r>
          </a:p>
        </p:txBody>
      </p:sp>
      <p:sp>
        <p:nvSpPr>
          <p:cNvPr id="12" name="TextBox 11"/>
          <p:cNvSpPr txBox="1"/>
          <p:nvPr/>
        </p:nvSpPr>
        <p:spPr>
          <a:xfrm>
            <a:off x="411480" y="1225296"/>
            <a:ext cx="11338560" cy="320040"/>
          </a:xfrm>
          <a:prstGeom prst="rect">
            <a:avLst/>
          </a:prstGeom>
          <a:noFill/>
        </p:spPr>
        <p:txBody>
          <a:bodyPr wrap="square">
            <a:spAutoFit/>
          </a:bodyPr>
          <a:lstStyle/>
          <a:p>
            <a:pPr algn="l"/>
            <a:r>
              <a:rPr sz="1300" b="1">
                <a:solidFill>
                  <a:srgbClr val="E85A4F"/>
                </a:solidFill>
                <a:latin typeface="Calibri"/>
              </a:rPr>
              <a:t>TEACHER ONLY — hide this slide before presenting.</a:t>
            </a:r>
          </a:p>
        </p:txBody>
      </p:sp>
      <p:sp>
        <p:nvSpPr>
          <p:cNvPr id="13" name="Rounded Rectangle 12"/>
          <p:cNvSpPr/>
          <p:nvPr/>
        </p:nvSpPr>
        <p:spPr>
          <a:xfrm>
            <a:off x="411480" y="1572768"/>
            <a:ext cx="557784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37360"/>
            <a:ext cx="5120640" cy="365760"/>
          </a:xfrm>
          <a:prstGeom prst="rect">
            <a:avLst/>
          </a:prstGeom>
          <a:noFill/>
        </p:spPr>
        <p:txBody>
          <a:bodyPr wrap="square">
            <a:spAutoFit/>
          </a:bodyPr>
          <a:lstStyle/>
          <a:p>
            <a:pPr algn="l"/>
            <a:r>
              <a:rPr sz="1500" b="1">
                <a:solidFill>
                  <a:srgbClr val="E85A4F"/>
                </a:solidFill>
                <a:latin typeface="Calibri"/>
              </a:rPr>
              <a:t>🔤 Phonics &amp; Word Games</a:t>
            </a:r>
          </a:p>
        </p:txBody>
      </p:sp>
      <p:sp>
        <p:nvSpPr>
          <p:cNvPr id="15" name="TextBox 14"/>
          <p:cNvSpPr txBox="1"/>
          <p:nvPr/>
        </p:nvSpPr>
        <p:spPr>
          <a:xfrm>
            <a:off x="640080" y="2148840"/>
            <a:ext cx="5120640" cy="3840480"/>
          </a:xfrm>
          <a:prstGeom prst="rect">
            <a:avLst/>
          </a:prstGeom>
          <a:noFill/>
        </p:spPr>
        <p:txBody>
          <a:bodyPr wrap="square">
            <a:spAutoFit/>
          </a:bodyPr>
          <a:lstStyle/>
          <a:p>
            <a:pPr>
              <a:spcAft>
                <a:spcPts val="600"/>
              </a:spcAft>
            </a:pPr>
            <a:r>
              <a:rPr sz="1200" b="0">
                <a:solidFill>
                  <a:srgbClr val="242C38"/>
                </a:solidFill>
                <a:latin typeface="Calibri"/>
              </a:rPr>
              <a:t>•  Mystery Letter: M, B, S, T</a:t>
            </a:r>
          </a:p>
          <a:p>
            <a:pPr>
              <a:spcAft>
                <a:spcPts val="600"/>
              </a:spcAft>
            </a:pPr>
            <a:r>
              <a:rPr sz="1200" b="0">
                <a:solidFill>
                  <a:srgbClr val="242C38"/>
                </a:solidFill>
                <a:latin typeface="Calibri"/>
              </a:rPr>
              <a:t>•  First sounds: /b/, /k/, /s/, /m/</a:t>
            </a:r>
          </a:p>
          <a:p>
            <a:pPr>
              <a:spcAft>
                <a:spcPts val="600"/>
              </a:spcAft>
            </a:pPr>
            <a:r>
              <a:rPr sz="1200" b="0">
                <a:solidFill>
                  <a:srgbClr val="242C38"/>
                </a:solidFill>
                <a:latin typeface="Calibri"/>
              </a:rPr>
              <a:t>•  Sound Train: CAT, SUN, DOG, MAP</a:t>
            </a:r>
          </a:p>
          <a:p>
            <a:pPr>
              <a:spcAft>
                <a:spcPts val="600"/>
              </a:spcAft>
            </a:pPr>
            <a:r>
              <a:rPr sz="1200" b="0">
                <a:solidFill>
                  <a:srgbClr val="242C38"/>
                </a:solidFill>
                <a:latin typeface="Calibri"/>
              </a:rPr>
              <a:t>•  Feed the Bear: CAT, SUN, DOG, BIG</a:t>
            </a:r>
          </a:p>
          <a:p>
            <a:pPr>
              <a:spcAft>
                <a:spcPts val="600"/>
              </a:spcAft>
            </a:pPr>
            <a:r>
              <a:rPr sz="1200" b="0">
                <a:solidFill>
                  <a:srgbClr val="242C38"/>
                </a:solidFill>
                <a:latin typeface="Calibri"/>
              </a:rPr>
              <a:t>•  Word Hunt: each word appears 2 times</a:t>
            </a:r>
          </a:p>
          <a:p>
            <a:pPr>
              <a:spcAft>
                <a:spcPts val="600"/>
              </a:spcAft>
            </a:pPr>
            <a:r>
              <a:rPr sz="1200" b="0">
                <a:solidFill>
                  <a:srgbClr val="242C38"/>
                </a:solidFill>
                <a:latin typeface="Calibri"/>
              </a:rPr>
              <a:t>•  Word Detective: the, can, my, see</a:t>
            </a:r>
          </a:p>
          <a:p>
            <a:pPr>
              <a:spcAft>
                <a:spcPts val="600"/>
              </a:spcAft>
            </a:pPr>
            <a:r>
              <a:rPr sz="1200" b="0">
                <a:solidFill>
                  <a:srgbClr val="242C38"/>
                </a:solidFill>
                <a:latin typeface="Calibri"/>
              </a:rPr>
              <a:t>•  Memory Match: cat=CAT, sun=SUN,</a:t>
            </a:r>
          </a:p>
          <a:p>
            <a:pPr>
              <a:spcAft>
                <a:spcPts val="600"/>
              </a:spcAft>
            </a:pPr>
            <a:r>
              <a:rPr sz="1200" b="0">
                <a:solidFill>
                  <a:srgbClr val="242C38"/>
                </a:solidFill>
                <a:latin typeface="Calibri"/>
              </a:rPr>
              <a:t>•       dog=DOG, bear=BEAR</a:t>
            </a:r>
          </a:p>
        </p:txBody>
      </p:sp>
      <p:sp>
        <p:nvSpPr>
          <p:cNvPr id="16" name="Rounded Rectangle 15"/>
          <p:cNvSpPr/>
          <p:nvPr/>
        </p:nvSpPr>
        <p:spPr>
          <a:xfrm>
            <a:off x="6172200" y="1572768"/>
            <a:ext cx="557784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737360"/>
            <a:ext cx="5120640" cy="365760"/>
          </a:xfrm>
          <a:prstGeom prst="rect">
            <a:avLst/>
          </a:prstGeom>
          <a:noFill/>
        </p:spPr>
        <p:txBody>
          <a:bodyPr wrap="square">
            <a:spAutoFit/>
          </a:bodyPr>
          <a:lstStyle/>
          <a:p>
            <a:pPr algn="l"/>
            <a:r>
              <a:rPr sz="1500" b="1">
                <a:solidFill>
                  <a:srgbClr val="2E7D53"/>
                </a:solidFill>
                <a:latin typeface="Calibri"/>
              </a:rPr>
              <a:t>📖 Sentences &amp; Story</a:t>
            </a:r>
          </a:p>
        </p:txBody>
      </p:sp>
      <p:sp>
        <p:nvSpPr>
          <p:cNvPr id="18" name="TextBox 17"/>
          <p:cNvSpPr txBox="1"/>
          <p:nvPr/>
        </p:nvSpPr>
        <p:spPr>
          <a:xfrm>
            <a:off x="6400800" y="2148840"/>
            <a:ext cx="5120640" cy="3840480"/>
          </a:xfrm>
          <a:prstGeom prst="rect">
            <a:avLst/>
          </a:prstGeom>
          <a:noFill/>
        </p:spPr>
        <p:txBody>
          <a:bodyPr wrap="square">
            <a:spAutoFit/>
          </a:bodyPr>
          <a:lstStyle/>
          <a:p>
            <a:pPr>
              <a:spcAft>
                <a:spcPts val="600"/>
              </a:spcAft>
            </a:pPr>
            <a:r>
              <a:rPr sz="1200" b="0">
                <a:solidFill>
                  <a:srgbClr val="242C38"/>
                </a:solidFill>
                <a:latin typeface="Calibri"/>
              </a:rPr>
              <a:t>•  Build 1: I see a cat.</a:t>
            </a:r>
          </a:p>
          <a:p>
            <a:pPr>
              <a:spcAft>
                <a:spcPts val="600"/>
              </a:spcAft>
            </a:pPr>
            <a:r>
              <a:rPr sz="1200" b="0">
                <a:solidFill>
                  <a:srgbClr val="242C38"/>
                </a:solidFill>
                <a:latin typeface="Calibri"/>
              </a:rPr>
              <a:t>•  Build 2: The cat is big.</a:t>
            </a:r>
          </a:p>
          <a:p>
            <a:pPr>
              <a:spcAft>
                <a:spcPts val="600"/>
              </a:spcAft>
            </a:pPr>
            <a:r>
              <a:rPr sz="1200" b="0">
                <a:solidFill>
                  <a:srgbClr val="242C38"/>
                </a:solidFill>
                <a:latin typeface="Calibri"/>
              </a:rPr>
              <a:t>•  Build 3: I can run.</a:t>
            </a:r>
          </a:p>
          <a:p>
            <a:pPr>
              <a:spcAft>
                <a:spcPts val="600"/>
              </a:spcAft>
            </a:pPr>
            <a:r>
              <a:rPr sz="1200" b="0">
                <a:solidFill>
                  <a:srgbClr val="242C38"/>
                </a:solidFill>
                <a:latin typeface="Calibri"/>
              </a:rPr>
              <a:t>•  Build 4: We see the sun.</a:t>
            </a:r>
          </a:p>
          <a:p>
            <a:pPr>
              <a:spcAft>
                <a:spcPts val="600"/>
              </a:spcAft>
            </a:pPr>
            <a:r>
              <a:rPr sz="1200" b="0">
                <a:solidFill>
                  <a:srgbClr val="242C38"/>
                </a:solidFill>
                <a:latin typeface="Calibri"/>
              </a:rPr>
              <a:t>•  Build 5: My dog can run.</a:t>
            </a:r>
          </a:p>
          <a:p>
            <a:pPr>
              <a:spcAft>
                <a:spcPts val="600"/>
              </a:spcAft>
            </a:pPr>
            <a:r>
              <a:rPr sz="1200" b="0">
                <a:solidFill>
                  <a:srgbClr val="242C38"/>
                </a:solidFill>
                <a:latin typeface="Calibri"/>
              </a:rPr>
              <a:t>•  Build 6: Ben has a red ball.</a:t>
            </a:r>
          </a:p>
          <a:p>
            <a:pPr>
              <a:spcAft>
                <a:spcPts val="600"/>
              </a:spcAft>
            </a:pPr>
            <a:r>
              <a:rPr sz="1200" b="0">
                <a:solidFill>
                  <a:srgbClr val="242C38"/>
                </a:solidFill>
                <a:latin typeface="Calibri"/>
              </a:rPr>
              <a:t>•  Story Qs: Bear · Ball · Under the tree ·</a:t>
            </a:r>
          </a:p>
          <a:p>
            <a:pPr>
              <a:spcAft>
                <a:spcPts val="600"/>
              </a:spcAft>
            </a:pPr>
            <a:r>
              <a:rPr sz="1200" b="0">
                <a:solidFill>
                  <a:srgbClr val="242C38"/>
                </a:solidFill>
                <a:latin typeface="Calibri"/>
              </a:rPr>
              <a:t>•       It was gone · Happy</a:t>
            </a:r>
          </a:p>
          <a:p>
            <a:pPr>
              <a:spcAft>
                <a:spcPts val="600"/>
              </a:spcAft>
            </a:pPr>
            <a:r>
              <a:rPr sz="1200" b="0">
                <a:solidFill>
                  <a:srgbClr val="242C38"/>
                </a:solidFill>
                <a:latin typeface="Calibri"/>
              </a:rPr>
              <a:t>•  Picture match: ball · cat · tree</a:t>
            </a:r>
          </a:p>
        </p:txBody>
      </p:sp>
    </p:spTree>
  </p:cSld>
  <p:clrMapOvr>
    <a:masterClrMapping/>
  </p:clrMapOvr>
  <p:transition spd="med"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