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0–5 min     |     READING MODE: No reading required</a:t>
            </a:r>
          </a:p>
          <a:p/>
          <a:p>
            <a:r>
              <a:t>WHAT TO SAY: Hi! I am so happy to see you today. Look who came to class — it's Bunny! Bunny loves to read, and Bunny needs a reading buddy. That's going to be you.</a:t>
            </a:r>
          </a:p>
          <a:p/>
          <a:p>
            <a:r>
              <a:t>QUESTION TO ASK: Are you ready to be a Reading Explorer with Bunny?</a:t>
            </a:r>
          </a:p>
          <a:p/>
          <a:p>
            <a:r>
              <a:t>EXPECTED RESPONSE: A smile, a nod, or 'yes'. Any response is a win.</a:t>
            </a:r>
          </a:p>
          <a:p/>
          <a:p>
            <a:r>
              <a:t>IF THE CHILD STRUGGLES: If the child is shy, wave to Bunny yourself and say 'You can just wave hello.'</a:t>
            </a:r>
          </a:p>
          <a:p/>
          <a:p>
            <a:r>
              <a:t>PRAISE: I am so glad you are here. Bunny is excited too!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0–5 min     |     READING MODE: No reading required</a:t>
            </a:r>
          </a:p>
          <a:p/>
          <a:p>
            <a:r>
              <a:t>WHAT TO SAY: Here are our four friends. This is Bunny, this is Bear, this is Puppy, and this is Cat. They will help us read today. Let's say hi to each one.</a:t>
            </a:r>
          </a:p>
          <a:p/>
          <a:p>
            <a:r>
              <a:t>QUESTION TO ASK: Which friend is your favorite? Can you make a bunny sound?</a:t>
            </a:r>
          </a:p>
          <a:p/>
          <a:p>
            <a:r>
              <a:t>EXPECTED RESPONSE: The child names a favorite animal and makes a sound or a hop motion.</a:t>
            </a:r>
          </a:p>
          <a:p/>
          <a:p>
            <a:r>
              <a:t>IF THE CHILD STRUGGLES: Point to one and say 'This is Bunny. Can you say Bunny?' Keep it playful.</a:t>
            </a:r>
          </a:p>
          <a:p/>
          <a:p>
            <a:r>
              <a:t>PRAISE: Great! Bunny likes you already.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0–5 min     |     READING MODE: Speaking only, no reading</a:t>
            </a:r>
          </a:p>
          <a:p/>
          <a:p>
            <a:r>
              <a:t>WHAT TO SAY: Let's warm up our talking voices. Point to this one — what is it? Yes, a dog! Now tell me about you.</a:t>
            </a:r>
          </a:p>
          <a:p/>
          <a:p>
            <a:r>
              <a:t>QUESTION TO ASK: What do you see in the picture? What is your name? Do you like stories?</a:t>
            </a:r>
          </a:p>
          <a:p/>
          <a:p>
            <a:r>
              <a:t>EXPECTED RESPONSE: Dog, cat, sun, apple. Then short spoken answers to each question.</a:t>
            </a:r>
          </a:p>
          <a:p/>
          <a:p>
            <a:r>
              <a:t>IF THE CHILD STRUGGLES: Name the picture yourself first, then ask the child to repeat it back to you.</a:t>
            </a:r>
          </a:p>
          <a:p/>
          <a:p>
            <a:r>
              <a:t>PRAISE: You know all of these! Great talking.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5–12 min     |     READING MODE: Listen and repeat, then identify</a:t>
            </a:r>
          </a:p>
          <a:p/>
          <a:p>
            <a:r>
              <a:t>WHAT TO SAY: Let's wake up our sounds. The letter m says /m/... like map. Your turn: /m/. Now s says /s/... like sun.</a:t>
            </a:r>
          </a:p>
          <a:p/>
          <a:p>
            <a:r>
              <a:t>QUESTION TO ASK: What sound does this letter make?</a:t>
            </a:r>
          </a:p>
          <a:p/>
          <a:p>
            <a:r>
              <a:t>EXPECTED RESPONSE: The child repeats each sound, then names sounds alone when you point.</a:t>
            </a:r>
          </a:p>
          <a:p/>
          <a:p>
            <a:r>
              <a:t>IF THE CHILD STRUGGLES: Say the sound with the picture and stretch it out: 'mmmmap — /m/ /m/ /m/.' Use only four letters if attention drops.</a:t>
            </a:r>
          </a:p>
          <a:p/>
          <a:p>
            <a:r>
              <a:t>PRAISE: Your sounds are getting stronger already!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5–12 min     |     READING MODE: Listening, child points to answer</a:t>
            </a:r>
          </a:p>
          <a:p/>
          <a:p>
            <a:r>
              <a:t>WHAT TO SAY: Detective time! Look at the picture. Cccc-at. What sound do you hear at the very beginning of cat? Is it A, B, or C?</a:t>
            </a:r>
          </a:p>
          <a:p/>
          <a:p>
            <a:r>
              <a:t>QUESTION TO ASK: What sound does this word start with?</a:t>
            </a:r>
          </a:p>
          <a:p/>
          <a:p>
            <a:r>
              <a:t>EXPECTED RESPONSE: 1. /k/   2. /m/   3. /s/</a:t>
            </a:r>
          </a:p>
          <a:p/>
          <a:p>
            <a:r>
              <a:t>IF THE CHILD STRUGGLES: Stretch the first sound three times: 'ccccc-at.' Then read the three choices aloud and let the child point.</a:t>
            </a:r>
          </a:p>
          <a:p/>
          <a:p>
            <a:r>
              <a:t>PRAISE: Great job, Reading Detective!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5–12 min     |     READING MODE: Listening, child points to answer</a:t>
            </a:r>
          </a:p>
          <a:p/>
          <a:p>
            <a:r>
              <a:t>WHAT TO SAY: Three more mysteries! Tttt-ree. Which sound is at the beginning?</a:t>
            </a:r>
          </a:p>
          <a:p/>
          <a:p>
            <a:r>
              <a:t>QUESTION TO ASK: What sound do you hear first?</a:t>
            </a:r>
          </a:p>
          <a:p/>
          <a:p>
            <a:r>
              <a:t>EXPECTED RESPONSE: 4. /t/   5. /p/   6. /d/</a:t>
            </a:r>
          </a:p>
          <a:p/>
          <a:p>
            <a:r>
              <a:t>IF THE CHILD STRUGGLES: Cover one wrong choice with your finger so there are only two options left.</a:t>
            </a:r>
          </a:p>
          <a:p/>
          <a:p>
            <a:r>
              <a:t>PRAISE: You found it! Nothing gets past you.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12–20 min     |     READING MODE: I DO → WE DO → YOU DO</a:t>
            </a:r>
          </a:p>
          <a:p/>
          <a:p>
            <a:r>
              <a:t>WHAT TO SAY: Watch this. When sounds hold hands, they make a word. /k/ ... /a/ ... /t/. Now faster: /k/-/a/-/t/... CAT!</a:t>
            </a:r>
          </a:p>
          <a:p/>
          <a:p>
            <a:r>
              <a:t>QUESTION TO ASK: Can you blend them with me? What word did we make?</a:t>
            </a:r>
          </a:p>
          <a:p/>
          <a:p>
            <a:r>
              <a:t>EXPECTED RESPONSE: The child says CAT, first with you and then alone.</a:t>
            </a:r>
          </a:p>
          <a:p/>
          <a:p>
            <a:r>
              <a:t>IF THE CHILD STRUGGLES: Blend just the first two sounds: /k/ /a/ = 'ca'. Then add /t/. Sweep your finger under the letters so the child sees the left-to-right movement.</a:t>
            </a:r>
          </a:p>
          <a:p/>
          <a:p>
            <a:r>
              <a:t>PRAISE: You made the sounds turn into a word. That is reading!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12–20 min     |     READING MODE: WE DO first, then YOU DO</a:t>
            </a:r>
          </a:p>
          <a:p/>
          <a:p>
            <a:r>
              <a:t>WHAT TO SAY: Let's build words! Say each sound with me: /m/ /a/ /t/. Now blend them fast... MAT!</a:t>
            </a:r>
          </a:p>
          <a:p/>
          <a:p>
            <a:r>
              <a:t>QUESTION TO ASK: What sound is first? What word did we build?</a:t>
            </a:r>
          </a:p>
          <a:p/>
          <a:p>
            <a:r>
              <a:t>EXPECTED RESPONSE: MAT  •  SUN  •  PIG  •  DOG</a:t>
            </a:r>
          </a:p>
          <a:p/>
          <a:p>
            <a:r>
              <a:t>IF THE CHILD STRUGGLES: Cover the last letter with your hand, blend the first two, then reveal the last sound and blend all three.</a:t>
            </a:r>
          </a:p>
          <a:p/>
          <a:p>
            <a:r>
              <a:t>PRAISE: You didn't give up — and you built it!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20–28 min     |     READING MODE: WE DO, then child tries one family alone</a:t>
            </a:r>
          </a:p>
          <a:p/>
          <a:p>
            <a:r>
              <a:t>WHAT TO SAY: Look at this family. Cat, bat, mat, sat — they all end the same way. Only the first sound changes. Listen: /k/-at, /b/-at, /m/-at.</a:t>
            </a:r>
          </a:p>
          <a:p/>
          <a:p>
            <a:r>
              <a:t>QUESTION TO ASK: Can you read the next one in the family?</a:t>
            </a:r>
          </a:p>
          <a:p/>
          <a:p>
            <a:r>
              <a:t>EXPECTED RESPONSE: cat bat mat sat  •  dog log  •  sun run  •  pig big  •  hen pen</a:t>
            </a:r>
          </a:p>
          <a:p/>
          <a:p>
            <a:r>
              <a:t>IF THE CHILD STRUGGLES: Read the first word of the family yourself, then cover the first letter of the next word and reveal it slowly.</a:t>
            </a:r>
          </a:p>
          <a:p/>
          <a:p>
            <a:r>
              <a:t>PRAISE: Nice reading! You spotted the pattern.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20–28 min     |     READING MODE: Child reads the word aloud after pointing</a:t>
            </a:r>
          </a:p>
          <a:p/>
          <a:p>
            <a:r>
              <a:t>WHAT TO SAY: Bunny is hungry and only eats the right word! Look at the picture, then find the word that matches. Point to it and read it out loud.</a:t>
            </a:r>
          </a:p>
          <a:p/>
          <a:p>
            <a:r>
              <a:t>QUESTION TO ASK: Bunny wants the word CAT — can you find it?</a:t>
            </a:r>
          </a:p>
          <a:p/>
          <a:p>
            <a:r>
              <a:t>EXPECTED RESPONSE: CAT  •  SUN  •  DOG  •  PIG  •  HEN</a:t>
            </a:r>
          </a:p>
          <a:p/>
          <a:p>
            <a:r>
              <a:t>IF THE CHILD STRUGGLES: Ask what sound the word starts with, then look for that letter in the choices. Cover one wrong word so only two remain.</a:t>
            </a:r>
          </a:p>
          <a:p/>
          <a:p>
            <a:r>
              <a:t>PRAISE: You found it! Bunny says thank you. Munch munch!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20–28 min     |     READING MODE: Child reads each word after matching</a:t>
            </a:r>
          </a:p>
          <a:p/>
          <a:p>
            <a:r>
              <a:t>WHAT TO SAY: The pictures are on top and the words are on the bottom, but they are all mixed up. Point to the cat, then find the word CAT.</a:t>
            </a:r>
          </a:p>
          <a:p/>
          <a:p>
            <a:r>
              <a:t>QUESTION TO ASK: Which word goes with this picture?</a:t>
            </a:r>
          </a:p>
          <a:p/>
          <a:p>
            <a:r>
              <a:t>EXPECTED RESPONSE: 🐱 = CAT (3rd word)  •  ☀️ = SUN (4th)  •  🐷 = PIG (2nd)  •  🐶 = DOG (1st)</a:t>
            </a:r>
          </a:p>
          <a:p/>
          <a:p>
            <a:r>
              <a:t>IF THE CHILD STRUGGLES: Ask for the first sound of the picture word, then hunt for that letter in the word cards.</a:t>
            </a:r>
          </a:p>
          <a:p/>
          <a:p>
            <a:r>
              <a:t>PRAISE: Four out of four! Excellent matching.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28–35 min     |     READING MODE: Look and say, teacher models first</a:t>
            </a:r>
          </a:p>
          <a:p/>
          <a:p>
            <a:r>
              <a:t>WHAT TO SAY: These are special words. We do not sound them out — we just learn them by sight, like knowing a friend's face. This one says THE. Your turn: THE.</a:t>
            </a:r>
          </a:p>
          <a:p/>
          <a:p>
            <a:r>
              <a:t>QUESTION TO ASK: What does this word say?</a:t>
            </a:r>
          </a:p>
          <a:p/>
          <a:p>
            <a:r>
              <a:t>EXPECTED RESPONSE: I, am, a  →  the, is, my  →  can, see</a:t>
            </a:r>
          </a:p>
          <a:p/>
          <a:p>
            <a:r>
              <a:t>IF THE CHILD STRUGGLES: Cover Sets 2 and 3 with a sheet of paper. Teach Set 1 only, three times each, and reveal the next set only when Set 1 is solid. Two words truly known beats eight half-known.</a:t>
            </a:r>
          </a:p>
          <a:p/>
          <a:p>
            <a:r>
              <a:t>PRAISE: You just KNEW that word without sounding it out!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28–35 min     |     READING MODE: Child points, then says the word</a:t>
            </a:r>
          </a:p>
          <a:p/>
          <a:p>
            <a:r>
              <a:t>WHAT TO SAY: Can you catch the word I? Look at all four words and point to the one that says I.</a:t>
            </a:r>
          </a:p>
          <a:p/>
          <a:p>
            <a:r>
              <a:t>QUESTION TO ASK: Can you find the word AM? Where is THE?</a:t>
            </a:r>
          </a:p>
          <a:p/>
          <a:p>
            <a:r>
              <a:t>EXPECTED RESPONSE: 1. I (2nd)   2. am (2nd)   3. the (2nd)</a:t>
            </a:r>
          </a:p>
          <a:p/>
          <a:p>
            <a:r>
              <a:t>IF THE CHILD STRUGGLES: Say the word again slowly, then cover two wrong choices with your fingers so only two remain.</a:t>
            </a:r>
          </a:p>
          <a:p/>
          <a:p>
            <a:r>
              <a:t>PRAISE: You caught it! Nice reading.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28–35 min     |     READING MODE: Child points, then says the word</a:t>
            </a:r>
          </a:p>
          <a:p/>
          <a:p>
            <a:r>
              <a:t>WHAT TO SAY: These are tricky ones — they all start the same way! Look at the whole word, not just the first letter. Can you find CAN?</a:t>
            </a:r>
          </a:p>
          <a:p/>
          <a:p>
            <a:r>
              <a:t>QUESTION TO ASK: Where is MY? Can you find SEE?</a:t>
            </a:r>
          </a:p>
          <a:p/>
          <a:p>
            <a:r>
              <a:t>EXPECTED RESPONSE: 4. can (1st)   5. my (2nd)   6. see (2nd)</a:t>
            </a:r>
          </a:p>
          <a:p/>
          <a:p>
            <a:r>
              <a:t>IF THE CHILD STRUGGLES: Read all four choices aloud yourself, then ask again. Point out the last letter as the clue that makes them different.</a:t>
            </a:r>
          </a:p>
          <a:p/>
          <a:p>
            <a:r>
              <a:t>PRAISE: Those tricky words did not fool you!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35–38 min     |     READING MODE: Movement plus quick word pointing</a:t>
            </a:r>
          </a:p>
          <a:p/>
          <a:p>
            <a:r>
              <a:t>WHAT TO SAY: Time to wiggle! But only move if Bunny says. Bunny says touch your nose! Bunny says make the /m/ sound!</a:t>
            </a:r>
          </a:p>
          <a:p/>
          <a:p>
            <a:r>
              <a:t>QUESTION TO ASK: Bunny says point to the letter B. Bunny says read the word CAT.</a:t>
            </a:r>
          </a:p>
          <a:p/>
          <a:p>
            <a:r>
              <a:t>EXPECTED RESPONSE: The child follows the commands and points to the right letter or word.</a:t>
            </a:r>
          </a:p>
          <a:p/>
          <a:p>
            <a:r>
              <a:t>IF THE CHILD STRUGGLES: Do the movement together the first time. If they move when you did not say 'Bunny says', laugh it off — this is a rest, not a test.</a:t>
            </a:r>
          </a:p>
          <a:p/>
          <a:p>
            <a:r>
              <a:t>PRAISE: You are so quick! Ready for some reading?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38–45 min     |     READING MODE: I DO → WE DO → YOU DO</a:t>
            </a:r>
          </a:p>
          <a:p/>
          <a:p>
            <a:r>
              <a:t>WHAT TO SAY: Now we put words together to make a sentence. Watch my finger. I... am... Sam. Now let's read it together.</a:t>
            </a:r>
          </a:p>
          <a:p/>
          <a:p>
            <a:r>
              <a:t>QUESTION TO ASK: Can you read it with me? Now can you try by yourself?</a:t>
            </a:r>
          </a:p>
          <a:p/>
          <a:p>
            <a:r>
              <a:t>EXPECTED RESPONSE: I am Sam.</a:t>
            </a:r>
          </a:p>
          <a:p/>
          <a:p>
            <a:r>
              <a:t>IF THE CHILD STRUGGLES: Read the first two words and let the child finish the last one. Build up backwards from the end of the sentence.</a:t>
            </a:r>
          </a:p>
          <a:p/>
          <a:p>
            <a:r>
              <a:t>PRAISE: You read a whole sentence! That is a big jump from words.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38–45 min     |     READING MODE: WE DO, then YOU DO if comfortable</a:t>
            </a:r>
          </a:p>
          <a:p/>
          <a:p>
            <a:r>
              <a:t>WHAT TO SAY: My turn first, then we read together, then your turn. I see a cat. Now with me: I see a cat.</a:t>
            </a:r>
          </a:p>
          <a:p/>
          <a:p>
            <a:r>
              <a:t>QUESTION TO ASK: Which word says CAT? Can you read it with me?</a:t>
            </a:r>
          </a:p>
          <a:p/>
          <a:p>
            <a:r>
              <a:t>EXPECTED RESPONSE: I see a cat.  •  The dog is big.</a:t>
            </a:r>
          </a:p>
          <a:p/>
          <a:p>
            <a:r>
              <a:t>IF THE CHILD STRUGGLES: Cover all but the first word, then reveal one word at a time as the child reads. Do not correct in the middle — wait until the end of the sentence.</a:t>
            </a:r>
          </a:p>
          <a:p/>
          <a:p>
            <a:r>
              <a:t>PRAISE: Nice reading! Take your time, there is no rush.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38–45 min     |     READING MODE: YOU DO with support ready</a:t>
            </a:r>
          </a:p>
          <a:p/>
          <a:p>
            <a:r>
              <a:t>WHAT TO SAY: These two are yours. If a word feels tricky, we will sound it out together — that is what good readers do.</a:t>
            </a:r>
          </a:p>
          <a:p/>
          <a:p>
            <a:r>
              <a:t>QUESTION TO ASK: Can you read this one all by yourself?</a:t>
            </a:r>
          </a:p>
          <a:p/>
          <a:p>
            <a:r>
              <a:t>EXPECTED RESPONSE: I can run.  •  I see the sun.</a:t>
            </a:r>
          </a:p>
          <a:p/>
          <a:p>
            <a:r>
              <a:t>IF THE CHILD STRUGGLES: Break the tricky word into sounds, blend them, then say the word and ask the child to repeat it successfully. Always finish on a success.</a:t>
            </a:r>
          </a:p>
          <a:p/>
          <a:p>
            <a:r>
              <a:t>PRAISE: You read that all by yourself! I am so proud of you.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45–50 min     |     READING MODE: Reading plus picture comprehension</a:t>
            </a:r>
          </a:p>
          <a:p/>
          <a:p>
            <a:r>
              <a:t>WHAT TO SAY: Here is a park. Let's see what is in it — a sun, a tree, a dog, a ball, and a cat. Now read this sentence with me: The dog is big.</a:t>
            </a:r>
          </a:p>
          <a:p/>
          <a:p>
            <a:r>
              <a:t>QUESTION TO ASK: Can you find the dog in the picture? Which sentence tells us about the dog?</a:t>
            </a:r>
          </a:p>
          <a:p/>
          <a:p>
            <a:r>
              <a:t>EXPECTED RESPONSE: Sentence 1 is about the dog. Sentence 2 is about the sun. Sentence 3 is about the cat.</a:t>
            </a:r>
          </a:p>
          <a:p/>
          <a:p>
            <a:r>
              <a:t>IF THE CHILD STRUGGLES: Read the sentence aloud yourself, then ask the child to point to the matching picture. Pointing is easier than reading and still shows understanding.</a:t>
            </a:r>
          </a:p>
          <a:p/>
          <a:p>
            <a:r>
              <a:t>PRAISE: You found it! You are reading AND thinking.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50–56 min     |     READING MODE: WE DO, teacher models each word</a:t>
            </a:r>
          </a:p>
          <a:p/>
          <a:p>
            <a:r>
              <a:t>WHAT TO SAY: Before we read Bunny's story, let's meet the words we will see. This one is BUNNY. Bunny can hop. Your turn: BUNNY.</a:t>
            </a:r>
          </a:p>
          <a:p/>
          <a:p>
            <a:r>
              <a:t>QUESTION TO ASK: What is this word? Can you read the little sentence with me?</a:t>
            </a:r>
          </a:p>
          <a:p/>
          <a:p>
            <a:r>
              <a:t>EXPECTED RESPONSE: The child repeats each word and reads at least four of them.</a:t>
            </a:r>
          </a:p>
          <a:p/>
          <a:p>
            <a:r>
              <a:t>IF THE CHILD STRUGGLES: Cover the word and show only the picture, then reveal the word and blend it together. Skip 'happy' and 'play' if time is short.</a:t>
            </a:r>
          </a:p>
          <a:p/>
          <a:p>
            <a:r>
              <a:t>PRAISE: You already know so many of these — the story will be easy for you!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50–56 min     |     READING MODE: I DO → WE DO → child picks one line</a:t>
            </a:r>
          </a:p>
          <a:p/>
          <a:p>
            <a:r>
              <a:t>WHAT TO SAY: Story time! Bunny is going somewhere fun today. Listen while I read, then we read together, then you pick just one line to read by yourself.</a:t>
            </a:r>
          </a:p>
          <a:p/>
          <a:p>
            <a:r>
              <a:t>QUESTION TO ASK: Where is Bunny going? What does Bunny see?</a:t>
            </a:r>
          </a:p>
          <a:p/>
          <a:p>
            <a:r>
              <a:t>EXPECTED RESPONSE: Bunny goes to the park. The sun is big. Bunny sees a dog. The dog is big.</a:t>
            </a:r>
          </a:p>
          <a:p/>
          <a:p>
            <a:r>
              <a:t>IF THE CHILD STRUGGLES: Offer the shortest line: 'The sun is big.' Letting the child choose the line removes almost all the worry.</a:t>
            </a:r>
          </a:p>
          <a:p/>
          <a:p>
            <a:r>
              <a:t>PRAISE: You picked a line and read it. That is being a real reader!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50–56 min     |     READING MODE: I DO → WE DO → child reads a talking line</a:t>
            </a:r>
          </a:p>
          <a:p/>
          <a:p>
            <a:r>
              <a:t>WHAT TO SAY: Look what the dog has — a red ball! Let's find out what Bunny says.</a:t>
            </a:r>
          </a:p>
          <a:p/>
          <a:p>
            <a:r>
              <a:t>QUESTION TO ASK: What does the dog have? What do you think Bunny will say?</a:t>
            </a:r>
          </a:p>
          <a:p/>
          <a:p>
            <a:r>
              <a:t>EXPECTED RESPONSE: The dog has a red ball. Bunny runs to the dog. "Can I play?" says Bunny. "Yes!" says the dog.</a:t>
            </a:r>
          </a:p>
          <a:p/>
          <a:p>
            <a:r>
              <a:t>IF THE CHILD STRUGGLES: Explain that the marks around the words mean somebody is talking. Read the talking lines in a fun voice and let the child copy you.</a:t>
            </a:r>
          </a:p>
          <a:p/>
          <a:p>
            <a:r>
              <a:t>PRAISE: I loved your Bunny voice! That was excellent reading.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50–56 min     |     READING MODE: I DO → WE DO → child reads one or two lines</a:t>
            </a:r>
          </a:p>
          <a:p/>
          <a:p>
            <a:r>
              <a:t>WHAT TO SAY: And here is the happy ending. Bunny and the dog play together all day.</a:t>
            </a:r>
          </a:p>
          <a:p/>
          <a:p>
            <a:r>
              <a:t>QUESTION TO ASK: How does Bunny feel? Can you tell me the story in your own words?</a:t>
            </a:r>
          </a:p>
          <a:p/>
          <a:p>
            <a:r>
              <a:t>EXPECTED RESPONSE: They play with the ball. Bunny can run. Bunny is happy. It is a fun day!</a:t>
            </a:r>
          </a:p>
          <a:p/>
          <a:p>
            <a:r>
              <a:t>IF THE CHILD STRUGGLES: Retell the story together using the three story slides as picture prompts, one sentence per slide.</a:t>
            </a:r>
          </a:p>
          <a:p/>
          <a:p>
            <a:r>
              <a:t>PRAISE: You read a whole story today! Not just words — a whole story.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56–58 min     |     READING MODE: Listening and pointing, no reading needed</a:t>
            </a:r>
          </a:p>
          <a:p/>
          <a:p>
            <a:r>
              <a:t>WHAT TO SAY: Let's think about Bunny's story. Where does Bunny go? Point to your answer.</a:t>
            </a:r>
          </a:p>
          <a:p/>
          <a:p>
            <a:r>
              <a:t>QUESTION TO ASK: Where does Bunny go? What does the dog have? How does Bunny feel?</a:t>
            </a:r>
          </a:p>
          <a:p/>
          <a:p>
            <a:r>
              <a:t>EXPECTED RESPONSE: 1. Park   2. A ball   3. Happy</a:t>
            </a:r>
          </a:p>
          <a:p/>
          <a:p>
            <a:r>
              <a:t>IF THE CHILD STRUGGLES: Go back to the story slide and read the line that holds the answer, then ask again. Offer two choices instead of three if needed.</a:t>
            </a:r>
          </a:p>
          <a:p/>
          <a:p>
            <a:r>
              <a:t>PRAISE: That is exactly right! You remembered the story so well.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58–60 min     |     READING MODE: YOU DO — celebrate, never correct harshly</a:t>
            </a:r>
          </a:p>
          <a:p/>
          <a:p>
            <a:r>
              <a:t>WHAT TO SAY: Last challenge, Reading Superhero! Read as many as you can. There is no pass or fail here — every word you read is a win.</a:t>
            </a:r>
          </a:p>
          <a:p/>
          <a:p>
            <a:r>
              <a:t>QUESTION TO ASK: Can you read this word? Now can you read the sentence?</a:t>
            </a:r>
          </a:p>
          <a:p/>
          <a:p>
            <a:r>
              <a:t>EXPECTED RESPONSE: CAT, SUN, DOG, and 'I see a dog.'</a:t>
            </a:r>
          </a:p>
          <a:p/>
          <a:p>
            <a:r>
              <a:t>IF THE CHILD STRUGGLES: Sound out the first word together to build momentum, then step back and let the child lead. Count successes aloud: 'That's two! That's three!'</a:t>
            </a:r>
          </a:p>
          <a:p/>
          <a:p>
            <a:r>
              <a:t>PRAISE: You read three words! Look how much you learned in one class.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58–60 min     |     READING MODE: Speaking only</a:t>
            </a:r>
          </a:p>
          <a:p/>
          <a:p>
            <a:r>
              <a:t>WHAT TO SAY: Look at everything you can do now! Letter sounds, blending, words, sentences, a whole story, and answering questions. That is a lot for one class.</a:t>
            </a:r>
          </a:p>
          <a:p/>
          <a:p>
            <a:r>
              <a:t>QUESTION TO ASK: What was your favorite game? What word do you remember best?</a:t>
            </a:r>
          </a:p>
          <a:p/>
          <a:p>
            <a:r>
              <a:t>EXPECTED RESPONSE: The child names a favorite game and recalls at least one or two words.</a:t>
            </a:r>
          </a:p>
          <a:p/>
          <a:p>
            <a:r>
              <a:t>IF THE CHILD STRUGGLES: Prompt with the first sound: 'We read about a b... bunny!'</a:t>
            </a:r>
          </a:p>
          <a:p/>
          <a:p>
            <a:r>
              <a:t>PRAISE: You should be proud of yourself today. I certainly am!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58–60 min     |     READING MODE: Celebration only</a:t>
            </a:r>
          </a:p>
          <a:p/>
          <a:p>
            <a:r>
              <a:t>WHAT TO SAY: This badge is for you. You are officially a Reading Superstar. You read sounds, words, sentences and a whole story today, and Bunny says thank you!</a:t>
            </a:r>
          </a:p>
          <a:p/>
          <a:p>
            <a:r>
              <a:t>QUESTION TO ASK: Do you want to show this badge to your family?</a:t>
            </a:r>
          </a:p>
          <a:p/>
          <a:p>
            <a:r>
              <a:t>EXPECTED RESPONSE: A smile, a thank you, or a question about the next class.</a:t>
            </a:r>
          </a:p>
          <a:p/>
          <a:p>
            <a:r>
              <a:t>IF THE CHILD STRUGGLES: If the child seems shy about praise, name one concrete fact: 'You read three words all by yourself.'</a:t>
            </a:r>
          </a:p>
          <a:p/>
          <a:p>
            <a:r>
              <a:t>PRAISE: I am so proud of you. See you next time, Reading Explorer!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After class     |     READING MODE: Teacher record</a:t>
            </a:r>
          </a:p>
          <a:p/>
          <a:p>
            <a:r>
              <a:t>WHAT TO SAY: TEACHER SLIDE — do not display to the child.</a:t>
            </a:r>
          </a:p>
          <a:p/>
          <a:p>
            <a:r>
              <a:t>QUESTION TO ASK: Fill this in within five minutes of finishing, while the details are fresh.</a:t>
            </a:r>
          </a:p>
          <a:p/>
          <a:p>
            <a:r>
              <a:t>EXPECTED RESPONSE: A Grade 1 child who struggles with reading will often sit at Emerging for sentence reading and Developing for comprehension, because listening comprehension usually runs ahead of decoding.</a:t>
            </a:r>
          </a:p>
          <a:p/>
          <a:p>
            <a:r>
              <a:t>IF THE CHILD STRUGGLES: Record how many words and sentences were read independently in the Reading Superhero Challenge — that single number is the clearest way to show progress to the parent next lesson.</a:t>
            </a:r>
          </a:p>
          <a:p/>
          <a:p>
            <a:r>
              <a:t>PRAISE: Frame parent feedback as strengths first, then one growth area, then the plan.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Reference     |     READING MODE: Teacher only</a:t>
            </a:r>
          </a:p>
          <a:p/>
          <a:p>
            <a:r>
              <a:t>WHAT TO SAY: TEACHER SLIDE — answers for the phonics, blending, CVC and sight word games.</a:t>
            </a:r>
          </a:p>
          <a:p/>
          <a:p>
            <a:r>
              <a:t>QUESTION TO ASK: Hide this slide in PowerPoint (right-click the thumbnail, then Hide Slide) before presenting, or keep it open on a second screen.</a:t>
            </a:r>
          </a:p>
          <a:p/>
          <a:p>
            <a:r>
              <a:t>EXPECTED RESPONSE: See the slide content for all answers.</a:t>
            </a:r>
          </a:p>
          <a:p/>
          <a:p>
            <a:r>
              <a:t>IF THE CHILD STRUGGLES: Use the Sound Detective and Catch the Sight Word results to choose which sounds and words to review at the start of the next lesson.</a:t>
            </a:r>
          </a:p>
          <a:p/>
          <a:p>
            <a:r>
              <a:t>PRAISE: Reference only.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Reference     |     READING MODE: Teacher only</a:t>
            </a:r>
          </a:p>
          <a:p/>
          <a:p>
            <a:r>
              <a:t>WHAT TO SAY: TEACHER SLIDE — answers for the sentence work, Read and Find, the story and the comprehension questions.</a:t>
            </a:r>
          </a:p>
          <a:p/>
          <a:p>
            <a:r>
              <a:t>QUESTION TO ASK: Hide this slide before presenting.</a:t>
            </a:r>
          </a:p>
          <a:p/>
          <a:p>
            <a:r>
              <a:t>EXPECTED RESPONSE: See the slide content for all answers.</a:t>
            </a:r>
          </a:p>
          <a:p/>
          <a:p>
            <a:r>
              <a:t>IF THE CHILD STRUGGLES: For a child who finishes early, ask them to point to the line in the story that proves each comprehension answer.</a:t>
            </a:r>
          </a:p>
          <a:p/>
          <a:p>
            <a:r>
              <a:t>PRAISE: Reference only.</a:t>
            </a:r>
          </a:p>
          <a:p/>
          <a:p>
            <a:r>
              <a:t>NEVER say "Wrong." Say "Let's try it together," break the word into sounds, blend them, then ask the child to repeat it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" y="731520"/>
            <a:ext cx="731520" cy="731520"/>
          </a:xfrm>
          <a:prstGeom prst="ellipse">
            <a:avLst/>
          </a:prstGeom>
          <a:solidFill>
            <a:srgbClr val="33A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27080" y="777240"/>
            <a:ext cx="731520" cy="731520"/>
          </a:xfrm>
          <a:prstGeom prst="ellipse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5303520"/>
            <a:ext cx="731520" cy="731520"/>
          </a:xfrm>
          <a:prstGeom prst="ellipse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81360" y="5257800"/>
            <a:ext cx="731520" cy="731520"/>
          </a:xfrm>
          <a:prstGeom prst="ellipse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Georgia"/>
              </a:rPr>
              <a:t>Bunny's Reading Adventure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4FD"/>
                </a:solidFill>
                <a:latin typeface="Calibri"/>
              </a:rPr>
              <a:t>Grade 1  •  60 Minutes  •  You are the Reading Explorer!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3657600"/>
            <a:ext cx="5943600" cy="1143000"/>
          </a:xfrm>
          <a:prstGeom prst="roundRect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388620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Bunny needs a reading buddy today.
Are you ready? 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C733"/>
                </a:solidFill>
                <a:latin typeface="Calibri"/>
              </a:rPr>
              <a:t>🔤 Sounds  →  🧩 Words  →  📖 Sentences  →  📚 A 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19088"/>
            <a:ext cx="406389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Welcome  |  0–5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 / 30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0–5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🐰 Meet Bunny and Friends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12779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Meet Bunny  |  0–5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463040"/>
            <a:ext cx="2706624" cy="3017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783080"/>
            <a:ext cx="27066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71800"/>
            <a:ext cx="27066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8C62C6"/>
                </a:solidFill>
                <a:latin typeface="Arial Black"/>
              </a:rPr>
              <a:t>Bunny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611880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Loves to hop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46704" y="1463040"/>
            <a:ext cx="2706624" cy="3017520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46704" y="1783080"/>
            <a:ext cx="27066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42C38"/>
                </a:solidFill>
                <a:latin typeface="Calibri"/>
              </a:rPr>
              <a:t>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6704" y="2971800"/>
            <a:ext cx="27066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07A38"/>
                </a:solidFill>
                <a:latin typeface="Arial Black"/>
              </a:rPr>
              <a:t>Bear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3864" y="3611880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Loves stories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463040"/>
            <a:ext cx="2706624" cy="3017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1783080"/>
            <a:ext cx="27066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2971800"/>
            <a:ext cx="27066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9C93"/>
                </a:solidFill>
                <a:latin typeface="Arial Black"/>
              </a:rPr>
              <a:t>Puppy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611880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Loves to 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25712" y="1463040"/>
            <a:ext cx="2706624" cy="3017520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5712" y="1783080"/>
            <a:ext cx="27066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2971800"/>
            <a:ext cx="27066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3A6E8"/>
                </a:solidFill>
                <a:latin typeface="Arial Black"/>
              </a:rPr>
              <a:t>Cat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3611880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Loves to nap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709160"/>
            <a:ext cx="11292840" cy="109728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93776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These four friends will help you all class long. Say hello to each one! 👋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WARM-UP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0–5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👀 Point and Say!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219169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Point &amp; say  |  0–5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8016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7A38"/>
                </a:solidFill>
                <a:latin typeface="Calibri"/>
              </a:rPr>
              <a:t>Point to each picture and tell me what it 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783080"/>
            <a:ext cx="26974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011680"/>
            <a:ext cx="2697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546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B3560"/>
                </a:solidFill>
                <a:latin typeface="Arial Black"/>
              </a:rPr>
              <a:t>Dog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1783080"/>
            <a:ext cx="26974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011680"/>
            <a:ext cx="2697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1546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B3560"/>
                </a:solidFill>
                <a:latin typeface="Arial Black"/>
              </a:rPr>
              <a:t>Cat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783080"/>
            <a:ext cx="26974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011680"/>
            <a:ext cx="2697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1546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B3560"/>
                </a:solidFill>
                <a:latin typeface="Arial Black"/>
              </a:rPr>
              <a:t>Sun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783080"/>
            <a:ext cx="26974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011680"/>
            <a:ext cx="2697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242C38"/>
                </a:solidFill>
                <a:latin typeface="Calibri"/>
              </a:rPr>
              <a:t>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1546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B3560"/>
                </a:solidFill>
                <a:latin typeface="Arial Black"/>
              </a:rPr>
              <a:t>Apple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160520"/>
            <a:ext cx="5394960" cy="59436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27939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2C38"/>
                </a:solidFill>
                <a:latin typeface="Calibri"/>
              </a:rPr>
              <a:t>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288536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560"/>
                </a:solidFill>
                <a:latin typeface="Calibri"/>
              </a:rPr>
              <a:t>What is your name?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160520"/>
            <a:ext cx="5394960" cy="59436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427939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2C38"/>
                </a:solidFill>
                <a:latin typeface="Calibri"/>
              </a:rPr>
              <a:t>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288536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560"/>
                </a:solidFill>
                <a:latin typeface="Calibri"/>
              </a:rPr>
              <a:t>What is your favorite animal?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873752"/>
            <a:ext cx="5394960" cy="59436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99262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2C38"/>
                </a:solidFill>
                <a:latin typeface="Calibri"/>
              </a:rPr>
              <a:t>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001768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560"/>
                </a:solidFill>
                <a:latin typeface="Calibri"/>
              </a:rPr>
              <a:t>Do you like stories?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4873752"/>
            <a:ext cx="5394960" cy="59436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499262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5001768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560"/>
                </a:solidFill>
                <a:latin typeface="Calibri"/>
              </a:rPr>
              <a:t>Can you make a bunny sound?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PHONICS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5–12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🔤 Letter Sound Warm-Up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625559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Letter sounds  |  5–12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I say the sound → You say the sound. Then I point → You tell me!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755648"/>
            <a:ext cx="2743200" cy="2029968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1847088"/>
            <a:ext cx="1188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E85C86"/>
                </a:solidFill>
                <a:latin typeface="Arial Black"/>
              </a:rP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04825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/m/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816352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9535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🗺️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99008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560"/>
                </a:solidFill>
                <a:latin typeface="Calibri"/>
              </a:rPr>
              <a:t>map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9272" y="1755648"/>
            <a:ext cx="2743200" cy="2029968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1847088"/>
            <a:ext cx="1188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6B21B"/>
                </a:solidFill>
                <a:latin typeface="Arial Black"/>
              </a:rP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204825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/s/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56432" y="2816352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3592" y="29535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299008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560"/>
                </a:solidFill>
                <a:latin typeface="Calibri"/>
              </a:rPr>
              <a:t>sun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7064" y="1755648"/>
            <a:ext cx="2743200" cy="2029968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1847088"/>
            <a:ext cx="1188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3F9E5C"/>
                </a:solidFill>
                <a:latin typeface="Arial Black"/>
              </a:rPr>
              <a:t>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4384" y="204825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/t/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64224" y="2816352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1384" y="29535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299008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560"/>
                </a:solidFill>
                <a:latin typeface="Calibri"/>
              </a:rPr>
              <a:t>tree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34856" y="1755648"/>
            <a:ext cx="2743200" cy="2029968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44584" y="1847088"/>
            <a:ext cx="1188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E85C86"/>
                </a:solidFill>
                <a:latin typeface="Arial Black"/>
              </a:rPr>
              <a:t>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176" y="204825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/p/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72016" y="2816352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09176" y="29535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0696" y="299008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560"/>
                </a:solidFill>
                <a:latin typeface="Calibri"/>
              </a:rPr>
              <a:t>pig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3968496"/>
            <a:ext cx="2743200" cy="2029968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1208" y="4059936"/>
            <a:ext cx="1188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33A6E8"/>
                </a:solidFill>
                <a:latin typeface="Arial Black"/>
              </a:rPr>
              <a:t>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426110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/k/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029200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166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520293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560"/>
                </a:solidFill>
                <a:latin typeface="Calibri"/>
              </a:rPr>
              <a:t>cat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19272" y="3968496"/>
            <a:ext cx="2743200" cy="2029968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29000" y="4059936"/>
            <a:ext cx="1188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07A38"/>
                </a:solidFill>
                <a:latin typeface="Arial Black"/>
              </a:rPr>
              <a:t>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36592" y="426110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/b/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56432" y="5029200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93592" y="5166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25112" y="520293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560"/>
                </a:solidFill>
                <a:latin typeface="Calibri"/>
              </a:rPr>
              <a:t>bear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27064" y="3968496"/>
            <a:ext cx="2743200" cy="2029968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36792" y="4059936"/>
            <a:ext cx="1188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009C93"/>
                </a:solidFill>
                <a:latin typeface="Arial Black"/>
              </a:rPr>
              <a:t>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44384" y="426110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/d/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64224" y="5029200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01384" y="5166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32904" y="520293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560"/>
                </a:solidFill>
                <a:latin typeface="Calibri"/>
              </a:rPr>
              <a:t>dog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34856" y="3968496"/>
            <a:ext cx="2743200" cy="2029968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44584" y="4059936"/>
            <a:ext cx="1188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8C62C6"/>
                </a:solidFill>
                <a:latin typeface="Arial Black"/>
              </a:rPr>
              <a:t>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52176" y="426110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/r/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72016" y="5029200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09176" y="5166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40696" y="520293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560"/>
                </a:solidFill>
                <a:latin typeface="Calibri"/>
              </a:rPr>
              <a:t>rabbit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5–12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🎯 Game: Sound Detective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031949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Sound detective  |  5–12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7A38"/>
                </a:solidFill>
                <a:latin typeface="Calibri"/>
              </a:rPr>
              <a:t>What sound do you hear at the BEGINNING?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85416"/>
            <a:ext cx="548640" cy="548640"/>
          </a:xfrm>
          <a:prstGeom prst="ellipse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585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1488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167128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560"/>
                </a:solidFill>
                <a:latin typeface="Arial Black"/>
              </a:rPr>
              <a:t>CAT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2093976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22128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A.  /m/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093976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22128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B.  /k/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2093976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2128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C.  /s/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319272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3721608"/>
            <a:ext cx="548640" cy="548640"/>
          </a:xfrm>
          <a:prstGeom prst="ellipse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7947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685032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42C38"/>
                </a:solidFill>
                <a:latin typeface="Calibri"/>
              </a:rPr>
              <a:t>🗺️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703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560"/>
                </a:solidFill>
                <a:latin typeface="Arial Black"/>
              </a:rPr>
              <a:t>MAP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0" y="3630168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3749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A.  /m/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20" y="3630168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3749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B.  /p/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0" y="3630168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0" y="3749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C.  /b/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855464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5800" y="5257800"/>
            <a:ext cx="548640" cy="548640"/>
          </a:xfrm>
          <a:prstGeom prst="ellipse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3309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5221224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523951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560"/>
                </a:solidFill>
                <a:latin typeface="Arial Black"/>
              </a:rPr>
              <a:t>SUN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0" y="5166360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0" y="52852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A.  /s/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60920" y="5166360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60920" y="52852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B.  /p/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01200" y="5166360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0" y="52852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C.  /d/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5–12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🎯 Sound Detective — Round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438339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Sound detective  |  5–12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7A38"/>
                </a:solidFill>
                <a:latin typeface="Calibri"/>
              </a:rPr>
              <a:t>What sound do you hear at the BEGINNING?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85416"/>
            <a:ext cx="548640" cy="548640"/>
          </a:xfrm>
          <a:prstGeom prst="ellipse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585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1488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42C38"/>
                </a:solidFill>
                <a:latin typeface="Calibri"/>
              </a:rPr>
              <a:t>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167128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560"/>
                </a:solidFill>
                <a:latin typeface="Arial Black"/>
              </a:rPr>
              <a:t>TREE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2093976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22128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A.  /t/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093976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22128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B.  /s/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2093976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2128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C.  /m/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319272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3721608"/>
            <a:ext cx="548640" cy="548640"/>
          </a:xfrm>
          <a:prstGeom prst="ellipse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7947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685032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42C38"/>
                </a:solidFill>
                <a:latin typeface="Calibri"/>
              </a:rPr>
              <a:t>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703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560"/>
                </a:solidFill>
                <a:latin typeface="Arial Black"/>
              </a:rPr>
              <a:t>PIG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0" y="3630168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3749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A.  /b/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20" y="3630168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3749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B.  /p/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0" y="3630168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0" y="3749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C.  /t/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855464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5800" y="5257800"/>
            <a:ext cx="548640" cy="548640"/>
          </a:xfrm>
          <a:prstGeom prst="ellipse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3309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5221224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523951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560"/>
                </a:solidFill>
                <a:latin typeface="Arial Black"/>
              </a:rPr>
              <a:t>DOG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0" y="5166360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0" y="52852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A.  /d/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60920" y="5166360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60920" y="52852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B.  /k/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01200" y="5166360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0" y="52852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C.  /m/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PHONICS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12–20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🎵 Sounds Hold Hands: Blending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844728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Blending  |  12–20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1129284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34440" y="1691640"/>
            <a:ext cx="1737360" cy="1645920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1810512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33A6E8"/>
                </a:solidFill>
                <a:latin typeface="Arial Black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697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/k/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21031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1691640"/>
            <a:ext cx="1737360" cy="1645920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1810512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E85C86"/>
                </a:solidFill>
                <a:latin typeface="Arial Black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97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/a/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21031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1691640"/>
            <a:ext cx="1737360" cy="1645920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1810512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3F9E5C"/>
                </a:solidFill>
                <a:latin typeface="Arial Black"/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697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/t/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10312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07A38"/>
                </a:solidFill>
                <a:latin typeface="Calibri"/>
              </a:rPr>
              <a:t>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1691640"/>
            <a:ext cx="2514600" cy="164592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1810512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B3560"/>
                </a:solidFill>
                <a:latin typeface="Arial Black"/>
              </a:rPr>
              <a:t>CAT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69748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931920"/>
            <a:ext cx="3566160" cy="137160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5993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1️⃣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4988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3560"/>
                </a:solidFill>
                <a:latin typeface="Calibri"/>
              </a:rPr>
              <a:t>I blend 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90118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B3560"/>
                </a:solidFill>
                <a:latin typeface="Calibri"/>
              </a:rPr>
              <a:t>Listen and follow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3931920"/>
            <a:ext cx="3566160" cy="137160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405993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2️⃣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4988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3560"/>
                </a:solidFill>
                <a:latin typeface="Calibri"/>
              </a:rPr>
              <a:t>We blend 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90118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B3560"/>
                </a:solidFill>
                <a:latin typeface="Calibri"/>
              </a:rPr>
              <a:t>Say it with 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3931920"/>
            <a:ext cx="3566160" cy="1371600"/>
          </a:xfrm>
          <a:prstGeom prst="roundRect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405993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3️⃣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4988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YOU blend it!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90118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Your turn 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53212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7A38"/>
                </a:solidFill>
                <a:latin typeface="Calibri"/>
              </a:rPr>
              <a:t>🐢 Slow:  /k/ ... /a/ ... /t/        🐇 Fast:  CAT!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A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33A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12–20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🔤 Game: Build the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251118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Build the word  |  12–20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Say each sound, then push them together!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1901952"/>
            <a:ext cx="1325880" cy="694944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938528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5C86"/>
                </a:solidFill>
                <a:latin typeface="Arial Black"/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30428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/m/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66544" y="2011680"/>
            <a:ext cx="237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04288" y="1901952"/>
            <a:ext cx="1325880" cy="694944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04288" y="1938528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5C86"/>
                </a:solidFill>
                <a:latin typeface="Arial Black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4288" y="230428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/a/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2011680"/>
            <a:ext cx="237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77056" y="1901952"/>
            <a:ext cx="1325880" cy="694944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77056" y="1938528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5C86"/>
                </a:solidFill>
                <a:latin typeface="Arial Black"/>
              </a:rPr>
              <a:t>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77056" y="230428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/t/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199339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7A38"/>
                </a:solidFill>
                <a:latin typeface="Calibri"/>
              </a:rPr>
              <a:t>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1901952"/>
            <a:ext cx="2468880" cy="69494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975104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B3560"/>
                </a:solidFill>
                <a:latin typeface="Arial Black"/>
              </a:rPr>
              <a:t>MAT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195681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87000" y="1993392"/>
            <a:ext cx="1280160" cy="5029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87000" y="206654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42C38"/>
                </a:solidFill>
                <a:latin typeface="Calibri"/>
              </a:rPr>
              <a:t>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2907791"/>
            <a:ext cx="112928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1520" y="3072383"/>
            <a:ext cx="1325880" cy="69494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108959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6B21B"/>
                </a:solidFill>
                <a:latin typeface="Arial Black"/>
              </a:rPr>
              <a:t>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47471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/s/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66544" y="3182111"/>
            <a:ext cx="237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04288" y="3072383"/>
            <a:ext cx="1325880" cy="69494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04288" y="3108959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6B21B"/>
                </a:solidFill>
                <a:latin typeface="Arial Black"/>
              </a:rPr>
              <a:t>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04288" y="347471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/u/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9312" y="3182111"/>
            <a:ext cx="237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77056" y="3072383"/>
            <a:ext cx="1325880" cy="69494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77056" y="3108959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6B21B"/>
                </a:solidFill>
                <a:latin typeface="Arial Black"/>
              </a:rPr>
              <a:t>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77056" y="347471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/n/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3163823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7A38"/>
                </a:solidFill>
                <a:latin typeface="Calibri"/>
              </a:rPr>
              <a:t>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92240" y="3072383"/>
            <a:ext cx="2468880" cy="69494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3145535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B3560"/>
                </a:solidFill>
                <a:latin typeface="Arial Black"/>
              </a:rPr>
              <a:t>SUN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3127247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287000" y="3163823"/>
            <a:ext cx="1280160" cy="5029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87000" y="3236975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42C38"/>
                </a:solidFill>
                <a:latin typeface="Calibri"/>
              </a:rPr>
              <a:t>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078224"/>
            <a:ext cx="112928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31520" y="4242816"/>
            <a:ext cx="1325880" cy="694944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427939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7A38"/>
                </a:solidFill>
                <a:latin typeface="Arial Black"/>
              </a:rPr>
              <a:t>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64515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/p/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66544" y="4352544"/>
            <a:ext cx="237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304288" y="4242816"/>
            <a:ext cx="1325880" cy="694944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04288" y="427939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7A38"/>
                </a:solidFill>
                <a:latin typeface="Arial Black"/>
              </a:rPr>
              <a:t>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04288" y="464515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/i/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39312" y="4352544"/>
            <a:ext cx="237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77056" y="4242816"/>
            <a:ext cx="1325880" cy="694944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77056" y="427939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7A38"/>
                </a:solidFill>
                <a:latin typeface="Arial Black"/>
              </a:rPr>
              <a:t>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77056" y="464515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/g/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77840" y="433425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7A38"/>
                </a:solidFill>
                <a:latin typeface="Calibri"/>
              </a:rPr>
              <a:t>➡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92240" y="4242816"/>
            <a:ext cx="2468880" cy="69494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92240" y="4315968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B3560"/>
                </a:solidFill>
                <a:latin typeface="Arial Black"/>
              </a:rPr>
              <a:t>PIG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35440" y="429768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🐷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287000" y="4334256"/>
            <a:ext cx="1280160" cy="5029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87000" y="440740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42C38"/>
                </a:solidFill>
                <a:latin typeface="Calibri"/>
              </a:rPr>
              <a:t>⭐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" y="5248656"/>
            <a:ext cx="112928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31520" y="5413248"/>
            <a:ext cx="1325880" cy="694944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" y="544982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C93"/>
                </a:solidFill>
                <a:latin typeface="Arial Black"/>
              </a:rPr>
              <a:t>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" y="581558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/d/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66544" y="5522976"/>
            <a:ext cx="237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304288" y="5413248"/>
            <a:ext cx="1325880" cy="694944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304288" y="544982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C93"/>
                </a:solidFill>
                <a:latin typeface="Arial Black"/>
              </a:rPr>
              <a:t>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04288" y="581558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/o/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39312" y="5522976"/>
            <a:ext cx="237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877056" y="5413248"/>
            <a:ext cx="1325880" cy="694944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877056" y="544982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C93"/>
                </a:solidFill>
                <a:latin typeface="Arial Black"/>
              </a:rPr>
              <a:t>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77056" y="581558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/g/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77840" y="550468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7A38"/>
                </a:solidFill>
                <a:latin typeface="Calibri"/>
              </a:rPr>
              <a:t>➡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92240" y="5413248"/>
            <a:ext cx="2468880" cy="69494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92240" y="548640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B3560"/>
                </a:solidFill>
                <a:latin typeface="Arial Black"/>
              </a:rPr>
              <a:t>DOG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235440" y="5468112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287000" y="5504688"/>
            <a:ext cx="1280160" cy="5029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287000" y="55778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42C38"/>
                </a:solidFill>
                <a:latin typeface="Calibri"/>
              </a:rPr>
              <a:t>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20–28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🧩 Word Families — Words That Rhyme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657508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Word families  |  20–28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Change the first sound and you get a brand new word!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2121408" cy="3977639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21214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606040"/>
            <a:ext cx="1389888" cy="502920"/>
          </a:xfrm>
          <a:prstGeom prst="roundRect">
            <a:avLst/>
          </a:prstGeom>
          <a:solidFill>
            <a:srgbClr val="33A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688336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- 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46120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10128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cat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67911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31919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bat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89704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553712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mat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111496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75504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sat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1783080"/>
            <a:ext cx="2121408" cy="3977639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1965960"/>
            <a:ext cx="21214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0" y="2606040"/>
            <a:ext cx="1389888" cy="502920"/>
          </a:xfrm>
          <a:prstGeom prst="round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2688336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- 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6080" y="3246120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0" y="3310128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dog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3867911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3931919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log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0" y="1783080"/>
            <a:ext cx="2121408" cy="3977639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1965960"/>
            <a:ext cx="21214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94960" y="2606040"/>
            <a:ext cx="1389888" cy="502920"/>
          </a:xfrm>
          <a:prstGeom prst="round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4960" y="2688336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- un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12080" y="3246120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12080" y="3310128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sun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12080" y="3867911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0" y="3931919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run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0" y="1783080"/>
            <a:ext cx="2121408" cy="3977639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0" y="1965960"/>
            <a:ext cx="21214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🐷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80960" y="2606040"/>
            <a:ext cx="1389888" cy="502920"/>
          </a:xfrm>
          <a:prstGeom prst="roundRect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0960" y="2688336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- ig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80" y="3246120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98080" y="3310128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pig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98080" y="3867911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0" y="3931919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big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01200" y="1783080"/>
            <a:ext cx="2121408" cy="3977639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01200" y="1965960"/>
            <a:ext cx="21214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66960" y="2606040"/>
            <a:ext cx="1389888" cy="502920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66960" y="2688336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- en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784080" y="3246120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84080" y="3310128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hen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784080" y="3867911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84080" y="3931919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pen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20–28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🐰 Game: Feed the Bunny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063898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Feed the bunny  |  20–28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070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Bunny is hungry! Find the right word and feed it to Bunny.  ⭐ 5 stars to win!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64208"/>
            <a:ext cx="112928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18288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184708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188366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7A38"/>
                </a:solidFill>
                <a:latin typeface="Calibri"/>
              </a:rPr>
              <a:t>Find  CAT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179222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18470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CAT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179222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18470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DOG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59" y="179222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18470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SUN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624328"/>
            <a:ext cx="112928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27889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80720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284378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7A38"/>
                </a:solidFill>
                <a:latin typeface="Calibri"/>
              </a:rPr>
              <a:t>Find  SUN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275234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2807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MAT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78040" y="275234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2807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SUN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9759" y="275234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2807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PIG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584448"/>
            <a:ext cx="112928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37490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76732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48840" y="380390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7A38"/>
                </a:solidFill>
                <a:latin typeface="Calibri"/>
              </a:rPr>
              <a:t>Find  DOG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46320" y="371246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37673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DOG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78040" y="371246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8040" y="37673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BIG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09759" y="371246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37673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HEN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544568"/>
            <a:ext cx="112928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" y="4709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472744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42C38"/>
                </a:solidFill>
                <a:latin typeface="Calibri"/>
              </a:rPr>
              <a:t>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48840" y="476402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7A38"/>
                </a:solidFill>
                <a:latin typeface="Calibri"/>
              </a:rPr>
              <a:t>Find  PIG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46320" y="467258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46320" y="472744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RUN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78040" y="467258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78040" y="472744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PIG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09759" y="467258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09759" y="472744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BAT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504688"/>
            <a:ext cx="112928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" y="56692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0" y="568756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42C38"/>
                </a:solidFill>
                <a:latin typeface="Calibri"/>
              </a:rPr>
              <a:t>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48840" y="572414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7A38"/>
                </a:solidFill>
                <a:latin typeface="Calibri"/>
              </a:rPr>
              <a:t>Find  HEN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846320" y="563270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46320" y="568756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LOG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178040" y="563270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78040" y="568756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HEN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509759" y="563270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09759" y="568756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PEN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20–28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🧩 Game: Match the Word to the Picture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470288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Match it  |  20–28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The words got mixed up! Match each picture to its word.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1783080"/>
            <a:ext cx="2560320" cy="178308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031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1783080"/>
            <a:ext cx="2560320" cy="178308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031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783080"/>
            <a:ext cx="2560320" cy="178308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1031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1783080"/>
            <a:ext cx="2560320" cy="178308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59" y="21031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977639"/>
            <a:ext cx="25603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206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B3560"/>
                </a:solidFill>
                <a:latin typeface="Arial Black"/>
              </a:rPr>
              <a:t>DOG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3977639"/>
            <a:ext cx="25603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4206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B3560"/>
                </a:solidFill>
                <a:latin typeface="Arial Black"/>
              </a:rPr>
              <a:t>PIG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977639"/>
            <a:ext cx="25603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206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B3560"/>
                </a:solidFill>
                <a:latin typeface="Arial Black"/>
              </a:rPr>
              <a:t>CAT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59" y="3977639"/>
            <a:ext cx="25603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59" y="4206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B3560"/>
                </a:solidFill>
                <a:latin typeface="Arial Black"/>
              </a:rPr>
              <a:t>SUN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257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C93"/>
                </a:solidFill>
                <a:latin typeface="Calibri"/>
              </a:rPr>
              <a:t>Draw a line in the air from each picture to its word! ✏️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SIGHT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28–35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👀 Sight Words — Just Know Them!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876678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Sight words  |  28–35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These words we do NOT sound out. We just know them by sight!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37160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148840"/>
            <a:ext cx="1371600" cy="502920"/>
          </a:xfrm>
          <a:prstGeom prst="round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23113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Set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2011680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214884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9C93"/>
                </a:solidFill>
                <a:latin typeface="Arial Black"/>
              </a:rPr>
              <a:t>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60" y="2011680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214884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9C93"/>
                </a:solidFill>
                <a:latin typeface="Arial Black"/>
              </a:rPr>
              <a:t>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79" y="2011680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79" y="214884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9C93"/>
                </a:solidFill>
                <a:latin typeface="Arial Black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18688"/>
            <a:ext cx="11292840" cy="137160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3630168"/>
            <a:ext cx="1371600" cy="502920"/>
          </a:xfrm>
          <a:prstGeom prst="roundRect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7124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Set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7440" y="3493008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0" y="3630168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85C86"/>
                </a:solidFill>
                <a:latin typeface="Arial Black"/>
              </a:rPr>
              <a:t>the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9160" y="3493008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3630168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85C86"/>
                </a:solidFill>
                <a:latin typeface="Arial Black"/>
              </a:rPr>
              <a:t>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79" y="3493008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79" y="3630168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85C86"/>
                </a:solidFill>
                <a:latin typeface="Arial Black"/>
              </a:rPr>
              <a:t>my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700016"/>
            <a:ext cx="11292840" cy="137160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8368" y="5111496"/>
            <a:ext cx="1371600" cy="502920"/>
          </a:xfrm>
          <a:prstGeom prst="roundRect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1937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Set 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77440" y="4974336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77440" y="5111496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8C62C6"/>
                </a:solidFill>
                <a:latin typeface="Arial Black"/>
              </a:rPr>
              <a:t>can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09160" y="4974336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60" y="5111496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8C62C6"/>
                </a:solidFill>
                <a:latin typeface="Arial Black"/>
              </a:rPr>
              <a:t>see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28–35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👀 Game: Catch the Sight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283067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Catch the word  |  28–35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Careful — the other words look almost the same!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85416"/>
            <a:ext cx="548640" cy="548640"/>
          </a:xfrm>
          <a:prstGeom prst="ellipse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585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C93"/>
                </a:solidFill>
                <a:latin typeface="Calibri"/>
              </a:rPr>
              <a:t>Find  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2093976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2221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cat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2093976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2221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093976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2221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dog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12680" y="2093976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2221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sun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319272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3721608"/>
            <a:ext cx="548640" cy="548640"/>
          </a:xfrm>
          <a:prstGeom prst="ellipse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7947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73075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C93"/>
                </a:solidFill>
                <a:latin typeface="Calibri"/>
              </a:rPr>
              <a:t>Find  am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0" y="3630168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0" y="375818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0760" y="3630168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375818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am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630168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375818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12680" y="3630168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12680" y="375818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and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855464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5800" y="5257800"/>
            <a:ext cx="548640" cy="548640"/>
          </a:xfrm>
          <a:prstGeom prst="ellipse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3309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26694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C93"/>
                </a:solidFill>
                <a:latin typeface="Calibri"/>
              </a:rPr>
              <a:t>Find  the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0" y="5166360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0" y="5294376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then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80760" y="5166360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5294376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the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5166360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5294376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they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12680" y="5166360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12680" y="5294376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this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28–35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👀 Catch the Sight Word — Round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689457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Catch the word  |  28–35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14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Careful — the other words look almost the same!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85416"/>
            <a:ext cx="548640" cy="548640"/>
          </a:xfrm>
          <a:prstGeom prst="ellipse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585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C93"/>
                </a:solidFill>
                <a:latin typeface="Calibri"/>
              </a:rPr>
              <a:t>Find  can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2093976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2221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can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2093976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2221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cat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093976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2221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cap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12680" y="2093976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2221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car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319272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3721608"/>
            <a:ext cx="548640" cy="548640"/>
          </a:xfrm>
          <a:prstGeom prst="ellipse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7947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73075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C93"/>
                </a:solidFill>
                <a:latin typeface="Calibri"/>
              </a:rPr>
              <a:t>Find  my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0" y="3630168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0" y="375818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0760" y="3630168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375818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my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630168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375818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may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12680" y="3630168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12680" y="375818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man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855464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5800" y="5257800"/>
            <a:ext cx="548640" cy="548640"/>
          </a:xfrm>
          <a:prstGeom prst="ellipse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3309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26694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C93"/>
                </a:solidFill>
                <a:latin typeface="Calibri"/>
              </a:rPr>
              <a:t>Find  see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0" y="5166360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0" y="5294376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sea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80760" y="5166360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5294376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see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5166360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5294376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saw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12680" y="5166360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12680" y="5294376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so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35–38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🐰 Brain Break: Bunny Says!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095847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Bunny says  |  35–38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15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Do it only if Bunny says! Stay by your desk. 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97763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2002536"/>
            <a:ext cx="438912" cy="438912"/>
          </a:xfrm>
          <a:prstGeom prst="ellipse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05740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03911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Bunny says touch your nose.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1783080"/>
            <a:ext cx="397763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46320" y="2002536"/>
            <a:ext cx="438912" cy="438912"/>
          </a:xfrm>
          <a:prstGeom prst="ellipse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05740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203911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Bunny says clap 3 times.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834639"/>
            <a:ext cx="397763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3054095"/>
            <a:ext cx="438912" cy="438912"/>
          </a:xfrm>
          <a:prstGeom prst="ellipse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108959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090671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Bunny says hop like a bunny.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2834639"/>
            <a:ext cx="397763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46320" y="3054095"/>
            <a:ext cx="438912" cy="438912"/>
          </a:xfrm>
          <a:prstGeom prst="ellipse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3108959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3090671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Bunny says point to the letter B.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886200"/>
            <a:ext cx="397763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080" y="4105656"/>
            <a:ext cx="438912" cy="438912"/>
          </a:xfrm>
          <a:prstGeom prst="ellipse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1605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414223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Bunny says make the /m/ sound.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63440" y="3886200"/>
            <a:ext cx="397763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46320" y="4105656"/>
            <a:ext cx="438912" cy="438912"/>
          </a:xfrm>
          <a:prstGeom prst="ellipse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0" y="41605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414223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Bunny says read the word CAT.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400" y="1783080"/>
            <a:ext cx="2834640" cy="324612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8280" y="19385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560"/>
                </a:solidFill>
                <a:latin typeface="Calibri"/>
              </a:rPr>
              <a:t>Point to these: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2395728"/>
            <a:ext cx="23774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24688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Arial Black"/>
              </a:rPr>
              <a:t>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0" y="3035808"/>
            <a:ext cx="23774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0" y="31089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Arial Black"/>
              </a:rPr>
              <a:t>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3675887"/>
            <a:ext cx="23774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0" y="3749039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Arial Black"/>
              </a:rPr>
              <a:t>CAT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0" y="4315968"/>
            <a:ext cx="23774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0" y="43891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Arial Black"/>
              </a:rPr>
              <a:t>SUN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166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C93"/>
                </a:solidFill>
                <a:latin typeface="Calibri"/>
              </a:rPr>
              <a:t>🎵 Fast and silly — three minutes only, then back to reading!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A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33A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38–45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📖 Now We Read Sentences!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502237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Sentences  |  38–45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16 /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1129284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783080"/>
            <a:ext cx="137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42C38"/>
                </a:solidFill>
                <a:latin typeface="Calibri"/>
              </a:rPr>
              <a:t>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1965960"/>
            <a:ext cx="9052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B3560"/>
                </a:solidFill>
                <a:latin typeface="Arial Black"/>
              </a:rPr>
              <a:t>I am Sam.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77639"/>
            <a:ext cx="3566160" cy="137160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05655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1️⃣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44567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3560"/>
                </a:solidFill>
                <a:latin typeface="Calibri"/>
              </a:rPr>
              <a:t>I read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46903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B3560"/>
                </a:solidFill>
                <a:latin typeface="Calibri"/>
              </a:rPr>
              <a:t>Listen and follow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977639"/>
            <a:ext cx="3566160" cy="137160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105655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2️⃣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544567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3560"/>
                </a:solidFill>
                <a:latin typeface="Calibri"/>
              </a:rPr>
              <a:t>We read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946903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B3560"/>
                </a:solidFill>
                <a:latin typeface="Calibri"/>
              </a:rPr>
              <a:t>Say it with 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977639"/>
            <a:ext cx="3566160" cy="1371600"/>
          </a:xfrm>
          <a:prstGeom prst="roundRect">
            <a:avLst/>
          </a:prstGeom>
          <a:solidFill>
            <a:srgbClr val="33A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105655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3️⃣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544567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YOU read it!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946903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Your turn 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57784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7A38"/>
                </a:solidFill>
                <a:latin typeface="Calibri"/>
              </a:rPr>
              <a:t>👉 Point under each word as you read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38–45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🤝 Read With 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908627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Sentences  |  38–45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17 /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463040"/>
            <a:ext cx="11292840" cy="214884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01168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965960"/>
            <a:ext cx="7315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B3560"/>
                </a:solidFill>
                <a:latin typeface="Arial Black"/>
              </a:rPr>
              <a:t>I see a cat.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2148840"/>
            <a:ext cx="1828800" cy="685800"/>
          </a:xfrm>
          <a:prstGeom prst="round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read 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40480"/>
            <a:ext cx="11292840" cy="2148840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8912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343400"/>
            <a:ext cx="7315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B3560"/>
                </a:solidFill>
                <a:latin typeface="Arial Black"/>
              </a:rPr>
              <a:t>The dog is big.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4526280"/>
            <a:ext cx="1828800" cy="685800"/>
          </a:xfrm>
          <a:prstGeom prst="roundRect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read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38–45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⭐ Your Turn to 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315017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Sentences  |  38–45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18 /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463040"/>
            <a:ext cx="11292840" cy="2148840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01168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965960"/>
            <a:ext cx="7315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B3560"/>
                </a:solidFill>
                <a:latin typeface="Arial Black"/>
              </a:rPr>
              <a:t>I can run.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2148840"/>
            <a:ext cx="1828800" cy="685800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read 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40480"/>
            <a:ext cx="11292840" cy="21488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8912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343400"/>
            <a:ext cx="7315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B3560"/>
                </a:solidFill>
                <a:latin typeface="Arial Black"/>
              </a:rPr>
              <a:t>I see the sun.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4526280"/>
            <a:ext cx="1828800" cy="685800"/>
          </a:xfrm>
          <a:prstGeom prst="round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read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45–50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🔎 Game: Read and Find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721406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Read &amp; find  |  45–50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19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Look at the park. Read the sentence, then find it in the picture!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64208"/>
            <a:ext cx="5760720" cy="4160520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224528"/>
            <a:ext cx="5760720" cy="1600200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057400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794760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42C38"/>
                </a:solidFill>
                <a:latin typeface="Calibri"/>
              </a:rPr>
              <a:t>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69080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297680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42C38"/>
                </a:solidFill>
                <a:latin typeface="Calibri"/>
              </a:rPr>
              <a:t>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4160520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132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🌳 The Park — can you find the dog?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1783080"/>
            <a:ext cx="530352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02082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B3560"/>
                </a:solidFill>
                <a:latin typeface="Calibri"/>
              </a:rPr>
              <a:t>The dog is big.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07040" y="1947672"/>
            <a:ext cx="914400" cy="566928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0" y="200253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2834639"/>
            <a:ext cx="530352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072383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B3560"/>
                </a:solidFill>
                <a:latin typeface="Calibri"/>
              </a:rPr>
              <a:t>I see the sun.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07040" y="2999231"/>
            <a:ext cx="914400" cy="566928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07040" y="3054095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3886200"/>
            <a:ext cx="530352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412394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B3560"/>
                </a:solidFill>
                <a:latin typeface="Calibri"/>
              </a:rPr>
              <a:t>The cat is on the mat.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07040" y="4050792"/>
            <a:ext cx="914400" cy="566928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07040" y="410565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4983480"/>
            <a:ext cx="5303520" cy="82296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513892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560"/>
                </a:solidFill>
                <a:latin typeface="Calibri"/>
              </a:rPr>
              <a:t>Which sentence tells us about the dog?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VOCAB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50–56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📚 Story Words — Get Ready for Bunny's Story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127796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Story words  |  50–56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20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These words are in Bunny's story. Let's meet them first!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691640"/>
            <a:ext cx="2743200" cy="21031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8013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C62C6"/>
                </a:solidFill>
                <a:latin typeface="Arial Black"/>
              </a:rPr>
              <a:t>bunny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88A"/>
                </a:solidFill>
                <a:latin typeface="Calibri"/>
              </a:rPr>
              <a:t>bun - ny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64408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2841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Bunny can hop.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9272" y="1691640"/>
            <a:ext cx="2743200" cy="21031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18013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0712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C62C6"/>
                </a:solidFill>
                <a:latin typeface="Arial Black"/>
              </a:rPr>
              <a:t>park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88A"/>
                </a:solidFill>
                <a:latin typeface="Calibri"/>
              </a:rPr>
              <a:t>p - ar - 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56432" y="3264408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6432" y="332841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I see the park.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7064" y="1691640"/>
            <a:ext cx="2743200" cy="21031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18013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C62C6"/>
                </a:solidFill>
                <a:latin typeface="Arial Black"/>
              </a:rPr>
              <a:t>dog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88A"/>
                </a:solidFill>
                <a:latin typeface="Calibri"/>
              </a:rPr>
              <a:t>d - o - 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64224" y="3264408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332841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The dog is big.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34856" y="1691640"/>
            <a:ext cx="2743200" cy="21031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26296" y="18013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6296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C62C6"/>
                </a:solidFill>
                <a:latin typeface="Arial Black"/>
              </a:rPr>
              <a:t>ball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6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88A"/>
                </a:solidFill>
                <a:latin typeface="Calibri"/>
              </a:rPr>
              <a:t>b - all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72016" y="3264408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72016" y="332841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I see a ball.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3977639"/>
            <a:ext cx="2743200" cy="21031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087367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6634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C62C6"/>
                </a:solidFill>
                <a:latin typeface="Arial Black"/>
              </a:rPr>
              <a:t>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2120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88A"/>
                </a:solidFill>
                <a:latin typeface="Calibri"/>
              </a:rPr>
              <a:t>r - e - 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550407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61441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My ball is red.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19272" y="3977639"/>
            <a:ext cx="2743200" cy="21031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10712" y="4087367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10712" y="46634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C62C6"/>
                </a:solidFill>
                <a:latin typeface="Arial Black"/>
              </a:rPr>
              <a:t>run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10712" y="52120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88A"/>
                </a:solidFill>
                <a:latin typeface="Calibri"/>
              </a:rPr>
              <a:t>r - u - 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56432" y="5550407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56432" y="561441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I can run.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27064" y="3977639"/>
            <a:ext cx="2743200" cy="21031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18504" y="4087367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18504" y="46634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C62C6"/>
                </a:solidFill>
                <a:latin typeface="Arial Black"/>
              </a:rPr>
              <a:t>play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18504" y="52120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88A"/>
                </a:solidFill>
                <a:latin typeface="Calibri"/>
              </a:rPr>
              <a:t>p - l - ay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64224" y="5550407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64224" y="561441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We can play.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34856" y="3977639"/>
            <a:ext cx="2743200" cy="21031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26296" y="4087367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26296" y="46634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C62C6"/>
                </a:solidFill>
                <a:latin typeface="Arial Black"/>
              </a:rPr>
              <a:t>happy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26296" y="52120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88A"/>
                </a:solidFill>
                <a:latin typeface="Calibri"/>
              </a:rPr>
              <a:t>hap - py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72016" y="5550407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72016" y="561441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Bunny is happy.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50–56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📚 Bunny Goes to the Park — Part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534186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Part 1  |  50–56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21 /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813816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627632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Bunny goes to the park.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468880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The sun is big.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10128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Bunny can hop.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51376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Bunny sees a dog.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92624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The dog is big.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371600"/>
            <a:ext cx="2926080" cy="4526280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19202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611880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371246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560"/>
                </a:solidFill>
                <a:latin typeface="Calibri"/>
              </a:rPr>
              <a:t>1️⃣  I read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4270248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43708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560"/>
                </a:solidFill>
                <a:latin typeface="Calibri"/>
              </a:rPr>
              <a:t>2️⃣  We read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4928616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560"/>
                </a:solidFill>
                <a:latin typeface="Calibri"/>
              </a:rPr>
              <a:t>3️⃣  You pick ONE line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A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33A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50–56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📚 Bunny Goes to the Park — Part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940576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Part 2  |  50–56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22 /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813816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627632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The dog has a red ball.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468880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Bunny runs to the dog.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10128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"Can I play?" says Bunny.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51376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"Yes!" says the dog.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92624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The dog can run.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371600"/>
            <a:ext cx="2926080" cy="4526280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19202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42C38"/>
                </a:solidFill>
                <a:latin typeface="Calibri"/>
              </a:rPr>
              <a:t>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611880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371246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560"/>
                </a:solidFill>
                <a:latin typeface="Calibri"/>
              </a:rPr>
              <a:t>1️⃣  I read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4270248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43708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560"/>
                </a:solidFill>
                <a:latin typeface="Calibri"/>
              </a:rPr>
              <a:t>2️⃣  We read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4928616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560"/>
                </a:solidFill>
                <a:latin typeface="Calibri"/>
              </a:rPr>
              <a:t>3️⃣  You pick ONE line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50–56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📚 Bunny Goes to the Park — Part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346966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Part 3  |  50–56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23 /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813816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627632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They play with the ball.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468880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Bunny can run and hop.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10128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It is a fun day!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51376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Bunny is happy.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92624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The dog is happy too.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371600"/>
            <a:ext cx="2926080" cy="452628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19202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42C38"/>
                </a:solidFill>
                <a:latin typeface="Calibri"/>
              </a:rPr>
              <a:t>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611880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371246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560"/>
                </a:solidFill>
                <a:latin typeface="Calibri"/>
              </a:rPr>
              <a:t>1️⃣  I read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4270248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43708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560"/>
                </a:solidFill>
                <a:latin typeface="Calibri"/>
              </a:rPr>
              <a:t>2️⃣  We read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4928616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560"/>
                </a:solidFill>
                <a:latin typeface="Calibri"/>
              </a:rPr>
              <a:t>3️⃣  You pick ONE line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THINK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56–58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🧩 Story Questions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753356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Comprehension  |  56–58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24 /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417320"/>
            <a:ext cx="11292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1874520"/>
            <a:ext cx="548640" cy="548640"/>
          </a:xfrm>
          <a:prstGeom prst="ellipse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19476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189280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560"/>
                </a:solidFill>
                <a:latin typeface="Calibri"/>
              </a:rPr>
              <a:t>Where does Bunny go?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1673352"/>
            <a:ext cx="2011680" cy="96012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17647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2037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School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673352"/>
            <a:ext cx="2011680" cy="96012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17647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22037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Park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673352"/>
            <a:ext cx="2011680" cy="96012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17647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2037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Store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044952"/>
            <a:ext cx="11292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" y="3502152"/>
            <a:ext cx="548640" cy="548640"/>
          </a:xfrm>
          <a:prstGeom prst="ellipse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57530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35204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560"/>
                </a:solidFill>
                <a:latin typeface="Calibri"/>
              </a:rPr>
              <a:t>What does the dog have?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12080" y="3300984"/>
            <a:ext cx="2011680" cy="96012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0" y="339242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8313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A ball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3300984"/>
            <a:ext cx="2011680" cy="96012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339242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0" y="38313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A book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3300984"/>
            <a:ext cx="2011680" cy="96012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0" y="339242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8313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A hat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672584"/>
            <a:ext cx="11292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8368" y="5129784"/>
            <a:ext cx="548640" cy="548640"/>
          </a:xfrm>
          <a:prstGeom prst="ellipse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520293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5148072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560"/>
                </a:solidFill>
                <a:latin typeface="Calibri"/>
              </a:rPr>
              <a:t>How does Bunny feel?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12080" y="4928616"/>
            <a:ext cx="2011680" cy="96012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50200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54589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Happy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06640" y="4928616"/>
            <a:ext cx="2011680" cy="96012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0" y="50200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0" y="54589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Sad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01200" y="4928616"/>
            <a:ext cx="2011680" cy="96012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0" y="50200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54589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Angry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58–60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⭐ Reading Superhero Challenge!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159745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Final challenge  |  58–60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25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Read as many as you can. Every one counts! 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11292840" cy="182880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8470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560"/>
                </a:solidFill>
                <a:latin typeface="Calibri"/>
              </a:rPr>
              <a:t>3 WORDS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286000"/>
            <a:ext cx="33832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4688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07A38"/>
                </a:solidFill>
                <a:latin typeface="Arial Black"/>
              </a:rPr>
              <a:t>CAT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2286000"/>
            <a:ext cx="33832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24688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07A38"/>
                </a:solidFill>
                <a:latin typeface="Arial Black"/>
              </a:rPr>
              <a:t>SUN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2286000"/>
            <a:ext cx="33832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4688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07A38"/>
                </a:solidFill>
                <a:latin typeface="Arial Black"/>
              </a:rPr>
              <a:t>DOG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03320"/>
            <a:ext cx="11292840" cy="196596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587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560"/>
                </a:solidFill>
                <a:latin typeface="Calibri"/>
              </a:rPr>
              <a:t>1 SENTENCE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343400"/>
            <a:ext cx="106527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617720"/>
            <a:ext cx="10195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B3560"/>
                </a:solidFill>
                <a:latin typeface="Arial Black"/>
              </a:rPr>
              <a:t>I see a dog.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5806440"/>
            <a:ext cx="2423160" cy="457200"/>
          </a:xfrm>
          <a:prstGeom prst="round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587959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⭐ Every one counts!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58–60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✅ Today I Can...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566135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Recap  |  58–60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26 /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508760"/>
            <a:ext cx="35661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28800" y="1709928"/>
            <a:ext cx="822960" cy="822960"/>
          </a:xfrm>
          <a:prstGeom prst="ellipse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1837944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651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F9E5C"/>
                </a:solidFill>
                <a:latin typeface="Calibri"/>
              </a:rPr>
              <a:t>Say letter sounds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1508760"/>
            <a:ext cx="35661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23560" y="1709928"/>
            <a:ext cx="822960" cy="822960"/>
          </a:xfrm>
          <a:prstGeom prst="ellipse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1837944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651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F9E5C"/>
                </a:solidFill>
                <a:latin typeface="Calibri"/>
              </a:rPr>
              <a:t>Blend sounds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508760"/>
            <a:ext cx="35661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18320" y="1709928"/>
            <a:ext cx="822960" cy="822960"/>
          </a:xfrm>
          <a:prstGeom prst="ellipse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837944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651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F9E5C"/>
                </a:solidFill>
                <a:latin typeface="Calibri"/>
              </a:rPr>
              <a:t>Read words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703320"/>
            <a:ext cx="35661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828800" y="3904488"/>
            <a:ext cx="822960" cy="822960"/>
          </a:xfrm>
          <a:prstGeom prst="ellipse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4032504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46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F9E5C"/>
                </a:solidFill>
                <a:latin typeface="Calibri"/>
              </a:rPr>
              <a:t>Read sentences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1960" y="3703320"/>
            <a:ext cx="35661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23560" y="3904488"/>
            <a:ext cx="822960" cy="822960"/>
          </a:xfrm>
          <a:prstGeom prst="ellipse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3560" y="4032504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846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F9E5C"/>
                </a:solidFill>
                <a:latin typeface="Calibri"/>
              </a:rPr>
              <a:t>Read a story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3703320"/>
            <a:ext cx="35661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18320" y="3904488"/>
            <a:ext cx="822960" cy="822960"/>
          </a:xfrm>
          <a:prstGeom prst="ellipse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4032504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846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F9E5C"/>
                </a:solidFill>
                <a:latin typeface="Calibri"/>
              </a:rPr>
              <a:t>Answer questions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94360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🗣️ What was your favorite game today? What word do you remember?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777240"/>
            <a:ext cx="731520" cy="731520"/>
          </a:xfrm>
          <a:prstGeom prst="ellipse">
            <a:avLst/>
          </a:prstGeom>
          <a:solidFill>
            <a:srgbClr val="33A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777240"/>
            <a:ext cx="731520" cy="731520"/>
          </a:xfrm>
          <a:prstGeom prst="ellipse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5257800"/>
            <a:ext cx="731520" cy="731520"/>
          </a:xfrm>
          <a:prstGeom prst="ellipse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5640" y="5212080"/>
            <a:ext cx="731520" cy="731520"/>
          </a:xfrm>
          <a:prstGeom prst="ellipse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C733"/>
                </a:solidFill>
                <a:latin typeface="Georgia"/>
              </a:rPr>
              <a:t>🏅 READING SUPERSTAR 🏅</a:t>
            </a:r>
          </a:p>
        </p:txBody>
      </p:sp>
      <p:sp>
        <p:nvSpPr>
          <p:cNvPr id="9" name="Oval 8"/>
          <p:cNvSpPr/>
          <p:nvPr/>
        </p:nvSpPr>
        <p:spPr>
          <a:xfrm>
            <a:off x="4956048" y="1783080"/>
            <a:ext cx="2286000" cy="2286000"/>
          </a:xfrm>
          <a:prstGeom prst="ellipse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8" y="22402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Great job, Reading Explorer!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92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You helped Bunny finish every reading challenge!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681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3F4FD"/>
                </a:solidFill>
                <a:latin typeface="Calibri"/>
              </a:rPr>
              <a:t>Sounds ⭐ Words ⭐ Sentences ⭐ A Whole 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19088"/>
            <a:ext cx="10972525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Badge  |  58–60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27 / 30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TEACHER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📋 How Did We Do Today?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378915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28 /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7A38"/>
                </a:solidFill>
                <a:latin typeface="Calibri"/>
              </a:rPr>
              <a:t>TEACHER ONLY — do not show this slide to the child. Record progress, not failure.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645920"/>
            <a:ext cx="4206240" cy="457200"/>
          </a:xfrm>
          <a:prstGeom prst="round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737360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SKILL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645920"/>
            <a:ext cx="2148840" cy="457200"/>
          </a:xfrm>
          <a:prstGeom prst="round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737360"/>
            <a:ext cx="2148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Emerging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1645920"/>
            <a:ext cx="2148840" cy="457200"/>
          </a:xfrm>
          <a:prstGeom prst="round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737360"/>
            <a:ext cx="2148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Developing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645920"/>
            <a:ext cx="2377440" cy="457200"/>
          </a:xfrm>
          <a:prstGeom prst="round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737360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Good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194560"/>
            <a:ext cx="42062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286000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Letter sounds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2194560"/>
            <a:ext cx="21488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226771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2194560"/>
            <a:ext cx="21488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226771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2194560"/>
            <a:ext cx="23774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22677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2761488"/>
            <a:ext cx="42062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852928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Blending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2761488"/>
            <a:ext cx="21488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28346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2761488"/>
            <a:ext cx="21488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0" y="28346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2761488"/>
            <a:ext cx="23774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3328415"/>
            <a:ext cx="42062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419855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CVC words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0" y="3328415"/>
            <a:ext cx="21488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3401567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0880" y="3328415"/>
            <a:ext cx="21488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3401567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26880" y="3328415"/>
            <a:ext cx="23774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3401567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3895344"/>
            <a:ext cx="42062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3986784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Sight words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54880" y="3895344"/>
            <a:ext cx="21488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0" y="3968496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40880" y="3895344"/>
            <a:ext cx="21488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40880" y="3968496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26880" y="3895344"/>
            <a:ext cx="23774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0" y="396849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4462272"/>
            <a:ext cx="42062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553712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Sentence reading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54880" y="4462272"/>
            <a:ext cx="21488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0" y="4535424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40880" y="4462272"/>
            <a:ext cx="21488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40880" y="4535424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326880" y="4462272"/>
            <a:ext cx="23774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26880" y="453542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1480" y="5029200"/>
            <a:ext cx="42062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120640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Comprehension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754880" y="5029200"/>
            <a:ext cx="21488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54880" y="510235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040880" y="5029200"/>
            <a:ext cx="21488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40880" y="510235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326880" y="5029200"/>
            <a:ext cx="23774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26880" y="51023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11480" y="5596127"/>
            <a:ext cx="42062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5687567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Confidence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754880" y="5596127"/>
            <a:ext cx="21488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54880" y="5669279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040880" y="5596127"/>
            <a:ext cx="21488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40880" y="5669279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326880" y="5596127"/>
            <a:ext cx="23774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0" y="56692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 NOT SHOW 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🔑 Teacher Answer Key — Part 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785305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Answer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29 /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7A38"/>
                </a:solidFill>
                <a:latin typeface="Calibri"/>
              </a:rPr>
              <a:t>TEACHER ANSWER KEY — DO NOT SHOW STUDENT. Hide this slide before presenting.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572768"/>
            <a:ext cx="557784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5C86"/>
                </a:solidFill>
                <a:latin typeface="Calibri"/>
              </a:rPr>
              <a:t>🎯 Phonics &amp; Blending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Sound Detective 1. CAT = /k/  (B)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Sound Detective 2. MAP = /m/  (A)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Sound Detective 3. SUN = /s/  (A)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Sound Detective 4. TREE = /t/  (A)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Sound Detective 5. PIG = /p/  (B)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Sound Detective 6. DOG = /d/  (A)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Build the Word: MAT, SUN, PIG, DOG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Letter sounds: m s t p c b d 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572768"/>
            <a:ext cx="557784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C93"/>
                </a:solidFill>
                <a:latin typeface="Calibri"/>
              </a:rPr>
              <a:t>🐰 Word &amp; Sight Word Games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Feed the Bunny: CAT, SUN, DOG, PIG, HEN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Match the Word: cat=CAT, sun=SUN,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     pig=PIG, dog=DOG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Catch the Sight Word 1. I (2nd)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Catch the Sight Word 2. am (2nd)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Catch the Sight Word 3. the (2nd)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Catch the Sight Word 4. can (1st)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Catch the Sight Word 5. my (2nd)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Catch the Sight Word 6. see (2nd)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 NOT SHOW 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🔑 Teacher Answer Key — Part 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Answer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30 /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7A38"/>
                </a:solidFill>
                <a:latin typeface="Calibri"/>
              </a:rPr>
              <a:t>TEACHER ANSWER KEY — DO NOT SHOW STUDENT.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572768"/>
            <a:ext cx="557784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3A6E8"/>
                </a:solidFill>
                <a:latin typeface="Calibri"/>
              </a:rPr>
              <a:t>📖 Sentences &amp; Read and Find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Sentences taught: I am Sam. / I see a cat. /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     The dog is big. / I can run. /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     My cat is red. / I see the sun.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Read &amp; Find scene: sun, tree, dog, ball, cat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"The dog is big." → the dog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"I see the sun." → the sun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"The cat is on the mat." → the cat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Final challenge: CAT, SUN, DOG,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     "I see a dog."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572768"/>
            <a:ext cx="557784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F9E5C"/>
                </a:solidFill>
                <a:latin typeface="Calibri"/>
              </a:rPr>
              <a:t>📚 Story &amp; Comprehension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Story: "Bunny Goes to the Park" (61 words)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Q1. Where does Bunny go?  →  B. Park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Q2. What does the dog have?  →  A. A ball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Q3. How does Bunny feel?  →  A. Happy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Story words: bunny, park, dog, ball,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     red, run, play, happy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Accept any reasonable spoken phrasing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     for the comprehension answers.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