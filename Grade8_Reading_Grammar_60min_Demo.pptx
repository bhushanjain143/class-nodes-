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91695" cy="155448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515600" cy="457200"/>
          </a:xfrm>
          <a:prstGeom prst="rect">
            <a:avLst/>
          </a:prstGeom>
          <a:noFill/>
        </p:spPr>
        <p:txBody>
          <a:bodyPr wrap="square">
            <a:spAutoFit/>
          </a:bodyPr>
          <a:lstStyle/>
          <a:p>
            <a:pPr algn="l"/>
            <a:r>
              <a:rPr sz="1600" b="1">
                <a:solidFill>
                  <a:srgbClr val="2A9D8F"/>
                </a:solidFill>
                <a:latin typeface="Calibri"/>
              </a:rPr>
              <a:t>60-MINUTE DEMO SESSION</a:t>
            </a:r>
          </a:p>
        </p:txBody>
      </p:sp>
      <p:sp>
        <p:nvSpPr>
          <p:cNvPr id="5" name="TextBox 4"/>
          <p:cNvSpPr txBox="1"/>
          <p:nvPr/>
        </p:nvSpPr>
        <p:spPr>
          <a:xfrm>
            <a:off x="731520" y="2011680"/>
            <a:ext cx="10515600" cy="1097280"/>
          </a:xfrm>
          <a:prstGeom prst="rect">
            <a:avLst/>
          </a:prstGeom>
          <a:noFill/>
        </p:spPr>
        <p:txBody>
          <a:bodyPr wrap="square">
            <a:spAutoFit/>
          </a:bodyPr>
          <a:lstStyle/>
          <a:p>
            <a:pPr algn="l"/>
            <a:r>
              <a:rPr sz="4400" b="1">
                <a:solidFill>
                  <a:srgbClr val="FFFFFF"/>
                </a:solidFill>
                <a:latin typeface="Georgia"/>
              </a:rPr>
              <a:t>Reading Content &amp;
Grammar Mastery</a:t>
            </a:r>
          </a:p>
        </p:txBody>
      </p:sp>
      <p:sp>
        <p:nvSpPr>
          <p:cNvPr id="6" name="TextBox 5"/>
          <p:cNvSpPr txBox="1"/>
          <p:nvPr/>
        </p:nvSpPr>
        <p:spPr>
          <a:xfrm>
            <a:off x="731520" y="4206240"/>
            <a:ext cx="10515600" cy="457200"/>
          </a:xfrm>
          <a:prstGeom prst="rect">
            <a:avLst/>
          </a:prstGeom>
          <a:noFill/>
        </p:spPr>
        <p:txBody>
          <a:bodyPr wrap="square">
            <a:spAutoFit/>
          </a:bodyPr>
          <a:lstStyle/>
          <a:p>
            <a:pPr algn="l"/>
            <a:r>
              <a:rPr sz="1800" b="0">
                <a:solidFill>
                  <a:srgbClr val="C5D4E8"/>
                </a:solidFill>
                <a:latin typeface="Calibri"/>
              </a:rPr>
              <a:t>Grade 8  •  U.S. Curriculum Aligned  •  Interactive Demo</a:t>
            </a:r>
          </a:p>
        </p:txBody>
      </p:sp>
      <p:sp>
        <p:nvSpPr>
          <p:cNvPr id="7" name="TextBox 6"/>
          <p:cNvSpPr txBox="1"/>
          <p:nvPr/>
        </p:nvSpPr>
        <p:spPr>
          <a:xfrm>
            <a:off x="731520" y="5669280"/>
            <a:ext cx="10515600" cy="365760"/>
          </a:xfrm>
          <a:prstGeom prst="rect">
            <a:avLst/>
          </a:prstGeom>
          <a:noFill/>
        </p:spPr>
        <p:txBody>
          <a:bodyPr wrap="square">
            <a:spAutoFit/>
          </a:bodyPr>
          <a:lstStyle/>
          <a:p>
            <a:pPr algn="l"/>
            <a:r>
              <a:rPr sz="1600" b="0">
                <a:solidFill>
                  <a:srgbClr val="FFFFFF"/>
                </a:solidFill>
                <a:latin typeface="Calibri"/>
              </a:rPr>
              <a:t>Goal: Build stronger reading comprehension and confident grammar skills</a:t>
            </a:r>
          </a:p>
        </p:txBody>
      </p:sp>
      <p:sp>
        <p:nvSpPr>
          <p:cNvPr id="8" name="TextBox 7"/>
          <p:cNvSpPr txBox="1"/>
          <p:nvPr/>
        </p:nvSpPr>
        <p:spPr>
          <a:xfrm>
            <a:off x="731520" y="6126480"/>
            <a:ext cx="10515600" cy="320040"/>
          </a:xfrm>
          <a:prstGeom prst="rect">
            <a:avLst/>
          </a:prstGeom>
          <a:noFill/>
        </p:spPr>
        <p:txBody>
          <a:bodyPr wrap="square">
            <a:spAutoFit/>
          </a:bodyPr>
          <a:lstStyle/>
          <a:p>
            <a:pPr algn="l"/>
            <a:r>
              <a:rPr sz="1400" b="0">
                <a:solidFill>
                  <a:srgbClr val="E0F2EF"/>
                </a:solidFill>
                <a:latin typeface="Calibri"/>
              </a:rPr>
              <a:t>Designed for students who are already good at English and ready to level 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SESSION ROADMAP</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Total: 60 min</a:t>
            </a:r>
          </a:p>
        </p:txBody>
      </p:sp>
      <p:sp>
        <p:nvSpPr>
          <p:cNvPr id="8" name="TextBox 7"/>
          <p:cNvSpPr txBox="1"/>
          <p:nvPr/>
        </p:nvSpPr>
        <p:spPr>
          <a:xfrm>
            <a:off x="457200" y="822960"/>
            <a:ext cx="10972800" cy="548640"/>
          </a:xfrm>
          <a:prstGeom prst="rect">
            <a:avLst/>
          </a:prstGeom>
          <a:noFill/>
        </p:spPr>
        <p:txBody>
          <a:bodyPr wrap="square">
            <a:spAutoFit/>
          </a:bodyPr>
          <a:lstStyle/>
          <a:p>
            <a:pPr algn="l"/>
            <a:r>
              <a:rPr sz="3200" b="1">
                <a:solidFill>
                  <a:srgbClr val="1B3A5F"/>
                </a:solidFill>
                <a:latin typeface="Georgia"/>
              </a:rPr>
              <a:t>Today's Agenda</a:t>
            </a:r>
          </a:p>
        </p:txBody>
      </p:sp>
      <p:sp>
        <p:nvSpPr>
          <p:cNvPr id="9" name="Rounded Rectangle 8"/>
          <p:cNvSpPr/>
          <p:nvPr/>
        </p:nvSpPr>
        <p:spPr>
          <a:xfrm>
            <a:off x="457200" y="1645920"/>
            <a:ext cx="35661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645920"/>
            <a:ext cx="137160" cy="192024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74520"/>
            <a:ext cx="3017520" cy="365760"/>
          </a:xfrm>
          <a:prstGeom prst="rect">
            <a:avLst/>
          </a:prstGeom>
          <a:noFill/>
        </p:spPr>
        <p:txBody>
          <a:bodyPr wrap="square">
            <a:spAutoFit/>
          </a:bodyPr>
          <a:lstStyle/>
          <a:p>
            <a:pPr algn="l"/>
            <a:r>
              <a:rPr sz="1400" b="1">
                <a:solidFill>
                  <a:srgbClr val="2A9D8F"/>
                </a:solidFill>
                <a:latin typeface="Calibri"/>
              </a:rPr>
              <a:t>05 min</a:t>
            </a:r>
          </a:p>
        </p:txBody>
      </p:sp>
      <p:sp>
        <p:nvSpPr>
          <p:cNvPr id="12" name="TextBox 11"/>
          <p:cNvSpPr txBox="1"/>
          <p:nvPr/>
        </p:nvSpPr>
        <p:spPr>
          <a:xfrm>
            <a:off x="777240" y="2286000"/>
            <a:ext cx="3017520" cy="457200"/>
          </a:xfrm>
          <a:prstGeom prst="rect">
            <a:avLst/>
          </a:prstGeom>
          <a:noFill/>
        </p:spPr>
        <p:txBody>
          <a:bodyPr wrap="square">
            <a:spAutoFit/>
          </a:bodyPr>
          <a:lstStyle/>
          <a:p>
            <a:pPr algn="l"/>
            <a:r>
              <a:rPr sz="2000" b="1">
                <a:solidFill>
                  <a:srgbClr val="1B3A5F"/>
                </a:solidFill>
                <a:latin typeface="Calibri"/>
              </a:rPr>
              <a:t>Warm-Up</a:t>
            </a:r>
          </a:p>
        </p:txBody>
      </p:sp>
      <p:sp>
        <p:nvSpPr>
          <p:cNvPr id="13" name="TextBox 12"/>
          <p:cNvSpPr txBox="1"/>
          <p:nvPr/>
        </p:nvSpPr>
        <p:spPr>
          <a:xfrm>
            <a:off x="777240" y="2788920"/>
            <a:ext cx="3017520" cy="548640"/>
          </a:xfrm>
          <a:prstGeom prst="rect">
            <a:avLst/>
          </a:prstGeom>
          <a:noFill/>
        </p:spPr>
        <p:txBody>
          <a:bodyPr wrap="square">
            <a:spAutoFit/>
          </a:bodyPr>
          <a:lstStyle/>
          <a:p>
            <a:pPr algn="l"/>
            <a:r>
              <a:rPr sz="1400" b="0">
                <a:solidFill>
                  <a:srgbClr val="6B7280"/>
                </a:solidFill>
                <a:latin typeface="Calibri"/>
              </a:rPr>
              <a:t>Quick reading spark + grammar warm-up</a:t>
            </a:r>
          </a:p>
        </p:txBody>
      </p:sp>
      <p:sp>
        <p:nvSpPr>
          <p:cNvPr id="14" name="Rounded Rectangle 13"/>
          <p:cNvSpPr/>
          <p:nvPr/>
        </p:nvSpPr>
        <p:spPr>
          <a:xfrm>
            <a:off x="4297680" y="1645920"/>
            <a:ext cx="35661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645920"/>
            <a:ext cx="137160" cy="19202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20" y="1874520"/>
            <a:ext cx="3017520" cy="365760"/>
          </a:xfrm>
          <a:prstGeom prst="rect">
            <a:avLst/>
          </a:prstGeom>
          <a:noFill/>
        </p:spPr>
        <p:txBody>
          <a:bodyPr wrap="square">
            <a:spAutoFit/>
          </a:bodyPr>
          <a:lstStyle/>
          <a:p>
            <a:pPr algn="l"/>
            <a:r>
              <a:rPr sz="1400" b="1">
                <a:solidFill>
                  <a:srgbClr val="1B3A5F"/>
                </a:solidFill>
                <a:latin typeface="Calibri"/>
              </a:rPr>
              <a:t>12 min</a:t>
            </a:r>
          </a:p>
        </p:txBody>
      </p:sp>
      <p:sp>
        <p:nvSpPr>
          <p:cNvPr id="17" name="TextBox 16"/>
          <p:cNvSpPr txBox="1"/>
          <p:nvPr/>
        </p:nvSpPr>
        <p:spPr>
          <a:xfrm>
            <a:off x="4617720" y="2286000"/>
            <a:ext cx="3017520" cy="457200"/>
          </a:xfrm>
          <a:prstGeom prst="rect">
            <a:avLst/>
          </a:prstGeom>
          <a:noFill/>
        </p:spPr>
        <p:txBody>
          <a:bodyPr wrap="square">
            <a:spAutoFit/>
          </a:bodyPr>
          <a:lstStyle/>
          <a:p>
            <a:pPr algn="l"/>
            <a:r>
              <a:rPr sz="2000" b="1">
                <a:solidFill>
                  <a:srgbClr val="1B3A5F"/>
                </a:solidFill>
                <a:latin typeface="Calibri"/>
              </a:rPr>
              <a:t>Reading Strategies</a:t>
            </a:r>
          </a:p>
        </p:txBody>
      </p:sp>
      <p:sp>
        <p:nvSpPr>
          <p:cNvPr id="18" name="TextBox 17"/>
          <p:cNvSpPr txBox="1"/>
          <p:nvPr/>
        </p:nvSpPr>
        <p:spPr>
          <a:xfrm>
            <a:off x="4617720" y="2788920"/>
            <a:ext cx="3017520" cy="548640"/>
          </a:xfrm>
          <a:prstGeom prst="rect">
            <a:avLst/>
          </a:prstGeom>
          <a:noFill/>
        </p:spPr>
        <p:txBody>
          <a:bodyPr wrap="square">
            <a:spAutoFit/>
          </a:bodyPr>
          <a:lstStyle/>
          <a:p>
            <a:pPr algn="l"/>
            <a:r>
              <a:rPr sz="1400" b="0">
                <a:solidFill>
                  <a:srgbClr val="6B7280"/>
                </a:solidFill>
                <a:latin typeface="Calibri"/>
              </a:rPr>
              <a:t>How strong readers think while they read</a:t>
            </a:r>
          </a:p>
        </p:txBody>
      </p:sp>
      <p:sp>
        <p:nvSpPr>
          <p:cNvPr id="19" name="Rounded Rectangle 18"/>
          <p:cNvSpPr/>
          <p:nvPr/>
        </p:nvSpPr>
        <p:spPr>
          <a:xfrm>
            <a:off x="8138160" y="1645920"/>
            <a:ext cx="35661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645920"/>
            <a:ext cx="137160" cy="192024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1874520"/>
            <a:ext cx="3017520" cy="365760"/>
          </a:xfrm>
          <a:prstGeom prst="rect">
            <a:avLst/>
          </a:prstGeom>
          <a:noFill/>
        </p:spPr>
        <p:txBody>
          <a:bodyPr wrap="square">
            <a:spAutoFit/>
          </a:bodyPr>
          <a:lstStyle/>
          <a:p>
            <a:pPr algn="l"/>
            <a:r>
              <a:rPr sz="1400" b="1">
                <a:solidFill>
                  <a:srgbClr val="2A9D8F"/>
                </a:solidFill>
                <a:latin typeface="Calibri"/>
              </a:rPr>
              <a:t>15 min</a:t>
            </a:r>
          </a:p>
        </p:txBody>
      </p:sp>
      <p:sp>
        <p:nvSpPr>
          <p:cNvPr id="22" name="TextBox 21"/>
          <p:cNvSpPr txBox="1"/>
          <p:nvPr/>
        </p:nvSpPr>
        <p:spPr>
          <a:xfrm>
            <a:off x="8458200" y="2286000"/>
            <a:ext cx="3017520" cy="457200"/>
          </a:xfrm>
          <a:prstGeom prst="rect">
            <a:avLst/>
          </a:prstGeom>
          <a:noFill/>
        </p:spPr>
        <p:txBody>
          <a:bodyPr wrap="square">
            <a:spAutoFit/>
          </a:bodyPr>
          <a:lstStyle/>
          <a:p>
            <a:pPr algn="l"/>
            <a:r>
              <a:rPr sz="2000" b="1">
                <a:solidFill>
                  <a:srgbClr val="1B3A5F"/>
                </a:solidFill>
                <a:latin typeface="Calibri"/>
              </a:rPr>
              <a:t>Guided Passage Practice</a:t>
            </a:r>
          </a:p>
        </p:txBody>
      </p:sp>
      <p:sp>
        <p:nvSpPr>
          <p:cNvPr id="23" name="TextBox 22"/>
          <p:cNvSpPr txBox="1"/>
          <p:nvPr/>
        </p:nvSpPr>
        <p:spPr>
          <a:xfrm>
            <a:off x="8458200" y="2788920"/>
            <a:ext cx="3017520" cy="548640"/>
          </a:xfrm>
          <a:prstGeom prst="rect">
            <a:avLst/>
          </a:prstGeom>
          <a:noFill/>
        </p:spPr>
        <p:txBody>
          <a:bodyPr wrap="square">
            <a:spAutoFit/>
          </a:bodyPr>
          <a:lstStyle/>
          <a:p>
            <a:pPr algn="l"/>
            <a:r>
              <a:rPr sz="1400" b="0">
                <a:solidFill>
                  <a:srgbClr val="6B7280"/>
                </a:solidFill>
                <a:latin typeface="Calibri"/>
              </a:rPr>
              <a:t>Read, annotate, answer, discuss</a:t>
            </a:r>
          </a:p>
        </p:txBody>
      </p:sp>
      <p:sp>
        <p:nvSpPr>
          <p:cNvPr id="24" name="Rounded Rectangle 23"/>
          <p:cNvSpPr/>
          <p:nvPr/>
        </p:nvSpPr>
        <p:spPr>
          <a:xfrm>
            <a:off x="457200" y="3840480"/>
            <a:ext cx="35661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840480"/>
            <a:ext cx="137160" cy="192024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069080"/>
            <a:ext cx="3017520" cy="365760"/>
          </a:xfrm>
          <a:prstGeom prst="rect">
            <a:avLst/>
          </a:prstGeom>
          <a:noFill/>
        </p:spPr>
        <p:txBody>
          <a:bodyPr wrap="square">
            <a:spAutoFit/>
          </a:bodyPr>
          <a:lstStyle/>
          <a:p>
            <a:pPr algn="l"/>
            <a:r>
              <a:rPr sz="1400" b="1">
                <a:solidFill>
                  <a:srgbClr val="E76F51"/>
                </a:solidFill>
                <a:latin typeface="Calibri"/>
              </a:rPr>
              <a:t>12 min</a:t>
            </a:r>
          </a:p>
        </p:txBody>
      </p:sp>
      <p:sp>
        <p:nvSpPr>
          <p:cNvPr id="27" name="TextBox 26"/>
          <p:cNvSpPr txBox="1"/>
          <p:nvPr/>
        </p:nvSpPr>
        <p:spPr>
          <a:xfrm>
            <a:off x="777240" y="4480560"/>
            <a:ext cx="3017520" cy="457200"/>
          </a:xfrm>
          <a:prstGeom prst="rect">
            <a:avLst/>
          </a:prstGeom>
          <a:noFill/>
        </p:spPr>
        <p:txBody>
          <a:bodyPr wrap="square">
            <a:spAutoFit/>
          </a:bodyPr>
          <a:lstStyle/>
          <a:p>
            <a:pPr algn="l"/>
            <a:r>
              <a:rPr sz="2000" b="1">
                <a:solidFill>
                  <a:srgbClr val="1B3A5F"/>
                </a:solidFill>
                <a:latin typeface="Calibri"/>
              </a:rPr>
              <a:t>Grammar Power-Up</a:t>
            </a:r>
          </a:p>
        </p:txBody>
      </p:sp>
      <p:sp>
        <p:nvSpPr>
          <p:cNvPr id="28" name="TextBox 27"/>
          <p:cNvSpPr txBox="1"/>
          <p:nvPr/>
        </p:nvSpPr>
        <p:spPr>
          <a:xfrm>
            <a:off x="777240" y="4983480"/>
            <a:ext cx="3017520" cy="548640"/>
          </a:xfrm>
          <a:prstGeom prst="rect">
            <a:avLst/>
          </a:prstGeom>
          <a:noFill/>
        </p:spPr>
        <p:txBody>
          <a:bodyPr wrap="square">
            <a:spAutoFit/>
          </a:bodyPr>
          <a:lstStyle/>
          <a:p>
            <a:pPr algn="l"/>
            <a:r>
              <a:rPr sz="1400" b="0">
                <a:solidFill>
                  <a:srgbClr val="6B7280"/>
                </a:solidFill>
                <a:latin typeface="Calibri"/>
              </a:rPr>
              <a:t>Fix the gaps that hold writing back</a:t>
            </a:r>
          </a:p>
        </p:txBody>
      </p:sp>
      <p:sp>
        <p:nvSpPr>
          <p:cNvPr id="29" name="Rounded Rectangle 28"/>
          <p:cNvSpPr/>
          <p:nvPr/>
        </p:nvSpPr>
        <p:spPr>
          <a:xfrm>
            <a:off x="4297680" y="3840480"/>
            <a:ext cx="35661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297680" y="3840480"/>
            <a:ext cx="137160" cy="19202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69080"/>
            <a:ext cx="3017520" cy="365760"/>
          </a:xfrm>
          <a:prstGeom prst="rect">
            <a:avLst/>
          </a:prstGeom>
          <a:noFill/>
        </p:spPr>
        <p:txBody>
          <a:bodyPr wrap="square">
            <a:spAutoFit/>
          </a:bodyPr>
          <a:lstStyle/>
          <a:p>
            <a:pPr algn="l"/>
            <a:r>
              <a:rPr sz="1400" b="1">
                <a:solidFill>
                  <a:srgbClr val="1B3A5F"/>
                </a:solidFill>
                <a:latin typeface="Calibri"/>
              </a:rPr>
              <a:t>10 min</a:t>
            </a:r>
          </a:p>
        </p:txBody>
      </p:sp>
      <p:sp>
        <p:nvSpPr>
          <p:cNvPr id="32" name="TextBox 31"/>
          <p:cNvSpPr txBox="1"/>
          <p:nvPr/>
        </p:nvSpPr>
        <p:spPr>
          <a:xfrm>
            <a:off x="4617720" y="4480560"/>
            <a:ext cx="3017520" cy="457200"/>
          </a:xfrm>
          <a:prstGeom prst="rect">
            <a:avLst/>
          </a:prstGeom>
          <a:noFill/>
        </p:spPr>
        <p:txBody>
          <a:bodyPr wrap="square">
            <a:spAutoFit/>
          </a:bodyPr>
          <a:lstStyle/>
          <a:p>
            <a:pPr algn="l"/>
            <a:r>
              <a:rPr sz="2000" b="1">
                <a:solidFill>
                  <a:srgbClr val="1B3A5F"/>
                </a:solidFill>
                <a:latin typeface="Calibri"/>
              </a:rPr>
              <a:t>Apply &amp; Create</a:t>
            </a:r>
          </a:p>
        </p:txBody>
      </p:sp>
      <p:sp>
        <p:nvSpPr>
          <p:cNvPr id="33" name="TextBox 32"/>
          <p:cNvSpPr txBox="1"/>
          <p:nvPr/>
        </p:nvSpPr>
        <p:spPr>
          <a:xfrm>
            <a:off x="4617720" y="4983480"/>
            <a:ext cx="3017520" cy="548640"/>
          </a:xfrm>
          <a:prstGeom prst="rect">
            <a:avLst/>
          </a:prstGeom>
          <a:noFill/>
        </p:spPr>
        <p:txBody>
          <a:bodyPr wrap="square">
            <a:spAutoFit/>
          </a:bodyPr>
          <a:lstStyle/>
          <a:p>
            <a:pPr algn="l"/>
            <a:r>
              <a:rPr sz="1400" b="0">
                <a:solidFill>
                  <a:srgbClr val="6B7280"/>
                </a:solidFill>
                <a:latin typeface="Calibri"/>
              </a:rPr>
              <a:t>Use reading + grammar together</a:t>
            </a:r>
          </a:p>
        </p:txBody>
      </p:sp>
      <p:sp>
        <p:nvSpPr>
          <p:cNvPr id="34" name="Rounded Rectangle 33"/>
          <p:cNvSpPr/>
          <p:nvPr/>
        </p:nvSpPr>
        <p:spPr>
          <a:xfrm>
            <a:off x="8138160" y="3840480"/>
            <a:ext cx="3566160" cy="1920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38160" y="3840480"/>
            <a:ext cx="137160" cy="192024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58200" y="4069080"/>
            <a:ext cx="3017520" cy="365760"/>
          </a:xfrm>
          <a:prstGeom prst="rect">
            <a:avLst/>
          </a:prstGeom>
          <a:noFill/>
        </p:spPr>
        <p:txBody>
          <a:bodyPr wrap="square">
            <a:spAutoFit/>
          </a:bodyPr>
          <a:lstStyle/>
          <a:p>
            <a:pPr algn="l"/>
            <a:r>
              <a:rPr sz="1400" b="1">
                <a:solidFill>
                  <a:srgbClr val="2A9D8F"/>
                </a:solidFill>
                <a:latin typeface="Calibri"/>
              </a:rPr>
              <a:t>06 min</a:t>
            </a:r>
          </a:p>
        </p:txBody>
      </p:sp>
      <p:sp>
        <p:nvSpPr>
          <p:cNvPr id="37" name="TextBox 36"/>
          <p:cNvSpPr txBox="1"/>
          <p:nvPr/>
        </p:nvSpPr>
        <p:spPr>
          <a:xfrm>
            <a:off x="8458200" y="4480560"/>
            <a:ext cx="3017520" cy="457200"/>
          </a:xfrm>
          <a:prstGeom prst="rect">
            <a:avLst/>
          </a:prstGeom>
          <a:noFill/>
        </p:spPr>
        <p:txBody>
          <a:bodyPr wrap="square">
            <a:spAutoFit/>
          </a:bodyPr>
          <a:lstStyle/>
          <a:p>
            <a:pPr algn="l"/>
            <a:r>
              <a:rPr sz="2000" b="1">
                <a:solidFill>
                  <a:srgbClr val="1B3A5F"/>
                </a:solidFill>
                <a:latin typeface="Calibri"/>
              </a:rPr>
              <a:t>Wrap-Up</a:t>
            </a:r>
          </a:p>
        </p:txBody>
      </p:sp>
      <p:sp>
        <p:nvSpPr>
          <p:cNvPr id="38" name="TextBox 37"/>
          <p:cNvSpPr txBox="1"/>
          <p:nvPr/>
        </p:nvSpPr>
        <p:spPr>
          <a:xfrm>
            <a:off x="8458200" y="4983480"/>
            <a:ext cx="3017520" cy="548640"/>
          </a:xfrm>
          <a:prstGeom prst="rect">
            <a:avLst/>
          </a:prstGeom>
          <a:noFill/>
        </p:spPr>
        <p:txBody>
          <a:bodyPr wrap="square">
            <a:spAutoFit/>
          </a:bodyPr>
          <a:lstStyle/>
          <a:p>
            <a:pPr algn="l"/>
            <a:r>
              <a:rPr sz="1400" b="0">
                <a:solidFill>
                  <a:srgbClr val="6B7280"/>
                </a:solidFill>
                <a:latin typeface="Calibri"/>
              </a:rPr>
              <a:t>Takeaways, tips, and next steps</a:t>
            </a:r>
          </a:p>
        </p:txBody>
      </p:sp>
      <p:sp>
        <p:nvSpPr>
          <p:cNvPr id="39" name="Rectangle 38"/>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Overview</a:t>
            </a:r>
          </a:p>
        </p:txBody>
      </p:sp>
      <p:sp>
        <p:nvSpPr>
          <p:cNvPr id="41" name="TextBox 40"/>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2/22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LEARNING GOALS</a:t>
            </a:r>
          </a:p>
        </p:txBody>
      </p:sp>
      <p:sp>
        <p:nvSpPr>
          <p:cNvPr id="6" name="TextBox 5"/>
          <p:cNvSpPr txBox="1"/>
          <p:nvPr/>
        </p:nvSpPr>
        <p:spPr>
          <a:xfrm>
            <a:off x="457200" y="822960"/>
            <a:ext cx="10972800" cy="548640"/>
          </a:xfrm>
          <a:prstGeom prst="rect">
            <a:avLst/>
          </a:prstGeom>
          <a:noFill/>
        </p:spPr>
        <p:txBody>
          <a:bodyPr wrap="square">
            <a:spAutoFit/>
          </a:bodyPr>
          <a:lstStyle/>
          <a:p>
            <a:pPr algn="l"/>
            <a:r>
              <a:rPr sz="2800" b="1">
                <a:solidFill>
                  <a:srgbClr val="1B3A5F"/>
                </a:solidFill>
                <a:latin typeface="Georgia"/>
              </a:rPr>
              <a:t>By the End of This Hour, You Will…</a:t>
            </a:r>
          </a:p>
        </p:txBody>
      </p:sp>
      <p:sp>
        <p:nvSpPr>
          <p:cNvPr id="7" name="Rounded Rectangle 6"/>
          <p:cNvSpPr/>
          <p:nvPr/>
        </p:nvSpPr>
        <p:spPr>
          <a:xfrm>
            <a:off x="457200" y="1554480"/>
            <a:ext cx="112471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755648"/>
            <a:ext cx="50292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810512"/>
            <a:ext cx="502920" cy="411480"/>
          </a:xfrm>
          <a:prstGeom prst="rect">
            <a:avLst/>
          </a:prstGeom>
          <a:noFill/>
        </p:spPr>
        <p:txBody>
          <a:bodyPr wrap="square">
            <a:spAutoFit/>
          </a:bodyPr>
          <a:lstStyle/>
          <a:p>
            <a:pPr algn="ctr"/>
            <a:r>
              <a:rPr sz="1800" b="1">
                <a:solidFill>
                  <a:srgbClr val="FFFFFF"/>
                </a:solidFill>
                <a:latin typeface="Calibri"/>
              </a:rPr>
              <a:t>1</a:t>
            </a:r>
          </a:p>
        </p:txBody>
      </p:sp>
      <p:sp>
        <p:nvSpPr>
          <p:cNvPr id="10" name="TextBox 9"/>
          <p:cNvSpPr txBox="1"/>
          <p:nvPr/>
        </p:nvSpPr>
        <p:spPr>
          <a:xfrm>
            <a:off x="1371600" y="1719072"/>
            <a:ext cx="9875520" cy="365760"/>
          </a:xfrm>
          <a:prstGeom prst="rect">
            <a:avLst/>
          </a:prstGeom>
          <a:noFill/>
        </p:spPr>
        <p:txBody>
          <a:bodyPr wrap="square">
            <a:spAutoFit/>
          </a:bodyPr>
          <a:lstStyle/>
          <a:p>
            <a:pPr algn="l"/>
            <a:r>
              <a:rPr sz="2000" b="1">
                <a:solidFill>
                  <a:srgbClr val="1B3A5F"/>
                </a:solidFill>
                <a:latin typeface="Calibri"/>
              </a:rPr>
              <a:t>Find the Big Idea Fast</a:t>
            </a:r>
          </a:p>
        </p:txBody>
      </p:sp>
      <p:sp>
        <p:nvSpPr>
          <p:cNvPr id="11" name="TextBox 10"/>
          <p:cNvSpPr txBox="1"/>
          <p:nvPr/>
        </p:nvSpPr>
        <p:spPr>
          <a:xfrm>
            <a:off x="1371600" y="2057400"/>
            <a:ext cx="9875520" cy="320040"/>
          </a:xfrm>
          <a:prstGeom prst="rect">
            <a:avLst/>
          </a:prstGeom>
          <a:noFill/>
        </p:spPr>
        <p:txBody>
          <a:bodyPr wrap="square">
            <a:spAutoFit/>
          </a:bodyPr>
          <a:lstStyle/>
          <a:p>
            <a:pPr algn="l"/>
            <a:r>
              <a:rPr sz="1500" b="0">
                <a:solidFill>
                  <a:srgbClr val="6B7280"/>
                </a:solidFill>
                <a:latin typeface="Calibri"/>
              </a:rPr>
              <a:t>Identify main idea, key details, and the author’s purpose</a:t>
            </a:r>
          </a:p>
        </p:txBody>
      </p:sp>
      <p:sp>
        <p:nvSpPr>
          <p:cNvPr id="12" name="Rounded Rectangle 11"/>
          <p:cNvSpPr/>
          <p:nvPr/>
        </p:nvSpPr>
        <p:spPr>
          <a:xfrm>
            <a:off x="457200" y="2606039"/>
            <a:ext cx="112471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807207"/>
            <a:ext cx="50292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62071"/>
            <a:ext cx="502920" cy="411480"/>
          </a:xfrm>
          <a:prstGeom prst="rect">
            <a:avLst/>
          </a:prstGeom>
          <a:noFill/>
        </p:spPr>
        <p:txBody>
          <a:bodyPr wrap="square">
            <a:spAutoFit/>
          </a:bodyPr>
          <a:lstStyle/>
          <a:p>
            <a:pPr algn="ctr"/>
            <a:r>
              <a:rPr sz="1800" b="1">
                <a:solidFill>
                  <a:srgbClr val="FFFFFF"/>
                </a:solidFill>
                <a:latin typeface="Calibri"/>
              </a:rPr>
              <a:t>2</a:t>
            </a:r>
          </a:p>
        </p:txBody>
      </p:sp>
      <p:sp>
        <p:nvSpPr>
          <p:cNvPr id="15" name="TextBox 14"/>
          <p:cNvSpPr txBox="1"/>
          <p:nvPr/>
        </p:nvSpPr>
        <p:spPr>
          <a:xfrm>
            <a:off x="1371600" y="2770631"/>
            <a:ext cx="9875520" cy="365760"/>
          </a:xfrm>
          <a:prstGeom prst="rect">
            <a:avLst/>
          </a:prstGeom>
          <a:noFill/>
        </p:spPr>
        <p:txBody>
          <a:bodyPr wrap="square">
            <a:spAutoFit/>
          </a:bodyPr>
          <a:lstStyle/>
          <a:p>
            <a:pPr algn="l"/>
            <a:r>
              <a:rPr sz="2000" b="1">
                <a:solidFill>
                  <a:srgbClr val="1B3A5F"/>
                </a:solidFill>
                <a:latin typeface="Calibri"/>
              </a:rPr>
              <a:t>Read Between the Lines</a:t>
            </a:r>
          </a:p>
        </p:txBody>
      </p:sp>
      <p:sp>
        <p:nvSpPr>
          <p:cNvPr id="16" name="TextBox 15"/>
          <p:cNvSpPr txBox="1"/>
          <p:nvPr/>
        </p:nvSpPr>
        <p:spPr>
          <a:xfrm>
            <a:off x="1371600" y="3108959"/>
            <a:ext cx="9875520" cy="320040"/>
          </a:xfrm>
          <a:prstGeom prst="rect">
            <a:avLst/>
          </a:prstGeom>
          <a:noFill/>
        </p:spPr>
        <p:txBody>
          <a:bodyPr wrap="square">
            <a:spAutoFit/>
          </a:bodyPr>
          <a:lstStyle/>
          <a:p>
            <a:pPr algn="l"/>
            <a:r>
              <a:rPr sz="1500" b="0">
                <a:solidFill>
                  <a:srgbClr val="6B7280"/>
                </a:solidFill>
                <a:latin typeface="Calibri"/>
              </a:rPr>
              <a:t>Make inferences using text evidence — not guesses</a:t>
            </a:r>
          </a:p>
        </p:txBody>
      </p:sp>
      <p:sp>
        <p:nvSpPr>
          <p:cNvPr id="17" name="Rounded Rectangle 16"/>
          <p:cNvSpPr/>
          <p:nvPr/>
        </p:nvSpPr>
        <p:spPr>
          <a:xfrm>
            <a:off x="457200" y="3657600"/>
            <a:ext cx="112471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40080" y="3858768"/>
            <a:ext cx="50292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913632"/>
            <a:ext cx="502920" cy="411480"/>
          </a:xfrm>
          <a:prstGeom prst="rect">
            <a:avLst/>
          </a:prstGeom>
          <a:noFill/>
        </p:spPr>
        <p:txBody>
          <a:bodyPr wrap="square">
            <a:spAutoFit/>
          </a:bodyPr>
          <a:lstStyle/>
          <a:p>
            <a:pPr algn="ctr"/>
            <a:r>
              <a:rPr sz="1800" b="1">
                <a:solidFill>
                  <a:srgbClr val="FFFFFF"/>
                </a:solidFill>
                <a:latin typeface="Calibri"/>
              </a:rPr>
              <a:t>3</a:t>
            </a:r>
          </a:p>
        </p:txBody>
      </p:sp>
      <p:sp>
        <p:nvSpPr>
          <p:cNvPr id="20" name="TextBox 19"/>
          <p:cNvSpPr txBox="1"/>
          <p:nvPr/>
        </p:nvSpPr>
        <p:spPr>
          <a:xfrm>
            <a:off x="1371600" y="3822192"/>
            <a:ext cx="9875520" cy="365760"/>
          </a:xfrm>
          <a:prstGeom prst="rect">
            <a:avLst/>
          </a:prstGeom>
          <a:noFill/>
        </p:spPr>
        <p:txBody>
          <a:bodyPr wrap="square">
            <a:spAutoFit/>
          </a:bodyPr>
          <a:lstStyle/>
          <a:p>
            <a:pPr algn="l"/>
            <a:r>
              <a:rPr sz="2000" b="1">
                <a:solidFill>
                  <a:srgbClr val="1B3A5F"/>
                </a:solidFill>
                <a:latin typeface="Calibri"/>
              </a:rPr>
              <a:t>Own Your Grammar</a:t>
            </a:r>
          </a:p>
        </p:txBody>
      </p:sp>
      <p:sp>
        <p:nvSpPr>
          <p:cNvPr id="21" name="TextBox 20"/>
          <p:cNvSpPr txBox="1"/>
          <p:nvPr/>
        </p:nvSpPr>
        <p:spPr>
          <a:xfrm>
            <a:off x="1371600" y="4160520"/>
            <a:ext cx="9875520" cy="320040"/>
          </a:xfrm>
          <a:prstGeom prst="rect">
            <a:avLst/>
          </a:prstGeom>
          <a:noFill/>
        </p:spPr>
        <p:txBody>
          <a:bodyPr wrap="square">
            <a:spAutoFit/>
          </a:bodyPr>
          <a:lstStyle/>
          <a:p>
            <a:pPr algn="l"/>
            <a:r>
              <a:rPr sz="1500" b="0">
                <a:solidFill>
                  <a:srgbClr val="6B7280"/>
                </a:solidFill>
                <a:latin typeface="Calibri"/>
              </a:rPr>
              <a:t>Fix subject-verb agreement, commas, and commonly confused words</a:t>
            </a:r>
          </a:p>
        </p:txBody>
      </p:sp>
      <p:sp>
        <p:nvSpPr>
          <p:cNvPr id="22" name="Rounded Rectangle 21"/>
          <p:cNvSpPr/>
          <p:nvPr/>
        </p:nvSpPr>
        <p:spPr>
          <a:xfrm>
            <a:off x="457200" y="4709159"/>
            <a:ext cx="11247120" cy="914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 y="4910327"/>
            <a:ext cx="502920" cy="50292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965191"/>
            <a:ext cx="502920" cy="411480"/>
          </a:xfrm>
          <a:prstGeom prst="rect">
            <a:avLst/>
          </a:prstGeom>
          <a:noFill/>
        </p:spPr>
        <p:txBody>
          <a:bodyPr wrap="square">
            <a:spAutoFit/>
          </a:bodyPr>
          <a:lstStyle/>
          <a:p>
            <a:pPr algn="ctr"/>
            <a:r>
              <a:rPr sz="1800" b="1">
                <a:solidFill>
                  <a:srgbClr val="FFFFFF"/>
                </a:solidFill>
                <a:latin typeface="Calibri"/>
              </a:rPr>
              <a:t>4</a:t>
            </a:r>
          </a:p>
        </p:txBody>
      </p:sp>
      <p:sp>
        <p:nvSpPr>
          <p:cNvPr id="25" name="TextBox 24"/>
          <p:cNvSpPr txBox="1"/>
          <p:nvPr/>
        </p:nvSpPr>
        <p:spPr>
          <a:xfrm>
            <a:off x="1371600" y="4873751"/>
            <a:ext cx="9875520" cy="365760"/>
          </a:xfrm>
          <a:prstGeom prst="rect">
            <a:avLst/>
          </a:prstGeom>
          <a:noFill/>
        </p:spPr>
        <p:txBody>
          <a:bodyPr wrap="square">
            <a:spAutoFit/>
          </a:bodyPr>
          <a:lstStyle/>
          <a:p>
            <a:pPr algn="l"/>
            <a:r>
              <a:rPr sz="2000" b="1">
                <a:solidFill>
                  <a:srgbClr val="1B3A5F"/>
                </a:solidFill>
                <a:latin typeface="Calibri"/>
              </a:rPr>
              <a:t>Write Clearer Sentences</a:t>
            </a:r>
          </a:p>
        </p:txBody>
      </p:sp>
      <p:sp>
        <p:nvSpPr>
          <p:cNvPr id="26" name="TextBox 25"/>
          <p:cNvSpPr txBox="1"/>
          <p:nvPr/>
        </p:nvSpPr>
        <p:spPr>
          <a:xfrm>
            <a:off x="1371600" y="5212079"/>
            <a:ext cx="9875520" cy="320040"/>
          </a:xfrm>
          <a:prstGeom prst="rect">
            <a:avLst/>
          </a:prstGeom>
          <a:noFill/>
        </p:spPr>
        <p:txBody>
          <a:bodyPr wrap="square">
            <a:spAutoFit/>
          </a:bodyPr>
          <a:lstStyle/>
          <a:p>
            <a:pPr algn="l"/>
            <a:r>
              <a:rPr sz="1500" b="0">
                <a:solidFill>
                  <a:srgbClr val="6B7280"/>
                </a:solidFill>
                <a:latin typeface="Calibri"/>
              </a:rPr>
              <a:t>Combine and revise sentences so ideas sound polished</a:t>
            </a:r>
          </a:p>
        </p:txBody>
      </p:sp>
      <p:sp>
        <p:nvSpPr>
          <p:cNvPr id="27" name="Rectangle 2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Goals</a:t>
            </a:r>
          </a:p>
        </p:txBody>
      </p:sp>
      <p:sp>
        <p:nvSpPr>
          <p:cNvPr id="29" name="TextBox 28"/>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3/22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WARM-UP</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5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Brain Switch-On</a:t>
            </a:r>
          </a:p>
        </p:txBody>
      </p:sp>
      <p:sp>
        <p:nvSpPr>
          <p:cNvPr id="9" name="Rounded Rectangle 8"/>
          <p:cNvSpPr/>
          <p:nvPr/>
        </p:nvSpPr>
        <p:spPr>
          <a:xfrm>
            <a:off x="457200" y="1463040"/>
            <a:ext cx="548640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645920"/>
            <a:ext cx="5029200" cy="365760"/>
          </a:xfrm>
          <a:prstGeom prst="rect">
            <a:avLst/>
          </a:prstGeom>
          <a:noFill/>
        </p:spPr>
        <p:txBody>
          <a:bodyPr wrap="square">
            <a:spAutoFit/>
          </a:bodyPr>
          <a:lstStyle/>
          <a:p>
            <a:pPr algn="l"/>
            <a:r>
              <a:rPr sz="1800" b="1">
                <a:solidFill>
                  <a:srgbClr val="2A9D8F"/>
                </a:solidFill>
                <a:latin typeface="Calibri"/>
              </a:rPr>
              <a:t>Reading Spark (2 min)</a:t>
            </a:r>
          </a:p>
        </p:txBody>
      </p:sp>
      <p:sp>
        <p:nvSpPr>
          <p:cNvPr id="11" name="TextBox 10"/>
          <p:cNvSpPr txBox="1"/>
          <p:nvPr/>
        </p:nvSpPr>
        <p:spPr>
          <a:xfrm>
            <a:off x="685800" y="2103120"/>
            <a:ext cx="5029200" cy="1097280"/>
          </a:xfrm>
          <a:prstGeom prst="rect">
            <a:avLst/>
          </a:prstGeom>
          <a:noFill/>
        </p:spPr>
        <p:txBody>
          <a:bodyPr wrap="square">
            <a:spAutoFit/>
          </a:bodyPr>
          <a:lstStyle/>
          <a:p>
            <a:pPr algn="l"/>
            <a:r>
              <a:rPr sz="1500" b="0">
                <a:solidFill>
                  <a:srgbClr val="2D2D2D"/>
                </a:solidFill>
                <a:latin typeface="Calibri"/>
              </a:rPr>
              <a:t>"The library smelled like old paper and new ideas. Maya paused at the doorway, knowing that somewhere inside was the answer she needed — and maybe a few she didn't."</a:t>
            </a:r>
          </a:p>
        </p:txBody>
      </p:sp>
      <p:sp>
        <p:nvSpPr>
          <p:cNvPr id="12" name="TextBox 11"/>
          <p:cNvSpPr txBox="1"/>
          <p:nvPr/>
        </p:nvSpPr>
        <p:spPr>
          <a:xfrm>
            <a:off x="685800" y="3383280"/>
            <a:ext cx="5029200" cy="2286000"/>
          </a:xfrm>
          <a:prstGeom prst="rect">
            <a:avLst/>
          </a:prstGeom>
          <a:noFill/>
        </p:spPr>
        <p:txBody>
          <a:bodyPr wrap="square">
            <a:spAutoFit/>
          </a:bodyPr>
          <a:lstStyle/>
          <a:p>
            <a:pPr algn="l">
              <a:spcAft>
                <a:spcPts val="800"/>
              </a:spcAft>
            </a:pPr>
            <a:r>
              <a:rPr sz="1600" b="0">
                <a:solidFill>
                  <a:srgbClr val="2D2D2D"/>
                </a:solidFill>
                <a:latin typeface="Calibri"/>
              </a:rPr>
              <a:t>•  What mood does this create?</a:t>
            </a:r>
          </a:p>
          <a:p>
            <a:pPr algn="l">
              <a:spcAft>
                <a:spcPts val="800"/>
              </a:spcAft>
            </a:pPr>
            <a:r>
              <a:rPr sz="1600" b="0">
                <a:solidFill>
                  <a:srgbClr val="2D2D2D"/>
                </a:solidFill>
                <a:latin typeface="Calibri"/>
              </a:rPr>
              <a:t>•  What can you infer about Maya?</a:t>
            </a:r>
          </a:p>
          <a:p>
            <a:pPr algn="l">
              <a:spcAft>
                <a:spcPts val="800"/>
              </a:spcAft>
            </a:pPr>
            <a:r>
              <a:rPr sz="1600" b="0">
                <a:solidFill>
                  <a:srgbClr val="2D2D2D"/>
                </a:solidFill>
                <a:latin typeface="Calibri"/>
              </a:rPr>
              <a:t>•  Which words create that feeling?</a:t>
            </a:r>
          </a:p>
        </p:txBody>
      </p:sp>
      <p:sp>
        <p:nvSpPr>
          <p:cNvPr id="13" name="Rounded Rectangle 12"/>
          <p:cNvSpPr/>
          <p:nvPr/>
        </p:nvSpPr>
        <p:spPr>
          <a:xfrm>
            <a:off x="6217920" y="1463040"/>
            <a:ext cx="548640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645920"/>
            <a:ext cx="5029200" cy="365760"/>
          </a:xfrm>
          <a:prstGeom prst="rect">
            <a:avLst/>
          </a:prstGeom>
          <a:noFill/>
        </p:spPr>
        <p:txBody>
          <a:bodyPr wrap="square">
            <a:spAutoFit/>
          </a:bodyPr>
          <a:lstStyle/>
          <a:p>
            <a:pPr algn="l"/>
            <a:r>
              <a:rPr sz="1800" b="1">
                <a:solidFill>
                  <a:srgbClr val="E76F51"/>
                </a:solidFill>
                <a:latin typeface="Calibri"/>
              </a:rPr>
              <a:t>Grammar Quick Fix (3 min)</a:t>
            </a:r>
          </a:p>
        </p:txBody>
      </p:sp>
      <p:sp>
        <p:nvSpPr>
          <p:cNvPr id="15" name="TextBox 14"/>
          <p:cNvSpPr txBox="1"/>
          <p:nvPr/>
        </p:nvSpPr>
        <p:spPr>
          <a:xfrm>
            <a:off x="6446520" y="2148840"/>
            <a:ext cx="5029200" cy="365760"/>
          </a:xfrm>
          <a:prstGeom prst="rect">
            <a:avLst/>
          </a:prstGeom>
          <a:noFill/>
        </p:spPr>
        <p:txBody>
          <a:bodyPr wrap="square">
            <a:spAutoFit/>
          </a:bodyPr>
          <a:lstStyle/>
          <a:p>
            <a:pPr algn="l"/>
            <a:r>
              <a:rPr sz="1500" b="1">
                <a:solidFill>
                  <a:srgbClr val="1B3A5F"/>
                </a:solidFill>
                <a:latin typeface="Calibri"/>
              </a:rPr>
              <a:t>Which sentence is correct?</a:t>
            </a:r>
          </a:p>
        </p:txBody>
      </p:sp>
      <p:sp>
        <p:nvSpPr>
          <p:cNvPr id="16" name="TextBox 15"/>
          <p:cNvSpPr txBox="1"/>
          <p:nvPr/>
        </p:nvSpPr>
        <p:spPr>
          <a:xfrm>
            <a:off x="6446520" y="2651760"/>
            <a:ext cx="5029200" cy="2011680"/>
          </a:xfrm>
          <a:prstGeom prst="rect">
            <a:avLst/>
          </a:prstGeom>
          <a:noFill/>
        </p:spPr>
        <p:txBody>
          <a:bodyPr wrap="square">
            <a:spAutoFit/>
          </a:bodyPr>
          <a:lstStyle/>
          <a:p>
            <a:pPr algn="l">
              <a:spcAft>
                <a:spcPts val="800"/>
              </a:spcAft>
            </a:pPr>
            <a:r>
              <a:rPr sz="1500" b="0">
                <a:solidFill>
                  <a:srgbClr val="2D2D2D"/>
                </a:solidFill>
                <a:latin typeface="Calibri"/>
              </a:rPr>
              <a:t>•  A) Neither of the players were ready.</a:t>
            </a:r>
          </a:p>
          <a:p>
            <a:pPr algn="l">
              <a:spcAft>
                <a:spcPts val="800"/>
              </a:spcAft>
            </a:pPr>
            <a:r>
              <a:rPr sz="1500" b="0">
                <a:solidFill>
                  <a:srgbClr val="2D2D2D"/>
                </a:solidFill>
                <a:latin typeface="Calibri"/>
              </a:rPr>
              <a:t>•  B) Neither of the players was ready.</a:t>
            </a:r>
          </a:p>
          <a:p>
            <a:pPr algn="l">
              <a:spcAft>
                <a:spcPts val="800"/>
              </a:spcAft>
            </a:pPr>
            <a:r>
              <a:rPr sz="1500" b="0">
                <a:solidFill>
                  <a:srgbClr val="2D2D2D"/>
                </a:solidFill>
                <a:latin typeface="Calibri"/>
              </a:rPr>
              <a:t>•  C) The team are winning the game.</a:t>
            </a:r>
          </a:p>
          <a:p>
            <a:pPr algn="l">
              <a:spcAft>
                <a:spcPts val="800"/>
              </a:spcAft>
            </a:pPr>
            <a:r>
              <a:rPr sz="1500" b="0">
                <a:solidFill>
                  <a:srgbClr val="2D2D2D"/>
                </a:solidFill>
                <a:latin typeface="Calibri"/>
              </a:rPr>
              <a:t>•  D) Everyone have finished the quiz.</a:t>
            </a:r>
          </a:p>
        </p:txBody>
      </p:sp>
      <p:sp>
        <p:nvSpPr>
          <p:cNvPr id="17" name="TextBox 16"/>
          <p:cNvSpPr txBox="1"/>
          <p:nvPr/>
        </p:nvSpPr>
        <p:spPr>
          <a:xfrm>
            <a:off x="6446520" y="4846320"/>
            <a:ext cx="5029200" cy="731520"/>
          </a:xfrm>
          <a:prstGeom prst="rect">
            <a:avLst/>
          </a:prstGeom>
          <a:noFill/>
        </p:spPr>
        <p:txBody>
          <a:bodyPr wrap="square">
            <a:spAutoFit/>
          </a:bodyPr>
          <a:lstStyle/>
          <a:p>
            <a:pPr algn="l"/>
            <a:r>
              <a:rPr sz="1400" b="1">
                <a:solidFill>
                  <a:srgbClr val="6B7280"/>
                </a:solidFill>
                <a:latin typeface="Calibri"/>
              </a:rPr>
              <a:t>Discuss: Why did you choose that answer?</a:t>
            </a:r>
          </a:p>
        </p:txBody>
      </p:sp>
      <p:sp>
        <p:nvSpPr>
          <p:cNvPr id="18" name="Rectangle 17"/>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0–5 min</a:t>
            </a:r>
          </a:p>
        </p:txBody>
      </p:sp>
      <p:sp>
        <p:nvSpPr>
          <p:cNvPr id="20" name="TextBox 19"/>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4/22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WARM-UP KEY</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Warm-Up Answer + Why It Matters</a:t>
            </a:r>
          </a:p>
        </p:txBody>
      </p:sp>
      <p:sp>
        <p:nvSpPr>
          <p:cNvPr id="7" name="Rounded Rectangle 6"/>
          <p:cNvSpPr/>
          <p:nvPr/>
        </p:nvSpPr>
        <p:spPr>
          <a:xfrm>
            <a:off x="457200" y="1554480"/>
            <a:ext cx="11247120" cy="201168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737360"/>
            <a:ext cx="10698480" cy="365760"/>
          </a:xfrm>
          <a:prstGeom prst="rect">
            <a:avLst/>
          </a:prstGeom>
          <a:noFill/>
        </p:spPr>
        <p:txBody>
          <a:bodyPr wrap="square">
            <a:spAutoFit/>
          </a:bodyPr>
          <a:lstStyle/>
          <a:p>
            <a:pPr algn="l"/>
            <a:r>
              <a:rPr sz="2000" b="1">
                <a:solidFill>
                  <a:srgbClr val="1B3A5F"/>
                </a:solidFill>
                <a:latin typeface="Calibri"/>
              </a:rPr>
              <a:t>Correct Answer: B — Neither of the players was ready.</a:t>
            </a:r>
          </a:p>
        </p:txBody>
      </p:sp>
      <p:sp>
        <p:nvSpPr>
          <p:cNvPr id="9" name="TextBox 8"/>
          <p:cNvSpPr txBox="1"/>
          <p:nvPr/>
        </p:nvSpPr>
        <p:spPr>
          <a:xfrm>
            <a:off x="731520" y="2286000"/>
            <a:ext cx="10698480" cy="1005840"/>
          </a:xfrm>
          <a:prstGeom prst="rect">
            <a:avLst/>
          </a:prstGeom>
          <a:noFill/>
        </p:spPr>
        <p:txBody>
          <a:bodyPr wrap="square">
            <a:spAutoFit/>
          </a:bodyPr>
          <a:lstStyle/>
          <a:p>
            <a:pPr algn="l"/>
            <a:r>
              <a:rPr sz="1600" b="0">
                <a:solidFill>
                  <a:srgbClr val="2D2D2D"/>
                </a:solidFill>
                <a:latin typeface="Calibri"/>
              </a:rPr>
              <a:t>Neither is singular. Even though “players” is plural, the subject is neither (one or the other — not both). So we use was, not were.
Same rule for: each, everyone, somebody, either, nobody.</a:t>
            </a:r>
          </a:p>
        </p:txBody>
      </p:sp>
      <p:sp>
        <p:nvSpPr>
          <p:cNvPr id="10" name="Rounded Rectangle 9"/>
          <p:cNvSpPr/>
          <p:nvPr/>
        </p:nvSpPr>
        <p:spPr>
          <a:xfrm>
            <a:off x="457200" y="3840480"/>
            <a:ext cx="1124712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23360"/>
            <a:ext cx="10698480" cy="365760"/>
          </a:xfrm>
          <a:prstGeom prst="rect">
            <a:avLst/>
          </a:prstGeom>
          <a:noFill/>
        </p:spPr>
        <p:txBody>
          <a:bodyPr wrap="square">
            <a:spAutoFit/>
          </a:bodyPr>
          <a:lstStyle/>
          <a:p>
            <a:pPr algn="l"/>
            <a:r>
              <a:rPr sz="1800" b="1">
                <a:solidFill>
                  <a:srgbClr val="2A9D8F"/>
                </a:solidFill>
                <a:latin typeface="Calibri"/>
              </a:rPr>
              <a:t>Reading Spark Takeaways</a:t>
            </a:r>
          </a:p>
        </p:txBody>
      </p:sp>
      <p:sp>
        <p:nvSpPr>
          <p:cNvPr id="12" name="TextBox 11"/>
          <p:cNvSpPr txBox="1"/>
          <p:nvPr/>
        </p:nvSpPr>
        <p:spPr>
          <a:xfrm>
            <a:off x="731520" y="4526280"/>
            <a:ext cx="10698480" cy="1280160"/>
          </a:xfrm>
          <a:prstGeom prst="rect">
            <a:avLst/>
          </a:prstGeom>
          <a:noFill/>
        </p:spPr>
        <p:txBody>
          <a:bodyPr wrap="square">
            <a:spAutoFit/>
          </a:bodyPr>
          <a:lstStyle/>
          <a:p>
            <a:pPr algn="l">
              <a:spcAft>
                <a:spcPts val="800"/>
              </a:spcAft>
            </a:pPr>
            <a:r>
              <a:rPr sz="1600" b="0">
                <a:solidFill>
                  <a:srgbClr val="2D2D2D"/>
                </a:solidFill>
                <a:latin typeface="Calibri"/>
              </a:rPr>
              <a:t>•  Mood = curious / hopeful / slightly mysterious</a:t>
            </a:r>
          </a:p>
          <a:p>
            <a:pPr algn="l">
              <a:spcAft>
                <a:spcPts val="800"/>
              </a:spcAft>
            </a:pPr>
            <a:r>
              <a:rPr sz="1600" b="0">
                <a:solidFill>
                  <a:srgbClr val="2D2D2D"/>
                </a:solidFill>
                <a:latin typeface="Calibri"/>
              </a:rPr>
              <a:t>•  Inference: Maya is searching for something important (evidence: “the answer she needed”)</a:t>
            </a:r>
          </a:p>
          <a:p>
            <a:pPr algn="l">
              <a:spcAft>
                <a:spcPts val="800"/>
              </a:spcAft>
            </a:pPr>
            <a:r>
              <a:rPr sz="1600" b="0">
                <a:solidFill>
                  <a:srgbClr val="2D2D2D"/>
                </a:solidFill>
                <a:latin typeface="Calibri"/>
              </a:rPr>
              <a:t>•  Strong readers notice word choice: smelled, paused, knowing — these paint a scene</a:t>
            </a:r>
          </a:p>
        </p:txBody>
      </p:sp>
      <p:sp>
        <p:nvSpPr>
          <p:cNvPr id="13" name="Rectangle 12"/>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0–5 min</a:t>
            </a:r>
          </a:p>
        </p:txBody>
      </p:sp>
      <p:sp>
        <p:nvSpPr>
          <p:cNvPr id="15" name="TextBox 14"/>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5/22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READING</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12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How Strong Readers Think</a:t>
            </a:r>
          </a:p>
        </p:txBody>
      </p:sp>
      <p:sp>
        <p:nvSpPr>
          <p:cNvPr id="9" name="TextBox 8"/>
          <p:cNvSpPr txBox="1"/>
          <p:nvPr/>
        </p:nvSpPr>
        <p:spPr>
          <a:xfrm>
            <a:off x="457200" y="1371600"/>
            <a:ext cx="10972800" cy="365760"/>
          </a:xfrm>
          <a:prstGeom prst="rect">
            <a:avLst/>
          </a:prstGeom>
          <a:noFill/>
        </p:spPr>
        <p:txBody>
          <a:bodyPr wrap="square">
            <a:spAutoFit/>
          </a:bodyPr>
          <a:lstStyle/>
          <a:p>
            <a:pPr algn="l"/>
            <a:r>
              <a:rPr sz="1600" b="0">
                <a:solidFill>
                  <a:srgbClr val="6B7280"/>
                </a:solidFill>
                <a:latin typeface="Calibri"/>
              </a:rPr>
              <a:t>Reading isn’t just saying the words — it’s building meaning.</a:t>
            </a:r>
          </a:p>
        </p:txBody>
      </p:sp>
      <p:sp>
        <p:nvSpPr>
          <p:cNvPr id="10" name="Rounded Rectangle 9"/>
          <p:cNvSpPr/>
          <p:nvPr/>
        </p:nvSpPr>
        <p:spPr>
          <a:xfrm>
            <a:off x="457200" y="2011680"/>
            <a:ext cx="274320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011680"/>
            <a:ext cx="2743200" cy="64008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48840"/>
            <a:ext cx="2743200" cy="411480"/>
          </a:xfrm>
          <a:prstGeom prst="rect">
            <a:avLst/>
          </a:prstGeom>
          <a:noFill/>
        </p:spPr>
        <p:txBody>
          <a:bodyPr wrap="square">
            <a:spAutoFit/>
          </a:bodyPr>
          <a:lstStyle/>
          <a:p>
            <a:pPr algn="ctr"/>
            <a:r>
              <a:rPr sz="1200" b="1">
                <a:solidFill>
                  <a:srgbClr val="FFFFFF"/>
                </a:solidFill>
                <a:latin typeface="Calibri"/>
              </a:rPr>
              <a:t>BEFORE</a:t>
            </a:r>
          </a:p>
        </p:txBody>
      </p:sp>
      <p:sp>
        <p:nvSpPr>
          <p:cNvPr id="13" name="TextBox 12"/>
          <p:cNvSpPr txBox="1"/>
          <p:nvPr/>
        </p:nvSpPr>
        <p:spPr>
          <a:xfrm>
            <a:off x="640080" y="2926080"/>
            <a:ext cx="2377440" cy="457200"/>
          </a:xfrm>
          <a:prstGeom prst="rect">
            <a:avLst/>
          </a:prstGeom>
          <a:noFill/>
        </p:spPr>
        <p:txBody>
          <a:bodyPr wrap="square">
            <a:spAutoFit/>
          </a:bodyPr>
          <a:lstStyle/>
          <a:p>
            <a:pPr algn="ctr"/>
            <a:r>
              <a:rPr sz="2200" b="1">
                <a:solidFill>
                  <a:srgbClr val="1B3A5F"/>
                </a:solidFill>
                <a:latin typeface="Calibri"/>
              </a:rPr>
              <a:t>Preview</a:t>
            </a:r>
          </a:p>
        </p:txBody>
      </p:sp>
      <p:sp>
        <p:nvSpPr>
          <p:cNvPr id="14" name="TextBox 13"/>
          <p:cNvSpPr txBox="1"/>
          <p:nvPr/>
        </p:nvSpPr>
        <p:spPr>
          <a:xfrm>
            <a:off x="640080" y="3566160"/>
            <a:ext cx="2377440" cy="2011680"/>
          </a:xfrm>
          <a:prstGeom prst="rect">
            <a:avLst/>
          </a:prstGeom>
          <a:noFill/>
        </p:spPr>
        <p:txBody>
          <a:bodyPr wrap="square">
            <a:spAutoFit/>
          </a:bodyPr>
          <a:lstStyle/>
          <a:p>
            <a:pPr algn="ctr"/>
            <a:r>
              <a:rPr sz="1500" b="0">
                <a:solidFill>
                  <a:srgbClr val="2D2D2D"/>
                </a:solidFill>
                <a:latin typeface="Calibri"/>
              </a:rPr>
              <a:t>Title, headings, first sentence — predict what you’ll learn</a:t>
            </a:r>
          </a:p>
        </p:txBody>
      </p:sp>
      <p:sp>
        <p:nvSpPr>
          <p:cNvPr id="15" name="Rounded Rectangle 14"/>
          <p:cNvSpPr/>
          <p:nvPr/>
        </p:nvSpPr>
        <p:spPr>
          <a:xfrm>
            <a:off x="3383280" y="2011680"/>
            <a:ext cx="274320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2011680"/>
            <a:ext cx="2743200" cy="64008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148840"/>
            <a:ext cx="2743200" cy="411480"/>
          </a:xfrm>
          <a:prstGeom prst="rect">
            <a:avLst/>
          </a:prstGeom>
          <a:noFill/>
        </p:spPr>
        <p:txBody>
          <a:bodyPr wrap="square">
            <a:spAutoFit/>
          </a:bodyPr>
          <a:lstStyle/>
          <a:p>
            <a:pPr algn="ctr"/>
            <a:r>
              <a:rPr sz="1200" b="1">
                <a:solidFill>
                  <a:srgbClr val="FFFFFF"/>
                </a:solidFill>
                <a:latin typeface="Calibri"/>
              </a:rPr>
              <a:t>DURING</a:t>
            </a:r>
          </a:p>
        </p:txBody>
      </p:sp>
      <p:sp>
        <p:nvSpPr>
          <p:cNvPr id="18" name="TextBox 17"/>
          <p:cNvSpPr txBox="1"/>
          <p:nvPr/>
        </p:nvSpPr>
        <p:spPr>
          <a:xfrm>
            <a:off x="3566160" y="2926080"/>
            <a:ext cx="2377440" cy="457200"/>
          </a:xfrm>
          <a:prstGeom prst="rect">
            <a:avLst/>
          </a:prstGeom>
          <a:noFill/>
        </p:spPr>
        <p:txBody>
          <a:bodyPr wrap="square">
            <a:spAutoFit/>
          </a:bodyPr>
          <a:lstStyle/>
          <a:p>
            <a:pPr algn="ctr"/>
            <a:r>
              <a:rPr sz="2200" b="1">
                <a:solidFill>
                  <a:srgbClr val="1B3A5F"/>
                </a:solidFill>
                <a:latin typeface="Calibri"/>
              </a:rPr>
              <a:t>Question</a:t>
            </a:r>
          </a:p>
        </p:txBody>
      </p:sp>
      <p:sp>
        <p:nvSpPr>
          <p:cNvPr id="19" name="TextBox 18"/>
          <p:cNvSpPr txBox="1"/>
          <p:nvPr/>
        </p:nvSpPr>
        <p:spPr>
          <a:xfrm>
            <a:off x="3566160" y="3566160"/>
            <a:ext cx="2377440" cy="2011680"/>
          </a:xfrm>
          <a:prstGeom prst="rect">
            <a:avLst/>
          </a:prstGeom>
          <a:noFill/>
        </p:spPr>
        <p:txBody>
          <a:bodyPr wrap="square">
            <a:spAutoFit/>
          </a:bodyPr>
          <a:lstStyle/>
          <a:p>
            <a:pPr algn="ctr"/>
            <a:r>
              <a:rPr sz="1500" b="0">
                <a:solidFill>
                  <a:srgbClr val="2D2D2D"/>
                </a:solidFill>
                <a:latin typeface="Calibri"/>
              </a:rPr>
              <a:t>Ask: What’s happening? Why does this matter? What’s missing?</a:t>
            </a:r>
          </a:p>
        </p:txBody>
      </p:sp>
      <p:sp>
        <p:nvSpPr>
          <p:cNvPr id="20" name="Rounded Rectangle 19"/>
          <p:cNvSpPr/>
          <p:nvPr/>
        </p:nvSpPr>
        <p:spPr>
          <a:xfrm>
            <a:off x="6309360" y="2011680"/>
            <a:ext cx="274320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2011680"/>
            <a:ext cx="2743200" cy="64008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148840"/>
            <a:ext cx="2743200" cy="411480"/>
          </a:xfrm>
          <a:prstGeom prst="rect">
            <a:avLst/>
          </a:prstGeom>
          <a:noFill/>
        </p:spPr>
        <p:txBody>
          <a:bodyPr wrap="square">
            <a:spAutoFit/>
          </a:bodyPr>
          <a:lstStyle/>
          <a:p>
            <a:pPr algn="ctr"/>
            <a:r>
              <a:rPr sz="1200" b="1">
                <a:solidFill>
                  <a:srgbClr val="FFFFFF"/>
                </a:solidFill>
                <a:latin typeface="Calibri"/>
              </a:rPr>
              <a:t>DURING</a:t>
            </a:r>
          </a:p>
        </p:txBody>
      </p:sp>
      <p:sp>
        <p:nvSpPr>
          <p:cNvPr id="23" name="TextBox 22"/>
          <p:cNvSpPr txBox="1"/>
          <p:nvPr/>
        </p:nvSpPr>
        <p:spPr>
          <a:xfrm>
            <a:off x="6492240" y="2926080"/>
            <a:ext cx="2377440" cy="457200"/>
          </a:xfrm>
          <a:prstGeom prst="rect">
            <a:avLst/>
          </a:prstGeom>
          <a:noFill/>
        </p:spPr>
        <p:txBody>
          <a:bodyPr wrap="square">
            <a:spAutoFit/>
          </a:bodyPr>
          <a:lstStyle/>
          <a:p>
            <a:pPr algn="ctr"/>
            <a:r>
              <a:rPr sz="2200" b="1">
                <a:solidFill>
                  <a:srgbClr val="1B3A5F"/>
                </a:solidFill>
                <a:latin typeface="Calibri"/>
              </a:rPr>
              <a:t>Annotate</a:t>
            </a:r>
          </a:p>
        </p:txBody>
      </p:sp>
      <p:sp>
        <p:nvSpPr>
          <p:cNvPr id="24" name="TextBox 23"/>
          <p:cNvSpPr txBox="1"/>
          <p:nvPr/>
        </p:nvSpPr>
        <p:spPr>
          <a:xfrm>
            <a:off x="6492240" y="3566160"/>
            <a:ext cx="2377440" cy="2011680"/>
          </a:xfrm>
          <a:prstGeom prst="rect">
            <a:avLst/>
          </a:prstGeom>
          <a:noFill/>
        </p:spPr>
        <p:txBody>
          <a:bodyPr wrap="square">
            <a:spAutoFit/>
          </a:bodyPr>
          <a:lstStyle/>
          <a:p>
            <a:pPr algn="ctr"/>
            <a:r>
              <a:rPr sz="1500" b="0">
                <a:solidFill>
                  <a:srgbClr val="2D2D2D"/>
                </a:solidFill>
                <a:latin typeface="Calibri"/>
              </a:rPr>
              <a:t>Underline claims, circle key words, star confusing parts</a:t>
            </a:r>
          </a:p>
        </p:txBody>
      </p:sp>
      <p:sp>
        <p:nvSpPr>
          <p:cNvPr id="25" name="Rounded Rectangle 24"/>
          <p:cNvSpPr/>
          <p:nvPr/>
        </p:nvSpPr>
        <p:spPr>
          <a:xfrm>
            <a:off x="9235440" y="2011680"/>
            <a:ext cx="274320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35440" y="2011680"/>
            <a:ext cx="2743200" cy="64008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2148840"/>
            <a:ext cx="2743200" cy="411480"/>
          </a:xfrm>
          <a:prstGeom prst="rect">
            <a:avLst/>
          </a:prstGeom>
          <a:noFill/>
        </p:spPr>
        <p:txBody>
          <a:bodyPr wrap="square">
            <a:spAutoFit/>
          </a:bodyPr>
          <a:lstStyle/>
          <a:p>
            <a:pPr algn="ctr"/>
            <a:r>
              <a:rPr sz="1200" b="1">
                <a:solidFill>
                  <a:srgbClr val="FFFFFF"/>
                </a:solidFill>
                <a:latin typeface="Calibri"/>
              </a:rPr>
              <a:t>AFTER</a:t>
            </a:r>
          </a:p>
        </p:txBody>
      </p:sp>
      <p:sp>
        <p:nvSpPr>
          <p:cNvPr id="28" name="TextBox 27"/>
          <p:cNvSpPr txBox="1"/>
          <p:nvPr/>
        </p:nvSpPr>
        <p:spPr>
          <a:xfrm>
            <a:off x="9418320" y="2926080"/>
            <a:ext cx="2377440" cy="457200"/>
          </a:xfrm>
          <a:prstGeom prst="rect">
            <a:avLst/>
          </a:prstGeom>
          <a:noFill/>
        </p:spPr>
        <p:txBody>
          <a:bodyPr wrap="square">
            <a:spAutoFit/>
          </a:bodyPr>
          <a:lstStyle/>
          <a:p>
            <a:pPr algn="ctr"/>
            <a:r>
              <a:rPr sz="2200" b="1">
                <a:solidFill>
                  <a:srgbClr val="1B3A5F"/>
                </a:solidFill>
                <a:latin typeface="Calibri"/>
              </a:rPr>
              <a:t>Summarize</a:t>
            </a:r>
          </a:p>
        </p:txBody>
      </p:sp>
      <p:sp>
        <p:nvSpPr>
          <p:cNvPr id="29" name="TextBox 28"/>
          <p:cNvSpPr txBox="1"/>
          <p:nvPr/>
        </p:nvSpPr>
        <p:spPr>
          <a:xfrm>
            <a:off x="9418320" y="3566160"/>
            <a:ext cx="2377440" cy="2011680"/>
          </a:xfrm>
          <a:prstGeom prst="rect">
            <a:avLst/>
          </a:prstGeom>
          <a:noFill/>
        </p:spPr>
        <p:txBody>
          <a:bodyPr wrap="square">
            <a:spAutoFit/>
          </a:bodyPr>
          <a:lstStyle/>
          <a:p>
            <a:pPr algn="ctr"/>
            <a:r>
              <a:rPr sz="1500" b="0">
                <a:solidFill>
                  <a:srgbClr val="2D2D2D"/>
                </a:solidFill>
                <a:latin typeface="Calibri"/>
              </a:rPr>
              <a:t>Say the main idea in one clear sentence using evidence</a:t>
            </a:r>
          </a:p>
        </p:txBody>
      </p:sp>
      <p:sp>
        <p:nvSpPr>
          <p:cNvPr id="30" name="Rectangle 29"/>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5–17 min</a:t>
            </a:r>
          </a:p>
        </p:txBody>
      </p:sp>
      <p:sp>
        <p:nvSpPr>
          <p:cNvPr id="32" name="TextBox 31"/>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6/22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READING SKILLS</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Four Skills We’ll Use Today</a:t>
            </a:r>
          </a:p>
        </p:txBody>
      </p:sp>
      <p:sp>
        <p:nvSpPr>
          <p:cNvPr id="7" name="Rounded Rectangle 6"/>
          <p:cNvSpPr/>
          <p:nvPr/>
        </p:nvSpPr>
        <p:spPr>
          <a:xfrm>
            <a:off x="457200" y="1554480"/>
            <a:ext cx="55778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54480"/>
            <a:ext cx="5577840"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5029200" cy="365760"/>
          </a:xfrm>
          <a:prstGeom prst="rect">
            <a:avLst/>
          </a:prstGeom>
          <a:noFill/>
        </p:spPr>
        <p:txBody>
          <a:bodyPr wrap="square">
            <a:spAutoFit/>
          </a:bodyPr>
          <a:lstStyle/>
          <a:p>
            <a:pPr algn="l"/>
            <a:r>
              <a:rPr sz="1800" b="1">
                <a:solidFill>
                  <a:srgbClr val="FFFFFF"/>
                </a:solidFill>
                <a:latin typeface="Calibri"/>
              </a:rPr>
              <a:t>Main Idea</a:t>
            </a:r>
          </a:p>
        </p:txBody>
      </p:sp>
      <p:sp>
        <p:nvSpPr>
          <p:cNvPr id="10" name="TextBox 9"/>
          <p:cNvSpPr txBox="1"/>
          <p:nvPr/>
        </p:nvSpPr>
        <p:spPr>
          <a:xfrm>
            <a:off x="731520" y="2286000"/>
            <a:ext cx="5029200" cy="1097280"/>
          </a:xfrm>
          <a:prstGeom prst="rect">
            <a:avLst/>
          </a:prstGeom>
          <a:noFill/>
        </p:spPr>
        <p:txBody>
          <a:bodyPr wrap="square">
            <a:spAutoFit/>
          </a:bodyPr>
          <a:lstStyle/>
          <a:p>
            <a:pPr algn="l"/>
            <a:r>
              <a:rPr sz="1500" b="0">
                <a:solidFill>
                  <a:srgbClr val="2D2D2D"/>
                </a:solidFill>
                <a:latin typeface="Calibri"/>
              </a:rPr>
              <a:t>What is the passage mostly about?
Hint: Not every detail — the core message.</a:t>
            </a:r>
          </a:p>
        </p:txBody>
      </p:sp>
      <p:sp>
        <p:nvSpPr>
          <p:cNvPr id="11" name="Rounded Rectangle 10"/>
          <p:cNvSpPr/>
          <p:nvPr/>
        </p:nvSpPr>
        <p:spPr>
          <a:xfrm>
            <a:off x="6309360" y="1554480"/>
            <a:ext cx="55778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554480"/>
            <a:ext cx="5577840" cy="5029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645920"/>
            <a:ext cx="5029200" cy="365760"/>
          </a:xfrm>
          <a:prstGeom prst="rect">
            <a:avLst/>
          </a:prstGeom>
          <a:noFill/>
        </p:spPr>
        <p:txBody>
          <a:bodyPr wrap="square">
            <a:spAutoFit/>
          </a:bodyPr>
          <a:lstStyle/>
          <a:p>
            <a:pPr algn="l"/>
            <a:r>
              <a:rPr sz="1800" b="1">
                <a:solidFill>
                  <a:srgbClr val="FFFFFF"/>
                </a:solidFill>
                <a:latin typeface="Calibri"/>
              </a:rPr>
              <a:t>Supporting Details</a:t>
            </a:r>
          </a:p>
        </p:txBody>
      </p:sp>
      <p:sp>
        <p:nvSpPr>
          <p:cNvPr id="14" name="TextBox 13"/>
          <p:cNvSpPr txBox="1"/>
          <p:nvPr/>
        </p:nvSpPr>
        <p:spPr>
          <a:xfrm>
            <a:off x="6583680" y="2286000"/>
            <a:ext cx="5029200" cy="1097280"/>
          </a:xfrm>
          <a:prstGeom prst="rect">
            <a:avLst/>
          </a:prstGeom>
          <a:noFill/>
        </p:spPr>
        <p:txBody>
          <a:bodyPr wrap="square">
            <a:spAutoFit/>
          </a:bodyPr>
          <a:lstStyle/>
          <a:p>
            <a:pPr algn="l"/>
            <a:r>
              <a:rPr sz="1500" b="0">
                <a:solidFill>
                  <a:srgbClr val="2D2D2D"/>
                </a:solidFill>
                <a:latin typeface="Calibri"/>
              </a:rPr>
              <a:t>Which facts / examples prove the main idea?
Look for because, for example, such as.</a:t>
            </a:r>
          </a:p>
        </p:txBody>
      </p:sp>
      <p:sp>
        <p:nvSpPr>
          <p:cNvPr id="15" name="Rounded Rectangle 14"/>
          <p:cNvSpPr/>
          <p:nvPr/>
        </p:nvSpPr>
        <p:spPr>
          <a:xfrm>
            <a:off x="457200" y="3840480"/>
            <a:ext cx="55778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840480"/>
            <a:ext cx="5577840" cy="50292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31920"/>
            <a:ext cx="5029200" cy="365760"/>
          </a:xfrm>
          <a:prstGeom prst="rect">
            <a:avLst/>
          </a:prstGeom>
          <a:noFill/>
        </p:spPr>
        <p:txBody>
          <a:bodyPr wrap="square">
            <a:spAutoFit/>
          </a:bodyPr>
          <a:lstStyle/>
          <a:p>
            <a:pPr algn="l"/>
            <a:r>
              <a:rPr sz="1800" b="1">
                <a:solidFill>
                  <a:srgbClr val="FFFFFF"/>
                </a:solidFill>
                <a:latin typeface="Calibri"/>
              </a:rPr>
              <a:t>Inference</a:t>
            </a:r>
          </a:p>
        </p:txBody>
      </p:sp>
      <p:sp>
        <p:nvSpPr>
          <p:cNvPr id="18" name="TextBox 17"/>
          <p:cNvSpPr txBox="1"/>
          <p:nvPr/>
        </p:nvSpPr>
        <p:spPr>
          <a:xfrm>
            <a:off x="731520" y="4572000"/>
            <a:ext cx="5029200" cy="1097280"/>
          </a:xfrm>
          <a:prstGeom prst="rect">
            <a:avLst/>
          </a:prstGeom>
          <a:noFill/>
        </p:spPr>
        <p:txBody>
          <a:bodyPr wrap="square">
            <a:spAutoFit/>
          </a:bodyPr>
          <a:lstStyle/>
          <a:p>
            <a:pPr algn="l"/>
            <a:r>
              <a:rPr sz="1500" b="0">
                <a:solidFill>
                  <a:srgbClr val="2D2D2D"/>
                </a:solidFill>
                <a:latin typeface="Calibri"/>
              </a:rPr>
              <a:t>What is suggested but not said?
Evidence + your logic = inference.</a:t>
            </a:r>
          </a:p>
        </p:txBody>
      </p:sp>
      <p:sp>
        <p:nvSpPr>
          <p:cNvPr id="19" name="Rounded Rectangle 18"/>
          <p:cNvSpPr/>
          <p:nvPr/>
        </p:nvSpPr>
        <p:spPr>
          <a:xfrm>
            <a:off x="6309360" y="3840480"/>
            <a:ext cx="5577840" cy="20116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3840480"/>
            <a:ext cx="5577840" cy="50292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3931920"/>
            <a:ext cx="5029200" cy="365760"/>
          </a:xfrm>
          <a:prstGeom prst="rect">
            <a:avLst/>
          </a:prstGeom>
          <a:noFill/>
        </p:spPr>
        <p:txBody>
          <a:bodyPr wrap="square">
            <a:spAutoFit/>
          </a:bodyPr>
          <a:lstStyle/>
          <a:p>
            <a:pPr algn="l"/>
            <a:r>
              <a:rPr sz="1800" b="1">
                <a:solidFill>
                  <a:srgbClr val="FFFFFF"/>
                </a:solidFill>
                <a:latin typeface="Calibri"/>
              </a:rPr>
              <a:t>Author’s Purpose</a:t>
            </a:r>
          </a:p>
        </p:txBody>
      </p:sp>
      <p:sp>
        <p:nvSpPr>
          <p:cNvPr id="22" name="TextBox 21"/>
          <p:cNvSpPr txBox="1"/>
          <p:nvPr/>
        </p:nvSpPr>
        <p:spPr>
          <a:xfrm>
            <a:off x="6583680" y="4572000"/>
            <a:ext cx="5029200" cy="1097280"/>
          </a:xfrm>
          <a:prstGeom prst="rect">
            <a:avLst/>
          </a:prstGeom>
          <a:noFill/>
        </p:spPr>
        <p:txBody>
          <a:bodyPr wrap="square">
            <a:spAutoFit/>
          </a:bodyPr>
          <a:lstStyle/>
          <a:p>
            <a:pPr algn="l"/>
            <a:r>
              <a:rPr sz="1500" b="0">
                <a:solidFill>
                  <a:srgbClr val="2D2D2D"/>
                </a:solidFill>
                <a:latin typeface="Calibri"/>
              </a:rPr>
              <a:t>Why was this written?
To inform, persuade, entertain, or explain?</a:t>
            </a:r>
          </a:p>
        </p:txBody>
      </p:sp>
      <p:sp>
        <p:nvSpPr>
          <p:cNvPr id="23" name="Rectangle 22"/>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5–17 min</a:t>
            </a:r>
          </a:p>
        </p:txBody>
      </p:sp>
      <p:sp>
        <p:nvSpPr>
          <p:cNvPr id="25" name="TextBox 24"/>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STRATEGY</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Annotation Code (Use This Every Time)</a:t>
            </a:r>
          </a:p>
        </p:txBody>
      </p:sp>
      <p:sp>
        <p:nvSpPr>
          <p:cNvPr id="7" name="Rounded Rectangle 6"/>
          <p:cNvSpPr/>
          <p:nvPr/>
        </p:nvSpPr>
        <p:spPr>
          <a:xfrm>
            <a:off x="457200" y="1554480"/>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783080" y="1783080"/>
            <a:ext cx="914400" cy="914400"/>
          </a:xfrm>
          <a:prstGeom prst="ellipse">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783080" y="1965960"/>
            <a:ext cx="914400" cy="548640"/>
          </a:xfrm>
          <a:prstGeom prst="rect">
            <a:avLst/>
          </a:prstGeom>
          <a:noFill/>
        </p:spPr>
        <p:txBody>
          <a:bodyPr wrap="square">
            <a:spAutoFit/>
          </a:bodyPr>
          <a:lstStyle/>
          <a:p>
            <a:pPr algn="ctr"/>
            <a:r>
              <a:rPr sz="2200" b="1">
                <a:solidFill>
                  <a:srgbClr val="FFFFFF"/>
                </a:solidFill>
                <a:latin typeface="Calibri"/>
              </a:rPr>
              <a:t>★</a:t>
            </a:r>
          </a:p>
        </p:txBody>
      </p:sp>
      <p:sp>
        <p:nvSpPr>
          <p:cNvPr id="10" name="TextBox 9"/>
          <p:cNvSpPr txBox="1"/>
          <p:nvPr/>
        </p:nvSpPr>
        <p:spPr>
          <a:xfrm>
            <a:off x="640080" y="2788920"/>
            <a:ext cx="3246120" cy="320040"/>
          </a:xfrm>
          <a:prstGeom prst="rect">
            <a:avLst/>
          </a:prstGeom>
          <a:noFill/>
        </p:spPr>
        <p:txBody>
          <a:bodyPr wrap="square">
            <a:spAutoFit/>
          </a:bodyPr>
          <a:lstStyle/>
          <a:p>
            <a:pPr algn="ctr"/>
            <a:r>
              <a:rPr sz="1600" b="1">
                <a:solidFill>
                  <a:srgbClr val="1B3A5F"/>
                </a:solidFill>
                <a:latin typeface="Calibri"/>
              </a:rPr>
              <a:t>Star</a:t>
            </a:r>
          </a:p>
        </p:txBody>
      </p:sp>
      <p:sp>
        <p:nvSpPr>
          <p:cNvPr id="11" name="TextBox 10"/>
          <p:cNvSpPr txBox="1"/>
          <p:nvPr/>
        </p:nvSpPr>
        <p:spPr>
          <a:xfrm>
            <a:off x="640080" y="3108960"/>
            <a:ext cx="3246120" cy="320040"/>
          </a:xfrm>
          <a:prstGeom prst="rect">
            <a:avLst/>
          </a:prstGeom>
          <a:noFill/>
        </p:spPr>
        <p:txBody>
          <a:bodyPr wrap="square">
            <a:spAutoFit/>
          </a:bodyPr>
          <a:lstStyle/>
          <a:p>
            <a:pPr algn="ctr"/>
            <a:r>
              <a:rPr sz="1300" b="0">
                <a:solidFill>
                  <a:srgbClr val="6B7280"/>
                </a:solidFill>
                <a:latin typeface="Calibri"/>
              </a:rPr>
              <a:t>Main idea or most important claim</a:t>
            </a:r>
          </a:p>
        </p:txBody>
      </p:sp>
      <p:sp>
        <p:nvSpPr>
          <p:cNvPr id="12" name="Rounded Rectangle 11"/>
          <p:cNvSpPr/>
          <p:nvPr/>
        </p:nvSpPr>
        <p:spPr>
          <a:xfrm>
            <a:off x="4297680" y="1554480"/>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23560" y="1783080"/>
            <a:ext cx="914400" cy="914400"/>
          </a:xfrm>
          <a:prstGeom prst="ellipse">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23560" y="1965960"/>
            <a:ext cx="914400" cy="548640"/>
          </a:xfrm>
          <a:prstGeom prst="rect">
            <a:avLst/>
          </a:prstGeom>
          <a:noFill/>
        </p:spPr>
        <p:txBody>
          <a:bodyPr wrap="square">
            <a:spAutoFit/>
          </a:bodyPr>
          <a:lstStyle/>
          <a:p>
            <a:pPr algn="ctr"/>
            <a:r>
              <a:rPr sz="2200" b="1">
                <a:solidFill>
                  <a:srgbClr val="FFFFFF"/>
                </a:solidFill>
                <a:latin typeface="Calibri"/>
              </a:rPr>
              <a:t>—</a:t>
            </a:r>
          </a:p>
        </p:txBody>
      </p:sp>
      <p:sp>
        <p:nvSpPr>
          <p:cNvPr id="15" name="TextBox 14"/>
          <p:cNvSpPr txBox="1"/>
          <p:nvPr/>
        </p:nvSpPr>
        <p:spPr>
          <a:xfrm>
            <a:off x="4480560" y="2788920"/>
            <a:ext cx="3246120" cy="320040"/>
          </a:xfrm>
          <a:prstGeom prst="rect">
            <a:avLst/>
          </a:prstGeom>
          <a:noFill/>
        </p:spPr>
        <p:txBody>
          <a:bodyPr wrap="square">
            <a:spAutoFit/>
          </a:bodyPr>
          <a:lstStyle/>
          <a:p>
            <a:pPr algn="ctr"/>
            <a:r>
              <a:rPr sz="1600" b="1">
                <a:solidFill>
                  <a:srgbClr val="1B3A5F"/>
                </a:solidFill>
                <a:latin typeface="Calibri"/>
              </a:rPr>
              <a:t>Underline</a:t>
            </a:r>
          </a:p>
        </p:txBody>
      </p:sp>
      <p:sp>
        <p:nvSpPr>
          <p:cNvPr id="16" name="TextBox 15"/>
          <p:cNvSpPr txBox="1"/>
          <p:nvPr/>
        </p:nvSpPr>
        <p:spPr>
          <a:xfrm>
            <a:off x="4480560" y="3108960"/>
            <a:ext cx="3246120" cy="320040"/>
          </a:xfrm>
          <a:prstGeom prst="rect">
            <a:avLst/>
          </a:prstGeom>
          <a:noFill/>
        </p:spPr>
        <p:txBody>
          <a:bodyPr wrap="square">
            <a:spAutoFit/>
          </a:bodyPr>
          <a:lstStyle/>
          <a:p>
            <a:pPr algn="ctr"/>
            <a:r>
              <a:rPr sz="1300" b="0">
                <a:solidFill>
                  <a:srgbClr val="6B7280"/>
                </a:solidFill>
                <a:latin typeface="Calibri"/>
              </a:rPr>
              <a:t>Strong supporting detail or evidence</a:t>
            </a:r>
          </a:p>
        </p:txBody>
      </p:sp>
      <p:sp>
        <p:nvSpPr>
          <p:cNvPr id="17" name="Rounded Rectangle 16"/>
          <p:cNvSpPr/>
          <p:nvPr/>
        </p:nvSpPr>
        <p:spPr>
          <a:xfrm>
            <a:off x="8138160" y="1554480"/>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464040" y="1783080"/>
            <a:ext cx="914400" cy="914400"/>
          </a:xfrm>
          <a:prstGeom prst="ellipse">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1965960"/>
            <a:ext cx="914400" cy="548640"/>
          </a:xfrm>
          <a:prstGeom prst="rect">
            <a:avLst/>
          </a:prstGeom>
          <a:noFill/>
        </p:spPr>
        <p:txBody>
          <a:bodyPr wrap="square">
            <a:spAutoFit/>
          </a:bodyPr>
          <a:lstStyle/>
          <a:p>
            <a:pPr algn="ctr"/>
            <a:r>
              <a:rPr sz="2200" b="1">
                <a:solidFill>
                  <a:srgbClr val="FFFFFF"/>
                </a:solidFill>
                <a:latin typeface="Calibri"/>
              </a:rPr>
              <a:t>?</a:t>
            </a:r>
          </a:p>
        </p:txBody>
      </p:sp>
      <p:sp>
        <p:nvSpPr>
          <p:cNvPr id="20" name="TextBox 19"/>
          <p:cNvSpPr txBox="1"/>
          <p:nvPr/>
        </p:nvSpPr>
        <p:spPr>
          <a:xfrm>
            <a:off x="8321040" y="2788920"/>
            <a:ext cx="3246120" cy="320040"/>
          </a:xfrm>
          <a:prstGeom prst="rect">
            <a:avLst/>
          </a:prstGeom>
          <a:noFill/>
        </p:spPr>
        <p:txBody>
          <a:bodyPr wrap="square">
            <a:spAutoFit/>
          </a:bodyPr>
          <a:lstStyle/>
          <a:p>
            <a:pPr algn="ctr"/>
            <a:r>
              <a:rPr sz="1600" b="1">
                <a:solidFill>
                  <a:srgbClr val="1B3A5F"/>
                </a:solidFill>
                <a:latin typeface="Calibri"/>
              </a:rPr>
              <a:t>Question mark</a:t>
            </a:r>
          </a:p>
        </p:txBody>
      </p:sp>
      <p:sp>
        <p:nvSpPr>
          <p:cNvPr id="21" name="TextBox 20"/>
          <p:cNvSpPr txBox="1"/>
          <p:nvPr/>
        </p:nvSpPr>
        <p:spPr>
          <a:xfrm>
            <a:off x="8321040" y="3108960"/>
            <a:ext cx="3246120" cy="320040"/>
          </a:xfrm>
          <a:prstGeom prst="rect">
            <a:avLst/>
          </a:prstGeom>
          <a:noFill/>
        </p:spPr>
        <p:txBody>
          <a:bodyPr wrap="square">
            <a:spAutoFit/>
          </a:bodyPr>
          <a:lstStyle/>
          <a:p>
            <a:pPr algn="ctr"/>
            <a:r>
              <a:rPr sz="1300" b="0">
                <a:solidFill>
                  <a:srgbClr val="6B7280"/>
                </a:solidFill>
                <a:latin typeface="Calibri"/>
              </a:rPr>
              <a:t>Confusing word, idea, or sentence</a:t>
            </a:r>
          </a:p>
        </p:txBody>
      </p:sp>
      <p:sp>
        <p:nvSpPr>
          <p:cNvPr id="22" name="Rounded Rectangle 21"/>
          <p:cNvSpPr/>
          <p:nvPr/>
        </p:nvSpPr>
        <p:spPr>
          <a:xfrm>
            <a:off x="457200" y="3749039"/>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783080" y="3977639"/>
            <a:ext cx="914400" cy="9144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783080" y="4160519"/>
            <a:ext cx="914400" cy="548640"/>
          </a:xfrm>
          <a:prstGeom prst="rect">
            <a:avLst/>
          </a:prstGeom>
          <a:noFill/>
        </p:spPr>
        <p:txBody>
          <a:bodyPr wrap="square">
            <a:spAutoFit/>
          </a:bodyPr>
          <a:lstStyle/>
          <a:p>
            <a:pPr algn="ctr"/>
            <a:r>
              <a:rPr sz="2200" b="1">
                <a:solidFill>
                  <a:srgbClr val="FFFFFF"/>
                </a:solidFill>
                <a:latin typeface="Calibri"/>
              </a:rPr>
              <a:t>→</a:t>
            </a:r>
          </a:p>
        </p:txBody>
      </p:sp>
      <p:sp>
        <p:nvSpPr>
          <p:cNvPr id="25" name="TextBox 24"/>
          <p:cNvSpPr txBox="1"/>
          <p:nvPr/>
        </p:nvSpPr>
        <p:spPr>
          <a:xfrm>
            <a:off x="640080" y="4983479"/>
            <a:ext cx="3246120" cy="320040"/>
          </a:xfrm>
          <a:prstGeom prst="rect">
            <a:avLst/>
          </a:prstGeom>
          <a:noFill/>
        </p:spPr>
        <p:txBody>
          <a:bodyPr wrap="square">
            <a:spAutoFit/>
          </a:bodyPr>
          <a:lstStyle/>
          <a:p>
            <a:pPr algn="ctr"/>
            <a:r>
              <a:rPr sz="1600" b="1">
                <a:solidFill>
                  <a:srgbClr val="1B3A5F"/>
                </a:solidFill>
                <a:latin typeface="Calibri"/>
              </a:rPr>
              <a:t>Arrow</a:t>
            </a:r>
          </a:p>
        </p:txBody>
      </p:sp>
      <p:sp>
        <p:nvSpPr>
          <p:cNvPr id="26" name="TextBox 25"/>
          <p:cNvSpPr txBox="1"/>
          <p:nvPr/>
        </p:nvSpPr>
        <p:spPr>
          <a:xfrm>
            <a:off x="640080" y="5303519"/>
            <a:ext cx="3246120" cy="320040"/>
          </a:xfrm>
          <a:prstGeom prst="rect">
            <a:avLst/>
          </a:prstGeom>
          <a:noFill/>
        </p:spPr>
        <p:txBody>
          <a:bodyPr wrap="square">
            <a:spAutoFit/>
          </a:bodyPr>
          <a:lstStyle/>
          <a:p>
            <a:pPr algn="ctr"/>
            <a:r>
              <a:rPr sz="1300" b="0">
                <a:solidFill>
                  <a:srgbClr val="6B7280"/>
                </a:solidFill>
                <a:latin typeface="Calibri"/>
              </a:rPr>
              <a:t>Cause → effect or “this leads to…”</a:t>
            </a:r>
          </a:p>
        </p:txBody>
      </p:sp>
      <p:sp>
        <p:nvSpPr>
          <p:cNvPr id="27" name="Rounded Rectangle 26"/>
          <p:cNvSpPr/>
          <p:nvPr/>
        </p:nvSpPr>
        <p:spPr>
          <a:xfrm>
            <a:off x="4297680" y="3749039"/>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23560" y="3977639"/>
            <a:ext cx="914400" cy="91440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23560" y="4160519"/>
            <a:ext cx="914400" cy="548640"/>
          </a:xfrm>
          <a:prstGeom prst="rect">
            <a:avLst/>
          </a:prstGeom>
          <a:noFill/>
        </p:spPr>
        <p:txBody>
          <a:bodyPr wrap="square">
            <a:spAutoFit/>
          </a:bodyPr>
          <a:lstStyle/>
          <a:p>
            <a:pPr algn="ctr"/>
            <a:r>
              <a:rPr sz="2200" b="1">
                <a:solidFill>
                  <a:srgbClr val="FFFFFF"/>
                </a:solidFill>
                <a:latin typeface="Calibri"/>
              </a:rPr>
              <a:t>" "</a:t>
            </a:r>
          </a:p>
        </p:txBody>
      </p:sp>
      <p:sp>
        <p:nvSpPr>
          <p:cNvPr id="30" name="TextBox 29"/>
          <p:cNvSpPr txBox="1"/>
          <p:nvPr/>
        </p:nvSpPr>
        <p:spPr>
          <a:xfrm>
            <a:off x="4480560" y="4983479"/>
            <a:ext cx="3246120" cy="320040"/>
          </a:xfrm>
          <a:prstGeom prst="rect">
            <a:avLst/>
          </a:prstGeom>
          <a:noFill/>
        </p:spPr>
        <p:txBody>
          <a:bodyPr wrap="square">
            <a:spAutoFit/>
          </a:bodyPr>
          <a:lstStyle/>
          <a:p>
            <a:pPr algn="ctr"/>
            <a:r>
              <a:rPr sz="1600" b="1">
                <a:solidFill>
                  <a:srgbClr val="1B3A5F"/>
                </a:solidFill>
                <a:latin typeface="Calibri"/>
              </a:rPr>
              <a:t>Quotes</a:t>
            </a:r>
          </a:p>
        </p:txBody>
      </p:sp>
      <p:sp>
        <p:nvSpPr>
          <p:cNvPr id="31" name="TextBox 30"/>
          <p:cNvSpPr txBox="1"/>
          <p:nvPr/>
        </p:nvSpPr>
        <p:spPr>
          <a:xfrm>
            <a:off x="4480560" y="5303519"/>
            <a:ext cx="3246120" cy="320040"/>
          </a:xfrm>
          <a:prstGeom prst="rect">
            <a:avLst/>
          </a:prstGeom>
          <a:noFill/>
        </p:spPr>
        <p:txBody>
          <a:bodyPr wrap="square">
            <a:spAutoFit/>
          </a:bodyPr>
          <a:lstStyle/>
          <a:p>
            <a:pPr algn="ctr"/>
            <a:r>
              <a:rPr sz="1300" b="0">
                <a:solidFill>
                  <a:srgbClr val="6B7280"/>
                </a:solidFill>
                <a:latin typeface="Calibri"/>
              </a:rPr>
              <a:t>Words that show tone / feeling</a:t>
            </a:r>
          </a:p>
        </p:txBody>
      </p:sp>
      <p:sp>
        <p:nvSpPr>
          <p:cNvPr id="32" name="Rounded Rectangle 31"/>
          <p:cNvSpPr/>
          <p:nvPr/>
        </p:nvSpPr>
        <p:spPr>
          <a:xfrm>
            <a:off x="8138160" y="3749039"/>
            <a:ext cx="3611880" cy="1965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464040" y="3977639"/>
            <a:ext cx="914400" cy="91440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64040" y="4160519"/>
            <a:ext cx="914400" cy="548640"/>
          </a:xfrm>
          <a:prstGeom prst="rect">
            <a:avLst/>
          </a:prstGeom>
          <a:noFill/>
        </p:spPr>
        <p:txBody>
          <a:bodyPr wrap="square">
            <a:spAutoFit/>
          </a:bodyPr>
          <a:lstStyle/>
          <a:p>
            <a:pPr algn="ctr"/>
            <a:r>
              <a:rPr sz="2200" b="1">
                <a:solidFill>
                  <a:srgbClr val="FFFFFF"/>
                </a:solidFill>
                <a:latin typeface="Calibri"/>
              </a:rPr>
              <a:t>!</a:t>
            </a:r>
          </a:p>
        </p:txBody>
      </p:sp>
      <p:sp>
        <p:nvSpPr>
          <p:cNvPr id="35" name="TextBox 34"/>
          <p:cNvSpPr txBox="1"/>
          <p:nvPr/>
        </p:nvSpPr>
        <p:spPr>
          <a:xfrm>
            <a:off x="8321040" y="4983479"/>
            <a:ext cx="3246120" cy="320040"/>
          </a:xfrm>
          <a:prstGeom prst="rect">
            <a:avLst/>
          </a:prstGeom>
          <a:noFill/>
        </p:spPr>
        <p:txBody>
          <a:bodyPr wrap="square">
            <a:spAutoFit/>
          </a:bodyPr>
          <a:lstStyle/>
          <a:p>
            <a:pPr algn="ctr"/>
            <a:r>
              <a:rPr sz="1600" b="1">
                <a:solidFill>
                  <a:srgbClr val="1B3A5F"/>
                </a:solidFill>
                <a:latin typeface="Calibri"/>
              </a:rPr>
              <a:t>Exclamation</a:t>
            </a:r>
          </a:p>
        </p:txBody>
      </p:sp>
      <p:sp>
        <p:nvSpPr>
          <p:cNvPr id="36" name="TextBox 35"/>
          <p:cNvSpPr txBox="1"/>
          <p:nvPr/>
        </p:nvSpPr>
        <p:spPr>
          <a:xfrm>
            <a:off x="8321040" y="5303519"/>
            <a:ext cx="3246120" cy="320040"/>
          </a:xfrm>
          <a:prstGeom prst="rect">
            <a:avLst/>
          </a:prstGeom>
          <a:noFill/>
        </p:spPr>
        <p:txBody>
          <a:bodyPr wrap="square">
            <a:spAutoFit/>
          </a:bodyPr>
          <a:lstStyle/>
          <a:p>
            <a:pPr algn="ctr"/>
            <a:r>
              <a:rPr sz="1300" b="0">
                <a:solidFill>
                  <a:srgbClr val="6B7280"/>
                </a:solidFill>
                <a:latin typeface="Calibri"/>
              </a:rPr>
              <a:t>Surprising fact or twist</a:t>
            </a:r>
          </a:p>
        </p:txBody>
      </p:sp>
      <p:sp>
        <p:nvSpPr>
          <p:cNvPr id="37" name="Rectangle 3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5–17 min</a:t>
            </a:r>
          </a:p>
        </p:txBody>
      </p:sp>
      <p:sp>
        <p:nvSpPr>
          <p:cNvPr id="39" name="TextBox 38"/>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8/22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GUIDED PRACTICE</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15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600" b="1">
                <a:solidFill>
                  <a:srgbClr val="1B3A5F"/>
                </a:solidFill>
                <a:latin typeface="Georgia"/>
              </a:rPr>
              <a:t>Guided Passage: “The Quiet Power of Curiosity”</a:t>
            </a:r>
          </a:p>
        </p:txBody>
      </p:sp>
      <p:sp>
        <p:nvSpPr>
          <p:cNvPr id="9" name="Rounded Rectangle 8"/>
          <p:cNvSpPr/>
          <p:nvPr/>
        </p:nvSpPr>
        <p:spPr>
          <a:xfrm>
            <a:off x="457200" y="1463040"/>
            <a:ext cx="11247120" cy="4572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10698480" cy="4023360"/>
          </a:xfrm>
          <a:prstGeom prst="rect">
            <a:avLst/>
          </a:prstGeom>
          <a:noFill/>
        </p:spPr>
        <p:txBody>
          <a:bodyPr wrap="square">
            <a:spAutoFit/>
          </a:bodyPr>
          <a:lstStyle/>
          <a:p>
            <a:pPr algn="l"/>
            <a:r>
              <a:rPr sz="1600" b="0">
                <a:solidFill>
                  <a:srgbClr val="2D2D2D"/>
                </a:solidFill>
                <a:latin typeface="Calibri"/>
              </a:rPr>
              <a:t>Curiosity is often treated like a childhood habit — something people grow out of as they become “serious.” Yet some of the most useful breakthroughs begin with a simple question: Why?
When students ask better questions, they don’t just collect facts; they connect ideas. A science learner who wonders why ice floats may discover density. A history student who asks why a law changed may uncover the people who fought for it. Curiosity turns passive reading into active thinking.
Still, curiosity needs guidance. Without focus, questions scatter. Strong readers pause, notice patterns, and chase the most meaningful “why.” That habit — asking, checking evidence, and revising thinking — is what transforms good English into powerful understanding.</a:t>
            </a:r>
          </a:p>
        </p:txBody>
      </p:sp>
      <p:sp>
        <p:nvSpPr>
          <p:cNvPr id="11" name="Rectangle 10"/>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17–32 min</a:t>
            </a:r>
          </a:p>
        </p:txBody>
      </p:sp>
      <p:sp>
        <p:nvSpPr>
          <p:cNvPr id="13" name="TextBox 12"/>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9/22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YOUR TASK</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400" b="1">
                <a:solidFill>
                  <a:srgbClr val="1B3A5F"/>
                </a:solidFill>
                <a:latin typeface="Georgia"/>
              </a:rPr>
              <a:t>Read → Annotate → Answer (10 min work + 5 min share)</a:t>
            </a:r>
          </a:p>
        </p:txBody>
      </p:sp>
      <p:sp>
        <p:nvSpPr>
          <p:cNvPr id="7" name="Rounded Rectangle 6"/>
          <p:cNvSpPr/>
          <p:nvPr/>
        </p:nvSpPr>
        <p:spPr>
          <a:xfrm>
            <a:off x="457200" y="146304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627632"/>
            <a:ext cx="128016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91640"/>
            <a:ext cx="1280160" cy="365760"/>
          </a:xfrm>
          <a:prstGeom prst="rect">
            <a:avLst/>
          </a:prstGeom>
          <a:noFill/>
        </p:spPr>
        <p:txBody>
          <a:bodyPr wrap="square">
            <a:spAutoFit/>
          </a:bodyPr>
          <a:lstStyle/>
          <a:p>
            <a:pPr algn="ctr"/>
            <a:r>
              <a:rPr sz="1400" b="1">
                <a:solidFill>
                  <a:srgbClr val="FFFFFF"/>
                </a:solidFill>
                <a:latin typeface="Calibri"/>
              </a:rPr>
              <a:t>Step 1</a:t>
            </a:r>
          </a:p>
        </p:txBody>
      </p:sp>
      <p:sp>
        <p:nvSpPr>
          <p:cNvPr id="10" name="TextBox 9"/>
          <p:cNvSpPr txBox="1"/>
          <p:nvPr/>
        </p:nvSpPr>
        <p:spPr>
          <a:xfrm>
            <a:off x="2194560" y="1691640"/>
            <a:ext cx="9144000" cy="411480"/>
          </a:xfrm>
          <a:prstGeom prst="rect">
            <a:avLst/>
          </a:prstGeom>
          <a:noFill/>
        </p:spPr>
        <p:txBody>
          <a:bodyPr wrap="square">
            <a:spAutoFit/>
          </a:bodyPr>
          <a:lstStyle/>
          <a:p>
            <a:pPr algn="l"/>
            <a:r>
              <a:rPr sz="1700" b="0">
                <a:solidFill>
                  <a:srgbClr val="2D2D2D"/>
                </a:solidFill>
                <a:latin typeface="Calibri"/>
              </a:rPr>
              <a:t>Read once for the big picture. Don’t stop yet.</a:t>
            </a:r>
          </a:p>
        </p:txBody>
      </p:sp>
      <p:sp>
        <p:nvSpPr>
          <p:cNvPr id="11" name="Rounded Rectangle 10"/>
          <p:cNvSpPr/>
          <p:nvPr/>
        </p:nvSpPr>
        <p:spPr>
          <a:xfrm>
            <a:off x="457200" y="233172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496312"/>
            <a:ext cx="128016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60320"/>
            <a:ext cx="1280160" cy="365760"/>
          </a:xfrm>
          <a:prstGeom prst="rect">
            <a:avLst/>
          </a:prstGeom>
          <a:noFill/>
        </p:spPr>
        <p:txBody>
          <a:bodyPr wrap="square">
            <a:spAutoFit/>
          </a:bodyPr>
          <a:lstStyle/>
          <a:p>
            <a:pPr algn="ctr"/>
            <a:r>
              <a:rPr sz="1400" b="1">
                <a:solidFill>
                  <a:srgbClr val="FFFFFF"/>
                </a:solidFill>
                <a:latin typeface="Calibri"/>
              </a:rPr>
              <a:t>Step 2</a:t>
            </a:r>
          </a:p>
        </p:txBody>
      </p:sp>
      <p:sp>
        <p:nvSpPr>
          <p:cNvPr id="14" name="TextBox 13"/>
          <p:cNvSpPr txBox="1"/>
          <p:nvPr/>
        </p:nvSpPr>
        <p:spPr>
          <a:xfrm>
            <a:off x="2194560" y="2560320"/>
            <a:ext cx="9144000" cy="411480"/>
          </a:xfrm>
          <a:prstGeom prst="rect">
            <a:avLst/>
          </a:prstGeom>
          <a:noFill/>
        </p:spPr>
        <p:txBody>
          <a:bodyPr wrap="square">
            <a:spAutoFit/>
          </a:bodyPr>
          <a:lstStyle/>
          <a:p>
            <a:pPr algn="l"/>
            <a:r>
              <a:rPr sz="1700" b="0">
                <a:solidFill>
                  <a:srgbClr val="2D2D2D"/>
                </a:solidFill>
                <a:latin typeface="Calibri"/>
              </a:rPr>
              <a:t>Read again with the annotation code (★ — ? →).</a:t>
            </a:r>
          </a:p>
        </p:txBody>
      </p:sp>
      <p:sp>
        <p:nvSpPr>
          <p:cNvPr id="15" name="Rounded Rectangle 14"/>
          <p:cNvSpPr/>
          <p:nvPr/>
        </p:nvSpPr>
        <p:spPr>
          <a:xfrm>
            <a:off x="457200" y="320040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3364992"/>
            <a:ext cx="128016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429000"/>
            <a:ext cx="1280160" cy="365760"/>
          </a:xfrm>
          <a:prstGeom prst="rect">
            <a:avLst/>
          </a:prstGeom>
          <a:noFill/>
        </p:spPr>
        <p:txBody>
          <a:bodyPr wrap="square">
            <a:spAutoFit/>
          </a:bodyPr>
          <a:lstStyle/>
          <a:p>
            <a:pPr algn="ctr"/>
            <a:r>
              <a:rPr sz="1400" b="1">
                <a:solidFill>
                  <a:srgbClr val="FFFFFF"/>
                </a:solidFill>
                <a:latin typeface="Calibri"/>
              </a:rPr>
              <a:t>Step 3</a:t>
            </a:r>
          </a:p>
        </p:txBody>
      </p:sp>
      <p:sp>
        <p:nvSpPr>
          <p:cNvPr id="18" name="TextBox 17"/>
          <p:cNvSpPr txBox="1"/>
          <p:nvPr/>
        </p:nvSpPr>
        <p:spPr>
          <a:xfrm>
            <a:off x="2194560" y="3429000"/>
            <a:ext cx="9144000" cy="411480"/>
          </a:xfrm>
          <a:prstGeom prst="rect">
            <a:avLst/>
          </a:prstGeom>
          <a:noFill/>
        </p:spPr>
        <p:txBody>
          <a:bodyPr wrap="square">
            <a:spAutoFit/>
          </a:bodyPr>
          <a:lstStyle/>
          <a:p>
            <a:pPr algn="l"/>
            <a:r>
              <a:rPr sz="1700" b="0">
                <a:solidFill>
                  <a:srgbClr val="2D2D2D"/>
                </a:solidFill>
                <a:latin typeface="Calibri"/>
              </a:rPr>
              <a:t>Write a one-sentence main idea.</a:t>
            </a:r>
          </a:p>
        </p:txBody>
      </p:sp>
      <p:sp>
        <p:nvSpPr>
          <p:cNvPr id="19" name="Rounded Rectangle 18"/>
          <p:cNvSpPr/>
          <p:nvPr/>
        </p:nvSpPr>
        <p:spPr>
          <a:xfrm>
            <a:off x="457200" y="4069079"/>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 y="4233671"/>
            <a:ext cx="128016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297679"/>
            <a:ext cx="1280160" cy="365760"/>
          </a:xfrm>
          <a:prstGeom prst="rect">
            <a:avLst/>
          </a:prstGeom>
          <a:noFill/>
        </p:spPr>
        <p:txBody>
          <a:bodyPr wrap="square">
            <a:spAutoFit/>
          </a:bodyPr>
          <a:lstStyle/>
          <a:p>
            <a:pPr algn="ctr"/>
            <a:r>
              <a:rPr sz="1400" b="1">
                <a:solidFill>
                  <a:srgbClr val="FFFFFF"/>
                </a:solidFill>
                <a:latin typeface="Calibri"/>
              </a:rPr>
              <a:t>Step 4</a:t>
            </a:r>
          </a:p>
        </p:txBody>
      </p:sp>
      <p:sp>
        <p:nvSpPr>
          <p:cNvPr id="22" name="TextBox 21"/>
          <p:cNvSpPr txBox="1"/>
          <p:nvPr/>
        </p:nvSpPr>
        <p:spPr>
          <a:xfrm>
            <a:off x="2194560" y="4297679"/>
            <a:ext cx="9144000" cy="411480"/>
          </a:xfrm>
          <a:prstGeom prst="rect">
            <a:avLst/>
          </a:prstGeom>
          <a:noFill/>
        </p:spPr>
        <p:txBody>
          <a:bodyPr wrap="square">
            <a:spAutoFit/>
          </a:bodyPr>
          <a:lstStyle/>
          <a:p>
            <a:pPr algn="l"/>
            <a:r>
              <a:rPr sz="1700" b="0">
                <a:solidFill>
                  <a:srgbClr val="2D2D2D"/>
                </a:solidFill>
                <a:latin typeface="Calibri"/>
              </a:rPr>
              <a:t>Answer the comprehension questions on the next slide.</a:t>
            </a:r>
          </a:p>
        </p:txBody>
      </p:sp>
      <p:sp>
        <p:nvSpPr>
          <p:cNvPr id="23" name="Rounded Rectangle 22"/>
          <p:cNvSpPr/>
          <p:nvPr/>
        </p:nvSpPr>
        <p:spPr>
          <a:xfrm>
            <a:off x="457200" y="493776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 y="5102352"/>
            <a:ext cx="1280160" cy="45720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166360"/>
            <a:ext cx="1280160" cy="365760"/>
          </a:xfrm>
          <a:prstGeom prst="rect">
            <a:avLst/>
          </a:prstGeom>
          <a:noFill/>
        </p:spPr>
        <p:txBody>
          <a:bodyPr wrap="square">
            <a:spAutoFit/>
          </a:bodyPr>
          <a:lstStyle/>
          <a:p>
            <a:pPr algn="ctr"/>
            <a:r>
              <a:rPr sz="1400" b="1">
                <a:solidFill>
                  <a:srgbClr val="FFFFFF"/>
                </a:solidFill>
                <a:latin typeface="Calibri"/>
              </a:rPr>
              <a:t>Step 5</a:t>
            </a:r>
          </a:p>
        </p:txBody>
      </p:sp>
      <p:sp>
        <p:nvSpPr>
          <p:cNvPr id="26" name="TextBox 25"/>
          <p:cNvSpPr txBox="1"/>
          <p:nvPr/>
        </p:nvSpPr>
        <p:spPr>
          <a:xfrm>
            <a:off x="2194560" y="5166360"/>
            <a:ext cx="9144000" cy="411480"/>
          </a:xfrm>
          <a:prstGeom prst="rect">
            <a:avLst/>
          </a:prstGeom>
          <a:noFill/>
        </p:spPr>
        <p:txBody>
          <a:bodyPr wrap="square">
            <a:spAutoFit/>
          </a:bodyPr>
          <a:lstStyle/>
          <a:p>
            <a:pPr algn="l"/>
            <a:r>
              <a:rPr sz="1700" b="0">
                <a:solidFill>
                  <a:srgbClr val="2D2D2D"/>
                </a:solidFill>
                <a:latin typeface="Calibri"/>
              </a:rPr>
              <a:t>Be ready to share one annotation and why you marked it.</a:t>
            </a:r>
          </a:p>
        </p:txBody>
      </p:sp>
      <p:sp>
        <p:nvSpPr>
          <p:cNvPr id="27" name="Rectangle 2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17–32 min</a:t>
            </a:r>
          </a:p>
        </p:txBody>
      </p:sp>
      <p:sp>
        <p:nvSpPr>
          <p:cNvPr id="29" name="TextBox 28"/>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COMPREHENSION</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Comprehension Questions</a:t>
            </a:r>
          </a:p>
        </p:txBody>
      </p:sp>
      <p:sp>
        <p:nvSpPr>
          <p:cNvPr id="7" name="Rounded Rectangle 6"/>
          <p:cNvSpPr/>
          <p:nvPr/>
        </p:nvSpPr>
        <p:spPr>
          <a:xfrm>
            <a:off x="457200" y="141732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600200"/>
            <a:ext cx="1645920" cy="41148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645920"/>
            <a:ext cx="1645920" cy="320040"/>
          </a:xfrm>
          <a:prstGeom prst="rect">
            <a:avLst/>
          </a:prstGeom>
          <a:noFill/>
        </p:spPr>
        <p:txBody>
          <a:bodyPr wrap="square">
            <a:spAutoFit/>
          </a:bodyPr>
          <a:lstStyle/>
          <a:p>
            <a:pPr algn="ctr"/>
            <a:r>
              <a:rPr sz="1200" b="1">
                <a:solidFill>
                  <a:srgbClr val="FFFFFF"/>
                </a:solidFill>
                <a:latin typeface="Calibri"/>
              </a:rPr>
              <a:t>Main Idea</a:t>
            </a:r>
          </a:p>
        </p:txBody>
      </p:sp>
      <p:sp>
        <p:nvSpPr>
          <p:cNvPr id="10" name="TextBox 9"/>
          <p:cNvSpPr txBox="1"/>
          <p:nvPr/>
        </p:nvSpPr>
        <p:spPr>
          <a:xfrm>
            <a:off x="2468880" y="1645920"/>
            <a:ext cx="8961120" cy="411480"/>
          </a:xfrm>
          <a:prstGeom prst="rect">
            <a:avLst/>
          </a:prstGeom>
          <a:noFill/>
        </p:spPr>
        <p:txBody>
          <a:bodyPr wrap="square">
            <a:spAutoFit/>
          </a:bodyPr>
          <a:lstStyle/>
          <a:p>
            <a:pPr algn="l"/>
            <a:r>
              <a:rPr sz="1500" b="0">
                <a:solidFill>
                  <a:srgbClr val="2D2D2D"/>
                </a:solidFill>
                <a:latin typeface="Calibri"/>
              </a:rPr>
              <a:t>1. What is the central message of the passage?</a:t>
            </a:r>
          </a:p>
        </p:txBody>
      </p:sp>
      <p:sp>
        <p:nvSpPr>
          <p:cNvPr id="11" name="Rounded Rectangle 10"/>
          <p:cNvSpPr/>
          <p:nvPr/>
        </p:nvSpPr>
        <p:spPr>
          <a:xfrm>
            <a:off x="457200" y="228600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40080" y="2468880"/>
            <a:ext cx="1645920" cy="41148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514600"/>
            <a:ext cx="1645920" cy="320040"/>
          </a:xfrm>
          <a:prstGeom prst="rect">
            <a:avLst/>
          </a:prstGeom>
          <a:noFill/>
        </p:spPr>
        <p:txBody>
          <a:bodyPr wrap="square">
            <a:spAutoFit/>
          </a:bodyPr>
          <a:lstStyle/>
          <a:p>
            <a:pPr algn="ctr"/>
            <a:r>
              <a:rPr sz="1200" b="1">
                <a:solidFill>
                  <a:srgbClr val="FFFFFF"/>
                </a:solidFill>
                <a:latin typeface="Calibri"/>
              </a:rPr>
              <a:t>Detail</a:t>
            </a:r>
          </a:p>
        </p:txBody>
      </p:sp>
      <p:sp>
        <p:nvSpPr>
          <p:cNvPr id="14" name="TextBox 13"/>
          <p:cNvSpPr txBox="1"/>
          <p:nvPr/>
        </p:nvSpPr>
        <p:spPr>
          <a:xfrm>
            <a:off x="2468880" y="2514600"/>
            <a:ext cx="8961120" cy="411480"/>
          </a:xfrm>
          <a:prstGeom prst="rect">
            <a:avLst/>
          </a:prstGeom>
          <a:noFill/>
        </p:spPr>
        <p:txBody>
          <a:bodyPr wrap="square">
            <a:spAutoFit/>
          </a:bodyPr>
          <a:lstStyle/>
          <a:p>
            <a:pPr algn="l"/>
            <a:r>
              <a:rPr sz="1500" b="0">
                <a:solidFill>
                  <a:srgbClr val="2D2D2D"/>
                </a:solidFill>
                <a:latin typeface="Calibri"/>
              </a:rPr>
              <a:t>2. According to the text, what happens when students ask better questions?</a:t>
            </a:r>
          </a:p>
        </p:txBody>
      </p:sp>
      <p:sp>
        <p:nvSpPr>
          <p:cNvPr id="15" name="Rounded Rectangle 14"/>
          <p:cNvSpPr/>
          <p:nvPr/>
        </p:nvSpPr>
        <p:spPr>
          <a:xfrm>
            <a:off x="457200" y="315468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0080" y="3337560"/>
            <a:ext cx="1645920" cy="411480"/>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383280"/>
            <a:ext cx="1645920" cy="320040"/>
          </a:xfrm>
          <a:prstGeom prst="rect">
            <a:avLst/>
          </a:prstGeom>
          <a:noFill/>
        </p:spPr>
        <p:txBody>
          <a:bodyPr wrap="square">
            <a:spAutoFit/>
          </a:bodyPr>
          <a:lstStyle/>
          <a:p>
            <a:pPr algn="ctr"/>
            <a:r>
              <a:rPr sz="1200" b="1">
                <a:solidFill>
                  <a:srgbClr val="FFFFFF"/>
                </a:solidFill>
                <a:latin typeface="Calibri"/>
              </a:rPr>
              <a:t>Inference</a:t>
            </a:r>
          </a:p>
        </p:txBody>
      </p:sp>
      <p:sp>
        <p:nvSpPr>
          <p:cNvPr id="18" name="TextBox 17"/>
          <p:cNvSpPr txBox="1"/>
          <p:nvPr/>
        </p:nvSpPr>
        <p:spPr>
          <a:xfrm>
            <a:off x="2468880" y="3383280"/>
            <a:ext cx="8961120" cy="411480"/>
          </a:xfrm>
          <a:prstGeom prst="rect">
            <a:avLst/>
          </a:prstGeom>
          <a:noFill/>
        </p:spPr>
        <p:txBody>
          <a:bodyPr wrap="square">
            <a:spAutoFit/>
          </a:bodyPr>
          <a:lstStyle/>
          <a:p>
            <a:pPr algn="l"/>
            <a:r>
              <a:rPr sz="1500" b="0">
                <a:solidFill>
                  <a:srgbClr val="2D2D2D"/>
                </a:solidFill>
                <a:latin typeface="Calibri"/>
              </a:rPr>
              <a:t>3. What does the author suggest about people who stop being curious?</a:t>
            </a:r>
          </a:p>
        </p:txBody>
      </p:sp>
      <p:sp>
        <p:nvSpPr>
          <p:cNvPr id="19" name="Rounded Rectangle 18"/>
          <p:cNvSpPr/>
          <p:nvPr/>
        </p:nvSpPr>
        <p:spPr>
          <a:xfrm>
            <a:off x="457200" y="4023359"/>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080" y="4206239"/>
            <a:ext cx="1645920" cy="411480"/>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251959"/>
            <a:ext cx="1645920" cy="320040"/>
          </a:xfrm>
          <a:prstGeom prst="rect">
            <a:avLst/>
          </a:prstGeom>
          <a:noFill/>
        </p:spPr>
        <p:txBody>
          <a:bodyPr wrap="square">
            <a:spAutoFit/>
          </a:bodyPr>
          <a:lstStyle/>
          <a:p>
            <a:pPr algn="ctr"/>
            <a:r>
              <a:rPr sz="1200" b="1">
                <a:solidFill>
                  <a:srgbClr val="FFFFFF"/>
                </a:solidFill>
                <a:latin typeface="Calibri"/>
              </a:rPr>
              <a:t>Purpose</a:t>
            </a:r>
          </a:p>
        </p:txBody>
      </p:sp>
      <p:sp>
        <p:nvSpPr>
          <p:cNvPr id="22" name="TextBox 21"/>
          <p:cNvSpPr txBox="1"/>
          <p:nvPr/>
        </p:nvSpPr>
        <p:spPr>
          <a:xfrm>
            <a:off x="2468880" y="4251959"/>
            <a:ext cx="8961120" cy="411480"/>
          </a:xfrm>
          <a:prstGeom prst="rect">
            <a:avLst/>
          </a:prstGeom>
          <a:noFill/>
        </p:spPr>
        <p:txBody>
          <a:bodyPr wrap="square">
            <a:spAutoFit/>
          </a:bodyPr>
          <a:lstStyle/>
          <a:p>
            <a:pPr algn="l"/>
            <a:r>
              <a:rPr sz="1500" b="0">
                <a:solidFill>
                  <a:srgbClr val="2D2D2D"/>
                </a:solidFill>
                <a:latin typeface="Calibri"/>
              </a:rPr>
              <a:t>4. Is the author’s main purpose to entertain, inform, or persuade? Explain.</a:t>
            </a:r>
          </a:p>
        </p:txBody>
      </p:sp>
      <p:sp>
        <p:nvSpPr>
          <p:cNvPr id="23" name="Rounded Rectangle 22"/>
          <p:cNvSpPr/>
          <p:nvPr/>
        </p:nvSpPr>
        <p:spPr>
          <a:xfrm>
            <a:off x="457200" y="489204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 y="5074920"/>
            <a:ext cx="1645920" cy="411480"/>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5120640"/>
            <a:ext cx="1645920" cy="320040"/>
          </a:xfrm>
          <a:prstGeom prst="rect">
            <a:avLst/>
          </a:prstGeom>
          <a:noFill/>
        </p:spPr>
        <p:txBody>
          <a:bodyPr wrap="square">
            <a:spAutoFit/>
          </a:bodyPr>
          <a:lstStyle/>
          <a:p>
            <a:pPr algn="ctr"/>
            <a:r>
              <a:rPr sz="1200" b="1">
                <a:solidFill>
                  <a:srgbClr val="FFFFFF"/>
                </a:solidFill>
                <a:latin typeface="Calibri"/>
              </a:rPr>
              <a:t>Evidence</a:t>
            </a:r>
          </a:p>
        </p:txBody>
      </p:sp>
      <p:sp>
        <p:nvSpPr>
          <p:cNvPr id="26" name="TextBox 25"/>
          <p:cNvSpPr txBox="1"/>
          <p:nvPr/>
        </p:nvSpPr>
        <p:spPr>
          <a:xfrm>
            <a:off x="2468880" y="5120640"/>
            <a:ext cx="8961120" cy="411480"/>
          </a:xfrm>
          <a:prstGeom prst="rect">
            <a:avLst/>
          </a:prstGeom>
          <a:noFill/>
        </p:spPr>
        <p:txBody>
          <a:bodyPr wrap="square">
            <a:spAutoFit/>
          </a:bodyPr>
          <a:lstStyle/>
          <a:p>
            <a:pPr algn="l"/>
            <a:r>
              <a:rPr sz="1500" b="0">
                <a:solidFill>
                  <a:srgbClr val="2D2D2D"/>
                </a:solidFill>
                <a:latin typeface="Calibri"/>
              </a:rPr>
              <a:t>5. Quote one sentence that best supports your main-idea answer.</a:t>
            </a:r>
          </a:p>
        </p:txBody>
      </p:sp>
      <p:sp>
        <p:nvSpPr>
          <p:cNvPr id="27" name="Rectangle 2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17–32 min</a:t>
            </a:r>
          </a:p>
        </p:txBody>
      </p:sp>
      <p:sp>
        <p:nvSpPr>
          <p:cNvPr id="29" name="TextBox 28"/>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11/22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ANSWER KEY</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Model Answers (Discuss Variations)</a:t>
            </a:r>
          </a:p>
        </p:txBody>
      </p:sp>
      <p:sp>
        <p:nvSpPr>
          <p:cNvPr id="7" name="TextBox 6"/>
          <p:cNvSpPr txBox="1"/>
          <p:nvPr/>
        </p:nvSpPr>
        <p:spPr>
          <a:xfrm>
            <a:off x="457200" y="1463040"/>
            <a:ext cx="11247120" cy="4572000"/>
          </a:xfrm>
          <a:prstGeom prst="rect">
            <a:avLst/>
          </a:prstGeom>
          <a:noFill/>
        </p:spPr>
        <p:txBody>
          <a:bodyPr wrap="square">
            <a:spAutoFit/>
          </a:bodyPr>
          <a:lstStyle/>
          <a:p>
            <a:pPr algn="l">
              <a:spcAft>
                <a:spcPts val="1400"/>
              </a:spcAft>
            </a:pPr>
            <a:r>
              <a:rPr sz="1600" b="0">
                <a:solidFill>
                  <a:srgbClr val="2D2D2D"/>
                </a:solidFill>
                <a:latin typeface="Calibri"/>
              </a:rPr>
              <a:t>•  Main idea: Curiosity, when guided, turns reading into deeper understanding and stronger thinking.</a:t>
            </a:r>
          </a:p>
          <a:p>
            <a:pPr algn="l">
              <a:spcAft>
                <a:spcPts val="1400"/>
              </a:spcAft>
            </a:pPr>
            <a:r>
              <a:rPr sz="1600" b="0">
                <a:solidFill>
                  <a:srgbClr val="2D2D2D"/>
                </a:solidFill>
                <a:latin typeface="Calibri"/>
              </a:rPr>
              <a:t>•  Detail: Students connect ideas instead of only collecting facts (examples: density; people behind laws).</a:t>
            </a:r>
          </a:p>
          <a:p>
            <a:pPr algn="l">
              <a:spcAft>
                <a:spcPts val="1400"/>
              </a:spcAft>
            </a:pPr>
            <a:r>
              <a:rPr sz="1600" b="0">
                <a:solidFill>
                  <a:srgbClr val="2D2D2D"/>
                </a:solidFill>
                <a:latin typeface="Calibri"/>
              </a:rPr>
              <a:t>•  Inference: They may become less thoughtful / miss deeper learning — curiosity is treated as something to “grow out of.”</a:t>
            </a:r>
          </a:p>
          <a:p>
            <a:pPr algn="l">
              <a:spcAft>
                <a:spcPts val="1400"/>
              </a:spcAft>
            </a:pPr>
            <a:r>
              <a:rPr sz="1600" b="0">
                <a:solidFill>
                  <a:srgbClr val="2D2D2D"/>
                </a:solidFill>
                <a:latin typeface="Calibri"/>
              </a:rPr>
              <a:t>•  Purpose: Mostly to inform/persuade readers that curiosity is valuable and should be practiced with focus.</a:t>
            </a:r>
          </a:p>
          <a:p>
            <a:pPr algn="l">
              <a:spcAft>
                <a:spcPts val="1400"/>
              </a:spcAft>
            </a:pPr>
            <a:r>
              <a:rPr sz="1600" b="0">
                <a:solidFill>
                  <a:srgbClr val="2D2D2D"/>
                </a:solidFill>
                <a:latin typeface="Calibri"/>
              </a:rPr>
              <a:t>•  Evidence example: “Curiosity turns passive reading into active thinking.”</a:t>
            </a:r>
          </a:p>
        </p:txBody>
      </p:sp>
      <p:sp>
        <p:nvSpPr>
          <p:cNvPr id="8" name="Rectangle 7"/>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17–32 min</a:t>
            </a:r>
          </a:p>
        </p:txBody>
      </p:sp>
      <p:sp>
        <p:nvSpPr>
          <p:cNvPr id="10" name="TextBox 9"/>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12/22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GRAMMAR</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12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600" b="1">
                <a:solidFill>
                  <a:srgbClr val="1B3A5F"/>
                </a:solidFill>
                <a:latin typeface="Georgia"/>
              </a:rPr>
              <a:t>Grammar Power-Up: The High-Impact Fixes</a:t>
            </a:r>
          </a:p>
        </p:txBody>
      </p:sp>
      <p:sp>
        <p:nvSpPr>
          <p:cNvPr id="9" name="TextBox 8"/>
          <p:cNvSpPr txBox="1"/>
          <p:nvPr/>
        </p:nvSpPr>
        <p:spPr>
          <a:xfrm>
            <a:off x="457200" y="1371600"/>
            <a:ext cx="10972800" cy="365760"/>
          </a:xfrm>
          <a:prstGeom prst="rect">
            <a:avLst/>
          </a:prstGeom>
          <a:noFill/>
        </p:spPr>
        <p:txBody>
          <a:bodyPr wrap="square">
            <a:spAutoFit/>
          </a:bodyPr>
          <a:lstStyle/>
          <a:p>
            <a:pPr algn="l"/>
            <a:r>
              <a:rPr sz="1500" b="0">
                <a:solidFill>
                  <a:srgbClr val="6B7280"/>
                </a:solidFill>
                <a:latin typeface="Calibri"/>
              </a:rPr>
              <a:t>You’re already good at English. These are the gaps that separate “good” from “polished.”</a:t>
            </a:r>
          </a:p>
        </p:txBody>
      </p:sp>
      <p:sp>
        <p:nvSpPr>
          <p:cNvPr id="10" name="Rounded Rectangle 9"/>
          <p:cNvSpPr/>
          <p:nvPr/>
        </p:nvSpPr>
        <p:spPr>
          <a:xfrm>
            <a:off x="457200" y="2011680"/>
            <a:ext cx="274320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011680"/>
            <a:ext cx="2743200" cy="9144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194560"/>
            <a:ext cx="2743200" cy="548640"/>
          </a:xfrm>
          <a:prstGeom prst="rect">
            <a:avLst/>
          </a:prstGeom>
          <a:noFill/>
        </p:spPr>
        <p:txBody>
          <a:bodyPr wrap="square">
            <a:spAutoFit/>
          </a:bodyPr>
          <a:lstStyle/>
          <a:p>
            <a:pPr algn="ctr"/>
            <a:r>
              <a:rPr sz="2800" b="1">
                <a:solidFill>
                  <a:srgbClr val="FFFFFF"/>
                </a:solidFill>
                <a:latin typeface="Calibri"/>
              </a:rPr>
              <a:t>1</a:t>
            </a:r>
          </a:p>
        </p:txBody>
      </p:sp>
      <p:sp>
        <p:nvSpPr>
          <p:cNvPr id="13" name="TextBox 12"/>
          <p:cNvSpPr txBox="1"/>
          <p:nvPr/>
        </p:nvSpPr>
        <p:spPr>
          <a:xfrm>
            <a:off x="594360" y="3200400"/>
            <a:ext cx="2468880" cy="1097280"/>
          </a:xfrm>
          <a:prstGeom prst="rect">
            <a:avLst/>
          </a:prstGeom>
          <a:noFill/>
        </p:spPr>
        <p:txBody>
          <a:bodyPr wrap="square">
            <a:spAutoFit/>
          </a:bodyPr>
          <a:lstStyle/>
          <a:p>
            <a:pPr algn="ctr"/>
            <a:r>
              <a:rPr sz="1800" b="1">
                <a:solidFill>
                  <a:srgbClr val="1B3A5F"/>
                </a:solidFill>
                <a:latin typeface="Calibri"/>
              </a:rPr>
              <a:t>Subject–Verb
Agreement</a:t>
            </a:r>
          </a:p>
        </p:txBody>
      </p:sp>
      <p:sp>
        <p:nvSpPr>
          <p:cNvPr id="14" name="TextBox 13"/>
          <p:cNvSpPr txBox="1"/>
          <p:nvPr/>
        </p:nvSpPr>
        <p:spPr>
          <a:xfrm>
            <a:off x="640080" y="4572000"/>
            <a:ext cx="2377440" cy="1005840"/>
          </a:xfrm>
          <a:prstGeom prst="rect">
            <a:avLst/>
          </a:prstGeom>
          <a:noFill/>
        </p:spPr>
        <p:txBody>
          <a:bodyPr wrap="square">
            <a:spAutoFit/>
          </a:bodyPr>
          <a:lstStyle/>
          <a:p>
            <a:pPr algn="ctr"/>
            <a:r>
              <a:rPr sz="1400" b="0">
                <a:solidFill>
                  <a:srgbClr val="6B7280"/>
                </a:solidFill>
                <a:latin typeface="Calibri"/>
              </a:rPr>
              <a:t>Match singular/plural subjects correctly</a:t>
            </a:r>
          </a:p>
        </p:txBody>
      </p:sp>
      <p:sp>
        <p:nvSpPr>
          <p:cNvPr id="15" name="Rounded Rectangle 14"/>
          <p:cNvSpPr/>
          <p:nvPr/>
        </p:nvSpPr>
        <p:spPr>
          <a:xfrm>
            <a:off x="3383280" y="2011680"/>
            <a:ext cx="274320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2011680"/>
            <a:ext cx="2743200" cy="9144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2194560"/>
            <a:ext cx="2743200" cy="548640"/>
          </a:xfrm>
          <a:prstGeom prst="rect">
            <a:avLst/>
          </a:prstGeom>
          <a:noFill/>
        </p:spPr>
        <p:txBody>
          <a:bodyPr wrap="square">
            <a:spAutoFit/>
          </a:bodyPr>
          <a:lstStyle/>
          <a:p>
            <a:pPr algn="ctr"/>
            <a:r>
              <a:rPr sz="2800" b="1">
                <a:solidFill>
                  <a:srgbClr val="FFFFFF"/>
                </a:solidFill>
                <a:latin typeface="Calibri"/>
              </a:rPr>
              <a:t>2</a:t>
            </a:r>
          </a:p>
        </p:txBody>
      </p:sp>
      <p:sp>
        <p:nvSpPr>
          <p:cNvPr id="18" name="TextBox 17"/>
          <p:cNvSpPr txBox="1"/>
          <p:nvPr/>
        </p:nvSpPr>
        <p:spPr>
          <a:xfrm>
            <a:off x="3520440" y="3200400"/>
            <a:ext cx="2468880" cy="1097280"/>
          </a:xfrm>
          <a:prstGeom prst="rect">
            <a:avLst/>
          </a:prstGeom>
          <a:noFill/>
        </p:spPr>
        <p:txBody>
          <a:bodyPr wrap="square">
            <a:spAutoFit/>
          </a:bodyPr>
          <a:lstStyle/>
          <a:p>
            <a:pPr algn="ctr"/>
            <a:r>
              <a:rPr sz="1800" b="1">
                <a:solidFill>
                  <a:srgbClr val="1B3A5F"/>
                </a:solidFill>
                <a:latin typeface="Calibri"/>
              </a:rPr>
              <a:t>Comma Rules
That Matter</a:t>
            </a:r>
          </a:p>
        </p:txBody>
      </p:sp>
      <p:sp>
        <p:nvSpPr>
          <p:cNvPr id="19" name="TextBox 18"/>
          <p:cNvSpPr txBox="1"/>
          <p:nvPr/>
        </p:nvSpPr>
        <p:spPr>
          <a:xfrm>
            <a:off x="3566160" y="4572000"/>
            <a:ext cx="2377440" cy="1005840"/>
          </a:xfrm>
          <a:prstGeom prst="rect">
            <a:avLst/>
          </a:prstGeom>
          <a:noFill/>
        </p:spPr>
        <p:txBody>
          <a:bodyPr wrap="square">
            <a:spAutoFit/>
          </a:bodyPr>
          <a:lstStyle/>
          <a:p>
            <a:pPr algn="ctr"/>
            <a:r>
              <a:rPr sz="1400" b="0">
                <a:solidFill>
                  <a:srgbClr val="6B7280"/>
                </a:solidFill>
                <a:latin typeface="Calibri"/>
              </a:rPr>
              <a:t>Lists, FANBOYS, and introductory phrases</a:t>
            </a:r>
          </a:p>
        </p:txBody>
      </p:sp>
      <p:sp>
        <p:nvSpPr>
          <p:cNvPr id="20" name="Rounded Rectangle 19"/>
          <p:cNvSpPr/>
          <p:nvPr/>
        </p:nvSpPr>
        <p:spPr>
          <a:xfrm>
            <a:off x="6309360" y="2011680"/>
            <a:ext cx="274320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2011680"/>
            <a:ext cx="2743200" cy="9144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2194560"/>
            <a:ext cx="2743200" cy="548640"/>
          </a:xfrm>
          <a:prstGeom prst="rect">
            <a:avLst/>
          </a:prstGeom>
          <a:noFill/>
        </p:spPr>
        <p:txBody>
          <a:bodyPr wrap="square">
            <a:spAutoFit/>
          </a:bodyPr>
          <a:lstStyle/>
          <a:p>
            <a:pPr algn="ctr"/>
            <a:r>
              <a:rPr sz="2800" b="1">
                <a:solidFill>
                  <a:srgbClr val="FFFFFF"/>
                </a:solidFill>
                <a:latin typeface="Calibri"/>
              </a:rPr>
              <a:t>3</a:t>
            </a:r>
          </a:p>
        </p:txBody>
      </p:sp>
      <p:sp>
        <p:nvSpPr>
          <p:cNvPr id="23" name="TextBox 22"/>
          <p:cNvSpPr txBox="1"/>
          <p:nvPr/>
        </p:nvSpPr>
        <p:spPr>
          <a:xfrm>
            <a:off x="6446520" y="3200400"/>
            <a:ext cx="2468880" cy="1097280"/>
          </a:xfrm>
          <a:prstGeom prst="rect">
            <a:avLst/>
          </a:prstGeom>
          <a:noFill/>
        </p:spPr>
        <p:txBody>
          <a:bodyPr wrap="square">
            <a:spAutoFit/>
          </a:bodyPr>
          <a:lstStyle/>
          <a:p>
            <a:pPr algn="ctr"/>
            <a:r>
              <a:rPr sz="1800" b="1">
                <a:solidFill>
                  <a:srgbClr val="1B3A5F"/>
                </a:solidFill>
                <a:latin typeface="Calibri"/>
              </a:rPr>
              <a:t>Confused
Words</a:t>
            </a:r>
          </a:p>
        </p:txBody>
      </p:sp>
      <p:sp>
        <p:nvSpPr>
          <p:cNvPr id="24" name="TextBox 23"/>
          <p:cNvSpPr txBox="1"/>
          <p:nvPr/>
        </p:nvSpPr>
        <p:spPr>
          <a:xfrm>
            <a:off x="6492240" y="4572000"/>
            <a:ext cx="2377440" cy="1005840"/>
          </a:xfrm>
          <a:prstGeom prst="rect">
            <a:avLst/>
          </a:prstGeom>
          <a:noFill/>
        </p:spPr>
        <p:txBody>
          <a:bodyPr wrap="square">
            <a:spAutoFit/>
          </a:bodyPr>
          <a:lstStyle/>
          <a:p>
            <a:pPr algn="ctr"/>
            <a:r>
              <a:rPr sz="1400" b="0">
                <a:solidFill>
                  <a:srgbClr val="6B7280"/>
                </a:solidFill>
                <a:latin typeface="Calibri"/>
              </a:rPr>
              <a:t>its/it’s, affect/effect, there/their/they’re</a:t>
            </a:r>
          </a:p>
        </p:txBody>
      </p:sp>
      <p:sp>
        <p:nvSpPr>
          <p:cNvPr id="25" name="Rounded Rectangle 24"/>
          <p:cNvSpPr/>
          <p:nvPr/>
        </p:nvSpPr>
        <p:spPr>
          <a:xfrm>
            <a:off x="9235440" y="2011680"/>
            <a:ext cx="274320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35440" y="2011680"/>
            <a:ext cx="2743200" cy="9144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2194560"/>
            <a:ext cx="2743200" cy="548640"/>
          </a:xfrm>
          <a:prstGeom prst="rect">
            <a:avLst/>
          </a:prstGeom>
          <a:noFill/>
        </p:spPr>
        <p:txBody>
          <a:bodyPr wrap="square">
            <a:spAutoFit/>
          </a:bodyPr>
          <a:lstStyle/>
          <a:p>
            <a:pPr algn="ctr"/>
            <a:r>
              <a:rPr sz="2800" b="1">
                <a:solidFill>
                  <a:srgbClr val="FFFFFF"/>
                </a:solidFill>
                <a:latin typeface="Calibri"/>
              </a:rPr>
              <a:t>4</a:t>
            </a:r>
          </a:p>
        </p:txBody>
      </p:sp>
      <p:sp>
        <p:nvSpPr>
          <p:cNvPr id="28" name="TextBox 27"/>
          <p:cNvSpPr txBox="1"/>
          <p:nvPr/>
        </p:nvSpPr>
        <p:spPr>
          <a:xfrm>
            <a:off x="9372600" y="3200400"/>
            <a:ext cx="2468880" cy="1097280"/>
          </a:xfrm>
          <a:prstGeom prst="rect">
            <a:avLst/>
          </a:prstGeom>
          <a:noFill/>
        </p:spPr>
        <p:txBody>
          <a:bodyPr wrap="square">
            <a:spAutoFit/>
          </a:bodyPr>
          <a:lstStyle/>
          <a:p>
            <a:pPr algn="ctr"/>
            <a:r>
              <a:rPr sz="1800" b="1">
                <a:solidFill>
                  <a:srgbClr val="1B3A5F"/>
                </a:solidFill>
                <a:latin typeface="Calibri"/>
              </a:rPr>
              <a:t>Sentence
Power</a:t>
            </a:r>
          </a:p>
        </p:txBody>
      </p:sp>
      <p:sp>
        <p:nvSpPr>
          <p:cNvPr id="29" name="TextBox 28"/>
          <p:cNvSpPr txBox="1"/>
          <p:nvPr/>
        </p:nvSpPr>
        <p:spPr>
          <a:xfrm>
            <a:off x="9418320" y="4572000"/>
            <a:ext cx="2377440" cy="1005840"/>
          </a:xfrm>
          <a:prstGeom prst="rect">
            <a:avLst/>
          </a:prstGeom>
          <a:noFill/>
        </p:spPr>
        <p:txBody>
          <a:bodyPr wrap="square">
            <a:spAutoFit/>
          </a:bodyPr>
          <a:lstStyle/>
          <a:p>
            <a:pPr algn="ctr"/>
            <a:r>
              <a:rPr sz="1400" b="0">
                <a:solidFill>
                  <a:srgbClr val="6B7280"/>
                </a:solidFill>
                <a:latin typeface="Calibri"/>
              </a:rPr>
              <a:t>Fix fragments, run-ons, and weak wording</a:t>
            </a:r>
          </a:p>
        </p:txBody>
      </p:sp>
      <p:sp>
        <p:nvSpPr>
          <p:cNvPr id="30" name="Rectangle 29"/>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32–44 min</a:t>
            </a:r>
          </a:p>
        </p:txBody>
      </p:sp>
      <p:sp>
        <p:nvSpPr>
          <p:cNvPr id="32" name="TextBox 31"/>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13/22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GRAMMAR 1</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Subject–Verb Agreement (Fast Rules)</a:t>
            </a:r>
          </a:p>
        </p:txBody>
      </p:sp>
      <p:sp>
        <p:nvSpPr>
          <p:cNvPr id="7" name="Rounded Rectangle 6"/>
          <p:cNvSpPr/>
          <p:nvPr/>
        </p:nvSpPr>
        <p:spPr>
          <a:xfrm>
            <a:off x="457200" y="141732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10698480" cy="320040"/>
          </a:xfrm>
          <a:prstGeom prst="rect">
            <a:avLst/>
          </a:prstGeom>
          <a:noFill/>
        </p:spPr>
        <p:txBody>
          <a:bodyPr wrap="square">
            <a:spAutoFit/>
          </a:bodyPr>
          <a:lstStyle/>
          <a:p>
            <a:pPr algn="l"/>
            <a:r>
              <a:rPr sz="1700" b="1">
                <a:solidFill>
                  <a:srgbClr val="1B3A5F"/>
                </a:solidFill>
                <a:latin typeface="Calibri"/>
              </a:rPr>
              <a:t>Indefinite pronouns are usually singular</a:t>
            </a:r>
          </a:p>
        </p:txBody>
      </p:sp>
      <p:sp>
        <p:nvSpPr>
          <p:cNvPr id="9" name="TextBox 8"/>
          <p:cNvSpPr txBox="1"/>
          <p:nvPr/>
        </p:nvSpPr>
        <p:spPr>
          <a:xfrm>
            <a:off x="731520" y="1920240"/>
            <a:ext cx="10698480" cy="320040"/>
          </a:xfrm>
          <a:prstGeom prst="rect">
            <a:avLst/>
          </a:prstGeom>
          <a:noFill/>
        </p:spPr>
        <p:txBody>
          <a:bodyPr wrap="square">
            <a:spAutoFit/>
          </a:bodyPr>
          <a:lstStyle/>
          <a:p>
            <a:pPr algn="l"/>
            <a:r>
              <a:rPr sz="1500" b="0">
                <a:solidFill>
                  <a:srgbClr val="6B7280"/>
                </a:solidFill>
                <a:latin typeface="Calibri"/>
              </a:rPr>
              <a:t>everyone, each, neither, somebody → was / has / is</a:t>
            </a:r>
          </a:p>
        </p:txBody>
      </p:sp>
      <p:sp>
        <p:nvSpPr>
          <p:cNvPr id="10" name="Rounded Rectangle 9"/>
          <p:cNvSpPr/>
          <p:nvPr/>
        </p:nvSpPr>
        <p:spPr>
          <a:xfrm>
            <a:off x="457200" y="251460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651760"/>
            <a:ext cx="10698480" cy="320040"/>
          </a:xfrm>
          <a:prstGeom prst="rect">
            <a:avLst/>
          </a:prstGeom>
          <a:noFill/>
        </p:spPr>
        <p:txBody>
          <a:bodyPr wrap="square">
            <a:spAutoFit/>
          </a:bodyPr>
          <a:lstStyle/>
          <a:p>
            <a:pPr algn="l"/>
            <a:r>
              <a:rPr sz="1700" b="1">
                <a:solidFill>
                  <a:srgbClr val="1B3A5F"/>
                </a:solidFill>
                <a:latin typeface="Calibri"/>
              </a:rPr>
              <a:t>Ignore words between subject and verb</a:t>
            </a:r>
          </a:p>
        </p:txBody>
      </p:sp>
      <p:sp>
        <p:nvSpPr>
          <p:cNvPr id="12" name="TextBox 11"/>
          <p:cNvSpPr txBox="1"/>
          <p:nvPr/>
        </p:nvSpPr>
        <p:spPr>
          <a:xfrm>
            <a:off x="731520" y="3017520"/>
            <a:ext cx="10698480" cy="320040"/>
          </a:xfrm>
          <a:prstGeom prst="rect">
            <a:avLst/>
          </a:prstGeom>
          <a:noFill/>
        </p:spPr>
        <p:txBody>
          <a:bodyPr wrap="square">
            <a:spAutoFit/>
          </a:bodyPr>
          <a:lstStyle/>
          <a:p>
            <a:pPr algn="l"/>
            <a:r>
              <a:rPr sz="1500" b="0">
                <a:solidFill>
                  <a:srgbClr val="6B7280"/>
                </a:solidFill>
                <a:latin typeface="Calibri"/>
              </a:rPr>
              <a:t>The box of pencils is on the desk. (box = singular)</a:t>
            </a:r>
          </a:p>
        </p:txBody>
      </p:sp>
      <p:sp>
        <p:nvSpPr>
          <p:cNvPr id="13" name="Rounded Rectangle 12"/>
          <p:cNvSpPr/>
          <p:nvPr/>
        </p:nvSpPr>
        <p:spPr>
          <a:xfrm>
            <a:off x="457200" y="3611880"/>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749040"/>
            <a:ext cx="10698480" cy="320040"/>
          </a:xfrm>
          <a:prstGeom prst="rect">
            <a:avLst/>
          </a:prstGeom>
          <a:noFill/>
        </p:spPr>
        <p:txBody>
          <a:bodyPr wrap="square">
            <a:spAutoFit/>
          </a:bodyPr>
          <a:lstStyle/>
          <a:p>
            <a:pPr algn="l"/>
            <a:r>
              <a:rPr sz="1700" b="1">
                <a:solidFill>
                  <a:srgbClr val="1B3A5F"/>
                </a:solidFill>
                <a:latin typeface="Calibri"/>
              </a:rPr>
              <a:t>Collective nouns: one unit = singular</a:t>
            </a:r>
          </a:p>
        </p:txBody>
      </p:sp>
      <p:sp>
        <p:nvSpPr>
          <p:cNvPr id="15" name="TextBox 14"/>
          <p:cNvSpPr txBox="1"/>
          <p:nvPr/>
        </p:nvSpPr>
        <p:spPr>
          <a:xfrm>
            <a:off x="731520" y="4114800"/>
            <a:ext cx="10698480" cy="320040"/>
          </a:xfrm>
          <a:prstGeom prst="rect">
            <a:avLst/>
          </a:prstGeom>
          <a:noFill/>
        </p:spPr>
        <p:txBody>
          <a:bodyPr wrap="square">
            <a:spAutoFit/>
          </a:bodyPr>
          <a:lstStyle/>
          <a:p>
            <a:pPr algn="l"/>
            <a:r>
              <a:rPr sz="1500" b="0">
                <a:solidFill>
                  <a:srgbClr val="6B7280"/>
                </a:solidFill>
                <a:latin typeface="Calibri"/>
              </a:rPr>
              <a:t>The team is ready. / The class has a project.</a:t>
            </a:r>
          </a:p>
        </p:txBody>
      </p:sp>
      <p:sp>
        <p:nvSpPr>
          <p:cNvPr id="16" name="Rounded Rectangle 15"/>
          <p:cNvSpPr/>
          <p:nvPr/>
        </p:nvSpPr>
        <p:spPr>
          <a:xfrm>
            <a:off x="457200" y="4709159"/>
            <a:ext cx="11247120" cy="960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46319"/>
            <a:ext cx="10698480" cy="320040"/>
          </a:xfrm>
          <a:prstGeom prst="rect">
            <a:avLst/>
          </a:prstGeom>
          <a:noFill/>
        </p:spPr>
        <p:txBody>
          <a:bodyPr wrap="square">
            <a:spAutoFit/>
          </a:bodyPr>
          <a:lstStyle/>
          <a:p>
            <a:pPr algn="l"/>
            <a:r>
              <a:rPr sz="1700" b="1">
                <a:solidFill>
                  <a:srgbClr val="1B3A5F"/>
                </a:solidFill>
                <a:latin typeface="Calibri"/>
              </a:rPr>
              <a:t>Compound subjects with and = plural</a:t>
            </a:r>
          </a:p>
        </p:txBody>
      </p:sp>
      <p:sp>
        <p:nvSpPr>
          <p:cNvPr id="18" name="TextBox 17"/>
          <p:cNvSpPr txBox="1"/>
          <p:nvPr/>
        </p:nvSpPr>
        <p:spPr>
          <a:xfrm>
            <a:off x="731520" y="5212079"/>
            <a:ext cx="10698480" cy="320040"/>
          </a:xfrm>
          <a:prstGeom prst="rect">
            <a:avLst/>
          </a:prstGeom>
          <a:noFill/>
        </p:spPr>
        <p:txBody>
          <a:bodyPr wrap="square">
            <a:spAutoFit/>
          </a:bodyPr>
          <a:lstStyle/>
          <a:p>
            <a:pPr algn="l"/>
            <a:r>
              <a:rPr sz="1500" b="0">
                <a:solidFill>
                  <a:srgbClr val="6B7280"/>
                </a:solidFill>
                <a:latin typeface="Calibri"/>
              </a:rPr>
              <a:t>Maya and Jordan are presenting today.</a:t>
            </a:r>
          </a:p>
        </p:txBody>
      </p:sp>
      <p:sp>
        <p:nvSpPr>
          <p:cNvPr id="19" name="Rectangle 18"/>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32–44 min</a:t>
            </a:r>
          </a:p>
        </p:txBody>
      </p:sp>
      <p:sp>
        <p:nvSpPr>
          <p:cNvPr id="21" name="TextBox 20"/>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14/22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GRAMMAR 2</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Comma Rules That Matter in Grade 8</a:t>
            </a:r>
          </a:p>
        </p:txBody>
      </p:sp>
      <p:sp>
        <p:nvSpPr>
          <p:cNvPr id="7" name="Rounded Rectangle 6"/>
          <p:cNvSpPr/>
          <p:nvPr/>
        </p:nvSpPr>
        <p:spPr>
          <a:xfrm>
            <a:off x="457200" y="1463040"/>
            <a:ext cx="557784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91640"/>
            <a:ext cx="5029200" cy="365760"/>
          </a:xfrm>
          <a:prstGeom prst="rect">
            <a:avLst/>
          </a:prstGeom>
          <a:noFill/>
        </p:spPr>
        <p:txBody>
          <a:bodyPr wrap="square">
            <a:spAutoFit/>
          </a:bodyPr>
          <a:lstStyle/>
          <a:p>
            <a:pPr algn="l"/>
            <a:r>
              <a:rPr sz="1800" b="1">
                <a:solidFill>
                  <a:srgbClr val="E76F51"/>
                </a:solidFill>
                <a:latin typeface="Calibri"/>
              </a:rPr>
              <a:t>Lists</a:t>
            </a:r>
          </a:p>
        </p:txBody>
      </p:sp>
      <p:sp>
        <p:nvSpPr>
          <p:cNvPr id="9" name="TextBox 8"/>
          <p:cNvSpPr txBox="1"/>
          <p:nvPr/>
        </p:nvSpPr>
        <p:spPr>
          <a:xfrm>
            <a:off x="731520" y="2194560"/>
            <a:ext cx="5029200" cy="457200"/>
          </a:xfrm>
          <a:prstGeom prst="rect">
            <a:avLst/>
          </a:prstGeom>
          <a:noFill/>
        </p:spPr>
        <p:txBody>
          <a:bodyPr wrap="square">
            <a:spAutoFit/>
          </a:bodyPr>
          <a:lstStyle/>
          <a:p>
            <a:pPr algn="l"/>
            <a:r>
              <a:rPr sz="1500" b="1">
                <a:solidFill>
                  <a:srgbClr val="1B3A5F"/>
                </a:solidFill>
                <a:latin typeface="Calibri"/>
              </a:rPr>
              <a:t>We bought notebooks, pens, and folders.</a:t>
            </a:r>
          </a:p>
        </p:txBody>
      </p:sp>
      <p:sp>
        <p:nvSpPr>
          <p:cNvPr id="10" name="TextBox 9"/>
          <p:cNvSpPr txBox="1"/>
          <p:nvPr/>
        </p:nvSpPr>
        <p:spPr>
          <a:xfrm>
            <a:off x="731520" y="2743200"/>
            <a:ext cx="5029200" cy="548640"/>
          </a:xfrm>
          <a:prstGeom prst="rect">
            <a:avLst/>
          </a:prstGeom>
          <a:noFill/>
        </p:spPr>
        <p:txBody>
          <a:bodyPr wrap="square">
            <a:spAutoFit/>
          </a:bodyPr>
          <a:lstStyle/>
          <a:p>
            <a:pPr algn="l"/>
            <a:r>
              <a:rPr sz="1400" b="0">
                <a:solidFill>
                  <a:srgbClr val="6B7280"/>
                </a:solidFill>
                <a:latin typeface="Calibri"/>
              </a:rPr>
              <a:t>Use commas between items in a series.</a:t>
            </a:r>
          </a:p>
        </p:txBody>
      </p:sp>
      <p:sp>
        <p:nvSpPr>
          <p:cNvPr id="11" name="Rounded Rectangle 10"/>
          <p:cNvSpPr/>
          <p:nvPr/>
        </p:nvSpPr>
        <p:spPr>
          <a:xfrm>
            <a:off x="6309360" y="1463040"/>
            <a:ext cx="557784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691640"/>
            <a:ext cx="5029200" cy="365760"/>
          </a:xfrm>
          <a:prstGeom prst="rect">
            <a:avLst/>
          </a:prstGeom>
          <a:noFill/>
        </p:spPr>
        <p:txBody>
          <a:bodyPr wrap="square">
            <a:spAutoFit/>
          </a:bodyPr>
          <a:lstStyle/>
          <a:p>
            <a:pPr algn="l"/>
            <a:r>
              <a:rPr sz="1800" b="1">
                <a:solidFill>
                  <a:srgbClr val="E76F51"/>
                </a:solidFill>
                <a:latin typeface="Calibri"/>
              </a:rPr>
              <a:t>FANBOYS</a:t>
            </a:r>
          </a:p>
        </p:txBody>
      </p:sp>
      <p:sp>
        <p:nvSpPr>
          <p:cNvPr id="13" name="TextBox 12"/>
          <p:cNvSpPr txBox="1"/>
          <p:nvPr/>
        </p:nvSpPr>
        <p:spPr>
          <a:xfrm>
            <a:off x="6583680" y="2194560"/>
            <a:ext cx="5029200" cy="457200"/>
          </a:xfrm>
          <a:prstGeom prst="rect">
            <a:avLst/>
          </a:prstGeom>
          <a:noFill/>
        </p:spPr>
        <p:txBody>
          <a:bodyPr wrap="square">
            <a:spAutoFit/>
          </a:bodyPr>
          <a:lstStyle/>
          <a:p>
            <a:pPr algn="l"/>
            <a:r>
              <a:rPr sz="1500" b="1">
                <a:solidFill>
                  <a:srgbClr val="1B3A5F"/>
                </a:solidFill>
                <a:latin typeface="Calibri"/>
              </a:rPr>
              <a:t>I studied hard, but the quiz was tricky.</a:t>
            </a:r>
          </a:p>
        </p:txBody>
      </p:sp>
      <p:sp>
        <p:nvSpPr>
          <p:cNvPr id="14" name="TextBox 13"/>
          <p:cNvSpPr txBox="1"/>
          <p:nvPr/>
        </p:nvSpPr>
        <p:spPr>
          <a:xfrm>
            <a:off x="6583680" y="2743200"/>
            <a:ext cx="5029200" cy="548640"/>
          </a:xfrm>
          <a:prstGeom prst="rect">
            <a:avLst/>
          </a:prstGeom>
          <a:noFill/>
        </p:spPr>
        <p:txBody>
          <a:bodyPr wrap="square">
            <a:spAutoFit/>
          </a:bodyPr>
          <a:lstStyle/>
          <a:p>
            <a:pPr algn="l"/>
            <a:r>
              <a:rPr sz="1400" b="0">
                <a:solidFill>
                  <a:srgbClr val="6B7280"/>
                </a:solidFill>
                <a:latin typeface="Calibri"/>
              </a:rPr>
              <a:t>Comma before for, and, nor, but, or, yet, so when joining two full sentences.</a:t>
            </a:r>
          </a:p>
        </p:txBody>
      </p:sp>
      <p:sp>
        <p:nvSpPr>
          <p:cNvPr id="15" name="Rounded Rectangle 14"/>
          <p:cNvSpPr/>
          <p:nvPr/>
        </p:nvSpPr>
        <p:spPr>
          <a:xfrm>
            <a:off x="457200" y="3749039"/>
            <a:ext cx="557784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977639"/>
            <a:ext cx="5029200" cy="365760"/>
          </a:xfrm>
          <a:prstGeom prst="rect">
            <a:avLst/>
          </a:prstGeom>
          <a:noFill/>
        </p:spPr>
        <p:txBody>
          <a:bodyPr wrap="square">
            <a:spAutoFit/>
          </a:bodyPr>
          <a:lstStyle/>
          <a:p>
            <a:pPr algn="l"/>
            <a:r>
              <a:rPr sz="1800" b="1">
                <a:solidFill>
                  <a:srgbClr val="E76F51"/>
                </a:solidFill>
                <a:latin typeface="Calibri"/>
              </a:rPr>
              <a:t>Intro Phrases</a:t>
            </a:r>
          </a:p>
        </p:txBody>
      </p:sp>
      <p:sp>
        <p:nvSpPr>
          <p:cNvPr id="17" name="TextBox 16"/>
          <p:cNvSpPr txBox="1"/>
          <p:nvPr/>
        </p:nvSpPr>
        <p:spPr>
          <a:xfrm>
            <a:off x="731520" y="4480559"/>
            <a:ext cx="5029200" cy="457200"/>
          </a:xfrm>
          <a:prstGeom prst="rect">
            <a:avLst/>
          </a:prstGeom>
          <a:noFill/>
        </p:spPr>
        <p:txBody>
          <a:bodyPr wrap="square">
            <a:spAutoFit/>
          </a:bodyPr>
          <a:lstStyle/>
          <a:p>
            <a:pPr algn="l"/>
            <a:r>
              <a:rPr sz="1500" b="1">
                <a:solidFill>
                  <a:srgbClr val="1B3A5F"/>
                </a:solidFill>
                <a:latin typeface="Calibri"/>
              </a:rPr>
              <a:t>After the bell rang, students settled down.</a:t>
            </a:r>
          </a:p>
        </p:txBody>
      </p:sp>
      <p:sp>
        <p:nvSpPr>
          <p:cNvPr id="18" name="TextBox 17"/>
          <p:cNvSpPr txBox="1"/>
          <p:nvPr/>
        </p:nvSpPr>
        <p:spPr>
          <a:xfrm>
            <a:off x="731520" y="5029199"/>
            <a:ext cx="5029200" cy="548640"/>
          </a:xfrm>
          <a:prstGeom prst="rect">
            <a:avLst/>
          </a:prstGeom>
          <a:noFill/>
        </p:spPr>
        <p:txBody>
          <a:bodyPr wrap="square">
            <a:spAutoFit/>
          </a:bodyPr>
          <a:lstStyle/>
          <a:p>
            <a:pPr algn="l"/>
            <a:r>
              <a:rPr sz="1400" b="0">
                <a:solidFill>
                  <a:srgbClr val="6B7280"/>
                </a:solidFill>
                <a:latin typeface="Calibri"/>
              </a:rPr>
              <a:t>Comma after an introductory word/phrase.</a:t>
            </a:r>
          </a:p>
        </p:txBody>
      </p:sp>
      <p:sp>
        <p:nvSpPr>
          <p:cNvPr id="19" name="Rounded Rectangle 18"/>
          <p:cNvSpPr/>
          <p:nvPr/>
        </p:nvSpPr>
        <p:spPr>
          <a:xfrm>
            <a:off x="6309360" y="3749039"/>
            <a:ext cx="5577840" cy="2057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977639"/>
            <a:ext cx="5029200" cy="365760"/>
          </a:xfrm>
          <a:prstGeom prst="rect">
            <a:avLst/>
          </a:prstGeom>
          <a:noFill/>
        </p:spPr>
        <p:txBody>
          <a:bodyPr wrap="square">
            <a:spAutoFit/>
          </a:bodyPr>
          <a:lstStyle/>
          <a:p>
            <a:pPr algn="l"/>
            <a:r>
              <a:rPr sz="1800" b="1">
                <a:solidFill>
                  <a:srgbClr val="E76F51"/>
                </a:solidFill>
                <a:latin typeface="Calibri"/>
              </a:rPr>
              <a:t>Nonessential Info</a:t>
            </a:r>
          </a:p>
        </p:txBody>
      </p:sp>
      <p:sp>
        <p:nvSpPr>
          <p:cNvPr id="21" name="TextBox 20"/>
          <p:cNvSpPr txBox="1"/>
          <p:nvPr/>
        </p:nvSpPr>
        <p:spPr>
          <a:xfrm>
            <a:off x="6583680" y="4480559"/>
            <a:ext cx="5029200" cy="457200"/>
          </a:xfrm>
          <a:prstGeom prst="rect">
            <a:avLst/>
          </a:prstGeom>
          <a:noFill/>
        </p:spPr>
        <p:txBody>
          <a:bodyPr wrap="square">
            <a:spAutoFit/>
          </a:bodyPr>
          <a:lstStyle/>
          <a:p>
            <a:pPr algn="l"/>
            <a:r>
              <a:rPr sz="1500" b="1">
                <a:solidFill>
                  <a:srgbClr val="1B3A5F"/>
                </a:solidFill>
                <a:latin typeface="Calibri"/>
              </a:rPr>
              <a:t>My cousin, who lives in Texas, visits often.</a:t>
            </a:r>
          </a:p>
        </p:txBody>
      </p:sp>
      <p:sp>
        <p:nvSpPr>
          <p:cNvPr id="22" name="TextBox 21"/>
          <p:cNvSpPr txBox="1"/>
          <p:nvPr/>
        </p:nvSpPr>
        <p:spPr>
          <a:xfrm>
            <a:off x="6583680" y="5029199"/>
            <a:ext cx="5029200" cy="548640"/>
          </a:xfrm>
          <a:prstGeom prst="rect">
            <a:avLst/>
          </a:prstGeom>
          <a:noFill/>
        </p:spPr>
        <p:txBody>
          <a:bodyPr wrap="square">
            <a:spAutoFit/>
          </a:bodyPr>
          <a:lstStyle/>
          <a:p>
            <a:pPr algn="l"/>
            <a:r>
              <a:rPr sz="1400" b="0">
                <a:solidFill>
                  <a:srgbClr val="6B7280"/>
                </a:solidFill>
                <a:latin typeface="Calibri"/>
              </a:rPr>
              <a:t>Commas around extra info you could remove.</a:t>
            </a:r>
          </a:p>
        </p:txBody>
      </p:sp>
      <p:sp>
        <p:nvSpPr>
          <p:cNvPr id="23" name="Rectangle 22"/>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32–44 min</a:t>
            </a:r>
          </a:p>
        </p:txBody>
      </p:sp>
      <p:sp>
        <p:nvSpPr>
          <p:cNvPr id="25" name="TextBox 24"/>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15/22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GRAMMAR 3</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Commonly Confused Words</a:t>
            </a:r>
          </a:p>
        </p:txBody>
      </p:sp>
      <p:sp>
        <p:nvSpPr>
          <p:cNvPr id="7" name="Rectangle 6"/>
          <p:cNvSpPr/>
          <p:nvPr/>
        </p:nvSpPr>
        <p:spPr>
          <a:xfrm>
            <a:off x="457200" y="1417320"/>
            <a:ext cx="11247120" cy="50292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08760"/>
            <a:ext cx="2743200" cy="320040"/>
          </a:xfrm>
          <a:prstGeom prst="rect">
            <a:avLst/>
          </a:prstGeom>
          <a:noFill/>
        </p:spPr>
        <p:txBody>
          <a:bodyPr wrap="square">
            <a:spAutoFit/>
          </a:bodyPr>
          <a:lstStyle/>
          <a:p>
            <a:pPr algn="l"/>
            <a:r>
              <a:rPr sz="1400" b="1">
                <a:solidFill>
                  <a:srgbClr val="FFFFFF"/>
                </a:solidFill>
                <a:latin typeface="Calibri"/>
              </a:rPr>
              <a:t>Pair</a:t>
            </a:r>
          </a:p>
        </p:txBody>
      </p:sp>
      <p:sp>
        <p:nvSpPr>
          <p:cNvPr id="9" name="TextBox 8"/>
          <p:cNvSpPr txBox="1"/>
          <p:nvPr/>
        </p:nvSpPr>
        <p:spPr>
          <a:xfrm>
            <a:off x="3474720" y="1508760"/>
            <a:ext cx="4114800" cy="320040"/>
          </a:xfrm>
          <a:prstGeom prst="rect">
            <a:avLst/>
          </a:prstGeom>
          <a:noFill/>
        </p:spPr>
        <p:txBody>
          <a:bodyPr wrap="square">
            <a:spAutoFit/>
          </a:bodyPr>
          <a:lstStyle/>
          <a:p>
            <a:pPr algn="l"/>
            <a:r>
              <a:rPr sz="1400" b="1">
                <a:solidFill>
                  <a:srgbClr val="FFFFFF"/>
                </a:solidFill>
                <a:latin typeface="Calibri"/>
              </a:rPr>
              <a:t>Quick Rule</a:t>
            </a:r>
          </a:p>
        </p:txBody>
      </p:sp>
      <p:sp>
        <p:nvSpPr>
          <p:cNvPr id="10" name="TextBox 9"/>
          <p:cNvSpPr txBox="1"/>
          <p:nvPr/>
        </p:nvSpPr>
        <p:spPr>
          <a:xfrm>
            <a:off x="7772400" y="1508760"/>
            <a:ext cx="3657600" cy="320040"/>
          </a:xfrm>
          <a:prstGeom prst="rect">
            <a:avLst/>
          </a:prstGeom>
          <a:noFill/>
        </p:spPr>
        <p:txBody>
          <a:bodyPr wrap="square">
            <a:spAutoFit/>
          </a:bodyPr>
          <a:lstStyle/>
          <a:p>
            <a:pPr algn="l"/>
            <a:r>
              <a:rPr sz="1400" b="1">
                <a:solidFill>
                  <a:srgbClr val="FFFFFF"/>
                </a:solidFill>
                <a:latin typeface="Calibri"/>
              </a:rPr>
              <a:t>Example</a:t>
            </a:r>
          </a:p>
        </p:txBody>
      </p:sp>
      <p:sp>
        <p:nvSpPr>
          <p:cNvPr id="11" name="Rectangle 10"/>
          <p:cNvSpPr/>
          <p:nvPr/>
        </p:nvSpPr>
        <p:spPr>
          <a:xfrm>
            <a:off x="457200" y="1965960"/>
            <a:ext cx="11247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194560"/>
            <a:ext cx="2743200" cy="365760"/>
          </a:xfrm>
          <a:prstGeom prst="rect">
            <a:avLst/>
          </a:prstGeom>
          <a:noFill/>
        </p:spPr>
        <p:txBody>
          <a:bodyPr wrap="square">
            <a:spAutoFit/>
          </a:bodyPr>
          <a:lstStyle/>
          <a:p>
            <a:pPr algn="l"/>
            <a:r>
              <a:rPr sz="1400" b="1">
                <a:solidFill>
                  <a:srgbClr val="1B3A5F"/>
                </a:solidFill>
                <a:latin typeface="Calibri"/>
              </a:rPr>
              <a:t>its / it’s</a:t>
            </a:r>
          </a:p>
        </p:txBody>
      </p:sp>
      <p:sp>
        <p:nvSpPr>
          <p:cNvPr id="13" name="TextBox 12"/>
          <p:cNvSpPr txBox="1"/>
          <p:nvPr/>
        </p:nvSpPr>
        <p:spPr>
          <a:xfrm>
            <a:off x="3474720" y="2194560"/>
            <a:ext cx="4114800" cy="365760"/>
          </a:xfrm>
          <a:prstGeom prst="rect">
            <a:avLst/>
          </a:prstGeom>
          <a:noFill/>
        </p:spPr>
        <p:txBody>
          <a:bodyPr wrap="square">
            <a:spAutoFit/>
          </a:bodyPr>
          <a:lstStyle/>
          <a:p>
            <a:pPr algn="l"/>
            <a:r>
              <a:rPr sz="1300" b="0">
                <a:solidFill>
                  <a:srgbClr val="2D2D2D"/>
                </a:solidFill>
                <a:latin typeface="Calibri"/>
              </a:rPr>
              <a:t>its = belonging  |  it’s = it is</a:t>
            </a:r>
          </a:p>
        </p:txBody>
      </p:sp>
      <p:sp>
        <p:nvSpPr>
          <p:cNvPr id="14" name="TextBox 13"/>
          <p:cNvSpPr txBox="1"/>
          <p:nvPr/>
        </p:nvSpPr>
        <p:spPr>
          <a:xfrm>
            <a:off x="7772400" y="2194560"/>
            <a:ext cx="3657600" cy="365760"/>
          </a:xfrm>
          <a:prstGeom prst="rect">
            <a:avLst/>
          </a:prstGeom>
          <a:noFill/>
        </p:spPr>
        <p:txBody>
          <a:bodyPr wrap="square">
            <a:spAutoFit/>
          </a:bodyPr>
          <a:lstStyle/>
          <a:p>
            <a:pPr algn="l"/>
            <a:r>
              <a:rPr sz="1300" b="0">
                <a:solidFill>
                  <a:srgbClr val="6B7280"/>
                </a:solidFill>
                <a:latin typeface="Calibri"/>
              </a:rPr>
              <a:t>The dog wagged its tail. / It’s raining.</a:t>
            </a:r>
          </a:p>
        </p:txBody>
      </p:sp>
      <p:sp>
        <p:nvSpPr>
          <p:cNvPr id="15" name="Rectangle 14"/>
          <p:cNvSpPr/>
          <p:nvPr/>
        </p:nvSpPr>
        <p:spPr>
          <a:xfrm>
            <a:off x="457200" y="2743200"/>
            <a:ext cx="11247120" cy="777240"/>
          </a:xfrm>
          <a:prstGeom prst="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971800"/>
            <a:ext cx="2743200" cy="365760"/>
          </a:xfrm>
          <a:prstGeom prst="rect">
            <a:avLst/>
          </a:prstGeom>
          <a:noFill/>
        </p:spPr>
        <p:txBody>
          <a:bodyPr wrap="square">
            <a:spAutoFit/>
          </a:bodyPr>
          <a:lstStyle/>
          <a:p>
            <a:pPr algn="l"/>
            <a:r>
              <a:rPr sz="1400" b="1">
                <a:solidFill>
                  <a:srgbClr val="1B3A5F"/>
                </a:solidFill>
                <a:latin typeface="Calibri"/>
              </a:rPr>
              <a:t>affect / effect</a:t>
            </a:r>
          </a:p>
        </p:txBody>
      </p:sp>
      <p:sp>
        <p:nvSpPr>
          <p:cNvPr id="17" name="TextBox 16"/>
          <p:cNvSpPr txBox="1"/>
          <p:nvPr/>
        </p:nvSpPr>
        <p:spPr>
          <a:xfrm>
            <a:off x="3474720" y="2971800"/>
            <a:ext cx="4114800" cy="365760"/>
          </a:xfrm>
          <a:prstGeom prst="rect">
            <a:avLst/>
          </a:prstGeom>
          <a:noFill/>
        </p:spPr>
        <p:txBody>
          <a:bodyPr wrap="square">
            <a:spAutoFit/>
          </a:bodyPr>
          <a:lstStyle/>
          <a:p>
            <a:pPr algn="l"/>
            <a:r>
              <a:rPr sz="1300" b="0">
                <a:solidFill>
                  <a:srgbClr val="2D2D2D"/>
                </a:solidFill>
                <a:latin typeface="Calibri"/>
              </a:rPr>
              <a:t>affect = verb (to change)  |  effect = noun (result)</a:t>
            </a:r>
          </a:p>
        </p:txBody>
      </p:sp>
      <p:sp>
        <p:nvSpPr>
          <p:cNvPr id="18" name="TextBox 17"/>
          <p:cNvSpPr txBox="1"/>
          <p:nvPr/>
        </p:nvSpPr>
        <p:spPr>
          <a:xfrm>
            <a:off x="7772400" y="2971800"/>
            <a:ext cx="3657600" cy="365760"/>
          </a:xfrm>
          <a:prstGeom prst="rect">
            <a:avLst/>
          </a:prstGeom>
          <a:noFill/>
        </p:spPr>
        <p:txBody>
          <a:bodyPr wrap="square">
            <a:spAutoFit/>
          </a:bodyPr>
          <a:lstStyle/>
          <a:p>
            <a:pPr algn="l"/>
            <a:r>
              <a:rPr sz="1300" b="0">
                <a:solidFill>
                  <a:srgbClr val="6B7280"/>
                </a:solidFill>
                <a:latin typeface="Calibri"/>
              </a:rPr>
              <a:t>Stress can affect sleep. / The effect was clear.</a:t>
            </a:r>
          </a:p>
        </p:txBody>
      </p:sp>
      <p:sp>
        <p:nvSpPr>
          <p:cNvPr id="19" name="Rectangle 18"/>
          <p:cNvSpPr/>
          <p:nvPr/>
        </p:nvSpPr>
        <p:spPr>
          <a:xfrm>
            <a:off x="457200" y="3520439"/>
            <a:ext cx="11247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749039"/>
            <a:ext cx="2743200" cy="365760"/>
          </a:xfrm>
          <a:prstGeom prst="rect">
            <a:avLst/>
          </a:prstGeom>
          <a:noFill/>
        </p:spPr>
        <p:txBody>
          <a:bodyPr wrap="square">
            <a:spAutoFit/>
          </a:bodyPr>
          <a:lstStyle/>
          <a:p>
            <a:pPr algn="l"/>
            <a:r>
              <a:rPr sz="1400" b="1">
                <a:solidFill>
                  <a:srgbClr val="1B3A5F"/>
                </a:solidFill>
                <a:latin typeface="Calibri"/>
              </a:rPr>
              <a:t>there / their / they’re</a:t>
            </a:r>
          </a:p>
        </p:txBody>
      </p:sp>
      <p:sp>
        <p:nvSpPr>
          <p:cNvPr id="21" name="TextBox 20"/>
          <p:cNvSpPr txBox="1"/>
          <p:nvPr/>
        </p:nvSpPr>
        <p:spPr>
          <a:xfrm>
            <a:off x="3474720" y="3749039"/>
            <a:ext cx="4114800" cy="365760"/>
          </a:xfrm>
          <a:prstGeom prst="rect">
            <a:avLst/>
          </a:prstGeom>
          <a:noFill/>
        </p:spPr>
        <p:txBody>
          <a:bodyPr wrap="square">
            <a:spAutoFit/>
          </a:bodyPr>
          <a:lstStyle/>
          <a:p>
            <a:pPr algn="l"/>
            <a:r>
              <a:rPr sz="1300" b="0">
                <a:solidFill>
                  <a:srgbClr val="2D2D2D"/>
                </a:solidFill>
                <a:latin typeface="Calibri"/>
              </a:rPr>
              <a:t>place / belonging / they are</a:t>
            </a:r>
          </a:p>
        </p:txBody>
      </p:sp>
      <p:sp>
        <p:nvSpPr>
          <p:cNvPr id="22" name="TextBox 21"/>
          <p:cNvSpPr txBox="1"/>
          <p:nvPr/>
        </p:nvSpPr>
        <p:spPr>
          <a:xfrm>
            <a:off x="7772400" y="3749039"/>
            <a:ext cx="3657600" cy="365760"/>
          </a:xfrm>
          <a:prstGeom prst="rect">
            <a:avLst/>
          </a:prstGeom>
          <a:noFill/>
        </p:spPr>
        <p:txBody>
          <a:bodyPr wrap="square">
            <a:spAutoFit/>
          </a:bodyPr>
          <a:lstStyle/>
          <a:p>
            <a:pPr algn="l"/>
            <a:r>
              <a:rPr sz="1300" b="0">
                <a:solidFill>
                  <a:srgbClr val="6B7280"/>
                </a:solidFill>
                <a:latin typeface="Calibri"/>
              </a:rPr>
              <a:t>They’re putting their bags over there.</a:t>
            </a:r>
          </a:p>
        </p:txBody>
      </p:sp>
      <p:sp>
        <p:nvSpPr>
          <p:cNvPr id="23" name="Rectangle 22"/>
          <p:cNvSpPr/>
          <p:nvPr/>
        </p:nvSpPr>
        <p:spPr>
          <a:xfrm>
            <a:off x="457200" y="4297679"/>
            <a:ext cx="11247120" cy="777240"/>
          </a:xfrm>
          <a:prstGeom prst="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526279"/>
            <a:ext cx="2743200" cy="365760"/>
          </a:xfrm>
          <a:prstGeom prst="rect">
            <a:avLst/>
          </a:prstGeom>
          <a:noFill/>
        </p:spPr>
        <p:txBody>
          <a:bodyPr wrap="square">
            <a:spAutoFit/>
          </a:bodyPr>
          <a:lstStyle/>
          <a:p>
            <a:pPr algn="l"/>
            <a:r>
              <a:rPr sz="1400" b="1">
                <a:solidFill>
                  <a:srgbClr val="1B3A5F"/>
                </a:solidFill>
                <a:latin typeface="Calibri"/>
              </a:rPr>
              <a:t>your / you’re</a:t>
            </a:r>
          </a:p>
        </p:txBody>
      </p:sp>
      <p:sp>
        <p:nvSpPr>
          <p:cNvPr id="25" name="TextBox 24"/>
          <p:cNvSpPr txBox="1"/>
          <p:nvPr/>
        </p:nvSpPr>
        <p:spPr>
          <a:xfrm>
            <a:off x="3474720" y="4526279"/>
            <a:ext cx="4114800" cy="365760"/>
          </a:xfrm>
          <a:prstGeom prst="rect">
            <a:avLst/>
          </a:prstGeom>
          <a:noFill/>
        </p:spPr>
        <p:txBody>
          <a:bodyPr wrap="square">
            <a:spAutoFit/>
          </a:bodyPr>
          <a:lstStyle/>
          <a:p>
            <a:pPr algn="l"/>
            <a:r>
              <a:rPr sz="1300" b="0">
                <a:solidFill>
                  <a:srgbClr val="2D2D2D"/>
                </a:solidFill>
                <a:latin typeface="Calibri"/>
              </a:rPr>
              <a:t>your = belonging  |  you’re = you are</a:t>
            </a:r>
          </a:p>
        </p:txBody>
      </p:sp>
      <p:sp>
        <p:nvSpPr>
          <p:cNvPr id="26" name="TextBox 25"/>
          <p:cNvSpPr txBox="1"/>
          <p:nvPr/>
        </p:nvSpPr>
        <p:spPr>
          <a:xfrm>
            <a:off x="7772400" y="4526279"/>
            <a:ext cx="3657600" cy="365760"/>
          </a:xfrm>
          <a:prstGeom prst="rect">
            <a:avLst/>
          </a:prstGeom>
          <a:noFill/>
        </p:spPr>
        <p:txBody>
          <a:bodyPr wrap="square">
            <a:spAutoFit/>
          </a:bodyPr>
          <a:lstStyle/>
          <a:p>
            <a:pPr algn="l"/>
            <a:r>
              <a:rPr sz="1300" b="0">
                <a:solidFill>
                  <a:srgbClr val="6B7280"/>
                </a:solidFill>
                <a:latin typeface="Calibri"/>
              </a:rPr>
              <a:t>You’re improving your reading skills.</a:t>
            </a:r>
          </a:p>
        </p:txBody>
      </p:sp>
      <p:sp>
        <p:nvSpPr>
          <p:cNvPr id="27" name="Rectangle 26"/>
          <p:cNvSpPr/>
          <p:nvPr/>
        </p:nvSpPr>
        <p:spPr>
          <a:xfrm>
            <a:off x="457200" y="5074920"/>
            <a:ext cx="112471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303520"/>
            <a:ext cx="2743200" cy="365760"/>
          </a:xfrm>
          <a:prstGeom prst="rect">
            <a:avLst/>
          </a:prstGeom>
          <a:noFill/>
        </p:spPr>
        <p:txBody>
          <a:bodyPr wrap="square">
            <a:spAutoFit/>
          </a:bodyPr>
          <a:lstStyle/>
          <a:p>
            <a:pPr algn="l"/>
            <a:r>
              <a:rPr sz="1400" b="1">
                <a:solidFill>
                  <a:srgbClr val="1B3A5F"/>
                </a:solidFill>
                <a:latin typeface="Calibri"/>
              </a:rPr>
              <a:t>then / than</a:t>
            </a:r>
          </a:p>
        </p:txBody>
      </p:sp>
      <p:sp>
        <p:nvSpPr>
          <p:cNvPr id="29" name="TextBox 28"/>
          <p:cNvSpPr txBox="1"/>
          <p:nvPr/>
        </p:nvSpPr>
        <p:spPr>
          <a:xfrm>
            <a:off x="3474720" y="5303520"/>
            <a:ext cx="4114800" cy="365760"/>
          </a:xfrm>
          <a:prstGeom prst="rect">
            <a:avLst/>
          </a:prstGeom>
          <a:noFill/>
        </p:spPr>
        <p:txBody>
          <a:bodyPr wrap="square">
            <a:spAutoFit/>
          </a:bodyPr>
          <a:lstStyle/>
          <a:p>
            <a:pPr algn="l"/>
            <a:r>
              <a:rPr sz="1300" b="0">
                <a:solidFill>
                  <a:srgbClr val="2D2D2D"/>
                </a:solidFill>
                <a:latin typeface="Calibri"/>
              </a:rPr>
              <a:t>then = time  |  than = comparison</a:t>
            </a:r>
          </a:p>
        </p:txBody>
      </p:sp>
      <p:sp>
        <p:nvSpPr>
          <p:cNvPr id="30" name="TextBox 29"/>
          <p:cNvSpPr txBox="1"/>
          <p:nvPr/>
        </p:nvSpPr>
        <p:spPr>
          <a:xfrm>
            <a:off x="7772400" y="5303520"/>
            <a:ext cx="3657600" cy="365760"/>
          </a:xfrm>
          <a:prstGeom prst="rect">
            <a:avLst/>
          </a:prstGeom>
          <a:noFill/>
        </p:spPr>
        <p:txBody>
          <a:bodyPr wrap="square">
            <a:spAutoFit/>
          </a:bodyPr>
          <a:lstStyle/>
          <a:p>
            <a:pPr algn="l"/>
            <a:r>
              <a:rPr sz="1300" b="0">
                <a:solidFill>
                  <a:srgbClr val="6B7280"/>
                </a:solidFill>
                <a:latin typeface="Calibri"/>
              </a:rPr>
              <a:t>Read first, then revise. / Better than before.</a:t>
            </a:r>
          </a:p>
        </p:txBody>
      </p:sp>
      <p:sp>
        <p:nvSpPr>
          <p:cNvPr id="31" name="Rectangle 30"/>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32–44 min</a:t>
            </a:r>
          </a:p>
        </p:txBody>
      </p:sp>
      <p:sp>
        <p:nvSpPr>
          <p:cNvPr id="33" name="TextBox 32"/>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16/22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PRACTICE</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Fix These Sentences (Live Practice)</a:t>
            </a:r>
          </a:p>
        </p:txBody>
      </p:sp>
      <p:sp>
        <p:nvSpPr>
          <p:cNvPr id="7" name="Rounded Rectangle 6"/>
          <p:cNvSpPr/>
          <p:nvPr/>
        </p:nvSpPr>
        <p:spPr>
          <a:xfrm>
            <a:off x="457200" y="141732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10698480" cy="411480"/>
          </a:xfrm>
          <a:prstGeom prst="rect">
            <a:avLst/>
          </a:prstGeom>
          <a:noFill/>
        </p:spPr>
        <p:txBody>
          <a:bodyPr wrap="square">
            <a:spAutoFit/>
          </a:bodyPr>
          <a:lstStyle/>
          <a:p>
            <a:pPr algn="l"/>
            <a:r>
              <a:rPr sz="1600" b="0">
                <a:solidFill>
                  <a:srgbClr val="2D2D2D"/>
                </a:solidFill>
                <a:latin typeface="Calibri"/>
              </a:rPr>
              <a:t>1.  Everyone in the group have finished their annotations.</a:t>
            </a:r>
          </a:p>
        </p:txBody>
      </p:sp>
      <p:sp>
        <p:nvSpPr>
          <p:cNvPr id="9" name="Rounded Rectangle 8"/>
          <p:cNvSpPr/>
          <p:nvPr/>
        </p:nvSpPr>
        <p:spPr>
          <a:xfrm>
            <a:off x="457200" y="228600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14600"/>
            <a:ext cx="10698480" cy="411480"/>
          </a:xfrm>
          <a:prstGeom prst="rect">
            <a:avLst/>
          </a:prstGeom>
          <a:noFill/>
        </p:spPr>
        <p:txBody>
          <a:bodyPr wrap="square">
            <a:spAutoFit/>
          </a:bodyPr>
          <a:lstStyle/>
          <a:p>
            <a:pPr algn="l"/>
            <a:r>
              <a:rPr sz="1600" b="0">
                <a:solidFill>
                  <a:srgbClr val="2D2D2D"/>
                </a:solidFill>
                <a:latin typeface="Calibri"/>
              </a:rPr>
              <a:t>2.  The stack of books are tipping over the desk.</a:t>
            </a:r>
          </a:p>
        </p:txBody>
      </p:sp>
      <p:sp>
        <p:nvSpPr>
          <p:cNvPr id="11" name="Rounded Rectangle 10"/>
          <p:cNvSpPr/>
          <p:nvPr/>
        </p:nvSpPr>
        <p:spPr>
          <a:xfrm>
            <a:off x="457200" y="315468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83280"/>
            <a:ext cx="10698480" cy="411480"/>
          </a:xfrm>
          <a:prstGeom prst="rect">
            <a:avLst/>
          </a:prstGeom>
          <a:noFill/>
        </p:spPr>
        <p:txBody>
          <a:bodyPr wrap="square">
            <a:spAutoFit/>
          </a:bodyPr>
          <a:lstStyle/>
          <a:p>
            <a:pPr algn="l"/>
            <a:r>
              <a:rPr sz="1600" b="0">
                <a:solidFill>
                  <a:srgbClr val="2D2D2D"/>
                </a:solidFill>
                <a:latin typeface="Calibri"/>
              </a:rPr>
              <a:t>3.  Maya wanted to improve her writing but she forgot to revise.</a:t>
            </a:r>
          </a:p>
        </p:txBody>
      </p:sp>
      <p:sp>
        <p:nvSpPr>
          <p:cNvPr id="13" name="Rounded Rectangle 12"/>
          <p:cNvSpPr/>
          <p:nvPr/>
        </p:nvSpPr>
        <p:spPr>
          <a:xfrm>
            <a:off x="457200" y="4023359"/>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51959"/>
            <a:ext cx="10698480" cy="411480"/>
          </a:xfrm>
          <a:prstGeom prst="rect">
            <a:avLst/>
          </a:prstGeom>
          <a:noFill/>
        </p:spPr>
        <p:txBody>
          <a:bodyPr wrap="square">
            <a:spAutoFit/>
          </a:bodyPr>
          <a:lstStyle/>
          <a:p>
            <a:pPr algn="l"/>
            <a:r>
              <a:rPr sz="1600" b="0">
                <a:solidFill>
                  <a:srgbClr val="2D2D2D"/>
                </a:solidFill>
                <a:latin typeface="Calibri"/>
              </a:rPr>
              <a:t>4.  Its important to check your work before your done.</a:t>
            </a:r>
          </a:p>
        </p:txBody>
      </p:sp>
      <p:sp>
        <p:nvSpPr>
          <p:cNvPr id="15" name="Rounded Rectangle 14"/>
          <p:cNvSpPr/>
          <p:nvPr/>
        </p:nvSpPr>
        <p:spPr>
          <a:xfrm>
            <a:off x="457200" y="4892040"/>
            <a:ext cx="11247120" cy="7772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120640"/>
            <a:ext cx="10698480" cy="411480"/>
          </a:xfrm>
          <a:prstGeom prst="rect">
            <a:avLst/>
          </a:prstGeom>
          <a:noFill/>
        </p:spPr>
        <p:txBody>
          <a:bodyPr wrap="square">
            <a:spAutoFit/>
          </a:bodyPr>
          <a:lstStyle/>
          <a:p>
            <a:pPr algn="l"/>
            <a:r>
              <a:rPr sz="1600" b="0">
                <a:solidFill>
                  <a:srgbClr val="2D2D2D"/>
                </a:solidFill>
                <a:latin typeface="Calibri"/>
              </a:rPr>
              <a:t>5.  Reading carefully has a bigger affect on scores then rushing.</a:t>
            </a:r>
          </a:p>
        </p:txBody>
      </p:sp>
      <p:sp>
        <p:nvSpPr>
          <p:cNvPr id="17" name="Rectangle 1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32–44 min</a:t>
            </a:r>
          </a:p>
        </p:txBody>
      </p:sp>
      <p:sp>
        <p:nvSpPr>
          <p:cNvPr id="19" name="TextBox 18"/>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17/22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ANSWER KEY</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Corrected Versions</a:t>
            </a:r>
          </a:p>
        </p:txBody>
      </p:sp>
      <p:sp>
        <p:nvSpPr>
          <p:cNvPr id="7" name="Rounded Rectangle 6"/>
          <p:cNvSpPr/>
          <p:nvPr/>
        </p:nvSpPr>
        <p:spPr>
          <a:xfrm>
            <a:off x="457200" y="1417320"/>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10698480" cy="411480"/>
          </a:xfrm>
          <a:prstGeom prst="rect">
            <a:avLst/>
          </a:prstGeom>
          <a:noFill/>
        </p:spPr>
        <p:txBody>
          <a:bodyPr wrap="square">
            <a:spAutoFit/>
          </a:bodyPr>
          <a:lstStyle/>
          <a:p>
            <a:pPr algn="l"/>
            <a:r>
              <a:rPr sz="1500" b="0">
                <a:solidFill>
                  <a:srgbClr val="2D2D2D"/>
                </a:solidFill>
                <a:latin typeface="Calibri"/>
              </a:rPr>
              <a:t>1.  Everyone in the group has finished their annotations.  (everyone = singular → has)</a:t>
            </a:r>
          </a:p>
        </p:txBody>
      </p:sp>
      <p:sp>
        <p:nvSpPr>
          <p:cNvPr id="9" name="Rounded Rectangle 8"/>
          <p:cNvSpPr/>
          <p:nvPr/>
        </p:nvSpPr>
        <p:spPr>
          <a:xfrm>
            <a:off x="457200" y="2286000"/>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14600"/>
            <a:ext cx="10698480" cy="411480"/>
          </a:xfrm>
          <a:prstGeom prst="rect">
            <a:avLst/>
          </a:prstGeom>
          <a:noFill/>
        </p:spPr>
        <p:txBody>
          <a:bodyPr wrap="square">
            <a:spAutoFit/>
          </a:bodyPr>
          <a:lstStyle/>
          <a:p>
            <a:pPr algn="l"/>
            <a:r>
              <a:rPr sz="1500" b="0">
                <a:solidFill>
                  <a:srgbClr val="2D2D2D"/>
                </a:solidFill>
                <a:latin typeface="Calibri"/>
              </a:rPr>
              <a:t>2.  The stack of books is tipping over the desk.  (stack = singular → is)</a:t>
            </a:r>
          </a:p>
        </p:txBody>
      </p:sp>
      <p:sp>
        <p:nvSpPr>
          <p:cNvPr id="11" name="Rounded Rectangle 10"/>
          <p:cNvSpPr/>
          <p:nvPr/>
        </p:nvSpPr>
        <p:spPr>
          <a:xfrm>
            <a:off x="457200" y="3154680"/>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383280"/>
            <a:ext cx="10698480" cy="411480"/>
          </a:xfrm>
          <a:prstGeom prst="rect">
            <a:avLst/>
          </a:prstGeom>
          <a:noFill/>
        </p:spPr>
        <p:txBody>
          <a:bodyPr wrap="square">
            <a:spAutoFit/>
          </a:bodyPr>
          <a:lstStyle/>
          <a:p>
            <a:pPr algn="l"/>
            <a:r>
              <a:rPr sz="1500" b="0">
                <a:solidFill>
                  <a:srgbClr val="2D2D2D"/>
                </a:solidFill>
                <a:latin typeface="Calibri"/>
              </a:rPr>
              <a:t>3.  Maya wanted to improve her writing, but she forgot to revise.  (FANBOYS comma)</a:t>
            </a:r>
          </a:p>
        </p:txBody>
      </p:sp>
      <p:sp>
        <p:nvSpPr>
          <p:cNvPr id="13" name="Rounded Rectangle 12"/>
          <p:cNvSpPr/>
          <p:nvPr/>
        </p:nvSpPr>
        <p:spPr>
          <a:xfrm>
            <a:off x="457200" y="4023359"/>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51959"/>
            <a:ext cx="10698480" cy="411480"/>
          </a:xfrm>
          <a:prstGeom prst="rect">
            <a:avLst/>
          </a:prstGeom>
          <a:noFill/>
        </p:spPr>
        <p:txBody>
          <a:bodyPr wrap="square">
            <a:spAutoFit/>
          </a:bodyPr>
          <a:lstStyle/>
          <a:p>
            <a:pPr algn="l"/>
            <a:r>
              <a:rPr sz="1500" b="0">
                <a:solidFill>
                  <a:srgbClr val="2D2D2D"/>
                </a:solidFill>
                <a:latin typeface="Calibri"/>
              </a:rPr>
              <a:t>4.  It’s important to check your work before you’re done.  (it’s / you’re)</a:t>
            </a:r>
          </a:p>
        </p:txBody>
      </p:sp>
      <p:sp>
        <p:nvSpPr>
          <p:cNvPr id="15" name="Rounded Rectangle 14"/>
          <p:cNvSpPr/>
          <p:nvPr/>
        </p:nvSpPr>
        <p:spPr>
          <a:xfrm>
            <a:off x="457200" y="4892040"/>
            <a:ext cx="11247120" cy="77724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120640"/>
            <a:ext cx="10698480" cy="411480"/>
          </a:xfrm>
          <a:prstGeom prst="rect">
            <a:avLst/>
          </a:prstGeom>
          <a:noFill/>
        </p:spPr>
        <p:txBody>
          <a:bodyPr wrap="square">
            <a:spAutoFit/>
          </a:bodyPr>
          <a:lstStyle/>
          <a:p>
            <a:pPr algn="l"/>
            <a:r>
              <a:rPr sz="1500" b="0">
                <a:solidFill>
                  <a:srgbClr val="2D2D2D"/>
                </a:solidFill>
                <a:latin typeface="Calibri"/>
              </a:rPr>
              <a:t>5.  Reading carefully has a bigger effect on scores than rushing.  (effect / than)</a:t>
            </a:r>
          </a:p>
        </p:txBody>
      </p:sp>
      <p:sp>
        <p:nvSpPr>
          <p:cNvPr id="17" name="Rectangle 16"/>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32–44 min</a:t>
            </a:r>
          </a:p>
        </p:txBody>
      </p:sp>
      <p:sp>
        <p:nvSpPr>
          <p:cNvPr id="19" name="TextBox 18"/>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18/22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APPLY &amp; CREATE</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10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Put It Together: Edit + Respond</a:t>
            </a:r>
          </a:p>
        </p:txBody>
      </p:sp>
      <p:sp>
        <p:nvSpPr>
          <p:cNvPr id="9" name="Rounded Rectangle 8"/>
          <p:cNvSpPr/>
          <p:nvPr/>
        </p:nvSpPr>
        <p:spPr>
          <a:xfrm>
            <a:off x="457200" y="1417320"/>
            <a:ext cx="11247120" cy="2194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54480"/>
            <a:ext cx="10698480" cy="320040"/>
          </a:xfrm>
          <a:prstGeom prst="rect">
            <a:avLst/>
          </a:prstGeom>
          <a:noFill/>
        </p:spPr>
        <p:txBody>
          <a:bodyPr wrap="square">
            <a:spAutoFit/>
          </a:bodyPr>
          <a:lstStyle/>
          <a:p>
            <a:pPr algn="l"/>
            <a:r>
              <a:rPr sz="1600" b="1">
                <a:solidFill>
                  <a:srgbClr val="E76F51"/>
                </a:solidFill>
                <a:latin typeface="Calibri"/>
              </a:rPr>
              <a:t>Student Draft (needs help)</a:t>
            </a:r>
          </a:p>
        </p:txBody>
      </p:sp>
      <p:sp>
        <p:nvSpPr>
          <p:cNvPr id="11" name="TextBox 10"/>
          <p:cNvSpPr txBox="1"/>
          <p:nvPr/>
        </p:nvSpPr>
        <p:spPr>
          <a:xfrm>
            <a:off x="731520" y="1965960"/>
            <a:ext cx="10698480" cy="1371600"/>
          </a:xfrm>
          <a:prstGeom prst="rect">
            <a:avLst/>
          </a:prstGeom>
          <a:noFill/>
        </p:spPr>
        <p:txBody>
          <a:bodyPr wrap="square">
            <a:spAutoFit/>
          </a:bodyPr>
          <a:lstStyle/>
          <a:p>
            <a:pPr algn="l"/>
            <a:r>
              <a:rPr sz="1600" b="0">
                <a:solidFill>
                  <a:srgbClr val="2D2D2D"/>
                </a:solidFill>
                <a:latin typeface="Calibri"/>
              </a:rPr>
              <a:t>Curiosity help students learn better. When a reader ask good questions they find deeper meaning. Its more powerful then just memorizing facts. Strong readers pause check evidence and revise there thinking.</a:t>
            </a:r>
          </a:p>
        </p:txBody>
      </p:sp>
      <p:sp>
        <p:nvSpPr>
          <p:cNvPr id="12" name="Rounded Rectangle 11"/>
          <p:cNvSpPr/>
          <p:nvPr/>
        </p:nvSpPr>
        <p:spPr>
          <a:xfrm>
            <a:off x="457200" y="3840480"/>
            <a:ext cx="5486400" cy="2194560"/>
          </a:xfrm>
          <a:prstGeom prst="roundRect">
            <a:avLst/>
          </a:prstGeom>
          <a:solidFill>
            <a:srgbClr val="E8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023360"/>
            <a:ext cx="5029200" cy="365760"/>
          </a:xfrm>
          <a:prstGeom prst="rect">
            <a:avLst/>
          </a:prstGeom>
          <a:noFill/>
        </p:spPr>
        <p:txBody>
          <a:bodyPr wrap="square">
            <a:spAutoFit/>
          </a:bodyPr>
          <a:lstStyle/>
          <a:p>
            <a:pPr algn="l"/>
            <a:r>
              <a:rPr sz="1600" b="1">
                <a:solidFill>
                  <a:srgbClr val="1B3A5F"/>
                </a:solidFill>
                <a:latin typeface="Calibri"/>
              </a:rPr>
              <a:t>Task A — Grammar Edit (5 min)</a:t>
            </a:r>
          </a:p>
        </p:txBody>
      </p:sp>
      <p:sp>
        <p:nvSpPr>
          <p:cNvPr id="14" name="TextBox 13"/>
          <p:cNvSpPr txBox="1"/>
          <p:nvPr/>
        </p:nvSpPr>
        <p:spPr>
          <a:xfrm>
            <a:off x="685800" y="4526280"/>
            <a:ext cx="5029200" cy="1280160"/>
          </a:xfrm>
          <a:prstGeom prst="rect">
            <a:avLst/>
          </a:prstGeom>
          <a:noFill/>
        </p:spPr>
        <p:txBody>
          <a:bodyPr wrap="square">
            <a:spAutoFit/>
          </a:bodyPr>
          <a:lstStyle/>
          <a:p>
            <a:pPr algn="l">
              <a:spcAft>
                <a:spcPts val="800"/>
              </a:spcAft>
            </a:pPr>
            <a:r>
              <a:rPr sz="1400" b="0">
                <a:solidFill>
                  <a:srgbClr val="2D2D2D"/>
                </a:solidFill>
                <a:latin typeface="Calibri"/>
              </a:rPr>
              <a:t>•  Rewrite the paragraph correctly</a:t>
            </a:r>
          </a:p>
          <a:p>
            <a:pPr algn="l">
              <a:spcAft>
                <a:spcPts val="800"/>
              </a:spcAft>
            </a:pPr>
            <a:r>
              <a:rPr sz="1400" b="0">
                <a:solidFill>
                  <a:srgbClr val="2D2D2D"/>
                </a:solidFill>
                <a:latin typeface="Calibri"/>
              </a:rPr>
              <a:t>•  Fix verbs, commas, and word choice</a:t>
            </a:r>
          </a:p>
          <a:p>
            <a:pPr algn="l">
              <a:spcAft>
                <a:spcPts val="800"/>
              </a:spcAft>
            </a:pPr>
            <a:r>
              <a:rPr sz="1400" b="0">
                <a:solidFill>
                  <a:srgbClr val="2D2D2D"/>
                </a:solidFill>
                <a:latin typeface="Calibri"/>
              </a:rPr>
              <a:t>•  Keep the original meaning</a:t>
            </a:r>
          </a:p>
        </p:txBody>
      </p:sp>
      <p:sp>
        <p:nvSpPr>
          <p:cNvPr id="15" name="Rounded Rectangle 14"/>
          <p:cNvSpPr/>
          <p:nvPr/>
        </p:nvSpPr>
        <p:spPr>
          <a:xfrm>
            <a:off x="6217920" y="3840480"/>
            <a:ext cx="5486400" cy="2194560"/>
          </a:xfrm>
          <a:prstGeom prst="roundRect">
            <a:avLst/>
          </a:prstGeom>
          <a:solidFill>
            <a:srgbClr val="FDED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4023360"/>
            <a:ext cx="5029200" cy="365760"/>
          </a:xfrm>
          <a:prstGeom prst="rect">
            <a:avLst/>
          </a:prstGeom>
          <a:noFill/>
        </p:spPr>
        <p:txBody>
          <a:bodyPr wrap="square">
            <a:spAutoFit/>
          </a:bodyPr>
          <a:lstStyle/>
          <a:p>
            <a:pPr algn="l"/>
            <a:r>
              <a:rPr sz="1600" b="1">
                <a:solidFill>
                  <a:srgbClr val="1B3A5F"/>
                </a:solidFill>
                <a:latin typeface="Calibri"/>
              </a:rPr>
              <a:t>Task B — Reading Response (5 min)</a:t>
            </a:r>
          </a:p>
        </p:txBody>
      </p:sp>
      <p:sp>
        <p:nvSpPr>
          <p:cNvPr id="17" name="TextBox 16"/>
          <p:cNvSpPr txBox="1"/>
          <p:nvPr/>
        </p:nvSpPr>
        <p:spPr>
          <a:xfrm>
            <a:off x="6446520" y="4526280"/>
            <a:ext cx="5029200" cy="1280160"/>
          </a:xfrm>
          <a:prstGeom prst="rect">
            <a:avLst/>
          </a:prstGeom>
          <a:noFill/>
        </p:spPr>
        <p:txBody>
          <a:bodyPr wrap="square">
            <a:spAutoFit/>
          </a:bodyPr>
          <a:lstStyle/>
          <a:p>
            <a:pPr algn="l">
              <a:spcAft>
                <a:spcPts val="800"/>
              </a:spcAft>
            </a:pPr>
            <a:r>
              <a:rPr sz="1400" b="0">
                <a:solidFill>
                  <a:srgbClr val="2D2D2D"/>
                </a:solidFill>
                <a:latin typeface="Calibri"/>
              </a:rPr>
              <a:t>•  Write 3–4 sentences</a:t>
            </a:r>
          </a:p>
          <a:p>
            <a:pPr algn="l">
              <a:spcAft>
                <a:spcPts val="800"/>
              </a:spcAft>
            </a:pPr>
            <a:r>
              <a:rPr sz="1400" b="0">
                <a:solidFill>
                  <a:srgbClr val="2D2D2D"/>
                </a:solidFill>
                <a:latin typeface="Calibri"/>
              </a:rPr>
              <a:t>•  Explain one reading strategy you’ll use this week</a:t>
            </a:r>
          </a:p>
          <a:p>
            <a:pPr algn="l">
              <a:spcAft>
                <a:spcPts val="800"/>
              </a:spcAft>
            </a:pPr>
            <a:r>
              <a:rPr sz="1400" b="0">
                <a:solidFill>
                  <a:srgbClr val="2D2D2D"/>
                </a:solidFill>
                <a:latin typeface="Calibri"/>
              </a:rPr>
              <a:t>•  Include one text-based reason why it helps</a:t>
            </a:r>
          </a:p>
        </p:txBody>
      </p:sp>
      <p:sp>
        <p:nvSpPr>
          <p:cNvPr id="18" name="Rectangle 17"/>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44–54 min</a:t>
            </a:r>
          </a:p>
        </p:txBody>
      </p:sp>
      <p:sp>
        <p:nvSpPr>
          <p:cNvPr id="20" name="TextBox 19"/>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19/22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MODEL</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Sample Strong Response</a:t>
            </a:r>
          </a:p>
        </p:txBody>
      </p:sp>
      <p:sp>
        <p:nvSpPr>
          <p:cNvPr id="7" name="Rounded Rectangle 6"/>
          <p:cNvSpPr/>
          <p:nvPr/>
        </p:nvSpPr>
        <p:spPr>
          <a:xfrm>
            <a:off x="457200" y="1463040"/>
            <a:ext cx="1124712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45920"/>
            <a:ext cx="10698480" cy="320040"/>
          </a:xfrm>
          <a:prstGeom prst="rect">
            <a:avLst/>
          </a:prstGeom>
          <a:noFill/>
        </p:spPr>
        <p:txBody>
          <a:bodyPr wrap="square">
            <a:spAutoFit/>
          </a:bodyPr>
          <a:lstStyle/>
          <a:p>
            <a:pPr algn="l"/>
            <a:r>
              <a:rPr sz="1600" b="1">
                <a:solidFill>
                  <a:srgbClr val="2A9D8F"/>
                </a:solidFill>
                <a:latin typeface="Calibri"/>
              </a:rPr>
              <a:t>Edited Paragraph</a:t>
            </a:r>
          </a:p>
        </p:txBody>
      </p:sp>
      <p:sp>
        <p:nvSpPr>
          <p:cNvPr id="9" name="TextBox 8"/>
          <p:cNvSpPr txBox="1"/>
          <p:nvPr/>
        </p:nvSpPr>
        <p:spPr>
          <a:xfrm>
            <a:off x="731520" y="2103120"/>
            <a:ext cx="10698480" cy="1371600"/>
          </a:xfrm>
          <a:prstGeom prst="rect">
            <a:avLst/>
          </a:prstGeom>
          <a:noFill/>
        </p:spPr>
        <p:txBody>
          <a:bodyPr wrap="square">
            <a:spAutoFit/>
          </a:bodyPr>
          <a:lstStyle/>
          <a:p>
            <a:pPr algn="l"/>
            <a:r>
              <a:rPr sz="1600" b="0">
                <a:solidFill>
                  <a:srgbClr val="2D2D2D"/>
                </a:solidFill>
                <a:latin typeface="Calibri"/>
              </a:rPr>
              <a:t>Curiosity helps students learn better. When a reader asks good questions, they find deeper meaning. It’s more powerful than just memorizing facts. Strong readers pause, check evidence, and revise their thinking.</a:t>
            </a:r>
          </a:p>
        </p:txBody>
      </p:sp>
      <p:sp>
        <p:nvSpPr>
          <p:cNvPr id="10" name="Rounded Rectangle 9"/>
          <p:cNvSpPr/>
          <p:nvPr/>
        </p:nvSpPr>
        <p:spPr>
          <a:xfrm>
            <a:off x="457200" y="3977639"/>
            <a:ext cx="11247120" cy="2057400"/>
          </a:xfrm>
          <a:prstGeom prst="roundRect">
            <a:avLst/>
          </a:prstGeom>
          <a:solidFill>
            <a:srgbClr val="E8EE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160520"/>
            <a:ext cx="10698480" cy="320040"/>
          </a:xfrm>
          <a:prstGeom prst="rect">
            <a:avLst/>
          </a:prstGeom>
          <a:noFill/>
        </p:spPr>
        <p:txBody>
          <a:bodyPr wrap="square">
            <a:spAutoFit/>
          </a:bodyPr>
          <a:lstStyle/>
          <a:p>
            <a:pPr algn="l"/>
            <a:r>
              <a:rPr sz="1600" b="1">
                <a:solidFill>
                  <a:srgbClr val="1B3A5F"/>
                </a:solidFill>
                <a:latin typeface="Calibri"/>
              </a:rPr>
              <a:t>Sample Reading Response</a:t>
            </a:r>
          </a:p>
        </p:txBody>
      </p:sp>
      <p:sp>
        <p:nvSpPr>
          <p:cNvPr id="12" name="TextBox 11"/>
          <p:cNvSpPr txBox="1"/>
          <p:nvPr/>
        </p:nvSpPr>
        <p:spPr>
          <a:xfrm>
            <a:off x="731520" y="4617720"/>
            <a:ext cx="10698480" cy="1188720"/>
          </a:xfrm>
          <a:prstGeom prst="rect">
            <a:avLst/>
          </a:prstGeom>
          <a:noFill/>
        </p:spPr>
        <p:txBody>
          <a:bodyPr wrap="square">
            <a:spAutoFit/>
          </a:bodyPr>
          <a:lstStyle/>
          <a:p>
            <a:pPr algn="l"/>
            <a:r>
              <a:rPr sz="1500" b="0">
                <a:solidFill>
                  <a:srgbClr val="2D2D2D"/>
                </a:solidFill>
                <a:latin typeface="Calibri"/>
              </a:rPr>
              <a:t>This week I will annotate while I read by starring the main idea and underlining evidence. That helps me slow down and notice what the author is really saying. When I check my annotations later, I can answer questions with proof instead of guessing.</a:t>
            </a:r>
          </a:p>
        </p:txBody>
      </p:sp>
      <p:sp>
        <p:nvSpPr>
          <p:cNvPr id="13" name="Rectangle 12"/>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44–54 min</a:t>
            </a:r>
          </a:p>
        </p:txBody>
      </p:sp>
      <p:sp>
        <p:nvSpPr>
          <p:cNvPr id="15" name="TextBox 14"/>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20/22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WRAP-UP</a:t>
            </a:r>
          </a:p>
        </p:txBody>
      </p:sp>
      <p:sp>
        <p:nvSpPr>
          <p:cNvPr id="6" name="Rounded Rectangle 5"/>
          <p:cNvSpPr/>
          <p:nvPr/>
        </p:nvSpPr>
        <p:spPr>
          <a:xfrm>
            <a:off x="9692640" y="320040"/>
            <a:ext cx="2103120" cy="347472"/>
          </a:xfrm>
          <a:prstGeom prst="roundRect">
            <a:avLst/>
          </a:prstGeom>
          <a:solidFill>
            <a:srgbClr val="E76F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338328"/>
            <a:ext cx="2103120" cy="320040"/>
          </a:xfrm>
          <a:prstGeom prst="rect">
            <a:avLst/>
          </a:prstGeom>
          <a:noFill/>
        </p:spPr>
        <p:txBody>
          <a:bodyPr wrap="square">
            <a:spAutoFit/>
          </a:bodyPr>
          <a:lstStyle/>
          <a:p>
            <a:pPr algn="ctr"/>
            <a:r>
              <a:rPr sz="1200" b="1">
                <a:solidFill>
                  <a:srgbClr val="FFFFFF"/>
                </a:solidFill>
                <a:latin typeface="Calibri"/>
              </a:rPr>
              <a:t>6 minutes</a:t>
            </a:r>
          </a:p>
        </p:txBody>
      </p:sp>
      <p:sp>
        <p:nvSpPr>
          <p:cNvPr id="8" name="TextBox 7"/>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Takeaways &amp; Next Steps</a:t>
            </a:r>
          </a:p>
        </p:txBody>
      </p:sp>
      <p:sp>
        <p:nvSpPr>
          <p:cNvPr id="9" name="Rounded Rectangle 8"/>
          <p:cNvSpPr/>
          <p:nvPr/>
        </p:nvSpPr>
        <p:spPr>
          <a:xfrm>
            <a:off x="457200" y="1463040"/>
            <a:ext cx="54864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4937760" cy="320040"/>
          </a:xfrm>
          <a:prstGeom prst="rect">
            <a:avLst/>
          </a:prstGeom>
          <a:noFill/>
        </p:spPr>
        <p:txBody>
          <a:bodyPr wrap="square">
            <a:spAutoFit/>
          </a:bodyPr>
          <a:lstStyle/>
          <a:p>
            <a:pPr algn="l"/>
            <a:r>
              <a:rPr sz="1800" b="1">
                <a:solidFill>
                  <a:srgbClr val="2A9D8F"/>
                </a:solidFill>
                <a:latin typeface="Calibri"/>
              </a:rPr>
              <a:t>Reading Habit</a:t>
            </a:r>
          </a:p>
        </p:txBody>
      </p:sp>
      <p:sp>
        <p:nvSpPr>
          <p:cNvPr id="11" name="TextBox 10"/>
          <p:cNvSpPr txBox="1"/>
          <p:nvPr/>
        </p:nvSpPr>
        <p:spPr>
          <a:xfrm>
            <a:off x="731520" y="2103120"/>
            <a:ext cx="4937760" cy="365760"/>
          </a:xfrm>
          <a:prstGeom prst="rect">
            <a:avLst/>
          </a:prstGeom>
          <a:noFill/>
        </p:spPr>
        <p:txBody>
          <a:bodyPr wrap="square">
            <a:spAutoFit/>
          </a:bodyPr>
          <a:lstStyle/>
          <a:p>
            <a:pPr algn="l"/>
            <a:r>
              <a:rPr sz="1400" b="0">
                <a:solidFill>
                  <a:srgbClr val="2D2D2D"/>
                </a:solidFill>
                <a:latin typeface="Calibri"/>
              </a:rPr>
              <a:t>Preview → Question → Annotate → Summarize</a:t>
            </a:r>
          </a:p>
        </p:txBody>
      </p:sp>
      <p:sp>
        <p:nvSpPr>
          <p:cNvPr id="12" name="Rounded Rectangle 11"/>
          <p:cNvSpPr/>
          <p:nvPr/>
        </p:nvSpPr>
        <p:spPr>
          <a:xfrm>
            <a:off x="457200" y="2834640"/>
            <a:ext cx="54864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63240"/>
            <a:ext cx="4937760" cy="320040"/>
          </a:xfrm>
          <a:prstGeom prst="rect">
            <a:avLst/>
          </a:prstGeom>
          <a:noFill/>
        </p:spPr>
        <p:txBody>
          <a:bodyPr wrap="square">
            <a:spAutoFit/>
          </a:bodyPr>
          <a:lstStyle/>
          <a:p>
            <a:pPr algn="l"/>
            <a:r>
              <a:rPr sz="1800" b="1">
                <a:solidFill>
                  <a:srgbClr val="2A9D8F"/>
                </a:solidFill>
                <a:latin typeface="Calibri"/>
              </a:rPr>
              <a:t>Evidence First</a:t>
            </a:r>
          </a:p>
        </p:txBody>
      </p:sp>
      <p:sp>
        <p:nvSpPr>
          <p:cNvPr id="14" name="TextBox 13"/>
          <p:cNvSpPr txBox="1"/>
          <p:nvPr/>
        </p:nvSpPr>
        <p:spPr>
          <a:xfrm>
            <a:off x="731520" y="3474720"/>
            <a:ext cx="4937760" cy="365760"/>
          </a:xfrm>
          <a:prstGeom prst="rect">
            <a:avLst/>
          </a:prstGeom>
          <a:noFill/>
        </p:spPr>
        <p:txBody>
          <a:bodyPr wrap="square">
            <a:spAutoFit/>
          </a:bodyPr>
          <a:lstStyle/>
          <a:p>
            <a:pPr algn="l"/>
            <a:r>
              <a:rPr sz="1400" b="0">
                <a:solidFill>
                  <a:srgbClr val="2D2D2D"/>
                </a:solidFill>
                <a:latin typeface="Calibri"/>
              </a:rPr>
              <a:t>Every inference needs a text clue</a:t>
            </a:r>
          </a:p>
        </p:txBody>
      </p:sp>
      <p:sp>
        <p:nvSpPr>
          <p:cNvPr id="15" name="Rounded Rectangle 14"/>
          <p:cNvSpPr/>
          <p:nvPr/>
        </p:nvSpPr>
        <p:spPr>
          <a:xfrm>
            <a:off x="457200" y="4206240"/>
            <a:ext cx="54864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434840"/>
            <a:ext cx="4937760" cy="320040"/>
          </a:xfrm>
          <a:prstGeom prst="rect">
            <a:avLst/>
          </a:prstGeom>
          <a:noFill/>
        </p:spPr>
        <p:txBody>
          <a:bodyPr wrap="square">
            <a:spAutoFit/>
          </a:bodyPr>
          <a:lstStyle/>
          <a:p>
            <a:pPr algn="l"/>
            <a:r>
              <a:rPr sz="1800" b="1">
                <a:solidFill>
                  <a:srgbClr val="2A9D8F"/>
                </a:solidFill>
                <a:latin typeface="Calibri"/>
              </a:rPr>
              <a:t>Grammar Targets</a:t>
            </a:r>
          </a:p>
        </p:txBody>
      </p:sp>
      <p:sp>
        <p:nvSpPr>
          <p:cNvPr id="17" name="TextBox 16"/>
          <p:cNvSpPr txBox="1"/>
          <p:nvPr/>
        </p:nvSpPr>
        <p:spPr>
          <a:xfrm>
            <a:off x="731520" y="4846320"/>
            <a:ext cx="4937760" cy="365760"/>
          </a:xfrm>
          <a:prstGeom prst="rect">
            <a:avLst/>
          </a:prstGeom>
          <a:noFill/>
        </p:spPr>
        <p:txBody>
          <a:bodyPr wrap="square">
            <a:spAutoFit/>
          </a:bodyPr>
          <a:lstStyle/>
          <a:p>
            <a:pPr algn="l"/>
            <a:r>
              <a:rPr sz="1400" b="0">
                <a:solidFill>
                  <a:srgbClr val="2D2D2D"/>
                </a:solidFill>
                <a:latin typeface="Calibri"/>
              </a:rPr>
              <a:t>Agreement, commas, confused words</a:t>
            </a:r>
          </a:p>
        </p:txBody>
      </p:sp>
      <p:sp>
        <p:nvSpPr>
          <p:cNvPr id="18" name="Rounded Rectangle 17"/>
          <p:cNvSpPr/>
          <p:nvPr/>
        </p:nvSpPr>
        <p:spPr>
          <a:xfrm>
            <a:off x="6217920" y="1463040"/>
            <a:ext cx="5486400" cy="4389120"/>
          </a:xfrm>
          <a:prstGeom prst="round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1737360"/>
            <a:ext cx="4937760" cy="365760"/>
          </a:xfrm>
          <a:prstGeom prst="rect">
            <a:avLst/>
          </a:prstGeom>
          <a:noFill/>
        </p:spPr>
        <p:txBody>
          <a:bodyPr wrap="square">
            <a:spAutoFit/>
          </a:bodyPr>
          <a:lstStyle/>
          <a:p>
            <a:pPr algn="l"/>
            <a:r>
              <a:rPr sz="1800" b="1">
                <a:solidFill>
                  <a:srgbClr val="2A9D8F"/>
                </a:solidFill>
                <a:latin typeface="Calibri"/>
              </a:rPr>
              <a:t>This Week’s Challenge</a:t>
            </a:r>
          </a:p>
        </p:txBody>
      </p:sp>
      <p:sp>
        <p:nvSpPr>
          <p:cNvPr id="20" name="TextBox 19"/>
          <p:cNvSpPr txBox="1"/>
          <p:nvPr/>
        </p:nvSpPr>
        <p:spPr>
          <a:xfrm>
            <a:off x="6492240" y="2286000"/>
            <a:ext cx="4937760" cy="3200400"/>
          </a:xfrm>
          <a:prstGeom prst="rect">
            <a:avLst/>
          </a:prstGeom>
          <a:noFill/>
        </p:spPr>
        <p:txBody>
          <a:bodyPr wrap="square">
            <a:spAutoFit/>
          </a:bodyPr>
          <a:lstStyle/>
          <a:p>
            <a:pPr algn="l">
              <a:spcAft>
                <a:spcPts val="1200"/>
              </a:spcAft>
            </a:pPr>
            <a:r>
              <a:rPr sz="1500" b="0">
                <a:solidFill>
                  <a:srgbClr val="FFFFFF"/>
                </a:solidFill>
                <a:latin typeface="Calibri"/>
              </a:rPr>
              <a:t>•  Read one article / short story for 15 minutes</a:t>
            </a:r>
          </a:p>
          <a:p>
            <a:pPr algn="l">
              <a:spcAft>
                <a:spcPts val="1200"/>
              </a:spcAft>
            </a:pPr>
            <a:r>
              <a:rPr sz="1500" b="0">
                <a:solidFill>
                  <a:srgbClr val="FFFFFF"/>
                </a:solidFill>
                <a:latin typeface="Calibri"/>
              </a:rPr>
              <a:t>•  Annotate with ★ — ?</a:t>
            </a:r>
          </a:p>
          <a:p>
            <a:pPr algn="l">
              <a:spcAft>
                <a:spcPts val="1200"/>
              </a:spcAft>
            </a:pPr>
            <a:r>
              <a:rPr sz="1500" b="0">
                <a:solidFill>
                  <a:srgbClr val="FFFFFF"/>
                </a:solidFill>
                <a:latin typeface="Calibri"/>
              </a:rPr>
              <a:t>•  Write a 1-sentence main idea</a:t>
            </a:r>
          </a:p>
          <a:p>
            <a:pPr algn="l">
              <a:spcAft>
                <a:spcPts val="1200"/>
              </a:spcAft>
            </a:pPr>
            <a:r>
              <a:rPr sz="1500" b="0">
                <a:solidFill>
                  <a:srgbClr val="FFFFFF"/>
                </a:solidFill>
                <a:latin typeface="Calibri"/>
              </a:rPr>
              <a:t>•  Edit 5 sentences for grammar</a:t>
            </a:r>
          </a:p>
          <a:p>
            <a:pPr algn="l">
              <a:spcAft>
                <a:spcPts val="1200"/>
              </a:spcAft>
            </a:pPr>
            <a:r>
              <a:rPr sz="1500" b="0">
                <a:solidFill>
                  <a:srgbClr val="FFFFFF"/>
                </a:solidFill>
                <a:latin typeface="Calibri"/>
              </a:rPr>
              <a:t>•  Bring one “tricky” sentence next time</a:t>
            </a:r>
          </a:p>
        </p:txBody>
      </p:sp>
      <p:sp>
        <p:nvSpPr>
          <p:cNvPr id="21" name="Rectangle 20"/>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54–60 min</a:t>
            </a:r>
          </a:p>
        </p:txBody>
      </p:sp>
      <p:sp>
        <p:nvSpPr>
          <p:cNvPr id="23" name="TextBox 22"/>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21/22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8288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698480" cy="457200"/>
          </a:xfrm>
          <a:prstGeom prst="rect">
            <a:avLst/>
          </a:prstGeom>
          <a:noFill/>
        </p:spPr>
        <p:txBody>
          <a:bodyPr wrap="square">
            <a:spAutoFit/>
          </a:bodyPr>
          <a:lstStyle/>
          <a:p>
            <a:pPr algn="ctr"/>
            <a:r>
              <a:rPr sz="2200" b="0">
                <a:solidFill>
                  <a:srgbClr val="2A9D8F"/>
                </a:solidFill>
                <a:latin typeface="Calibri"/>
              </a:rPr>
              <a:t>You’re already good at English.</a:t>
            </a:r>
          </a:p>
        </p:txBody>
      </p:sp>
      <p:sp>
        <p:nvSpPr>
          <p:cNvPr id="5" name="TextBox 4"/>
          <p:cNvSpPr txBox="1"/>
          <p:nvPr/>
        </p:nvSpPr>
        <p:spPr>
          <a:xfrm>
            <a:off x="731520" y="2468880"/>
            <a:ext cx="10698480" cy="1097280"/>
          </a:xfrm>
          <a:prstGeom prst="rect">
            <a:avLst/>
          </a:prstGeom>
          <a:noFill/>
        </p:spPr>
        <p:txBody>
          <a:bodyPr wrap="square">
            <a:spAutoFit/>
          </a:bodyPr>
          <a:lstStyle/>
          <a:p>
            <a:pPr algn="ctr"/>
            <a:r>
              <a:rPr sz="3600" b="1">
                <a:solidFill>
                  <a:srgbClr val="FFFFFF"/>
                </a:solidFill>
                <a:latin typeface="Georgia"/>
              </a:rPr>
              <a:t>Now let’s make your reading
and grammar excellent.</a:t>
            </a:r>
          </a:p>
        </p:txBody>
      </p:sp>
      <p:sp>
        <p:nvSpPr>
          <p:cNvPr id="6" name="TextBox 5"/>
          <p:cNvSpPr txBox="1"/>
          <p:nvPr/>
        </p:nvSpPr>
        <p:spPr>
          <a:xfrm>
            <a:off x="731520" y="4023360"/>
            <a:ext cx="10698480" cy="457200"/>
          </a:xfrm>
          <a:prstGeom prst="rect">
            <a:avLst/>
          </a:prstGeom>
          <a:noFill/>
        </p:spPr>
        <p:txBody>
          <a:bodyPr wrap="square">
            <a:spAutoFit/>
          </a:bodyPr>
          <a:lstStyle/>
          <a:p>
            <a:pPr algn="ctr"/>
            <a:r>
              <a:rPr sz="1800" b="0">
                <a:solidFill>
                  <a:srgbClr val="C5D4E8"/>
                </a:solidFill>
                <a:latin typeface="Calibri"/>
              </a:rPr>
              <a:t>Questions? Practice tip? Favorite sentence from today?</a:t>
            </a:r>
          </a:p>
        </p:txBody>
      </p:sp>
      <p:sp>
        <p:nvSpPr>
          <p:cNvPr id="7" name="TextBox 6"/>
          <p:cNvSpPr txBox="1"/>
          <p:nvPr/>
        </p:nvSpPr>
        <p:spPr>
          <a:xfrm>
            <a:off x="731520" y="5029200"/>
            <a:ext cx="10698480" cy="365760"/>
          </a:xfrm>
          <a:prstGeom prst="rect">
            <a:avLst/>
          </a:prstGeom>
          <a:noFill/>
        </p:spPr>
        <p:txBody>
          <a:bodyPr wrap="square">
            <a:spAutoFit/>
          </a:bodyPr>
          <a:lstStyle/>
          <a:p>
            <a:pPr algn="ctr"/>
            <a:r>
              <a:rPr sz="2000" b="1">
                <a:solidFill>
                  <a:srgbClr val="FFFFFF"/>
                </a:solidFill>
                <a:latin typeface="Calibri"/>
              </a:rPr>
              <a:t>Thank you — great work today!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2194560" cy="347472"/>
          </a:xfrm>
          <a:prstGeom prst="roundRect">
            <a:avLst/>
          </a:prstGeom>
          <a:solidFill>
            <a:srgbClr val="2A9D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38328"/>
            <a:ext cx="2194560" cy="320040"/>
          </a:xfrm>
          <a:prstGeom prst="rect">
            <a:avLst/>
          </a:prstGeom>
          <a:noFill/>
        </p:spPr>
        <p:txBody>
          <a:bodyPr wrap="square">
            <a:spAutoFit/>
          </a:bodyPr>
          <a:lstStyle/>
          <a:p>
            <a:pPr algn="ctr"/>
            <a:r>
              <a:rPr sz="1200" b="1">
                <a:solidFill>
                  <a:srgbClr val="FFFFFF"/>
                </a:solidFill>
                <a:latin typeface="Calibri"/>
              </a:rPr>
              <a:t>FACILITATOR NOTES</a:t>
            </a:r>
          </a:p>
        </p:txBody>
      </p:sp>
      <p:sp>
        <p:nvSpPr>
          <p:cNvPr id="6" name="TextBox 5"/>
          <p:cNvSpPr txBox="1"/>
          <p:nvPr/>
        </p:nvSpPr>
        <p:spPr>
          <a:xfrm>
            <a:off x="457200" y="822960"/>
            <a:ext cx="10972800" cy="457200"/>
          </a:xfrm>
          <a:prstGeom prst="rect">
            <a:avLst/>
          </a:prstGeom>
          <a:noFill/>
        </p:spPr>
        <p:txBody>
          <a:bodyPr wrap="square">
            <a:spAutoFit/>
          </a:bodyPr>
          <a:lstStyle/>
          <a:p>
            <a:pPr algn="l"/>
            <a:r>
              <a:rPr sz="2800" b="1">
                <a:solidFill>
                  <a:srgbClr val="1B3A5F"/>
                </a:solidFill>
                <a:latin typeface="Georgia"/>
              </a:rPr>
              <a:t>How to Run This Demo Smoothly</a:t>
            </a:r>
          </a:p>
        </p:txBody>
      </p:sp>
      <p:sp>
        <p:nvSpPr>
          <p:cNvPr id="7" name="TextBox 6"/>
          <p:cNvSpPr txBox="1"/>
          <p:nvPr/>
        </p:nvSpPr>
        <p:spPr>
          <a:xfrm>
            <a:off x="457200" y="1463040"/>
            <a:ext cx="11247120" cy="4572000"/>
          </a:xfrm>
          <a:prstGeom prst="rect">
            <a:avLst/>
          </a:prstGeom>
          <a:noFill/>
        </p:spPr>
        <p:txBody>
          <a:bodyPr wrap="square">
            <a:spAutoFit/>
          </a:bodyPr>
          <a:lstStyle/>
          <a:p>
            <a:pPr>
              <a:spcAft>
                <a:spcPts val="1200"/>
              </a:spcAft>
            </a:pPr>
            <a:r>
              <a:rPr sz="1600" b="0">
                <a:solidFill>
                  <a:srgbClr val="2D2D2D"/>
                </a:solidFill>
                <a:latin typeface="Calibri"/>
              </a:rPr>
              <a:t>1.  Keep energy high: praise process (“smart annotation”) not just correct answers.</a:t>
            </a:r>
          </a:p>
          <a:p>
            <a:pPr>
              <a:spcAft>
                <a:spcPts val="1200"/>
              </a:spcAft>
            </a:pPr>
            <a:r>
              <a:rPr sz="1600" b="0">
                <a:solidFill>
                  <a:srgbClr val="2D2D2D"/>
                </a:solidFill>
                <a:latin typeface="Calibri"/>
              </a:rPr>
              <a:t>2.  If she finishes early, ask her to write a tougher inference question for you.</a:t>
            </a:r>
          </a:p>
          <a:p>
            <a:pPr>
              <a:spcAft>
                <a:spcPts val="1200"/>
              </a:spcAft>
            </a:pPr>
            <a:r>
              <a:rPr sz="1600" b="0">
                <a:solidFill>
                  <a:srgbClr val="2D2D2D"/>
                </a:solidFill>
                <a:latin typeface="Calibri"/>
              </a:rPr>
              <a:t>3.  If stuck on grammar, have her read the sentence aloud — ears catch many errors.</a:t>
            </a:r>
          </a:p>
          <a:p>
            <a:pPr>
              <a:spcAft>
                <a:spcPts val="1200"/>
              </a:spcAft>
            </a:pPr>
            <a:r>
              <a:rPr sz="1600" b="0">
                <a:solidFill>
                  <a:srgbClr val="2D2D2D"/>
                </a:solidFill>
                <a:latin typeface="Calibri"/>
              </a:rPr>
              <a:t>4.  Differentiate: she’s strong overall — push for evidence quotes and precise word choice.</a:t>
            </a:r>
          </a:p>
          <a:p>
            <a:pPr>
              <a:spcAft>
                <a:spcPts val="1200"/>
              </a:spcAft>
            </a:pPr>
            <a:r>
              <a:rPr sz="1600" b="0">
                <a:solidFill>
                  <a:srgbClr val="2D2D2D"/>
                </a:solidFill>
                <a:latin typeface="Calibri"/>
              </a:rPr>
              <a:t>5.  Materials needed: printed passage (optional), pencil, notebook, timer.</a:t>
            </a:r>
          </a:p>
          <a:p>
            <a:pPr>
              <a:spcAft>
                <a:spcPts val="1200"/>
              </a:spcAft>
            </a:pPr>
            <a:r>
              <a:rPr sz="1600" b="0">
                <a:solidFill>
                  <a:srgbClr val="2D2D2D"/>
                </a:solidFill>
                <a:latin typeface="Calibri"/>
              </a:rPr>
              <a:t>6.  Tone: supportive coach, not lecture. Aim for 40% teaching / 60% doing.</a:t>
            </a:r>
          </a:p>
        </p:txBody>
      </p:sp>
      <p:sp>
        <p:nvSpPr>
          <p:cNvPr id="8" name="Rectangle 7"/>
          <p:cNvSpPr/>
          <p:nvPr/>
        </p:nvSpPr>
        <p:spPr>
          <a:xfrm>
            <a:off x="0" y="6537960"/>
            <a:ext cx="12191695" cy="320040"/>
          </a:xfrm>
          <a:prstGeom prst="rect">
            <a:avLst/>
          </a:prstGeom>
          <a:solidFill>
            <a:srgbClr val="1B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10058400" cy="274320"/>
          </a:xfrm>
          <a:prstGeom prst="rect">
            <a:avLst/>
          </a:prstGeom>
          <a:noFill/>
        </p:spPr>
        <p:txBody>
          <a:bodyPr wrap="square">
            <a:spAutoFit/>
          </a:bodyPr>
          <a:lstStyle/>
          <a:p>
            <a:pPr algn="l"/>
            <a:r>
              <a:rPr sz="1100" b="0">
                <a:solidFill>
                  <a:srgbClr val="FFFFFF"/>
                </a:solidFill>
                <a:latin typeface="Calibri"/>
              </a:rPr>
              <a:t>Reading &amp; Grammar Demo  |  Grade 8  |  60 Minutes  |  Teacher</a:t>
            </a:r>
          </a:p>
        </p:txBody>
      </p:sp>
      <p:sp>
        <p:nvSpPr>
          <p:cNvPr id="10" name="TextBox 9"/>
          <p:cNvSpPr txBox="1"/>
          <p:nvPr/>
        </p:nvSpPr>
        <p:spPr>
          <a:xfrm>
            <a:off x="11155680" y="6565392"/>
            <a:ext cx="822960" cy="274320"/>
          </a:xfrm>
          <a:prstGeom prst="rect">
            <a:avLst/>
          </a:prstGeom>
          <a:noFill/>
        </p:spPr>
        <p:txBody>
          <a:bodyPr wrap="square">
            <a:spAutoFit/>
          </a:bodyPr>
          <a:lstStyle/>
          <a:p>
            <a:pPr algn="r"/>
            <a:r>
              <a:rPr sz="1100" b="0">
                <a:solidFill>
                  <a:srgbClr val="FFFFFF"/>
                </a:solidFill>
                <a:latin typeface="Calibri"/>
              </a:rPr>
              <a:t>23/23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