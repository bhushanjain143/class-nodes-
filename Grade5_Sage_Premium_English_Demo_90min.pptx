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Hi Sage! Welcome to your English adventure. We will play games, read a mystery, and level up your English superpowers.</a:t>
            </a:r>
          </a:p>
          <a:p/>
          <a:p>
            <a:r>
              <a:t>STUDENT ACTIVITY:</a:t>
            </a:r>
          </a:p>
          <a:p>
            <a:r>
              <a:t>Wave hello; say one word that means 'fun' to you.</a:t>
            </a:r>
          </a:p>
          <a:p/>
          <a:p>
            <a:r>
              <a:t>EXPECTED ANSWERS / RESPONSES:</a:t>
            </a:r>
          </a:p>
          <a:p>
            <a:r>
              <a:t>Student greets; may say excited/nervous/happy.</a:t>
            </a:r>
          </a:p>
          <a:p/>
          <a:p>
            <a:r>
              <a:t>COMMON MISTAKES:</a:t>
            </a:r>
          </a:p>
          <a:p>
            <a:r>
              <a:t>One-word answers only at first.</a:t>
            </a:r>
          </a:p>
          <a:p/>
          <a:p>
            <a:r>
              <a:t>ASSESSMENT TIPS:</a:t>
            </a:r>
          </a:p>
          <a:p>
            <a:r>
              <a:t>Watch eye contact, volume, first-sentence length.</a:t>
            </a:r>
          </a:p>
          <a:p/>
          <a:p>
            <a:r>
              <a:t>EXTENSION QUESTIONS:</a:t>
            </a:r>
          </a:p>
          <a:p>
            <a:r>
              <a:t>If shy: offer choices (cat/dog/sports?).</a:t>
            </a:r>
          </a:p>
          <a:p/>
          <a:p>
            <a:r>
              <a:t>TIMING: 5 min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Share warmly, then invite Sage to answer one question at a time.</a:t>
            </a:r>
          </a:p>
          <a:p/>
          <a:p>
            <a:r>
              <a:t>STUDENT ACTIVITY:</a:t>
            </a:r>
          </a:p>
          <a:p>
            <a:r>
              <a:t>Answer 3 questions in full sentences.</a:t>
            </a:r>
          </a:p>
          <a:p/>
          <a:p>
            <a:r>
              <a:t>EXPECTED ANSWERS / RESPONSES:</a:t>
            </a:r>
          </a:p>
          <a:p>
            <a:r>
              <a:t>Animal/movie/superpower with short reason.</a:t>
            </a:r>
          </a:p>
          <a:p/>
          <a:p>
            <a:r>
              <a:t>COMMON MISTAKES:</a:t>
            </a:r>
          </a:p>
          <a:p>
            <a:r>
              <a:t>Listing without because.</a:t>
            </a:r>
          </a:p>
          <a:p/>
          <a:p>
            <a:r>
              <a:t>ASSESSMENT TIPS:</a:t>
            </a:r>
          </a:p>
          <a:p>
            <a:r>
              <a:t>Fluency, pronunciation, confidence—not perfection.</a:t>
            </a:r>
          </a:p>
          <a:p/>
          <a:p>
            <a:r>
              <a:t>EXTENSION QUESTIONS:</a:t>
            </a:r>
          </a:p>
          <a:p>
            <a:r>
              <a:t>Why that animal? What would you do with that power?</a:t>
            </a:r>
          </a:p>
          <a:p/>
          <a:p>
            <a:r>
              <a:t>TIMING: 5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Pick 4 emojis. Model: 'I feel happy when…'</a:t>
            </a:r>
          </a:p>
          <a:p/>
          <a:p>
            <a:r>
              <a:t>STUDENT ACTIVITY:</a:t>
            </a:r>
          </a:p>
          <a:p>
            <a:r>
              <a:t>One sentence per emoji (4–8 total).</a:t>
            </a:r>
          </a:p>
          <a:p/>
          <a:p>
            <a:r>
              <a:t>EXPECTED ANSWERS / RESPONSES:</a:t>
            </a:r>
          </a:p>
          <a:p>
            <a:r>
              <a:t>Subject + verb + detail.</a:t>
            </a:r>
          </a:p>
          <a:p/>
          <a:p>
            <a:r>
              <a:t>COMMON MISTAKES:</a:t>
            </a:r>
          </a:p>
          <a:p>
            <a:r>
              <a:t>Fragment sentences.</a:t>
            </a:r>
          </a:p>
          <a:p/>
          <a:p>
            <a:r>
              <a:t>ASSESSMENT TIPS:</a:t>
            </a:r>
          </a:p>
          <a:p>
            <a:r>
              <a:t>Sentence completeness, creativity.</a:t>
            </a:r>
          </a:p>
          <a:p/>
          <a:p>
            <a:r>
              <a:t>EXTENSION QUESTIONS:</a:t>
            </a:r>
          </a:p>
          <a:p>
            <a:r>
              <a:t>Can you add an adjective?</a:t>
            </a:r>
          </a:p>
          <a:p/>
          <a:p>
            <a:r>
              <a:t>TIMING: Part of 10 min icebreaker block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Do 5–6 questions. Celebrate reasons!</a:t>
            </a:r>
          </a:p>
          <a:p/>
          <a:p>
            <a:r>
              <a:t>STUDENT ACTIVITY:</a:t>
            </a:r>
          </a:p>
          <a:p>
            <a:r>
              <a:t>Choose + explain why.</a:t>
            </a:r>
          </a:p>
          <a:p/>
          <a:p>
            <a:r>
              <a:t>EXPECTED ANSWERS / RESPONSES:</a:t>
            </a:r>
          </a:p>
          <a:p>
            <a:r>
              <a:t>Full sentence with because.</a:t>
            </a:r>
          </a:p>
          <a:p/>
          <a:p>
            <a:r>
              <a:t>COMMON MISTAKES:</a:t>
            </a:r>
          </a:p>
          <a:p>
            <a:r>
              <a:t>No reason given.</a:t>
            </a:r>
          </a:p>
          <a:p/>
          <a:p>
            <a:r>
              <a:t>ASSESSMENT TIPS:</a:t>
            </a:r>
          </a:p>
          <a:p>
            <a:r>
              <a:t>Speaking confidence, reasoning.</a:t>
            </a:r>
          </a:p>
          <a:p/>
          <a:p>
            <a:r>
              <a:t>EXTENSION QUESTIONS:</a:t>
            </a:r>
          </a:p>
          <a:p>
            <a:r>
              <a:t>What is the downside of your choice?</a:t>
            </a:r>
          </a:p>
          <a:p/>
          <a:p>
            <a:r>
              <a:t>TIMING: Icebreaker 10 min total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Treat picture as interactive hunt.</a:t>
            </a:r>
          </a:p>
          <a:p/>
          <a:p>
            <a:r>
              <a:t>STUDENT ACTIVITY:</a:t>
            </a:r>
          </a:p>
          <a:p>
            <a:r>
              <a:t>Find words; 6 sentences aloud.</a:t>
            </a:r>
          </a:p>
          <a:p/>
          <a:p>
            <a:r>
              <a:t>EXPECTED ANSWERS / RESPONSES:</a:t>
            </a:r>
          </a:p>
          <a:p>
            <a:r>
              <a:t>Uses target words correctly.</a:t>
            </a:r>
          </a:p>
          <a:p/>
          <a:p>
            <a:r>
              <a:t>COMMON MISTAKES:</a:t>
            </a:r>
          </a:p>
          <a:p>
            <a:r>
              <a:t>Confuses clue/clueless.</a:t>
            </a:r>
          </a:p>
          <a:p/>
          <a:p>
            <a:r>
              <a:t>ASSESSMENT TIPS:</a:t>
            </a:r>
          </a:p>
          <a:p>
            <a:r>
              <a:t>Vocabulary activation before reading.</a:t>
            </a:r>
          </a:p>
          <a:p/>
          <a:p>
            <a:r>
              <a:t>EXTENSION QUESTIONS:</a:t>
            </a:r>
          </a:p>
          <a:p>
            <a:r>
              <a:t>Use 'mystery' in a sentence about Leo.</a:t>
            </a:r>
          </a:p>
          <a:p/>
          <a:p>
            <a:r>
              <a:t>TIMING: Vocab block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Read with expression. Pause at mystery moments.</a:t>
            </a:r>
          </a:p>
          <a:p/>
          <a:p>
            <a:r>
              <a:t>STUDENT ACTIVITY:</a:t>
            </a:r>
          </a:p>
          <a:p>
            <a:r>
              <a:t>Listen first; then read 1 paragraph.</a:t>
            </a:r>
          </a:p>
          <a:p/>
          <a:p>
            <a:r>
              <a:t>EXPECTED ANSWERS / RESPONSES:</a:t>
            </a:r>
          </a:p>
          <a:p>
            <a:r>
              <a:t>Follows plot; asks about unknown words.</a:t>
            </a:r>
          </a:p>
          <a:p/>
          <a:p>
            <a:r>
              <a:t>COMMON MISTAKES:</a:t>
            </a:r>
          </a:p>
          <a:p>
            <a:r>
              <a:t>Losing place in text.</a:t>
            </a:r>
          </a:p>
          <a:p/>
          <a:p>
            <a:r>
              <a:t>ASSESSMENT TIPS:</a:t>
            </a:r>
          </a:p>
          <a:p>
            <a:r>
              <a:t>Decoding, fluency, engagement.</a:t>
            </a:r>
          </a:p>
          <a:p/>
          <a:p>
            <a:r>
              <a:t>EXTENSION QUESTIONS:</a:t>
            </a:r>
          </a:p>
          <a:p>
            <a:r>
              <a:t>Predict: Where is the backpack?</a:t>
            </a:r>
          </a:p>
          <a:p/>
          <a:p>
            <a:r>
              <a:t>TIMING: Reading block ~8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Clap syllables; choral repeat.</a:t>
            </a:r>
          </a:p>
          <a:p/>
          <a:p>
            <a:r>
              <a:t>STUDENT ACTIVITY:</a:t>
            </a:r>
          </a:p>
          <a:p>
            <a:r>
              <a:t>Repeat each word; one sentence each.</a:t>
            </a:r>
          </a:p>
          <a:p/>
          <a:p>
            <a:r>
              <a:t>EXPECTED ANSWERS / RESPONSES:</a:t>
            </a:r>
          </a:p>
          <a:p>
            <a:r>
              <a:t>Approximate American pronunciation.</a:t>
            </a:r>
          </a:p>
          <a:p/>
          <a:p>
            <a:r>
              <a:t>COMMON MISTAKES:</a:t>
            </a:r>
          </a:p>
          <a:p>
            <a:r>
              <a:t>Stress on wrong syllable.</a:t>
            </a:r>
          </a:p>
          <a:p/>
          <a:p>
            <a:r>
              <a:t>ASSESSMENT TIPS:</a:t>
            </a:r>
          </a:p>
          <a:p>
            <a:r>
              <a:t>Pronunciation + usage.</a:t>
            </a:r>
          </a:p>
          <a:p/>
          <a:p>
            <a:r>
              <a:t>EXTENSION QUESTIONS:</a:t>
            </a:r>
          </a:p>
          <a:p>
            <a:r>
              <a:t>Use 'observation' about the story.</a:t>
            </a:r>
          </a:p>
          <a:p/>
          <a:p>
            <a:r>
              <a:t>TIMING: Reading 20 min block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One question at a time; praise text evidence.</a:t>
            </a:r>
          </a:p>
          <a:p/>
          <a:p>
            <a:r>
              <a:t>STUDENT ACTIVITY:</a:t>
            </a:r>
          </a:p>
          <a:p>
            <a:r>
              <a:t>Answer all 10 (or 6 if time tight).</a:t>
            </a:r>
          </a:p>
          <a:p/>
          <a:p>
            <a:r>
              <a:t>EXPECTED ANSWERS / RESPONSES:</a:t>
            </a:r>
          </a:p>
          <a:p>
            <a:r>
              <a:t>1A 2B 3T 4F 5 notebook/pencil case/slip 6 reading nook 7 solved mystery/habit 8 yes+reason 9B 10 locker→nook→note</a:t>
            </a:r>
          </a:p>
          <a:p/>
          <a:p>
            <a:r>
              <a:t>COMMON MISTAKES:</a:t>
            </a:r>
          </a:p>
          <a:p>
            <a:r>
              <a:t>Guessing without story.</a:t>
            </a:r>
          </a:p>
          <a:p/>
          <a:p>
            <a:r>
              <a:t>ASSESSMENT TIPS:</a:t>
            </a:r>
          </a:p>
          <a:p>
            <a:r>
              <a:t>Literal, inferential, opinion skills.</a:t>
            </a:r>
          </a:p>
          <a:p/>
          <a:p>
            <a:r>
              <a:t>EXTENSION QUESTIONS:</a:t>
            </a:r>
          </a:p>
          <a:p>
            <a:r>
              <a:t>Which sentence proves your answer?</a:t>
            </a:r>
          </a:p>
          <a:p/>
          <a:p>
            <a:r>
              <a:t>TIMING: Reading 20 min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Student retells without reading slide.</a:t>
            </a:r>
          </a:p>
          <a:p/>
          <a:p>
            <a:r>
              <a:t>STUDENT ACTIVITY:</a:t>
            </a:r>
          </a:p>
          <a:p>
            <a:r>
              <a:t>60–90 second story retell using prompts.</a:t>
            </a:r>
          </a:p>
          <a:p/>
          <a:p>
            <a:r>
              <a:t>EXPECTED ANSWERS / RESPONSES:</a:t>
            </a:r>
          </a:p>
          <a:p>
            <a:r>
              <a:t>Clear beginning/middle/end; past tense.</a:t>
            </a:r>
          </a:p>
          <a:p/>
          <a:p>
            <a:r>
              <a:t>COMMON MISTAKES:</a:t>
            </a:r>
          </a:p>
          <a:p>
            <a:r>
              <a:t>Copying exact sentences.</a:t>
            </a:r>
          </a:p>
          <a:p/>
          <a:p>
            <a:r>
              <a:t>ASSESSMENT TIPS:</a:t>
            </a:r>
          </a:p>
          <a:p>
            <a:r>
              <a:t>Oral organization, confidence.</a:t>
            </a:r>
          </a:p>
          <a:p/>
          <a:p>
            <a:r>
              <a:t>EXTENSION QUESTIONS:</a:t>
            </a:r>
          </a:p>
          <a:p>
            <a:r>
              <a:t>Add how Leo felt at each step.</a:t>
            </a:r>
          </a:p>
          <a:p/>
          <a:p>
            <a:r>
              <a:t>TIMING: Speaking 10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Act out time words (now/yesterday/tomorrow).</a:t>
            </a:r>
          </a:p>
          <a:p/>
          <a:p>
            <a:r>
              <a:t>STUDENT ACTIVITY:</a:t>
            </a:r>
          </a:p>
          <a:p>
            <a:r>
              <a:t>Repeat examples; make one new sentence each tense.</a:t>
            </a:r>
          </a:p>
          <a:p/>
          <a:p>
            <a:r>
              <a:t>EXPECTED ANSWERS / RESPONSES:</a:t>
            </a:r>
          </a:p>
          <a:p>
            <a:r>
              <a:t>Correct tense markers (-s, is __ing, -ed, will).</a:t>
            </a:r>
          </a:p>
          <a:p/>
          <a:p>
            <a:r>
              <a:t>COMMON MISTAKES:</a:t>
            </a:r>
          </a:p>
          <a:p>
            <a:r>
              <a:t>Mixing past and present.</a:t>
            </a:r>
          </a:p>
          <a:p/>
          <a:p>
            <a:r>
              <a:t>ASSESSMENT TIPS:</a:t>
            </a:r>
          </a:p>
          <a:p>
            <a:r>
              <a:t>Tense concept understanding.</a:t>
            </a:r>
          </a:p>
          <a:p/>
          <a:p>
            <a:r>
              <a:t>EXTENSION QUESTIONS:</a:t>
            </a:r>
          </a:p>
          <a:p>
            <a:r>
              <a:t>Change 'found' to future.</a:t>
            </a:r>
          </a:p>
          <a:p/>
          <a:p>
            <a:r>
              <a:t>TIMING: Grammar 25 min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Think aloud for #1.</a:t>
            </a:r>
          </a:p>
          <a:p/>
          <a:p>
            <a:r>
              <a:t>STUDENT ACTIVITY:</a:t>
            </a:r>
          </a:p>
          <a:p>
            <a:r>
              <a:t>Say the correct verb form.</a:t>
            </a:r>
          </a:p>
          <a:p/>
          <a:p>
            <a:r>
              <a:t>EXPECTED ANSWERS / RESPONSES:</a:t>
            </a:r>
          </a:p>
          <a:p>
            <a:r>
              <a:t>checks; is helping; lost; will double-check; learned/is learning (present: learns if daily)</a:t>
            </a:r>
          </a:p>
          <a:p/>
          <a:p>
            <a:r>
              <a:t>COMMON MISTAKES:</a:t>
            </a:r>
          </a:p>
          <a:p>
            <a:r>
              <a:t>For #5 accept 'learns' if habitual present.</a:t>
            </a:r>
          </a:p>
          <a:p/>
          <a:p>
            <a:r>
              <a:t>ASSESSMENT TIPS:</a:t>
            </a:r>
          </a:p>
          <a:p>
            <a:r>
              <a:t>Accuracy under light pressure.</a:t>
            </a:r>
          </a:p>
          <a:p/>
          <a:p>
            <a:r>
              <a:t>EXTENSION QUESTIONS:</a:t>
            </a:r>
          </a:p>
          <a:p>
            <a:r>
              <a:t>Make your own sentence in past tense.</a:t>
            </a:r>
          </a:p>
          <a:p/>
          <a:p>
            <a:r>
              <a:t>TIMING: Grammar block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Detective theme—ding when fixed!</a:t>
            </a:r>
          </a:p>
          <a:p/>
          <a:p>
            <a:r>
              <a:t>STUDENT ACTIVITY:</a:t>
            </a:r>
          </a:p>
          <a:p>
            <a:r>
              <a:t>Spot error + say corrected sentence.</a:t>
            </a:r>
          </a:p>
          <a:p/>
          <a:p>
            <a:r>
              <a:t>EXPECTED ANSWERS / RESPONSES:</a:t>
            </a:r>
          </a:p>
          <a:p>
            <a:r>
              <a:t>1 Leo found/will find 2 is reading 3 will go 4 OK 5 helped</a:t>
            </a:r>
          </a:p>
          <a:p/>
          <a:p>
            <a:r>
              <a:t>COMMON MISTAKES:</a:t>
            </a:r>
          </a:p>
          <a:p>
            <a:r>
              <a:t>Changing correct #4.</a:t>
            </a:r>
          </a:p>
          <a:p/>
          <a:p>
            <a:r>
              <a:t>ASSESSMENT TIPS:</a:t>
            </a:r>
          </a:p>
          <a:p>
            <a:r>
              <a:t>Error detection.</a:t>
            </a:r>
          </a:p>
          <a:p/>
          <a:p>
            <a:r>
              <a:t>EXTENSION QUESTIONS:</a:t>
            </a:r>
          </a:p>
          <a:p>
            <a:r>
              <a:t>Write one 'wrong' sentence for teacher to fix.</a:t>
            </a:r>
          </a:p>
          <a:p/>
          <a:p>
            <a:r>
              <a:t>TIMING: Grammar 25 min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Use dice or random number 1–4.</a:t>
            </a:r>
          </a:p>
          <a:p/>
          <a:p>
            <a:r>
              <a:t>STUDENT ACTIVITY:</a:t>
            </a:r>
          </a:p>
          <a:p>
            <a:r>
              <a:t>4 rounds of sentence building.</a:t>
            </a:r>
          </a:p>
          <a:p/>
          <a:p>
            <a:r>
              <a:t>EXPECTED ANSWERS / RESPONSES:</a:t>
            </a:r>
          </a:p>
          <a:p>
            <a:r>
              <a:t>Grammatically sensible sentences.</a:t>
            </a:r>
          </a:p>
          <a:p/>
          <a:p>
            <a:r>
              <a:t>COMMON MISTAKES:</a:t>
            </a:r>
          </a:p>
          <a:p>
            <a:r>
              <a:t>Adjective used as verb.</a:t>
            </a:r>
          </a:p>
          <a:p/>
          <a:p>
            <a:r>
              <a:t>ASSESSMENT TIPS:</a:t>
            </a:r>
          </a:p>
          <a:p>
            <a:r>
              <a:t>Parts of speech in production.</a:t>
            </a:r>
          </a:p>
          <a:p/>
          <a:p>
            <a:r>
              <a:t>EXTENSION QUESTIONS:</a:t>
            </a:r>
          </a:p>
          <a:p>
            <a:r>
              <a:t>Add a second adjective.</a:t>
            </a:r>
          </a:p>
          <a:p/>
          <a:p>
            <a:r>
              <a:t>TIMING: Grammar games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Explain re- = again; -ful = full of.</a:t>
            </a:r>
          </a:p>
          <a:p/>
          <a:p>
            <a:r>
              <a:t>STUDENT ACTIVITY:</a:t>
            </a:r>
          </a:p>
          <a:p>
            <a:r>
              <a:t>Create 3 new examples aloud.</a:t>
            </a:r>
          </a:p>
          <a:p/>
          <a:p>
            <a:r>
              <a:t>EXPECTED ANSWERS / RESPONSES:</a:t>
            </a:r>
          </a:p>
          <a:p>
            <a:r>
              <a:t>Reasonable word formations.</a:t>
            </a:r>
          </a:p>
          <a:p/>
          <a:p>
            <a:r>
              <a:t>COMMON MISTAKES:</a:t>
            </a:r>
          </a:p>
          <a:p>
            <a:r>
              <a:t>Invalid compounds.</a:t>
            </a:r>
          </a:p>
          <a:p/>
          <a:p>
            <a:r>
              <a:t>ASSESSMENT TIPS:</a:t>
            </a:r>
          </a:p>
          <a:p>
            <a:r>
              <a:t>Morphology awareness.</a:t>
            </a:r>
          </a:p>
          <a:p/>
          <a:p>
            <a:r>
              <a:t>EXTENSION QUESTIONS:</a:t>
            </a:r>
          </a:p>
          <a:p>
            <a:r>
              <a:t>Use 'helpful' about Mystery Helper.</a:t>
            </a:r>
          </a:p>
          <a:p/>
          <a:p>
            <a:r>
              <a:t>TIMING: Vocab 10 min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Timer 3 minutes—game feel!</a:t>
            </a:r>
          </a:p>
          <a:p/>
          <a:p>
            <a:r>
              <a:t>STUDENT ACTIVITY:</a:t>
            </a:r>
          </a:p>
          <a:p>
            <a:r>
              <a:t>Circle words on screen or paper.</a:t>
            </a:r>
          </a:p>
          <a:p/>
          <a:p>
            <a:r>
              <a:t>EXPECTED ANSWERS / RESPONSES:</a:t>
            </a:r>
          </a:p>
          <a:p>
            <a:r>
              <a:t>Finds 4+ words.</a:t>
            </a:r>
          </a:p>
          <a:p/>
          <a:p>
            <a:r>
              <a:t>COMMON MISTAKES:</a:t>
            </a:r>
          </a:p>
          <a:p>
            <a:r>
              <a:t>Spelling confusion.</a:t>
            </a:r>
          </a:p>
          <a:p/>
          <a:p>
            <a:r>
              <a:t>ASSESSMENT TIPS:</a:t>
            </a:r>
          </a:p>
          <a:p>
            <a:r>
              <a:t>Word recognition speed.</a:t>
            </a:r>
          </a:p>
          <a:p/>
          <a:p>
            <a:r>
              <a:t>EXTENSION QUESTIONS:</a:t>
            </a:r>
          </a:p>
          <a:p>
            <a:r>
              <a:t>Use FUTURE in a sentence.</a:t>
            </a:r>
          </a:p>
          <a:p/>
          <a:p>
            <a:r>
              <a:t>TIMING: Vocab games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Reveal answers after attempt—or hide bottom line during play.</a:t>
            </a:r>
          </a:p>
          <a:p/>
          <a:p>
            <a:r>
              <a:t>STUDENT ACTIVITY:</a:t>
            </a:r>
          </a:p>
          <a:p>
            <a:r>
              <a:t>Solve clues aloud.</a:t>
            </a:r>
          </a:p>
          <a:p/>
          <a:p>
            <a:r>
              <a:t>EXPECTED ANSWERS / RESPONSES:</a:t>
            </a:r>
          </a:p>
          <a:p>
            <a:r>
              <a:t>See bottom line (teacher key).</a:t>
            </a:r>
          </a:p>
          <a:p/>
          <a:p>
            <a:r>
              <a:t>COMMON MISTAKES:</a:t>
            </a:r>
          </a:p>
          <a:p>
            <a:r>
              <a:t>Letter count ignored.</a:t>
            </a:r>
          </a:p>
          <a:p/>
          <a:p>
            <a:r>
              <a:t>ASSESSMENT TIPS:</a:t>
            </a:r>
          </a:p>
          <a:p>
            <a:r>
              <a:t>Spelling + meaning.</a:t>
            </a:r>
          </a:p>
          <a:p/>
          <a:p>
            <a:r>
              <a:t>EXTENSION QUESTIONS:</a:t>
            </a:r>
          </a:p>
          <a:p>
            <a:r>
              <a:t>Create one new clue.</a:t>
            </a:r>
          </a:p>
          <a:p/>
          <a:p>
            <a:r>
              <a:t>TIMING: Vocab</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Cover screen after 20 sec.</a:t>
            </a:r>
          </a:p>
          <a:p/>
          <a:p>
            <a:r>
              <a:t>STUDENT ACTIVITY:</a:t>
            </a:r>
          </a:p>
          <a:p>
            <a:r>
              <a:t>Recall list; compare.</a:t>
            </a:r>
          </a:p>
          <a:p/>
          <a:p>
            <a:r>
              <a:t>EXPECTED ANSWERS / RESPONSES:</a:t>
            </a:r>
          </a:p>
          <a:p>
            <a:r>
              <a:t>6+ items strong; 4+ OK.</a:t>
            </a:r>
          </a:p>
          <a:p/>
          <a:p>
            <a:r>
              <a:t>COMMON MISTAKES:</a:t>
            </a:r>
          </a:p>
          <a:p>
            <a:r>
              <a:t>Random guessing.</a:t>
            </a:r>
          </a:p>
          <a:p/>
          <a:p>
            <a:r>
              <a:t>ASSESSMENT TIPS:</a:t>
            </a:r>
          </a:p>
          <a:p>
            <a:r>
              <a:t>Working memory, speaking.</a:t>
            </a:r>
          </a:p>
          <a:p/>
          <a:p>
            <a:r>
              <a:t>EXTENSION QUESTIONS:</a:t>
            </a:r>
          </a:p>
          <a:p>
            <a:r>
              <a:t>Which item was hardest?</a:t>
            </a:r>
          </a:p>
          <a:p/>
          <a:p>
            <a:r>
              <a:t>TIMING: Every 5–7 min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90-second description.</a:t>
            </a:r>
          </a:p>
          <a:p/>
          <a:p>
            <a:r>
              <a:t>STUDENT ACTIVITY:</a:t>
            </a:r>
          </a:p>
          <a:p>
            <a:r>
              <a:t>Cover all 4 boxes.</a:t>
            </a:r>
          </a:p>
          <a:p/>
          <a:p>
            <a:r>
              <a:t>EXPECTED ANSWERS / RESPONSES:</a:t>
            </a:r>
          </a:p>
          <a:p>
            <a:r>
              <a:t>Uses adjectives + present continuous.</a:t>
            </a:r>
          </a:p>
          <a:p/>
          <a:p>
            <a:r>
              <a:t>COMMON MISTAKES:</a:t>
            </a:r>
          </a:p>
          <a:p>
            <a:r>
              <a:t>Only listing nouns.</a:t>
            </a:r>
          </a:p>
          <a:p/>
          <a:p>
            <a:r>
              <a:t>ASSESSMENT TIPS:</a:t>
            </a:r>
          </a:p>
          <a:p>
            <a:r>
              <a:t>Descriptive language.</a:t>
            </a:r>
          </a:p>
          <a:p/>
          <a:p>
            <a:r>
              <a:t>EXTENSION QUESTIONS:</a:t>
            </a:r>
          </a:p>
          <a:p>
            <a:r>
              <a:t>What might happen next in the park?</a:t>
            </a:r>
          </a:p>
          <a:p/>
          <a:p>
            <a:r>
              <a:t>TIMING: Speaking 10 min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Roll dice or pick 3 cards.</a:t>
            </a:r>
          </a:p>
          <a:p/>
          <a:p>
            <a:r>
              <a:t>STUDENT ACTIVITY:</a:t>
            </a:r>
          </a:p>
          <a:p>
            <a:r>
              <a:t>5-sentence original story.</a:t>
            </a:r>
          </a:p>
          <a:p/>
          <a:p>
            <a:r>
              <a:t>EXPECTED ANSWERS / RESPONSES:</a:t>
            </a:r>
          </a:p>
          <a:p>
            <a:r>
              <a:t>Coherent plot.</a:t>
            </a:r>
          </a:p>
          <a:p/>
          <a:p>
            <a:r>
              <a:t>COMMON MISTAKES:</a:t>
            </a:r>
          </a:p>
          <a:p>
            <a:r>
              <a:t>No ending.</a:t>
            </a:r>
          </a:p>
          <a:p/>
          <a:p>
            <a:r>
              <a:t>ASSESSMENT TIPS:</a:t>
            </a:r>
          </a:p>
          <a:p>
            <a:r>
              <a:t>Creativity + grammar in speech.</a:t>
            </a:r>
          </a:p>
          <a:p/>
          <a:p>
            <a:r>
              <a:t>EXTENSION QUESTIONS:</a:t>
            </a:r>
          </a:p>
          <a:p>
            <a:r>
              <a:t>Add dialogue.</a:t>
            </a:r>
          </a:p>
          <a:p/>
          <a:p>
            <a:r>
              <a:t>TIMING: Storytelling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Sage picks 1 role; teacher plays partner.</a:t>
            </a:r>
          </a:p>
          <a:p/>
          <a:p>
            <a:r>
              <a:t>STUDENT ACTIVITY:</a:t>
            </a:r>
          </a:p>
          <a:p>
            <a:r>
              <a:t>45–60 second role play.</a:t>
            </a:r>
          </a:p>
          <a:p/>
          <a:p>
            <a:r>
              <a:t>EXPECTED ANSWERS / RESPONSES:</a:t>
            </a:r>
          </a:p>
          <a:p>
            <a:r>
              <a:t>Appropriate phrases (May I…, Could you…).</a:t>
            </a:r>
          </a:p>
          <a:p/>
          <a:p>
            <a:r>
              <a:t>COMMON MISTAKES:</a:t>
            </a:r>
          </a:p>
          <a:p>
            <a:r>
              <a:t>Too quiet in library scene.</a:t>
            </a:r>
          </a:p>
          <a:p/>
          <a:p>
            <a:r>
              <a:t>ASSESSMENT TIPS:</a:t>
            </a:r>
          </a:p>
          <a:p>
            <a:r>
              <a:t>Pragmatics, confidence.</a:t>
            </a:r>
          </a:p>
          <a:p/>
          <a:p>
            <a:r>
              <a:t>EXTENSION QUESTIONS:</a:t>
            </a:r>
          </a:p>
          <a:p>
            <a:r>
              <a:t>Switch roles quickly.</a:t>
            </a:r>
          </a:p>
          <a:p/>
          <a:p>
            <a:r>
              <a:t>TIMING: Speaking block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Slow → medium → fast.</a:t>
            </a:r>
          </a:p>
          <a:p/>
          <a:p>
            <a:r>
              <a:t>STUDENT ACTIVITY:</a:t>
            </a:r>
          </a:p>
          <a:p>
            <a:r>
              <a:t>Repeat each 3 times.</a:t>
            </a:r>
          </a:p>
          <a:p/>
          <a:p>
            <a:r>
              <a:t>EXPECTED ANSWERS / RESPONSES:</a:t>
            </a:r>
          </a:p>
          <a:p>
            <a:r>
              <a:t>Clearer consonants over time.</a:t>
            </a:r>
          </a:p>
          <a:p/>
          <a:p>
            <a:r>
              <a:t>COMMON MISTAKES:</a:t>
            </a:r>
          </a:p>
          <a:p>
            <a:r>
              <a:t>Frustration—keep it fun.</a:t>
            </a:r>
          </a:p>
          <a:p/>
          <a:p>
            <a:r>
              <a:t>ASSESSMENT TIPS:</a:t>
            </a:r>
          </a:p>
          <a:p>
            <a:r>
              <a:t>Pronunciation playfulness.</a:t>
            </a:r>
          </a:p>
          <a:p/>
          <a:p>
            <a:r>
              <a:t>EXTENSION QUESTIONS:</a:t>
            </a:r>
          </a:p>
          <a:p>
            <a:r>
              <a:t>Clap the rhythm.</a:t>
            </a:r>
          </a:p>
          <a:p/>
          <a:p>
            <a:r>
              <a:t>TIMING: Flex within 90 min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Read twice; second time Sage may take notes.</a:t>
            </a:r>
          </a:p>
          <a:p/>
          <a:p>
            <a:r>
              <a:t>STUDENT ACTIVITY:</a:t>
            </a:r>
          </a:p>
          <a:p>
            <a:r>
              <a:t>Answer 4 questions without looking at passage.</a:t>
            </a:r>
          </a:p>
          <a:p/>
          <a:p>
            <a:r>
              <a:t>EXPECTED ANSWERS / RESPONSES:</a:t>
            </a:r>
          </a:p>
          <a:p>
            <a:r>
              <a:t>Reading festival; poster; second; fruit popsicles.</a:t>
            </a:r>
          </a:p>
          <a:p/>
          <a:p>
            <a:r>
              <a:t>COMMON MISTAKES:</a:t>
            </a:r>
          </a:p>
          <a:p>
            <a:r>
              <a:t>Copying irrelevant details.</a:t>
            </a:r>
          </a:p>
          <a:p/>
          <a:p>
            <a:r>
              <a:t>ASSESSMENT TIPS:</a:t>
            </a:r>
          </a:p>
          <a:p>
            <a:r>
              <a:t>Listening comprehension.</a:t>
            </a:r>
          </a:p>
          <a:p/>
          <a:p>
            <a:r>
              <a:t>EXTENSION QUESTIONS:</a:t>
            </a:r>
          </a:p>
          <a:p>
            <a:r>
              <a:t>What was the main idea?</a:t>
            </a:r>
          </a:p>
          <a:p/>
          <a:p>
            <a:r>
              <a:t>TIMING: Listening skill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Lightning round—10 sec think time each.</a:t>
            </a:r>
          </a:p>
          <a:p/>
          <a:p>
            <a:r>
              <a:t>STUDENT ACTIVITY:</a:t>
            </a:r>
          </a:p>
          <a:p>
            <a:r>
              <a:t>Say corrected sentence.</a:t>
            </a:r>
          </a:p>
          <a:p/>
          <a:p>
            <a:r>
              <a:t>EXPECTED ANSWERS / RESPONSES:</a:t>
            </a:r>
          </a:p>
          <a:p>
            <a:r>
              <a:t>goes; is looking; lost; will help; was solved</a:t>
            </a:r>
          </a:p>
          <a:p/>
          <a:p>
            <a:r>
              <a:t>COMMON MISTAKES:</a:t>
            </a:r>
          </a:p>
          <a:p>
            <a:r>
              <a:t>Only naming error type.</a:t>
            </a:r>
          </a:p>
          <a:p/>
          <a:p>
            <a:r>
              <a:t>ASSESSMENT TIPS:</a:t>
            </a:r>
          </a:p>
          <a:p>
            <a:r>
              <a:t>Tense + agreement.</a:t>
            </a:r>
          </a:p>
          <a:p/>
          <a:p>
            <a:r>
              <a:t>EXTENSION QUESTIONS:</a:t>
            </a:r>
          </a:p>
          <a:p>
            <a:r>
              <a:t>Write one mistake for teacher.</a:t>
            </a:r>
          </a:p>
          <a:p/>
          <a:p>
            <a:r>
              <a:t>TIMING: Grammar games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Score with fingers/stars—no stress.</a:t>
            </a:r>
          </a:p>
          <a:p/>
          <a:p>
            <a:r>
              <a:t>STUDENT ACTIVITY:</a:t>
            </a:r>
          </a:p>
          <a:p>
            <a:r>
              <a:t>Quick verbal answers.</a:t>
            </a:r>
          </a:p>
          <a:p/>
          <a:p>
            <a:r>
              <a:t>EXPECTED ANSWERS / RESPONSES:</a:t>
            </a:r>
          </a:p>
          <a:p>
            <a:r>
              <a:t>found; Present Continuous; glad; blue; will</a:t>
            </a:r>
          </a:p>
          <a:p/>
          <a:p>
            <a:r>
              <a:t>COMMON MISTAKES:</a:t>
            </a:r>
          </a:p>
          <a:p>
            <a:r>
              <a:t>Rushing.</a:t>
            </a:r>
          </a:p>
          <a:p/>
          <a:p>
            <a:r>
              <a:t>ASSESSMENT TIPS:</a:t>
            </a:r>
          </a:p>
          <a:p>
            <a:r>
              <a:t>Retention check.</a:t>
            </a:r>
          </a:p>
          <a:p/>
          <a:p>
            <a:r>
              <a:t>EXTENSION QUESTIONS:</a:t>
            </a:r>
          </a:p>
          <a:p>
            <a:r>
              <a:t>Make up Q6.</a:t>
            </a:r>
          </a:p>
          <a:p/>
          <a:p>
            <a:r>
              <a:t>TIMING: Games 5 min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Read clues dramatically.</a:t>
            </a:r>
          </a:p>
          <a:p/>
          <a:p>
            <a:r>
              <a:t>STUDENT ACTIVITY:</a:t>
            </a:r>
          </a:p>
          <a:p>
            <a:r>
              <a:t>Shout answers; use in sentence.</a:t>
            </a:r>
          </a:p>
          <a:p/>
          <a:p>
            <a:r>
              <a:t>EXPECTED ANSWERS / RESPONSES:</a:t>
            </a:r>
          </a:p>
          <a:p>
            <a:r>
              <a:t>See clue answers.</a:t>
            </a:r>
          </a:p>
          <a:p/>
          <a:p>
            <a:r>
              <a:t>COMMON MISTAKES:</a:t>
            </a:r>
          </a:p>
          <a:p>
            <a:r>
              <a:t>Random words.</a:t>
            </a:r>
          </a:p>
          <a:p/>
          <a:p>
            <a:r>
              <a:t>ASSESSMENT TIPS:</a:t>
            </a:r>
          </a:p>
          <a:p>
            <a:r>
              <a:t>Vocab recall.</a:t>
            </a:r>
          </a:p>
          <a:p/>
          <a:p>
            <a:r>
              <a:t>EXTENSION QUESTIONS:</a:t>
            </a:r>
          </a:p>
          <a:p>
            <a:r>
              <a:t>Sage writes own clue.</a:t>
            </a:r>
          </a:p>
          <a:p/>
          <a:p>
            <a:r>
              <a:t>TIMING: Games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Team vs clock—celebrate escape!</a:t>
            </a:r>
          </a:p>
          <a:p/>
          <a:p>
            <a:r>
              <a:t>STUDENT ACTIVITY:</a:t>
            </a:r>
          </a:p>
          <a:p>
            <a:r>
              <a:t>Solve all 5.</a:t>
            </a:r>
          </a:p>
          <a:p/>
          <a:p>
            <a:r>
              <a:t>EXPECTED ANSWERS / RESPONSES:</a:t>
            </a:r>
          </a:p>
          <a:p>
            <a:r>
              <a:t>See key line (hide if needed).</a:t>
            </a:r>
          </a:p>
          <a:p/>
          <a:p>
            <a:r>
              <a:t>COMMON MISTAKES:</a:t>
            </a:r>
          </a:p>
          <a:p>
            <a:r>
              <a:t>Giving up—offer hint.</a:t>
            </a:r>
          </a:p>
          <a:p/>
          <a:p>
            <a:r>
              <a:t>ASSESSMENT TIPS:</a:t>
            </a:r>
          </a:p>
          <a:p>
            <a:r>
              <a:t>Integrated skills.</a:t>
            </a:r>
          </a:p>
          <a:p/>
          <a:p>
            <a:r>
              <a:t>EXTENSION QUESTIONS:</a:t>
            </a:r>
          </a:p>
          <a:p>
            <a:r>
              <a:t>Design puzzle 6.</a:t>
            </a:r>
          </a:p>
          <a:p/>
          <a:p>
            <a:r>
              <a:t>TIMING: Games 5 min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Complete privately—never make Sage feel graded.</a:t>
            </a:r>
          </a:p>
          <a:p/>
          <a:p>
            <a:r>
              <a:t>STUDENT ACTIVITY:</a:t>
            </a:r>
          </a:p>
          <a:p>
            <a:r>
              <a:t>Teacher observes and marks rubric.</a:t>
            </a:r>
          </a:p>
          <a:p/>
          <a:p>
            <a:r>
              <a:t>EXPECTED ANSWERS / RESPONSES:</a:t>
            </a:r>
          </a:p>
          <a:p>
            <a:r>
              <a:t>1=emerging 5=strong for Grade 5 demo.</a:t>
            </a:r>
          </a:p>
          <a:p/>
          <a:p>
            <a:r>
              <a:t>COMMON MISTAKES:</a:t>
            </a:r>
          </a:p>
          <a:p>
            <a:r>
              <a:t>Sharing scores aloud.</a:t>
            </a:r>
          </a:p>
          <a:p/>
          <a:p>
            <a:r>
              <a:t>ASSESSMENT TIPS:</a:t>
            </a:r>
          </a:p>
          <a:p>
            <a:r>
              <a:t>Holistic demo assessment for parents.</a:t>
            </a:r>
          </a:p>
          <a:p/>
          <a:p>
            <a:r>
              <a:t>EXTENSION QUESTIONS:</a:t>
            </a:r>
          </a:p>
          <a:p>
            <a:r>
              <a:t>Write 1 strength + 1 next step.</a:t>
            </a:r>
          </a:p>
          <a:p/>
          <a:p>
            <a:r>
              <a:t>TIMING: Throughout class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Switch roles—Sage is the expert!</a:t>
            </a:r>
          </a:p>
          <a:p/>
          <a:p>
            <a:r>
              <a:t>STUDENT ACTIVITY:</a:t>
            </a:r>
          </a:p>
          <a:p>
            <a:r>
              <a:t>2-minute mini-lesson from student.</a:t>
            </a:r>
          </a:p>
          <a:p/>
          <a:p>
            <a:r>
              <a:t>EXPECTED ANSWERS / RESPONSES:</a:t>
            </a:r>
          </a:p>
          <a:p>
            <a:r>
              <a:t>Accurate recap.</a:t>
            </a:r>
          </a:p>
          <a:p/>
          <a:p>
            <a:r>
              <a:t>COMMON MISTAKES:</a:t>
            </a:r>
          </a:p>
          <a:p>
            <a:r>
              <a:t>I don't know.</a:t>
            </a:r>
          </a:p>
          <a:p/>
          <a:p>
            <a:r>
              <a:t>ASSESSMENT TIPS:</a:t>
            </a:r>
          </a:p>
          <a:p>
            <a:r>
              <a:t>Metacognition + confidence.</a:t>
            </a:r>
          </a:p>
          <a:p/>
          <a:p>
            <a:r>
              <a:t>EXTENSION QUESTIONS:</a:t>
            </a:r>
          </a:p>
          <a:p>
            <a:r>
              <a:t>What will you practice tomorrow?</a:t>
            </a:r>
          </a:p>
          <a:p/>
          <a:p>
            <a:r>
              <a:t>TIMING: Recap 5 min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Keep homework fun—15–20 min max.</a:t>
            </a:r>
          </a:p>
          <a:p/>
          <a:p>
            <a:r>
              <a:t>STUDENT ACTIVITY:</a:t>
            </a:r>
          </a:p>
          <a:p>
            <a:r>
              <a:t>Plan orally before writing.</a:t>
            </a:r>
          </a:p>
          <a:p/>
          <a:p>
            <a:r>
              <a:t>EXPECTED ANSWERS / RESPONSES:</a:t>
            </a:r>
          </a:p>
          <a:p>
            <a:r>
              <a:t>Paragraph with tense variety.</a:t>
            </a:r>
          </a:p>
          <a:p/>
          <a:p>
            <a:r>
              <a:t>COMMON MISTAKES:</a:t>
            </a:r>
          </a:p>
          <a:p>
            <a:r>
              <a:t>All one tense.</a:t>
            </a:r>
          </a:p>
          <a:p/>
          <a:p>
            <a:r>
              <a:t>ASSESSMENT TIPS:</a:t>
            </a:r>
          </a:p>
          <a:p>
            <a:r>
              <a:t>Transfer to independent work.</a:t>
            </a:r>
          </a:p>
          <a:p/>
          <a:p>
            <a:r>
              <a:t>EXTENSION QUESTIONS:</a:t>
            </a:r>
          </a:p>
          <a:p>
            <a:r>
              <a:t>Where would you go first?</a:t>
            </a:r>
          </a:p>
          <a:p/>
          <a:p>
            <a:r>
              <a:t>TIMING: After class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SAY:</a:t>
            </a:r>
          </a:p>
          <a:p>
            <a:r>
              <a:t>Big celebration! Specific praise (2 strengths).</a:t>
            </a:r>
          </a:p>
          <a:p/>
          <a:p>
            <a:r>
              <a:t>STUDENT ACTIVITY:</a:t>
            </a:r>
          </a:p>
          <a:p>
            <a:r>
              <a:t>Sage reads certificate title aloud.</a:t>
            </a:r>
          </a:p>
          <a:p/>
          <a:p>
            <a:r>
              <a:t>EXPECTED ANSWERS / RESPONSES:</a:t>
            </a:r>
          </a:p>
          <a:p>
            <a:r>
              <a:t>Smiles, pride, willingness to return.</a:t>
            </a:r>
          </a:p>
          <a:p/>
          <a:p>
            <a:r>
              <a:t>COMMON MISTAKES:</a:t>
            </a:r>
          </a:p>
          <a:p>
            <a:r>
              <a:t>Rushing out.</a:t>
            </a:r>
          </a:p>
          <a:p/>
          <a:p>
            <a:r>
              <a:t>ASSESSMENT TIPS:</a:t>
            </a:r>
          </a:p>
          <a:p>
            <a:r>
              <a:t>End on high energy for parents.</a:t>
            </a:r>
          </a:p>
          <a:p/>
          <a:p>
            <a:r>
              <a:t>EXTENSION QUESTIONS:</a:t>
            </a:r>
          </a:p>
          <a:p>
            <a:r>
              <a:t>What game do you want next time?</a:t>
            </a:r>
          </a:p>
          <a:p/>
          <a:p>
            <a:r>
              <a:t>TIMING: End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57200" y="822960"/>
            <a:ext cx="457200" cy="457200"/>
          </a:xfrm>
          <a:prstGeom prst="ellipse">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47120" y="1097280"/>
            <a:ext cx="457200" cy="457200"/>
          </a:xfrm>
          <a:prstGeom prst="ellipse">
            <a:avLst/>
          </a:prstGeom>
          <a:solidFill>
            <a:srgbClr val="F06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515600" y="5303520"/>
            <a:ext cx="457200" cy="45720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5029200"/>
            <a:ext cx="457200" cy="457200"/>
          </a:xfrm>
          <a:prstGeom prst="ellipse">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14400" y="1097280"/>
            <a:ext cx="1005840" cy="1005840"/>
          </a:xfrm>
          <a:prstGeom prst="ellipse">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0" y="1371600"/>
            <a:ext cx="1005840" cy="1005840"/>
          </a:xfrm>
          <a:prstGeom prst="ellipse">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286000" y="5303520"/>
            <a:ext cx="1005840" cy="1005840"/>
          </a:xfrm>
          <a:prstGeom prst="ellipse">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828800"/>
            <a:ext cx="10972800" cy="457200"/>
          </a:xfrm>
          <a:prstGeom prst="rect">
            <a:avLst/>
          </a:prstGeom>
          <a:noFill/>
        </p:spPr>
        <p:txBody>
          <a:bodyPr wrap="square">
            <a:spAutoFit/>
          </a:bodyPr>
          <a:lstStyle/>
          <a:p>
            <a:pPr algn="ctr"/>
            <a:r>
              <a:rPr sz="3600" b="1">
                <a:solidFill>
                  <a:srgbClr val="FFFFFF"/>
                </a:solidFill>
                <a:latin typeface="Georgia"/>
              </a:rPr>
              <a:t>🌟 Welcome to Your English Adventure 🌟</a:t>
            </a:r>
          </a:p>
        </p:txBody>
      </p:sp>
      <p:sp>
        <p:nvSpPr>
          <p:cNvPr id="12" name="TextBox 11"/>
          <p:cNvSpPr txBox="1"/>
          <p:nvPr/>
        </p:nvSpPr>
        <p:spPr>
          <a:xfrm>
            <a:off x="640080" y="2743200"/>
            <a:ext cx="10972800" cy="411480"/>
          </a:xfrm>
          <a:prstGeom prst="rect">
            <a:avLst/>
          </a:prstGeom>
          <a:noFill/>
        </p:spPr>
        <p:txBody>
          <a:bodyPr wrap="square">
            <a:spAutoFit/>
          </a:bodyPr>
          <a:lstStyle/>
          <a:p>
            <a:pPr algn="ctr"/>
            <a:r>
              <a:rPr sz="1800" b="0">
                <a:solidFill>
                  <a:srgbClr val="E1F5FE"/>
                </a:solidFill>
                <a:latin typeface="Calibri"/>
              </a:rPr>
              <a:t>Student: Sage  •  Grade 5  •  U.S.  •  90-Minute Game Quest</a:t>
            </a:r>
          </a:p>
        </p:txBody>
      </p:sp>
      <p:sp>
        <p:nvSpPr>
          <p:cNvPr id="13" name="Rounded Rectangle 12"/>
          <p:cNvSpPr/>
          <p:nvPr/>
        </p:nvSpPr>
        <p:spPr>
          <a:xfrm>
            <a:off x="3200400" y="3474720"/>
            <a:ext cx="5760720" cy="109728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83280" y="3703320"/>
            <a:ext cx="5394960" cy="640080"/>
          </a:xfrm>
          <a:prstGeom prst="rect">
            <a:avLst/>
          </a:prstGeom>
          <a:noFill/>
        </p:spPr>
        <p:txBody>
          <a:bodyPr wrap="square">
            <a:spAutoFit/>
          </a:bodyPr>
          <a:lstStyle/>
          <a:p>
            <a:pPr algn="ctr"/>
            <a:r>
              <a:rPr sz="1700" b="1">
                <a:solidFill>
                  <a:srgbClr val="FFFFFF"/>
                </a:solidFill>
                <a:latin typeface="Calibri"/>
              </a:rPr>
              <a:t>Teacher: Your Teacher Name
Today = Play + Learn (NOT a test!)</a:t>
            </a:r>
          </a:p>
        </p:txBody>
      </p:sp>
      <p:sp>
        <p:nvSpPr>
          <p:cNvPr id="15" name="TextBox 14"/>
          <p:cNvSpPr txBox="1"/>
          <p:nvPr/>
        </p:nvSpPr>
        <p:spPr>
          <a:xfrm>
            <a:off x="640080" y="4937760"/>
            <a:ext cx="10972800" cy="365760"/>
          </a:xfrm>
          <a:prstGeom prst="rect">
            <a:avLst/>
          </a:prstGeom>
          <a:noFill/>
        </p:spPr>
        <p:txBody>
          <a:bodyPr wrap="square">
            <a:spAutoFit/>
          </a:bodyPr>
          <a:lstStyle/>
          <a:p>
            <a:pPr algn="ctr"/>
            <a:r>
              <a:rPr sz="2000" b="0">
                <a:solidFill>
                  <a:srgbClr val="FFD54F"/>
                </a:solidFill>
                <a:latin typeface="Calibri"/>
              </a:rPr>
              <a:t>📚 ✏️ 💬 🎲 — Let's go!</a:t>
            </a:r>
          </a:p>
        </p:txBody>
      </p:sp>
      <p:sp>
        <p:nvSpPr>
          <p:cNvPr id="16" name="Rectangle 15"/>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Welcome 5 min</a:t>
            </a:r>
          </a:p>
        </p:txBody>
      </p:sp>
      <p:sp>
        <p:nvSpPr>
          <p:cNvPr id="18" name="TextBox 17"/>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1/30</a:t>
            </a:r>
          </a:p>
        </p:txBody>
      </p:sp>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WELCOME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Meet Your Teacher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2/30</a:t>
            </a:r>
          </a:p>
        </p:txBody>
      </p:sp>
      <p:sp>
        <p:nvSpPr>
          <p:cNvPr id="12" name="Rounded Rectangle 11"/>
          <p:cNvSpPr/>
          <p:nvPr/>
        </p:nvSpPr>
        <p:spPr>
          <a:xfrm>
            <a:off x="365760" y="1325880"/>
            <a:ext cx="548640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08760"/>
            <a:ext cx="5029200" cy="320040"/>
          </a:xfrm>
          <a:prstGeom prst="rect">
            <a:avLst/>
          </a:prstGeom>
          <a:noFill/>
        </p:spPr>
        <p:txBody>
          <a:bodyPr wrap="square">
            <a:spAutoFit/>
          </a:bodyPr>
          <a:lstStyle/>
          <a:p>
            <a:pPr algn="l"/>
            <a:r>
              <a:rPr sz="1800" b="1">
                <a:solidFill>
                  <a:srgbClr val="009688"/>
                </a:solidFill>
                <a:latin typeface="Calibri"/>
              </a:rPr>
              <a:t>About Me</a:t>
            </a:r>
          </a:p>
        </p:txBody>
      </p:sp>
      <p:sp>
        <p:nvSpPr>
          <p:cNvPr id="14" name="TextBox 13"/>
          <p:cNvSpPr txBox="1"/>
          <p:nvPr/>
        </p:nvSpPr>
        <p:spPr>
          <a:xfrm>
            <a:off x="594360" y="1920240"/>
            <a:ext cx="5029200" cy="3657600"/>
          </a:xfrm>
          <a:prstGeom prst="rect">
            <a:avLst/>
          </a:prstGeom>
          <a:noFill/>
        </p:spPr>
        <p:txBody>
          <a:bodyPr wrap="square">
            <a:spAutoFit/>
          </a:bodyPr>
          <a:lstStyle/>
          <a:p>
            <a:pPr>
              <a:spcAft>
                <a:spcPts val="800"/>
              </a:spcAft>
            </a:pPr>
            <a:r>
              <a:rPr sz="1600" b="0">
                <a:solidFill>
                  <a:srgbClr val="1F2937"/>
                </a:solidFill>
                <a:latin typeface="Calibri"/>
              </a:rPr>
              <a:t>•  I am Your Teacher Name.</a:t>
            </a:r>
          </a:p>
          <a:p>
            <a:pPr>
              <a:spcAft>
                <a:spcPts val="800"/>
              </a:spcAft>
            </a:pPr>
            <a:r>
              <a:rPr sz="1600" b="0">
                <a:solidFill>
                  <a:srgbClr val="1F2937"/>
                </a:solidFill>
                <a:latin typeface="Calibri"/>
              </a:rPr>
              <a:t>•  Fun fact: I turn grammar into detective games!</a:t>
            </a:r>
          </a:p>
          <a:p>
            <a:pPr>
              <a:spcAft>
                <a:spcPts val="800"/>
              </a:spcAft>
            </a:pPr>
            <a:r>
              <a:rPr sz="1600" b="0">
                <a:solidFill>
                  <a:srgbClr val="1F2937"/>
                </a:solidFill>
                <a:latin typeface="Calibri"/>
              </a:rPr>
              <a:t>•  Favorite book: Charlotte's Web</a:t>
            </a:r>
          </a:p>
          <a:p>
            <a:pPr>
              <a:spcAft>
                <a:spcPts val="800"/>
              </a:spcAft>
            </a:pPr>
            <a:r>
              <a:rPr sz="1600" b="0">
                <a:solidFill>
                  <a:srgbClr val="1F2937"/>
                </a:solidFill>
                <a:latin typeface="Calibri"/>
              </a:rPr>
              <a:t>•  Mission: Help you feel brave in English</a:t>
            </a:r>
          </a:p>
        </p:txBody>
      </p:sp>
      <p:sp>
        <p:nvSpPr>
          <p:cNvPr id="15" name="Rounded Rectangle 14"/>
          <p:cNvSpPr/>
          <p:nvPr/>
        </p:nvSpPr>
        <p:spPr>
          <a:xfrm>
            <a:off x="6126480" y="1325880"/>
            <a:ext cx="5669280" cy="475488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1508760"/>
            <a:ext cx="5212080" cy="320040"/>
          </a:xfrm>
          <a:prstGeom prst="rect">
            <a:avLst/>
          </a:prstGeom>
          <a:noFill/>
        </p:spPr>
        <p:txBody>
          <a:bodyPr wrap="square">
            <a:spAutoFit/>
          </a:bodyPr>
          <a:lstStyle/>
          <a:p>
            <a:pPr algn="l"/>
            <a:r>
              <a:rPr sz="1800" b="1">
                <a:solidFill>
                  <a:srgbClr val="FF6F61"/>
                </a:solidFill>
                <a:latin typeface="Calibri"/>
              </a:rPr>
              <a:t>Now You, Sage! 🌟</a:t>
            </a:r>
          </a:p>
        </p:txBody>
      </p:sp>
      <p:sp>
        <p:nvSpPr>
          <p:cNvPr id="17" name="TextBox 16"/>
          <p:cNvSpPr txBox="1"/>
          <p:nvPr/>
        </p:nvSpPr>
        <p:spPr>
          <a:xfrm>
            <a:off x="6355080" y="2011680"/>
            <a:ext cx="5212080" cy="3657600"/>
          </a:xfrm>
          <a:prstGeom prst="rect">
            <a:avLst/>
          </a:prstGeom>
          <a:noFill/>
        </p:spPr>
        <p:txBody>
          <a:bodyPr wrap="square">
            <a:spAutoFit/>
          </a:bodyPr>
          <a:lstStyle/>
          <a:p>
            <a:pPr>
              <a:spcAft>
                <a:spcPts val="1400"/>
              </a:spcAft>
            </a:pPr>
            <a:r>
              <a:rPr sz="1700" b="0">
                <a:solidFill>
                  <a:srgbClr val="1F2937"/>
                </a:solidFill>
                <a:latin typeface="Calibri"/>
              </a:rPr>
              <a:t>•  What's your favorite animal?</a:t>
            </a:r>
          </a:p>
          <a:p>
            <a:pPr>
              <a:spcAft>
                <a:spcPts val="1400"/>
              </a:spcAft>
            </a:pPr>
            <a:r>
              <a:rPr sz="1700" b="0">
                <a:solidFill>
                  <a:srgbClr val="1F2937"/>
                </a:solidFill>
                <a:latin typeface="Calibri"/>
              </a:rPr>
              <a:t>•  What's your favorite movie?</a:t>
            </a:r>
          </a:p>
          <a:p>
            <a:pPr>
              <a:spcAft>
                <a:spcPts val="1400"/>
              </a:spcAft>
            </a:pPr>
            <a:r>
              <a:rPr sz="1700" b="0">
                <a:solidFill>
                  <a:srgbClr val="1F2937"/>
                </a:solidFill>
                <a:latin typeface="Calibri"/>
              </a:rPr>
              <a:t>•  If you could have one superpower, what would it be?</a:t>
            </a:r>
          </a:p>
        </p:txBody>
      </p:sp>
      <p:sp>
        <p:nvSpPr>
          <p:cNvPr id="18" name="Rounded Rectangle 17"/>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Icebreaker 10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Icebreaker: Emoji Guess Game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Icebreaker 10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3/30</a:t>
            </a:r>
          </a:p>
        </p:txBody>
      </p:sp>
      <p:sp>
        <p:nvSpPr>
          <p:cNvPr id="12" name="Rounded Rectangle 11"/>
          <p:cNvSpPr/>
          <p:nvPr/>
        </p:nvSpPr>
        <p:spPr>
          <a:xfrm>
            <a:off x="411480" y="137160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280160" y="160020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178308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15" name="TextBox 14"/>
          <p:cNvSpPr txBox="1"/>
          <p:nvPr/>
        </p:nvSpPr>
        <p:spPr>
          <a:xfrm>
            <a:off x="548640" y="278892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16" name="Rounded Rectangle 15"/>
          <p:cNvSpPr/>
          <p:nvPr/>
        </p:nvSpPr>
        <p:spPr>
          <a:xfrm>
            <a:off x="3337560" y="137160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206240" y="160020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06240" y="178308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19" name="TextBox 18"/>
          <p:cNvSpPr txBox="1"/>
          <p:nvPr/>
        </p:nvSpPr>
        <p:spPr>
          <a:xfrm>
            <a:off x="3474720" y="278892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20" name="Rounded Rectangle 19"/>
          <p:cNvSpPr/>
          <p:nvPr/>
        </p:nvSpPr>
        <p:spPr>
          <a:xfrm>
            <a:off x="6263640" y="137160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0" y="160020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0" y="178308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23" name="TextBox 22"/>
          <p:cNvSpPr txBox="1"/>
          <p:nvPr/>
        </p:nvSpPr>
        <p:spPr>
          <a:xfrm>
            <a:off x="6400800" y="278892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24" name="Rounded Rectangle 23"/>
          <p:cNvSpPr/>
          <p:nvPr/>
        </p:nvSpPr>
        <p:spPr>
          <a:xfrm>
            <a:off x="9189720" y="137160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058400" y="160020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0" y="178308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27" name="TextBox 26"/>
          <p:cNvSpPr txBox="1"/>
          <p:nvPr/>
        </p:nvSpPr>
        <p:spPr>
          <a:xfrm>
            <a:off x="9326880" y="278892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28" name="Rounded Rectangle 27"/>
          <p:cNvSpPr/>
          <p:nvPr/>
        </p:nvSpPr>
        <p:spPr>
          <a:xfrm>
            <a:off x="411480" y="361188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280160" y="160020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0160" y="178308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31" name="TextBox 30"/>
          <p:cNvSpPr txBox="1"/>
          <p:nvPr/>
        </p:nvSpPr>
        <p:spPr>
          <a:xfrm>
            <a:off x="548640" y="278892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32" name="Rounded Rectangle 31"/>
          <p:cNvSpPr/>
          <p:nvPr/>
        </p:nvSpPr>
        <p:spPr>
          <a:xfrm>
            <a:off x="3337560" y="361188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206240" y="160020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06240" y="178308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35" name="TextBox 34"/>
          <p:cNvSpPr txBox="1"/>
          <p:nvPr/>
        </p:nvSpPr>
        <p:spPr>
          <a:xfrm>
            <a:off x="3474720" y="278892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36" name="Rounded Rectangle 35"/>
          <p:cNvSpPr/>
          <p:nvPr/>
        </p:nvSpPr>
        <p:spPr>
          <a:xfrm>
            <a:off x="6263640" y="361188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32320" y="160020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32320" y="178308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39" name="TextBox 38"/>
          <p:cNvSpPr txBox="1"/>
          <p:nvPr/>
        </p:nvSpPr>
        <p:spPr>
          <a:xfrm>
            <a:off x="6400800" y="278892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40" name="Rounded Rectangle 39"/>
          <p:cNvSpPr/>
          <p:nvPr/>
        </p:nvSpPr>
        <p:spPr>
          <a:xfrm>
            <a:off x="9189720" y="3611880"/>
            <a:ext cx="278892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058400" y="1600200"/>
            <a:ext cx="1051560" cy="1051560"/>
          </a:xfrm>
          <a:prstGeom prst="ellipse">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058400" y="1783080"/>
            <a:ext cx="1051560" cy="640080"/>
          </a:xfrm>
          <a:prstGeom prst="rect">
            <a:avLst/>
          </a:prstGeom>
          <a:noFill/>
        </p:spPr>
        <p:txBody>
          <a:bodyPr wrap="square">
            <a:spAutoFit/>
          </a:bodyPr>
          <a:lstStyle/>
          <a:p>
            <a:pPr algn="ctr"/>
            <a:r>
              <a:rPr sz="3400" b="0">
                <a:solidFill>
                  <a:srgbClr val="1F2937"/>
                </a:solidFill>
                <a:latin typeface="Calibri"/>
              </a:rPr>
              <a:t>🚀</a:t>
            </a:r>
          </a:p>
        </p:txBody>
      </p:sp>
      <p:sp>
        <p:nvSpPr>
          <p:cNvPr id="43" name="TextBox 42"/>
          <p:cNvSpPr txBox="1"/>
          <p:nvPr/>
        </p:nvSpPr>
        <p:spPr>
          <a:xfrm>
            <a:off x="9326880" y="2788920"/>
            <a:ext cx="2514600" cy="457200"/>
          </a:xfrm>
          <a:prstGeom prst="rect">
            <a:avLst/>
          </a:prstGeom>
          <a:noFill/>
        </p:spPr>
        <p:txBody>
          <a:bodyPr wrap="square">
            <a:spAutoFit/>
          </a:bodyPr>
          <a:lstStyle/>
          <a:p>
            <a:pPr algn="ctr"/>
            <a:r>
              <a:rPr sz="1300" b="1">
                <a:solidFill>
                  <a:srgbClr val="0A2A6E"/>
                </a:solidFill>
                <a:latin typeface="Calibri"/>
              </a:rPr>
              <a:t>Make 1 full sentence!</a:t>
            </a:r>
          </a:p>
        </p:txBody>
      </p:sp>
      <p:sp>
        <p:nvSpPr>
          <p:cNvPr id="44" name="TextBox 43"/>
          <p:cNvSpPr txBox="1"/>
          <p:nvPr/>
        </p:nvSpPr>
        <p:spPr>
          <a:xfrm>
            <a:off x="365760" y="5806440"/>
            <a:ext cx="11430000" cy="320040"/>
          </a:xfrm>
          <a:prstGeom prst="rect">
            <a:avLst/>
          </a:prstGeom>
          <a:noFill/>
        </p:spPr>
        <p:txBody>
          <a:bodyPr wrap="square">
            <a:spAutoFit/>
          </a:bodyPr>
          <a:lstStyle/>
          <a:p>
            <a:pPr algn="ctr"/>
            <a:r>
              <a:rPr sz="1400" b="0">
                <a:solidFill>
                  <a:srgbClr val="64748B"/>
                </a:solidFill>
                <a:latin typeface="Calibri"/>
              </a:rPr>
              <a:t>Example: "I feel happy when I play with my dog."</a:t>
            </a:r>
          </a:p>
        </p:txBody>
      </p:sp>
      <p:sp>
        <p:nvSpPr>
          <p:cNvPr id="45" name="Rounded Rectangle 4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Icebreaker</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Would You Rather?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Icebreaker</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4/30</a:t>
            </a:r>
          </a:p>
        </p:txBody>
      </p:sp>
      <p:sp>
        <p:nvSpPr>
          <p:cNvPr id="12" name="Rounded Rectangle 11"/>
          <p:cNvSpPr/>
          <p:nvPr/>
        </p:nvSpPr>
        <p:spPr>
          <a:xfrm>
            <a:off x="320040" y="1325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463040"/>
            <a:ext cx="2651760" cy="640080"/>
          </a:xfrm>
          <a:prstGeom prst="rect">
            <a:avLst/>
          </a:prstGeom>
          <a:noFill/>
        </p:spPr>
        <p:txBody>
          <a:bodyPr wrap="square">
            <a:spAutoFit/>
          </a:bodyPr>
          <a:lstStyle/>
          <a:p>
            <a:pPr algn="ctr"/>
            <a:r>
              <a:rPr sz="1300" b="1">
                <a:solidFill>
                  <a:srgbClr val="009688"/>
                </a:solidFill>
                <a:latin typeface="Calibri"/>
              </a:rPr>
              <a:t>Fly</a:t>
            </a:r>
          </a:p>
        </p:txBody>
      </p:sp>
      <p:sp>
        <p:nvSpPr>
          <p:cNvPr id="14" name="TextBox 13"/>
          <p:cNvSpPr txBox="1"/>
          <p:nvPr/>
        </p:nvSpPr>
        <p:spPr>
          <a:xfrm>
            <a:off x="411480" y="2194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15" name="TextBox 14"/>
          <p:cNvSpPr txBox="1"/>
          <p:nvPr/>
        </p:nvSpPr>
        <p:spPr>
          <a:xfrm>
            <a:off x="411480" y="2560320"/>
            <a:ext cx="2651760" cy="640080"/>
          </a:xfrm>
          <a:prstGeom prst="rect">
            <a:avLst/>
          </a:prstGeom>
          <a:noFill/>
        </p:spPr>
        <p:txBody>
          <a:bodyPr wrap="square">
            <a:spAutoFit/>
          </a:bodyPr>
          <a:lstStyle/>
          <a:p>
            <a:pPr algn="ctr"/>
            <a:r>
              <a:rPr sz="1300" b="1">
                <a:solidFill>
                  <a:srgbClr val="FF6F61"/>
                </a:solidFill>
                <a:latin typeface="Calibri"/>
              </a:rPr>
              <a:t>Become invisible</a:t>
            </a:r>
          </a:p>
        </p:txBody>
      </p:sp>
      <p:sp>
        <p:nvSpPr>
          <p:cNvPr id="16" name="Rounded Rectangle 15"/>
          <p:cNvSpPr/>
          <p:nvPr/>
        </p:nvSpPr>
        <p:spPr>
          <a:xfrm>
            <a:off x="3291840" y="1325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83280" y="1463040"/>
            <a:ext cx="2651760" cy="640080"/>
          </a:xfrm>
          <a:prstGeom prst="rect">
            <a:avLst/>
          </a:prstGeom>
          <a:noFill/>
        </p:spPr>
        <p:txBody>
          <a:bodyPr wrap="square">
            <a:spAutoFit/>
          </a:bodyPr>
          <a:lstStyle/>
          <a:p>
            <a:pPr algn="ctr"/>
            <a:r>
              <a:rPr sz="1300" b="1">
                <a:solidFill>
                  <a:srgbClr val="009688"/>
                </a:solidFill>
                <a:latin typeface="Calibri"/>
              </a:rPr>
              <a:t>Live in a treehouse</a:t>
            </a:r>
          </a:p>
        </p:txBody>
      </p:sp>
      <p:sp>
        <p:nvSpPr>
          <p:cNvPr id="18" name="TextBox 17"/>
          <p:cNvSpPr txBox="1"/>
          <p:nvPr/>
        </p:nvSpPr>
        <p:spPr>
          <a:xfrm>
            <a:off x="3383280" y="2194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19" name="TextBox 18"/>
          <p:cNvSpPr txBox="1"/>
          <p:nvPr/>
        </p:nvSpPr>
        <p:spPr>
          <a:xfrm>
            <a:off x="3383280" y="2560320"/>
            <a:ext cx="2651760" cy="640080"/>
          </a:xfrm>
          <a:prstGeom prst="rect">
            <a:avLst/>
          </a:prstGeom>
          <a:noFill/>
        </p:spPr>
        <p:txBody>
          <a:bodyPr wrap="square">
            <a:spAutoFit/>
          </a:bodyPr>
          <a:lstStyle/>
          <a:p>
            <a:pPr algn="ctr"/>
            <a:r>
              <a:rPr sz="1300" b="1">
                <a:solidFill>
                  <a:srgbClr val="FF6F61"/>
                </a:solidFill>
                <a:latin typeface="Calibri"/>
              </a:rPr>
              <a:t>Live on a cloud</a:t>
            </a:r>
          </a:p>
        </p:txBody>
      </p:sp>
      <p:sp>
        <p:nvSpPr>
          <p:cNvPr id="20" name="Rounded Rectangle 19"/>
          <p:cNvSpPr/>
          <p:nvPr/>
        </p:nvSpPr>
        <p:spPr>
          <a:xfrm>
            <a:off x="6263640" y="1325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1463040"/>
            <a:ext cx="2651760" cy="640080"/>
          </a:xfrm>
          <a:prstGeom prst="rect">
            <a:avLst/>
          </a:prstGeom>
          <a:noFill/>
        </p:spPr>
        <p:txBody>
          <a:bodyPr wrap="square">
            <a:spAutoFit/>
          </a:bodyPr>
          <a:lstStyle/>
          <a:p>
            <a:pPr algn="ctr"/>
            <a:r>
              <a:rPr sz="1300" b="1">
                <a:solidFill>
                  <a:srgbClr val="009688"/>
                </a:solidFill>
                <a:latin typeface="Calibri"/>
              </a:rPr>
              <a:t>Talk to animals</a:t>
            </a:r>
          </a:p>
        </p:txBody>
      </p:sp>
      <p:sp>
        <p:nvSpPr>
          <p:cNvPr id="22" name="TextBox 21"/>
          <p:cNvSpPr txBox="1"/>
          <p:nvPr/>
        </p:nvSpPr>
        <p:spPr>
          <a:xfrm>
            <a:off x="6355080" y="2194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23" name="TextBox 22"/>
          <p:cNvSpPr txBox="1"/>
          <p:nvPr/>
        </p:nvSpPr>
        <p:spPr>
          <a:xfrm>
            <a:off x="6355080" y="2560320"/>
            <a:ext cx="2651760" cy="640080"/>
          </a:xfrm>
          <a:prstGeom prst="rect">
            <a:avLst/>
          </a:prstGeom>
          <a:noFill/>
        </p:spPr>
        <p:txBody>
          <a:bodyPr wrap="square">
            <a:spAutoFit/>
          </a:bodyPr>
          <a:lstStyle/>
          <a:p>
            <a:pPr algn="ctr"/>
            <a:r>
              <a:rPr sz="1300" b="1">
                <a:solidFill>
                  <a:srgbClr val="FF6F61"/>
                </a:solidFill>
                <a:latin typeface="Calibri"/>
              </a:rPr>
              <a:t>Read every mind</a:t>
            </a:r>
          </a:p>
        </p:txBody>
      </p:sp>
      <p:sp>
        <p:nvSpPr>
          <p:cNvPr id="24" name="Rounded Rectangle 23"/>
          <p:cNvSpPr/>
          <p:nvPr/>
        </p:nvSpPr>
        <p:spPr>
          <a:xfrm>
            <a:off x="9235440" y="1325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0" y="1463040"/>
            <a:ext cx="2651760" cy="640080"/>
          </a:xfrm>
          <a:prstGeom prst="rect">
            <a:avLst/>
          </a:prstGeom>
          <a:noFill/>
        </p:spPr>
        <p:txBody>
          <a:bodyPr wrap="square">
            <a:spAutoFit/>
          </a:bodyPr>
          <a:lstStyle/>
          <a:p>
            <a:pPr algn="ctr"/>
            <a:r>
              <a:rPr sz="1300" b="1">
                <a:solidFill>
                  <a:srgbClr val="009688"/>
                </a:solidFill>
                <a:latin typeface="Calibri"/>
              </a:rPr>
              <a:t>Always summer</a:t>
            </a:r>
          </a:p>
        </p:txBody>
      </p:sp>
      <p:sp>
        <p:nvSpPr>
          <p:cNvPr id="26" name="TextBox 25"/>
          <p:cNvSpPr txBox="1"/>
          <p:nvPr/>
        </p:nvSpPr>
        <p:spPr>
          <a:xfrm>
            <a:off x="9326880" y="2194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27" name="TextBox 26"/>
          <p:cNvSpPr txBox="1"/>
          <p:nvPr/>
        </p:nvSpPr>
        <p:spPr>
          <a:xfrm>
            <a:off x="9326880" y="2560320"/>
            <a:ext cx="2651760" cy="640080"/>
          </a:xfrm>
          <a:prstGeom prst="rect">
            <a:avLst/>
          </a:prstGeom>
          <a:noFill/>
        </p:spPr>
        <p:txBody>
          <a:bodyPr wrap="square">
            <a:spAutoFit/>
          </a:bodyPr>
          <a:lstStyle/>
          <a:p>
            <a:pPr algn="ctr"/>
            <a:r>
              <a:rPr sz="1300" b="1">
                <a:solidFill>
                  <a:srgbClr val="FF6F61"/>
                </a:solidFill>
                <a:latin typeface="Calibri"/>
              </a:rPr>
              <a:t>Always winter</a:t>
            </a:r>
          </a:p>
        </p:txBody>
      </p:sp>
      <p:sp>
        <p:nvSpPr>
          <p:cNvPr id="28" name="Rounded Rectangle 27"/>
          <p:cNvSpPr/>
          <p:nvPr/>
        </p:nvSpPr>
        <p:spPr>
          <a:xfrm>
            <a:off x="320040" y="3611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3749040"/>
            <a:ext cx="2651760" cy="640080"/>
          </a:xfrm>
          <a:prstGeom prst="rect">
            <a:avLst/>
          </a:prstGeom>
          <a:noFill/>
        </p:spPr>
        <p:txBody>
          <a:bodyPr wrap="square">
            <a:spAutoFit/>
          </a:bodyPr>
          <a:lstStyle/>
          <a:p>
            <a:pPr algn="ctr"/>
            <a:r>
              <a:rPr sz="1300" b="1">
                <a:solidFill>
                  <a:srgbClr val="009688"/>
                </a:solidFill>
                <a:latin typeface="Calibri"/>
              </a:rPr>
              <a:t>Be a famous singer</a:t>
            </a:r>
          </a:p>
        </p:txBody>
      </p:sp>
      <p:sp>
        <p:nvSpPr>
          <p:cNvPr id="30" name="TextBox 29"/>
          <p:cNvSpPr txBox="1"/>
          <p:nvPr/>
        </p:nvSpPr>
        <p:spPr>
          <a:xfrm>
            <a:off x="411480" y="4480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31" name="TextBox 30"/>
          <p:cNvSpPr txBox="1"/>
          <p:nvPr/>
        </p:nvSpPr>
        <p:spPr>
          <a:xfrm>
            <a:off x="411480" y="4846320"/>
            <a:ext cx="2651760" cy="640080"/>
          </a:xfrm>
          <a:prstGeom prst="rect">
            <a:avLst/>
          </a:prstGeom>
          <a:noFill/>
        </p:spPr>
        <p:txBody>
          <a:bodyPr wrap="square">
            <a:spAutoFit/>
          </a:bodyPr>
          <a:lstStyle/>
          <a:p>
            <a:pPr algn="ctr"/>
            <a:r>
              <a:rPr sz="1300" b="1">
                <a:solidFill>
                  <a:srgbClr val="FF6F61"/>
                </a:solidFill>
                <a:latin typeface="Calibri"/>
              </a:rPr>
              <a:t>Be a game designer</a:t>
            </a:r>
          </a:p>
        </p:txBody>
      </p:sp>
      <p:sp>
        <p:nvSpPr>
          <p:cNvPr id="32" name="Rounded Rectangle 31"/>
          <p:cNvSpPr/>
          <p:nvPr/>
        </p:nvSpPr>
        <p:spPr>
          <a:xfrm>
            <a:off x="3291840" y="3611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83280" y="3749040"/>
            <a:ext cx="2651760" cy="640080"/>
          </a:xfrm>
          <a:prstGeom prst="rect">
            <a:avLst/>
          </a:prstGeom>
          <a:noFill/>
        </p:spPr>
        <p:txBody>
          <a:bodyPr wrap="square">
            <a:spAutoFit/>
          </a:bodyPr>
          <a:lstStyle/>
          <a:p>
            <a:pPr algn="ctr"/>
            <a:r>
              <a:rPr sz="1300" b="1">
                <a:solidFill>
                  <a:srgbClr val="009688"/>
                </a:solidFill>
                <a:latin typeface="Calibri"/>
              </a:rPr>
              <a:t>Explore the ocean</a:t>
            </a:r>
          </a:p>
        </p:txBody>
      </p:sp>
      <p:sp>
        <p:nvSpPr>
          <p:cNvPr id="34" name="TextBox 33"/>
          <p:cNvSpPr txBox="1"/>
          <p:nvPr/>
        </p:nvSpPr>
        <p:spPr>
          <a:xfrm>
            <a:off x="3383280" y="4480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35" name="TextBox 34"/>
          <p:cNvSpPr txBox="1"/>
          <p:nvPr/>
        </p:nvSpPr>
        <p:spPr>
          <a:xfrm>
            <a:off x="3383280" y="4846320"/>
            <a:ext cx="2651760" cy="640080"/>
          </a:xfrm>
          <a:prstGeom prst="rect">
            <a:avLst/>
          </a:prstGeom>
          <a:noFill/>
        </p:spPr>
        <p:txBody>
          <a:bodyPr wrap="square">
            <a:spAutoFit/>
          </a:bodyPr>
          <a:lstStyle/>
          <a:p>
            <a:pPr algn="ctr"/>
            <a:r>
              <a:rPr sz="1300" b="1">
                <a:solidFill>
                  <a:srgbClr val="FF6F61"/>
                </a:solidFill>
                <a:latin typeface="Calibri"/>
              </a:rPr>
              <a:t>Explore outer space</a:t>
            </a:r>
          </a:p>
        </p:txBody>
      </p:sp>
      <p:sp>
        <p:nvSpPr>
          <p:cNvPr id="36" name="Rounded Rectangle 35"/>
          <p:cNvSpPr/>
          <p:nvPr/>
        </p:nvSpPr>
        <p:spPr>
          <a:xfrm>
            <a:off x="6263640" y="3611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55080" y="3749040"/>
            <a:ext cx="2651760" cy="640080"/>
          </a:xfrm>
          <a:prstGeom prst="rect">
            <a:avLst/>
          </a:prstGeom>
          <a:noFill/>
        </p:spPr>
        <p:txBody>
          <a:bodyPr wrap="square">
            <a:spAutoFit/>
          </a:bodyPr>
          <a:lstStyle/>
          <a:p>
            <a:pPr algn="ctr"/>
            <a:r>
              <a:rPr sz="1300" b="1">
                <a:solidFill>
                  <a:srgbClr val="009688"/>
                </a:solidFill>
                <a:latin typeface="Calibri"/>
              </a:rPr>
              <a:t>Have a robot helper</a:t>
            </a:r>
          </a:p>
        </p:txBody>
      </p:sp>
      <p:sp>
        <p:nvSpPr>
          <p:cNvPr id="38" name="TextBox 37"/>
          <p:cNvSpPr txBox="1"/>
          <p:nvPr/>
        </p:nvSpPr>
        <p:spPr>
          <a:xfrm>
            <a:off x="6355080" y="4480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39" name="TextBox 38"/>
          <p:cNvSpPr txBox="1"/>
          <p:nvPr/>
        </p:nvSpPr>
        <p:spPr>
          <a:xfrm>
            <a:off x="6355080" y="4846320"/>
            <a:ext cx="2651760" cy="640080"/>
          </a:xfrm>
          <a:prstGeom prst="rect">
            <a:avLst/>
          </a:prstGeom>
          <a:noFill/>
        </p:spPr>
        <p:txBody>
          <a:bodyPr wrap="square">
            <a:spAutoFit/>
          </a:bodyPr>
          <a:lstStyle/>
          <a:p>
            <a:pPr algn="ctr"/>
            <a:r>
              <a:rPr sz="1300" b="1">
                <a:solidFill>
                  <a:srgbClr val="FF6F61"/>
                </a:solidFill>
                <a:latin typeface="Calibri"/>
              </a:rPr>
              <a:t>Have a magic backpack</a:t>
            </a:r>
          </a:p>
        </p:txBody>
      </p:sp>
      <p:sp>
        <p:nvSpPr>
          <p:cNvPr id="40" name="Rounded Rectangle 39"/>
          <p:cNvSpPr/>
          <p:nvPr/>
        </p:nvSpPr>
        <p:spPr>
          <a:xfrm>
            <a:off x="9235440" y="3611880"/>
            <a:ext cx="283464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0" y="3749040"/>
            <a:ext cx="2651760" cy="640080"/>
          </a:xfrm>
          <a:prstGeom prst="rect">
            <a:avLst/>
          </a:prstGeom>
          <a:noFill/>
        </p:spPr>
        <p:txBody>
          <a:bodyPr wrap="square">
            <a:spAutoFit/>
          </a:bodyPr>
          <a:lstStyle/>
          <a:p>
            <a:pPr algn="ctr"/>
            <a:r>
              <a:rPr sz="1300" b="1">
                <a:solidFill>
                  <a:srgbClr val="009688"/>
                </a:solidFill>
                <a:latin typeface="Calibri"/>
              </a:rPr>
              <a:t>Eat only breakfast</a:t>
            </a:r>
          </a:p>
        </p:txBody>
      </p:sp>
      <p:sp>
        <p:nvSpPr>
          <p:cNvPr id="42" name="TextBox 41"/>
          <p:cNvSpPr txBox="1"/>
          <p:nvPr/>
        </p:nvSpPr>
        <p:spPr>
          <a:xfrm>
            <a:off x="9326880" y="4480560"/>
            <a:ext cx="2651760" cy="274320"/>
          </a:xfrm>
          <a:prstGeom prst="rect">
            <a:avLst/>
          </a:prstGeom>
          <a:noFill/>
        </p:spPr>
        <p:txBody>
          <a:bodyPr wrap="square">
            <a:spAutoFit/>
          </a:bodyPr>
          <a:lstStyle/>
          <a:p>
            <a:pPr algn="ctr"/>
            <a:r>
              <a:rPr sz="1200" b="1">
                <a:solidFill>
                  <a:srgbClr val="64748B"/>
                </a:solidFill>
                <a:latin typeface="Calibri"/>
              </a:rPr>
              <a:t>OR</a:t>
            </a:r>
          </a:p>
        </p:txBody>
      </p:sp>
      <p:sp>
        <p:nvSpPr>
          <p:cNvPr id="43" name="TextBox 42"/>
          <p:cNvSpPr txBox="1"/>
          <p:nvPr/>
        </p:nvSpPr>
        <p:spPr>
          <a:xfrm>
            <a:off x="9326880" y="4846320"/>
            <a:ext cx="2651760" cy="640080"/>
          </a:xfrm>
          <a:prstGeom prst="rect">
            <a:avLst/>
          </a:prstGeom>
          <a:noFill/>
        </p:spPr>
        <p:txBody>
          <a:bodyPr wrap="square">
            <a:spAutoFit/>
          </a:bodyPr>
          <a:lstStyle/>
          <a:p>
            <a:pPr algn="ctr"/>
            <a:r>
              <a:rPr sz="1300" b="1">
                <a:solidFill>
                  <a:srgbClr val="FF6F61"/>
                </a:solidFill>
                <a:latin typeface="Calibri"/>
              </a:rPr>
              <a:t>Eat only dinner</a:t>
            </a:r>
          </a:p>
        </p:txBody>
      </p:sp>
      <p:sp>
        <p:nvSpPr>
          <p:cNvPr id="44" name="TextBox 43"/>
          <p:cNvSpPr txBox="1"/>
          <p:nvPr/>
        </p:nvSpPr>
        <p:spPr>
          <a:xfrm>
            <a:off x="365760" y="5806440"/>
            <a:ext cx="11430000" cy="320040"/>
          </a:xfrm>
          <a:prstGeom prst="rect">
            <a:avLst/>
          </a:prstGeom>
          <a:noFill/>
        </p:spPr>
        <p:txBody>
          <a:bodyPr wrap="square">
            <a:spAutoFit/>
          </a:bodyPr>
          <a:lstStyle/>
          <a:p>
            <a:pPr algn="ctr"/>
            <a:r>
              <a:rPr sz="1400" b="1">
                <a:solidFill>
                  <a:srgbClr val="0A2A6E"/>
                </a:solidFill>
                <a:latin typeface="Calibri"/>
              </a:rPr>
              <a:t>Say: "I would rather ___ because ___"</a:t>
            </a:r>
          </a:p>
        </p:txBody>
      </p:sp>
      <p:sp>
        <p:nvSpPr>
          <p:cNvPr id="45" name="Rounded Rectangle 4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Vocab 10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Vocabulary Warm-Up: Word Hunt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Vocab 10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5/30</a:t>
            </a:r>
          </a:p>
        </p:txBody>
      </p:sp>
      <p:sp>
        <p:nvSpPr>
          <p:cNvPr id="12" name="Rounded Rectangle 11"/>
          <p:cNvSpPr/>
          <p:nvPr/>
        </p:nvSpPr>
        <p:spPr>
          <a:xfrm>
            <a:off x="365760" y="1280160"/>
            <a:ext cx="7315200" cy="48463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417320"/>
            <a:ext cx="6949440" cy="320040"/>
          </a:xfrm>
          <a:prstGeom prst="rect">
            <a:avLst/>
          </a:prstGeom>
          <a:noFill/>
        </p:spPr>
        <p:txBody>
          <a:bodyPr wrap="square">
            <a:spAutoFit/>
          </a:bodyPr>
          <a:lstStyle/>
          <a:p>
            <a:pPr algn="l"/>
            <a:r>
              <a:rPr sz="1600" b="1">
                <a:solidFill>
                  <a:srgbClr val="0A2A6E"/>
                </a:solidFill>
                <a:latin typeface="Calibri"/>
              </a:rPr>
              <a:t>Park Scene — Find the words!</a:t>
            </a:r>
          </a:p>
        </p:txBody>
      </p:sp>
      <p:sp>
        <p:nvSpPr>
          <p:cNvPr id="14" name="TextBox 13"/>
          <p:cNvSpPr txBox="1"/>
          <p:nvPr/>
        </p:nvSpPr>
        <p:spPr>
          <a:xfrm>
            <a:off x="548640" y="1828800"/>
            <a:ext cx="6949440" cy="4114800"/>
          </a:xfrm>
          <a:prstGeom prst="rect">
            <a:avLst/>
          </a:prstGeom>
          <a:noFill/>
        </p:spPr>
        <p:txBody>
          <a:bodyPr wrap="square">
            <a:spAutoFit/>
          </a:bodyPr>
          <a:lstStyle/>
          <a:p>
            <a:pPr algn="ctr"/>
            <a:r>
              <a:rPr sz="2000" b="0">
                <a:solidFill>
                  <a:srgbClr val="1F2937"/>
                </a:solidFill>
                <a:latin typeface="Calibri"/>
              </a:rPr>
              <a:t>🌳 TREE   🪁 KITE   🐿️ SQUIRREL   🌤️ CLOUD
🛝 SLIDE   🌸 FLOWER   🚲 BICYCLE   📖 BOOK
🎒 BACKPACK   🕵️ CLUE   🔍 MYSTERY   🏫 SCHOOL</a:t>
            </a:r>
          </a:p>
        </p:txBody>
      </p:sp>
      <p:sp>
        <p:nvSpPr>
          <p:cNvPr id="15" name="Rounded Rectangle 14"/>
          <p:cNvSpPr/>
          <p:nvPr/>
        </p:nvSpPr>
        <p:spPr>
          <a:xfrm>
            <a:off x="7863840" y="1280160"/>
            <a:ext cx="3931920" cy="4846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1554480"/>
            <a:ext cx="3566160" cy="4389120"/>
          </a:xfrm>
          <a:prstGeom prst="rect">
            <a:avLst/>
          </a:prstGeom>
          <a:noFill/>
        </p:spPr>
        <p:txBody>
          <a:bodyPr wrap="square">
            <a:spAutoFit/>
          </a:bodyPr>
          <a:lstStyle/>
          <a:p>
            <a:pPr>
              <a:spcAft>
                <a:spcPts val="1200"/>
              </a:spcAft>
            </a:pPr>
            <a:r>
              <a:rPr sz="1500" b="0">
                <a:solidFill>
                  <a:srgbClr val="1F2937"/>
                </a:solidFill>
                <a:latin typeface="Calibri"/>
              </a:rPr>
              <a:t>•  Point to 6 hidden words</a:t>
            </a:r>
          </a:p>
          <a:p>
            <a:pPr>
              <a:spcAft>
                <a:spcPts val="1200"/>
              </a:spcAft>
            </a:pPr>
            <a:r>
              <a:rPr sz="1500" b="0">
                <a:solidFill>
                  <a:srgbClr val="1F2937"/>
                </a:solidFill>
                <a:latin typeface="Calibri"/>
              </a:rPr>
              <a:t>•  Say each in a sentence</a:t>
            </a:r>
          </a:p>
          <a:p>
            <a:pPr>
              <a:spcAft>
                <a:spcPts val="1200"/>
              </a:spcAft>
            </a:pPr>
            <a:r>
              <a:rPr sz="1500" b="0">
                <a:solidFill>
                  <a:srgbClr val="1F2937"/>
                </a:solidFill>
                <a:latin typeface="Calibri"/>
              </a:rPr>
              <a:t>•  Bonus: use mystery + clue</a:t>
            </a:r>
          </a:p>
        </p:txBody>
      </p:sp>
      <p:sp>
        <p:nvSpPr>
          <p:cNvPr id="17" name="Rounded Rectangle 16"/>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Reading 20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 The Mystery of the Missing Backpack</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Reading 20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6/30</a:t>
            </a:r>
          </a:p>
        </p:txBody>
      </p:sp>
      <p:sp>
        <p:nvSpPr>
          <p:cNvPr id="12" name="Rounded Rectangle 11"/>
          <p:cNvSpPr/>
          <p:nvPr/>
        </p:nvSpPr>
        <p:spPr>
          <a:xfrm>
            <a:off x="365760" y="1234440"/>
            <a:ext cx="11430000" cy="4892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1371600"/>
            <a:ext cx="2103120" cy="457200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103120"/>
            <a:ext cx="1920240" cy="457200"/>
          </a:xfrm>
          <a:prstGeom prst="rect">
            <a:avLst/>
          </a:prstGeom>
          <a:noFill/>
        </p:spPr>
        <p:txBody>
          <a:bodyPr wrap="square">
            <a:spAutoFit/>
          </a:bodyPr>
          <a:lstStyle/>
          <a:p>
            <a:pPr algn="ctr"/>
            <a:r>
              <a:rPr sz="3600" b="0">
                <a:solidFill>
                  <a:srgbClr val="1F2937"/>
                </a:solidFill>
                <a:latin typeface="Calibri"/>
              </a:rPr>
              <a:t>🎒🔍</a:t>
            </a:r>
          </a:p>
        </p:txBody>
      </p:sp>
      <p:sp>
        <p:nvSpPr>
          <p:cNvPr id="15" name="TextBox 14"/>
          <p:cNvSpPr txBox="1"/>
          <p:nvPr/>
        </p:nvSpPr>
        <p:spPr>
          <a:xfrm>
            <a:off x="594360" y="2926080"/>
            <a:ext cx="1920240" cy="1371600"/>
          </a:xfrm>
          <a:prstGeom prst="rect">
            <a:avLst/>
          </a:prstGeom>
          <a:noFill/>
        </p:spPr>
        <p:txBody>
          <a:bodyPr wrap="square">
            <a:spAutoFit/>
          </a:bodyPr>
          <a:lstStyle/>
          <a:p>
            <a:pPr algn="ctr"/>
            <a:r>
              <a:rPr sz="1300" b="0">
                <a:solidFill>
                  <a:srgbClr val="64748B"/>
                </a:solidFill>
                <a:latin typeface="Calibri"/>
              </a:rPr>
              <a:t>mystery
clues
observation</a:t>
            </a:r>
          </a:p>
        </p:txBody>
      </p:sp>
      <p:sp>
        <p:nvSpPr>
          <p:cNvPr id="16" name="TextBox 15"/>
          <p:cNvSpPr txBox="1"/>
          <p:nvPr/>
        </p:nvSpPr>
        <p:spPr>
          <a:xfrm>
            <a:off x="2788920" y="1417320"/>
            <a:ext cx="8778240" cy="4572000"/>
          </a:xfrm>
          <a:prstGeom prst="rect">
            <a:avLst/>
          </a:prstGeom>
          <a:noFill/>
        </p:spPr>
        <p:txBody>
          <a:bodyPr wrap="square">
            <a:spAutoFit/>
          </a:bodyPr>
          <a:lstStyle/>
          <a:p>
            <a:pPr algn="l"/>
            <a:r>
              <a:rPr sz="1300" b="0">
                <a:solidFill>
                  <a:srgbClr val="1F2937"/>
                </a:solidFill>
                <a:latin typeface="Calibri"/>
              </a:rPr>
              <a:t>On Monday morning, Leo rushed into Oakwood Elementary with his favorite blue backpack swinging at his side. Inside were his math notebook, a shiny pencil case, and a permission slip for the field trip to the science museum.
After lunch, Leo opened his locker and froze. The backpack was gone. Only a crumpled sticky note remained: "Check the reading nook." Leo's heart beat fast. Had someone taken it as a joke?
He searched the hallway, then the library reading nook. Under a beanbag chair, he spotted a corner of blue fabric. His backpack! Beside it sat a note from Ms. Carter: "Found this near the art room. Looks like it slid off the cart during delivery. — Signed, the Mystery Helper."
Leo laughed with relief. He thanked Ms. Carter and promised to clip his bag to the cart next time. That afternoon, his class learned about observation skills. Leo raised his hand and said, "Clues help you solve mysteries—even small ones."
By dismissal, Leo had his backpack, his permission slip, and a new habit: double-checking where he left important things. The mystery was solved, and Leo felt proud.</a:t>
            </a:r>
          </a:p>
        </p:txBody>
      </p:sp>
      <p:sp>
        <p:nvSpPr>
          <p:cNvPr id="17" name="Rounded Rectangle 16"/>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Reading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Read Together + Tricky Words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Reading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7/30</a:t>
            </a:r>
          </a:p>
        </p:txBody>
      </p:sp>
      <p:sp>
        <p:nvSpPr>
          <p:cNvPr id="12" name="Rounded Rectangle 11"/>
          <p:cNvSpPr/>
          <p:nvPr/>
        </p:nvSpPr>
        <p:spPr>
          <a:xfrm>
            <a:off x="365760" y="1371600"/>
            <a:ext cx="370332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1600200"/>
            <a:ext cx="3429000" cy="411480"/>
          </a:xfrm>
          <a:prstGeom prst="rect">
            <a:avLst/>
          </a:prstGeom>
          <a:noFill/>
        </p:spPr>
        <p:txBody>
          <a:bodyPr wrap="square">
            <a:spAutoFit/>
          </a:bodyPr>
          <a:lstStyle/>
          <a:p>
            <a:pPr algn="ctr"/>
            <a:r>
              <a:rPr sz="1800" b="1">
                <a:solidFill>
                  <a:srgbClr val="0A2A6E"/>
                </a:solidFill>
                <a:latin typeface="Calibri"/>
              </a:rPr>
              <a:t>permission</a:t>
            </a:r>
          </a:p>
        </p:txBody>
      </p:sp>
      <p:sp>
        <p:nvSpPr>
          <p:cNvPr id="14" name="TextBox 13"/>
          <p:cNvSpPr txBox="1"/>
          <p:nvPr/>
        </p:nvSpPr>
        <p:spPr>
          <a:xfrm>
            <a:off x="502920" y="2148840"/>
            <a:ext cx="3429000" cy="411480"/>
          </a:xfrm>
          <a:prstGeom prst="rect">
            <a:avLst/>
          </a:prstGeom>
          <a:noFill/>
        </p:spPr>
        <p:txBody>
          <a:bodyPr wrap="square">
            <a:spAutoFit/>
          </a:bodyPr>
          <a:lstStyle/>
          <a:p>
            <a:pPr algn="ctr"/>
            <a:r>
              <a:rPr sz="1400" b="0">
                <a:solidFill>
                  <a:srgbClr val="009688"/>
                </a:solidFill>
                <a:latin typeface="Calibri"/>
              </a:rPr>
              <a:t>per-MISH-un</a:t>
            </a:r>
          </a:p>
        </p:txBody>
      </p:sp>
      <p:sp>
        <p:nvSpPr>
          <p:cNvPr id="15" name="TextBox 14"/>
          <p:cNvSpPr txBox="1"/>
          <p:nvPr/>
        </p:nvSpPr>
        <p:spPr>
          <a:xfrm>
            <a:off x="502920" y="2697480"/>
            <a:ext cx="3429000" cy="411480"/>
          </a:xfrm>
          <a:prstGeom prst="rect">
            <a:avLst/>
          </a:prstGeom>
          <a:noFill/>
        </p:spPr>
        <p:txBody>
          <a:bodyPr wrap="square">
            <a:spAutoFit/>
          </a:bodyPr>
          <a:lstStyle/>
          <a:p>
            <a:pPr algn="ctr"/>
            <a:r>
              <a:rPr sz="1200" b="0">
                <a:solidFill>
                  <a:srgbClr val="64748B"/>
                </a:solidFill>
                <a:latin typeface="Calibri"/>
              </a:rPr>
              <a:t>Listen → Repeat → Use!</a:t>
            </a:r>
          </a:p>
        </p:txBody>
      </p:sp>
      <p:sp>
        <p:nvSpPr>
          <p:cNvPr id="16" name="Rounded Rectangle 15"/>
          <p:cNvSpPr/>
          <p:nvPr/>
        </p:nvSpPr>
        <p:spPr>
          <a:xfrm>
            <a:off x="4297680" y="1371600"/>
            <a:ext cx="370332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4840" y="1600200"/>
            <a:ext cx="3429000" cy="411480"/>
          </a:xfrm>
          <a:prstGeom prst="rect">
            <a:avLst/>
          </a:prstGeom>
          <a:noFill/>
        </p:spPr>
        <p:txBody>
          <a:bodyPr wrap="square">
            <a:spAutoFit/>
          </a:bodyPr>
          <a:lstStyle/>
          <a:p>
            <a:pPr algn="ctr"/>
            <a:r>
              <a:rPr sz="1800" b="1">
                <a:solidFill>
                  <a:srgbClr val="0A2A6E"/>
                </a:solidFill>
                <a:latin typeface="Calibri"/>
              </a:rPr>
              <a:t>observation</a:t>
            </a:r>
          </a:p>
        </p:txBody>
      </p:sp>
      <p:sp>
        <p:nvSpPr>
          <p:cNvPr id="18" name="TextBox 17"/>
          <p:cNvSpPr txBox="1"/>
          <p:nvPr/>
        </p:nvSpPr>
        <p:spPr>
          <a:xfrm>
            <a:off x="4434840" y="2148840"/>
            <a:ext cx="3429000" cy="411480"/>
          </a:xfrm>
          <a:prstGeom prst="rect">
            <a:avLst/>
          </a:prstGeom>
          <a:noFill/>
        </p:spPr>
        <p:txBody>
          <a:bodyPr wrap="square">
            <a:spAutoFit/>
          </a:bodyPr>
          <a:lstStyle/>
          <a:p>
            <a:pPr algn="ctr"/>
            <a:r>
              <a:rPr sz="1400" b="0">
                <a:solidFill>
                  <a:srgbClr val="009688"/>
                </a:solidFill>
                <a:latin typeface="Calibri"/>
              </a:rPr>
              <a:t>ob-ser-VAY-shun</a:t>
            </a:r>
          </a:p>
        </p:txBody>
      </p:sp>
      <p:sp>
        <p:nvSpPr>
          <p:cNvPr id="19" name="TextBox 18"/>
          <p:cNvSpPr txBox="1"/>
          <p:nvPr/>
        </p:nvSpPr>
        <p:spPr>
          <a:xfrm>
            <a:off x="4434840" y="2697480"/>
            <a:ext cx="3429000" cy="411480"/>
          </a:xfrm>
          <a:prstGeom prst="rect">
            <a:avLst/>
          </a:prstGeom>
          <a:noFill/>
        </p:spPr>
        <p:txBody>
          <a:bodyPr wrap="square">
            <a:spAutoFit/>
          </a:bodyPr>
          <a:lstStyle/>
          <a:p>
            <a:pPr algn="ctr"/>
            <a:r>
              <a:rPr sz="1200" b="0">
                <a:solidFill>
                  <a:srgbClr val="64748B"/>
                </a:solidFill>
                <a:latin typeface="Calibri"/>
              </a:rPr>
              <a:t>Listen → Repeat → Use!</a:t>
            </a:r>
          </a:p>
        </p:txBody>
      </p:sp>
      <p:sp>
        <p:nvSpPr>
          <p:cNvPr id="20" name="Rounded Rectangle 19"/>
          <p:cNvSpPr/>
          <p:nvPr/>
        </p:nvSpPr>
        <p:spPr>
          <a:xfrm>
            <a:off x="8229600" y="1371600"/>
            <a:ext cx="370332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600200"/>
            <a:ext cx="3429000" cy="411480"/>
          </a:xfrm>
          <a:prstGeom prst="rect">
            <a:avLst/>
          </a:prstGeom>
          <a:noFill/>
        </p:spPr>
        <p:txBody>
          <a:bodyPr wrap="square">
            <a:spAutoFit/>
          </a:bodyPr>
          <a:lstStyle/>
          <a:p>
            <a:pPr algn="ctr"/>
            <a:r>
              <a:rPr sz="1800" b="1">
                <a:solidFill>
                  <a:srgbClr val="0A2A6E"/>
                </a:solidFill>
                <a:latin typeface="Calibri"/>
              </a:rPr>
              <a:t>crumpled</a:t>
            </a:r>
          </a:p>
        </p:txBody>
      </p:sp>
      <p:sp>
        <p:nvSpPr>
          <p:cNvPr id="22" name="TextBox 21"/>
          <p:cNvSpPr txBox="1"/>
          <p:nvPr/>
        </p:nvSpPr>
        <p:spPr>
          <a:xfrm>
            <a:off x="8366760" y="2148840"/>
            <a:ext cx="3429000" cy="411480"/>
          </a:xfrm>
          <a:prstGeom prst="rect">
            <a:avLst/>
          </a:prstGeom>
          <a:noFill/>
        </p:spPr>
        <p:txBody>
          <a:bodyPr wrap="square">
            <a:spAutoFit/>
          </a:bodyPr>
          <a:lstStyle/>
          <a:p>
            <a:pPr algn="ctr"/>
            <a:r>
              <a:rPr sz="1400" b="0">
                <a:solidFill>
                  <a:srgbClr val="009688"/>
                </a:solidFill>
                <a:latin typeface="Calibri"/>
              </a:rPr>
              <a:t>Krum-pled</a:t>
            </a:r>
          </a:p>
        </p:txBody>
      </p:sp>
      <p:sp>
        <p:nvSpPr>
          <p:cNvPr id="23" name="TextBox 22"/>
          <p:cNvSpPr txBox="1"/>
          <p:nvPr/>
        </p:nvSpPr>
        <p:spPr>
          <a:xfrm>
            <a:off x="8366760" y="2697480"/>
            <a:ext cx="3429000" cy="411480"/>
          </a:xfrm>
          <a:prstGeom prst="rect">
            <a:avLst/>
          </a:prstGeom>
          <a:noFill/>
        </p:spPr>
        <p:txBody>
          <a:bodyPr wrap="square">
            <a:spAutoFit/>
          </a:bodyPr>
          <a:lstStyle/>
          <a:p>
            <a:pPr algn="ctr"/>
            <a:r>
              <a:rPr sz="1200" b="0">
                <a:solidFill>
                  <a:srgbClr val="64748B"/>
                </a:solidFill>
                <a:latin typeface="Calibri"/>
              </a:rPr>
              <a:t>Listen → Repeat → Use!</a:t>
            </a:r>
          </a:p>
        </p:txBody>
      </p:sp>
      <p:sp>
        <p:nvSpPr>
          <p:cNvPr id="24" name="Rounded Rectangle 23"/>
          <p:cNvSpPr/>
          <p:nvPr/>
        </p:nvSpPr>
        <p:spPr>
          <a:xfrm>
            <a:off x="365760" y="3657600"/>
            <a:ext cx="370332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1600200"/>
            <a:ext cx="3429000" cy="411480"/>
          </a:xfrm>
          <a:prstGeom prst="rect">
            <a:avLst/>
          </a:prstGeom>
          <a:noFill/>
        </p:spPr>
        <p:txBody>
          <a:bodyPr wrap="square">
            <a:spAutoFit/>
          </a:bodyPr>
          <a:lstStyle/>
          <a:p>
            <a:pPr algn="ctr"/>
            <a:r>
              <a:rPr sz="1800" b="1">
                <a:solidFill>
                  <a:srgbClr val="0A2A6E"/>
                </a:solidFill>
                <a:latin typeface="Calibri"/>
              </a:rPr>
              <a:t>delivery</a:t>
            </a:r>
          </a:p>
        </p:txBody>
      </p:sp>
      <p:sp>
        <p:nvSpPr>
          <p:cNvPr id="26" name="TextBox 25"/>
          <p:cNvSpPr txBox="1"/>
          <p:nvPr/>
        </p:nvSpPr>
        <p:spPr>
          <a:xfrm>
            <a:off x="502920" y="2148840"/>
            <a:ext cx="3429000" cy="411480"/>
          </a:xfrm>
          <a:prstGeom prst="rect">
            <a:avLst/>
          </a:prstGeom>
          <a:noFill/>
        </p:spPr>
        <p:txBody>
          <a:bodyPr wrap="square">
            <a:spAutoFit/>
          </a:bodyPr>
          <a:lstStyle/>
          <a:p>
            <a:pPr algn="ctr"/>
            <a:r>
              <a:rPr sz="1400" b="0">
                <a:solidFill>
                  <a:srgbClr val="009688"/>
                </a:solidFill>
                <a:latin typeface="Calibri"/>
              </a:rPr>
              <a:t>duh-LIV-er-ee</a:t>
            </a:r>
          </a:p>
        </p:txBody>
      </p:sp>
      <p:sp>
        <p:nvSpPr>
          <p:cNvPr id="27" name="TextBox 26"/>
          <p:cNvSpPr txBox="1"/>
          <p:nvPr/>
        </p:nvSpPr>
        <p:spPr>
          <a:xfrm>
            <a:off x="502920" y="2697480"/>
            <a:ext cx="3429000" cy="411480"/>
          </a:xfrm>
          <a:prstGeom prst="rect">
            <a:avLst/>
          </a:prstGeom>
          <a:noFill/>
        </p:spPr>
        <p:txBody>
          <a:bodyPr wrap="square">
            <a:spAutoFit/>
          </a:bodyPr>
          <a:lstStyle/>
          <a:p>
            <a:pPr algn="ctr"/>
            <a:r>
              <a:rPr sz="1200" b="0">
                <a:solidFill>
                  <a:srgbClr val="64748B"/>
                </a:solidFill>
                <a:latin typeface="Calibri"/>
              </a:rPr>
              <a:t>Listen → Repeat → Use!</a:t>
            </a:r>
          </a:p>
        </p:txBody>
      </p:sp>
      <p:sp>
        <p:nvSpPr>
          <p:cNvPr id="28" name="Rounded Rectangle 27"/>
          <p:cNvSpPr/>
          <p:nvPr/>
        </p:nvSpPr>
        <p:spPr>
          <a:xfrm>
            <a:off x="4297680" y="3657600"/>
            <a:ext cx="370332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34840" y="1600200"/>
            <a:ext cx="3429000" cy="411480"/>
          </a:xfrm>
          <a:prstGeom prst="rect">
            <a:avLst/>
          </a:prstGeom>
          <a:noFill/>
        </p:spPr>
        <p:txBody>
          <a:bodyPr wrap="square">
            <a:spAutoFit/>
          </a:bodyPr>
          <a:lstStyle/>
          <a:p>
            <a:pPr algn="ctr"/>
            <a:r>
              <a:rPr sz="1800" b="1">
                <a:solidFill>
                  <a:srgbClr val="0A2A6E"/>
                </a:solidFill>
                <a:latin typeface="Calibri"/>
              </a:rPr>
              <a:t>dismissal</a:t>
            </a:r>
          </a:p>
        </p:txBody>
      </p:sp>
      <p:sp>
        <p:nvSpPr>
          <p:cNvPr id="30" name="TextBox 29"/>
          <p:cNvSpPr txBox="1"/>
          <p:nvPr/>
        </p:nvSpPr>
        <p:spPr>
          <a:xfrm>
            <a:off x="4434840" y="2148840"/>
            <a:ext cx="3429000" cy="411480"/>
          </a:xfrm>
          <a:prstGeom prst="rect">
            <a:avLst/>
          </a:prstGeom>
          <a:noFill/>
        </p:spPr>
        <p:txBody>
          <a:bodyPr wrap="square">
            <a:spAutoFit/>
          </a:bodyPr>
          <a:lstStyle/>
          <a:p>
            <a:pPr algn="ctr"/>
            <a:r>
              <a:rPr sz="1400" b="0">
                <a:solidFill>
                  <a:srgbClr val="009688"/>
                </a:solidFill>
                <a:latin typeface="Calibri"/>
              </a:rPr>
              <a:t>dis-MIS-ul</a:t>
            </a:r>
          </a:p>
        </p:txBody>
      </p:sp>
      <p:sp>
        <p:nvSpPr>
          <p:cNvPr id="31" name="TextBox 30"/>
          <p:cNvSpPr txBox="1"/>
          <p:nvPr/>
        </p:nvSpPr>
        <p:spPr>
          <a:xfrm>
            <a:off x="4434840" y="2697480"/>
            <a:ext cx="3429000" cy="411480"/>
          </a:xfrm>
          <a:prstGeom prst="rect">
            <a:avLst/>
          </a:prstGeom>
          <a:noFill/>
        </p:spPr>
        <p:txBody>
          <a:bodyPr wrap="square">
            <a:spAutoFit/>
          </a:bodyPr>
          <a:lstStyle/>
          <a:p>
            <a:pPr algn="ctr"/>
            <a:r>
              <a:rPr sz="1200" b="0">
                <a:solidFill>
                  <a:srgbClr val="64748B"/>
                </a:solidFill>
                <a:latin typeface="Calibri"/>
              </a:rPr>
              <a:t>Listen → Repeat → Use!</a:t>
            </a:r>
          </a:p>
        </p:txBody>
      </p:sp>
      <p:sp>
        <p:nvSpPr>
          <p:cNvPr id="32" name="Rounded Rectangle 31"/>
          <p:cNvSpPr/>
          <p:nvPr/>
        </p:nvSpPr>
        <p:spPr>
          <a:xfrm>
            <a:off x="8229600" y="3657600"/>
            <a:ext cx="370332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66760" y="1600200"/>
            <a:ext cx="3429000" cy="411480"/>
          </a:xfrm>
          <a:prstGeom prst="rect">
            <a:avLst/>
          </a:prstGeom>
          <a:noFill/>
        </p:spPr>
        <p:txBody>
          <a:bodyPr wrap="square">
            <a:spAutoFit/>
          </a:bodyPr>
          <a:lstStyle/>
          <a:p>
            <a:pPr algn="ctr"/>
            <a:r>
              <a:rPr sz="1800" b="1">
                <a:solidFill>
                  <a:srgbClr val="0A2A6E"/>
                </a:solidFill>
                <a:latin typeface="Calibri"/>
              </a:rPr>
              <a:t>elementary</a:t>
            </a:r>
          </a:p>
        </p:txBody>
      </p:sp>
      <p:sp>
        <p:nvSpPr>
          <p:cNvPr id="34" name="TextBox 33"/>
          <p:cNvSpPr txBox="1"/>
          <p:nvPr/>
        </p:nvSpPr>
        <p:spPr>
          <a:xfrm>
            <a:off x="8366760" y="2148840"/>
            <a:ext cx="3429000" cy="411480"/>
          </a:xfrm>
          <a:prstGeom prst="rect">
            <a:avLst/>
          </a:prstGeom>
          <a:noFill/>
        </p:spPr>
        <p:txBody>
          <a:bodyPr wrap="square">
            <a:spAutoFit/>
          </a:bodyPr>
          <a:lstStyle/>
          <a:p>
            <a:pPr algn="ctr"/>
            <a:r>
              <a:rPr sz="1400" b="0">
                <a:solidFill>
                  <a:srgbClr val="009688"/>
                </a:solidFill>
                <a:latin typeface="Calibri"/>
              </a:rPr>
              <a:t>el-uh-MEN-tuh-ree</a:t>
            </a:r>
          </a:p>
        </p:txBody>
      </p:sp>
      <p:sp>
        <p:nvSpPr>
          <p:cNvPr id="35" name="TextBox 34"/>
          <p:cNvSpPr txBox="1"/>
          <p:nvPr/>
        </p:nvSpPr>
        <p:spPr>
          <a:xfrm>
            <a:off x="8366760" y="2697480"/>
            <a:ext cx="3429000" cy="411480"/>
          </a:xfrm>
          <a:prstGeom prst="rect">
            <a:avLst/>
          </a:prstGeom>
          <a:noFill/>
        </p:spPr>
        <p:txBody>
          <a:bodyPr wrap="square">
            <a:spAutoFit/>
          </a:bodyPr>
          <a:lstStyle/>
          <a:p>
            <a:pPr algn="ctr"/>
            <a:r>
              <a:rPr sz="1200" b="0">
                <a:solidFill>
                  <a:srgbClr val="64748B"/>
                </a:solidFill>
                <a:latin typeface="Calibri"/>
              </a:rPr>
              <a:t>Listen → Repeat → Use!</a:t>
            </a:r>
          </a:p>
        </p:txBody>
      </p:sp>
      <p:sp>
        <p:nvSpPr>
          <p:cNvPr id="36" name="Rounded Rectangle 35"/>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READING</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Reading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Reading Comprehension (10 Questions)</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Reading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8/30</a:t>
            </a:r>
          </a:p>
        </p:txBody>
      </p:sp>
      <p:sp>
        <p:nvSpPr>
          <p:cNvPr id="12" name="Rounded Rectangle 11"/>
          <p:cNvSpPr/>
          <p:nvPr/>
        </p:nvSpPr>
        <p:spPr>
          <a:xfrm>
            <a:off x="320040" y="1234440"/>
            <a:ext cx="566928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417320"/>
            <a:ext cx="5486400" cy="594360"/>
          </a:xfrm>
          <a:prstGeom prst="rect">
            <a:avLst/>
          </a:prstGeom>
          <a:noFill/>
        </p:spPr>
        <p:txBody>
          <a:bodyPr wrap="square">
            <a:spAutoFit/>
          </a:bodyPr>
          <a:lstStyle/>
          <a:p>
            <a:pPr algn="l"/>
            <a:r>
              <a:rPr sz="1100" b="0">
                <a:solidFill>
                  <a:srgbClr val="1F2937"/>
                </a:solidFill>
                <a:latin typeface="Calibri"/>
              </a:rPr>
              <a:t>1. MCQ: Where does Leo go to school? A) Oakwood B) Maple C) River</a:t>
            </a:r>
          </a:p>
        </p:txBody>
      </p:sp>
      <p:sp>
        <p:nvSpPr>
          <p:cNvPr id="14" name="Rounded Rectangle 13"/>
          <p:cNvSpPr/>
          <p:nvPr/>
        </p:nvSpPr>
        <p:spPr>
          <a:xfrm>
            <a:off x="320040" y="2194560"/>
            <a:ext cx="5669280" cy="86868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5486400" cy="594360"/>
          </a:xfrm>
          <a:prstGeom prst="rect">
            <a:avLst/>
          </a:prstGeom>
          <a:noFill/>
        </p:spPr>
        <p:txBody>
          <a:bodyPr wrap="square">
            <a:spAutoFit/>
          </a:bodyPr>
          <a:lstStyle/>
          <a:p>
            <a:pPr algn="l"/>
            <a:r>
              <a:rPr sz="1100" b="0">
                <a:solidFill>
                  <a:srgbClr val="1F2937"/>
                </a:solidFill>
                <a:latin typeface="Calibri"/>
              </a:rPr>
              <a:t>2. MCQ: What color is the backpack? A) Red B) Blue C) Green</a:t>
            </a:r>
          </a:p>
        </p:txBody>
      </p:sp>
      <p:sp>
        <p:nvSpPr>
          <p:cNvPr id="16" name="Rounded Rectangle 15"/>
          <p:cNvSpPr/>
          <p:nvPr/>
        </p:nvSpPr>
        <p:spPr>
          <a:xfrm>
            <a:off x="320040" y="3154680"/>
            <a:ext cx="566928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337560"/>
            <a:ext cx="5486400" cy="594360"/>
          </a:xfrm>
          <a:prstGeom prst="rect">
            <a:avLst/>
          </a:prstGeom>
          <a:noFill/>
        </p:spPr>
        <p:txBody>
          <a:bodyPr wrap="square">
            <a:spAutoFit/>
          </a:bodyPr>
          <a:lstStyle/>
          <a:p>
            <a:pPr algn="l"/>
            <a:r>
              <a:rPr sz="1100" b="0">
                <a:solidFill>
                  <a:srgbClr val="1F2937"/>
                </a:solidFill>
                <a:latin typeface="Calibri"/>
              </a:rPr>
              <a:t>3. T/F: Leo lost his backpack after lunch.</a:t>
            </a:r>
          </a:p>
        </p:txBody>
      </p:sp>
      <p:sp>
        <p:nvSpPr>
          <p:cNvPr id="18" name="Rounded Rectangle 17"/>
          <p:cNvSpPr/>
          <p:nvPr/>
        </p:nvSpPr>
        <p:spPr>
          <a:xfrm>
            <a:off x="320040" y="4114800"/>
            <a:ext cx="5669280" cy="86868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297680"/>
            <a:ext cx="5486400" cy="594360"/>
          </a:xfrm>
          <a:prstGeom prst="rect">
            <a:avLst/>
          </a:prstGeom>
          <a:noFill/>
        </p:spPr>
        <p:txBody>
          <a:bodyPr wrap="square">
            <a:spAutoFit/>
          </a:bodyPr>
          <a:lstStyle/>
          <a:p>
            <a:pPr algn="l"/>
            <a:r>
              <a:rPr sz="1100" b="0">
                <a:solidFill>
                  <a:srgbClr val="1F2937"/>
                </a:solidFill>
                <a:latin typeface="Calibri"/>
              </a:rPr>
              <a:t>4. T/F: Ms. Carter wrote the sticky note in the hallway locker.</a:t>
            </a:r>
          </a:p>
        </p:txBody>
      </p:sp>
      <p:sp>
        <p:nvSpPr>
          <p:cNvPr id="20" name="Rounded Rectangle 19"/>
          <p:cNvSpPr/>
          <p:nvPr/>
        </p:nvSpPr>
        <p:spPr>
          <a:xfrm>
            <a:off x="320040" y="5074920"/>
            <a:ext cx="566928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257800"/>
            <a:ext cx="5486400" cy="594360"/>
          </a:xfrm>
          <a:prstGeom prst="rect">
            <a:avLst/>
          </a:prstGeom>
          <a:noFill/>
        </p:spPr>
        <p:txBody>
          <a:bodyPr wrap="square">
            <a:spAutoFit/>
          </a:bodyPr>
          <a:lstStyle/>
          <a:p>
            <a:pPr algn="l"/>
            <a:r>
              <a:rPr sz="1100" b="0">
                <a:solidFill>
                  <a:srgbClr val="1F2937"/>
                </a:solidFill>
                <a:latin typeface="Calibri"/>
              </a:rPr>
              <a:t>5. Short: What was inside the backpack?</a:t>
            </a:r>
          </a:p>
        </p:txBody>
      </p:sp>
      <p:sp>
        <p:nvSpPr>
          <p:cNvPr id="22" name="Rounded Rectangle 21"/>
          <p:cNvSpPr/>
          <p:nvPr/>
        </p:nvSpPr>
        <p:spPr>
          <a:xfrm>
            <a:off x="6126480" y="1234440"/>
            <a:ext cx="5806440" cy="86868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3640" y="1417320"/>
            <a:ext cx="5486400" cy="594360"/>
          </a:xfrm>
          <a:prstGeom prst="rect">
            <a:avLst/>
          </a:prstGeom>
          <a:noFill/>
        </p:spPr>
        <p:txBody>
          <a:bodyPr wrap="square">
            <a:spAutoFit/>
          </a:bodyPr>
          <a:lstStyle/>
          <a:p>
            <a:pPr algn="l"/>
            <a:r>
              <a:rPr sz="1100" b="0">
                <a:solidFill>
                  <a:srgbClr val="1F2937"/>
                </a:solidFill>
                <a:latin typeface="Calibri"/>
              </a:rPr>
              <a:t>6. Short: Where was the backpack found?</a:t>
            </a:r>
          </a:p>
        </p:txBody>
      </p:sp>
      <p:sp>
        <p:nvSpPr>
          <p:cNvPr id="24" name="Rounded Rectangle 23"/>
          <p:cNvSpPr/>
          <p:nvPr/>
        </p:nvSpPr>
        <p:spPr>
          <a:xfrm>
            <a:off x="6126480" y="2194560"/>
            <a:ext cx="5806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63640" y="2377440"/>
            <a:ext cx="5486400" cy="594360"/>
          </a:xfrm>
          <a:prstGeom prst="rect">
            <a:avLst/>
          </a:prstGeom>
          <a:noFill/>
        </p:spPr>
        <p:txBody>
          <a:bodyPr wrap="square">
            <a:spAutoFit/>
          </a:bodyPr>
          <a:lstStyle/>
          <a:p>
            <a:pPr algn="l"/>
            <a:r>
              <a:rPr sz="1100" b="0">
                <a:solidFill>
                  <a:srgbClr val="1F2937"/>
                </a:solidFill>
                <a:latin typeface="Calibri"/>
              </a:rPr>
              <a:t>7. Inference: Why did Leo feel proud at the end?</a:t>
            </a:r>
          </a:p>
        </p:txBody>
      </p:sp>
      <p:sp>
        <p:nvSpPr>
          <p:cNvPr id="26" name="Rounded Rectangle 25"/>
          <p:cNvSpPr/>
          <p:nvPr/>
        </p:nvSpPr>
        <p:spPr>
          <a:xfrm>
            <a:off x="6126480" y="3154680"/>
            <a:ext cx="5806440" cy="86868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337560"/>
            <a:ext cx="5486400" cy="594360"/>
          </a:xfrm>
          <a:prstGeom prst="rect">
            <a:avLst/>
          </a:prstGeom>
          <a:noFill/>
        </p:spPr>
        <p:txBody>
          <a:bodyPr wrap="square">
            <a:spAutoFit/>
          </a:bodyPr>
          <a:lstStyle/>
          <a:p>
            <a:pPr algn="l"/>
            <a:r>
              <a:rPr sz="1100" b="0">
                <a:solidFill>
                  <a:srgbClr val="1F2937"/>
                </a:solidFill>
                <a:latin typeface="Calibri"/>
              </a:rPr>
              <a:t>8. Opinion: Was the Mystery Helper kind? Why?</a:t>
            </a:r>
          </a:p>
        </p:txBody>
      </p:sp>
      <p:sp>
        <p:nvSpPr>
          <p:cNvPr id="28" name="Rounded Rectangle 27"/>
          <p:cNvSpPr/>
          <p:nvPr/>
        </p:nvSpPr>
        <p:spPr>
          <a:xfrm>
            <a:off x="6126480" y="4114800"/>
            <a:ext cx="580644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4297680"/>
            <a:ext cx="5486400" cy="594360"/>
          </a:xfrm>
          <a:prstGeom prst="rect">
            <a:avLst/>
          </a:prstGeom>
          <a:noFill/>
        </p:spPr>
        <p:txBody>
          <a:bodyPr wrap="square">
            <a:spAutoFit/>
          </a:bodyPr>
          <a:lstStyle/>
          <a:p>
            <a:pPr algn="l"/>
            <a:r>
              <a:rPr sz="1100" b="0">
                <a:solidFill>
                  <a:srgbClr val="1F2937"/>
                </a:solidFill>
                <a:latin typeface="Calibri"/>
              </a:rPr>
              <a:t>9. Vocab: "Crumpled" means… A) smooth B) wrinkled C) colorful</a:t>
            </a:r>
          </a:p>
        </p:txBody>
      </p:sp>
      <p:sp>
        <p:nvSpPr>
          <p:cNvPr id="30" name="Rounded Rectangle 29"/>
          <p:cNvSpPr/>
          <p:nvPr/>
        </p:nvSpPr>
        <p:spPr>
          <a:xfrm>
            <a:off x="6126480" y="5074920"/>
            <a:ext cx="5806440" cy="86868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63640" y="5257800"/>
            <a:ext cx="5486400" cy="594360"/>
          </a:xfrm>
          <a:prstGeom prst="rect">
            <a:avLst/>
          </a:prstGeom>
          <a:noFill/>
        </p:spPr>
        <p:txBody>
          <a:bodyPr wrap="square">
            <a:spAutoFit/>
          </a:bodyPr>
          <a:lstStyle/>
          <a:p>
            <a:pPr algn="l"/>
            <a:r>
              <a:rPr sz="1100" b="0">
                <a:solidFill>
                  <a:srgbClr val="1F2937"/>
                </a:solidFill>
                <a:latin typeface="Calibri"/>
              </a:rPr>
              <a:t>10. Sequence: Put in order: found note → searched nook → opened locker</a:t>
            </a:r>
          </a:p>
        </p:txBody>
      </p:sp>
      <p:sp>
        <p:nvSpPr>
          <p:cNvPr id="32" name="Rounded Rectangle 31"/>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SPEAKING</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Speaking 10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Speaking Challenge: Retell the Mystery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Speaking 10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9/30</a:t>
            </a:r>
          </a:p>
        </p:txBody>
      </p:sp>
      <p:sp>
        <p:nvSpPr>
          <p:cNvPr id="12" name="Rounded Rectangle 11"/>
          <p:cNvSpPr/>
          <p:nvPr/>
        </p:nvSpPr>
        <p:spPr>
          <a:xfrm>
            <a:off x="365760" y="1371600"/>
            <a:ext cx="37033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783080" y="1600200"/>
            <a:ext cx="868680" cy="86868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83080" y="1783080"/>
            <a:ext cx="868680" cy="502920"/>
          </a:xfrm>
          <a:prstGeom prst="rect">
            <a:avLst/>
          </a:prstGeom>
          <a:noFill/>
        </p:spPr>
        <p:txBody>
          <a:bodyPr wrap="square">
            <a:spAutoFit/>
          </a:bodyPr>
          <a:lstStyle/>
          <a:p>
            <a:pPr algn="ctr"/>
            <a:r>
              <a:rPr sz="2000" b="1">
                <a:solidFill>
                  <a:srgbClr val="FFFFFF"/>
                </a:solidFill>
                <a:latin typeface="Calibri"/>
              </a:rPr>
              <a:t>1</a:t>
            </a:r>
          </a:p>
        </p:txBody>
      </p:sp>
      <p:sp>
        <p:nvSpPr>
          <p:cNvPr id="15" name="TextBox 14"/>
          <p:cNvSpPr txBox="1"/>
          <p:nvPr/>
        </p:nvSpPr>
        <p:spPr>
          <a:xfrm>
            <a:off x="548640" y="2697480"/>
            <a:ext cx="3337560" cy="457200"/>
          </a:xfrm>
          <a:prstGeom prst="rect">
            <a:avLst/>
          </a:prstGeom>
          <a:noFill/>
        </p:spPr>
        <p:txBody>
          <a:bodyPr wrap="square">
            <a:spAutoFit/>
          </a:bodyPr>
          <a:lstStyle/>
          <a:p>
            <a:pPr algn="ctr"/>
            <a:r>
              <a:rPr sz="1600" b="1">
                <a:solidFill>
                  <a:srgbClr val="0A2A6E"/>
                </a:solidFill>
                <a:latin typeface="Calibri"/>
              </a:rPr>
              <a:t>Who?</a:t>
            </a:r>
          </a:p>
        </p:txBody>
      </p:sp>
      <p:sp>
        <p:nvSpPr>
          <p:cNvPr id="16" name="Rounded Rectangle 15"/>
          <p:cNvSpPr/>
          <p:nvPr/>
        </p:nvSpPr>
        <p:spPr>
          <a:xfrm>
            <a:off x="4251960" y="1371600"/>
            <a:ext cx="37033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69280" y="1600200"/>
            <a:ext cx="868680" cy="86868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0" y="1783080"/>
            <a:ext cx="868680" cy="502920"/>
          </a:xfrm>
          <a:prstGeom prst="rect">
            <a:avLst/>
          </a:prstGeom>
          <a:noFill/>
        </p:spPr>
        <p:txBody>
          <a:bodyPr wrap="square">
            <a:spAutoFit/>
          </a:bodyPr>
          <a:lstStyle/>
          <a:p>
            <a:pPr algn="ctr"/>
            <a:r>
              <a:rPr sz="2000" b="1">
                <a:solidFill>
                  <a:srgbClr val="FFFFFF"/>
                </a:solidFill>
                <a:latin typeface="Calibri"/>
              </a:rPr>
              <a:t>2</a:t>
            </a:r>
          </a:p>
        </p:txBody>
      </p:sp>
      <p:sp>
        <p:nvSpPr>
          <p:cNvPr id="19" name="TextBox 18"/>
          <p:cNvSpPr txBox="1"/>
          <p:nvPr/>
        </p:nvSpPr>
        <p:spPr>
          <a:xfrm>
            <a:off x="4434840" y="2697480"/>
            <a:ext cx="3337560" cy="457200"/>
          </a:xfrm>
          <a:prstGeom prst="rect">
            <a:avLst/>
          </a:prstGeom>
          <a:noFill/>
        </p:spPr>
        <p:txBody>
          <a:bodyPr wrap="square">
            <a:spAutoFit/>
          </a:bodyPr>
          <a:lstStyle/>
          <a:p>
            <a:pPr algn="ctr"/>
            <a:r>
              <a:rPr sz="1600" b="1">
                <a:solidFill>
                  <a:srgbClr val="0A2A6E"/>
                </a:solidFill>
                <a:latin typeface="Calibri"/>
              </a:rPr>
              <a:t>What happened?</a:t>
            </a:r>
          </a:p>
        </p:txBody>
      </p:sp>
      <p:sp>
        <p:nvSpPr>
          <p:cNvPr id="20" name="Rounded Rectangle 19"/>
          <p:cNvSpPr/>
          <p:nvPr/>
        </p:nvSpPr>
        <p:spPr>
          <a:xfrm>
            <a:off x="8138160" y="1371600"/>
            <a:ext cx="37033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555480" y="1600200"/>
            <a:ext cx="868680" cy="86868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55480" y="1783080"/>
            <a:ext cx="868680" cy="502920"/>
          </a:xfrm>
          <a:prstGeom prst="rect">
            <a:avLst/>
          </a:prstGeom>
          <a:noFill/>
        </p:spPr>
        <p:txBody>
          <a:bodyPr wrap="square">
            <a:spAutoFit/>
          </a:bodyPr>
          <a:lstStyle/>
          <a:p>
            <a:pPr algn="ctr"/>
            <a:r>
              <a:rPr sz="2000" b="1">
                <a:solidFill>
                  <a:srgbClr val="FFFFFF"/>
                </a:solidFill>
                <a:latin typeface="Calibri"/>
              </a:rPr>
              <a:t>3</a:t>
            </a:r>
          </a:p>
        </p:txBody>
      </p:sp>
      <p:sp>
        <p:nvSpPr>
          <p:cNvPr id="23" name="TextBox 22"/>
          <p:cNvSpPr txBox="1"/>
          <p:nvPr/>
        </p:nvSpPr>
        <p:spPr>
          <a:xfrm>
            <a:off x="8321040" y="2697480"/>
            <a:ext cx="3337560" cy="457200"/>
          </a:xfrm>
          <a:prstGeom prst="rect">
            <a:avLst/>
          </a:prstGeom>
          <a:noFill/>
        </p:spPr>
        <p:txBody>
          <a:bodyPr wrap="square">
            <a:spAutoFit/>
          </a:bodyPr>
          <a:lstStyle/>
          <a:p>
            <a:pPr algn="ctr"/>
            <a:r>
              <a:rPr sz="1600" b="1">
                <a:solidFill>
                  <a:srgbClr val="0A2A6E"/>
                </a:solidFill>
                <a:latin typeface="Calibri"/>
              </a:rPr>
              <a:t>Problem?</a:t>
            </a:r>
          </a:p>
        </p:txBody>
      </p:sp>
      <p:sp>
        <p:nvSpPr>
          <p:cNvPr id="24" name="Rounded Rectangle 23"/>
          <p:cNvSpPr/>
          <p:nvPr/>
        </p:nvSpPr>
        <p:spPr>
          <a:xfrm>
            <a:off x="365760" y="3566160"/>
            <a:ext cx="37033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783080" y="1600200"/>
            <a:ext cx="868680" cy="86868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83080" y="1783080"/>
            <a:ext cx="868680" cy="502920"/>
          </a:xfrm>
          <a:prstGeom prst="rect">
            <a:avLst/>
          </a:prstGeom>
          <a:noFill/>
        </p:spPr>
        <p:txBody>
          <a:bodyPr wrap="square">
            <a:spAutoFit/>
          </a:bodyPr>
          <a:lstStyle/>
          <a:p>
            <a:pPr algn="ctr"/>
            <a:r>
              <a:rPr sz="2000" b="1">
                <a:solidFill>
                  <a:srgbClr val="FFFFFF"/>
                </a:solidFill>
                <a:latin typeface="Calibri"/>
              </a:rPr>
              <a:t>4</a:t>
            </a:r>
          </a:p>
        </p:txBody>
      </p:sp>
      <p:sp>
        <p:nvSpPr>
          <p:cNvPr id="27" name="TextBox 26"/>
          <p:cNvSpPr txBox="1"/>
          <p:nvPr/>
        </p:nvSpPr>
        <p:spPr>
          <a:xfrm>
            <a:off x="548640" y="2697480"/>
            <a:ext cx="3337560" cy="457200"/>
          </a:xfrm>
          <a:prstGeom prst="rect">
            <a:avLst/>
          </a:prstGeom>
          <a:noFill/>
        </p:spPr>
        <p:txBody>
          <a:bodyPr wrap="square">
            <a:spAutoFit/>
          </a:bodyPr>
          <a:lstStyle/>
          <a:p>
            <a:pPr algn="ctr"/>
            <a:r>
              <a:rPr sz="1600" b="1">
                <a:solidFill>
                  <a:srgbClr val="0A2A6E"/>
                </a:solidFill>
                <a:latin typeface="Calibri"/>
              </a:rPr>
              <a:t>Clues?</a:t>
            </a:r>
          </a:p>
        </p:txBody>
      </p:sp>
      <p:sp>
        <p:nvSpPr>
          <p:cNvPr id="28" name="Rounded Rectangle 27"/>
          <p:cNvSpPr/>
          <p:nvPr/>
        </p:nvSpPr>
        <p:spPr>
          <a:xfrm>
            <a:off x="4251960" y="3566160"/>
            <a:ext cx="37033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669280" y="1600200"/>
            <a:ext cx="868680" cy="86868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0" y="1783080"/>
            <a:ext cx="868680" cy="502920"/>
          </a:xfrm>
          <a:prstGeom prst="rect">
            <a:avLst/>
          </a:prstGeom>
          <a:noFill/>
        </p:spPr>
        <p:txBody>
          <a:bodyPr wrap="square">
            <a:spAutoFit/>
          </a:bodyPr>
          <a:lstStyle/>
          <a:p>
            <a:pPr algn="ctr"/>
            <a:r>
              <a:rPr sz="2000" b="1">
                <a:solidFill>
                  <a:srgbClr val="FFFFFF"/>
                </a:solidFill>
                <a:latin typeface="Calibri"/>
              </a:rPr>
              <a:t>5</a:t>
            </a:r>
          </a:p>
        </p:txBody>
      </p:sp>
      <p:sp>
        <p:nvSpPr>
          <p:cNvPr id="31" name="TextBox 30"/>
          <p:cNvSpPr txBox="1"/>
          <p:nvPr/>
        </p:nvSpPr>
        <p:spPr>
          <a:xfrm>
            <a:off x="4434840" y="2697480"/>
            <a:ext cx="3337560" cy="457200"/>
          </a:xfrm>
          <a:prstGeom prst="rect">
            <a:avLst/>
          </a:prstGeom>
          <a:noFill/>
        </p:spPr>
        <p:txBody>
          <a:bodyPr wrap="square">
            <a:spAutoFit/>
          </a:bodyPr>
          <a:lstStyle/>
          <a:p>
            <a:pPr algn="ctr"/>
            <a:r>
              <a:rPr sz="1600" b="1">
                <a:solidFill>
                  <a:srgbClr val="0A2A6E"/>
                </a:solidFill>
                <a:latin typeface="Calibri"/>
              </a:rPr>
              <a:t>Solution?</a:t>
            </a:r>
          </a:p>
        </p:txBody>
      </p:sp>
      <p:sp>
        <p:nvSpPr>
          <p:cNvPr id="32" name="Rounded Rectangle 31"/>
          <p:cNvSpPr/>
          <p:nvPr/>
        </p:nvSpPr>
        <p:spPr>
          <a:xfrm>
            <a:off x="8138160" y="3566160"/>
            <a:ext cx="370332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555480" y="1600200"/>
            <a:ext cx="868680" cy="86868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55480" y="1783080"/>
            <a:ext cx="868680" cy="502920"/>
          </a:xfrm>
          <a:prstGeom prst="rect">
            <a:avLst/>
          </a:prstGeom>
          <a:noFill/>
        </p:spPr>
        <p:txBody>
          <a:bodyPr wrap="square">
            <a:spAutoFit/>
          </a:bodyPr>
          <a:lstStyle/>
          <a:p>
            <a:pPr algn="ctr"/>
            <a:r>
              <a:rPr sz="2000" b="1">
                <a:solidFill>
                  <a:srgbClr val="FFFFFF"/>
                </a:solidFill>
                <a:latin typeface="Calibri"/>
              </a:rPr>
              <a:t>6</a:t>
            </a:r>
          </a:p>
        </p:txBody>
      </p:sp>
      <p:sp>
        <p:nvSpPr>
          <p:cNvPr id="35" name="TextBox 34"/>
          <p:cNvSpPr txBox="1"/>
          <p:nvPr/>
        </p:nvSpPr>
        <p:spPr>
          <a:xfrm>
            <a:off x="8321040" y="2697480"/>
            <a:ext cx="3337560" cy="457200"/>
          </a:xfrm>
          <a:prstGeom prst="rect">
            <a:avLst/>
          </a:prstGeom>
          <a:noFill/>
        </p:spPr>
        <p:txBody>
          <a:bodyPr wrap="square">
            <a:spAutoFit/>
          </a:bodyPr>
          <a:lstStyle/>
          <a:p>
            <a:pPr algn="ctr"/>
            <a:r>
              <a:rPr sz="1600" b="1">
                <a:solidFill>
                  <a:srgbClr val="0A2A6E"/>
                </a:solidFill>
                <a:latin typeface="Calibri"/>
              </a:rPr>
              <a:t>Lesson?</a:t>
            </a:r>
          </a:p>
        </p:txBody>
      </p:sp>
      <p:sp>
        <p:nvSpPr>
          <p:cNvPr id="36" name="Rounded Rectangle 35"/>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 25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Grammar: Tenses Time Machine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Grammar 25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10/30</a:t>
            </a:r>
          </a:p>
        </p:txBody>
      </p:sp>
      <p:sp>
        <p:nvSpPr>
          <p:cNvPr id="12" name="Rounded Rectangle 11"/>
          <p:cNvSpPr/>
          <p:nvPr/>
        </p:nvSpPr>
        <p:spPr>
          <a:xfrm>
            <a:off x="320040" y="1325880"/>
            <a:ext cx="283464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0040" y="1325880"/>
            <a:ext cx="2834640" cy="9144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1417320"/>
            <a:ext cx="2834640" cy="320040"/>
          </a:xfrm>
          <a:prstGeom prst="rect">
            <a:avLst/>
          </a:prstGeom>
          <a:noFill/>
        </p:spPr>
        <p:txBody>
          <a:bodyPr wrap="square">
            <a:spAutoFit/>
          </a:bodyPr>
          <a:lstStyle/>
          <a:p>
            <a:pPr algn="ctr"/>
            <a:r>
              <a:rPr sz="2200" b="0">
                <a:solidFill>
                  <a:srgbClr val="1F2937"/>
                </a:solidFill>
                <a:latin typeface="Calibri"/>
              </a:rPr>
              <a:t>🎬</a:t>
            </a:r>
          </a:p>
        </p:txBody>
      </p:sp>
      <p:sp>
        <p:nvSpPr>
          <p:cNvPr id="15" name="TextBox 14"/>
          <p:cNvSpPr txBox="1"/>
          <p:nvPr/>
        </p:nvSpPr>
        <p:spPr>
          <a:xfrm>
            <a:off x="411480" y="1874519"/>
            <a:ext cx="2651760" cy="502920"/>
          </a:xfrm>
          <a:prstGeom prst="rect">
            <a:avLst/>
          </a:prstGeom>
          <a:noFill/>
        </p:spPr>
        <p:txBody>
          <a:bodyPr wrap="square">
            <a:spAutoFit/>
          </a:bodyPr>
          <a:lstStyle/>
          <a:p>
            <a:pPr algn="ctr"/>
            <a:r>
              <a:rPr sz="1400" b="1">
                <a:solidFill>
                  <a:srgbClr val="FFFFFF"/>
                </a:solidFill>
                <a:latin typeface="Calibri"/>
              </a:rPr>
              <a:t>Present Simple</a:t>
            </a:r>
          </a:p>
        </p:txBody>
      </p:sp>
      <p:sp>
        <p:nvSpPr>
          <p:cNvPr id="16" name="TextBox 15"/>
          <p:cNvSpPr txBox="1"/>
          <p:nvPr/>
        </p:nvSpPr>
        <p:spPr>
          <a:xfrm>
            <a:off x="457200" y="2606040"/>
            <a:ext cx="2560320" cy="411480"/>
          </a:xfrm>
          <a:prstGeom prst="rect">
            <a:avLst/>
          </a:prstGeom>
          <a:noFill/>
        </p:spPr>
        <p:txBody>
          <a:bodyPr wrap="square">
            <a:spAutoFit/>
          </a:bodyPr>
          <a:lstStyle/>
          <a:p>
            <a:pPr algn="ctr"/>
            <a:r>
              <a:rPr sz="1300" b="1">
                <a:solidFill>
                  <a:srgbClr val="0A2A6E"/>
                </a:solidFill>
                <a:latin typeface="Calibri"/>
              </a:rPr>
              <a:t>Every day</a:t>
            </a:r>
          </a:p>
        </p:txBody>
      </p:sp>
      <p:sp>
        <p:nvSpPr>
          <p:cNvPr id="17" name="TextBox 16"/>
          <p:cNvSpPr txBox="1"/>
          <p:nvPr/>
        </p:nvSpPr>
        <p:spPr>
          <a:xfrm>
            <a:off x="457200" y="3154680"/>
            <a:ext cx="2560320" cy="1097280"/>
          </a:xfrm>
          <a:prstGeom prst="rect">
            <a:avLst/>
          </a:prstGeom>
          <a:noFill/>
        </p:spPr>
        <p:txBody>
          <a:bodyPr wrap="square">
            <a:spAutoFit/>
          </a:bodyPr>
          <a:lstStyle/>
          <a:p>
            <a:pPr algn="ctr"/>
            <a:r>
              <a:rPr sz="1400" b="0">
                <a:solidFill>
                  <a:srgbClr val="1F2937"/>
                </a:solidFill>
                <a:latin typeface="Calibri"/>
              </a:rPr>
              <a:t>Leo checks his backpack.</a:t>
            </a:r>
          </a:p>
        </p:txBody>
      </p:sp>
      <p:sp>
        <p:nvSpPr>
          <p:cNvPr id="18" name="Rounded Rectangle 17"/>
          <p:cNvSpPr/>
          <p:nvPr/>
        </p:nvSpPr>
        <p:spPr>
          <a:xfrm>
            <a:off x="3291840" y="1325880"/>
            <a:ext cx="283464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91840" y="1325880"/>
            <a:ext cx="2834640" cy="9144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1417320"/>
            <a:ext cx="2834640" cy="320040"/>
          </a:xfrm>
          <a:prstGeom prst="rect">
            <a:avLst/>
          </a:prstGeom>
          <a:noFill/>
        </p:spPr>
        <p:txBody>
          <a:bodyPr wrap="square">
            <a:spAutoFit/>
          </a:bodyPr>
          <a:lstStyle/>
          <a:p>
            <a:pPr algn="ctr"/>
            <a:r>
              <a:rPr sz="2200" b="0">
                <a:solidFill>
                  <a:srgbClr val="1F2937"/>
                </a:solidFill>
                <a:latin typeface="Calibri"/>
              </a:rPr>
              <a:t>🎬</a:t>
            </a:r>
          </a:p>
        </p:txBody>
      </p:sp>
      <p:sp>
        <p:nvSpPr>
          <p:cNvPr id="21" name="TextBox 20"/>
          <p:cNvSpPr txBox="1"/>
          <p:nvPr/>
        </p:nvSpPr>
        <p:spPr>
          <a:xfrm>
            <a:off x="3383280" y="1874519"/>
            <a:ext cx="2651760" cy="502920"/>
          </a:xfrm>
          <a:prstGeom prst="rect">
            <a:avLst/>
          </a:prstGeom>
          <a:noFill/>
        </p:spPr>
        <p:txBody>
          <a:bodyPr wrap="square">
            <a:spAutoFit/>
          </a:bodyPr>
          <a:lstStyle/>
          <a:p>
            <a:pPr algn="ctr"/>
            <a:r>
              <a:rPr sz="1400" b="1">
                <a:solidFill>
                  <a:srgbClr val="FFFFFF"/>
                </a:solidFill>
                <a:latin typeface="Calibri"/>
              </a:rPr>
              <a:t>Present Continuous</a:t>
            </a:r>
          </a:p>
        </p:txBody>
      </p:sp>
      <p:sp>
        <p:nvSpPr>
          <p:cNvPr id="22" name="TextBox 21"/>
          <p:cNvSpPr txBox="1"/>
          <p:nvPr/>
        </p:nvSpPr>
        <p:spPr>
          <a:xfrm>
            <a:off x="3429000" y="2606040"/>
            <a:ext cx="2560320" cy="411480"/>
          </a:xfrm>
          <a:prstGeom prst="rect">
            <a:avLst/>
          </a:prstGeom>
          <a:noFill/>
        </p:spPr>
        <p:txBody>
          <a:bodyPr wrap="square">
            <a:spAutoFit/>
          </a:bodyPr>
          <a:lstStyle/>
          <a:p>
            <a:pPr algn="ctr"/>
            <a:r>
              <a:rPr sz="1300" b="1">
                <a:solidFill>
                  <a:srgbClr val="0A2A6E"/>
                </a:solidFill>
                <a:latin typeface="Calibri"/>
              </a:rPr>
              <a:t>Right now</a:t>
            </a:r>
          </a:p>
        </p:txBody>
      </p:sp>
      <p:sp>
        <p:nvSpPr>
          <p:cNvPr id="23" name="TextBox 22"/>
          <p:cNvSpPr txBox="1"/>
          <p:nvPr/>
        </p:nvSpPr>
        <p:spPr>
          <a:xfrm>
            <a:off x="3429000" y="3154680"/>
            <a:ext cx="2560320" cy="1097280"/>
          </a:xfrm>
          <a:prstGeom prst="rect">
            <a:avLst/>
          </a:prstGeom>
          <a:noFill/>
        </p:spPr>
        <p:txBody>
          <a:bodyPr wrap="square">
            <a:spAutoFit/>
          </a:bodyPr>
          <a:lstStyle/>
          <a:p>
            <a:pPr algn="ctr"/>
            <a:r>
              <a:rPr sz="1400" b="0">
                <a:solidFill>
                  <a:srgbClr val="1F2937"/>
                </a:solidFill>
                <a:latin typeface="Calibri"/>
              </a:rPr>
              <a:t>Leo is searching the nook.</a:t>
            </a:r>
          </a:p>
        </p:txBody>
      </p:sp>
      <p:sp>
        <p:nvSpPr>
          <p:cNvPr id="24" name="Rounded Rectangle 23"/>
          <p:cNvSpPr/>
          <p:nvPr/>
        </p:nvSpPr>
        <p:spPr>
          <a:xfrm>
            <a:off x="6263640" y="1325880"/>
            <a:ext cx="283464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63640" y="1325880"/>
            <a:ext cx="2834640" cy="914400"/>
          </a:xfrm>
          <a:prstGeom prst="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1417320"/>
            <a:ext cx="2834640" cy="320040"/>
          </a:xfrm>
          <a:prstGeom prst="rect">
            <a:avLst/>
          </a:prstGeom>
          <a:noFill/>
        </p:spPr>
        <p:txBody>
          <a:bodyPr wrap="square">
            <a:spAutoFit/>
          </a:bodyPr>
          <a:lstStyle/>
          <a:p>
            <a:pPr algn="ctr"/>
            <a:r>
              <a:rPr sz="2200" b="0">
                <a:solidFill>
                  <a:srgbClr val="1F2937"/>
                </a:solidFill>
                <a:latin typeface="Calibri"/>
              </a:rPr>
              <a:t>🎬</a:t>
            </a:r>
          </a:p>
        </p:txBody>
      </p:sp>
      <p:sp>
        <p:nvSpPr>
          <p:cNvPr id="27" name="TextBox 26"/>
          <p:cNvSpPr txBox="1"/>
          <p:nvPr/>
        </p:nvSpPr>
        <p:spPr>
          <a:xfrm>
            <a:off x="6355080" y="1874519"/>
            <a:ext cx="2651760" cy="502920"/>
          </a:xfrm>
          <a:prstGeom prst="rect">
            <a:avLst/>
          </a:prstGeom>
          <a:noFill/>
        </p:spPr>
        <p:txBody>
          <a:bodyPr wrap="square">
            <a:spAutoFit/>
          </a:bodyPr>
          <a:lstStyle/>
          <a:p>
            <a:pPr algn="ctr"/>
            <a:r>
              <a:rPr sz="1400" b="1">
                <a:solidFill>
                  <a:srgbClr val="FFFFFF"/>
                </a:solidFill>
                <a:latin typeface="Calibri"/>
              </a:rPr>
              <a:t>Past Simple</a:t>
            </a:r>
          </a:p>
        </p:txBody>
      </p:sp>
      <p:sp>
        <p:nvSpPr>
          <p:cNvPr id="28" name="TextBox 27"/>
          <p:cNvSpPr txBox="1"/>
          <p:nvPr/>
        </p:nvSpPr>
        <p:spPr>
          <a:xfrm>
            <a:off x="6400800" y="2606040"/>
            <a:ext cx="2560320" cy="411480"/>
          </a:xfrm>
          <a:prstGeom prst="rect">
            <a:avLst/>
          </a:prstGeom>
          <a:noFill/>
        </p:spPr>
        <p:txBody>
          <a:bodyPr wrap="square">
            <a:spAutoFit/>
          </a:bodyPr>
          <a:lstStyle/>
          <a:p>
            <a:pPr algn="ctr"/>
            <a:r>
              <a:rPr sz="1300" b="1">
                <a:solidFill>
                  <a:srgbClr val="0A2A6E"/>
                </a:solidFill>
                <a:latin typeface="Calibri"/>
              </a:rPr>
              <a:t>Yesterday</a:t>
            </a:r>
          </a:p>
        </p:txBody>
      </p:sp>
      <p:sp>
        <p:nvSpPr>
          <p:cNvPr id="29" name="TextBox 28"/>
          <p:cNvSpPr txBox="1"/>
          <p:nvPr/>
        </p:nvSpPr>
        <p:spPr>
          <a:xfrm>
            <a:off x="6400800" y="3154680"/>
            <a:ext cx="2560320" cy="1097280"/>
          </a:xfrm>
          <a:prstGeom prst="rect">
            <a:avLst/>
          </a:prstGeom>
          <a:noFill/>
        </p:spPr>
        <p:txBody>
          <a:bodyPr wrap="square">
            <a:spAutoFit/>
          </a:bodyPr>
          <a:lstStyle/>
          <a:p>
            <a:pPr algn="ctr"/>
            <a:r>
              <a:rPr sz="1400" b="0">
                <a:solidFill>
                  <a:srgbClr val="1F2937"/>
                </a:solidFill>
                <a:latin typeface="Calibri"/>
              </a:rPr>
              <a:t>Leo found his backpack.</a:t>
            </a:r>
          </a:p>
        </p:txBody>
      </p:sp>
      <p:sp>
        <p:nvSpPr>
          <p:cNvPr id="30" name="Rounded Rectangle 29"/>
          <p:cNvSpPr/>
          <p:nvPr/>
        </p:nvSpPr>
        <p:spPr>
          <a:xfrm>
            <a:off x="9235440" y="1325880"/>
            <a:ext cx="283464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35440" y="1325880"/>
            <a:ext cx="2834640" cy="914400"/>
          </a:xfrm>
          <a:prstGeom prst="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0" y="1417320"/>
            <a:ext cx="2834640" cy="320040"/>
          </a:xfrm>
          <a:prstGeom prst="rect">
            <a:avLst/>
          </a:prstGeom>
          <a:noFill/>
        </p:spPr>
        <p:txBody>
          <a:bodyPr wrap="square">
            <a:spAutoFit/>
          </a:bodyPr>
          <a:lstStyle/>
          <a:p>
            <a:pPr algn="ctr"/>
            <a:r>
              <a:rPr sz="2200" b="0">
                <a:solidFill>
                  <a:srgbClr val="1F2937"/>
                </a:solidFill>
                <a:latin typeface="Calibri"/>
              </a:rPr>
              <a:t>🎬</a:t>
            </a:r>
          </a:p>
        </p:txBody>
      </p:sp>
      <p:sp>
        <p:nvSpPr>
          <p:cNvPr id="33" name="TextBox 32"/>
          <p:cNvSpPr txBox="1"/>
          <p:nvPr/>
        </p:nvSpPr>
        <p:spPr>
          <a:xfrm>
            <a:off x="9326880" y="1874519"/>
            <a:ext cx="2651760" cy="502920"/>
          </a:xfrm>
          <a:prstGeom prst="rect">
            <a:avLst/>
          </a:prstGeom>
          <a:noFill/>
        </p:spPr>
        <p:txBody>
          <a:bodyPr wrap="square">
            <a:spAutoFit/>
          </a:bodyPr>
          <a:lstStyle/>
          <a:p>
            <a:pPr algn="ctr"/>
            <a:r>
              <a:rPr sz="1400" b="1">
                <a:solidFill>
                  <a:srgbClr val="FFFFFF"/>
                </a:solidFill>
                <a:latin typeface="Calibri"/>
              </a:rPr>
              <a:t>Future Simple</a:t>
            </a:r>
          </a:p>
        </p:txBody>
      </p:sp>
      <p:sp>
        <p:nvSpPr>
          <p:cNvPr id="34" name="TextBox 33"/>
          <p:cNvSpPr txBox="1"/>
          <p:nvPr/>
        </p:nvSpPr>
        <p:spPr>
          <a:xfrm>
            <a:off x="9372600" y="2606040"/>
            <a:ext cx="2560320" cy="411480"/>
          </a:xfrm>
          <a:prstGeom prst="rect">
            <a:avLst/>
          </a:prstGeom>
          <a:noFill/>
        </p:spPr>
        <p:txBody>
          <a:bodyPr wrap="square">
            <a:spAutoFit/>
          </a:bodyPr>
          <a:lstStyle/>
          <a:p>
            <a:pPr algn="ctr"/>
            <a:r>
              <a:rPr sz="1300" b="1">
                <a:solidFill>
                  <a:srgbClr val="0A2A6E"/>
                </a:solidFill>
                <a:latin typeface="Calibri"/>
              </a:rPr>
              <a:t>Tomorrow</a:t>
            </a:r>
          </a:p>
        </p:txBody>
      </p:sp>
      <p:sp>
        <p:nvSpPr>
          <p:cNvPr id="35" name="TextBox 34"/>
          <p:cNvSpPr txBox="1"/>
          <p:nvPr/>
        </p:nvSpPr>
        <p:spPr>
          <a:xfrm>
            <a:off x="9372600" y="3154680"/>
            <a:ext cx="2560320" cy="1097280"/>
          </a:xfrm>
          <a:prstGeom prst="rect">
            <a:avLst/>
          </a:prstGeom>
          <a:noFill/>
        </p:spPr>
        <p:txBody>
          <a:bodyPr wrap="square">
            <a:spAutoFit/>
          </a:bodyPr>
          <a:lstStyle/>
          <a:p>
            <a:pPr algn="ctr"/>
            <a:r>
              <a:rPr sz="1400" b="0">
                <a:solidFill>
                  <a:srgbClr val="1F2937"/>
                </a:solidFill>
                <a:latin typeface="Calibri"/>
              </a:rPr>
              <a:t>Leo will double-check his bag.</a:t>
            </a:r>
          </a:p>
        </p:txBody>
      </p:sp>
      <p:sp>
        <p:nvSpPr>
          <p:cNvPr id="36" name="Rounded Rectangle 35"/>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GRAMMAR</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Grammar Activity: Choose the Correct Tense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Grammar</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11/30</a:t>
            </a:r>
          </a:p>
        </p:txBody>
      </p:sp>
      <p:sp>
        <p:nvSpPr>
          <p:cNvPr id="12" name="Rounded Rectangle 11"/>
          <p:cNvSpPr/>
          <p:nvPr/>
        </p:nvSpPr>
        <p:spPr>
          <a:xfrm>
            <a:off x="365760" y="132588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81912"/>
            <a:ext cx="10972800" cy="411480"/>
          </a:xfrm>
          <a:prstGeom prst="rect">
            <a:avLst/>
          </a:prstGeom>
          <a:noFill/>
        </p:spPr>
        <p:txBody>
          <a:bodyPr wrap="square">
            <a:spAutoFit/>
          </a:bodyPr>
          <a:lstStyle/>
          <a:p>
            <a:pPr algn="l"/>
            <a:r>
              <a:rPr sz="1500" b="0">
                <a:solidFill>
                  <a:srgbClr val="1F2937"/>
                </a:solidFill>
                <a:latin typeface="Calibri"/>
              </a:rPr>
              <a:t>1.  Leo (check / checks / checking) his locker every day.</a:t>
            </a:r>
          </a:p>
        </p:txBody>
      </p:sp>
      <p:sp>
        <p:nvSpPr>
          <p:cNvPr id="14" name="Rounded Rectangle 13"/>
          <p:cNvSpPr/>
          <p:nvPr/>
        </p:nvSpPr>
        <p:spPr>
          <a:xfrm>
            <a:off x="365760" y="228600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542032"/>
            <a:ext cx="10972800" cy="411480"/>
          </a:xfrm>
          <a:prstGeom prst="rect">
            <a:avLst/>
          </a:prstGeom>
          <a:noFill/>
        </p:spPr>
        <p:txBody>
          <a:bodyPr wrap="square">
            <a:spAutoFit/>
          </a:bodyPr>
          <a:lstStyle/>
          <a:p>
            <a:pPr algn="l"/>
            <a:r>
              <a:rPr sz="1500" b="0">
                <a:solidFill>
                  <a:srgbClr val="1F2937"/>
                </a:solidFill>
                <a:latin typeface="Calibri"/>
              </a:rPr>
              <a:t>2.  Right now, Ms. Carter (help / is helping / helped) Leo.</a:t>
            </a:r>
          </a:p>
        </p:txBody>
      </p:sp>
      <p:sp>
        <p:nvSpPr>
          <p:cNvPr id="16" name="Rounded Rectangle 15"/>
          <p:cNvSpPr/>
          <p:nvPr/>
        </p:nvSpPr>
        <p:spPr>
          <a:xfrm>
            <a:off x="365760" y="324612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502152"/>
            <a:ext cx="10972800" cy="411480"/>
          </a:xfrm>
          <a:prstGeom prst="rect">
            <a:avLst/>
          </a:prstGeom>
          <a:noFill/>
        </p:spPr>
        <p:txBody>
          <a:bodyPr wrap="square">
            <a:spAutoFit/>
          </a:bodyPr>
          <a:lstStyle/>
          <a:p>
            <a:pPr algn="l"/>
            <a:r>
              <a:rPr sz="1500" b="0">
                <a:solidFill>
                  <a:srgbClr val="1F2937"/>
                </a:solidFill>
                <a:latin typeface="Calibri"/>
              </a:rPr>
              <a:t>3.  Yesterday, Leo (lose / lost / will lose) his backpack.</a:t>
            </a:r>
          </a:p>
        </p:txBody>
      </p:sp>
      <p:sp>
        <p:nvSpPr>
          <p:cNvPr id="18" name="Rounded Rectangle 17"/>
          <p:cNvSpPr/>
          <p:nvPr/>
        </p:nvSpPr>
        <p:spPr>
          <a:xfrm>
            <a:off x="365760" y="420624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462272"/>
            <a:ext cx="10972800" cy="411480"/>
          </a:xfrm>
          <a:prstGeom prst="rect">
            <a:avLst/>
          </a:prstGeom>
          <a:noFill/>
        </p:spPr>
        <p:txBody>
          <a:bodyPr wrap="square">
            <a:spAutoFit/>
          </a:bodyPr>
          <a:lstStyle/>
          <a:p>
            <a:pPr algn="l"/>
            <a:r>
              <a:rPr sz="1500" b="0">
                <a:solidFill>
                  <a:srgbClr val="1F2937"/>
                </a:solidFill>
                <a:latin typeface="Calibri"/>
              </a:rPr>
              <a:t>4.  Tomorrow, he (double-check / double-checked / will double-check).</a:t>
            </a:r>
          </a:p>
        </p:txBody>
      </p:sp>
      <p:sp>
        <p:nvSpPr>
          <p:cNvPr id="20" name="Rounded Rectangle 19"/>
          <p:cNvSpPr/>
          <p:nvPr/>
        </p:nvSpPr>
        <p:spPr>
          <a:xfrm>
            <a:off x="365760" y="516636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422392"/>
            <a:ext cx="10972800" cy="411480"/>
          </a:xfrm>
          <a:prstGeom prst="rect">
            <a:avLst/>
          </a:prstGeom>
          <a:noFill/>
        </p:spPr>
        <p:txBody>
          <a:bodyPr wrap="square">
            <a:spAutoFit/>
          </a:bodyPr>
          <a:lstStyle/>
          <a:p>
            <a:pPr algn="l"/>
            <a:r>
              <a:rPr sz="1500" b="0">
                <a:solidFill>
                  <a:srgbClr val="1F2937"/>
                </a:solidFill>
                <a:latin typeface="Calibri"/>
              </a:rPr>
              <a:t>5.  The class (learn / learned / is learn) about clues today.</a:t>
            </a:r>
          </a:p>
        </p:txBody>
      </p:sp>
      <p:sp>
        <p:nvSpPr>
          <p:cNvPr id="22" name="Rounded Rectangle 21"/>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Grammar Game: Tense Detective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Grammar</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12/30</a:t>
            </a:r>
          </a:p>
        </p:txBody>
      </p:sp>
      <p:sp>
        <p:nvSpPr>
          <p:cNvPr id="12" name="Rounded Rectangle 11"/>
          <p:cNvSpPr/>
          <p:nvPr/>
        </p:nvSpPr>
        <p:spPr>
          <a:xfrm>
            <a:off x="365760" y="132588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81912"/>
            <a:ext cx="10972800" cy="411480"/>
          </a:xfrm>
          <a:prstGeom prst="rect">
            <a:avLst/>
          </a:prstGeom>
          <a:noFill/>
        </p:spPr>
        <p:txBody>
          <a:bodyPr wrap="square">
            <a:spAutoFit/>
          </a:bodyPr>
          <a:lstStyle/>
          <a:p>
            <a:pPr algn="l"/>
            <a:r>
              <a:rPr sz="1500" b="0">
                <a:solidFill>
                  <a:srgbClr val="1F2937"/>
                </a:solidFill>
                <a:latin typeface="Calibri"/>
              </a:rPr>
              <a:t>Case 1:  Leo will found his backpack yesterday.</a:t>
            </a:r>
          </a:p>
        </p:txBody>
      </p:sp>
      <p:sp>
        <p:nvSpPr>
          <p:cNvPr id="14" name="Rounded Rectangle 13"/>
          <p:cNvSpPr/>
          <p:nvPr/>
        </p:nvSpPr>
        <p:spPr>
          <a:xfrm>
            <a:off x="365760" y="2286000"/>
            <a:ext cx="11430000" cy="86868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542032"/>
            <a:ext cx="10972800" cy="411480"/>
          </a:xfrm>
          <a:prstGeom prst="rect">
            <a:avLst/>
          </a:prstGeom>
          <a:noFill/>
        </p:spPr>
        <p:txBody>
          <a:bodyPr wrap="square">
            <a:spAutoFit/>
          </a:bodyPr>
          <a:lstStyle/>
          <a:p>
            <a:pPr algn="l"/>
            <a:r>
              <a:rPr sz="1500" b="0">
                <a:solidFill>
                  <a:srgbClr val="1F2937"/>
                </a:solidFill>
                <a:latin typeface="Calibri"/>
              </a:rPr>
              <a:t>Case 2:  She are reading the mystery note now.</a:t>
            </a:r>
          </a:p>
        </p:txBody>
      </p:sp>
      <p:sp>
        <p:nvSpPr>
          <p:cNvPr id="16" name="Rounded Rectangle 15"/>
          <p:cNvSpPr/>
          <p:nvPr/>
        </p:nvSpPr>
        <p:spPr>
          <a:xfrm>
            <a:off x="365760" y="324612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502152"/>
            <a:ext cx="10972800" cy="411480"/>
          </a:xfrm>
          <a:prstGeom prst="rect">
            <a:avLst/>
          </a:prstGeom>
          <a:noFill/>
        </p:spPr>
        <p:txBody>
          <a:bodyPr wrap="square">
            <a:spAutoFit/>
          </a:bodyPr>
          <a:lstStyle/>
          <a:p>
            <a:pPr algn="l"/>
            <a:r>
              <a:rPr sz="1500" b="0">
                <a:solidFill>
                  <a:srgbClr val="1F2937"/>
                </a:solidFill>
                <a:latin typeface="Calibri"/>
              </a:rPr>
              <a:t>Case 3:  Tomorrow, I am go to the museum.</a:t>
            </a:r>
          </a:p>
        </p:txBody>
      </p:sp>
      <p:sp>
        <p:nvSpPr>
          <p:cNvPr id="18" name="Rounded Rectangle 17"/>
          <p:cNvSpPr/>
          <p:nvPr/>
        </p:nvSpPr>
        <p:spPr>
          <a:xfrm>
            <a:off x="365760" y="4206240"/>
            <a:ext cx="11430000" cy="868680"/>
          </a:xfrm>
          <a:prstGeom prst="round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462272"/>
            <a:ext cx="10972800" cy="411480"/>
          </a:xfrm>
          <a:prstGeom prst="rect">
            <a:avLst/>
          </a:prstGeom>
          <a:noFill/>
        </p:spPr>
        <p:txBody>
          <a:bodyPr wrap="square">
            <a:spAutoFit/>
          </a:bodyPr>
          <a:lstStyle/>
          <a:p>
            <a:pPr algn="l"/>
            <a:r>
              <a:rPr sz="1500" b="0">
                <a:solidFill>
                  <a:srgbClr val="1F2937"/>
                </a:solidFill>
                <a:latin typeface="Calibri"/>
              </a:rPr>
              <a:t>Case 4:  Leo checked his bag every day.</a:t>
            </a:r>
          </a:p>
        </p:txBody>
      </p:sp>
      <p:sp>
        <p:nvSpPr>
          <p:cNvPr id="20" name="Rounded Rectangle 19"/>
          <p:cNvSpPr/>
          <p:nvPr/>
        </p:nvSpPr>
        <p:spPr>
          <a:xfrm>
            <a:off x="365760" y="516636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422392"/>
            <a:ext cx="10972800" cy="411480"/>
          </a:xfrm>
          <a:prstGeom prst="rect">
            <a:avLst/>
          </a:prstGeom>
          <a:noFill/>
        </p:spPr>
        <p:txBody>
          <a:bodyPr wrap="square">
            <a:spAutoFit/>
          </a:bodyPr>
          <a:lstStyle/>
          <a:p>
            <a:pPr algn="l"/>
            <a:r>
              <a:rPr sz="1500" b="0">
                <a:solidFill>
                  <a:srgbClr val="1F2937"/>
                </a:solidFill>
                <a:latin typeface="Calibri"/>
              </a:rPr>
              <a:t>Case 5:  Ms. Carter help Leo last Monday.</a:t>
            </a:r>
          </a:p>
        </p:txBody>
      </p:sp>
      <p:sp>
        <p:nvSpPr>
          <p:cNvPr id="22" name="TextBox 21"/>
          <p:cNvSpPr txBox="1"/>
          <p:nvPr/>
        </p:nvSpPr>
        <p:spPr>
          <a:xfrm>
            <a:off x="365760" y="5806440"/>
            <a:ext cx="11430000" cy="320040"/>
          </a:xfrm>
          <a:prstGeom prst="rect">
            <a:avLst/>
          </a:prstGeom>
          <a:noFill/>
        </p:spPr>
        <p:txBody>
          <a:bodyPr wrap="square">
            <a:spAutoFit/>
          </a:bodyPr>
          <a:lstStyle/>
          <a:p>
            <a:pPr algn="ctr"/>
            <a:r>
              <a:rPr sz="1400" b="1">
                <a:solidFill>
                  <a:srgbClr val="009688"/>
                </a:solidFill>
                <a:latin typeface="Calibri"/>
              </a:rPr>
              <a:t>Fix the tense!  (#4 is the innocent sentence ✅)</a:t>
            </a:r>
          </a:p>
        </p:txBody>
      </p:sp>
      <p:sp>
        <p:nvSpPr>
          <p:cNvPr id="23" name="Rounded Rectangle 22"/>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Spin the Wheel: Sentence Builder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Grammar</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13/30</a:t>
            </a:r>
          </a:p>
        </p:txBody>
      </p:sp>
      <p:sp>
        <p:nvSpPr>
          <p:cNvPr id="12" name="Oval 11"/>
          <p:cNvSpPr/>
          <p:nvPr/>
        </p:nvSpPr>
        <p:spPr>
          <a:xfrm>
            <a:off x="960120" y="1645920"/>
            <a:ext cx="1828800" cy="1828800"/>
          </a:xfrm>
          <a:prstGeom prst="ellipse">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240280"/>
            <a:ext cx="1828800" cy="640080"/>
          </a:xfrm>
          <a:prstGeom prst="rect">
            <a:avLst/>
          </a:prstGeom>
          <a:noFill/>
        </p:spPr>
        <p:txBody>
          <a:bodyPr wrap="square">
            <a:spAutoFit/>
          </a:bodyPr>
          <a:lstStyle/>
          <a:p>
            <a:pPr algn="ctr"/>
            <a:r>
              <a:rPr sz="2800" b="0">
                <a:solidFill>
                  <a:srgbClr val="1F2937"/>
                </a:solidFill>
                <a:latin typeface="Calibri"/>
              </a:rPr>
              <a:t>🏃</a:t>
            </a:r>
          </a:p>
        </p:txBody>
      </p:sp>
      <p:sp>
        <p:nvSpPr>
          <p:cNvPr id="14" name="TextBox 13"/>
          <p:cNvSpPr txBox="1"/>
          <p:nvPr/>
        </p:nvSpPr>
        <p:spPr>
          <a:xfrm>
            <a:off x="594360" y="3657600"/>
            <a:ext cx="2560320" cy="411480"/>
          </a:xfrm>
          <a:prstGeom prst="rect">
            <a:avLst/>
          </a:prstGeom>
          <a:noFill/>
        </p:spPr>
        <p:txBody>
          <a:bodyPr wrap="square">
            <a:spAutoFit/>
          </a:bodyPr>
          <a:lstStyle/>
          <a:p>
            <a:pPr algn="ctr"/>
            <a:r>
              <a:rPr sz="1800" b="1">
                <a:solidFill>
                  <a:srgbClr val="0A2A6E"/>
                </a:solidFill>
                <a:latin typeface="Calibri"/>
              </a:rPr>
              <a:t>Verb</a:t>
            </a:r>
          </a:p>
        </p:txBody>
      </p:sp>
      <p:sp>
        <p:nvSpPr>
          <p:cNvPr id="15" name="Oval 14"/>
          <p:cNvSpPr/>
          <p:nvPr/>
        </p:nvSpPr>
        <p:spPr>
          <a:xfrm>
            <a:off x="3840480" y="1645920"/>
            <a:ext cx="1828800" cy="1828800"/>
          </a:xfrm>
          <a:prstGeom prst="ellipse">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0480" y="2240280"/>
            <a:ext cx="1828800" cy="640080"/>
          </a:xfrm>
          <a:prstGeom prst="rect">
            <a:avLst/>
          </a:prstGeom>
          <a:noFill/>
        </p:spPr>
        <p:txBody>
          <a:bodyPr wrap="square">
            <a:spAutoFit/>
          </a:bodyPr>
          <a:lstStyle/>
          <a:p>
            <a:pPr algn="ctr"/>
            <a:r>
              <a:rPr sz="2800" b="0">
                <a:solidFill>
                  <a:srgbClr val="1F2937"/>
                </a:solidFill>
                <a:latin typeface="Calibri"/>
              </a:rPr>
              <a:t>📦</a:t>
            </a:r>
          </a:p>
        </p:txBody>
      </p:sp>
      <p:sp>
        <p:nvSpPr>
          <p:cNvPr id="17" name="TextBox 16"/>
          <p:cNvSpPr txBox="1"/>
          <p:nvPr/>
        </p:nvSpPr>
        <p:spPr>
          <a:xfrm>
            <a:off x="3474720" y="3657600"/>
            <a:ext cx="2560320" cy="411480"/>
          </a:xfrm>
          <a:prstGeom prst="rect">
            <a:avLst/>
          </a:prstGeom>
          <a:noFill/>
        </p:spPr>
        <p:txBody>
          <a:bodyPr wrap="square">
            <a:spAutoFit/>
          </a:bodyPr>
          <a:lstStyle/>
          <a:p>
            <a:pPr algn="ctr"/>
            <a:r>
              <a:rPr sz="1800" b="1">
                <a:solidFill>
                  <a:srgbClr val="0A2A6E"/>
                </a:solidFill>
                <a:latin typeface="Calibri"/>
              </a:rPr>
              <a:t>Noun</a:t>
            </a:r>
          </a:p>
        </p:txBody>
      </p:sp>
      <p:sp>
        <p:nvSpPr>
          <p:cNvPr id="18" name="Oval 17"/>
          <p:cNvSpPr/>
          <p:nvPr/>
        </p:nvSpPr>
        <p:spPr>
          <a:xfrm>
            <a:off x="6720840" y="1645920"/>
            <a:ext cx="1828800" cy="1828800"/>
          </a:xfrm>
          <a:prstGeom prst="ellipse">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0840" y="2240280"/>
            <a:ext cx="1828800" cy="640080"/>
          </a:xfrm>
          <a:prstGeom prst="rect">
            <a:avLst/>
          </a:prstGeom>
          <a:noFill/>
        </p:spPr>
        <p:txBody>
          <a:bodyPr wrap="square">
            <a:spAutoFit/>
          </a:bodyPr>
          <a:lstStyle/>
          <a:p>
            <a:pPr algn="ctr"/>
            <a:r>
              <a:rPr sz="2800" b="0">
                <a:solidFill>
                  <a:srgbClr val="1F2937"/>
                </a:solidFill>
                <a:latin typeface="Calibri"/>
              </a:rPr>
              <a:t>🎨</a:t>
            </a:r>
          </a:p>
        </p:txBody>
      </p:sp>
      <p:sp>
        <p:nvSpPr>
          <p:cNvPr id="20" name="TextBox 19"/>
          <p:cNvSpPr txBox="1"/>
          <p:nvPr/>
        </p:nvSpPr>
        <p:spPr>
          <a:xfrm>
            <a:off x="6355080" y="3657600"/>
            <a:ext cx="2560320" cy="411480"/>
          </a:xfrm>
          <a:prstGeom prst="rect">
            <a:avLst/>
          </a:prstGeom>
          <a:noFill/>
        </p:spPr>
        <p:txBody>
          <a:bodyPr wrap="square">
            <a:spAutoFit/>
          </a:bodyPr>
          <a:lstStyle/>
          <a:p>
            <a:pPr algn="ctr"/>
            <a:r>
              <a:rPr sz="1800" b="1">
                <a:solidFill>
                  <a:srgbClr val="0A2A6E"/>
                </a:solidFill>
                <a:latin typeface="Calibri"/>
              </a:rPr>
              <a:t>Adjective</a:t>
            </a:r>
          </a:p>
        </p:txBody>
      </p:sp>
      <p:sp>
        <p:nvSpPr>
          <p:cNvPr id="21" name="Oval 20"/>
          <p:cNvSpPr/>
          <p:nvPr/>
        </p:nvSpPr>
        <p:spPr>
          <a:xfrm>
            <a:off x="9601200" y="1645920"/>
            <a:ext cx="1828800" cy="1828800"/>
          </a:xfrm>
          <a:prstGeom prst="ellipse">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0" y="2240280"/>
            <a:ext cx="1828800" cy="640080"/>
          </a:xfrm>
          <a:prstGeom prst="rect">
            <a:avLst/>
          </a:prstGeom>
          <a:noFill/>
        </p:spPr>
        <p:txBody>
          <a:bodyPr wrap="square">
            <a:spAutoFit/>
          </a:bodyPr>
          <a:lstStyle/>
          <a:p>
            <a:pPr algn="ctr"/>
            <a:r>
              <a:rPr sz="2800" b="0">
                <a:solidFill>
                  <a:srgbClr val="1F2937"/>
                </a:solidFill>
                <a:latin typeface="Calibri"/>
              </a:rPr>
              <a:t>⚡</a:t>
            </a:r>
          </a:p>
        </p:txBody>
      </p:sp>
      <p:sp>
        <p:nvSpPr>
          <p:cNvPr id="23" name="TextBox 22"/>
          <p:cNvSpPr txBox="1"/>
          <p:nvPr/>
        </p:nvSpPr>
        <p:spPr>
          <a:xfrm>
            <a:off x="9235440" y="3657600"/>
            <a:ext cx="2560320" cy="411480"/>
          </a:xfrm>
          <a:prstGeom prst="rect">
            <a:avLst/>
          </a:prstGeom>
          <a:noFill/>
        </p:spPr>
        <p:txBody>
          <a:bodyPr wrap="square">
            <a:spAutoFit/>
          </a:bodyPr>
          <a:lstStyle/>
          <a:p>
            <a:pPr algn="ctr"/>
            <a:r>
              <a:rPr sz="1800" b="1">
                <a:solidFill>
                  <a:srgbClr val="0A2A6E"/>
                </a:solidFill>
                <a:latin typeface="Calibri"/>
              </a:rPr>
              <a:t>Adverb</a:t>
            </a:r>
          </a:p>
        </p:txBody>
      </p:sp>
      <p:sp>
        <p:nvSpPr>
          <p:cNvPr id="24" name="TextBox 23"/>
          <p:cNvSpPr txBox="1"/>
          <p:nvPr/>
        </p:nvSpPr>
        <p:spPr>
          <a:xfrm>
            <a:off x="365760" y="4389120"/>
            <a:ext cx="11430000" cy="1371600"/>
          </a:xfrm>
          <a:prstGeom prst="rect">
            <a:avLst/>
          </a:prstGeom>
          <a:noFill/>
        </p:spPr>
        <p:txBody>
          <a:bodyPr wrap="square">
            <a:spAutoFit/>
          </a:bodyPr>
          <a:lstStyle/>
          <a:p>
            <a:pPr algn="ctr"/>
            <a:r>
              <a:rPr sz="1600" b="0">
                <a:solidFill>
                  <a:srgbClr val="1F2937"/>
                </a:solidFill>
                <a:latin typeface="Calibri"/>
              </a:rPr>
              <a:t>Spin (roll dice)! Pick a category → say a word → build a sentence.
Example: Adjective=shiny + Noun=backpack + Verb=slides + Adverb=quickly</a:t>
            </a:r>
          </a:p>
        </p:txBody>
      </p:sp>
      <p:sp>
        <p:nvSpPr>
          <p:cNvPr id="25" name="Rounded Rectangle 2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VOCAB</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Vocab 10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Word Builder: Prefixes • Suffixes • Compounds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Vocab 10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14/30</a:t>
            </a:r>
          </a:p>
        </p:txBody>
      </p:sp>
      <p:sp>
        <p:nvSpPr>
          <p:cNvPr id="12" name="Rounded Rectangle 11"/>
          <p:cNvSpPr/>
          <p:nvPr/>
        </p:nvSpPr>
        <p:spPr>
          <a:xfrm>
            <a:off x="365760" y="1325880"/>
            <a:ext cx="370332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1325880"/>
            <a:ext cx="3703320" cy="50292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417320"/>
            <a:ext cx="3703320" cy="320040"/>
          </a:xfrm>
          <a:prstGeom prst="rect">
            <a:avLst/>
          </a:prstGeom>
          <a:noFill/>
        </p:spPr>
        <p:txBody>
          <a:bodyPr wrap="square">
            <a:spAutoFit/>
          </a:bodyPr>
          <a:lstStyle/>
          <a:p>
            <a:pPr algn="ctr"/>
            <a:r>
              <a:rPr sz="1400" b="1">
                <a:solidFill>
                  <a:srgbClr val="FFFFFF"/>
                </a:solidFill>
                <a:latin typeface="Calibri"/>
              </a:rPr>
              <a:t>Prefix re-</a:t>
            </a:r>
          </a:p>
        </p:txBody>
      </p:sp>
      <p:sp>
        <p:nvSpPr>
          <p:cNvPr id="15" name="TextBox 14"/>
          <p:cNvSpPr txBox="1"/>
          <p:nvPr/>
        </p:nvSpPr>
        <p:spPr>
          <a:xfrm>
            <a:off x="548640" y="2011680"/>
            <a:ext cx="3337560" cy="3200400"/>
          </a:xfrm>
          <a:prstGeom prst="rect">
            <a:avLst/>
          </a:prstGeom>
          <a:noFill/>
        </p:spPr>
        <p:txBody>
          <a:bodyPr wrap="square">
            <a:spAutoFit/>
          </a:bodyPr>
          <a:lstStyle/>
          <a:p>
            <a:pPr>
              <a:spcAft>
                <a:spcPts val="1000"/>
              </a:spcAft>
            </a:pPr>
            <a:r>
              <a:rPr sz="1600" b="0">
                <a:solidFill>
                  <a:srgbClr val="1F2937"/>
                </a:solidFill>
                <a:latin typeface="Calibri"/>
              </a:rPr>
              <a:t>•  rewrite</a:t>
            </a:r>
          </a:p>
          <a:p>
            <a:pPr>
              <a:spcAft>
                <a:spcPts val="1000"/>
              </a:spcAft>
            </a:pPr>
            <a:r>
              <a:rPr sz="1600" b="0">
                <a:solidFill>
                  <a:srgbClr val="1F2937"/>
                </a:solidFill>
                <a:latin typeface="Calibri"/>
              </a:rPr>
              <a:t>•  replay</a:t>
            </a:r>
          </a:p>
          <a:p>
            <a:pPr>
              <a:spcAft>
                <a:spcPts val="1000"/>
              </a:spcAft>
            </a:pPr>
            <a:r>
              <a:rPr sz="1600" b="0">
                <a:solidFill>
                  <a:srgbClr val="1F2937"/>
                </a:solidFill>
                <a:latin typeface="Calibri"/>
              </a:rPr>
              <a:t>•  return</a:t>
            </a:r>
          </a:p>
        </p:txBody>
      </p:sp>
      <p:sp>
        <p:nvSpPr>
          <p:cNvPr id="16" name="TextBox 15"/>
          <p:cNvSpPr txBox="1"/>
          <p:nvPr/>
        </p:nvSpPr>
        <p:spPr>
          <a:xfrm>
            <a:off x="548640" y="5029200"/>
            <a:ext cx="3337560" cy="548640"/>
          </a:xfrm>
          <a:prstGeom prst="rect">
            <a:avLst/>
          </a:prstGeom>
          <a:noFill/>
        </p:spPr>
        <p:txBody>
          <a:bodyPr wrap="square">
            <a:spAutoFit/>
          </a:bodyPr>
          <a:lstStyle/>
          <a:p>
            <a:pPr algn="ctr"/>
            <a:r>
              <a:rPr sz="1300" b="1">
                <a:solidFill>
                  <a:srgbClr val="0A2A6E"/>
                </a:solidFill>
                <a:latin typeface="Calibri"/>
              </a:rPr>
              <a:t>Build 1 new word!</a:t>
            </a:r>
          </a:p>
        </p:txBody>
      </p:sp>
      <p:sp>
        <p:nvSpPr>
          <p:cNvPr id="17" name="Rounded Rectangle 16"/>
          <p:cNvSpPr/>
          <p:nvPr/>
        </p:nvSpPr>
        <p:spPr>
          <a:xfrm>
            <a:off x="4251960" y="1325880"/>
            <a:ext cx="370332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51960" y="1325880"/>
            <a:ext cx="3703320" cy="50292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51960" y="1417320"/>
            <a:ext cx="3703320" cy="320040"/>
          </a:xfrm>
          <a:prstGeom prst="rect">
            <a:avLst/>
          </a:prstGeom>
          <a:noFill/>
        </p:spPr>
        <p:txBody>
          <a:bodyPr wrap="square">
            <a:spAutoFit/>
          </a:bodyPr>
          <a:lstStyle/>
          <a:p>
            <a:pPr algn="ctr"/>
            <a:r>
              <a:rPr sz="1400" b="1">
                <a:solidFill>
                  <a:srgbClr val="FFFFFF"/>
                </a:solidFill>
                <a:latin typeface="Calibri"/>
              </a:rPr>
              <a:t>Suffix -ful</a:t>
            </a:r>
          </a:p>
        </p:txBody>
      </p:sp>
      <p:sp>
        <p:nvSpPr>
          <p:cNvPr id="20" name="TextBox 19"/>
          <p:cNvSpPr txBox="1"/>
          <p:nvPr/>
        </p:nvSpPr>
        <p:spPr>
          <a:xfrm>
            <a:off x="4434840" y="2011680"/>
            <a:ext cx="3337560" cy="3200400"/>
          </a:xfrm>
          <a:prstGeom prst="rect">
            <a:avLst/>
          </a:prstGeom>
          <a:noFill/>
        </p:spPr>
        <p:txBody>
          <a:bodyPr wrap="square">
            <a:spAutoFit/>
          </a:bodyPr>
          <a:lstStyle/>
          <a:p>
            <a:pPr>
              <a:spcAft>
                <a:spcPts val="1000"/>
              </a:spcAft>
            </a:pPr>
            <a:r>
              <a:rPr sz="1600" b="0">
                <a:solidFill>
                  <a:srgbClr val="1F2937"/>
                </a:solidFill>
                <a:latin typeface="Calibri"/>
              </a:rPr>
              <a:t>•  helpful</a:t>
            </a:r>
          </a:p>
          <a:p>
            <a:pPr>
              <a:spcAft>
                <a:spcPts val="1000"/>
              </a:spcAft>
            </a:pPr>
            <a:r>
              <a:rPr sz="1600" b="0">
                <a:solidFill>
                  <a:srgbClr val="1F2937"/>
                </a:solidFill>
                <a:latin typeface="Calibri"/>
              </a:rPr>
              <a:t>•  thankful</a:t>
            </a:r>
          </a:p>
          <a:p>
            <a:pPr>
              <a:spcAft>
                <a:spcPts val="1000"/>
              </a:spcAft>
            </a:pPr>
            <a:r>
              <a:rPr sz="1600" b="0">
                <a:solidFill>
                  <a:srgbClr val="1F2937"/>
                </a:solidFill>
                <a:latin typeface="Calibri"/>
              </a:rPr>
              <a:t>•  colorful</a:t>
            </a:r>
          </a:p>
        </p:txBody>
      </p:sp>
      <p:sp>
        <p:nvSpPr>
          <p:cNvPr id="21" name="TextBox 20"/>
          <p:cNvSpPr txBox="1"/>
          <p:nvPr/>
        </p:nvSpPr>
        <p:spPr>
          <a:xfrm>
            <a:off x="4434840" y="5029200"/>
            <a:ext cx="3337560" cy="548640"/>
          </a:xfrm>
          <a:prstGeom prst="rect">
            <a:avLst/>
          </a:prstGeom>
          <a:noFill/>
        </p:spPr>
        <p:txBody>
          <a:bodyPr wrap="square">
            <a:spAutoFit/>
          </a:bodyPr>
          <a:lstStyle/>
          <a:p>
            <a:pPr algn="ctr"/>
            <a:r>
              <a:rPr sz="1300" b="1">
                <a:solidFill>
                  <a:srgbClr val="0A2A6E"/>
                </a:solidFill>
                <a:latin typeface="Calibri"/>
              </a:rPr>
              <a:t>Build 1 new word!</a:t>
            </a:r>
          </a:p>
        </p:txBody>
      </p:sp>
      <p:sp>
        <p:nvSpPr>
          <p:cNvPr id="22" name="Rounded Rectangle 21"/>
          <p:cNvSpPr/>
          <p:nvPr/>
        </p:nvSpPr>
        <p:spPr>
          <a:xfrm>
            <a:off x="8138160" y="1325880"/>
            <a:ext cx="3703320" cy="4480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38160" y="1325880"/>
            <a:ext cx="3703320" cy="50292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1417320"/>
            <a:ext cx="3703320" cy="320040"/>
          </a:xfrm>
          <a:prstGeom prst="rect">
            <a:avLst/>
          </a:prstGeom>
          <a:noFill/>
        </p:spPr>
        <p:txBody>
          <a:bodyPr wrap="square">
            <a:spAutoFit/>
          </a:bodyPr>
          <a:lstStyle/>
          <a:p>
            <a:pPr algn="ctr"/>
            <a:r>
              <a:rPr sz="1400" b="1">
                <a:solidFill>
                  <a:srgbClr val="FFFFFF"/>
                </a:solidFill>
                <a:latin typeface="Calibri"/>
              </a:rPr>
              <a:t>Compound</a:t>
            </a:r>
          </a:p>
        </p:txBody>
      </p:sp>
      <p:sp>
        <p:nvSpPr>
          <p:cNvPr id="25" name="TextBox 24"/>
          <p:cNvSpPr txBox="1"/>
          <p:nvPr/>
        </p:nvSpPr>
        <p:spPr>
          <a:xfrm>
            <a:off x="8321040" y="2011680"/>
            <a:ext cx="3337560" cy="3200400"/>
          </a:xfrm>
          <a:prstGeom prst="rect">
            <a:avLst/>
          </a:prstGeom>
          <a:noFill/>
        </p:spPr>
        <p:txBody>
          <a:bodyPr wrap="square">
            <a:spAutoFit/>
          </a:bodyPr>
          <a:lstStyle/>
          <a:p>
            <a:pPr>
              <a:spcAft>
                <a:spcPts val="1000"/>
              </a:spcAft>
            </a:pPr>
            <a:r>
              <a:rPr sz="1600" b="0">
                <a:solidFill>
                  <a:srgbClr val="1F2937"/>
                </a:solidFill>
                <a:latin typeface="Calibri"/>
              </a:rPr>
              <a:t>•  backpack</a:t>
            </a:r>
          </a:p>
          <a:p>
            <a:pPr>
              <a:spcAft>
                <a:spcPts val="1000"/>
              </a:spcAft>
            </a:pPr>
            <a:r>
              <a:rPr sz="1600" b="0">
                <a:solidFill>
                  <a:srgbClr val="1F2937"/>
                </a:solidFill>
                <a:latin typeface="Calibri"/>
              </a:rPr>
              <a:t>•  classroom</a:t>
            </a:r>
          </a:p>
          <a:p>
            <a:pPr>
              <a:spcAft>
                <a:spcPts val="1000"/>
              </a:spcAft>
            </a:pPr>
            <a:r>
              <a:rPr sz="1600" b="0">
                <a:solidFill>
                  <a:srgbClr val="1F2937"/>
                </a:solidFill>
                <a:latin typeface="Calibri"/>
              </a:rPr>
              <a:t>•  sunflower</a:t>
            </a:r>
          </a:p>
        </p:txBody>
      </p:sp>
      <p:sp>
        <p:nvSpPr>
          <p:cNvPr id="26" name="TextBox 25"/>
          <p:cNvSpPr txBox="1"/>
          <p:nvPr/>
        </p:nvSpPr>
        <p:spPr>
          <a:xfrm>
            <a:off x="8321040" y="5029200"/>
            <a:ext cx="3337560" cy="548640"/>
          </a:xfrm>
          <a:prstGeom prst="rect">
            <a:avLst/>
          </a:prstGeom>
          <a:noFill/>
        </p:spPr>
        <p:txBody>
          <a:bodyPr wrap="square">
            <a:spAutoFit/>
          </a:bodyPr>
          <a:lstStyle/>
          <a:p>
            <a:pPr algn="ctr"/>
            <a:r>
              <a:rPr sz="1300" b="1">
                <a:solidFill>
                  <a:srgbClr val="0A2A6E"/>
                </a:solidFill>
                <a:latin typeface="Calibri"/>
              </a:rPr>
              <a:t>Build 1 new word!</a:t>
            </a:r>
          </a:p>
        </p:txBody>
      </p:sp>
      <p:sp>
        <p:nvSpPr>
          <p:cNvPr id="27" name="Rounded Rectangle 26"/>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Vocab</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Word Search Puzzle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Vocab</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15/30</a:t>
            </a:r>
          </a:p>
        </p:txBody>
      </p:sp>
      <p:sp>
        <p:nvSpPr>
          <p:cNvPr id="12" name="Rounded Rectangle 11"/>
          <p:cNvSpPr/>
          <p:nvPr/>
        </p:nvSpPr>
        <p:spPr>
          <a:xfrm>
            <a:off x="365760" y="1280160"/>
            <a:ext cx="6858000" cy="4846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45920"/>
            <a:ext cx="6492240" cy="4114800"/>
          </a:xfrm>
          <a:prstGeom prst="rect">
            <a:avLst/>
          </a:prstGeom>
          <a:noFill/>
        </p:spPr>
        <p:txBody>
          <a:bodyPr wrap="square">
            <a:spAutoFit/>
          </a:bodyPr>
          <a:lstStyle/>
          <a:p>
            <a:pPr algn="ctr"/>
            <a:r>
              <a:rPr sz="2200" b="1">
                <a:solidFill>
                  <a:srgbClr val="0A2A6E"/>
                </a:solidFill>
                <a:latin typeface="Consolas"/>
              </a:rPr>
              <a:t>MYSTERYX
BACKPACK
CLUEXXXO
OBSERVEX
SCHOOLXX
FUTUREXX</a:t>
            </a:r>
          </a:p>
        </p:txBody>
      </p:sp>
      <p:sp>
        <p:nvSpPr>
          <p:cNvPr id="14" name="TextBox 13"/>
          <p:cNvSpPr txBox="1"/>
          <p:nvPr/>
        </p:nvSpPr>
        <p:spPr>
          <a:xfrm>
            <a:off x="7498079" y="1554480"/>
            <a:ext cx="4297680" cy="4114800"/>
          </a:xfrm>
          <a:prstGeom prst="rect">
            <a:avLst/>
          </a:prstGeom>
          <a:noFill/>
        </p:spPr>
        <p:txBody>
          <a:bodyPr wrap="square">
            <a:spAutoFit/>
          </a:bodyPr>
          <a:lstStyle/>
          <a:p>
            <a:pPr>
              <a:spcAft>
                <a:spcPts val="800"/>
              </a:spcAft>
            </a:pPr>
            <a:r>
              <a:rPr sz="1600" b="0">
                <a:solidFill>
                  <a:srgbClr val="1F2937"/>
                </a:solidFill>
                <a:latin typeface="Calibri"/>
              </a:rPr>
              <a:t>•  Find: MYSTERY</a:t>
            </a:r>
          </a:p>
          <a:p>
            <a:pPr>
              <a:spcAft>
                <a:spcPts val="800"/>
              </a:spcAft>
            </a:pPr>
            <a:r>
              <a:rPr sz="1600" b="0">
                <a:solidFill>
                  <a:srgbClr val="1F2937"/>
                </a:solidFill>
                <a:latin typeface="Calibri"/>
              </a:rPr>
              <a:t>•  BACKPACK</a:t>
            </a:r>
          </a:p>
          <a:p>
            <a:pPr>
              <a:spcAft>
                <a:spcPts val="800"/>
              </a:spcAft>
            </a:pPr>
            <a:r>
              <a:rPr sz="1600" b="0">
                <a:solidFill>
                  <a:srgbClr val="1F2937"/>
                </a:solidFill>
                <a:latin typeface="Calibri"/>
              </a:rPr>
              <a:t>•  CLUE</a:t>
            </a:r>
          </a:p>
          <a:p>
            <a:pPr>
              <a:spcAft>
                <a:spcPts val="800"/>
              </a:spcAft>
            </a:pPr>
            <a:r>
              <a:rPr sz="1600" b="0">
                <a:solidFill>
                  <a:srgbClr val="1F2937"/>
                </a:solidFill>
                <a:latin typeface="Calibri"/>
              </a:rPr>
              <a:t>•  OBSERVE</a:t>
            </a:r>
          </a:p>
          <a:p>
            <a:pPr>
              <a:spcAft>
                <a:spcPts val="800"/>
              </a:spcAft>
            </a:pPr>
            <a:r>
              <a:rPr sz="1600" b="0">
                <a:solidFill>
                  <a:srgbClr val="1F2937"/>
                </a:solidFill>
                <a:latin typeface="Calibri"/>
              </a:rPr>
              <a:t>•  SCHOOL</a:t>
            </a:r>
          </a:p>
          <a:p>
            <a:pPr>
              <a:spcAft>
                <a:spcPts val="800"/>
              </a:spcAft>
            </a:pPr>
            <a:r>
              <a:rPr sz="1600" b="0">
                <a:solidFill>
                  <a:srgbClr val="1F2937"/>
                </a:solidFill>
                <a:latin typeface="Calibri"/>
              </a:rPr>
              <a:t>•  FUTURE</a:t>
            </a:r>
          </a:p>
        </p:txBody>
      </p:sp>
      <p:sp>
        <p:nvSpPr>
          <p:cNvPr id="15" name="Rounded Rectangle 1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Vocab</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Crossword Clues (Vocabulary)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Vocab</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16/30</a:t>
            </a:r>
          </a:p>
        </p:txBody>
      </p:sp>
      <p:sp>
        <p:nvSpPr>
          <p:cNvPr id="12" name="Rounded Rectangle 11"/>
          <p:cNvSpPr/>
          <p:nvPr/>
        </p:nvSpPr>
        <p:spPr>
          <a:xfrm>
            <a:off x="365760" y="132588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81912"/>
            <a:ext cx="10972800" cy="411480"/>
          </a:xfrm>
          <a:prstGeom prst="rect">
            <a:avLst/>
          </a:prstGeom>
          <a:noFill/>
        </p:spPr>
        <p:txBody>
          <a:bodyPr wrap="square">
            <a:spAutoFit/>
          </a:bodyPr>
          <a:lstStyle/>
          <a:p>
            <a:pPr algn="l"/>
            <a:r>
              <a:rPr sz="1500" b="0">
                <a:solidFill>
                  <a:srgbClr val="1F2937"/>
                </a:solidFill>
                <a:latin typeface="Calibri"/>
              </a:rPr>
              <a:t>1 Across: Something you carry books in (8)</a:t>
            </a:r>
          </a:p>
        </p:txBody>
      </p:sp>
      <p:sp>
        <p:nvSpPr>
          <p:cNvPr id="14" name="Rounded Rectangle 13"/>
          <p:cNvSpPr/>
          <p:nvPr/>
        </p:nvSpPr>
        <p:spPr>
          <a:xfrm>
            <a:off x="365760" y="2286000"/>
            <a:ext cx="11430000" cy="86868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542032"/>
            <a:ext cx="10972800" cy="411480"/>
          </a:xfrm>
          <a:prstGeom prst="rect">
            <a:avLst/>
          </a:prstGeom>
          <a:noFill/>
        </p:spPr>
        <p:txBody>
          <a:bodyPr wrap="square">
            <a:spAutoFit/>
          </a:bodyPr>
          <a:lstStyle/>
          <a:p>
            <a:pPr algn="l"/>
            <a:r>
              <a:rPr sz="1500" b="0">
                <a:solidFill>
                  <a:srgbClr val="1F2937"/>
                </a:solidFill>
                <a:latin typeface="Calibri"/>
              </a:rPr>
              <a:t>2 Down: A hint that helps solve a mystery (4)</a:t>
            </a:r>
          </a:p>
        </p:txBody>
      </p:sp>
      <p:sp>
        <p:nvSpPr>
          <p:cNvPr id="16" name="Rounded Rectangle 15"/>
          <p:cNvSpPr/>
          <p:nvPr/>
        </p:nvSpPr>
        <p:spPr>
          <a:xfrm>
            <a:off x="365760" y="324612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502152"/>
            <a:ext cx="10972800" cy="411480"/>
          </a:xfrm>
          <a:prstGeom prst="rect">
            <a:avLst/>
          </a:prstGeom>
          <a:noFill/>
        </p:spPr>
        <p:txBody>
          <a:bodyPr wrap="square">
            <a:spAutoFit/>
          </a:bodyPr>
          <a:lstStyle/>
          <a:p>
            <a:pPr algn="l"/>
            <a:r>
              <a:rPr sz="1500" b="0">
                <a:solidFill>
                  <a:srgbClr val="1F2937"/>
                </a:solidFill>
                <a:latin typeface="Calibri"/>
              </a:rPr>
              <a:t>3 Across: Watching carefully (9)</a:t>
            </a:r>
          </a:p>
        </p:txBody>
      </p:sp>
      <p:sp>
        <p:nvSpPr>
          <p:cNvPr id="18" name="Rounded Rectangle 17"/>
          <p:cNvSpPr/>
          <p:nvPr/>
        </p:nvSpPr>
        <p:spPr>
          <a:xfrm>
            <a:off x="365760" y="4206240"/>
            <a:ext cx="11430000" cy="868680"/>
          </a:xfrm>
          <a:prstGeom prst="round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462272"/>
            <a:ext cx="10972800" cy="411480"/>
          </a:xfrm>
          <a:prstGeom prst="rect">
            <a:avLst/>
          </a:prstGeom>
          <a:noFill/>
        </p:spPr>
        <p:txBody>
          <a:bodyPr wrap="square">
            <a:spAutoFit/>
          </a:bodyPr>
          <a:lstStyle/>
          <a:p>
            <a:pPr algn="l"/>
            <a:r>
              <a:rPr sz="1500" b="0">
                <a:solidFill>
                  <a:srgbClr val="1F2937"/>
                </a:solidFill>
                <a:latin typeface="Calibri"/>
              </a:rPr>
              <a:t>4 Down: Time that comes after today (6)</a:t>
            </a:r>
          </a:p>
        </p:txBody>
      </p:sp>
      <p:sp>
        <p:nvSpPr>
          <p:cNvPr id="20" name="Rounded Rectangle 19"/>
          <p:cNvSpPr/>
          <p:nvPr/>
        </p:nvSpPr>
        <p:spPr>
          <a:xfrm>
            <a:off x="365760" y="516636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422392"/>
            <a:ext cx="10972800" cy="411480"/>
          </a:xfrm>
          <a:prstGeom prst="rect">
            <a:avLst/>
          </a:prstGeom>
          <a:noFill/>
        </p:spPr>
        <p:txBody>
          <a:bodyPr wrap="square">
            <a:spAutoFit/>
          </a:bodyPr>
          <a:lstStyle/>
          <a:p>
            <a:pPr algn="l"/>
            <a:r>
              <a:rPr sz="1500" b="0">
                <a:solidFill>
                  <a:srgbClr val="1F2937"/>
                </a:solidFill>
                <a:latin typeface="Calibri"/>
              </a:rPr>
              <a:t>5 Across: Leo's school type (10)</a:t>
            </a:r>
          </a:p>
        </p:txBody>
      </p:sp>
      <p:sp>
        <p:nvSpPr>
          <p:cNvPr id="22" name="TextBox 21"/>
          <p:cNvSpPr txBox="1"/>
          <p:nvPr/>
        </p:nvSpPr>
        <p:spPr>
          <a:xfrm>
            <a:off x="365760" y="5806440"/>
            <a:ext cx="11430000" cy="320040"/>
          </a:xfrm>
          <a:prstGeom prst="rect">
            <a:avLst/>
          </a:prstGeom>
          <a:noFill/>
        </p:spPr>
        <p:txBody>
          <a:bodyPr wrap="square">
            <a:spAutoFit/>
          </a:bodyPr>
          <a:lstStyle/>
          <a:p>
            <a:pPr algn="ctr"/>
            <a:r>
              <a:rPr sz="1200" b="0">
                <a:solidFill>
                  <a:srgbClr val="009688"/>
                </a:solidFill>
                <a:latin typeface="Calibri"/>
              </a:rPr>
              <a:t>Answers: BACKPACK, CLUE, OBSERVATION, FUTURE, ELEMENTARY</a:t>
            </a:r>
          </a:p>
        </p:txBody>
      </p:sp>
      <p:sp>
        <p:nvSpPr>
          <p:cNvPr id="23" name="Rounded Rectangle 22"/>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Brain break</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Memory Game 🧠 (12 Pictures)</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Brain break</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17/30</a:t>
            </a:r>
          </a:p>
        </p:txBody>
      </p:sp>
      <p:sp>
        <p:nvSpPr>
          <p:cNvPr id="12" name="Rounded Rectangle 11"/>
          <p:cNvSpPr/>
          <p:nvPr/>
        </p:nvSpPr>
        <p:spPr>
          <a:xfrm>
            <a:off x="1371600" y="1371600"/>
            <a:ext cx="9418320" cy="292608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54480" y="1828800"/>
            <a:ext cx="9052560" cy="1828800"/>
          </a:xfrm>
          <a:prstGeom prst="rect">
            <a:avLst/>
          </a:prstGeom>
          <a:noFill/>
        </p:spPr>
        <p:txBody>
          <a:bodyPr wrap="square">
            <a:spAutoFit/>
          </a:bodyPr>
          <a:lstStyle/>
          <a:p>
            <a:pPr algn="ctr"/>
            <a:r>
              <a:rPr sz="3600" b="0">
                <a:solidFill>
                  <a:srgbClr val="1F2937"/>
                </a:solidFill>
                <a:latin typeface="Calibri"/>
              </a:rPr>
              <a:t>🎒 📚 🕵️ 🔍 🌳 🐶 🍕 ⚽ 🌈 🚀 🎨 🎤</a:t>
            </a:r>
          </a:p>
        </p:txBody>
      </p:sp>
      <p:sp>
        <p:nvSpPr>
          <p:cNvPr id="14" name="TextBox 13"/>
          <p:cNvSpPr txBox="1"/>
          <p:nvPr/>
        </p:nvSpPr>
        <p:spPr>
          <a:xfrm>
            <a:off x="365760" y="4480560"/>
            <a:ext cx="11430000" cy="1097280"/>
          </a:xfrm>
          <a:prstGeom prst="rect">
            <a:avLst/>
          </a:prstGeom>
          <a:noFill/>
        </p:spPr>
        <p:txBody>
          <a:bodyPr wrap="square">
            <a:spAutoFit/>
          </a:bodyPr>
          <a:lstStyle/>
          <a:p>
            <a:pPr algn="ctr"/>
            <a:r>
              <a:rPr sz="1800" b="1">
                <a:solidFill>
                  <a:srgbClr val="0A2A6E"/>
                </a:solidFill>
                <a:latin typeface="Calibri"/>
              </a:rPr>
              <a:t>Step 1: Look 20 seconds
Step 2: Hide screen
Step 3: Name as many as you remember!</a:t>
            </a:r>
          </a:p>
        </p:txBody>
      </p:sp>
      <p:sp>
        <p:nvSpPr>
          <p:cNvPr id="15" name="Rounded Rectangle 1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SPEAKING</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Speaking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Picture Description: Sunny Park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Speaking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18/30</a:t>
            </a:r>
          </a:p>
        </p:txBody>
      </p:sp>
      <p:sp>
        <p:nvSpPr>
          <p:cNvPr id="12" name="Rounded Rectangle 11"/>
          <p:cNvSpPr/>
          <p:nvPr/>
        </p:nvSpPr>
        <p:spPr>
          <a:xfrm>
            <a:off x="365760" y="1280160"/>
            <a:ext cx="7132320" cy="484632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11680"/>
            <a:ext cx="6766560" cy="3200400"/>
          </a:xfrm>
          <a:prstGeom prst="rect">
            <a:avLst/>
          </a:prstGeom>
          <a:noFill/>
        </p:spPr>
        <p:txBody>
          <a:bodyPr wrap="square">
            <a:spAutoFit/>
          </a:bodyPr>
          <a:lstStyle/>
          <a:p>
            <a:pPr algn="ctr"/>
            <a:r>
              <a:rPr sz="2200" b="0">
                <a:solidFill>
                  <a:srgbClr val="0A2A6E"/>
                </a:solidFill>
                <a:latin typeface="Calibri"/>
              </a:rPr>
              <a:t>☀️ Sunny day
👧 Kids playing
🐕 Dog running
🌸 Flowers blooming
😊 Happy faces</a:t>
            </a:r>
          </a:p>
        </p:txBody>
      </p:sp>
      <p:sp>
        <p:nvSpPr>
          <p:cNvPr id="14" name="Rounded Rectangle 13"/>
          <p:cNvSpPr/>
          <p:nvPr/>
        </p:nvSpPr>
        <p:spPr>
          <a:xfrm>
            <a:off x="7772400" y="1371600"/>
            <a:ext cx="4023360" cy="960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1645920"/>
            <a:ext cx="3657600" cy="411480"/>
          </a:xfrm>
          <a:prstGeom prst="rect">
            <a:avLst/>
          </a:prstGeom>
          <a:noFill/>
        </p:spPr>
        <p:txBody>
          <a:bodyPr wrap="square">
            <a:spAutoFit/>
          </a:bodyPr>
          <a:lstStyle/>
          <a:p>
            <a:pPr algn="l"/>
            <a:r>
              <a:rPr sz="1600" b="1">
                <a:solidFill>
                  <a:srgbClr val="FF6F61"/>
                </a:solidFill>
                <a:latin typeface="Calibri"/>
              </a:rPr>
              <a:t>People</a:t>
            </a:r>
          </a:p>
        </p:txBody>
      </p:sp>
      <p:sp>
        <p:nvSpPr>
          <p:cNvPr id="16" name="Rounded Rectangle 15"/>
          <p:cNvSpPr/>
          <p:nvPr/>
        </p:nvSpPr>
        <p:spPr>
          <a:xfrm>
            <a:off x="7772400" y="2514600"/>
            <a:ext cx="4023360" cy="960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79" y="2788920"/>
            <a:ext cx="3657600" cy="411480"/>
          </a:xfrm>
          <a:prstGeom prst="rect">
            <a:avLst/>
          </a:prstGeom>
          <a:noFill/>
        </p:spPr>
        <p:txBody>
          <a:bodyPr wrap="square">
            <a:spAutoFit/>
          </a:bodyPr>
          <a:lstStyle/>
          <a:p>
            <a:pPr algn="l"/>
            <a:r>
              <a:rPr sz="1600" b="1">
                <a:solidFill>
                  <a:srgbClr val="FF6F61"/>
                </a:solidFill>
                <a:latin typeface="Calibri"/>
              </a:rPr>
              <a:t>Actions</a:t>
            </a:r>
          </a:p>
        </p:txBody>
      </p:sp>
      <p:sp>
        <p:nvSpPr>
          <p:cNvPr id="18" name="Rounded Rectangle 17"/>
          <p:cNvSpPr/>
          <p:nvPr/>
        </p:nvSpPr>
        <p:spPr>
          <a:xfrm>
            <a:off x="7772400" y="3657600"/>
            <a:ext cx="4023360" cy="960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79" y="3931920"/>
            <a:ext cx="3657600" cy="411480"/>
          </a:xfrm>
          <a:prstGeom prst="rect">
            <a:avLst/>
          </a:prstGeom>
          <a:noFill/>
        </p:spPr>
        <p:txBody>
          <a:bodyPr wrap="square">
            <a:spAutoFit/>
          </a:bodyPr>
          <a:lstStyle/>
          <a:p>
            <a:pPr algn="l"/>
            <a:r>
              <a:rPr sz="1600" b="1">
                <a:solidFill>
                  <a:srgbClr val="FF6F61"/>
                </a:solidFill>
                <a:latin typeface="Calibri"/>
              </a:rPr>
              <a:t>Weather</a:t>
            </a:r>
          </a:p>
        </p:txBody>
      </p:sp>
      <p:sp>
        <p:nvSpPr>
          <p:cNvPr id="20" name="Rounded Rectangle 19"/>
          <p:cNvSpPr/>
          <p:nvPr/>
        </p:nvSpPr>
        <p:spPr>
          <a:xfrm>
            <a:off x="7772400" y="4800600"/>
            <a:ext cx="4023360" cy="9601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55279" y="5074920"/>
            <a:ext cx="3657600" cy="411480"/>
          </a:xfrm>
          <a:prstGeom prst="rect">
            <a:avLst/>
          </a:prstGeom>
          <a:noFill/>
        </p:spPr>
        <p:txBody>
          <a:bodyPr wrap="square">
            <a:spAutoFit/>
          </a:bodyPr>
          <a:lstStyle/>
          <a:p>
            <a:pPr algn="l"/>
            <a:r>
              <a:rPr sz="1600" b="1">
                <a:solidFill>
                  <a:srgbClr val="FF6F61"/>
                </a:solidFill>
                <a:latin typeface="Calibri"/>
              </a:rPr>
              <a:t>Feelings</a:t>
            </a:r>
          </a:p>
        </p:txBody>
      </p:sp>
      <p:sp>
        <p:nvSpPr>
          <p:cNvPr id="22" name="Rounded Rectangle 21"/>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Creativity</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Story Cubes 🎲 Roll &amp; Create</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Creativity</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19/30</a:t>
            </a:r>
          </a:p>
        </p:txBody>
      </p:sp>
      <p:sp>
        <p:nvSpPr>
          <p:cNvPr id="12" name="Rounded Rectangle 11"/>
          <p:cNvSpPr/>
          <p:nvPr/>
        </p:nvSpPr>
        <p:spPr>
          <a:xfrm>
            <a:off x="457200" y="141732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057400"/>
            <a:ext cx="3291840" cy="731520"/>
          </a:xfrm>
          <a:prstGeom prst="rect">
            <a:avLst/>
          </a:prstGeom>
          <a:noFill/>
        </p:spPr>
        <p:txBody>
          <a:bodyPr wrap="square">
            <a:spAutoFit/>
          </a:bodyPr>
          <a:lstStyle/>
          <a:p>
            <a:pPr algn="ctr"/>
            <a:r>
              <a:rPr sz="1800" b="1">
                <a:solidFill>
                  <a:srgbClr val="0A2A6E"/>
                </a:solidFill>
                <a:latin typeface="Calibri"/>
              </a:rPr>
              <a:t>🏫 School</a:t>
            </a:r>
          </a:p>
        </p:txBody>
      </p:sp>
      <p:sp>
        <p:nvSpPr>
          <p:cNvPr id="14" name="Rounded Rectangle 13"/>
          <p:cNvSpPr/>
          <p:nvPr/>
        </p:nvSpPr>
        <p:spPr>
          <a:xfrm>
            <a:off x="4297680" y="141732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2057400"/>
            <a:ext cx="3291840" cy="731520"/>
          </a:xfrm>
          <a:prstGeom prst="rect">
            <a:avLst/>
          </a:prstGeom>
          <a:noFill/>
        </p:spPr>
        <p:txBody>
          <a:bodyPr wrap="square">
            <a:spAutoFit/>
          </a:bodyPr>
          <a:lstStyle/>
          <a:p>
            <a:pPr algn="ctr"/>
            <a:r>
              <a:rPr sz="1800" b="1">
                <a:solidFill>
                  <a:srgbClr val="0A2A6E"/>
                </a:solidFill>
                <a:latin typeface="Calibri"/>
              </a:rPr>
              <a:t>🎒 Backpack</a:t>
            </a:r>
          </a:p>
        </p:txBody>
      </p:sp>
      <p:sp>
        <p:nvSpPr>
          <p:cNvPr id="16" name="Rounded Rectangle 15"/>
          <p:cNvSpPr/>
          <p:nvPr/>
        </p:nvSpPr>
        <p:spPr>
          <a:xfrm>
            <a:off x="8138160" y="141732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20" y="2057400"/>
            <a:ext cx="3291840" cy="731520"/>
          </a:xfrm>
          <a:prstGeom prst="rect">
            <a:avLst/>
          </a:prstGeom>
          <a:noFill/>
        </p:spPr>
        <p:txBody>
          <a:bodyPr wrap="square">
            <a:spAutoFit/>
          </a:bodyPr>
          <a:lstStyle/>
          <a:p>
            <a:pPr algn="ctr"/>
            <a:r>
              <a:rPr sz="1800" b="1">
                <a:solidFill>
                  <a:srgbClr val="0A2A6E"/>
                </a:solidFill>
                <a:latin typeface="Calibri"/>
              </a:rPr>
              <a:t>👻 Surprise</a:t>
            </a:r>
          </a:p>
        </p:txBody>
      </p:sp>
      <p:sp>
        <p:nvSpPr>
          <p:cNvPr id="18" name="Rounded Rectangle 17"/>
          <p:cNvSpPr/>
          <p:nvPr/>
        </p:nvSpPr>
        <p:spPr>
          <a:xfrm>
            <a:off x="457200" y="365760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297680"/>
            <a:ext cx="3291840" cy="731520"/>
          </a:xfrm>
          <a:prstGeom prst="rect">
            <a:avLst/>
          </a:prstGeom>
          <a:noFill/>
        </p:spPr>
        <p:txBody>
          <a:bodyPr wrap="square">
            <a:spAutoFit/>
          </a:bodyPr>
          <a:lstStyle/>
          <a:p>
            <a:pPr algn="ctr"/>
            <a:r>
              <a:rPr sz="1800" b="1">
                <a:solidFill>
                  <a:srgbClr val="0A2A6E"/>
                </a:solidFill>
                <a:latin typeface="Calibri"/>
              </a:rPr>
              <a:t>🌧️ Rain</a:t>
            </a:r>
          </a:p>
        </p:txBody>
      </p:sp>
      <p:sp>
        <p:nvSpPr>
          <p:cNvPr id="20" name="Rounded Rectangle 19"/>
          <p:cNvSpPr/>
          <p:nvPr/>
        </p:nvSpPr>
        <p:spPr>
          <a:xfrm>
            <a:off x="4297680" y="365760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4297680"/>
            <a:ext cx="3291840" cy="731520"/>
          </a:xfrm>
          <a:prstGeom prst="rect">
            <a:avLst/>
          </a:prstGeom>
          <a:noFill/>
        </p:spPr>
        <p:txBody>
          <a:bodyPr wrap="square">
            <a:spAutoFit/>
          </a:bodyPr>
          <a:lstStyle/>
          <a:p>
            <a:pPr algn="ctr"/>
            <a:r>
              <a:rPr sz="1800" b="1">
                <a:solidFill>
                  <a:srgbClr val="0A2A6E"/>
                </a:solidFill>
                <a:latin typeface="Calibri"/>
              </a:rPr>
              <a:t>🦸 Hero</a:t>
            </a:r>
          </a:p>
        </p:txBody>
      </p:sp>
      <p:sp>
        <p:nvSpPr>
          <p:cNvPr id="22" name="Rounded Rectangle 21"/>
          <p:cNvSpPr/>
          <p:nvPr/>
        </p:nvSpPr>
        <p:spPr>
          <a:xfrm>
            <a:off x="8138160" y="365760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4297680"/>
            <a:ext cx="3291840" cy="731520"/>
          </a:xfrm>
          <a:prstGeom prst="rect">
            <a:avLst/>
          </a:prstGeom>
          <a:noFill/>
        </p:spPr>
        <p:txBody>
          <a:bodyPr wrap="square">
            <a:spAutoFit/>
          </a:bodyPr>
          <a:lstStyle/>
          <a:p>
            <a:pPr algn="ctr"/>
            <a:r>
              <a:rPr sz="1800" b="1">
                <a:solidFill>
                  <a:srgbClr val="0A2A6E"/>
                </a:solidFill>
                <a:latin typeface="Calibri"/>
              </a:rPr>
              <a:t>🗺️ Map</a:t>
            </a:r>
          </a:p>
        </p:txBody>
      </p:sp>
      <p:sp>
        <p:nvSpPr>
          <p:cNvPr id="24" name="TextBox 23"/>
          <p:cNvSpPr txBox="1"/>
          <p:nvPr/>
        </p:nvSpPr>
        <p:spPr>
          <a:xfrm>
            <a:off x="365760" y="5806440"/>
            <a:ext cx="11430000" cy="320040"/>
          </a:xfrm>
          <a:prstGeom prst="rect">
            <a:avLst/>
          </a:prstGeom>
          <a:noFill/>
        </p:spPr>
        <p:txBody>
          <a:bodyPr wrap="square">
            <a:spAutoFit/>
          </a:bodyPr>
          <a:lstStyle/>
          <a:p>
            <a:pPr algn="ctr"/>
            <a:r>
              <a:rPr sz="1400" b="1">
                <a:solidFill>
                  <a:srgbClr val="009688"/>
                </a:solidFill>
                <a:latin typeface="Calibri"/>
              </a:rPr>
              <a:t>Roll 3 dice → 5-sentence story (beginning, middle, end)</a:t>
            </a:r>
          </a:p>
        </p:txBody>
      </p:sp>
      <p:sp>
        <p:nvSpPr>
          <p:cNvPr id="25" name="Rounded Rectangle 2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SPEAKING</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Speaking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Role Play Theater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Speaking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20/30</a:t>
            </a:r>
          </a:p>
        </p:txBody>
      </p:sp>
      <p:sp>
        <p:nvSpPr>
          <p:cNvPr id="12" name="Rounded Rectangle 11"/>
          <p:cNvSpPr/>
          <p:nvPr/>
        </p:nvSpPr>
        <p:spPr>
          <a:xfrm>
            <a:off x="365760" y="137160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91640"/>
            <a:ext cx="5212080" cy="411480"/>
          </a:xfrm>
          <a:prstGeom prst="rect">
            <a:avLst/>
          </a:prstGeom>
          <a:noFill/>
        </p:spPr>
        <p:txBody>
          <a:bodyPr wrap="square">
            <a:spAutoFit/>
          </a:bodyPr>
          <a:lstStyle/>
          <a:p>
            <a:pPr algn="l"/>
            <a:r>
              <a:rPr sz="1800" b="1">
                <a:solidFill>
                  <a:srgbClr val="7E57C2"/>
                </a:solidFill>
                <a:latin typeface="Calibri"/>
              </a:rPr>
              <a:t>🍽️ Restaurant</a:t>
            </a:r>
          </a:p>
        </p:txBody>
      </p:sp>
      <p:sp>
        <p:nvSpPr>
          <p:cNvPr id="14" name="TextBox 13"/>
          <p:cNvSpPr txBox="1"/>
          <p:nvPr/>
        </p:nvSpPr>
        <p:spPr>
          <a:xfrm>
            <a:off x="594360" y="2286000"/>
            <a:ext cx="5212080" cy="731520"/>
          </a:xfrm>
          <a:prstGeom prst="rect">
            <a:avLst/>
          </a:prstGeom>
          <a:noFill/>
        </p:spPr>
        <p:txBody>
          <a:bodyPr wrap="square">
            <a:spAutoFit/>
          </a:bodyPr>
          <a:lstStyle/>
          <a:p>
            <a:pPr algn="l"/>
            <a:r>
              <a:rPr sz="1500" b="0">
                <a:solidFill>
                  <a:srgbClr val="1F2937"/>
                </a:solidFill>
                <a:latin typeface="Calibri"/>
              </a:rPr>
              <a:t>Order food politely</a:t>
            </a:r>
          </a:p>
        </p:txBody>
      </p:sp>
      <p:sp>
        <p:nvSpPr>
          <p:cNvPr id="15" name="Rounded Rectangle 14"/>
          <p:cNvSpPr/>
          <p:nvPr/>
        </p:nvSpPr>
        <p:spPr>
          <a:xfrm>
            <a:off x="6263640" y="137160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1691640"/>
            <a:ext cx="5212080" cy="411480"/>
          </a:xfrm>
          <a:prstGeom prst="rect">
            <a:avLst/>
          </a:prstGeom>
          <a:noFill/>
        </p:spPr>
        <p:txBody>
          <a:bodyPr wrap="square">
            <a:spAutoFit/>
          </a:bodyPr>
          <a:lstStyle/>
          <a:p>
            <a:pPr algn="l"/>
            <a:r>
              <a:rPr sz="1800" b="1">
                <a:solidFill>
                  <a:srgbClr val="7E57C2"/>
                </a:solidFill>
                <a:latin typeface="Calibri"/>
              </a:rPr>
              <a:t>🦁 Zoo</a:t>
            </a:r>
          </a:p>
        </p:txBody>
      </p:sp>
      <p:sp>
        <p:nvSpPr>
          <p:cNvPr id="17" name="TextBox 16"/>
          <p:cNvSpPr txBox="1"/>
          <p:nvPr/>
        </p:nvSpPr>
        <p:spPr>
          <a:xfrm>
            <a:off x="6492240" y="2286000"/>
            <a:ext cx="5212080" cy="731520"/>
          </a:xfrm>
          <a:prstGeom prst="rect">
            <a:avLst/>
          </a:prstGeom>
          <a:noFill/>
        </p:spPr>
        <p:txBody>
          <a:bodyPr wrap="square">
            <a:spAutoFit/>
          </a:bodyPr>
          <a:lstStyle/>
          <a:p>
            <a:pPr algn="l"/>
            <a:r>
              <a:rPr sz="1500" b="0">
                <a:solidFill>
                  <a:srgbClr val="1F2937"/>
                </a:solidFill>
                <a:latin typeface="Calibri"/>
              </a:rPr>
              <a:t>Guide describes animals</a:t>
            </a:r>
          </a:p>
        </p:txBody>
      </p:sp>
      <p:sp>
        <p:nvSpPr>
          <p:cNvPr id="18" name="Rounded Rectangle 17"/>
          <p:cNvSpPr/>
          <p:nvPr/>
        </p:nvSpPr>
        <p:spPr>
          <a:xfrm>
            <a:off x="365760" y="365760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77640"/>
            <a:ext cx="5212080" cy="411480"/>
          </a:xfrm>
          <a:prstGeom prst="rect">
            <a:avLst/>
          </a:prstGeom>
          <a:noFill/>
        </p:spPr>
        <p:txBody>
          <a:bodyPr wrap="square">
            <a:spAutoFit/>
          </a:bodyPr>
          <a:lstStyle/>
          <a:p>
            <a:pPr algn="l"/>
            <a:r>
              <a:rPr sz="1800" b="1">
                <a:solidFill>
                  <a:srgbClr val="7E57C2"/>
                </a:solidFill>
                <a:latin typeface="Calibri"/>
              </a:rPr>
              <a:t>✈️ Airport</a:t>
            </a:r>
          </a:p>
        </p:txBody>
      </p:sp>
      <p:sp>
        <p:nvSpPr>
          <p:cNvPr id="20" name="TextBox 19"/>
          <p:cNvSpPr txBox="1"/>
          <p:nvPr/>
        </p:nvSpPr>
        <p:spPr>
          <a:xfrm>
            <a:off x="594360" y="4572000"/>
            <a:ext cx="5212080" cy="731520"/>
          </a:xfrm>
          <a:prstGeom prst="rect">
            <a:avLst/>
          </a:prstGeom>
          <a:noFill/>
        </p:spPr>
        <p:txBody>
          <a:bodyPr wrap="square">
            <a:spAutoFit/>
          </a:bodyPr>
          <a:lstStyle/>
          <a:p>
            <a:pPr algn="l"/>
            <a:r>
              <a:rPr sz="1500" b="0">
                <a:solidFill>
                  <a:srgbClr val="1F2937"/>
                </a:solidFill>
                <a:latin typeface="Calibri"/>
              </a:rPr>
              <a:t>Check-in conversation</a:t>
            </a:r>
          </a:p>
        </p:txBody>
      </p:sp>
      <p:sp>
        <p:nvSpPr>
          <p:cNvPr id="21" name="Rounded Rectangle 20"/>
          <p:cNvSpPr/>
          <p:nvPr/>
        </p:nvSpPr>
        <p:spPr>
          <a:xfrm>
            <a:off x="6263640" y="3657600"/>
            <a:ext cx="566928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3977640"/>
            <a:ext cx="5212080" cy="411480"/>
          </a:xfrm>
          <a:prstGeom prst="rect">
            <a:avLst/>
          </a:prstGeom>
          <a:noFill/>
        </p:spPr>
        <p:txBody>
          <a:bodyPr wrap="square">
            <a:spAutoFit/>
          </a:bodyPr>
          <a:lstStyle/>
          <a:p>
            <a:pPr algn="l"/>
            <a:r>
              <a:rPr sz="1800" b="1">
                <a:solidFill>
                  <a:srgbClr val="7E57C2"/>
                </a:solidFill>
                <a:latin typeface="Calibri"/>
              </a:rPr>
              <a:t>📚 Library</a:t>
            </a:r>
          </a:p>
        </p:txBody>
      </p:sp>
      <p:sp>
        <p:nvSpPr>
          <p:cNvPr id="23" name="TextBox 22"/>
          <p:cNvSpPr txBox="1"/>
          <p:nvPr/>
        </p:nvSpPr>
        <p:spPr>
          <a:xfrm>
            <a:off x="6492240" y="4572000"/>
            <a:ext cx="5212080" cy="731520"/>
          </a:xfrm>
          <a:prstGeom prst="rect">
            <a:avLst/>
          </a:prstGeom>
          <a:noFill/>
        </p:spPr>
        <p:txBody>
          <a:bodyPr wrap="square">
            <a:spAutoFit/>
          </a:bodyPr>
          <a:lstStyle/>
          <a:p>
            <a:pPr algn="l"/>
            <a:r>
              <a:rPr sz="1500" b="0">
                <a:solidFill>
                  <a:srgbClr val="1F2937"/>
                </a:solidFill>
                <a:latin typeface="Calibri"/>
              </a:rPr>
              <a:t>Whisper &amp; ask for a book</a:t>
            </a:r>
          </a:p>
        </p:txBody>
      </p:sp>
      <p:sp>
        <p:nvSpPr>
          <p:cNvPr id="24" name="Rounded Rectangle 23"/>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PRONUNCIATION</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Flex</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Pronunciation Challenge: Tongue Twisters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Flex</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21/30</a:t>
            </a:r>
          </a:p>
        </p:txBody>
      </p:sp>
      <p:sp>
        <p:nvSpPr>
          <p:cNvPr id="12" name="Rounded Rectangle 11"/>
          <p:cNvSpPr/>
          <p:nvPr/>
        </p:nvSpPr>
        <p:spPr>
          <a:xfrm>
            <a:off x="365760" y="1371600"/>
            <a:ext cx="1143000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91640"/>
            <a:ext cx="10972800" cy="411480"/>
          </a:xfrm>
          <a:prstGeom prst="rect">
            <a:avLst/>
          </a:prstGeom>
          <a:noFill/>
        </p:spPr>
        <p:txBody>
          <a:bodyPr wrap="square">
            <a:spAutoFit/>
          </a:bodyPr>
          <a:lstStyle/>
          <a:p>
            <a:pPr algn="l"/>
            <a:r>
              <a:rPr sz="1700" b="1">
                <a:solidFill>
                  <a:srgbClr val="0A2A6E"/>
                </a:solidFill>
                <a:latin typeface="Calibri"/>
              </a:rPr>
              <a:t>Red lorry, yellow lorry.</a:t>
            </a:r>
          </a:p>
        </p:txBody>
      </p:sp>
      <p:sp>
        <p:nvSpPr>
          <p:cNvPr id="14" name="Rounded Rectangle 13"/>
          <p:cNvSpPr/>
          <p:nvPr/>
        </p:nvSpPr>
        <p:spPr>
          <a:xfrm>
            <a:off x="365760" y="2514600"/>
            <a:ext cx="1143000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834640"/>
            <a:ext cx="10972800" cy="411480"/>
          </a:xfrm>
          <a:prstGeom prst="rect">
            <a:avLst/>
          </a:prstGeom>
          <a:noFill/>
        </p:spPr>
        <p:txBody>
          <a:bodyPr wrap="square">
            <a:spAutoFit/>
          </a:bodyPr>
          <a:lstStyle/>
          <a:p>
            <a:pPr algn="l"/>
            <a:r>
              <a:rPr sz="1700" b="1">
                <a:solidFill>
                  <a:srgbClr val="0A2A6E"/>
                </a:solidFill>
                <a:latin typeface="Calibri"/>
              </a:rPr>
              <a:t>Unique New York.</a:t>
            </a:r>
          </a:p>
        </p:txBody>
      </p:sp>
      <p:sp>
        <p:nvSpPr>
          <p:cNvPr id="16" name="Rounded Rectangle 15"/>
          <p:cNvSpPr/>
          <p:nvPr/>
        </p:nvSpPr>
        <p:spPr>
          <a:xfrm>
            <a:off x="365760" y="3657600"/>
            <a:ext cx="1143000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977640"/>
            <a:ext cx="10972800" cy="411480"/>
          </a:xfrm>
          <a:prstGeom prst="rect">
            <a:avLst/>
          </a:prstGeom>
          <a:noFill/>
        </p:spPr>
        <p:txBody>
          <a:bodyPr wrap="square">
            <a:spAutoFit/>
          </a:bodyPr>
          <a:lstStyle/>
          <a:p>
            <a:pPr algn="l"/>
            <a:r>
              <a:rPr sz="1700" b="1">
                <a:solidFill>
                  <a:srgbClr val="0A2A6E"/>
                </a:solidFill>
                <a:latin typeface="Calibri"/>
              </a:rPr>
              <a:t>She sells seashells by the seashore.</a:t>
            </a:r>
          </a:p>
        </p:txBody>
      </p:sp>
      <p:sp>
        <p:nvSpPr>
          <p:cNvPr id="18" name="Rounded Rectangle 17"/>
          <p:cNvSpPr/>
          <p:nvPr/>
        </p:nvSpPr>
        <p:spPr>
          <a:xfrm>
            <a:off x="365760" y="4800600"/>
            <a:ext cx="1143000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5120640"/>
            <a:ext cx="10972800" cy="411480"/>
          </a:xfrm>
          <a:prstGeom prst="rect">
            <a:avLst/>
          </a:prstGeom>
          <a:noFill/>
        </p:spPr>
        <p:txBody>
          <a:bodyPr wrap="square">
            <a:spAutoFit/>
          </a:bodyPr>
          <a:lstStyle/>
          <a:p>
            <a:pPr algn="l"/>
            <a:r>
              <a:rPr sz="1700" b="1">
                <a:solidFill>
                  <a:srgbClr val="0A2A6E"/>
                </a:solidFill>
                <a:latin typeface="Calibri"/>
              </a:rPr>
              <a:t>Toy boat, toy boat, toy boat.</a:t>
            </a:r>
          </a:p>
        </p:txBody>
      </p:sp>
      <p:sp>
        <p:nvSpPr>
          <p:cNvPr id="20" name="Rounded Rectangle 19"/>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LISTENING</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Listening</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Listening Activity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Listening</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22/30</a:t>
            </a:r>
          </a:p>
        </p:txBody>
      </p:sp>
      <p:sp>
        <p:nvSpPr>
          <p:cNvPr id="12" name="Rounded Rectangle 11"/>
          <p:cNvSpPr/>
          <p:nvPr/>
        </p:nvSpPr>
        <p:spPr>
          <a:xfrm>
            <a:off x="365760" y="1280160"/>
            <a:ext cx="11430000" cy="2560320"/>
          </a:xfrm>
          <a:prstGeom prst="round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463040"/>
            <a:ext cx="10972800" cy="2194560"/>
          </a:xfrm>
          <a:prstGeom prst="rect">
            <a:avLst/>
          </a:prstGeom>
          <a:noFill/>
        </p:spPr>
        <p:txBody>
          <a:bodyPr wrap="square">
            <a:spAutoFit/>
          </a:bodyPr>
          <a:lstStyle/>
          <a:p>
            <a:pPr algn="l"/>
            <a:r>
              <a:rPr sz="1400" b="0">
                <a:solidFill>
                  <a:srgbClr val="1F2937"/>
                </a:solidFill>
                <a:latin typeface="Calibri"/>
              </a:rPr>
              <a:t>Teacher reads aloud (do not show student the text first):
Last Friday, our school held a reading festival. Students built tiny book tents, shared stories, and listened to a visiting author. Sage's class created a poster about teamwork. They won second place and celebrated with fruit popsicles.</a:t>
            </a:r>
          </a:p>
        </p:txBody>
      </p:sp>
      <p:sp>
        <p:nvSpPr>
          <p:cNvPr id="14" name="TextBox 13"/>
          <p:cNvSpPr txBox="1"/>
          <p:nvPr/>
        </p:nvSpPr>
        <p:spPr>
          <a:xfrm>
            <a:off x="594360" y="4023360"/>
            <a:ext cx="10972800" cy="2011680"/>
          </a:xfrm>
          <a:prstGeom prst="rect">
            <a:avLst/>
          </a:prstGeom>
          <a:noFill/>
        </p:spPr>
        <p:txBody>
          <a:bodyPr wrap="square">
            <a:spAutoFit/>
          </a:bodyPr>
          <a:lstStyle/>
          <a:p>
            <a:pPr>
              <a:spcAft>
                <a:spcPts val="1000"/>
              </a:spcAft>
            </a:pPr>
            <a:r>
              <a:rPr sz="1600" b="0">
                <a:solidFill>
                  <a:srgbClr val="1F2937"/>
                </a:solidFill>
                <a:latin typeface="Calibri"/>
              </a:rPr>
              <a:t>•  1. What event was held?</a:t>
            </a:r>
          </a:p>
          <a:p>
            <a:pPr>
              <a:spcAft>
                <a:spcPts val="1000"/>
              </a:spcAft>
            </a:pPr>
            <a:r>
              <a:rPr sz="1600" b="0">
                <a:solidFill>
                  <a:srgbClr val="1F2937"/>
                </a:solidFill>
                <a:latin typeface="Calibri"/>
              </a:rPr>
              <a:t>•  2. What did Sage's class make?</a:t>
            </a:r>
          </a:p>
          <a:p>
            <a:pPr>
              <a:spcAft>
                <a:spcPts val="1000"/>
              </a:spcAft>
            </a:pPr>
            <a:r>
              <a:rPr sz="1600" b="0">
                <a:solidFill>
                  <a:srgbClr val="1F2937"/>
                </a:solidFill>
                <a:latin typeface="Calibri"/>
              </a:rPr>
              <a:t>•  3. What place did they win?</a:t>
            </a:r>
          </a:p>
          <a:p>
            <a:pPr>
              <a:spcAft>
                <a:spcPts val="1000"/>
              </a:spcAft>
            </a:pPr>
            <a:r>
              <a:rPr sz="1600" b="0">
                <a:solidFill>
                  <a:srgbClr val="1F2937"/>
                </a:solidFill>
                <a:latin typeface="Calibri"/>
              </a:rPr>
              <a:t>•  4. What did they eat?</a:t>
            </a:r>
          </a:p>
        </p:txBody>
      </p:sp>
      <p:sp>
        <p:nvSpPr>
          <p:cNvPr id="15" name="Rounded Rectangle 1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Grammar</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Find the Mistakes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Grammar</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23/30</a:t>
            </a:r>
          </a:p>
        </p:txBody>
      </p:sp>
      <p:sp>
        <p:nvSpPr>
          <p:cNvPr id="12" name="Rounded Rectangle 11"/>
          <p:cNvSpPr/>
          <p:nvPr/>
        </p:nvSpPr>
        <p:spPr>
          <a:xfrm>
            <a:off x="365760" y="132588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81912"/>
            <a:ext cx="10972800" cy="411480"/>
          </a:xfrm>
          <a:prstGeom prst="rect">
            <a:avLst/>
          </a:prstGeom>
          <a:noFill/>
        </p:spPr>
        <p:txBody>
          <a:bodyPr wrap="square">
            <a:spAutoFit/>
          </a:bodyPr>
          <a:lstStyle/>
          <a:p>
            <a:pPr algn="l"/>
            <a:r>
              <a:rPr sz="1500" b="0">
                <a:solidFill>
                  <a:srgbClr val="1F2937"/>
                </a:solidFill>
                <a:latin typeface="Calibri"/>
              </a:rPr>
              <a:t>1.  Leo go to school every day.</a:t>
            </a:r>
          </a:p>
        </p:txBody>
      </p:sp>
      <p:sp>
        <p:nvSpPr>
          <p:cNvPr id="14" name="Rounded Rectangle 13"/>
          <p:cNvSpPr/>
          <p:nvPr/>
        </p:nvSpPr>
        <p:spPr>
          <a:xfrm>
            <a:off x="365760" y="2286000"/>
            <a:ext cx="11430000" cy="86868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542032"/>
            <a:ext cx="10972800" cy="411480"/>
          </a:xfrm>
          <a:prstGeom prst="rect">
            <a:avLst/>
          </a:prstGeom>
          <a:noFill/>
        </p:spPr>
        <p:txBody>
          <a:bodyPr wrap="square">
            <a:spAutoFit/>
          </a:bodyPr>
          <a:lstStyle/>
          <a:p>
            <a:pPr algn="l"/>
            <a:r>
              <a:rPr sz="1500" b="0">
                <a:solidFill>
                  <a:srgbClr val="1F2937"/>
                </a:solidFill>
                <a:latin typeface="Calibri"/>
              </a:rPr>
              <a:t>2.  He are looking for his backpack now.</a:t>
            </a:r>
          </a:p>
        </p:txBody>
      </p:sp>
      <p:sp>
        <p:nvSpPr>
          <p:cNvPr id="16" name="Rounded Rectangle 15"/>
          <p:cNvSpPr/>
          <p:nvPr/>
        </p:nvSpPr>
        <p:spPr>
          <a:xfrm>
            <a:off x="365760" y="324612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502152"/>
            <a:ext cx="10972800" cy="411480"/>
          </a:xfrm>
          <a:prstGeom prst="rect">
            <a:avLst/>
          </a:prstGeom>
          <a:noFill/>
        </p:spPr>
        <p:txBody>
          <a:bodyPr wrap="square">
            <a:spAutoFit/>
          </a:bodyPr>
          <a:lstStyle/>
          <a:p>
            <a:pPr algn="l"/>
            <a:r>
              <a:rPr sz="1500" b="0">
                <a:solidFill>
                  <a:srgbClr val="1F2937"/>
                </a:solidFill>
                <a:latin typeface="Calibri"/>
              </a:rPr>
              <a:t>3.  Yesterday, he will lose his slip.</a:t>
            </a:r>
          </a:p>
        </p:txBody>
      </p:sp>
      <p:sp>
        <p:nvSpPr>
          <p:cNvPr id="18" name="Rounded Rectangle 17"/>
          <p:cNvSpPr/>
          <p:nvPr/>
        </p:nvSpPr>
        <p:spPr>
          <a:xfrm>
            <a:off x="365760" y="4206240"/>
            <a:ext cx="11430000" cy="868680"/>
          </a:xfrm>
          <a:prstGeom prst="roundRect">
            <a:avLst/>
          </a:prstGeom>
          <a:solidFill>
            <a:srgbClr val="FFF9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462272"/>
            <a:ext cx="10972800" cy="411480"/>
          </a:xfrm>
          <a:prstGeom prst="rect">
            <a:avLst/>
          </a:prstGeom>
          <a:noFill/>
        </p:spPr>
        <p:txBody>
          <a:bodyPr wrap="square">
            <a:spAutoFit/>
          </a:bodyPr>
          <a:lstStyle/>
          <a:p>
            <a:pPr algn="l"/>
            <a:r>
              <a:rPr sz="1500" b="0">
                <a:solidFill>
                  <a:srgbClr val="1F2937"/>
                </a:solidFill>
                <a:latin typeface="Calibri"/>
              </a:rPr>
              <a:t>4.  Tomorrow, Ms. Carter helped him.</a:t>
            </a:r>
          </a:p>
        </p:txBody>
      </p:sp>
      <p:sp>
        <p:nvSpPr>
          <p:cNvPr id="20" name="Rounded Rectangle 19"/>
          <p:cNvSpPr/>
          <p:nvPr/>
        </p:nvSpPr>
        <p:spPr>
          <a:xfrm>
            <a:off x="365760" y="516636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422392"/>
            <a:ext cx="10972800" cy="411480"/>
          </a:xfrm>
          <a:prstGeom prst="rect">
            <a:avLst/>
          </a:prstGeom>
          <a:noFill/>
        </p:spPr>
        <p:txBody>
          <a:bodyPr wrap="square">
            <a:spAutoFit/>
          </a:bodyPr>
          <a:lstStyle/>
          <a:p>
            <a:pPr algn="l"/>
            <a:r>
              <a:rPr sz="1500" b="0">
                <a:solidFill>
                  <a:srgbClr val="1F2937"/>
                </a:solidFill>
                <a:latin typeface="Calibri"/>
              </a:rPr>
              <a:t>5.  The mystery were solved quickly.</a:t>
            </a:r>
          </a:p>
        </p:txBody>
      </p:sp>
      <p:sp>
        <p:nvSpPr>
          <p:cNvPr id="22" name="Rounded Rectangle 21"/>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Games 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Fast Quiz ⚡ Kahoot Style</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Games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24/30</a:t>
            </a:r>
          </a:p>
        </p:txBody>
      </p:sp>
      <p:sp>
        <p:nvSpPr>
          <p:cNvPr id="12" name="Rounded Rectangle 11"/>
          <p:cNvSpPr/>
          <p:nvPr/>
        </p:nvSpPr>
        <p:spPr>
          <a:xfrm>
            <a:off x="365760" y="1325880"/>
            <a:ext cx="11430000" cy="868680"/>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81912"/>
            <a:ext cx="10972800" cy="411480"/>
          </a:xfrm>
          <a:prstGeom prst="rect">
            <a:avLst/>
          </a:prstGeom>
          <a:noFill/>
        </p:spPr>
        <p:txBody>
          <a:bodyPr wrap="square">
            <a:spAutoFit/>
          </a:bodyPr>
          <a:lstStyle/>
          <a:p>
            <a:pPr algn="l"/>
            <a:r>
              <a:rPr sz="1600" b="1">
                <a:solidFill>
                  <a:srgbClr val="FFFFFF"/>
                </a:solidFill>
                <a:latin typeface="Calibri"/>
              </a:rPr>
              <a:t>Q1: Past of 'find' → found / finded</a:t>
            </a:r>
          </a:p>
        </p:txBody>
      </p:sp>
      <p:sp>
        <p:nvSpPr>
          <p:cNvPr id="14" name="Rounded Rectangle 13"/>
          <p:cNvSpPr/>
          <p:nvPr/>
        </p:nvSpPr>
        <p:spPr>
          <a:xfrm>
            <a:off x="365760" y="2286000"/>
            <a:ext cx="11430000" cy="868680"/>
          </a:xfrm>
          <a:prstGeom prst="round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542032"/>
            <a:ext cx="10972800" cy="411480"/>
          </a:xfrm>
          <a:prstGeom prst="rect">
            <a:avLst/>
          </a:prstGeom>
          <a:noFill/>
        </p:spPr>
        <p:txBody>
          <a:bodyPr wrap="square">
            <a:spAutoFit/>
          </a:bodyPr>
          <a:lstStyle/>
          <a:p>
            <a:pPr algn="l"/>
            <a:r>
              <a:rPr sz="1600" b="1">
                <a:solidFill>
                  <a:srgbClr val="FFFFFF"/>
                </a:solidFill>
                <a:latin typeface="Calibri"/>
              </a:rPr>
              <a:t>Q2: 'is running' = Past / Present Continuous</a:t>
            </a:r>
          </a:p>
        </p:txBody>
      </p:sp>
      <p:sp>
        <p:nvSpPr>
          <p:cNvPr id="16" name="Rounded Rectangle 15"/>
          <p:cNvSpPr/>
          <p:nvPr/>
        </p:nvSpPr>
        <p:spPr>
          <a:xfrm>
            <a:off x="365760" y="3246120"/>
            <a:ext cx="11430000" cy="8686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502152"/>
            <a:ext cx="10972800" cy="411480"/>
          </a:xfrm>
          <a:prstGeom prst="rect">
            <a:avLst/>
          </a:prstGeom>
          <a:noFill/>
        </p:spPr>
        <p:txBody>
          <a:bodyPr wrap="square">
            <a:spAutoFit/>
          </a:bodyPr>
          <a:lstStyle/>
          <a:p>
            <a:pPr algn="l"/>
            <a:r>
              <a:rPr sz="1600" b="1">
                <a:solidFill>
                  <a:srgbClr val="FFFFFF"/>
                </a:solidFill>
                <a:latin typeface="Calibri"/>
              </a:rPr>
              <a:t>Q3: Synonym of happy → sad / glad</a:t>
            </a:r>
          </a:p>
        </p:txBody>
      </p:sp>
      <p:sp>
        <p:nvSpPr>
          <p:cNvPr id="18" name="Rounded Rectangle 17"/>
          <p:cNvSpPr/>
          <p:nvPr/>
        </p:nvSpPr>
        <p:spPr>
          <a:xfrm>
            <a:off x="365760" y="4206240"/>
            <a:ext cx="11430000" cy="868680"/>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462272"/>
            <a:ext cx="10972800" cy="411480"/>
          </a:xfrm>
          <a:prstGeom prst="rect">
            <a:avLst/>
          </a:prstGeom>
          <a:noFill/>
        </p:spPr>
        <p:txBody>
          <a:bodyPr wrap="square">
            <a:spAutoFit/>
          </a:bodyPr>
          <a:lstStyle/>
          <a:p>
            <a:pPr algn="l"/>
            <a:r>
              <a:rPr sz="1600" b="1">
                <a:solidFill>
                  <a:srgbClr val="FFFFFF"/>
                </a:solidFill>
                <a:latin typeface="Calibri"/>
              </a:rPr>
              <a:t>Q4: Leo's backpack color → blue / red</a:t>
            </a:r>
          </a:p>
        </p:txBody>
      </p:sp>
      <p:sp>
        <p:nvSpPr>
          <p:cNvPr id="20" name="Rounded Rectangle 19"/>
          <p:cNvSpPr/>
          <p:nvPr/>
        </p:nvSpPr>
        <p:spPr>
          <a:xfrm>
            <a:off x="365760" y="5166360"/>
            <a:ext cx="11430000" cy="868680"/>
          </a:xfrm>
          <a:prstGeom prst="roundRect">
            <a:avLst/>
          </a:prstGeom>
          <a:solidFill>
            <a:srgbClr val="7E57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422392"/>
            <a:ext cx="10972800" cy="411480"/>
          </a:xfrm>
          <a:prstGeom prst="rect">
            <a:avLst/>
          </a:prstGeom>
          <a:noFill/>
        </p:spPr>
        <p:txBody>
          <a:bodyPr wrap="square">
            <a:spAutoFit/>
          </a:bodyPr>
          <a:lstStyle/>
          <a:p>
            <a:pPr algn="l"/>
            <a:r>
              <a:rPr sz="1600" b="1">
                <a:solidFill>
                  <a:srgbClr val="FFFFFF"/>
                </a:solidFill>
                <a:latin typeface="Calibri"/>
              </a:rPr>
              <a:t>Q5: Future helper → will / did</a:t>
            </a:r>
          </a:p>
        </p:txBody>
      </p:sp>
      <p:sp>
        <p:nvSpPr>
          <p:cNvPr id="22" name="Rounded Rectangle 21"/>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Games</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Treasure Hunt: Hidden Vocabulary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Games</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25/30</a:t>
            </a:r>
          </a:p>
        </p:txBody>
      </p:sp>
      <p:sp>
        <p:nvSpPr>
          <p:cNvPr id="12" name="TextBox 11"/>
          <p:cNvSpPr txBox="1"/>
          <p:nvPr/>
        </p:nvSpPr>
        <p:spPr>
          <a:xfrm>
            <a:off x="365760" y="1280160"/>
            <a:ext cx="11430000" cy="914400"/>
          </a:xfrm>
          <a:prstGeom prst="rect">
            <a:avLst/>
          </a:prstGeom>
          <a:noFill/>
        </p:spPr>
        <p:txBody>
          <a:bodyPr wrap="square">
            <a:spAutoFit/>
          </a:bodyPr>
          <a:lstStyle/>
          <a:p>
            <a:pPr algn="l"/>
            <a:r>
              <a:rPr sz="1600" b="1">
                <a:solidFill>
                  <a:srgbClr val="0A2A6E"/>
                </a:solidFill>
                <a:latin typeface="Calibri"/>
              </a:rPr>
              <a:t>Clues lead to vocabulary words about today's lesson:</a:t>
            </a:r>
          </a:p>
        </p:txBody>
      </p:sp>
      <p:sp>
        <p:nvSpPr>
          <p:cNvPr id="13" name="Rounded Rectangle 12"/>
          <p:cNvSpPr/>
          <p:nvPr/>
        </p:nvSpPr>
        <p:spPr>
          <a:xfrm>
            <a:off x="365760" y="2377440"/>
            <a:ext cx="1143000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606040"/>
            <a:ext cx="10972800" cy="411480"/>
          </a:xfrm>
          <a:prstGeom prst="rect">
            <a:avLst/>
          </a:prstGeom>
          <a:noFill/>
        </p:spPr>
        <p:txBody>
          <a:bodyPr wrap="square">
            <a:spAutoFit/>
          </a:bodyPr>
          <a:lstStyle/>
          <a:p>
            <a:pPr algn="l"/>
            <a:r>
              <a:rPr sz="1500" b="0">
                <a:solidFill>
                  <a:srgbClr val="1F2937"/>
                </a:solidFill>
                <a:latin typeface="Calibri"/>
              </a:rPr>
              <a:t>Clue 1: You carry books in it → BACKPACK</a:t>
            </a:r>
          </a:p>
        </p:txBody>
      </p:sp>
      <p:sp>
        <p:nvSpPr>
          <p:cNvPr id="15" name="Rounded Rectangle 14"/>
          <p:cNvSpPr/>
          <p:nvPr/>
        </p:nvSpPr>
        <p:spPr>
          <a:xfrm>
            <a:off x="365760" y="3246120"/>
            <a:ext cx="1143000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474720"/>
            <a:ext cx="10972800" cy="411480"/>
          </a:xfrm>
          <a:prstGeom prst="rect">
            <a:avLst/>
          </a:prstGeom>
          <a:noFill/>
        </p:spPr>
        <p:txBody>
          <a:bodyPr wrap="square">
            <a:spAutoFit/>
          </a:bodyPr>
          <a:lstStyle/>
          <a:p>
            <a:pPr algn="l"/>
            <a:r>
              <a:rPr sz="1500" b="0">
                <a:solidFill>
                  <a:srgbClr val="1F2937"/>
                </a:solidFill>
                <a:latin typeface="Calibri"/>
              </a:rPr>
              <a:t>Clue 2: It helps you solve a mystery → CLUE</a:t>
            </a:r>
          </a:p>
        </p:txBody>
      </p:sp>
      <p:sp>
        <p:nvSpPr>
          <p:cNvPr id="17" name="Rounded Rectangle 16"/>
          <p:cNvSpPr/>
          <p:nvPr/>
        </p:nvSpPr>
        <p:spPr>
          <a:xfrm>
            <a:off x="365760" y="4114800"/>
            <a:ext cx="1143000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343400"/>
            <a:ext cx="10972800" cy="411480"/>
          </a:xfrm>
          <a:prstGeom prst="rect">
            <a:avLst/>
          </a:prstGeom>
          <a:noFill/>
        </p:spPr>
        <p:txBody>
          <a:bodyPr wrap="square">
            <a:spAutoFit/>
          </a:bodyPr>
          <a:lstStyle/>
          <a:p>
            <a:pPr algn="l"/>
            <a:r>
              <a:rPr sz="1500" b="0">
                <a:solidFill>
                  <a:srgbClr val="1F2937"/>
                </a:solidFill>
                <a:latin typeface="Calibri"/>
              </a:rPr>
              <a:t>Clue 3: Not past, not present… → FUTURE</a:t>
            </a:r>
          </a:p>
        </p:txBody>
      </p:sp>
      <p:sp>
        <p:nvSpPr>
          <p:cNvPr id="19" name="Rounded Rectangle 18"/>
          <p:cNvSpPr/>
          <p:nvPr/>
        </p:nvSpPr>
        <p:spPr>
          <a:xfrm>
            <a:off x="365760" y="4983479"/>
            <a:ext cx="1143000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212079"/>
            <a:ext cx="10972800" cy="411480"/>
          </a:xfrm>
          <a:prstGeom prst="rect">
            <a:avLst/>
          </a:prstGeom>
          <a:noFill/>
        </p:spPr>
        <p:txBody>
          <a:bodyPr wrap="square">
            <a:spAutoFit/>
          </a:bodyPr>
          <a:lstStyle/>
          <a:p>
            <a:pPr algn="l"/>
            <a:r>
              <a:rPr sz="1500" b="0">
                <a:solidFill>
                  <a:srgbClr val="1F2937"/>
                </a:solidFill>
                <a:latin typeface="Calibri"/>
              </a:rPr>
              <a:t>Clue 4: Action word for 'found' → VERB (past tense)</a:t>
            </a:r>
          </a:p>
        </p:txBody>
      </p:sp>
      <p:sp>
        <p:nvSpPr>
          <p:cNvPr id="21" name="Rounded Rectangle 20"/>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GAME</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Games</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Escape Room: 5 English Puzzles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Games</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26/30</a:t>
            </a:r>
          </a:p>
        </p:txBody>
      </p:sp>
      <p:sp>
        <p:nvSpPr>
          <p:cNvPr id="12" name="Rounded Rectangle 11"/>
          <p:cNvSpPr/>
          <p:nvPr/>
        </p:nvSpPr>
        <p:spPr>
          <a:xfrm>
            <a:off x="365760" y="132588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581912"/>
            <a:ext cx="10972800" cy="411480"/>
          </a:xfrm>
          <a:prstGeom prst="rect">
            <a:avLst/>
          </a:prstGeom>
          <a:noFill/>
        </p:spPr>
        <p:txBody>
          <a:bodyPr wrap="square">
            <a:spAutoFit/>
          </a:bodyPr>
          <a:lstStyle/>
          <a:p>
            <a:pPr algn="l"/>
            <a:r>
              <a:rPr sz="1500" b="0">
                <a:solidFill>
                  <a:srgbClr val="1F2937"/>
                </a:solidFill>
                <a:latin typeface="Calibri"/>
              </a:rPr>
              <a:t>Puzzle 1: Unscramble TENSES → ?</a:t>
            </a:r>
          </a:p>
        </p:txBody>
      </p:sp>
      <p:sp>
        <p:nvSpPr>
          <p:cNvPr id="14" name="Rounded Rectangle 13"/>
          <p:cNvSpPr/>
          <p:nvPr/>
        </p:nvSpPr>
        <p:spPr>
          <a:xfrm>
            <a:off x="365760" y="2286000"/>
            <a:ext cx="11430000" cy="86868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542032"/>
            <a:ext cx="10972800" cy="411480"/>
          </a:xfrm>
          <a:prstGeom prst="rect">
            <a:avLst/>
          </a:prstGeom>
          <a:noFill/>
        </p:spPr>
        <p:txBody>
          <a:bodyPr wrap="square">
            <a:spAutoFit/>
          </a:bodyPr>
          <a:lstStyle/>
          <a:p>
            <a:pPr algn="l"/>
            <a:r>
              <a:rPr sz="1500" b="0">
                <a:solidFill>
                  <a:srgbClr val="1F2937"/>
                </a:solidFill>
                <a:latin typeface="Calibri"/>
              </a:rPr>
              <a:t>Puzzle 2: Fix → He go to school.</a:t>
            </a:r>
          </a:p>
        </p:txBody>
      </p:sp>
      <p:sp>
        <p:nvSpPr>
          <p:cNvPr id="16" name="Rounded Rectangle 15"/>
          <p:cNvSpPr/>
          <p:nvPr/>
        </p:nvSpPr>
        <p:spPr>
          <a:xfrm>
            <a:off x="365760" y="324612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502152"/>
            <a:ext cx="10972800" cy="411480"/>
          </a:xfrm>
          <a:prstGeom prst="rect">
            <a:avLst/>
          </a:prstGeom>
          <a:noFill/>
        </p:spPr>
        <p:txBody>
          <a:bodyPr wrap="square">
            <a:spAutoFit/>
          </a:bodyPr>
          <a:lstStyle/>
          <a:p>
            <a:pPr algn="l"/>
            <a:r>
              <a:rPr sz="1500" b="0">
                <a:solidFill>
                  <a:srgbClr val="1F2937"/>
                </a:solidFill>
                <a:latin typeface="Calibri"/>
              </a:rPr>
              <a:t>Puzzle 3: Antonym of lost → ?</a:t>
            </a:r>
          </a:p>
        </p:txBody>
      </p:sp>
      <p:sp>
        <p:nvSpPr>
          <p:cNvPr id="18" name="Rounded Rectangle 17"/>
          <p:cNvSpPr/>
          <p:nvPr/>
        </p:nvSpPr>
        <p:spPr>
          <a:xfrm>
            <a:off x="365760" y="4206240"/>
            <a:ext cx="11430000" cy="86868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462272"/>
            <a:ext cx="10972800" cy="411480"/>
          </a:xfrm>
          <a:prstGeom prst="rect">
            <a:avLst/>
          </a:prstGeom>
          <a:noFill/>
        </p:spPr>
        <p:txBody>
          <a:bodyPr wrap="square">
            <a:spAutoFit/>
          </a:bodyPr>
          <a:lstStyle/>
          <a:p>
            <a:pPr algn="l"/>
            <a:r>
              <a:rPr sz="1500" b="0">
                <a:solidFill>
                  <a:srgbClr val="1F2937"/>
                </a:solidFill>
                <a:latin typeface="Calibri"/>
              </a:rPr>
              <a:t>Puzzle 4: Complete → Leo ___ (find) his bag.</a:t>
            </a:r>
          </a:p>
        </p:txBody>
      </p:sp>
      <p:sp>
        <p:nvSpPr>
          <p:cNvPr id="20" name="Rounded Rectangle 19"/>
          <p:cNvSpPr/>
          <p:nvPr/>
        </p:nvSpPr>
        <p:spPr>
          <a:xfrm>
            <a:off x="365760" y="5166360"/>
            <a:ext cx="1143000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422392"/>
            <a:ext cx="10972800" cy="411480"/>
          </a:xfrm>
          <a:prstGeom prst="rect">
            <a:avLst/>
          </a:prstGeom>
          <a:noFill/>
        </p:spPr>
        <p:txBody>
          <a:bodyPr wrap="square">
            <a:spAutoFit/>
          </a:bodyPr>
          <a:lstStyle/>
          <a:p>
            <a:pPr algn="l"/>
            <a:r>
              <a:rPr sz="1500" b="0">
                <a:solidFill>
                  <a:srgbClr val="1F2937"/>
                </a:solidFill>
                <a:latin typeface="Calibri"/>
              </a:rPr>
              <a:t>Puzzle 5: Riddle: I am full of words but cannot speak. → ?</a:t>
            </a:r>
          </a:p>
        </p:txBody>
      </p:sp>
      <p:sp>
        <p:nvSpPr>
          <p:cNvPr id="22" name="TextBox 21"/>
          <p:cNvSpPr txBox="1"/>
          <p:nvPr/>
        </p:nvSpPr>
        <p:spPr>
          <a:xfrm>
            <a:off x="365760" y="5806440"/>
            <a:ext cx="11430000" cy="320040"/>
          </a:xfrm>
          <a:prstGeom prst="rect">
            <a:avLst/>
          </a:prstGeom>
          <a:noFill/>
        </p:spPr>
        <p:txBody>
          <a:bodyPr wrap="square">
            <a:spAutoFit/>
          </a:bodyPr>
          <a:lstStyle/>
          <a:p>
            <a:pPr algn="ctr"/>
            <a:r>
              <a:rPr sz="1200" b="0">
                <a:solidFill>
                  <a:srgbClr val="FF6F61"/>
                </a:solidFill>
                <a:latin typeface="Calibri"/>
              </a:rPr>
              <a:t>KEY: SENT; goes; found; found; library/book</a:t>
            </a:r>
          </a:p>
        </p:txBody>
      </p:sp>
      <p:sp>
        <p:nvSpPr>
          <p:cNvPr id="23" name="Rounded Rectangle 22"/>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TEACHER</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Assessment</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Mini Assessment Snapshot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Assessment</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27/30</a:t>
            </a:r>
          </a:p>
        </p:txBody>
      </p:sp>
      <p:sp>
        <p:nvSpPr>
          <p:cNvPr id="12" name="Rectangle 11"/>
          <p:cNvSpPr/>
          <p:nvPr/>
        </p:nvSpPr>
        <p:spPr>
          <a:xfrm>
            <a:off x="365760" y="1280160"/>
            <a:ext cx="11430000" cy="457200"/>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353312"/>
            <a:ext cx="2743200" cy="320040"/>
          </a:xfrm>
          <a:prstGeom prst="rect">
            <a:avLst/>
          </a:prstGeom>
          <a:noFill/>
        </p:spPr>
        <p:txBody>
          <a:bodyPr wrap="square">
            <a:spAutoFit/>
          </a:bodyPr>
          <a:lstStyle/>
          <a:p>
            <a:pPr algn="l"/>
            <a:r>
              <a:rPr sz="1200" b="1">
                <a:solidFill>
                  <a:srgbClr val="FFFFFF"/>
                </a:solidFill>
                <a:latin typeface="Calibri"/>
              </a:rPr>
              <a:t>Skill</a:t>
            </a:r>
          </a:p>
        </p:txBody>
      </p:sp>
      <p:sp>
        <p:nvSpPr>
          <p:cNvPr id="14" name="TextBox 13"/>
          <p:cNvSpPr txBox="1"/>
          <p:nvPr/>
        </p:nvSpPr>
        <p:spPr>
          <a:xfrm>
            <a:off x="3657600" y="1353312"/>
            <a:ext cx="7772400" cy="320040"/>
          </a:xfrm>
          <a:prstGeom prst="rect">
            <a:avLst/>
          </a:prstGeom>
          <a:noFill/>
        </p:spPr>
        <p:txBody>
          <a:bodyPr wrap="square">
            <a:spAutoFit/>
          </a:bodyPr>
          <a:lstStyle/>
          <a:p>
            <a:pPr algn="l"/>
            <a:r>
              <a:rPr sz="1200" b="1">
                <a:solidFill>
                  <a:srgbClr val="FFFFFF"/>
                </a:solidFill>
                <a:latin typeface="Calibri"/>
              </a:rPr>
              <a:t>⭐ ⭐ ⭐ ⭐ ⭐  (circle one)</a:t>
            </a:r>
          </a:p>
        </p:txBody>
      </p:sp>
      <p:sp>
        <p:nvSpPr>
          <p:cNvPr id="15" name="Rectangle 14"/>
          <p:cNvSpPr/>
          <p:nvPr/>
        </p:nvSpPr>
        <p:spPr>
          <a:xfrm>
            <a:off x="365760" y="1828800"/>
            <a:ext cx="11430000"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011680"/>
            <a:ext cx="2743200" cy="365760"/>
          </a:xfrm>
          <a:prstGeom prst="rect">
            <a:avLst/>
          </a:prstGeom>
          <a:noFill/>
        </p:spPr>
        <p:txBody>
          <a:bodyPr wrap="square">
            <a:spAutoFit/>
          </a:bodyPr>
          <a:lstStyle/>
          <a:p>
            <a:pPr algn="l"/>
            <a:r>
              <a:rPr sz="1400" b="1">
                <a:solidFill>
                  <a:srgbClr val="0A2A6E"/>
                </a:solidFill>
                <a:latin typeface="Calibri"/>
              </a:rPr>
              <a:t>Reading</a:t>
            </a:r>
          </a:p>
        </p:txBody>
      </p:sp>
      <p:sp>
        <p:nvSpPr>
          <p:cNvPr id="17" name="TextBox 16"/>
          <p:cNvSpPr txBox="1"/>
          <p:nvPr/>
        </p:nvSpPr>
        <p:spPr>
          <a:xfrm>
            <a:off x="3657600" y="2011680"/>
            <a:ext cx="7772400" cy="365760"/>
          </a:xfrm>
          <a:prstGeom prst="rect">
            <a:avLst/>
          </a:prstGeom>
          <a:noFill/>
        </p:spPr>
        <p:txBody>
          <a:bodyPr wrap="square">
            <a:spAutoFit/>
          </a:bodyPr>
          <a:lstStyle/>
          <a:p>
            <a:pPr algn="l"/>
            <a:r>
              <a:rPr sz="1400" b="0">
                <a:solidFill>
                  <a:srgbClr val="64748B"/>
                </a:solidFill>
                <a:latin typeface="Calibri"/>
              </a:rPr>
              <a:t>○ ○ ○ ○ ○</a:t>
            </a:r>
          </a:p>
        </p:txBody>
      </p:sp>
      <p:sp>
        <p:nvSpPr>
          <p:cNvPr id="18" name="Rectangle 17"/>
          <p:cNvSpPr/>
          <p:nvPr/>
        </p:nvSpPr>
        <p:spPr>
          <a:xfrm>
            <a:off x="365760" y="2514600"/>
            <a:ext cx="11430000" cy="685800"/>
          </a:xfrm>
          <a:prstGeom prst="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697480"/>
            <a:ext cx="2743200" cy="365760"/>
          </a:xfrm>
          <a:prstGeom prst="rect">
            <a:avLst/>
          </a:prstGeom>
          <a:noFill/>
        </p:spPr>
        <p:txBody>
          <a:bodyPr wrap="square">
            <a:spAutoFit/>
          </a:bodyPr>
          <a:lstStyle/>
          <a:p>
            <a:pPr algn="l"/>
            <a:r>
              <a:rPr sz="1400" b="1">
                <a:solidFill>
                  <a:srgbClr val="0A2A6E"/>
                </a:solidFill>
                <a:latin typeface="Calibri"/>
              </a:rPr>
              <a:t>Grammar</a:t>
            </a:r>
          </a:p>
        </p:txBody>
      </p:sp>
      <p:sp>
        <p:nvSpPr>
          <p:cNvPr id="20" name="TextBox 19"/>
          <p:cNvSpPr txBox="1"/>
          <p:nvPr/>
        </p:nvSpPr>
        <p:spPr>
          <a:xfrm>
            <a:off x="3657600" y="2697480"/>
            <a:ext cx="7772400" cy="365760"/>
          </a:xfrm>
          <a:prstGeom prst="rect">
            <a:avLst/>
          </a:prstGeom>
          <a:noFill/>
        </p:spPr>
        <p:txBody>
          <a:bodyPr wrap="square">
            <a:spAutoFit/>
          </a:bodyPr>
          <a:lstStyle/>
          <a:p>
            <a:pPr algn="l"/>
            <a:r>
              <a:rPr sz="1400" b="0">
                <a:solidFill>
                  <a:srgbClr val="64748B"/>
                </a:solidFill>
                <a:latin typeface="Calibri"/>
              </a:rPr>
              <a:t>○ ○ ○ ○ ○</a:t>
            </a:r>
          </a:p>
        </p:txBody>
      </p:sp>
      <p:sp>
        <p:nvSpPr>
          <p:cNvPr id="21" name="Rectangle 20"/>
          <p:cNvSpPr/>
          <p:nvPr/>
        </p:nvSpPr>
        <p:spPr>
          <a:xfrm>
            <a:off x="365760" y="3200400"/>
            <a:ext cx="11430000"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383280"/>
            <a:ext cx="2743200" cy="365760"/>
          </a:xfrm>
          <a:prstGeom prst="rect">
            <a:avLst/>
          </a:prstGeom>
          <a:noFill/>
        </p:spPr>
        <p:txBody>
          <a:bodyPr wrap="square">
            <a:spAutoFit/>
          </a:bodyPr>
          <a:lstStyle/>
          <a:p>
            <a:pPr algn="l"/>
            <a:r>
              <a:rPr sz="1400" b="1">
                <a:solidFill>
                  <a:srgbClr val="0A2A6E"/>
                </a:solidFill>
                <a:latin typeface="Calibri"/>
              </a:rPr>
              <a:t>Vocabulary</a:t>
            </a:r>
          </a:p>
        </p:txBody>
      </p:sp>
      <p:sp>
        <p:nvSpPr>
          <p:cNvPr id="23" name="TextBox 22"/>
          <p:cNvSpPr txBox="1"/>
          <p:nvPr/>
        </p:nvSpPr>
        <p:spPr>
          <a:xfrm>
            <a:off x="3657600" y="3383280"/>
            <a:ext cx="7772400" cy="365760"/>
          </a:xfrm>
          <a:prstGeom prst="rect">
            <a:avLst/>
          </a:prstGeom>
          <a:noFill/>
        </p:spPr>
        <p:txBody>
          <a:bodyPr wrap="square">
            <a:spAutoFit/>
          </a:bodyPr>
          <a:lstStyle/>
          <a:p>
            <a:pPr algn="l"/>
            <a:r>
              <a:rPr sz="1400" b="0">
                <a:solidFill>
                  <a:srgbClr val="64748B"/>
                </a:solidFill>
                <a:latin typeface="Calibri"/>
              </a:rPr>
              <a:t>○ ○ ○ ○ ○</a:t>
            </a:r>
          </a:p>
        </p:txBody>
      </p:sp>
      <p:sp>
        <p:nvSpPr>
          <p:cNvPr id="24" name="Rectangle 23"/>
          <p:cNvSpPr/>
          <p:nvPr/>
        </p:nvSpPr>
        <p:spPr>
          <a:xfrm>
            <a:off x="365760" y="3886200"/>
            <a:ext cx="11430000" cy="685800"/>
          </a:xfrm>
          <a:prstGeom prst="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4069080"/>
            <a:ext cx="2743200" cy="365760"/>
          </a:xfrm>
          <a:prstGeom prst="rect">
            <a:avLst/>
          </a:prstGeom>
          <a:noFill/>
        </p:spPr>
        <p:txBody>
          <a:bodyPr wrap="square">
            <a:spAutoFit/>
          </a:bodyPr>
          <a:lstStyle/>
          <a:p>
            <a:pPr algn="l"/>
            <a:r>
              <a:rPr sz="1400" b="1">
                <a:solidFill>
                  <a:srgbClr val="0A2A6E"/>
                </a:solidFill>
                <a:latin typeface="Calibri"/>
              </a:rPr>
              <a:t>Speaking</a:t>
            </a:r>
          </a:p>
        </p:txBody>
      </p:sp>
      <p:sp>
        <p:nvSpPr>
          <p:cNvPr id="26" name="TextBox 25"/>
          <p:cNvSpPr txBox="1"/>
          <p:nvPr/>
        </p:nvSpPr>
        <p:spPr>
          <a:xfrm>
            <a:off x="3657600" y="4069080"/>
            <a:ext cx="7772400" cy="365760"/>
          </a:xfrm>
          <a:prstGeom prst="rect">
            <a:avLst/>
          </a:prstGeom>
          <a:noFill/>
        </p:spPr>
        <p:txBody>
          <a:bodyPr wrap="square">
            <a:spAutoFit/>
          </a:bodyPr>
          <a:lstStyle/>
          <a:p>
            <a:pPr algn="l"/>
            <a:r>
              <a:rPr sz="1400" b="0">
                <a:solidFill>
                  <a:srgbClr val="64748B"/>
                </a:solidFill>
                <a:latin typeface="Calibri"/>
              </a:rPr>
              <a:t>○ ○ ○ ○ ○</a:t>
            </a:r>
          </a:p>
        </p:txBody>
      </p:sp>
      <p:sp>
        <p:nvSpPr>
          <p:cNvPr id="27" name="Rectangle 26"/>
          <p:cNvSpPr/>
          <p:nvPr/>
        </p:nvSpPr>
        <p:spPr>
          <a:xfrm>
            <a:off x="365760" y="4572000"/>
            <a:ext cx="11430000" cy="685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754880"/>
            <a:ext cx="2743200" cy="365760"/>
          </a:xfrm>
          <a:prstGeom prst="rect">
            <a:avLst/>
          </a:prstGeom>
          <a:noFill/>
        </p:spPr>
        <p:txBody>
          <a:bodyPr wrap="square">
            <a:spAutoFit/>
          </a:bodyPr>
          <a:lstStyle/>
          <a:p>
            <a:pPr algn="l"/>
            <a:r>
              <a:rPr sz="1400" b="1">
                <a:solidFill>
                  <a:srgbClr val="0A2A6E"/>
                </a:solidFill>
                <a:latin typeface="Calibri"/>
              </a:rPr>
              <a:t>Confidence</a:t>
            </a:r>
          </a:p>
        </p:txBody>
      </p:sp>
      <p:sp>
        <p:nvSpPr>
          <p:cNvPr id="29" name="TextBox 28"/>
          <p:cNvSpPr txBox="1"/>
          <p:nvPr/>
        </p:nvSpPr>
        <p:spPr>
          <a:xfrm>
            <a:off x="3657600" y="4754880"/>
            <a:ext cx="7772400" cy="365760"/>
          </a:xfrm>
          <a:prstGeom prst="rect">
            <a:avLst/>
          </a:prstGeom>
          <a:noFill/>
        </p:spPr>
        <p:txBody>
          <a:bodyPr wrap="square">
            <a:spAutoFit/>
          </a:bodyPr>
          <a:lstStyle/>
          <a:p>
            <a:pPr algn="l"/>
            <a:r>
              <a:rPr sz="1400" b="0">
                <a:solidFill>
                  <a:srgbClr val="64748B"/>
                </a:solidFill>
                <a:latin typeface="Calibri"/>
              </a:rPr>
              <a:t>○ ○ ○ ○ ○</a:t>
            </a:r>
          </a:p>
        </p:txBody>
      </p:sp>
      <p:sp>
        <p:nvSpPr>
          <p:cNvPr id="30" name="Rectangle 29"/>
          <p:cNvSpPr/>
          <p:nvPr/>
        </p:nvSpPr>
        <p:spPr>
          <a:xfrm>
            <a:off x="365760" y="5257800"/>
            <a:ext cx="11430000" cy="685800"/>
          </a:xfrm>
          <a:prstGeom prst="rect">
            <a:avLst/>
          </a:prstGeom>
          <a:solidFill>
            <a:srgbClr val="E1F5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440680"/>
            <a:ext cx="2743200" cy="365760"/>
          </a:xfrm>
          <a:prstGeom prst="rect">
            <a:avLst/>
          </a:prstGeom>
          <a:noFill/>
        </p:spPr>
        <p:txBody>
          <a:bodyPr wrap="square">
            <a:spAutoFit/>
          </a:bodyPr>
          <a:lstStyle/>
          <a:p>
            <a:pPr algn="l"/>
            <a:r>
              <a:rPr sz="1400" b="1">
                <a:solidFill>
                  <a:srgbClr val="0A2A6E"/>
                </a:solidFill>
                <a:latin typeface="Calibri"/>
              </a:rPr>
              <a:t>Pronunciation</a:t>
            </a:r>
          </a:p>
        </p:txBody>
      </p:sp>
      <p:sp>
        <p:nvSpPr>
          <p:cNvPr id="32" name="TextBox 31"/>
          <p:cNvSpPr txBox="1"/>
          <p:nvPr/>
        </p:nvSpPr>
        <p:spPr>
          <a:xfrm>
            <a:off x="3657600" y="5440680"/>
            <a:ext cx="7772400" cy="365760"/>
          </a:xfrm>
          <a:prstGeom prst="rect">
            <a:avLst/>
          </a:prstGeom>
          <a:noFill/>
        </p:spPr>
        <p:txBody>
          <a:bodyPr wrap="square">
            <a:spAutoFit/>
          </a:bodyPr>
          <a:lstStyle/>
          <a:p>
            <a:pPr algn="l"/>
            <a:r>
              <a:rPr sz="1400" b="0">
                <a:solidFill>
                  <a:srgbClr val="64748B"/>
                </a:solidFill>
                <a:latin typeface="Calibri"/>
              </a:rPr>
              <a:t>○ ○ ○ ○ ○</a:t>
            </a:r>
          </a:p>
        </p:txBody>
      </p:sp>
      <p:sp>
        <p:nvSpPr>
          <p:cNvPr id="33" name="Rounded Rectangle 32"/>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RECAP</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Recap 5 min</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Recap: You Teach the Teacher!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Recap 5 min</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28/30</a:t>
            </a:r>
          </a:p>
        </p:txBody>
      </p:sp>
      <p:sp>
        <p:nvSpPr>
          <p:cNvPr id="12" name="TextBox 11"/>
          <p:cNvSpPr txBox="1"/>
          <p:nvPr/>
        </p:nvSpPr>
        <p:spPr>
          <a:xfrm>
            <a:off x="457200" y="1371600"/>
            <a:ext cx="11247120" cy="4114800"/>
          </a:xfrm>
          <a:prstGeom prst="rect">
            <a:avLst/>
          </a:prstGeom>
          <a:noFill/>
        </p:spPr>
        <p:txBody>
          <a:bodyPr wrap="square">
            <a:spAutoFit/>
          </a:bodyPr>
          <a:lstStyle/>
          <a:p>
            <a:pPr>
              <a:spcAft>
                <a:spcPts val="1400"/>
              </a:spcAft>
            </a:pPr>
            <a:r>
              <a:rPr sz="1800" b="0">
                <a:solidFill>
                  <a:srgbClr val="1F2937"/>
                </a:solidFill>
                <a:latin typeface="Calibri"/>
              </a:rPr>
              <a:t>•  Teach me one tense rule.</a:t>
            </a:r>
          </a:p>
          <a:p>
            <a:pPr>
              <a:spcAft>
                <a:spcPts val="1400"/>
              </a:spcAft>
            </a:pPr>
            <a:r>
              <a:rPr sz="1800" b="0">
                <a:solidFill>
                  <a:srgbClr val="1F2937"/>
                </a:solidFill>
                <a:latin typeface="Calibri"/>
              </a:rPr>
              <a:t>•  Teach me 3 new words.</a:t>
            </a:r>
          </a:p>
          <a:p>
            <a:pPr>
              <a:spcAft>
                <a:spcPts val="1400"/>
              </a:spcAft>
            </a:pPr>
            <a:r>
              <a:rPr sz="1800" b="0">
                <a:solidFill>
                  <a:srgbClr val="1F2937"/>
                </a:solidFill>
                <a:latin typeface="Calibri"/>
              </a:rPr>
              <a:t>•  Teach me what happened in the backpack mystery.</a:t>
            </a:r>
          </a:p>
          <a:p>
            <a:pPr>
              <a:spcAft>
                <a:spcPts val="1400"/>
              </a:spcAft>
            </a:pPr>
            <a:r>
              <a:rPr sz="1800" b="0">
                <a:solidFill>
                  <a:srgbClr val="1F2937"/>
                </a:solidFill>
                <a:latin typeface="Calibri"/>
              </a:rPr>
              <a:t>•  What did we learn today?</a:t>
            </a:r>
          </a:p>
          <a:p>
            <a:pPr>
              <a:spcAft>
                <a:spcPts val="1400"/>
              </a:spcAft>
            </a:pPr>
            <a:r>
              <a:rPr sz="1800" b="0">
                <a:solidFill>
                  <a:srgbClr val="1F2937"/>
                </a:solidFill>
                <a:latin typeface="Calibri"/>
              </a:rPr>
              <a:t>•  What did you enjoy MOST?</a:t>
            </a:r>
          </a:p>
        </p:txBody>
      </p:sp>
      <p:sp>
        <p:nvSpPr>
          <p:cNvPr id="13" name="Rounded Rectangle 12"/>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47472" y="256032"/>
            <a:ext cx="2651760" cy="329184"/>
          </a:xfrm>
          <a:prstGeom prst="roundRect">
            <a:avLst/>
          </a:prstGeom>
          <a:solidFill>
            <a:srgbClr val="29B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265176"/>
            <a:ext cx="2651760" cy="310896"/>
          </a:xfrm>
          <a:prstGeom prst="rect">
            <a:avLst/>
          </a:prstGeom>
          <a:noFill/>
        </p:spPr>
        <p:txBody>
          <a:bodyPr wrap="square">
            <a:spAutoFit/>
          </a:bodyPr>
          <a:lstStyle/>
          <a:p>
            <a:pPr algn="ctr"/>
            <a:r>
              <a:rPr sz="1100" b="1">
                <a:solidFill>
                  <a:srgbClr val="FFFFFF"/>
                </a:solidFill>
                <a:latin typeface="Calibri"/>
              </a:rPr>
              <a:t>HOMEWORK</a:t>
            </a:r>
          </a:p>
        </p:txBody>
      </p:sp>
      <p:sp>
        <p:nvSpPr>
          <p:cNvPr id="6" name="Rounded Rectangle 5"/>
          <p:cNvSpPr/>
          <p:nvPr/>
        </p:nvSpPr>
        <p:spPr>
          <a:xfrm>
            <a:off x="9555480" y="256032"/>
            <a:ext cx="2286000" cy="329184"/>
          </a:xfrm>
          <a:prstGeom prst="roundRect">
            <a:avLst/>
          </a:prstGeom>
          <a:solidFill>
            <a:srgbClr val="FF6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55480" y="265176"/>
            <a:ext cx="2286000" cy="310896"/>
          </a:xfrm>
          <a:prstGeom prst="rect">
            <a:avLst/>
          </a:prstGeom>
          <a:noFill/>
        </p:spPr>
        <p:txBody>
          <a:bodyPr wrap="square">
            <a:spAutoFit/>
          </a:bodyPr>
          <a:lstStyle/>
          <a:p>
            <a:pPr algn="ctr"/>
            <a:r>
              <a:rPr sz="1100" b="1">
                <a:solidFill>
                  <a:srgbClr val="FFFFFF"/>
                </a:solidFill>
                <a:latin typeface="Calibri"/>
              </a:rPr>
              <a:t>Home</a:t>
            </a:r>
          </a:p>
        </p:txBody>
      </p:sp>
      <p:sp>
        <p:nvSpPr>
          <p:cNvPr id="8" name="TextBox 7"/>
          <p:cNvSpPr txBox="1"/>
          <p:nvPr/>
        </p:nvSpPr>
        <p:spPr>
          <a:xfrm>
            <a:off x="347472" y="713232"/>
            <a:ext cx="11430000" cy="502920"/>
          </a:xfrm>
          <a:prstGeom prst="rect">
            <a:avLst/>
          </a:prstGeom>
          <a:noFill/>
        </p:spPr>
        <p:txBody>
          <a:bodyPr wrap="square">
            <a:spAutoFit/>
          </a:bodyPr>
          <a:lstStyle/>
          <a:p>
            <a:pPr algn="l"/>
            <a:r>
              <a:rPr sz="2600" b="1">
                <a:solidFill>
                  <a:srgbClr val="0A2A6E"/>
                </a:solidFill>
                <a:latin typeface="Georgia"/>
              </a:rPr>
              <a:t>Homework Mission 📝</a:t>
            </a:r>
          </a:p>
        </p:txBody>
      </p:sp>
      <p:sp>
        <p:nvSpPr>
          <p:cNvPr id="9" name="Rectangle 8"/>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Home</a:t>
            </a:r>
          </a:p>
        </p:txBody>
      </p:sp>
      <p:sp>
        <p:nvSpPr>
          <p:cNvPr id="11" name="TextBox 10"/>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29/30</a:t>
            </a:r>
          </a:p>
        </p:txBody>
      </p:sp>
      <p:sp>
        <p:nvSpPr>
          <p:cNvPr id="12" name="Rounded Rectangle 11"/>
          <p:cNvSpPr/>
          <p:nvPr/>
        </p:nvSpPr>
        <p:spPr>
          <a:xfrm>
            <a:off x="1097280" y="1325880"/>
            <a:ext cx="996696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0" y="1600200"/>
            <a:ext cx="9418320" cy="411480"/>
          </a:xfrm>
          <a:prstGeom prst="rect">
            <a:avLst/>
          </a:prstGeom>
          <a:noFill/>
        </p:spPr>
        <p:txBody>
          <a:bodyPr wrap="square">
            <a:spAutoFit/>
          </a:bodyPr>
          <a:lstStyle/>
          <a:p>
            <a:pPr algn="ctr"/>
            <a:r>
              <a:rPr sz="2200" b="1">
                <a:solidFill>
                  <a:srgbClr val="0A2A6E"/>
                </a:solidFill>
                <a:latin typeface="Calibri"/>
              </a:rPr>
              <a:t>Write: "My Dream Vacation"</a:t>
            </a:r>
          </a:p>
        </p:txBody>
      </p:sp>
      <p:sp>
        <p:nvSpPr>
          <p:cNvPr id="14" name="TextBox 13"/>
          <p:cNvSpPr txBox="1"/>
          <p:nvPr/>
        </p:nvSpPr>
        <p:spPr>
          <a:xfrm>
            <a:off x="1371600" y="2286000"/>
            <a:ext cx="9418320" cy="3474720"/>
          </a:xfrm>
          <a:prstGeom prst="rect">
            <a:avLst/>
          </a:prstGeom>
          <a:noFill/>
        </p:spPr>
        <p:txBody>
          <a:bodyPr wrap="square">
            <a:spAutoFit/>
          </a:bodyPr>
          <a:lstStyle/>
          <a:p>
            <a:pPr>
              <a:spcAft>
                <a:spcPts val="1200"/>
              </a:spcAft>
            </a:pPr>
            <a:r>
              <a:rPr sz="1700" b="0">
                <a:solidFill>
                  <a:srgbClr val="1F2937"/>
                </a:solidFill>
                <a:latin typeface="Calibri"/>
              </a:rPr>
              <a:t>•  Use 5 adjectives</a:t>
            </a:r>
          </a:p>
          <a:p>
            <a:pPr>
              <a:spcAft>
                <a:spcPts val="1200"/>
              </a:spcAft>
            </a:pPr>
            <a:r>
              <a:rPr sz="1700" b="0">
                <a:solidFill>
                  <a:srgbClr val="1F2937"/>
                </a:solidFill>
                <a:latin typeface="Calibri"/>
              </a:rPr>
              <a:t>•  Use 5 verbs</a:t>
            </a:r>
          </a:p>
          <a:p>
            <a:pPr>
              <a:spcAft>
                <a:spcPts val="1200"/>
              </a:spcAft>
            </a:pPr>
            <a:r>
              <a:rPr sz="1700" b="0">
                <a:solidFill>
                  <a:srgbClr val="1F2937"/>
                </a:solidFill>
                <a:latin typeface="Calibri"/>
              </a:rPr>
              <a:t>•  Use Present, Past, AND Future tense</a:t>
            </a:r>
          </a:p>
          <a:p>
            <a:pPr>
              <a:spcAft>
                <a:spcPts val="1200"/>
              </a:spcAft>
            </a:pPr>
            <a:r>
              <a:rPr sz="1700" b="0">
                <a:solidFill>
                  <a:srgbClr val="1F2937"/>
                </a:solidFill>
                <a:latin typeface="Calibri"/>
              </a:rPr>
              <a:t>•  Draw a picture (optional bonus)</a:t>
            </a:r>
          </a:p>
          <a:p>
            <a:pPr>
              <a:spcAft>
                <a:spcPts val="1200"/>
              </a:spcAft>
            </a:pPr>
            <a:r>
              <a:rPr sz="1700" b="0">
                <a:solidFill>
                  <a:srgbClr val="1F2937"/>
                </a:solidFill>
                <a:latin typeface="Calibri"/>
              </a:rPr>
              <a:t>•  Read aloud to a family member</a:t>
            </a:r>
          </a:p>
        </p:txBody>
      </p:sp>
      <p:sp>
        <p:nvSpPr>
          <p:cNvPr id="15" name="Rounded Rectangle 14"/>
          <p:cNvSpPr/>
          <p:nvPr/>
        </p:nvSpPr>
        <p:spPr>
          <a:xfrm>
            <a:off x="9326880" y="5989320"/>
            <a:ext cx="2651760" cy="411480"/>
          </a:xfrm>
          <a:prstGeom prst="round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0" y="6016752"/>
            <a:ext cx="2651760" cy="365760"/>
          </a:xfrm>
          <a:prstGeom prst="rect">
            <a:avLst/>
          </a:prstGeom>
          <a:noFill/>
        </p:spPr>
        <p:txBody>
          <a:bodyPr wrap="square">
            <a:spAutoFit/>
          </a:bodyPr>
          <a:lstStyle/>
          <a:p>
            <a:pPr algn="ctr"/>
            <a:r>
              <a:rPr sz="1100" b="1">
                <a:solidFill>
                  <a:srgbClr val="0A2A6E"/>
                </a:solidFill>
                <a:latin typeface="Calibri"/>
              </a:rPr>
              <a:t>Next Adventure →</a:t>
            </a:r>
          </a:p>
        </p:txBody>
      </p:sp>
    </p:spTree>
  </p:cSld>
  <p:clrMapOvr>
    <a:masterClrMapping/>
  </p:clrMapOvr>
  <p:transition spd="med"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FFD5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828800" y="1005840"/>
            <a:ext cx="8503920" cy="48463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0" y="1005840"/>
            <a:ext cx="8503920" cy="228600"/>
          </a:xfrm>
          <a:prstGeom prst="rect">
            <a:avLst/>
          </a:prstGeom>
          <a:solidFill>
            <a:srgbClr val="0096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0" y="5623560"/>
            <a:ext cx="8503920" cy="228600"/>
          </a:xfrm>
          <a:prstGeom prst="rect">
            <a:avLst/>
          </a:prstGeom>
          <a:solidFill>
            <a:srgbClr val="FF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03120" y="1463040"/>
            <a:ext cx="7955279" cy="457200"/>
          </a:xfrm>
          <a:prstGeom prst="rect">
            <a:avLst/>
          </a:prstGeom>
          <a:noFill/>
        </p:spPr>
        <p:txBody>
          <a:bodyPr wrap="square">
            <a:spAutoFit/>
          </a:bodyPr>
          <a:lstStyle/>
          <a:p>
            <a:pPr algn="ctr"/>
            <a:r>
              <a:rPr sz="3200" b="1">
                <a:solidFill>
                  <a:srgbClr val="0A2A6E"/>
                </a:solidFill>
                <a:latin typeface="Georgia"/>
              </a:rPr>
              <a:t>🎉 Congratulations Sage! 🎉</a:t>
            </a:r>
          </a:p>
        </p:txBody>
      </p:sp>
      <p:sp>
        <p:nvSpPr>
          <p:cNvPr id="8" name="TextBox 7"/>
          <p:cNvSpPr txBox="1"/>
          <p:nvPr/>
        </p:nvSpPr>
        <p:spPr>
          <a:xfrm>
            <a:off x="2103120" y="2286000"/>
            <a:ext cx="7955279" cy="1371600"/>
          </a:xfrm>
          <a:prstGeom prst="rect">
            <a:avLst/>
          </a:prstGeom>
          <a:noFill/>
        </p:spPr>
        <p:txBody>
          <a:bodyPr wrap="square">
            <a:spAutoFit/>
          </a:bodyPr>
          <a:lstStyle/>
          <a:p>
            <a:pPr algn="ctr"/>
            <a:r>
              <a:rPr sz="2000" b="0">
                <a:solidFill>
                  <a:srgbClr val="1F2937"/>
                </a:solidFill>
                <a:latin typeface="Calibri"/>
              </a:rPr>
              <a:t>Great Job!
You completed the 90-Minute English Adventure Quest.</a:t>
            </a:r>
          </a:p>
        </p:txBody>
      </p:sp>
      <p:sp>
        <p:nvSpPr>
          <p:cNvPr id="9" name="TextBox 8"/>
          <p:cNvSpPr txBox="1"/>
          <p:nvPr/>
        </p:nvSpPr>
        <p:spPr>
          <a:xfrm>
            <a:off x="2103120" y="3931920"/>
            <a:ext cx="7955279" cy="457200"/>
          </a:xfrm>
          <a:prstGeom prst="rect">
            <a:avLst/>
          </a:prstGeom>
          <a:noFill/>
        </p:spPr>
        <p:txBody>
          <a:bodyPr wrap="square">
            <a:spAutoFit/>
          </a:bodyPr>
          <a:lstStyle/>
          <a:p>
            <a:pPr algn="ctr"/>
            <a:r>
              <a:rPr sz="1500" b="1">
                <a:solidFill>
                  <a:srgbClr val="009688"/>
                </a:solidFill>
                <a:latin typeface="Calibri"/>
              </a:rPr>
              <a:t>Reading • Grammar • Vocabulary • Speaking • Listening • Creativity</a:t>
            </a:r>
          </a:p>
        </p:txBody>
      </p:sp>
      <p:sp>
        <p:nvSpPr>
          <p:cNvPr id="10" name="TextBox 9"/>
          <p:cNvSpPr txBox="1"/>
          <p:nvPr/>
        </p:nvSpPr>
        <p:spPr>
          <a:xfrm>
            <a:off x="2103120" y="4572000"/>
            <a:ext cx="7955279" cy="411480"/>
          </a:xfrm>
          <a:prstGeom prst="rect">
            <a:avLst/>
          </a:prstGeom>
          <a:noFill/>
        </p:spPr>
        <p:txBody>
          <a:bodyPr wrap="square">
            <a:spAutoFit/>
          </a:bodyPr>
          <a:lstStyle/>
          <a:p>
            <a:pPr algn="ctr"/>
            <a:r>
              <a:rPr sz="1400" b="0">
                <a:solidFill>
                  <a:srgbClr val="64748B"/>
                </a:solidFill>
                <a:latin typeface="Calibri"/>
              </a:rPr>
              <a:t>Certificate of Awesome Effort — Grade 5 Demo</a:t>
            </a:r>
          </a:p>
        </p:txBody>
      </p:sp>
      <p:sp>
        <p:nvSpPr>
          <p:cNvPr id="11" name="Rectangle 10"/>
          <p:cNvSpPr/>
          <p:nvPr/>
        </p:nvSpPr>
        <p:spPr>
          <a:xfrm>
            <a:off x="0" y="6510528"/>
            <a:ext cx="12191695" cy="347472"/>
          </a:xfrm>
          <a:prstGeom prst="rect">
            <a:avLst/>
          </a:prstGeom>
          <a:solidFill>
            <a:srgbClr val="0A2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37960"/>
            <a:ext cx="10515600" cy="274320"/>
          </a:xfrm>
          <a:prstGeom prst="rect">
            <a:avLst/>
          </a:prstGeom>
          <a:noFill/>
        </p:spPr>
        <p:txBody>
          <a:bodyPr wrap="square">
            <a:spAutoFit/>
          </a:bodyPr>
          <a:lstStyle/>
          <a:p>
            <a:pPr algn="l"/>
            <a:r>
              <a:rPr sz="1000" b="0">
                <a:solidFill>
                  <a:srgbClr val="FFFFFF"/>
                </a:solidFill>
                <a:latin typeface="Calibri"/>
              </a:rPr>
              <a:t>Grade 5 Premium Demo  |  Sage  |  90 min  |  Celebrate!</a:t>
            </a:r>
          </a:p>
        </p:txBody>
      </p:sp>
      <p:sp>
        <p:nvSpPr>
          <p:cNvPr id="13" name="TextBox 12"/>
          <p:cNvSpPr txBox="1"/>
          <p:nvPr/>
        </p:nvSpPr>
        <p:spPr>
          <a:xfrm>
            <a:off x="10972800" y="6537960"/>
            <a:ext cx="1005840" cy="274320"/>
          </a:xfrm>
          <a:prstGeom prst="rect">
            <a:avLst/>
          </a:prstGeom>
          <a:noFill/>
        </p:spPr>
        <p:txBody>
          <a:bodyPr wrap="square">
            <a:spAutoFit/>
          </a:bodyPr>
          <a:lstStyle/>
          <a:p>
            <a:pPr algn="r"/>
            <a:r>
              <a:rPr sz="1000" b="0">
                <a:solidFill>
                  <a:srgbClr val="FFFFFF"/>
                </a:solidFill>
                <a:latin typeface="Calibri"/>
              </a:rPr>
              <a:t>30/30</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